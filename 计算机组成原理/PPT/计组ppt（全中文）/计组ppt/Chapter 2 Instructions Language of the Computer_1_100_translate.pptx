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>
  <p:sldMasterIdLst>
    <p:sldMasterId id="2147483648" r:id="rId1"/>
  </p:sldMasterIdLst>
  <p:notesMasterIdLst>
    <p:notesMasterId r:id="rId4"/>
  </p:notesMasterIdLst>
  <p:handoutMasterIdLst>
    <p:handoutMasterId r:id="rId104"/>
  </p:handoutMasterIdLst>
  <p:sldIdLst>
    <p:sldId id="271" r:id="rId3"/>
    <p:sldId id="272" r:id="rId5"/>
    <p:sldId id="273" r:id="rId6"/>
    <p:sldId id="274" r:id="rId7"/>
    <p:sldId id="275" r:id="rId8"/>
    <p:sldId id="276" r:id="rId9"/>
    <p:sldId id="277" r:id="rId10"/>
    <p:sldId id="383" r:id="rId11"/>
    <p:sldId id="278" r:id="rId12"/>
    <p:sldId id="279" r:id="rId13"/>
    <p:sldId id="280" r:id="rId14"/>
    <p:sldId id="281" r:id="rId15"/>
    <p:sldId id="391" r:id="rId16"/>
    <p:sldId id="392" r:id="rId17"/>
    <p:sldId id="367" r:id="rId18"/>
    <p:sldId id="359" r:id="rId19"/>
    <p:sldId id="393" r:id="rId20"/>
    <p:sldId id="361" r:id="rId21"/>
    <p:sldId id="362" r:id="rId22"/>
    <p:sldId id="363" r:id="rId23"/>
    <p:sldId id="364" r:id="rId24"/>
    <p:sldId id="282" r:id="rId25"/>
    <p:sldId id="382" r:id="rId26"/>
    <p:sldId id="283" r:id="rId27"/>
    <p:sldId id="284" r:id="rId28"/>
    <p:sldId id="368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369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84" r:id="rId52"/>
    <p:sldId id="306" r:id="rId53"/>
    <p:sldId id="307" r:id="rId54"/>
    <p:sldId id="308" r:id="rId55"/>
    <p:sldId id="385" r:id="rId56"/>
    <p:sldId id="309" r:id="rId57"/>
    <p:sldId id="310" r:id="rId58"/>
    <p:sldId id="311" r:id="rId59"/>
    <p:sldId id="312" r:id="rId60"/>
    <p:sldId id="313" r:id="rId61"/>
    <p:sldId id="314" r:id="rId62"/>
    <p:sldId id="370" r:id="rId63"/>
    <p:sldId id="316" r:id="rId64"/>
    <p:sldId id="357" r:id="rId65"/>
    <p:sldId id="389" r:id="rId66"/>
    <p:sldId id="371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33" r:id="rId76"/>
    <p:sldId id="372" r:id="rId77"/>
    <p:sldId id="373" r:id="rId78"/>
    <p:sldId id="374" r:id="rId79"/>
    <p:sldId id="375" r:id="rId80"/>
    <p:sldId id="334" r:id="rId81"/>
    <p:sldId id="335" r:id="rId82"/>
    <p:sldId id="336" r:id="rId83"/>
    <p:sldId id="345" r:id="rId84"/>
    <p:sldId id="346" r:id="rId85"/>
    <p:sldId id="347" r:id="rId86"/>
    <p:sldId id="358" r:id="rId87"/>
    <p:sldId id="388" r:id="rId88"/>
    <p:sldId id="376" r:id="rId89"/>
    <p:sldId id="377" r:id="rId90"/>
    <p:sldId id="386" r:id="rId91"/>
    <p:sldId id="348" r:id="rId92"/>
    <p:sldId id="349" r:id="rId93"/>
    <p:sldId id="350" r:id="rId94"/>
    <p:sldId id="378" r:id="rId95"/>
    <p:sldId id="379" r:id="rId96"/>
    <p:sldId id="380" r:id="rId97"/>
    <p:sldId id="351" r:id="rId98"/>
    <p:sldId id="352" r:id="rId99"/>
    <p:sldId id="381" r:id="rId100"/>
    <p:sldId id="353" r:id="rId101"/>
    <p:sldId id="354" r:id="rId102"/>
    <p:sldId id="355" r:id="rId103"/>
  </p:sldIdLst>
  <p:sldSz cx="9144000" cy="6858000" type="screen4x3"/>
  <p:notesSz cx="7099300" cy="10234295"/>
  <p:custDataLst>
    <p:tags r:id="rId108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  <a:srgbClr val="008000"/>
    <a:srgbClr val="CCFFFF"/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48" autoAdjust="0"/>
    <p:restoredTop sz="85449" autoAdjust="0"/>
  </p:normalViewPr>
  <p:slideViewPr>
    <p:cSldViewPr showGuides="1">
      <p:cViewPr varScale="1">
        <p:scale>
          <a:sx n="59" d="100"/>
          <a:sy n="59" d="100"/>
        </p:scale>
        <p:origin x="164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4578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96.xml"/><Relationship Id="rId98" Type="http://schemas.openxmlformats.org/officeDocument/2006/relationships/slide" Target="slides/slide95.xml"/><Relationship Id="rId97" Type="http://schemas.openxmlformats.org/officeDocument/2006/relationships/slide" Target="slides/slide94.xml"/><Relationship Id="rId96" Type="http://schemas.openxmlformats.org/officeDocument/2006/relationships/slide" Target="slides/slide93.xml"/><Relationship Id="rId95" Type="http://schemas.openxmlformats.org/officeDocument/2006/relationships/slide" Target="slides/slide92.xml"/><Relationship Id="rId94" Type="http://schemas.openxmlformats.org/officeDocument/2006/relationships/slide" Target="slides/slide91.xml"/><Relationship Id="rId93" Type="http://schemas.openxmlformats.org/officeDocument/2006/relationships/slide" Target="slides/slide90.xml"/><Relationship Id="rId92" Type="http://schemas.openxmlformats.org/officeDocument/2006/relationships/slide" Target="slides/slide89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6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8" Type="http://schemas.openxmlformats.org/officeDocument/2006/relationships/tags" Target="tags/tag1.xml"/><Relationship Id="rId107" Type="http://schemas.openxmlformats.org/officeDocument/2006/relationships/tableStyles" Target="tableStyles.xml"/><Relationship Id="rId106" Type="http://schemas.openxmlformats.org/officeDocument/2006/relationships/viewProps" Target="viewProps.xml"/><Relationship Id="rId105" Type="http://schemas.openxmlformats.org/officeDocument/2006/relationships/presProps" Target="presProps.xml"/><Relationship Id="rId104" Type="http://schemas.openxmlformats.org/officeDocument/2006/relationships/handoutMaster" Target="handoutMasters/handoutMaster1.xml"/><Relationship Id="rId103" Type="http://schemas.openxmlformats.org/officeDocument/2006/relationships/slide" Target="slides/slide100.xml"/><Relationship Id="rId102" Type="http://schemas.openxmlformats.org/officeDocument/2006/relationships/slide" Target="slides/slide99.xml"/><Relationship Id="rId101" Type="http://schemas.openxmlformats.org/officeDocument/2006/relationships/slide" Target="slides/slide98.xml"/><Relationship Id="rId100" Type="http://schemas.openxmlformats.org/officeDocument/2006/relationships/slide" Target="slides/slide97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drawings/_rels/vmlDrawing4.vml.rels><?xml version="1.0" encoding="UTF-8" standalone="yes"?>
<Relationships xmlns="http://schemas.openxmlformats.org/package/2006/relationships"><Relationship Id="rId4" Type="http://schemas.openxmlformats.org/officeDocument/2006/relationships/image" Target="../media/image20.emf"/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image" Target="../media/image17.e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image" Target="../media/image2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5437188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The University of Adelaide, School of Computer Science</a:t>
            </a:r>
            <a:endParaRPr 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575300" y="0"/>
            <a:ext cx="1524000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algn="r"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fld id="{5F03D7B6-5E76-4070-A2D2-93A4B5BCF437}" type="datetime3">
              <a:rPr lang="en-US" altLang="zh-CN"/>
            </a:fld>
            <a:endParaRPr lang="en-US" altLang="zh-CN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5437188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Chapter 2 — Instructions: Language of the Computer</a:t>
            </a:r>
            <a:endParaRPr lang="en-US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75300" y="9723438"/>
            <a:ext cx="1524000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algn="r" defTabSz="967105" eaLnBrk="0" hangingPunct="0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3F93BBAD-F9FD-4012-AB71-C1B5F60C857D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The University of Adelaide, School of Computer Science</a:t>
            </a:r>
            <a:endParaRPr 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>
            <a:lvl1pPr algn="r"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fld id="{30639278-5723-4E82-BAD0-E0F4F8DCDFC7}" type="datetime3">
              <a:rPr lang="en-US" altLang="zh-CN"/>
            </a:fld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150" y="4862513"/>
            <a:ext cx="5207000" cy="46037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t" anchorCtr="0" compatLnSpc="1"/>
          <a:lstStyle/>
          <a:p>
            <a:pPr lvl="0"/>
            <a:r>
              <a:rPr lang="en-US" noProof="0" smtClean="0"/>
              <a:t>Click to edit Master text styles</a:t>
            </a:r>
            <a:endParaRPr lang="en-US" noProof="0" smtClean="0"/>
          </a:p>
          <a:p>
            <a:pPr lvl="1"/>
            <a:r>
              <a:rPr lang="en-US" noProof="0" smtClean="0"/>
              <a:t>Second level</a:t>
            </a:r>
            <a:endParaRPr lang="en-US" noProof="0" smtClean="0"/>
          </a:p>
          <a:p>
            <a:pPr lvl="2"/>
            <a:r>
              <a:rPr lang="en-US" noProof="0" smtClean="0"/>
              <a:t>Third level</a:t>
            </a:r>
            <a:endParaRPr lang="en-US" noProof="0" smtClean="0"/>
          </a:p>
          <a:p>
            <a:pPr lvl="3"/>
            <a:r>
              <a:rPr lang="en-US" noProof="0" smtClean="0"/>
              <a:t>Fourth level</a:t>
            </a:r>
            <a:endParaRPr lang="en-US" noProof="0" smtClean="0"/>
          </a:p>
          <a:p>
            <a:pPr lvl="4"/>
            <a:r>
              <a:rPr lang="en-US" noProof="0" smtClean="0"/>
              <a:t>Fifth level</a:t>
            </a:r>
            <a:endParaRPr lang="en-US" noProof="0" smtClean="0"/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defTabSz="967105" eaLnBrk="0" hangingPunct="0">
              <a:defRPr sz="1300">
                <a:latin typeface="Times New Roman" panose="02020603050405020304" pitchFamily="18" charset="0"/>
                <a:ea typeface="+mn-ea"/>
              </a:defRPr>
            </a:lvl1pPr>
          </a:lstStyle>
          <a:p>
            <a:pPr>
              <a:defRPr/>
            </a:pPr>
            <a:r>
              <a:rPr lang="en-US"/>
              <a:t>Chapter 2 — Instructions: Language of the Computer</a:t>
            </a:r>
            <a:endParaRPr lang="en-US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6661" tIns="48331" rIns="96661" bIns="48331" numCol="1" anchor="b" anchorCtr="0" compatLnSpc="1"/>
          <a:lstStyle>
            <a:lvl1pPr algn="r" defTabSz="967105" eaLnBrk="0" hangingPunct="0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8B291648-D8B4-4A9F-BB59-1DDC06203C9C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8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6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7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8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9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0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2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3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4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6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9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0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2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3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4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5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6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7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8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9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95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E956C65-7B00-495A-AF15-E35F6A1523D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95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1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C179A88-1BBD-454A-902A-BA7022BF142B}" type="slidenum">
              <a:rPr lang="en-US" altLang="zh-CN" sz="1300"/>
            </a:fld>
            <a:endParaRPr lang="en-US" altLang="zh-CN" sz="1300"/>
          </a:p>
        </p:txBody>
      </p:sp>
      <p:sp>
        <p:nvSpPr>
          <p:cNvPr id="81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05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830568B-2D4F-4ED2-96ED-D24EB12961C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05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2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7BC762F-613D-4D3B-9C21-682775522C9F}" type="slidenum">
              <a:rPr lang="en-US" altLang="zh-CN" sz="1300"/>
            </a:fld>
            <a:endParaRPr lang="en-US" altLang="zh-CN" sz="1300"/>
          </a:p>
        </p:txBody>
      </p:sp>
      <p:sp>
        <p:nvSpPr>
          <p:cNvPr id="102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16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3A49435-8F3A-44BB-BF71-473717AC336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16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CB46E48-4EDE-4B67-B303-C73715CB67A9}" type="slidenum">
              <a:rPr lang="en-US" altLang="zh-CN" sz="1300"/>
            </a:fld>
            <a:endParaRPr lang="en-US" altLang="zh-CN" sz="1300"/>
          </a:p>
        </p:txBody>
      </p:sp>
      <p:sp>
        <p:nvSpPr>
          <p:cNvPr id="122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26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D8A5EDB-4C38-42EC-81C7-1D0B09D1786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26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3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5B30DEA-5404-45F4-A594-6237E918909E}" type="slidenum">
              <a:rPr lang="en-US" altLang="zh-CN" sz="1300"/>
            </a:fld>
            <a:endParaRPr lang="en-US" altLang="zh-CN" sz="1300"/>
          </a:p>
        </p:txBody>
      </p:sp>
      <p:sp>
        <p:nvSpPr>
          <p:cNvPr id="143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3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D3AEDC2-3D65-4D39-A7A2-1EDC8624B6A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36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3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53586F8-542E-4BEA-BA9D-0B24B6B7984F}" type="slidenum">
              <a:rPr lang="en-US" altLang="zh-CN" sz="1300"/>
            </a:fld>
            <a:endParaRPr lang="en-US" altLang="zh-CN" sz="1300"/>
          </a:p>
        </p:txBody>
      </p:sp>
      <p:sp>
        <p:nvSpPr>
          <p:cNvPr id="163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3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F363917-3F24-4232-91E9-55E8FA36112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46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4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61577E7-333E-4E92-88BD-A832E69D807C}" type="slidenum">
              <a:rPr lang="en-US" altLang="zh-CN" sz="1300"/>
            </a:fld>
            <a:endParaRPr lang="en-US" altLang="zh-CN" sz="1300"/>
          </a:p>
        </p:txBody>
      </p:sp>
      <p:sp>
        <p:nvSpPr>
          <p:cNvPr id="184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4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57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35C8DDB-E68D-4DAC-8CF1-EBCBECAE80B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57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4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2B4B9E3-0675-4D26-A44E-753E7FABC1B8}" type="slidenum">
              <a:rPr lang="en-US" altLang="zh-CN" sz="1300"/>
            </a:fld>
            <a:endParaRPr lang="en-US" altLang="zh-CN" sz="1300"/>
          </a:p>
        </p:txBody>
      </p:sp>
      <p:sp>
        <p:nvSpPr>
          <p:cNvPr id="204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4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dirty="0" smtClean="0"/>
              <a:t>c.f. confer, compare</a:t>
            </a:r>
            <a:endParaRPr lang="en-AU" altLang="zh-CN" dirty="0" smtClean="0"/>
          </a:p>
          <a:p>
            <a:r>
              <a:rPr lang="zh-CN" altLang="en-US" dirty="0" smtClean="0"/>
              <a:t>对齐方式就是从内存与寄存器间数据交换时数据读写顺序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2253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这对于常数的处理非常重要，需要编译器的支持来完成。为什么</a:t>
            </a:r>
            <a:r>
              <a:rPr lang="en-US" altLang="zh-CN" smtClean="0"/>
              <a:t>C</a:t>
            </a:r>
            <a:r>
              <a:rPr lang="zh-CN" altLang="en-US" smtClean="0"/>
              <a:t>语言的编译器在编译时需要选择不同的目标</a:t>
            </a:r>
            <a:r>
              <a:rPr lang="en-US" altLang="zh-CN" smtClean="0"/>
              <a:t>CPU</a:t>
            </a:r>
            <a:endParaRPr lang="en-US" altLang="zh-CN" smtClean="0"/>
          </a:p>
          <a:p>
            <a:r>
              <a:rPr lang="zh-CN" altLang="en-US" smtClean="0"/>
              <a:t>小端对齐 ： 低位在低字节，高位在高字节。   </a:t>
            </a:r>
            <a:endParaRPr lang="en-US" altLang="zh-CN" smtClean="0"/>
          </a:p>
          <a:p>
            <a:r>
              <a:rPr lang="zh-CN" altLang="en-US" smtClean="0"/>
              <a:t>大端对齐：  与小端对齐相反。</a:t>
            </a:r>
            <a:endParaRPr lang="zh-CN" altLang="en-US" smtClean="0"/>
          </a:p>
        </p:txBody>
      </p:sp>
      <p:sp>
        <p:nvSpPr>
          <p:cNvPr id="116740" name="页眉占位符 3"/>
          <p:cNvSpPr>
            <a:spLocks noGrp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6741" name="日期占位符 4"/>
          <p:cNvSpPr>
            <a:spLocks noGrp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9E5ED0C-C722-4459-B14B-9CFEC3B1995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6742" name="页脚占位符 5"/>
          <p:cNvSpPr>
            <a:spLocks noGrp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2535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3ED2976-F077-47CC-9C49-D71A9153BFEA}" type="slidenum">
              <a:rPr lang="en-US" altLang="zh-CN" sz="1300"/>
            </a:fld>
            <a:endParaRPr lang="en-US" altLang="zh-CN" sz="13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77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D7E2E70A-CB85-4E59-839E-49F45E224E6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77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45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C0104F3-161B-4D6D-925A-83FE0424232F}" type="slidenum">
              <a:rPr lang="en-US" altLang="zh-CN" sz="1300"/>
            </a:fld>
            <a:endParaRPr lang="en-US" altLang="zh-CN" sz="1300"/>
          </a:p>
        </p:txBody>
      </p:sp>
      <p:sp>
        <p:nvSpPr>
          <p:cNvPr id="245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45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87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22FEE13-DA20-4C96-9A8F-F0D7195E8A3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87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66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ADE9690-E272-4422-BD56-0F4B6299C31E}" type="slidenum">
              <a:rPr lang="en-US" altLang="zh-CN" sz="1300"/>
            </a:fld>
            <a:endParaRPr lang="en-US" altLang="zh-CN" sz="1300"/>
          </a:p>
        </p:txBody>
      </p:sp>
      <p:sp>
        <p:nvSpPr>
          <p:cNvPr id="266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66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98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AEA6FCE-0463-4DB3-B34E-AC18F3683C0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98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86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0F6376F-4EE5-4B6D-93B0-9542A66BB5AC}" type="slidenum">
              <a:rPr lang="en-US" altLang="zh-CN" sz="1300"/>
            </a:fld>
            <a:endParaRPr lang="en-US" altLang="zh-CN" sz="1300"/>
          </a:p>
        </p:txBody>
      </p:sp>
      <p:sp>
        <p:nvSpPr>
          <p:cNvPr id="286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86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寄存器与内存之间的比较</a:t>
            </a:r>
            <a:endParaRPr lang="en-US" altLang="zh-CN" smtClean="0"/>
          </a:p>
          <a:p>
            <a:r>
              <a:rPr lang="zh-CN" altLang="en-US" smtClean="0"/>
              <a:t>编译器尽可能使用寄存器变量， 尽量将使用不频发的数据 放置到内存中</a:t>
            </a:r>
            <a:endParaRPr lang="en-US" altLang="zh-CN" smtClean="0"/>
          </a:p>
          <a:p>
            <a:r>
              <a:rPr lang="en-US" altLang="zh-CN" smtClean="0"/>
              <a:t> </a:t>
            </a:r>
            <a:r>
              <a:rPr lang="zh-CN" altLang="en-US" smtClean="0"/>
              <a:t>寄存器优化就十分重要。（寄存器有限的，因此将程序中的哪些变量分配成寄存器呢？这是一个分配和调度的问题）</a:t>
            </a:r>
            <a:endParaRPr lang="en-US" altLang="zh-CN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08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DF64DA7-566E-48A2-8AE7-BDF04F34339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08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07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6FB9B3D-79B7-45A4-B4BE-4A608028668C}" type="slidenum">
              <a:rPr lang="en-US" altLang="zh-CN" sz="1300"/>
            </a:fld>
            <a:endParaRPr lang="en-US" altLang="zh-CN" sz="1300"/>
          </a:p>
        </p:txBody>
      </p:sp>
      <p:sp>
        <p:nvSpPr>
          <p:cNvPr id="307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07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立即数操作数据，立即数操作数可以避免一次数据加载指令</a:t>
            </a:r>
            <a:r>
              <a:rPr lang="en-US" altLang="zh-CN" smtClean="0"/>
              <a:t> lw</a:t>
            </a:r>
            <a:endParaRPr lang="en-US" altLang="zh-CN" smtClean="0"/>
          </a:p>
          <a:p>
            <a:r>
              <a:rPr lang="en-AU" altLang="zh-CN" smtClean="0"/>
              <a:t> </a:t>
            </a:r>
            <a:r>
              <a:rPr lang="zh-CN" altLang="en-US" smtClean="0"/>
              <a:t>哪些是立即数呢？循环变量、边界值等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277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  </a:t>
            </a:r>
            <a:r>
              <a:rPr lang="zh-CN" altLang="en-US" smtClean="0"/>
              <a:t>前面我们介绍了计算机中的三种操作对象  寄存器、内存、立即数</a:t>
            </a:r>
            <a:endParaRPr lang="en-US" altLang="zh-CN" smtClean="0"/>
          </a:p>
          <a:p>
            <a:r>
              <a:rPr lang="en-US" altLang="zh-CN" smtClean="0"/>
              <a:t>  </a:t>
            </a:r>
            <a:r>
              <a:rPr lang="zh-CN" altLang="en-US" smtClean="0"/>
              <a:t>那么计算机中的指令能够处理哪些数据类型呢？ 计算机中如何来表示这些数据呢？</a:t>
            </a:r>
            <a:endParaRPr lang="en-US" altLang="zh-CN" smtClean="0"/>
          </a:p>
          <a:p>
            <a:r>
              <a:rPr lang="en-US" altLang="zh-CN" smtClean="0"/>
              <a:t> </a:t>
            </a:r>
            <a:endParaRPr lang="zh-CN" altLang="en-US" smtClean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quarter" idx="1"/>
          </p:nvPr>
        </p:nvSpPr>
        <p:spPr/>
        <p:txBody>
          <a:bodyPr/>
          <a:lstStyle/>
          <a:p>
            <a:pPr>
              <a:defRPr/>
            </a:pPr>
            <a:fld id="{CB2F2634-9254-4F27-AAA3-8F18D4775079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32775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7C9D48DC-B94D-4619-BC9E-5E7E6E1CEC27}" type="slidenum">
              <a:rPr lang="en-US" altLang="zh-CN">
                <a:latin typeface="Times New Roman" panose="02020603050405020304" pitchFamily="18" charset="0"/>
              </a:rPr>
            </a:fld>
            <a:endParaRPr lang="en-US" altLang="zh-CN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481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>
                <a:cs typeface="Arial" panose="020B0604020202020204" pitchFamily="34" charset="0"/>
              </a:rPr>
              <a:t>1‘s complement , </a:t>
            </a:r>
            <a:r>
              <a:rPr lang="zh-CN" altLang="en-US" smtClean="0">
                <a:cs typeface="Arial" panose="020B0604020202020204" pitchFamily="34" charset="0"/>
              </a:rPr>
              <a:t>原码， </a:t>
            </a:r>
            <a:r>
              <a:rPr lang="en-US" altLang="zh-CN" smtClean="0">
                <a:cs typeface="Arial" panose="020B0604020202020204" pitchFamily="34" charset="0"/>
              </a:rPr>
              <a:t>2’s complement </a:t>
            </a:r>
            <a:r>
              <a:rPr lang="zh-CN" altLang="en-US" smtClean="0">
                <a:cs typeface="Arial" panose="020B0604020202020204" pitchFamily="34" charset="0"/>
              </a:rPr>
              <a:t>补码</a:t>
            </a:r>
            <a:endParaRPr lang="en-US" altLang="zh-CN" smtClean="0">
              <a:cs typeface="Arial" panose="020B0604020202020204" pitchFamily="34" charset="0"/>
            </a:endParaRPr>
          </a:p>
        </p:txBody>
      </p:sp>
      <p:sp>
        <p:nvSpPr>
          <p:cNvPr id="121860" name="页眉占位符 3"/>
          <p:cNvSpPr>
            <a:spLocks noGrp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1861" name="日期占位符 4"/>
          <p:cNvSpPr>
            <a:spLocks noGrp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D94D94C-C5C8-40E7-BC17-ABBC4A79785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1862" name="页脚占位符 5"/>
          <p:cNvSpPr>
            <a:spLocks noGrp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4823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9729E35-DCD7-4E15-9F0C-0821E5AA7A6A}" type="slidenum">
              <a:rPr lang="en-US" altLang="zh-CN" sz="1300"/>
            </a:fld>
            <a:endParaRPr lang="en-US" altLang="zh-CN" sz="13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8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2A9582E-C035-481F-89A5-D1D81F94D19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8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68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81353A-2551-4B8B-945D-E3B8CB218AEF}" type="slidenum">
              <a:rPr lang="en-US" altLang="zh-CN" sz="1300"/>
            </a:fld>
            <a:endParaRPr lang="en-US" altLang="zh-CN" sz="1300"/>
          </a:p>
        </p:txBody>
      </p:sp>
      <p:sp>
        <p:nvSpPr>
          <p:cNvPr id="368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68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smtClean="0"/>
              <a:t> </a:t>
            </a:r>
            <a:r>
              <a:rPr lang="zh-CN" altLang="en-US" smtClean="0"/>
              <a:t>零 在</a:t>
            </a:r>
            <a:r>
              <a:rPr lang="en-US" altLang="zh-CN" smtClean="0"/>
              <a:t>MIPS</a:t>
            </a:r>
            <a:r>
              <a:rPr lang="zh-CN" altLang="en-US" smtClean="0"/>
              <a:t>中如何表示和存储</a:t>
            </a:r>
            <a:endParaRPr lang="en-US" altLang="zh-CN" smtClean="0"/>
          </a:p>
          <a:p>
            <a:r>
              <a:rPr lang="en-US" altLang="zh-CN" smtClean="0"/>
              <a:t> </a:t>
            </a:r>
            <a:r>
              <a:rPr lang="zh-CN" altLang="en-US" smtClean="0"/>
              <a:t>零号寄存器可以用来完成寄存器之间的传输和赋值操作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39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AAD4782-C101-4261-A217-49E1292C545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39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389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F745B49-1E4A-4A35-8D7E-2C5D6DEB8974}" type="slidenum">
              <a:rPr lang="en-US" altLang="zh-CN" sz="1300"/>
            </a:fld>
            <a:endParaRPr lang="en-US" altLang="zh-CN" sz="1300"/>
          </a:p>
        </p:txBody>
      </p:sp>
      <p:sp>
        <p:nvSpPr>
          <p:cNvPr id="389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891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有符号数和无符号数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49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820A68F-8FBC-4A0B-A390-1F713185432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49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19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5E53785-2335-4935-90CD-5C2F437C7C02}" type="slidenum">
              <a:rPr lang="en-US" altLang="zh-CN" sz="1300"/>
            </a:fld>
            <a:endParaRPr lang="en-US" altLang="zh-CN" sz="1300"/>
          </a:p>
        </p:txBody>
      </p:sp>
      <p:sp>
        <p:nvSpPr>
          <p:cNvPr id="419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19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59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68C69B7-9700-462D-A7B1-C20E233D164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59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40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E0318F0-D0E7-42F6-9D28-D6AD99E9B89A}" type="slidenum">
              <a:rPr lang="en-US" altLang="zh-CN" sz="1300"/>
            </a:fld>
            <a:endParaRPr lang="en-US" altLang="zh-CN" sz="1300"/>
          </a:p>
        </p:txBody>
      </p:sp>
      <p:sp>
        <p:nvSpPr>
          <p:cNvPr id="440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40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69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EFD48C0-5D79-40DF-9E69-B280F1F1861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69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60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E58B078-D1C1-4D6F-A74A-630F0BA17EEA}" type="slidenum">
              <a:rPr lang="en-US" altLang="zh-CN" sz="1300"/>
            </a:fld>
            <a:endParaRPr lang="en-US" altLang="zh-CN" sz="1300"/>
          </a:p>
        </p:txBody>
      </p:sp>
      <p:sp>
        <p:nvSpPr>
          <p:cNvPr id="460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60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800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4BEC462-8B9D-4B1E-876C-3C8667C0EE5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800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481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DBD8E9E-8F0B-4544-A41C-3A11A952342F}" type="slidenum">
              <a:rPr lang="en-US" altLang="zh-CN" sz="1300"/>
            </a:fld>
            <a:endParaRPr lang="en-US" altLang="zh-CN" sz="1300"/>
          </a:p>
        </p:txBody>
      </p:sp>
      <p:sp>
        <p:nvSpPr>
          <p:cNvPr id="481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81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902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4DF9142-F10B-41AE-ACAE-56FB8F61151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902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01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5F31BB6-71AD-4AB5-84B7-315EB4148D42}" type="slidenum">
              <a:rPr lang="en-US" altLang="zh-CN" sz="1300"/>
            </a:fld>
            <a:endParaRPr lang="en-US" altLang="zh-CN" sz="1300"/>
          </a:p>
        </p:txBody>
      </p:sp>
      <p:sp>
        <p:nvSpPr>
          <p:cNvPr id="501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01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以上介绍了 </a:t>
            </a:r>
            <a:r>
              <a:rPr lang="en-US" altLang="zh-CN" dirty="0" smtClean="0"/>
              <a:t>MIPS</a:t>
            </a:r>
            <a:r>
              <a:rPr lang="zh-CN" altLang="en-US" dirty="0" smtClean="0"/>
              <a:t>指令集结构中整数的表示问题。那么我们常用的小数如何表示呢？</a:t>
            </a:r>
            <a:r>
              <a:rPr lang="zh-CN" altLang="en-US" baseline="0" dirty="0" smtClean="0"/>
              <a:t>  我们在后面的内容中继续学习</a:t>
            </a:r>
            <a:endParaRPr lang="en-US" altLang="zh-CN" dirty="0" smtClean="0"/>
          </a:p>
          <a:p>
            <a:r>
              <a:rPr lang="zh-CN" altLang="en-US" dirty="0" smtClean="0"/>
              <a:t>那么指令如何表示呢？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5222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我们可以看到   </a:t>
            </a:r>
            <a:r>
              <a:rPr lang="en-US" altLang="zh-CN" smtClean="0"/>
              <a:t>MIPS</a:t>
            </a:r>
            <a:r>
              <a:rPr lang="zh-CN" altLang="en-US" smtClean="0"/>
              <a:t>指令集分为如下</a:t>
            </a:r>
            <a:r>
              <a:rPr lang="en-US" altLang="zh-CN" smtClean="0"/>
              <a:t>6</a:t>
            </a:r>
            <a:r>
              <a:rPr lang="zh-CN" altLang="en-US" smtClean="0"/>
              <a:t>类指令</a:t>
            </a:r>
            <a:endParaRPr lang="en-US" altLang="zh-CN" smtClean="0"/>
          </a:p>
          <a:p>
            <a:r>
              <a:rPr lang="en-US" altLang="zh-CN" smtClean="0"/>
              <a:t>                       </a:t>
            </a:r>
            <a:r>
              <a:rPr lang="zh-CN" altLang="en-US" smtClean="0"/>
              <a:t>其中所有的指令的格式都为</a:t>
            </a:r>
            <a:r>
              <a:rPr lang="en-US" altLang="zh-CN" smtClean="0"/>
              <a:t>32</a:t>
            </a:r>
            <a:r>
              <a:rPr lang="zh-CN" altLang="en-US" smtClean="0"/>
              <a:t>位的定长指令，其构成可以分为如下三种格式的指令</a:t>
            </a:r>
            <a:r>
              <a:rPr lang="en-US" altLang="zh-CN" smtClean="0"/>
              <a:t>R\I\J</a:t>
            </a:r>
            <a:endParaRPr lang="zh-CN" altLang="en-US" smtClean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quarter" idx="1"/>
          </p:nvPr>
        </p:nvSpPr>
        <p:spPr/>
        <p:txBody>
          <a:bodyPr/>
          <a:lstStyle/>
          <a:p>
            <a:pPr>
              <a:defRPr/>
            </a:pPr>
            <a:fld id="{CB2F2634-9254-4F27-AAA3-8F18D4775079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52231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defTabSz="967105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9B1CAC04-496B-49D8-868B-2B7ABDE3DBE2}" type="slidenum">
              <a:rPr lang="en-US" altLang="zh-CN">
                <a:latin typeface="Times New Roman" panose="02020603050405020304" pitchFamily="18" charset="0"/>
              </a:rPr>
            </a:fld>
            <a:endParaRPr lang="en-US" altLang="zh-CN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005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8C41319-183C-4D43-99D5-A9F5CF06869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005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42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5C5E161-9595-4B40-9C77-FA63236371B8}" type="slidenum">
              <a:rPr lang="en-US" altLang="zh-CN" sz="1300"/>
            </a:fld>
            <a:endParaRPr lang="en-US" altLang="zh-CN" sz="1300"/>
          </a:p>
        </p:txBody>
      </p:sp>
      <p:sp>
        <p:nvSpPr>
          <p:cNvPr id="542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42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首先我们来看一下</a:t>
            </a:r>
            <a:r>
              <a:rPr lang="en-US" altLang="zh-CN" dirty="0" smtClean="0"/>
              <a:t>R</a:t>
            </a:r>
            <a:r>
              <a:rPr lang="zh-CN" altLang="en-US" dirty="0" smtClean="0"/>
              <a:t>型的指令，以及指令中每个字段（域）的含义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107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76DC014-824A-4575-BAC1-E732EE821A6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107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63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5735408-9A7E-48E7-97CB-CAB1DA9B78D6}" type="slidenum">
              <a:rPr lang="en-US" altLang="zh-CN" sz="1300"/>
            </a:fld>
            <a:endParaRPr lang="en-US" altLang="zh-CN" sz="1300"/>
          </a:p>
        </p:txBody>
      </p:sp>
      <p:sp>
        <p:nvSpPr>
          <p:cNvPr id="563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63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209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6F7E379-5A25-43FB-9716-E02DAA17C4D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210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583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7FDDA5D-9FC0-4B66-9C8C-C1CB5C6F97EA}" type="slidenum">
              <a:rPr lang="en-US" altLang="zh-CN" sz="1300"/>
            </a:fld>
            <a:endParaRPr lang="en-US" altLang="zh-CN" sz="1300"/>
          </a:p>
        </p:txBody>
      </p:sp>
      <p:sp>
        <p:nvSpPr>
          <p:cNvPr id="583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5837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smtClean="0"/>
              <a:t>16</a:t>
            </a:r>
            <a:r>
              <a:rPr lang="zh-CN" altLang="en-US" smtClean="0"/>
              <a:t>进制数，为了更好观察指令的结果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312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CE3026C-3454-487C-8689-4A3869BF4A35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312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04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23C1968-3A71-4495-AA38-FA17194A5FD7}" type="slidenum">
              <a:rPr lang="en-US" altLang="zh-CN" sz="1300"/>
            </a:fld>
            <a:endParaRPr lang="en-US" altLang="zh-CN" sz="1300"/>
          </a:p>
        </p:txBody>
      </p:sp>
      <p:sp>
        <p:nvSpPr>
          <p:cNvPr id="604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042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I </a:t>
            </a:r>
            <a:r>
              <a:rPr lang="zh-CN" altLang="en-US" smtClean="0"/>
              <a:t>型的指令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414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9074747-8A21-4A72-92CF-3708D521F46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414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24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43A3F03-B4C7-4337-88D5-E286723EE22B}" type="slidenum">
              <a:rPr lang="en-US" altLang="zh-CN" sz="1300"/>
            </a:fld>
            <a:endParaRPr lang="en-US" altLang="zh-CN" sz="1300"/>
          </a:p>
        </p:txBody>
      </p:sp>
      <p:sp>
        <p:nvSpPr>
          <p:cNvPr id="624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24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我们了解了指令的格式，那么由指令组成的程序是如何设计和工作呢？</a:t>
            </a:r>
            <a:endParaRPr lang="en-US" altLang="zh-CN" dirty="0" smtClean="0"/>
          </a:p>
          <a:p>
            <a:r>
              <a:rPr lang="en-US" altLang="zh-CN" dirty="0" smtClean="0"/>
              <a:t> </a:t>
            </a:r>
            <a:r>
              <a:rPr lang="zh-CN" altLang="en-US" dirty="0" smtClean="0"/>
              <a:t>右边的图示了程序和数据在内存中的分布情况，我们可以观察到：</a:t>
            </a:r>
            <a:endParaRPr lang="en-US" altLang="zh-CN" dirty="0" smtClean="0"/>
          </a:p>
          <a:p>
            <a:r>
              <a:rPr lang="zh-CN" altLang="en-US" dirty="0" smtClean="0"/>
              <a:t>冯诺依曼计算机工作原理是存储程序的工作方式，该方式遵循以下</a:t>
            </a:r>
            <a:r>
              <a:rPr lang="en-US" altLang="zh-CN" dirty="0" smtClean="0"/>
              <a:t>2</a:t>
            </a:r>
            <a:r>
              <a:rPr lang="zh-CN" altLang="en-US" dirty="0" smtClean="0"/>
              <a:t>原则： 程序和数据都都表示为数字（二进制 </a:t>
            </a:r>
            <a:r>
              <a:rPr lang="en-US" altLang="zh-CN" dirty="0" smtClean="0"/>
              <a:t>0101</a:t>
            </a:r>
            <a:r>
              <a:rPr lang="zh-CN" altLang="en-US" dirty="0" smtClean="0"/>
              <a:t>），程序是可以数据一样读写</a:t>
            </a:r>
            <a:endParaRPr lang="en-US" altLang="zh-CN" dirty="0" smtClean="0"/>
          </a:p>
          <a:p>
            <a:r>
              <a:rPr lang="zh-CN" altLang="en-US" dirty="0" smtClean="0"/>
              <a:t>软件兼容性，导致工业界围绕着少量的</a:t>
            </a:r>
            <a:r>
              <a:rPr lang="en-US" altLang="zh-CN" dirty="0" smtClean="0"/>
              <a:t>ISA</a:t>
            </a:r>
            <a:r>
              <a:rPr lang="zh-CN" altLang="en-US" dirty="0" smtClean="0"/>
              <a:t>架构的联盟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dirty="0" smtClean="0"/>
              <a:t>                            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51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CEF54E8-987A-450C-AABC-A349BDEC416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51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45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6E33A1F-10CA-4D7F-8125-F2B8161CCEAC}" type="slidenum">
              <a:rPr lang="en-US" altLang="zh-CN" sz="1300"/>
            </a:fld>
            <a:endParaRPr lang="en-US" altLang="zh-CN" sz="1300"/>
          </a:p>
        </p:txBody>
      </p:sp>
      <p:sp>
        <p:nvSpPr>
          <p:cNvPr id="645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451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下面我们介绍最常见的几类指令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61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3746EDF-1D59-458D-8119-0FC9B780246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61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65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422FB22E-C342-491D-9626-18082E8B47FB}" type="slidenum">
              <a:rPr lang="en-US" altLang="zh-CN" sz="1300"/>
            </a:fld>
            <a:endParaRPr lang="en-US" altLang="zh-CN" sz="1300"/>
          </a:p>
        </p:txBody>
      </p:sp>
      <p:sp>
        <p:nvSpPr>
          <p:cNvPr id="665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656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72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52146E9-EE73-4936-97F4-C7C0D27B367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72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686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D5BFC7B-E9BE-4090-B49B-C762074B50BD}" type="slidenum">
              <a:rPr lang="en-US" altLang="zh-CN" sz="1300"/>
            </a:fld>
            <a:endParaRPr lang="en-US" altLang="zh-CN" sz="1300"/>
          </a:p>
        </p:txBody>
      </p:sp>
      <p:sp>
        <p:nvSpPr>
          <p:cNvPr id="686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861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82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682575A-222E-4EE0-ABBB-15AD0126AE4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82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066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EA334EB-7CA7-41CF-A656-0B8EA7C9A927}" type="slidenum">
              <a:rPr lang="en-US" altLang="zh-CN" sz="1300"/>
            </a:fld>
            <a:endParaRPr lang="en-US" altLang="zh-CN" sz="1300"/>
          </a:p>
        </p:txBody>
      </p:sp>
      <p:sp>
        <p:nvSpPr>
          <p:cNvPr id="706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066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92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AD5FEB0-3C55-425E-87BB-2A169C74B97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92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27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6782D29-6184-401D-95CA-59F9E15489A9}" type="slidenum">
              <a:rPr lang="en-US" altLang="zh-CN" sz="1300"/>
            </a:fld>
            <a:endParaRPr lang="en-US" altLang="zh-CN" sz="1300"/>
          </a:p>
        </p:txBody>
      </p:sp>
      <p:sp>
        <p:nvSpPr>
          <p:cNvPr id="727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27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02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6372AFC-A598-4008-A4A2-024EEB86299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02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475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D8C6017-3B94-4119-BE9D-DE0A85BFAC05}" type="slidenum">
              <a:rPr lang="en-US" altLang="zh-CN" sz="1300"/>
            </a:fld>
            <a:endParaRPr lang="en-US" altLang="zh-CN" sz="1300"/>
          </a:p>
        </p:txBody>
      </p:sp>
      <p:sp>
        <p:nvSpPr>
          <p:cNvPr id="747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475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条件操作指令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13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5EBF115-20C1-41ED-88BB-38FF1F66E6F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13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68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CB571C7-1742-404E-AA76-01C7B836C31C}" type="slidenum">
              <a:rPr lang="en-US" altLang="zh-CN" sz="1300"/>
            </a:fld>
            <a:endParaRPr lang="en-US" altLang="zh-CN" sz="1300"/>
          </a:p>
        </p:txBody>
      </p:sp>
      <p:sp>
        <p:nvSpPr>
          <p:cNvPr id="768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680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233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7ECD6EA-B6E0-42AF-A065-61EB99069BB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234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788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FFE1D4C-7412-4A1D-A470-F05AC1917993}" type="slidenum">
              <a:rPr lang="en-US" altLang="zh-CN" sz="1300"/>
            </a:fld>
            <a:endParaRPr lang="en-US" altLang="zh-CN" sz="1300"/>
          </a:p>
        </p:txBody>
      </p:sp>
      <p:sp>
        <p:nvSpPr>
          <p:cNvPr id="788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7885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循环指令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33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3403155-4A70-4085-A5EC-5BB26CFE598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33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09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907A6F9-BB1C-4518-87D5-6461CD24B1AC}" type="slidenum">
              <a:rPr lang="en-US" altLang="zh-CN" sz="1300"/>
            </a:fld>
            <a:endParaRPr lang="en-US" altLang="zh-CN" sz="1300"/>
          </a:p>
        </p:txBody>
      </p:sp>
      <p:sp>
        <p:nvSpPr>
          <p:cNvPr id="809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090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基本的结构， 既没有嵌入的分支语句，除了在结束除外，也没有分支程序的入口（除了起始位置之外）</a:t>
            </a:r>
            <a:endParaRPr lang="en-US" altLang="zh-CN" dirty="0" smtClean="0"/>
          </a:p>
          <a:p>
            <a:r>
              <a:rPr lang="en-US" altLang="zh-CN" dirty="0" smtClean="0"/>
              <a:t>   </a:t>
            </a:r>
            <a:r>
              <a:rPr lang="zh-CN" altLang="en-US" dirty="0" smtClean="0"/>
              <a:t>基本程序块是编译器识别并优化的程序块，一些先进的处理器可以加快基本快的执行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43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C72DD7D-715F-49D9-B20F-768C5D6D7DE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43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29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3F0E246-37E3-447A-9B91-76439535A878}" type="slidenum">
              <a:rPr lang="en-US" altLang="zh-CN" sz="1300"/>
            </a:fld>
            <a:endParaRPr lang="en-US" altLang="zh-CN" sz="1300"/>
          </a:p>
        </p:txBody>
      </p:sp>
      <p:sp>
        <p:nvSpPr>
          <p:cNvPr id="829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295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条件赋值操作指令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54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2D5C40A-B496-4C76-8364-2F0D3679DBD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54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49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209166A-A178-4A13-9049-F2AA99F7850A}" type="slidenum">
              <a:rPr lang="en-US" altLang="zh-CN" sz="1300"/>
            </a:fld>
            <a:endParaRPr lang="en-US" altLang="zh-CN" sz="1300"/>
          </a:p>
        </p:txBody>
      </p:sp>
      <p:sp>
        <p:nvSpPr>
          <p:cNvPr id="849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49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分支指令的设计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对于硬件来说 </a:t>
            </a:r>
            <a:r>
              <a:rPr lang="en-US" altLang="zh-CN" dirty="0" smtClean="0"/>
              <a:t>&lt;  </a:t>
            </a:r>
            <a:r>
              <a:rPr lang="zh-CN" altLang="en-US" dirty="0" smtClean="0"/>
              <a:t>运行时间比</a:t>
            </a:r>
            <a:r>
              <a:rPr lang="en-US" altLang="zh-CN" dirty="0" smtClean="0"/>
              <a:t>= </a:t>
            </a:r>
            <a:r>
              <a:rPr lang="zh-CN" altLang="en-US" dirty="0" smtClean="0"/>
              <a:t>，不等于慢</a:t>
            </a:r>
            <a:endParaRPr lang="en-US" altLang="zh-CN" dirty="0" smtClean="0"/>
          </a:p>
          <a:p>
            <a:r>
              <a:rPr lang="zh-CN" altLang="en-US" dirty="0" smtClean="0"/>
              <a:t>如果将比较和分支在一条指令中将会包含更多的操作，从而导致更慢的时钟，从而导致所有的指令都变慢</a:t>
            </a:r>
            <a:endParaRPr lang="en-US" altLang="zh-CN" dirty="0" smtClean="0"/>
          </a:p>
          <a:p>
            <a:r>
              <a:rPr lang="zh-CN" altLang="en-US" dirty="0" smtClean="0">
                <a:solidFill>
                  <a:srgbClr val="FF0000"/>
                </a:solidFill>
                <a:latin typeface="Lucida Console" panose="020B0609040504020204" pitchFamily="49" charset="0"/>
              </a:rPr>
              <a:t>另一方面</a:t>
            </a:r>
            <a:r>
              <a:rPr lang="en-US" altLang="zh-CN" dirty="0" err="1" smtClean="0">
                <a:solidFill>
                  <a:srgbClr val="FF0000"/>
                </a:solidFill>
                <a:latin typeface="Lucida Console" panose="020B0609040504020204" pitchFamily="49" charset="0"/>
              </a:rPr>
              <a:t>beq</a:t>
            </a:r>
            <a:r>
              <a:rPr lang="en-US" altLang="zh-CN" dirty="0" smtClean="0"/>
              <a:t> and </a:t>
            </a:r>
            <a:r>
              <a:rPr lang="en-US" altLang="zh-CN" dirty="0" err="1" smtClean="0">
                <a:solidFill>
                  <a:srgbClr val="FF0000"/>
                </a:solidFill>
                <a:latin typeface="Lucida Console" panose="020B0609040504020204" pitchFamily="49" charset="0"/>
              </a:rPr>
              <a:t>bne</a:t>
            </a:r>
            <a:r>
              <a:rPr lang="en-US" altLang="zh-CN" dirty="0" smtClean="0"/>
              <a:t> </a:t>
            </a:r>
            <a:r>
              <a:rPr lang="zh-CN" altLang="en-US" dirty="0" smtClean="0"/>
              <a:t>更常用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en-AU" altLang="zh-CN" dirty="0" smtClean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64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2843F4B-DD04-4140-AD43-91BD997EF06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64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70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9A1CA49-A1DC-417E-AE5C-E56A152E8ECF}" type="slidenum">
              <a:rPr lang="en-US" altLang="zh-CN" sz="1300"/>
            </a:fld>
            <a:endParaRPr lang="en-US" altLang="zh-CN" sz="1300"/>
          </a:p>
        </p:txBody>
      </p:sp>
      <p:sp>
        <p:nvSpPr>
          <p:cNvPr id="870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70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745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526A06B-D792-4B42-BD6F-A7E45F66583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746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890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46B3023-B3AA-45AB-B1DE-0461383A3A65}" type="slidenum">
              <a:rPr lang="en-US" altLang="zh-CN" sz="1300"/>
            </a:fld>
            <a:endParaRPr lang="en-US" altLang="zh-CN" sz="1300"/>
          </a:p>
        </p:txBody>
      </p:sp>
      <p:sp>
        <p:nvSpPr>
          <p:cNvPr id="890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90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过程调用</a:t>
            </a:r>
            <a:endParaRPr lang="en-US" altLang="zh-CN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过程调用的步骤</a:t>
            </a:r>
            <a:endParaRPr lang="en-US" altLang="zh-CN" baseline="0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放置参数</a:t>
            </a:r>
            <a:r>
              <a:rPr lang="en-US" altLang="zh-CN" baseline="0" dirty="0" smtClean="0"/>
              <a:t>– </a:t>
            </a:r>
            <a:r>
              <a:rPr lang="zh-CN" altLang="en-US" baseline="0" dirty="0" smtClean="0"/>
              <a:t>转移控制</a:t>
            </a:r>
            <a:r>
              <a:rPr lang="en-US" altLang="zh-CN" baseline="0" dirty="0" smtClean="0"/>
              <a:t>—</a:t>
            </a:r>
            <a:r>
              <a:rPr lang="zh-CN" altLang="en-US" baseline="0" dirty="0" smtClean="0"/>
              <a:t>申请局部变量内存（同时</a:t>
            </a:r>
            <a:r>
              <a:rPr lang="en-US" altLang="zh-CN" baseline="0" dirty="0" err="1" smtClean="0"/>
              <a:t>fp</a:t>
            </a:r>
            <a:r>
              <a:rPr lang="zh-CN" altLang="en-US" baseline="0" dirty="0" smtClean="0"/>
              <a:t>指向</a:t>
            </a:r>
            <a:r>
              <a:rPr lang="en-US" altLang="zh-CN" baseline="0" dirty="0" err="1" smtClean="0"/>
              <a:t>sp</a:t>
            </a:r>
            <a:r>
              <a:rPr lang="zh-CN" altLang="en-US" baseline="0" dirty="0" smtClean="0"/>
              <a:t>）</a:t>
            </a:r>
            <a:r>
              <a:rPr lang="en-US" altLang="zh-CN" baseline="0" dirty="0" smtClean="0"/>
              <a:t>---</a:t>
            </a:r>
            <a:r>
              <a:rPr lang="zh-CN" altLang="en-US" baseline="0" dirty="0" smtClean="0"/>
              <a:t>过程任务</a:t>
            </a:r>
            <a:r>
              <a:rPr lang="en-US" altLang="zh-CN" baseline="0" dirty="0" smtClean="0"/>
              <a:t>—</a:t>
            </a:r>
            <a:r>
              <a:rPr lang="zh-CN" altLang="en-US" baseline="0" dirty="0" smtClean="0"/>
              <a:t>放置结果到寄存器</a:t>
            </a:r>
            <a:r>
              <a:rPr lang="en-US" altLang="zh-CN" baseline="0" dirty="0" smtClean="0"/>
              <a:t>—</a:t>
            </a:r>
            <a:r>
              <a:rPr lang="zh-CN" altLang="en-US" baseline="0" dirty="0" smtClean="0"/>
              <a:t>返回调用的位置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84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D7A50AE-4DCC-47C3-8ABE-DC8EB7A51CE3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84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11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851477A-E0BB-4666-BBAB-39400B4A6AD3}" type="slidenum">
              <a:rPr lang="en-US" altLang="zh-CN" sz="1300"/>
            </a:fld>
            <a:endParaRPr lang="en-US" altLang="zh-CN" sz="1300"/>
          </a:p>
        </p:txBody>
      </p:sp>
      <p:sp>
        <p:nvSpPr>
          <p:cNvPr id="911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11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95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8F914FF-25EC-4725-9B98-7A3BF10C5C1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95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31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495FFF4-0511-4C69-B5C0-C2E477B0ADAB}" type="slidenum">
              <a:rPr lang="en-US" altLang="zh-CN" sz="1300"/>
            </a:fld>
            <a:endParaRPr lang="en-US" altLang="zh-CN" sz="1300"/>
          </a:p>
        </p:txBody>
      </p:sp>
      <p:sp>
        <p:nvSpPr>
          <p:cNvPr id="931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31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过程调用指令， 将当前指令的下一条指令地址放到</a:t>
            </a:r>
            <a:r>
              <a:rPr lang="en-US" altLang="zh-CN" dirty="0" smtClean="0"/>
              <a:t>$</a:t>
            </a:r>
            <a:r>
              <a:rPr lang="en-US" altLang="zh-CN" dirty="0" err="1" smtClean="0"/>
              <a:t>ra</a:t>
            </a:r>
            <a:r>
              <a:rPr lang="zh-CN" altLang="en-US" dirty="0" smtClean="0"/>
              <a:t>中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05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3E8D0EE-35AD-4C89-81A9-375D3AEBD84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05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52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3ADA9D5-53F6-48A3-BEBE-A8907A7DF4B5}" type="slidenum">
              <a:rPr lang="en-US" altLang="zh-CN" sz="1300"/>
            </a:fld>
            <a:endParaRPr lang="en-US" altLang="zh-CN" sz="1300"/>
          </a:p>
        </p:txBody>
      </p:sp>
      <p:sp>
        <p:nvSpPr>
          <p:cNvPr id="952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52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叶子过程，不包含其他过程调用的过程（函数）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15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304D8AB-6EC5-4D12-8CE6-45F93920056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15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72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E627093-40AC-4596-AD62-60230194E5EE}" type="slidenum">
              <a:rPr lang="en-US" altLang="zh-CN" sz="1300"/>
            </a:fld>
            <a:endParaRPr lang="en-US" altLang="zh-CN" sz="1300"/>
          </a:p>
        </p:txBody>
      </p:sp>
      <p:sp>
        <p:nvSpPr>
          <p:cNvPr id="972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72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最后 请大家思考一下 </a:t>
            </a:r>
            <a:r>
              <a:rPr lang="en-US" altLang="zh-CN" dirty="0" err="1" smtClean="0"/>
              <a:t>jal</a:t>
            </a:r>
            <a:r>
              <a:rPr lang="en-US" altLang="zh-CN" dirty="0" smtClean="0"/>
              <a:t> </a:t>
            </a:r>
            <a:r>
              <a:rPr lang="zh-CN" altLang="en-US" dirty="0" smtClean="0"/>
              <a:t>与</a:t>
            </a:r>
            <a:r>
              <a:rPr lang="en-US" altLang="zh-CN" dirty="0" smtClean="0"/>
              <a:t>8086  call</a:t>
            </a:r>
            <a:r>
              <a:rPr lang="zh-CN" altLang="en-US" dirty="0" smtClean="0"/>
              <a:t>操作的区别？ 那个执行效率更高？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25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8463146-725A-4668-8A3F-B00ADD8DC1A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25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993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BC011FD-CD51-457A-B6E9-1EE2527F376F}" type="slidenum">
              <a:rPr lang="en-US" altLang="zh-CN" sz="1300"/>
            </a:fld>
            <a:endParaRPr lang="en-US" altLang="zh-CN" sz="1300"/>
          </a:p>
        </p:txBody>
      </p:sp>
      <p:sp>
        <p:nvSpPr>
          <p:cNvPr id="993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93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smtClean="0"/>
              <a:t>非叶子过程（函数），调用了其他的函数或者过程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360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C7ABA49-3574-425B-BFC3-88644AF1A58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360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13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A4F6F19-E7C2-4F96-8CF1-B870E1135DB1}" type="slidenum">
              <a:rPr lang="en-US" altLang="zh-CN" sz="1300"/>
            </a:fld>
            <a:endParaRPr lang="en-US" altLang="zh-CN" sz="1300"/>
          </a:p>
        </p:txBody>
      </p:sp>
      <p:sp>
        <p:nvSpPr>
          <p:cNvPr id="1013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13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462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7833E9C-474D-4FA1-B26F-250A9E17146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462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34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5DED7A3-E3AB-4D5C-A4C9-208647FCB918}" type="slidenum">
              <a:rPr lang="en-US" altLang="zh-CN" sz="1300"/>
            </a:fld>
            <a:endParaRPr lang="en-US" altLang="zh-CN" sz="1300"/>
          </a:p>
        </p:txBody>
      </p:sp>
      <p:sp>
        <p:nvSpPr>
          <p:cNvPr id="1034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34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$ra </a:t>
            </a:r>
            <a:r>
              <a:rPr lang="zh-CN" altLang="en-US" smtClean="0"/>
              <a:t>特殊的寄存器，用来保存当前程序执行的地址计数器</a:t>
            </a:r>
            <a:r>
              <a:rPr lang="en-US" altLang="zh-CN" smtClean="0"/>
              <a:t>PC</a:t>
            </a:r>
            <a:r>
              <a:rPr lang="zh-CN" altLang="en-US" smtClean="0"/>
              <a:t>的值（当前指令的下一条指令）</a:t>
            </a:r>
            <a:endParaRPr lang="en-AU" altLang="zh-CN" smtClean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幻灯片图像占位符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10547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convention</a:t>
            </a:r>
            <a:r>
              <a:rPr lang="en-US" altLang="zh-CN" smtClean="0"/>
              <a:t> [con·ven·tion || kən'venʃn]</a:t>
            </a:r>
            <a:endParaRPr lang="en-US" altLang="zh-CN" smtClean="0"/>
          </a:p>
          <a:p>
            <a:r>
              <a:rPr lang="en-US" altLang="zh-CN" smtClean="0"/>
              <a:t>n. </a:t>
            </a:r>
            <a:r>
              <a:rPr lang="zh-CN" altLang="en-US" smtClean="0"/>
              <a:t>大会</a:t>
            </a:r>
            <a:r>
              <a:rPr lang="en-US" altLang="zh-CN" smtClean="0"/>
              <a:t>; </a:t>
            </a:r>
            <a:r>
              <a:rPr lang="zh-CN" altLang="en-US" smtClean="0"/>
              <a:t>习俗</a:t>
            </a:r>
            <a:r>
              <a:rPr lang="en-US" altLang="zh-CN" smtClean="0"/>
              <a:t>; </a:t>
            </a:r>
            <a:r>
              <a:rPr lang="zh-CN" altLang="en-US" smtClean="0"/>
              <a:t>协定</a:t>
            </a:r>
            <a:endParaRPr lang="zh-CN" altLang="en-US" smtClean="0"/>
          </a:p>
        </p:txBody>
      </p:sp>
      <p:sp>
        <p:nvSpPr>
          <p:cNvPr id="155652" name="页眉占位符 3"/>
          <p:cNvSpPr>
            <a:spLocks noGrp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5653" name="日期占位符 4"/>
          <p:cNvSpPr>
            <a:spLocks noGrp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6EF4150-BA18-4BE9-9EA4-727D7A46D73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5654" name="页脚占位符 5"/>
          <p:cNvSpPr>
            <a:spLocks noGrp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5479" name="灯片编号占位符 6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0E6C605-56B7-4CCC-B9FD-9FC2597AE824}" type="slidenum">
              <a:rPr lang="en-US" altLang="zh-CN" sz="1300"/>
            </a:fld>
            <a:endParaRPr lang="en-US" altLang="zh-CN" sz="130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667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D626FB32-D339-455B-B53F-BA4B3CB0D90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667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75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B6776D2-BD9C-43FB-94F9-D225BD27935A}" type="slidenum">
              <a:rPr lang="en-US" altLang="zh-CN" sz="1300"/>
            </a:fld>
            <a:endParaRPr lang="en-US" altLang="zh-CN" sz="1300"/>
          </a:p>
        </p:txBody>
      </p:sp>
      <p:sp>
        <p:nvSpPr>
          <p:cNvPr id="1075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75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局部变量是存放在</a:t>
            </a:r>
            <a:endParaRPr lang="en-US" altLang="zh-CN" dirty="0" smtClean="0"/>
          </a:p>
          <a:p>
            <a:r>
              <a:rPr lang="zh-CN" altLang="en-US" dirty="0" smtClean="0"/>
              <a:t>堆栈中的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769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1CCD18F-DBBF-424E-9596-6FDEC2E9B1A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770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095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CAD817A-3737-4DD6-9818-905C3E8B59E6}" type="slidenum">
              <a:rPr lang="en-US" altLang="zh-CN" sz="1300"/>
            </a:fld>
            <a:endParaRPr lang="en-US" altLang="zh-CN" sz="1300"/>
          </a:p>
        </p:txBody>
      </p:sp>
      <p:sp>
        <p:nvSpPr>
          <p:cNvPr id="1095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957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内存中布局</a:t>
            </a:r>
            <a:endParaRPr lang="en-US" altLang="zh-CN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主要是了解什么是静态数据 和 动态数据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A5D191F-2BCD-4F52-B9AE-44D2A12908B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872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16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9DD8704-7414-46ED-B38F-B1582150A6E3}" type="slidenum">
              <a:rPr lang="en-US" altLang="zh-CN" sz="1300"/>
            </a:fld>
            <a:endParaRPr lang="en-US" altLang="zh-CN" sz="1300"/>
          </a:p>
        </p:txBody>
      </p:sp>
      <p:sp>
        <p:nvSpPr>
          <p:cNvPr id="1116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162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以上 介绍了数字逻辑运算指令集以及程序中数据存储问题</a:t>
            </a:r>
            <a:endParaRPr lang="en-US" altLang="zh-CN" dirty="0" smtClean="0"/>
          </a:p>
          <a:p>
            <a:r>
              <a:rPr lang="zh-CN" altLang="en-US" dirty="0" smtClean="0"/>
              <a:t>那么如何实现 人机交互呢？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字符数据  存储方式，我们 可以发现多数的字符表示方法是</a:t>
            </a:r>
            <a:r>
              <a:rPr lang="en-US" altLang="zh-CN" dirty="0" smtClean="0"/>
              <a:t>8</a:t>
            </a:r>
            <a:r>
              <a:rPr lang="zh-CN" altLang="en-US" dirty="0" smtClean="0"/>
              <a:t>位或者</a:t>
            </a:r>
            <a:r>
              <a:rPr lang="en-US" altLang="zh-CN" dirty="0" smtClean="0"/>
              <a:t>16</a:t>
            </a:r>
            <a:r>
              <a:rPr lang="zh-CN" altLang="en-US" dirty="0" smtClean="0"/>
              <a:t>位的数据？这与</a:t>
            </a:r>
            <a:r>
              <a:rPr lang="en-US" altLang="zh-CN" dirty="0" smtClean="0"/>
              <a:t>MIPS 32</a:t>
            </a:r>
            <a:r>
              <a:rPr lang="zh-CN" altLang="en-US" dirty="0" smtClean="0"/>
              <a:t>中字的长度不匹配，如何来解决该问题呢？</a:t>
            </a:r>
            <a:r>
              <a:rPr lang="en-US" altLang="zh-CN" dirty="0" smtClean="0"/>
              <a:t> </a:t>
            </a:r>
            <a:endParaRPr lang="zh-CN" altLang="en-US" dirty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fld id="{30639278-5723-4E82-BAD0-E0F4F8DCDFC7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8B291648-D8B4-4A9F-BB59-1DDC06203C9C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974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F7FD06C-DDA8-4245-BC76-5C1D1827A24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974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46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20EEF177-FAF6-4369-86CF-1C6AD9B95A55}" type="slidenum">
              <a:rPr lang="en-US" altLang="zh-CN" sz="1300"/>
            </a:fld>
            <a:endParaRPr lang="en-US" altLang="zh-CN" sz="1300"/>
          </a:p>
        </p:txBody>
      </p:sp>
      <p:sp>
        <p:nvSpPr>
          <p:cNvPr id="1146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46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lb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 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加载字节</a:t>
            </a:r>
            <a:r>
              <a:rPr lang="zh-CN" altLang="en-US" sz="1200" baseline="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 ；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lh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加载半字</a:t>
            </a: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sb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存储字节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   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sh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rt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, offset(</a:t>
            </a:r>
            <a:r>
              <a:rPr lang="en-US" altLang="zh-CN" sz="12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rs</a:t>
            </a:r>
            <a:r>
              <a:rPr lang="en-US" altLang="zh-CN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) </a:t>
            </a:r>
            <a:r>
              <a:rPr lang="zh-CN" altLang="en-US" sz="120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存储半字</a:t>
            </a: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200" baseline="0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endParaRPr lang="en-US" altLang="zh-CN" sz="1200" dirty="0" smtClean="0">
              <a:solidFill>
                <a:schemeClr val="tx2"/>
              </a:solidFill>
              <a:latin typeface="Lucida Console" panose="020B0609040504020204" pitchFamily="49" charset="0"/>
              <a:ea typeface="+mn-ea"/>
            </a:endParaRPr>
          </a:p>
          <a:p>
            <a:endParaRPr lang="en-AU" altLang="zh-CN" dirty="0" smtClean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07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FC8384A-563F-4D28-AFB8-19D9F37E9E8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07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67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0CC4BB9-BDE3-4AE9-8EBF-885FA339FA9F}" type="slidenum">
              <a:rPr lang="en-US" altLang="zh-CN" sz="1300"/>
            </a:fld>
            <a:endParaRPr lang="en-US" altLang="zh-CN" sz="1300"/>
          </a:p>
        </p:txBody>
      </p:sp>
      <p:sp>
        <p:nvSpPr>
          <p:cNvPr id="1167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67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17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4AFA24A-88CD-47D6-A8AC-B41D7917EA4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17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187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939576A-DB9C-4F06-85CE-3D1ADAE3C6BB}" type="slidenum">
              <a:rPr lang="en-US" altLang="zh-CN" sz="1300"/>
            </a:fld>
            <a:endParaRPr lang="en-US" altLang="zh-CN" sz="1300"/>
          </a:p>
        </p:txBody>
      </p:sp>
      <p:sp>
        <p:nvSpPr>
          <p:cNvPr id="1187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187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28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525C5C5-0832-49FC-B7DF-AC84FB8B0C5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28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08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61A1425-4107-43F1-934F-034D6A1704A5}" type="slidenum">
              <a:rPr lang="en-US" altLang="zh-CN" sz="1300"/>
            </a:fld>
            <a:endParaRPr lang="en-US" altLang="zh-CN" sz="1300"/>
          </a:p>
        </p:txBody>
      </p:sp>
      <p:sp>
        <p:nvSpPr>
          <p:cNvPr id="1208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08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如何处理</a:t>
            </a:r>
            <a:r>
              <a:rPr lang="en-US" altLang="zh-CN" dirty="0" smtClean="0"/>
              <a:t>32</a:t>
            </a:r>
            <a:r>
              <a:rPr lang="zh-CN" altLang="en-US" dirty="0" smtClean="0"/>
              <a:t>位的常数</a:t>
            </a:r>
            <a:endParaRPr lang="en-US" altLang="zh-CN" dirty="0" smtClean="0"/>
          </a:p>
          <a:p>
            <a:r>
              <a:rPr lang="zh-CN" altLang="en-US" dirty="0" smtClean="0"/>
              <a:t>由于</a:t>
            </a:r>
            <a:r>
              <a:rPr lang="en-US" altLang="zh-CN" dirty="0" smtClean="0"/>
              <a:t>16</a:t>
            </a:r>
            <a:r>
              <a:rPr lang="zh-CN" altLang="en-US" dirty="0" smtClean="0"/>
              <a:t>位的常数对于大多数的应用已经足够了</a:t>
            </a:r>
            <a:endParaRPr lang="en-US" altLang="zh-CN" dirty="0" smtClean="0"/>
          </a:p>
          <a:p>
            <a:r>
              <a:rPr lang="en-US" altLang="zh-CN" baseline="0" dirty="0" smtClean="0"/>
              <a:t>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38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EC6F351-C27C-49AA-8C9B-01C7283579B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38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28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AD48D6B-8BFA-4566-BBC7-4EFFED5CEF5E}" type="slidenum">
              <a:rPr lang="en-US" altLang="zh-CN" sz="1300"/>
            </a:fld>
            <a:endParaRPr lang="en-US" altLang="zh-CN" sz="1300"/>
          </a:p>
        </p:txBody>
      </p:sp>
      <p:sp>
        <p:nvSpPr>
          <p:cNvPr id="1228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28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分支程序 的寻址和指令的表示方式</a:t>
            </a:r>
            <a:endParaRPr lang="en-US" altLang="zh-CN" dirty="0" smtClean="0"/>
          </a:p>
          <a:p>
            <a:r>
              <a:rPr lang="en-AU" altLang="zh-CN" dirty="0" smtClean="0"/>
              <a:t>2</a:t>
            </a:r>
            <a:r>
              <a:rPr lang="en-AU" altLang="zh-CN" baseline="30000" dirty="0" smtClean="0"/>
              <a:t>16 </a:t>
            </a:r>
            <a:r>
              <a:rPr lang="en-AU" altLang="zh-CN" dirty="0" smtClean="0"/>
              <a:t>= 64K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48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78B31B1-1FEC-4BF2-BF70-B69AEF06C20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48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49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116A516-596F-44B4-A2E8-C47994ABBA1D}" type="slidenum">
              <a:rPr lang="en-US" altLang="zh-CN" sz="1300"/>
            </a:fld>
            <a:endParaRPr lang="en-US" altLang="zh-CN" sz="1300"/>
          </a:p>
        </p:txBody>
      </p:sp>
      <p:sp>
        <p:nvSpPr>
          <p:cNvPr id="1249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49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无条件跳转 ，</a:t>
            </a:r>
            <a:r>
              <a:rPr lang="en-US" altLang="zh-CN" dirty="0" smtClean="0"/>
              <a:t>26</a:t>
            </a:r>
            <a:r>
              <a:rPr lang="zh-CN" altLang="en-US" dirty="0" smtClean="0"/>
              <a:t>位</a:t>
            </a:r>
            <a:r>
              <a:rPr lang="en-US" altLang="zh-CN" dirty="0" smtClean="0"/>
              <a:t>+2</a:t>
            </a:r>
            <a:r>
              <a:rPr lang="en-US" altLang="zh-CN" baseline="0" dirty="0" smtClean="0"/>
              <a:t> =28</a:t>
            </a:r>
            <a:r>
              <a:rPr lang="zh-CN" altLang="en-US" baseline="0" dirty="0" smtClean="0"/>
              <a:t>位</a:t>
            </a:r>
            <a:endParaRPr lang="en-US" altLang="zh-CN" baseline="0" dirty="0" smtClean="0"/>
          </a:p>
          <a:p>
            <a:r>
              <a:rPr lang="en-US" altLang="zh-CN" baseline="0" dirty="0" smtClean="0"/>
              <a:t> </a:t>
            </a:r>
            <a:r>
              <a:rPr lang="zh-CN" altLang="en-US" baseline="0" dirty="0" smtClean="0"/>
              <a:t>由于每条指令的长度为</a:t>
            </a:r>
            <a:r>
              <a:rPr lang="en-US" altLang="zh-CN" baseline="0" dirty="0" smtClean="0"/>
              <a:t>4</a:t>
            </a:r>
            <a:r>
              <a:rPr lang="zh-CN" altLang="en-US" baseline="0" dirty="0" smtClean="0"/>
              <a:t>个字节，因此</a:t>
            </a:r>
            <a:r>
              <a:rPr lang="en-US" altLang="zh-CN" baseline="0" dirty="0" smtClean="0"/>
              <a:t>26</a:t>
            </a:r>
            <a:r>
              <a:rPr lang="zh-CN" altLang="en-US" baseline="0" dirty="0" smtClean="0"/>
              <a:t>位可以看成是跳转地址与当前地址之间间隔的指令数量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58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D8E2054-916C-4163-91F2-EE9DF2D2464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58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69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A7A490B-2572-41AF-9EF0-F2445CE8345B}" type="slidenum">
              <a:rPr lang="en-US" altLang="zh-CN" sz="1300"/>
            </a:fld>
            <a:endParaRPr lang="en-US" altLang="zh-CN" sz="1300"/>
          </a:p>
        </p:txBody>
      </p:sp>
      <p:sp>
        <p:nvSpPr>
          <p:cNvPr id="1269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69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dirty="0" smtClean="0"/>
              <a:t>条件跳转语句的跳转范围有限，如果跳转的范围超过了</a:t>
            </a:r>
            <a:r>
              <a:rPr lang="en-US" altLang="zh-CN" dirty="0" smtClean="0"/>
              <a:t>+- 32K</a:t>
            </a:r>
            <a:r>
              <a:rPr lang="zh-CN" altLang="en-US" dirty="0" smtClean="0"/>
              <a:t>的范围</a:t>
            </a:r>
            <a:endParaRPr lang="en-US" altLang="zh-CN" dirty="0" smtClean="0"/>
          </a:p>
          <a:p>
            <a:pPr marL="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dirty="0" smtClean="0"/>
              <a:t>简单</a:t>
            </a:r>
            <a:r>
              <a:rPr lang="zh-CN" altLang="en-US" dirty="0" smtClean="0"/>
              <a:t>地在原有的短跳转指令</a:t>
            </a:r>
            <a:r>
              <a:rPr lang="en-AU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beq</a:t>
            </a: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$s0,$s1, </a:t>
            </a:r>
            <a: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L1</a:t>
            </a:r>
            <a:r>
              <a:rPr lang="zh-CN" altLang="en-US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，转化为</a:t>
            </a:r>
            <a:r>
              <a:rPr lang="en-US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bne</a:t>
            </a:r>
            <a:r>
              <a:rPr lang="en-US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 </a:t>
            </a:r>
            <a:r>
              <a:rPr lang="zh-CN" altLang="en-US" dirty="0" smtClean="0">
                <a:solidFill>
                  <a:schemeClr val="tx2"/>
                </a:solidFill>
                <a:latin typeface="Lucida Console" panose="020B0609040504020204" pitchFamily="49" charset="0"/>
                <a:ea typeface="+mn-ea"/>
              </a:rPr>
              <a:t>指令，并</a:t>
            </a:r>
            <a:r>
              <a:rPr lang="zh-CN" altLang="en-US" dirty="0" smtClean="0"/>
              <a:t>后面</a:t>
            </a:r>
            <a:r>
              <a:rPr lang="zh-CN" altLang="en-US" dirty="0" smtClean="0"/>
              <a:t>增加一条指令</a:t>
            </a:r>
            <a:r>
              <a:rPr lang="zh-CN" altLang="en-US" baseline="0" dirty="0" smtClean="0"/>
              <a:t> </a:t>
            </a:r>
            <a:r>
              <a:rPr lang="en-US" altLang="zh-CN" baseline="0" dirty="0" smtClean="0"/>
              <a:t>j L1,</a:t>
            </a:r>
            <a:r>
              <a:rPr lang="zh-CN" altLang="en-US" baseline="0" dirty="0" smtClean="0"/>
              <a:t>并将原有指令的跳转地址修改为</a:t>
            </a:r>
            <a:r>
              <a:rPr lang="en-US" altLang="zh-CN" baseline="0" dirty="0" smtClean="0"/>
              <a:t>J L1</a:t>
            </a:r>
            <a:r>
              <a:rPr lang="zh-CN" altLang="en-US" baseline="0" dirty="0" smtClean="0"/>
              <a:t>后面的指令即可。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69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80EE03AC-57FB-4137-A7EA-3DB8054646E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69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290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2DED68B-F043-4C46-ACEE-1FD7831407AD}" type="slidenum">
              <a:rPr lang="en-US" altLang="zh-CN" sz="1300"/>
            </a:fld>
            <a:endParaRPr lang="en-US" altLang="zh-CN" sz="1300"/>
          </a:p>
        </p:txBody>
      </p:sp>
      <p:sp>
        <p:nvSpPr>
          <p:cNvPr id="1290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290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pseudo</a:t>
            </a:r>
            <a:r>
              <a:rPr lang="en-US" altLang="zh-CN" smtClean="0"/>
              <a:t> ['suːdəʊ /'sju-]</a:t>
            </a:r>
            <a:endParaRPr lang="en-US" altLang="zh-CN" smtClean="0"/>
          </a:p>
          <a:p>
            <a:r>
              <a:rPr lang="en-US" altLang="zh-CN" smtClean="0"/>
              <a:t>adj. </a:t>
            </a:r>
            <a:r>
              <a:rPr lang="zh-CN" altLang="en-US" smtClean="0"/>
              <a:t>假的</a:t>
            </a:r>
            <a:r>
              <a:rPr lang="en-US" altLang="zh-CN" smtClean="0"/>
              <a:t>; </a:t>
            </a:r>
            <a:r>
              <a:rPr lang="zh-CN" altLang="en-US" smtClean="0"/>
              <a:t>冒充的  伪直接寻址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793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D941127-50D9-49D3-B4CA-7275A29D8DA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794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10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0B895B1-5D29-42E5-8984-4EAC69742DDC}" type="slidenum">
              <a:rPr lang="en-US" altLang="zh-CN" sz="1300"/>
            </a:fld>
            <a:endParaRPr lang="en-US" altLang="zh-CN" sz="1300"/>
          </a:p>
        </p:txBody>
      </p:sp>
      <p:sp>
        <p:nvSpPr>
          <p:cNvPr id="1310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10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同步控制，在多道程序环境下（进程切换是随机的），多处理机系统或者</a:t>
            </a:r>
            <a:r>
              <a:rPr lang="zh-CN" altLang="en-US" baseline="0" dirty="0" smtClean="0"/>
              <a:t> 多核系统下，经常会出现资源竞争的问题。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r>
              <a:rPr lang="zh-CN" altLang="en-US" baseline="0" dirty="0" smtClean="0"/>
              <a:t>例如 两个处理机需要访问同一个内存区域，由于其结果取决于访问的顺序，导致程序运行的结果不可预测。</a:t>
            </a:r>
            <a:endParaRPr lang="en-US" altLang="zh-CN" baseline="0" dirty="0" smtClean="0"/>
          </a:p>
          <a:p>
            <a:r>
              <a:rPr lang="en-US" altLang="zh-CN" baseline="0" dirty="0" smtClean="0"/>
              <a:t> </a:t>
            </a:r>
            <a:r>
              <a:rPr lang="zh-CN" altLang="en-US" baseline="0" dirty="0" smtClean="0"/>
              <a:t>因此需要</a:t>
            </a:r>
            <a:r>
              <a:rPr lang="en-US" altLang="zh-CN" baseline="0" dirty="0" smtClean="0"/>
              <a:t>ISA</a:t>
            </a:r>
            <a:r>
              <a:rPr lang="zh-CN" altLang="en-US" baseline="0" dirty="0" smtClean="0"/>
              <a:t>在硬件上支持原子的读写操作之间不允许其他的操作。</a:t>
            </a:r>
            <a:endParaRPr lang="en-US" altLang="zh-CN" baseline="0" dirty="0" smtClean="0"/>
          </a:p>
          <a:p>
            <a:r>
              <a:rPr lang="zh-CN" altLang="en-US" baseline="0" dirty="0" smtClean="0"/>
              <a:t>具体实现上，可以采用单独的指令来实现寄存器与内存单元数据之间的原子交换，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r>
              <a:rPr lang="zh-CN" altLang="en-US" baseline="0" dirty="0" smtClean="0"/>
              <a:t>或者利用原子操作的指令对来实现。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为多处理器系统构建锁的机制。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目的 </a:t>
            </a:r>
            <a:r>
              <a:rPr lang="en-US" altLang="zh-CN" dirty="0" smtClean="0"/>
              <a:t>1  </a:t>
            </a:r>
            <a:r>
              <a:rPr lang="zh-CN" altLang="en-US" dirty="0" smtClean="0"/>
              <a:t>临界资源</a:t>
            </a:r>
            <a:endParaRPr lang="en-US" altLang="zh-CN" dirty="0" smtClean="0"/>
          </a:p>
          <a:p>
            <a:r>
              <a:rPr lang="en-US" altLang="zh-CN" dirty="0" smtClean="0"/>
              <a:t>   </a:t>
            </a:r>
            <a:r>
              <a:rPr lang="zh-CN" altLang="en-US" dirty="0" smtClean="0"/>
              <a:t>其具体的实现方式是，假定</a:t>
            </a:r>
            <a:r>
              <a:rPr lang="zh-CN" altLang="en-US" baseline="0" dirty="0" smtClean="0"/>
              <a:t> </a:t>
            </a:r>
            <a:r>
              <a:rPr lang="en-US" altLang="zh-CN" baseline="0" dirty="0" smtClean="0"/>
              <a:t>0 </a:t>
            </a:r>
            <a:r>
              <a:rPr lang="zh-CN" altLang="en-US" baseline="0" dirty="0" smtClean="0"/>
              <a:t>是锁是打开的， </a:t>
            </a:r>
            <a:r>
              <a:rPr lang="en-US" altLang="zh-CN" baseline="0" dirty="0" smtClean="0"/>
              <a:t>1 </a:t>
            </a:r>
            <a:r>
              <a:rPr lang="zh-CN" altLang="en-US" baseline="0" dirty="0" smtClean="0"/>
              <a:t>表示对临界区资源加锁</a:t>
            </a:r>
            <a:endParaRPr lang="en-US" altLang="zh-CN" baseline="0" dirty="0" smtClean="0"/>
          </a:p>
          <a:p>
            <a:r>
              <a:rPr lang="en-US" altLang="zh-CN" baseline="0" dirty="0" smtClean="0"/>
              <a:t>   </a:t>
            </a:r>
            <a:r>
              <a:rPr lang="zh-CN" altLang="en-US" baseline="0" dirty="0" smtClean="0"/>
              <a:t>那么处理器需要加锁就是通过将寄存器中的 </a:t>
            </a:r>
            <a:r>
              <a:rPr lang="en-US" altLang="zh-CN" baseline="0" dirty="0" smtClean="0"/>
              <a:t>1 </a:t>
            </a:r>
            <a:r>
              <a:rPr lang="zh-CN" altLang="en-US" baseline="0" dirty="0" smtClean="0"/>
              <a:t>与临界区（内存变量）之间进行原子交换，在交换过程中其值不能被修改。</a:t>
            </a:r>
            <a:endParaRPr lang="en-US" altLang="zh-CN" baseline="0" dirty="0" smtClean="0"/>
          </a:p>
          <a:p>
            <a:r>
              <a:rPr lang="en-US" altLang="zh-CN" baseline="0" dirty="0" smtClean="0"/>
              <a:t>  </a:t>
            </a:r>
            <a:r>
              <a:rPr lang="zh-CN" altLang="en-US" baseline="0" dirty="0" smtClean="0"/>
              <a:t>利用锁的机制可以避免竞争条件。</a:t>
            </a:r>
            <a:endParaRPr lang="zh-CN" altLang="en-US" dirty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The University of Adelaide, School of Computer Science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fld id="{30639278-5723-4E82-BAD0-E0F4F8DCDFC7}" type="datetime3">
              <a:rPr lang="en-US" altLang="zh-CN" smtClean="0"/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Chapter 2 — Instructions: Language of the Computer</a:t>
            </a:r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8B291648-D8B4-4A9F-BB59-1DDC06203C9C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C2C75E5-066B-4B09-AE68-5207E4E785C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89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41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F9E30DF-F84D-4395-9619-9D1815CF8521}" type="slidenum">
              <a:rPr lang="en-US" altLang="zh-CN" sz="1300"/>
            </a:fld>
            <a:endParaRPr lang="en-US" altLang="zh-CN" sz="1300"/>
          </a:p>
        </p:txBody>
      </p:sp>
      <p:sp>
        <p:nvSpPr>
          <p:cNvPr id="1341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415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smtClean="0"/>
              <a:t>LL</a:t>
            </a:r>
            <a:r>
              <a:rPr lang="zh-CN" altLang="en-US" smtClean="0"/>
              <a:t>指令 可以看成是对指定的内存单元加锁的机制。</a:t>
            </a:r>
            <a:endParaRPr lang="en-US" altLang="zh-CN" smtClean="0"/>
          </a:p>
          <a:p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</a:rPr>
              <a:t>ll  $t1,0($s1)</a:t>
            </a:r>
            <a:r>
              <a:rPr lang="zh-CN" altLang="en-US" smtClean="0">
                <a:solidFill>
                  <a:schemeClr val="tx2"/>
                </a:solidFill>
                <a:latin typeface="Lucida Console" panose="020B0609040504020204" pitchFamily="49" charset="0"/>
              </a:rPr>
              <a:t>，相当于将内存单元读出到 </a:t>
            </a: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</a:rPr>
              <a:t>$t1</a:t>
            </a:r>
            <a:r>
              <a:rPr lang="zh-CN" altLang="en-US" smtClean="0">
                <a:solidFill>
                  <a:schemeClr val="tx2"/>
                </a:solidFill>
                <a:latin typeface="Lucida Console" panose="020B0609040504020204" pitchFamily="49" charset="0"/>
              </a:rPr>
              <a:t>寄存器中</a:t>
            </a:r>
            <a:endParaRPr lang="en-US" altLang="zh-CN" smtClean="0"/>
          </a:p>
          <a:p>
            <a:r>
              <a:rPr lang="zh-CN" altLang="en-US" smtClean="0"/>
              <a:t>指令</a:t>
            </a:r>
            <a:r>
              <a:rPr lang="en-US" altLang="zh-CN" smtClean="0"/>
              <a:t>LL </a:t>
            </a:r>
            <a:r>
              <a:rPr lang="zh-CN" altLang="en-US" smtClean="0"/>
              <a:t>可以作为其他原子操作实现的基础。</a:t>
            </a:r>
            <a:endParaRPr lang="en-AU" altLang="zh-CN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99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454E1728-5C23-4E68-BEFD-9C1C7FC8E29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99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61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DD803DF-6595-499D-A92E-1EBE945A0D10}" type="slidenum">
              <a:rPr lang="en-US" altLang="zh-CN" sz="1300"/>
            </a:fld>
            <a:endParaRPr lang="en-US" altLang="zh-CN" sz="1300"/>
          </a:p>
        </p:txBody>
      </p:sp>
      <p:sp>
        <p:nvSpPr>
          <p:cNvPr id="1361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61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编译和启动程序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10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A830696-73EF-4FAD-B6DD-7E2B281D56D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10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382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83196D3-7903-4F46-A97C-40D86D081D2F}" type="slidenum">
              <a:rPr lang="en-US" altLang="zh-CN" sz="1300"/>
            </a:fld>
            <a:endParaRPr lang="en-US" altLang="zh-CN" sz="1300"/>
          </a:p>
        </p:txBody>
      </p:sp>
      <p:sp>
        <p:nvSpPr>
          <p:cNvPr id="1382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382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dirty="0" smtClean="0"/>
              <a:t>figment</a:t>
            </a:r>
            <a:r>
              <a:rPr lang="en-US" altLang="zh-CN" dirty="0" smtClean="0"/>
              <a:t> [</a:t>
            </a:r>
            <a:r>
              <a:rPr lang="en-US" altLang="zh-CN" dirty="0" err="1" smtClean="0"/>
              <a:t>fig·ment</a:t>
            </a:r>
            <a:r>
              <a:rPr lang="en-US" altLang="zh-CN" dirty="0" smtClean="0"/>
              <a:t> || '</a:t>
            </a:r>
            <a:r>
              <a:rPr lang="en-US" altLang="zh-CN" dirty="0" err="1" smtClean="0"/>
              <a:t>fɪgmənt</a:t>
            </a:r>
            <a:r>
              <a:rPr lang="en-US" altLang="zh-CN" dirty="0" smtClean="0"/>
              <a:t>]</a:t>
            </a:r>
            <a:endParaRPr lang="en-US" altLang="zh-CN" dirty="0" smtClean="0"/>
          </a:p>
          <a:p>
            <a:r>
              <a:rPr lang="en-US" altLang="zh-CN" dirty="0" smtClean="0"/>
              <a:t>n. </a:t>
            </a:r>
            <a:r>
              <a:rPr lang="zh-CN" altLang="en-US" dirty="0" smtClean="0"/>
              <a:t>臆造的事物</a:t>
            </a:r>
            <a:r>
              <a:rPr lang="en-US" altLang="zh-CN" dirty="0" smtClean="0"/>
              <a:t>; </a:t>
            </a:r>
            <a:r>
              <a:rPr lang="zh-CN" altLang="en-US" dirty="0" smtClean="0"/>
              <a:t>虚构的</a:t>
            </a:r>
            <a:r>
              <a:rPr lang="zh-CN" altLang="en-US" dirty="0" smtClean="0"/>
              <a:t>事</a:t>
            </a:r>
            <a:endParaRPr lang="en-US" altLang="zh-CN" dirty="0" smtClean="0"/>
          </a:p>
          <a:p>
            <a:r>
              <a:rPr lang="zh-CN" altLang="en-US" dirty="0" smtClean="0"/>
              <a:t>汇编伪指令， 是虚拟出来的指令，利于</a:t>
            </a:r>
            <a:r>
              <a:rPr lang="en-US" altLang="zh-CN" dirty="0" smtClean="0"/>
              <a:t>Move </a:t>
            </a:r>
            <a:r>
              <a:rPr lang="zh-CN" altLang="en-US" dirty="0" smtClean="0"/>
              <a:t>指令和</a:t>
            </a:r>
            <a:r>
              <a:rPr lang="en-US" altLang="zh-CN" dirty="0" err="1" smtClean="0"/>
              <a:t>blt</a:t>
            </a:r>
            <a:r>
              <a:rPr lang="en-US" altLang="zh-CN" dirty="0" smtClean="0"/>
              <a:t> </a:t>
            </a:r>
            <a:r>
              <a:rPr lang="zh-CN" altLang="en-US" dirty="0" smtClean="0"/>
              <a:t>指令，本身</a:t>
            </a:r>
            <a:r>
              <a:rPr lang="en-US" altLang="zh-CN" dirty="0" smtClean="0"/>
              <a:t>MIPS</a:t>
            </a:r>
            <a:r>
              <a:rPr lang="zh-CN" altLang="en-US" dirty="0" smtClean="0"/>
              <a:t>中没有包含这些指令，为了编程方便，虚拟出来的指令。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baseline="0" dirty="0" smtClean="0"/>
              <a:t>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CA02401-7DE6-408D-B92E-B92060C9829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20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02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D6C0E5F-B9D2-457F-BD6E-7FA242D21BF9}" type="slidenum">
              <a:rPr lang="en-US" altLang="zh-CN" sz="1300"/>
            </a:fld>
            <a:endParaRPr lang="en-US" altLang="zh-CN" sz="1300"/>
          </a:p>
        </p:txBody>
      </p:sp>
      <p:sp>
        <p:nvSpPr>
          <p:cNvPr id="1402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02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生成目标程序（将汇编指令编译成目标计算机的机器代码），此外提供一些信息能够将代码片段编译成完整的程序</a:t>
            </a:r>
            <a:endParaRPr lang="en-US" altLang="zh-CN" dirty="0" smtClean="0"/>
          </a:p>
          <a:p>
            <a:r>
              <a:rPr lang="zh-CN" altLang="en-US" dirty="0" smtClean="0"/>
              <a:t>例如</a:t>
            </a:r>
            <a:r>
              <a:rPr lang="en-US" altLang="zh-CN" dirty="0" smtClean="0"/>
              <a:t>Unix</a:t>
            </a:r>
            <a:r>
              <a:rPr lang="zh-CN" altLang="en-US" dirty="0" smtClean="0"/>
              <a:t>的目标程序包含</a:t>
            </a:r>
            <a:r>
              <a:rPr lang="en-US" altLang="zh-CN" dirty="0" smtClean="0"/>
              <a:t>6</a:t>
            </a:r>
            <a:r>
              <a:rPr lang="zh-CN" altLang="en-US" dirty="0" smtClean="0"/>
              <a:t>个不同的部分</a:t>
            </a:r>
            <a:endParaRPr lang="en-US" altLang="zh-CN" dirty="0" smtClean="0"/>
          </a:p>
          <a:p>
            <a:r>
              <a:rPr lang="zh-CN" altLang="en-US" dirty="0" smtClean="0"/>
              <a:t>文件头、代码区、静态数据区、重定位信息、符号表、调试信息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305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689187E-7941-402B-9321-8CA2A444B08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306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23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7646883-8269-4321-B026-D24008B46747}" type="slidenum">
              <a:rPr lang="en-US" altLang="zh-CN" sz="1300"/>
            </a:fld>
            <a:endParaRPr lang="en-US" altLang="zh-CN" sz="1300"/>
          </a:p>
        </p:txBody>
      </p:sp>
      <p:sp>
        <p:nvSpPr>
          <p:cNvPr id="1423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23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链接目标代码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整合段或者目标程序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解析标号地址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将与位置相关和外部参考文件补上。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40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E05DD6C0-AEDC-47F6-9444-B02896544BC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40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43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30C3298-B944-4F15-BD36-1B26E5E3BC7A}" type="slidenum">
              <a:rPr lang="en-US" altLang="zh-CN" sz="1300"/>
            </a:fld>
            <a:endParaRPr lang="en-US" altLang="zh-CN" sz="1300"/>
          </a:p>
        </p:txBody>
      </p:sp>
      <p:sp>
        <p:nvSpPr>
          <p:cNvPr id="1443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43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加载</a:t>
            </a:r>
            <a:r>
              <a:rPr lang="zh-CN" altLang="en-US" dirty="0" smtClean="0"/>
              <a:t>程序流程：</a:t>
            </a:r>
            <a:endParaRPr lang="en-US" altLang="zh-CN" dirty="0" smtClean="0"/>
          </a:p>
          <a:p>
            <a:r>
              <a:rPr lang="en-US" altLang="zh-CN" dirty="0" smtClean="0"/>
              <a:t>  </a:t>
            </a:r>
            <a:r>
              <a:rPr lang="zh-CN" altLang="en-US" dirty="0" smtClean="0"/>
              <a:t>首先实现影像文件加载到内存中</a:t>
            </a:r>
            <a:endParaRPr lang="en-US" altLang="zh-CN" dirty="0" smtClean="0"/>
          </a:p>
          <a:p>
            <a:r>
              <a:rPr lang="en-US" altLang="zh-CN" dirty="0" smtClean="0"/>
              <a:t>1</a:t>
            </a:r>
            <a:r>
              <a:rPr lang="zh-CN" altLang="en-US" dirty="0" smtClean="0"/>
              <a:t>） 读出文件头（包含重定位表信息）</a:t>
            </a:r>
            <a:endParaRPr lang="en-US" altLang="zh-CN" dirty="0" smtClean="0"/>
          </a:p>
          <a:p>
            <a:r>
              <a:rPr lang="en-US" altLang="zh-CN" baseline="0" dirty="0" smtClean="0"/>
              <a:t>2</a:t>
            </a:r>
            <a:r>
              <a:rPr lang="zh-CN" altLang="en-US" baseline="0" dirty="0" smtClean="0"/>
              <a:t>） 创建虚拟地址空间（为程序在物理空间中申请内存资源）</a:t>
            </a:r>
            <a:endParaRPr lang="en-US" altLang="zh-CN" baseline="0" dirty="0" smtClean="0"/>
          </a:p>
          <a:p>
            <a:r>
              <a:rPr lang="en-US" altLang="zh-CN" baseline="0" dirty="0" smtClean="0"/>
              <a:t>3</a:t>
            </a:r>
            <a:r>
              <a:rPr lang="zh-CN" altLang="en-US" baseline="0" dirty="0" smtClean="0"/>
              <a:t>）将代码和数据加载到内存中，需要进行（重定位）操作</a:t>
            </a:r>
            <a:endParaRPr lang="en-US" altLang="zh-CN" baseline="0" dirty="0" smtClean="0"/>
          </a:p>
          <a:p>
            <a:r>
              <a:rPr lang="en-US" altLang="zh-CN" baseline="0" dirty="0" smtClean="0"/>
              <a:t>4</a:t>
            </a:r>
            <a:r>
              <a:rPr lang="zh-CN" altLang="en-US" baseline="0" dirty="0" smtClean="0"/>
              <a:t>）设置参数和堆栈</a:t>
            </a:r>
            <a:endParaRPr lang="en-US" altLang="zh-CN" baseline="0" dirty="0" smtClean="0"/>
          </a:p>
          <a:p>
            <a:r>
              <a:rPr lang="en-US" altLang="zh-CN" baseline="0" dirty="0" smtClean="0"/>
              <a:t>5</a:t>
            </a:r>
            <a:r>
              <a:rPr lang="zh-CN" altLang="en-US" baseline="0" dirty="0" smtClean="0"/>
              <a:t>）初始化寄存器</a:t>
            </a:r>
            <a:endParaRPr lang="en-US" altLang="zh-CN" baseline="0" dirty="0" smtClean="0"/>
          </a:p>
          <a:p>
            <a:r>
              <a:rPr lang="en-US" altLang="zh-CN" baseline="0" dirty="0" smtClean="0"/>
              <a:t>6</a:t>
            </a:r>
            <a:r>
              <a:rPr lang="zh-CN" altLang="en-US" baseline="0" dirty="0" smtClean="0"/>
              <a:t>）跳转到起始线程</a:t>
            </a:r>
            <a:endParaRPr lang="en-US" altLang="zh-CN" dirty="0" smtClean="0"/>
          </a:p>
          <a:p>
            <a:r>
              <a:rPr lang="en-US" altLang="zh-CN" baseline="0" dirty="0" smtClean="0"/>
              <a:t>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51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D07BEA5B-0C8F-47F0-9FC5-7CE7284D2D5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51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64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D0A07D0-D6B6-4059-AF96-1D85B976AE07}" type="slidenum">
              <a:rPr lang="en-US" altLang="zh-CN" sz="1300"/>
            </a:fld>
            <a:endParaRPr lang="en-US" altLang="zh-CN" sz="1300"/>
          </a:p>
        </p:txBody>
      </p:sp>
      <p:sp>
        <p:nvSpPr>
          <p:cNvPr id="1464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64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静态连接和动态连接知识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61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F45526D6-793E-4F9F-AC5C-CC2D284D737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61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484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87BABBA-A179-48C2-8796-ED8C89E3B72E}" type="slidenum">
              <a:rPr lang="en-US" altLang="zh-CN" sz="1300"/>
            </a:fld>
            <a:endParaRPr lang="en-US" altLang="zh-CN" sz="1300"/>
          </a:p>
        </p:txBody>
      </p:sp>
      <p:sp>
        <p:nvSpPr>
          <p:cNvPr id="1484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484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bloat</a:t>
            </a:r>
            <a:r>
              <a:rPr lang="zh-CN" altLang="en-US" smtClean="0"/>
              <a:t> </a:t>
            </a:r>
            <a:r>
              <a:rPr lang="en-US" altLang="zh-CN" smtClean="0"/>
              <a:t>[bləʊt]</a:t>
            </a:r>
            <a:endParaRPr lang="zh-CN" altLang="en-US" smtClean="0"/>
          </a:p>
          <a:p>
            <a:r>
              <a:rPr lang="en-US" altLang="zh-CN" smtClean="0"/>
              <a:t>v. </a:t>
            </a:r>
            <a:r>
              <a:rPr lang="zh-CN" altLang="en-US" smtClean="0"/>
              <a:t>使膨胀</a:t>
            </a:r>
            <a:r>
              <a:rPr lang="en-US" altLang="zh-CN" smtClean="0"/>
              <a:t>; </a:t>
            </a:r>
            <a:r>
              <a:rPr lang="zh-CN" altLang="en-US" smtClean="0"/>
              <a:t>使自大</a:t>
            </a:r>
            <a:r>
              <a:rPr lang="en-US" altLang="zh-CN" smtClean="0"/>
              <a:t>; </a:t>
            </a:r>
            <a:r>
              <a:rPr lang="zh-CN" altLang="en-US" smtClean="0"/>
              <a:t>使肿起</a:t>
            </a:r>
            <a:r>
              <a:rPr lang="en-US" altLang="zh-CN" smtClean="0"/>
              <a:t>; </a:t>
            </a:r>
            <a:r>
              <a:rPr lang="zh-CN" altLang="en-US" smtClean="0"/>
              <a:t>腌熏</a:t>
            </a:r>
            <a:r>
              <a:rPr lang="en-US" altLang="zh-CN" smtClean="0"/>
              <a:t>; </a:t>
            </a:r>
            <a:r>
              <a:rPr lang="zh-CN" altLang="en-US" smtClean="0"/>
              <a:t>膨胀</a:t>
            </a:r>
            <a:r>
              <a:rPr lang="en-US" altLang="zh-CN" smtClean="0"/>
              <a:t>; </a:t>
            </a:r>
            <a:r>
              <a:rPr lang="zh-CN" altLang="en-US" smtClean="0"/>
              <a:t>得意</a:t>
            </a:r>
            <a:r>
              <a:rPr lang="en-US" altLang="zh-CN" smtClean="0"/>
              <a:t>; </a:t>
            </a:r>
            <a:r>
              <a:rPr lang="zh-CN" altLang="en-US" smtClean="0"/>
              <a:t>肿起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71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8489219C-2B36-4DD8-87B6-23DFC646EDF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71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05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3409D1E-95C4-4988-A5FF-098D09554E2A}" type="slidenum">
              <a:rPr lang="en-US" altLang="zh-CN" sz="1300"/>
            </a:fld>
            <a:endParaRPr lang="en-US" altLang="zh-CN" sz="1300"/>
          </a:p>
        </p:txBody>
      </p:sp>
      <p:sp>
        <p:nvSpPr>
          <p:cNvPr id="1505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05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dirty="0" smtClean="0"/>
              <a:t>Java</a:t>
            </a:r>
            <a:r>
              <a:rPr lang="zh-CN" altLang="en-US" dirty="0" smtClean="0"/>
              <a:t>应用程序的执行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81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2D55B4A-41BE-4D25-BBF5-D127CC879710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81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25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A28AD673-854C-494C-A417-C26211526FAA}" type="slidenum">
              <a:rPr lang="en-US" altLang="zh-CN" sz="1300"/>
            </a:fld>
            <a:endParaRPr lang="en-US" altLang="zh-CN" sz="1300"/>
          </a:p>
        </p:txBody>
      </p:sp>
      <p:sp>
        <p:nvSpPr>
          <p:cNvPr id="1525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25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我们介绍完指令集，编译和连接过程以及程序装载的过程，</a:t>
            </a:r>
            <a:endParaRPr lang="en-US" altLang="zh-CN" dirty="0" smtClean="0"/>
          </a:p>
          <a:p>
            <a:r>
              <a:rPr lang="zh-CN" altLang="en-US" dirty="0" smtClean="0"/>
              <a:t>下面我们以一个交换排序的例子来进行说明</a:t>
            </a:r>
            <a:endParaRPr lang="en-US" altLang="zh-CN" dirty="0" smtClean="0"/>
          </a:p>
          <a:p>
            <a:r>
              <a:rPr lang="zh-CN" altLang="en-US" dirty="0" smtClean="0"/>
              <a:t>一</a:t>
            </a:r>
            <a:r>
              <a:rPr lang="zh-CN" altLang="en-US" dirty="0" smtClean="0"/>
              <a:t>个</a:t>
            </a:r>
            <a:r>
              <a:rPr lang="en-US" altLang="zh-CN" dirty="0" smtClean="0"/>
              <a:t>C</a:t>
            </a:r>
            <a:r>
              <a:rPr lang="zh-CN" altLang="en-US" dirty="0" smtClean="0"/>
              <a:t>语言的排序例子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920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3362FB2-DFD7-422F-9DC8-7FF189C7522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920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46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19A07B8-DDD3-41BE-BC6E-32906FB8F73E}" type="slidenum">
              <a:rPr lang="en-US" altLang="zh-CN" sz="1300"/>
            </a:fld>
            <a:endParaRPr lang="en-US" altLang="zh-CN" sz="1300"/>
          </a:p>
        </p:txBody>
      </p:sp>
      <p:sp>
        <p:nvSpPr>
          <p:cNvPr id="1546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46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718F431-2E54-4CCD-A209-91F91165915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022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667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9AD21218-6E1D-4A1A-8F31-657ECF26E831}" type="slidenum">
              <a:rPr lang="en-US" altLang="zh-CN" sz="1300"/>
            </a:fld>
            <a:endParaRPr lang="en-US" altLang="zh-CN" sz="1300"/>
          </a:p>
        </p:txBody>
      </p:sp>
      <p:sp>
        <p:nvSpPr>
          <p:cNvPr id="1566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667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D475B30-028B-4F60-BD4D-9C303BEBAF4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125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5872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9B43EF5-4B88-4B4F-A7DB-91A6E37BF49A}" type="slidenum">
              <a:rPr lang="en-US" altLang="zh-CN" sz="1300"/>
            </a:fld>
            <a:endParaRPr lang="en-US" altLang="zh-CN" sz="1300"/>
          </a:p>
        </p:txBody>
      </p:sp>
      <p:sp>
        <p:nvSpPr>
          <p:cNvPr id="1587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5872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227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EDFF863-499A-4D9B-B34F-D2DE8181EF7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227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07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1F41717-B893-48FF-8D8E-F7CB8B1BD6AA}" type="slidenum">
              <a:rPr lang="en-US" altLang="zh-CN" sz="1300"/>
            </a:fld>
            <a:endParaRPr lang="en-US" altLang="zh-CN" sz="1300"/>
          </a:p>
        </p:txBody>
      </p:sp>
      <p:sp>
        <p:nvSpPr>
          <p:cNvPr id="1607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077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329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A915C537-825D-46C0-A6E0-B8940EDCBDC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330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28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9B81484-C36D-44CD-9A18-E07337C8608F}" type="slidenum">
              <a:rPr lang="en-US" altLang="zh-CN" sz="1300"/>
            </a:fld>
            <a:endParaRPr lang="en-US" altLang="zh-CN" sz="1300"/>
          </a:p>
        </p:txBody>
      </p:sp>
      <p:sp>
        <p:nvSpPr>
          <p:cNvPr id="1628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282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AU" altLang="zh-CN" dirty="0" smtClean="0"/>
              <a:t>0</a:t>
            </a:r>
            <a:r>
              <a:rPr lang="en-US" altLang="zh-CN" dirty="0" smtClean="0"/>
              <a:t>1</a:t>
            </a:r>
            <a:r>
              <a:rPr lang="en-AU" altLang="zh-CN" dirty="0" smtClean="0"/>
              <a:t> </a:t>
            </a:r>
            <a:r>
              <a:rPr lang="zh-CN" altLang="en-US" dirty="0" smtClean="0"/>
              <a:t>中等优化， </a:t>
            </a:r>
            <a:r>
              <a:rPr lang="en-US" altLang="zh-CN" dirty="0" smtClean="0"/>
              <a:t>02 </a:t>
            </a:r>
            <a:r>
              <a:rPr lang="zh-CN" altLang="en-US" dirty="0" smtClean="0"/>
              <a:t>完全， </a:t>
            </a:r>
            <a:r>
              <a:rPr lang="en-US" altLang="zh-CN" dirty="0" smtClean="0"/>
              <a:t>03</a:t>
            </a:r>
            <a:r>
              <a:rPr lang="zh-CN" altLang="en-US" dirty="0" smtClean="0"/>
              <a:t>， 过程集成</a:t>
            </a:r>
            <a:r>
              <a:rPr lang="en-US" altLang="zh-CN" dirty="0" smtClean="0"/>
              <a:t> </a:t>
            </a:r>
            <a:endParaRPr lang="en-US" altLang="zh-CN" dirty="0" smtClean="0"/>
          </a:p>
          <a:p>
            <a:r>
              <a:rPr lang="en-US" altLang="zh-CN" dirty="0" smtClean="0"/>
              <a:t>-O0</a:t>
            </a:r>
            <a:r>
              <a:rPr lang="zh-CN" altLang="en-US" dirty="0" smtClean="0"/>
              <a:t>：这个等级（字母“</a:t>
            </a:r>
            <a:r>
              <a:rPr lang="en-US" altLang="zh-CN" dirty="0" smtClean="0"/>
              <a:t>O”</a:t>
            </a:r>
            <a:r>
              <a:rPr lang="zh-CN" altLang="en-US" dirty="0" smtClean="0"/>
              <a:t>后面跟个零）关闭所有优化选项，也是</a:t>
            </a:r>
            <a:r>
              <a:rPr lang="en-US" altLang="zh-CN" dirty="0" smtClean="0"/>
              <a:t>CFLAGS</a:t>
            </a:r>
            <a:r>
              <a:rPr lang="zh-CN" altLang="en-US" dirty="0" smtClean="0"/>
              <a:t>或</a:t>
            </a:r>
            <a:r>
              <a:rPr lang="en-US" altLang="zh-CN" dirty="0" smtClean="0"/>
              <a:t>CXXFLAGS</a:t>
            </a:r>
            <a:r>
              <a:rPr lang="zh-CN" altLang="en-US" dirty="0" smtClean="0"/>
              <a:t>中没有设置</a:t>
            </a:r>
            <a:r>
              <a:rPr lang="en-US" altLang="zh-CN" dirty="0" smtClean="0"/>
              <a:t>-O</a:t>
            </a:r>
            <a:r>
              <a:rPr lang="zh-CN" altLang="en-US" dirty="0" smtClean="0"/>
              <a:t>等级时的默认等级。不会优化代码，这通常不是我们想要的。 </a:t>
            </a:r>
            <a:br>
              <a:rPr lang="zh-CN" altLang="en-US" dirty="0" smtClean="0"/>
            </a:br>
            <a:r>
              <a:rPr lang="en-US" altLang="zh-CN" dirty="0" smtClean="0"/>
              <a:t>-O1</a:t>
            </a:r>
            <a:r>
              <a:rPr lang="zh-CN" altLang="en-US" dirty="0" smtClean="0"/>
              <a:t>：这是最基本的优化等级。编译器会在不花费太多编译时间的同时试图生成更快更小的代码。这些优化是非常基础的，但一般这些任务肯定能顺利完成。 </a:t>
            </a:r>
            <a:br>
              <a:rPr lang="zh-CN" altLang="en-US" dirty="0" smtClean="0"/>
            </a:br>
            <a:r>
              <a:rPr lang="en-US" altLang="zh-CN" dirty="0" smtClean="0"/>
              <a:t>-O2</a:t>
            </a:r>
            <a:r>
              <a:rPr lang="zh-CN" altLang="en-US" dirty="0" smtClean="0"/>
              <a:t>：</a:t>
            </a:r>
            <a:r>
              <a:rPr lang="en-US" altLang="zh-CN" dirty="0" smtClean="0"/>
              <a:t>-O1</a:t>
            </a:r>
            <a:r>
              <a:rPr lang="zh-CN" altLang="en-US" dirty="0" smtClean="0"/>
              <a:t>的进阶。这是推荐的优化等级，除非你有特殊的需求。</a:t>
            </a:r>
            <a:r>
              <a:rPr lang="en-US" altLang="zh-CN" dirty="0" smtClean="0"/>
              <a:t>-O2</a:t>
            </a:r>
            <a:r>
              <a:rPr lang="zh-CN" altLang="en-US" dirty="0" smtClean="0"/>
              <a:t>会比</a:t>
            </a:r>
            <a:r>
              <a:rPr lang="en-US" altLang="zh-CN" dirty="0" smtClean="0"/>
              <a:t>-O1</a:t>
            </a:r>
            <a:r>
              <a:rPr lang="zh-CN" altLang="en-US" dirty="0" smtClean="0"/>
              <a:t>启用多一些标记。设置了</a:t>
            </a:r>
            <a:r>
              <a:rPr lang="en-US" altLang="zh-CN" dirty="0" smtClean="0"/>
              <a:t>-O2</a:t>
            </a:r>
            <a:r>
              <a:rPr lang="zh-CN" altLang="en-US" dirty="0" smtClean="0"/>
              <a:t>后，编译器会试图提高代码性能而不会增大体积和大量占用的编译时间。 </a:t>
            </a:r>
            <a:br>
              <a:rPr lang="zh-CN" altLang="en-US" dirty="0" smtClean="0"/>
            </a:br>
            <a:r>
              <a:rPr lang="en-US" altLang="zh-CN" dirty="0" smtClean="0"/>
              <a:t>-O3</a:t>
            </a:r>
            <a:r>
              <a:rPr lang="zh-CN" altLang="en-US" dirty="0" smtClean="0"/>
              <a:t>：这是最高最危险的优化等级。用这个选项会延长编译代码的时间，并且在使用</a:t>
            </a:r>
            <a:r>
              <a:rPr lang="en-US" altLang="zh-CN" dirty="0" smtClean="0"/>
              <a:t>gcc4.x</a:t>
            </a:r>
            <a:r>
              <a:rPr lang="zh-CN" altLang="en-US" dirty="0" smtClean="0"/>
              <a:t>的系统里不应全局启用。自从</a:t>
            </a:r>
            <a:r>
              <a:rPr lang="en-US" altLang="zh-CN" dirty="0" smtClean="0"/>
              <a:t>3.x</a:t>
            </a:r>
            <a:r>
              <a:rPr lang="zh-CN" altLang="en-US" dirty="0" smtClean="0"/>
              <a:t>版本以来</a:t>
            </a:r>
            <a:r>
              <a:rPr lang="en-US" altLang="zh-CN" dirty="0" err="1" smtClean="0"/>
              <a:t>gcc</a:t>
            </a:r>
            <a:r>
              <a:rPr lang="zh-CN" altLang="en-US" dirty="0" smtClean="0"/>
              <a:t>的行为已经有了极大地改变。在</a:t>
            </a:r>
            <a:r>
              <a:rPr lang="en-US" altLang="zh-CN" dirty="0" smtClean="0"/>
              <a:t>3.x</a:t>
            </a:r>
            <a:r>
              <a:rPr lang="zh-CN" altLang="en-US" dirty="0" smtClean="0"/>
              <a:t>，</a:t>
            </a:r>
            <a:r>
              <a:rPr lang="en-US" altLang="zh-CN" dirty="0" smtClean="0"/>
              <a:t>-O3</a:t>
            </a:r>
            <a:r>
              <a:rPr lang="zh-CN" altLang="en-US" dirty="0" smtClean="0"/>
              <a:t>生成的代码也只是比</a:t>
            </a:r>
            <a:r>
              <a:rPr lang="en-US" altLang="zh-CN" dirty="0" smtClean="0"/>
              <a:t>-O2</a:t>
            </a:r>
            <a:r>
              <a:rPr lang="zh-CN" altLang="en-US" dirty="0" smtClean="0"/>
              <a:t>快一点点而已，而</a:t>
            </a:r>
            <a:r>
              <a:rPr lang="en-US" altLang="zh-CN" dirty="0" smtClean="0"/>
              <a:t>gcc4.x</a:t>
            </a:r>
            <a:r>
              <a:rPr lang="zh-CN" altLang="en-US" dirty="0" smtClean="0"/>
              <a:t>中还未必更快。用</a:t>
            </a:r>
            <a:r>
              <a:rPr lang="en-US" altLang="zh-CN" dirty="0" smtClean="0"/>
              <a:t>-O3</a:t>
            </a:r>
            <a:r>
              <a:rPr lang="zh-CN" altLang="en-US" dirty="0" smtClean="0"/>
              <a:t>来编译所有的软件包将产生更大体积更耗内存的二进制文件，大大增加编译失败的机会或不可预知的程序行为（包括错误）。这样做将得不偿失，记住过犹不及。在</a:t>
            </a:r>
            <a:r>
              <a:rPr lang="en-US" altLang="zh-CN" dirty="0" err="1" smtClean="0"/>
              <a:t>gcc</a:t>
            </a:r>
            <a:r>
              <a:rPr lang="en-US" altLang="zh-CN" dirty="0" smtClean="0"/>
              <a:t> 4.x.</a:t>
            </a:r>
            <a:r>
              <a:rPr lang="zh-CN" altLang="en-US" dirty="0" smtClean="0"/>
              <a:t>中使用</a:t>
            </a:r>
            <a:r>
              <a:rPr lang="en-US" altLang="zh-CN" dirty="0" smtClean="0"/>
              <a:t>-O3</a:t>
            </a:r>
            <a:r>
              <a:rPr lang="zh-CN" altLang="en-US" dirty="0" smtClean="0"/>
              <a:t>是不推荐的。 </a:t>
            </a:r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b="1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O</a:t>
            </a:r>
            <a:br>
              <a:rPr lang="zh-CN" altLang="en-US" dirty="0" smtClean="0"/>
            </a:b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-O1</a:t>
            </a:r>
            <a:r>
              <a:rPr lang="zh-CN" altLang="en-US" dirty="0" smtClean="0">
                <a:effectLst/>
              </a:rPr>
              <a:t>优化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对于大函数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优化编译占用稍微多的时间和相当大的内存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/>
              <a:t> 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不使用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选项时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编译器的目标是减少编译的开销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使编译结果能够调试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语句是独立的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:</a:t>
            </a:r>
            <a:r>
              <a:rPr lang="zh-CN" altLang="en-US" dirty="0" smtClean="0">
                <a:effectLst/>
              </a:rPr>
              <a:t>如果在两条语句之间用断点中止程序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你可以对任何变量重新赋值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或者在函数体内把程序计数器指到其他语句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以及从源程序中 精确地获取你期待的结果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dirty="0" smtClean="0"/>
          </a:p>
          <a:p>
            <a:endParaRPr lang="en-US" altLang="zh-CN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US" altLang="zh-CN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不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使用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选项时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只有声明了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register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的变量才分配使用寄存器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编译结果比不用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选项的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PCC</a:t>
            </a:r>
            <a:r>
              <a:rPr lang="zh-CN" altLang="en-US" dirty="0" smtClean="0">
                <a:effectLst/>
              </a:rPr>
              <a:t>要略逊一筹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dirty="0" smtClean="0"/>
          </a:p>
          <a:p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使用了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编译器会试图减少目标码的大小和执行时间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zh-CN" altLang="en-US" dirty="0" smtClean="0">
                <a:effectLst/>
              </a:rPr>
              <a:t>如果指定了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 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-f thread-jumps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和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fdefer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-pop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选项将被 打开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在有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delay slot</a:t>
            </a:r>
            <a:r>
              <a:rPr lang="zh-CN" altLang="en-US" dirty="0" smtClean="0">
                <a:effectLst/>
              </a:rPr>
              <a:t>的机器上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 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fdelayed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-branch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选项将被打开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在即使没有帧指针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(frame pointer)</a:t>
            </a:r>
            <a:r>
              <a:rPr lang="zh-CN" altLang="en-US" dirty="0" smtClean="0">
                <a:effectLst/>
              </a:rPr>
              <a:t>也支持调试的机器上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 `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</a:t>
            </a:r>
            <a:r>
              <a:rPr lang="en-US" altLang="zh-CN" sz="1200" b="1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fomit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-frame-pointer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'</a:t>
            </a:r>
            <a:r>
              <a:rPr lang="zh-CN" altLang="en-US" dirty="0" smtClean="0">
                <a:effectLst/>
              </a:rPr>
              <a:t>选项将被打开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某些机器上 还可能会打开其他选项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dirty="0" smtClean="0"/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-O2</a:t>
            </a:r>
            <a:r>
              <a:rPr lang="zh-CN" altLang="en-US" dirty="0" smtClean="0">
                <a:effectLst/>
              </a:rPr>
              <a:t>多优化一些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除了涉及空间和速度交换的优化选项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执行几乎所有的优化工作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例如不进行循环展开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(loop unrolling)</a:t>
            </a:r>
            <a:r>
              <a:rPr lang="zh-CN" altLang="en-US" dirty="0" smtClean="0">
                <a:effectLst/>
              </a:rPr>
              <a:t>和函数内嵌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(</a:t>
            </a:r>
            <a:r>
              <a:rPr lang="en-US" altLang="zh-CN" sz="1200" kern="1200" dirty="0" err="1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inlining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).</a:t>
            </a:r>
            <a:r>
              <a:rPr lang="zh-CN" altLang="en-US" dirty="0" smtClean="0">
                <a:effectLst/>
              </a:rPr>
              <a:t>和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zh-CN" altLang="en-US" dirty="0" smtClean="0">
                <a:effectLst/>
              </a:rPr>
              <a:t>选项比较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这个选项既增加了编译时间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也提高了生成代码的运行效果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/>
              <a:t> </a:t>
            </a:r>
            <a:endParaRPr lang="en-US" altLang="zh-CN" dirty="0" smtClean="0"/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-O3</a:t>
            </a:r>
            <a:r>
              <a:rPr lang="zh-CN" altLang="en-US" dirty="0" smtClean="0">
                <a:effectLst/>
              </a:rPr>
              <a:t>优化的更多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>
                <a:effectLst/>
              </a:rPr>
              <a:t>除了打开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-O2</a:t>
            </a:r>
            <a:r>
              <a:rPr lang="zh-CN" altLang="en-US" dirty="0" smtClean="0">
                <a:effectLst/>
              </a:rPr>
              <a:t>所做的一切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dirty="0" smtClean="0">
                <a:effectLst/>
              </a:rPr>
              <a:t>它还打开了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-f inline-functions</a:t>
            </a:r>
            <a:r>
              <a:rPr lang="zh-CN" altLang="en-US" dirty="0" smtClean="0">
                <a:effectLst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en-US" altLang="zh-CN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-O0</a:t>
            </a:r>
            <a:r>
              <a:rPr lang="zh-CN" altLang="en-US" dirty="0" smtClean="0">
                <a:effectLst/>
              </a:rPr>
              <a:t>不优化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r>
              <a:rPr lang="zh-CN" altLang="en-US" dirty="0" smtClean="0"/>
              <a:t> 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如果指定了多个</a:t>
            </a:r>
            <a:r>
              <a:rPr lang="en-US" altLang="zh-CN" sz="1200" b="1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-O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不管带不带数字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,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最后一个选项才是生效的选项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+mn-cs"/>
              </a:rPr>
              <a:t>.</a:t>
            </a:r>
            <a:endParaRPr lang="zh-CN" altLang="en-US" sz="1200" kern="1200" dirty="0" smtClean="0">
              <a:solidFill>
                <a:schemeClr val="tx1"/>
              </a:solidFill>
              <a:effectLst/>
              <a:latin typeface="Times New Roman" panose="02020603050405020304" pitchFamily="18" charset="0"/>
              <a:ea typeface="+mn-ea"/>
              <a:cs typeface="+mn-cs"/>
            </a:endParaRPr>
          </a:p>
          <a:p>
            <a:endParaRPr lang="en-AU" altLang="zh-CN" dirty="0" smtClean="0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432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16FB067-905A-4C63-8360-D1BD8F40EF9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432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486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992DFD3-989A-4164-ADC9-061B13D70894}" type="slidenum">
              <a:rPr lang="en-US" altLang="zh-CN" sz="1300"/>
            </a:fld>
            <a:endParaRPr lang="en-US" altLang="zh-CN" sz="1300"/>
          </a:p>
        </p:txBody>
      </p:sp>
      <p:sp>
        <p:nvSpPr>
          <p:cNvPr id="1648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487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快速排序相对冒泡排序性能的提升（</a:t>
            </a:r>
            <a:r>
              <a:rPr lang="en-US" altLang="zh-CN" dirty="0" smtClean="0"/>
              <a:t>100 000</a:t>
            </a:r>
            <a:r>
              <a:rPr lang="zh-CN" altLang="en-US" dirty="0" smtClean="0"/>
              <a:t>个数据）</a:t>
            </a:r>
            <a:r>
              <a:rPr lang="en-US" altLang="zh-CN" dirty="0" smtClean="0"/>
              <a:t>2500 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534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058C5FC-9EFA-448D-B9B5-D42CEC77F67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534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691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00DAA53-577B-4E66-8BBE-FB7D48B172EC}" type="slidenum">
              <a:rPr lang="en-US" altLang="zh-CN" sz="1300"/>
            </a:fld>
            <a:endParaRPr lang="en-US" altLang="zh-CN" sz="1300"/>
          </a:p>
        </p:txBody>
      </p:sp>
      <p:sp>
        <p:nvSpPr>
          <p:cNvPr id="1669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691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637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D2CDA89-2DD6-4B6B-B882-82EA80E02F9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637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689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C20ACA9-0B8C-4F03-9961-5358C60BFF40}" type="slidenum">
              <a:rPr lang="en-US" altLang="zh-CN" sz="1300"/>
            </a:fld>
            <a:endParaRPr lang="en-US" altLang="zh-CN" sz="1300"/>
          </a:p>
        </p:txBody>
      </p:sp>
      <p:sp>
        <p:nvSpPr>
          <p:cNvPr id="1689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6896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数组和指针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739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687EEB8-9844-436E-BF22-4899BDC18375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739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10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646DFAD8-B196-4295-A852-50853FC6E50F}" type="slidenum">
              <a:rPr lang="en-US" altLang="zh-CN" sz="1300"/>
            </a:fld>
            <a:endParaRPr lang="en-US" altLang="zh-CN" sz="1300"/>
          </a:p>
        </p:txBody>
      </p:sp>
      <p:sp>
        <p:nvSpPr>
          <p:cNvPr id="1710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101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比较两个程序性能的差异</a:t>
            </a:r>
            <a:endParaRPr lang="en-US" altLang="zh-CN" dirty="0" smtClean="0"/>
          </a:p>
          <a:p>
            <a:r>
              <a:rPr lang="en-US" altLang="zh-CN" dirty="0" smtClean="0"/>
              <a:t> </a:t>
            </a:r>
            <a:r>
              <a:rPr lang="zh-CN" altLang="en-US" dirty="0" smtClean="0"/>
              <a:t>使用指针速度更快，因为循环体内的指令更少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841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3D862C5-6322-4CA3-BA67-E3F3F83411BC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842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306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F6D10DBB-EDA9-44E3-8DDA-9F1861A26385}" type="slidenum">
              <a:rPr lang="en-US" altLang="zh-CN" sz="1300"/>
            </a:fld>
            <a:endParaRPr lang="en-US" altLang="zh-CN" sz="1300"/>
          </a:p>
        </p:txBody>
      </p:sp>
      <p:sp>
        <p:nvSpPr>
          <p:cNvPr id="1730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306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en-US" dirty="0" smtClean="0"/>
              <a:t>乘法指令被</a:t>
            </a:r>
            <a:r>
              <a:rPr lang="zh-CN" altLang="en-US" baseline="0" dirty="0" smtClean="0"/>
              <a:t> 降低为移位操作</a:t>
            </a:r>
            <a:endParaRPr lang="en-US" altLang="zh-CN" baseline="0" dirty="0" smtClean="0"/>
          </a:p>
          <a:p>
            <a:r>
              <a:rPr lang="zh-CN" altLang="en-US" baseline="0" dirty="0" smtClean="0"/>
              <a:t>数组版本 需要被移进循环体中</a:t>
            </a:r>
            <a:endParaRPr lang="en-US" altLang="zh-CN" baseline="0" dirty="0" smtClean="0"/>
          </a:p>
          <a:p>
            <a:r>
              <a:rPr lang="zh-CN" altLang="en-US" baseline="0" dirty="0" smtClean="0"/>
              <a:t>尽管在汇编指令这一层上 编译器优化技术可以获得类似的效果。例如变量约简，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944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82A7DCE-AE41-45F4-B09E-E8D7BC4BCB37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944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510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4EB8352-6B90-455F-87BD-A2EDA79C74FB}" type="slidenum">
              <a:rPr lang="en-US" altLang="zh-CN" sz="1300"/>
            </a:fld>
            <a:endParaRPr lang="en-US" altLang="zh-CN" sz="1300"/>
          </a:p>
        </p:txBody>
      </p:sp>
      <p:sp>
        <p:nvSpPr>
          <p:cNvPr id="1751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51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046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765BD5DC-F584-429B-9EE7-DEA5331AC71A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046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781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3381051-5C94-4671-B847-3DBF8AC3A977}" type="slidenum">
              <a:rPr lang="en-US" altLang="zh-CN" sz="1300"/>
            </a:fld>
            <a:endParaRPr lang="en-US" altLang="zh-CN" sz="1300"/>
          </a:p>
        </p:txBody>
      </p:sp>
      <p:sp>
        <p:nvSpPr>
          <p:cNvPr id="1781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781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149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00A8DE75-DB89-477A-9A27-F4D3276485A9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149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02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00E66CD-BB43-4ACA-886B-CB011470F282}" type="slidenum">
              <a:rPr lang="en-US" altLang="zh-CN" sz="1300"/>
            </a:fld>
            <a:endParaRPr lang="en-US" altLang="zh-CN" sz="1300"/>
          </a:p>
        </p:txBody>
      </p:sp>
      <p:sp>
        <p:nvSpPr>
          <p:cNvPr id="1802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02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251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2C18B682-46BC-4DDD-9AFB-D5DDBB1487FF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251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33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AE2AC18-63D1-4B94-9BC8-434D6A7DCBC8}" type="slidenum">
              <a:rPr lang="en-US" altLang="zh-CN" sz="1300"/>
            </a:fld>
            <a:endParaRPr lang="en-US" altLang="zh-CN" sz="1300"/>
          </a:p>
        </p:txBody>
      </p:sp>
      <p:sp>
        <p:nvSpPr>
          <p:cNvPr id="1833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330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353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4B447373-834D-456B-B997-BB8133E95CA6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354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53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3B9DC895-BC8A-41F1-9BEB-BD95FF45970B}" type="slidenum">
              <a:rPr lang="en-US" altLang="zh-CN" sz="1300"/>
            </a:fld>
            <a:endParaRPr lang="en-US" altLang="zh-CN" sz="1300"/>
          </a:p>
        </p:txBody>
      </p:sp>
      <p:sp>
        <p:nvSpPr>
          <p:cNvPr id="1853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535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456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607F8EF8-5551-4F8B-B8E9-9C652FF02CB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456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73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4709B410-74F1-4886-B80F-F9CF5C28A205}" type="slidenum">
              <a:rPr lang="en-US" altLang="zh-CN" sz="1300"/>
            </a:fld>
            <a:endParaRPr lang="en-US" altLang="zh-CN" sz="1300"/>
          </a:p>
        </p:txBody>
      </p:sp>
      <p:sp>
        <p:nvSpPr>
          <p:cNvPr id="1873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739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dirty="0" smtClean="0"/>
              <a:t>jeopardize (Amer.)</a:t>
            </a:r>
            <a:r>
              <a:rPr lang="en-US" altLang="zh-CN" dirty="0" smtClean="0"/>
              <a:t> [</a:t>
            </a:r>
            <a:r>
              <a:rPr lang="en-US" altLang="zh-CN" dirty="0" err="1" smtClean="0"/>
              <a:t>jeop·ard·ize</a:t>
            </a:r>
            <a:r>
              <a:rPr lang="en-US" altLang="zh-CN" dirty="0" smtClean="0"/>
              <a:t> || '</a:t>
            </a:r>
            <a:r>
              <a:rPr lang="en-US" altLang="zh-CN" dirty="0" err="1" smtClean="0"/>
              <a:t>dʒepə</a:t>
            </a:r>
            <a:r>
              <a:rPr lang="en-US" altLang="zh-CN" dirty="0" smtClean="0"/>
              <a:t>(r)</a:t>
            </a:r>
            <a:r>
              <a:rPr lang="en-US" altLang="zh-CN" dirty="0" err="1" smtClean="0"/>
              <a:t>daɪz</a:t>
            </a:r>
            <a:r>
              <a:rPr lang="en-US" altLang="zh-CN" dirty="0" smtClean="0"/>
              <a:t>]</a:t>
            </a:r>
            <a:endParaRPr lang="en-US" altLang="zh-CN" dirty="0" smtClean="0"/>
          </a:p>
          <a:p>
            <a:r>
              <a:rPr lang="en-US" altLang="zh-CN" dirty="0" smtClean="0"/>
              <a:t>v. </a:t>
            </a:r>
            <a:r>
              <a:rPr lang="zh-CN" altLang="en-US" dirty="0" smtClean="0"/>
              <a:t>危害</a:t>
            </a:r>
            <a:r>
              <a:rPr lang="en-US" altLang="zh-CN" dirty="0" smtClean="0"/>
              <a:t>, </a:t>
            </a:r>
            <a:r>
              <a:rPr lang="zh-CN" altLang="en-US" dirty="0" smtClean="0"/>
              <a:t>使陷危地</a:t>
            </a:r>
            <a:r>
              <a:rPr lang="en-US" altLang="zh-CN" dirty="0" smtClean="0"/>
              <a:t>, </a:t>
            </a:r>
            <a:r>
              <a:rPr lang="zh-CN" altLang="en-US" dirty="0" smtClean="0"/>
              <a:t>使受危困</a:t>
            </a:r>
            <a:endParaRPr lang="zh-CN" altLang="en-US" dirty="0" smtClean="0"/>
          </a:p>
          <a:p>
            <a:r>
              <a:rPr lang="en-US" altLang="zh-CN" sz="1200" dirty="0" smtClean="0">
                <a:solidFill>
                  <a:srgbClr val="FF0000"/>
                </a:solidFill>
                <a:ea typeface="+mn-ea"/>
              </a:rPr>
              <a:t>one instruction per month  </a:t>
            </a:r>
            <a:r>
              <a:rPr lang="zh-CN" altLang="en-US" sz="1200" dirty="0" smtClean="0">
                <a:solidFill>
                  <a:srgbClr val="FF0000"/>
                </a:solidFill>
                <a:ea typeface="+mn-ea"/>
              </a:rPr>
              <a:t>每个月增加一条指令，从出现后</a:t>
            </a:r>
            <a:endParaRPr lang="en-US" altLang="zh-CN" sz="1200" dirty="0" smtClean="0">
              <a:solidFill>
                <a:srgbClr val="FF0000"/>
              </a:solidFill>
              <a:ea typeface="+mn-ea"/>
            </a:endParaRPr>
          </a:p>
          <a:p>
            <a:r>
              <a:rPr lang="zh-CN" altLang="en-US" sz="1200" dirty="0" smtClean="0">
                <a:solidFill>
                  <a:srgbClr val="FF0000"/>
                </a:solidFill>
                <a:ea typeface="+mn-ea"/>
              </a:rPr>
              <a:t>尽管技术不够优雅，但是</a:t>
            </a:r>
            <a:r>
              <a:rPr lang="en-US" altLang="zh-CN" sz="1200" dirty="0" smtClean="0">
                <a:solidFill>
                  <a:srgbClr val="FF0000"/>
                </a:solidFill>
                <a:ea typeface="+mn-ea"/>
              </a:rPr>
              <a:t>x86</a:t>
            </a:r>
            <a:r>
              <a:rPr lang="zh-CN" altLang="en-US" sz="1200" dirty="0" smtClean="0">
                <a:solidFill>
                  <a:srgbClr val="FF0000"/>
                </a:solidFill>
                <a:ea typeface="+mn-ea"/>
              </a:rPr>
              <a:t>家族的机器比较普遍</a:t>
            </a:r>
            <a:endParaRPr lang="en-AU" altLang="zh-CN" dirty="0" smtClean="0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558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81376049-49E4-4DD8-A82E-5EAE164BDEB8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558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894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D29FCDF-45C1-4C78-AD48-DC90A7F4B7D8}" type="slidenum">
              <a:rPr lang="en-US" altLang="zh-CN" sz="1300"/>
            </a:fld>
            <a:endParaRPr lang="en-US" altLang="zh-CN" sz="1300"/>
          </a:p>
        </p:txBody>
      </p:sp>
      <p:sp>
        <p:nvSpPr>
          <p:cNvPr id="1894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894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10B33053-F6AE-4005-9673-F092C91DC341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661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14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8CFF1A20-0939-432F-9648-02E129E1F796}" type="slidenum">
              <a:rPr lang="en-US" altLang="zh-CN" sz="1300"/>
            </a:fld>
            <a:endParaRPr lang="en-US" altLang="zh-CN" sz="1300"/>
          </a:p>
        </p:txBody>
      </p:sp>
      <p:sp>
        <p:nvSpPr>
          <p:cNvPr id="1914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14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763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0222440-A6DE-4713-B6D7-B00CDF99989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763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354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F8EF532-2B22-40C4-8A42-0D078AEAD61A}" type="slidenum">
              <a:rPr lang="en-US" altLang="zh-CN" sz="1300"/>
            </a:fld>
            <a:endParaRPr lang="en-US" altLang="zh-CN" sz="1300"/>
          </a:p>
        </p:txBody>
      </p:sp>
      <p:sp>
        <p:nvSpPr>
          <p:cNvPr id="1935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354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865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55F67623-4A58-4C75-BC99-3EAE9F6B7C0D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866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558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CB515BA9-BBD6-4B27-9369-80B16D77689E}" type="slidenum">
              <a:rPr lang="en-US" altLang="zh-CN" sz="1300"/>
            </a:fld>
            <a:endParaRPr lang="en-US" altLang="zh-CN" sz="1300"/>
          </a:p>
        </p:txBody>
      </p:sp>
      <p:sp>
        <p:nvSpPr>
          <p:cNvPr id="1955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55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9683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C4F7E872-E34C-40A9-971D-7EA9E089BEDB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9684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76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4DB0B88-F410-4DA7-91AD-DFF60E145B68}" type="slidenum">
              <a:rPr lang="en-US" altLang="zh-CN" sz="1300"/>
            </a:fld>
            <a:endParaRPr lang="en-US" altLang="zh-CN" sz="1300"/>
          </a:p>
        </p:txBody>
      </p:sp>
      <p:sp>
        <p:nvSpPr>
          <p:cNvPr id="1976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7639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fallacy</a:t>
            </a:r>
            <a:r>
              <a:rPr lang="en-US" altLang="zh-CN" smtClean="0"/>
              <a:t> [fal·la·cy || 'fæləsɪ]</a:t>
            </a:r>
            <a:endParaRPr lang="en-US" altLang="zh-CN" smtClean="0"/>
          </a:p>
          <a:p>
            <a:r>
              <a:rPr lang="en-US" altLang="zh-CN" smtClean="0"/>
              <a:t>n. </a:t>
            </a:r>
            <a:r>
              <a:rPr lang="zh-CN" altLang="en-US" smtClean="0"/>
              <a:t>谬误</a:t>
            </a:r>
            <a:r>
              <a:rPr lang="en-US" altLang="zh-CN" smtClean="0"/>
              <a:t>; </a:t>
            </a:r>
            <a:r>
              <a:rPr lang="zh-CN" altLang="en-US" smtClean="0"/>
              <a:t>谬见</a:t>
            </a:r>
            <a:r>
              <a:rPr lang="en-US" altLang="zh-CN" smtClean="0"/>
              <a:t>; </a:t>
            </a:r>
            <a:r>
              <a:rPr lang="zh-CN" altLang="en-US" smtClean="0"/>
              <a:t>谬论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0707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C6DEA11-2D55-4E55-B809-472AB9FCCFA2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0708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1996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52E84818-6FF2-439C-8B46-BE4F5C59CFE5}" type="slidenum">
              <a:rPr lang="en-US" altLang="zh-CN" sz="1300"/>
            </a:fld>
            <a:endParaRPr lang="en-US" altLang="zh-CN" sz="1300"/>
          </a:p>
        </p:txBody>
      </p:sp>
      <p:sp>
        <p:nvSpPr>
          <p:cNvPr id="1996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996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1731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3DC7BAC1-8E8E-45EE-8341-C623678875B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1732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17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C11C050-1BDE-4FB1-8DEF-DD7D387238B4}" type="slidenum">
              <a:rPr lang="en-US" altLang="zh-CN" sz="1300"/>
            </a:fld>
            <a:endParaRPr lang="en-US" altLang="zh-CN" sz="1300"/>
          </a:p>
        </p:txBody>
      </p:sp>
      <p:sp>
        <p:nvSpPr>
          <p:cNvPr id="2017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173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b="1" smtClean="0"/>
              <a:t>pitfall</a:t>
            </a:r>
            <a:r>
              <a:rPr lang="zh-CN" altLang="en-US" smtClean="0"/>
              <a:t> </a:t>
            </a:r>
            <a:endParaRPr lang="zh-CN" altLang="en-US" smtClean="0"/>
          </a:p>
          <a:p>
            <a:r>
              <a:rPr lang="en-US" altLang="zh-CN" smtClean="0"/>
              <a:t>n. </a:t>
            </a:r>
            <a:r>
              <a:rPr lang="zh-CN" altLang="en-US" smtClean="0"/>
              <a:t>陷阱</a:t>
            </a:r>
            <a:r>
              <a:rPr lang="en-US" altLang="zh-CN" smtClean="0"/>
              <a:t>, </a:t>
            </a:r>
            <a:r>
              <a:rPr lang="zh-CN" altLang="en-US" smtClean="0"/>
              <a:t>阴谋</a:t>
            </a:r>
            <a:r>
              <a:rPr lang="en-US" altLang="zh-CN" smtClean="0"/>
              <a:t>, </a:t>
            </a:r>
            <a:r>
              <a:rPr lang="zh-CN" altLang="en-US" smtClean="0"/>
              <a:t>诱惑</a:t>
            </a:r>
            <a:endParaRPr lang="zh-CN" altLang="en-US" smtClean="0"/>
          </a:p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2755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BEC464F9-F641-4671-B4AC-0FD14CFF8C6E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2756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378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75CEC443-014E-4A38-9EA3-5260F7175D54}" type="slidenum">
              <a:rPr lang="en-US" altLang="zh-CN" sz="1300"/>
            </a:fld>
            <a:endParaRPr lang="en-US" altLang="zh-CN" sz="1300"/>
          </a:p>
        </p:txBody>
      </p:sp>
      <p:sp>
        <p:nvSpPr>
          <p:cNvPr id="2037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3783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The University of Adelaide, School of Computer Science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3779" name="Rectangle 3"/>
          <p:cNvSpPr>
            <a:spLocks noGrp="1" noChangeArrowheads="1"/>
          </p:cNvSpPr>
          <p:nvPr>
            <p:ph type="dt" sz="quarter" idx="1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fld id="{986B77D7-B141-490C-9BCD-A7734D36DD45}" type="datetime3">
              <a:rPr lang="en-US" altLang="zh-CN" smtClean="0">
                <a:latin typeface="Times New Roman" panose="02020603050405020304" pitchFamily="18" charset="0"/>
              </a:rPr>
            </a:fld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3780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671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671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en-US" altLang="zh-CN" smtClean="0">
                <a:latin typeface="Times New Roman" panose="02020603050405020304" pitchFamily="18" charset="0"/>
              </a:rPr>
              <a:t>Chapter 2 — Instructions: Language of the Computer</a:t>
            </a:r>
            <a:endParaRPr lang="en-US" altLang="zh-CN" smtClean="0">
              <a:latin typeface="Times New Roman" panose="02020603050405020304" pitchFamily="18" charset="0"/>
            </a:endParaRPr>
          </a:p>
        </p:txBody>
      </p:sp>
      <p:sp>
        <p:nvSpPr>
          <p:cNvPr id="20582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defTabSz="96710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defTabSz="96710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3E9848B-A0B0-40AF-9F2C-FAA8FC367FE4}" type="slidenum">
              <a:rPr lang="en-US" altLang="zh-CN" sz="1300"/>
            </a:fld>
            <a:endParaRPr lang="en-US" altLang="zh-CN" sz="1300"/>
          </a:p>
        </p:txBody>
      </p:sp>
      <p:sp>
        <p:nvSpPr>
          <p:cNvPr id="2058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20583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AU" altLang="zh-CN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619250" y="1125538"/>
            <a:ext cx="28575" cy="5732462"/>
          </a:xfrm>
          <a:prstGeom prst="rect">
            <a:avLst/>
          </a:prstGeom>
          <a:solidFill>
            <a:schemeClr val="tx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981200" y="1987550"/>
            <a:ext cx="36513" cy="3816350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763713" y="2708275"/>
            <a:ext cx="7380287" cy="73025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7" name="Rectangle 7"/>
          <p:cNvSpPr>
            <a:spLocks noChangeArrowheads="1"/>
          </p:cNvSpPr>
          <p:nvPr/>
        </p:nvSpPr>
        <p:spPr bwMode="auto">
          <a:xfrm>
            <a:off x="0" y="0"/>
            <a:ext cx="9144000" cy="1125538"/>
          </a:xfrm>
          <a:prstGeom prst="rect">
            <a:avLst/>
          </a:prstGeom>
          <a:solidFill>
            <a:schemeClr val="tx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8" name="Rectangle 9"/>
          <p:cNvSpPr>
            <a:spLocks noChangeArrowheads="1"/>
          </p:cNvSpPr>
          <p:nvPr/>
        </p:nvSpPr>
        <p:spPr bwMode="auto">
          <a:xfrm>
            <a:off x="0" y="1125538"/>
            <a:ext cx="9144000" cy="17462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9" name="Rectangle 10"/>
          <p:cNvSpPr>
            <a:spLocks noChangeArrowheads="1"/>
          </p:cNvSpPr>
          <p:nvPr/>
        </p:nvSpPr>
        <p:spPr bwMode="auto">
          <a:xfrm>
            <a:off x="1619250" y="549275"/>
            <a:ext cx="28575" cy="5762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240643" name="Rectangle 3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2409825" y="1844675"/>
            <a:ext cx="5832475" cy="762000"/>
          </a:xfrm>
        </p:spPr>
        <p:txBody>
          <a:bodyPr anchor="t"/>
          <a:lstStyle>
            <a:lvl1pPr>
              <a:defRPr>
                <a:latin typeface="Arial Black" panose="020B0A04020102020204" pitchFamily="34" charset="0"/>
              </a:defRPr>
            </a:lvl1pPr>
          </a:lstStyle>
          <a:p>
            <a:r>
              <a:rPr lang="en-AU" dirty="0"/>
              <a:t>Chapter …</a:t>
            </a:r>
            <a:endParaRPr lang="en-AU" dirty="0"/>
          </a:p>
        </p:txBody>
      </p:sp>
      <p:sp>
        <p:nvSpPr>
          <p:cNvPr id="240644" name="Rectangle 4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2409825" y="2924175"/>
            <a:ext cx="5832475" cy="579438"/>
          </a:xfrm>
        </p:spPr>
        <p:txBody>
          <a:bodyPr>
            <a:spAutoFit/>
          </a:bodyPr>
          <a:lstStyle>
            <a:lvl1pPr marL="0" indent="0">
              <a:buFont typeface="Wingdings" panose="05000000000000000000" pitchFamily="2" charset="2"/>
              <a:buNone/>
              <a:defRPr>
                <a:latin typeface="Arial Black" panose="020B0A04020102020204" pitchFamily="34" charset="0"/>
              </a:defRPr>
            </a:lvl1pPr>
          </a:lstStyle>
          <a:p>
            <a:r>
              <a:rPr lang="en-AU"/>
              <a:t>Subtitle</a:t>
            </a:r>
            <a:endParaRPr lang="en-A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7307830B-E541-4603-B712-4800360D8D64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10C15CDD-7ADD-4ED2-BFAC-01646EF33EDB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3" y="1125538"/>
            <a:ext cx="4059237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5850" y="1125538"/>
            <a:ext cx="4059238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E8D8BF88-5E3F-454D-A6BF-A2776E33A5BF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5B894B5E-870F-459B-A553-BF54C248CD64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43286F23-6254-46DE-9258-935D2C5EA7C8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5DCC0B13-6EE6-46C5-AEFF-9065E05B41C8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582E98C7-E603-423F-A340-A3B32EEEE283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668D74BA-A31D-4771-B468-66B4A35F87EE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1FD55271-08A8-4152-AAA0-4FD21CB7391D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88163" y="146050"/>
            <a:ext cx="2066925" cy="60912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4213" y="146050"/>
            <a:ext cx="6051550" cy="60912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A321581D-15BB-4AA9-A2F3-9341D5FA998F}" type="slidenum">
              <a:rPr lang="en-AU" altLang="zh-CN"/>
            </a:fld>
            <a:endParaRPr lang="en-AU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468313" y="260350"/>
            <a:ext cx="36512" cy="3816350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146050"/>
            <a:ext cx="8259762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spAutoFit/>
          </a:bodyPr>
          <a:lstStyle/>
          <a:p>
            <a:pPr lvl="0"/>
            <a:r>
              <a:rPr lang="en-AU" altLang="zh-CN" smtClean="0"/>
              <a:t>Click to edit Master title style</a:t>
            </a:r>
            <a:endParaRPr lang="en-AU" altLang="zh-CN" smtClean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125538"/>
            <a:ext cx="8270875" cy="5111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AU" altLang="zh-CN" smtClean="0"/>
              <a:t>Click to edit Master text styles</a:t>
            </a:r>
            <a:endParaRPr lang="en-AU" altLang="zh-CN" smtClean="0"/>
          </a:p>
          <a:p>
            <a:pPr lvl="1"/>
            <a:r>
              <a:rPr lang="en-AU" altLang="zh-CN" smtClean="0"/>
              <a:t>Second level</a:t>
            </a:r>
            <a:endParaRPr lang="en-AU" altLang="zh-CN" smtClean="0"/>
          </a:p>
          <a:p>
            <a:pPr lvl="2"/>
            <a:r>
              <a:rPr lang="en-AU" altLang="zh-CN" smtClean="0"/>
              <a:t>Third level</a:t>
            </a:r>
            <a:endParaRPr lang="en-AU" altLang="zh-CN" smtClean="0"/>
          </a:p>
          <a:p>
            <a:pPr lvl="3"/>
            <a:r>
              <a:rPr lang="en-AU" altLang="zh-CN" smtClean="0"/>
              <a:t>Fourth level</a:t>
            </a:r>
            <a:endParaRPr lang="en-AU" altLang="zh-CN" smtClean="0"/>
          </a:p>
          <a:p>
            <a:pPr lvl="4"/>
            <a:r>
              <a:rPr lang="en-AU" altLang="zh-CN" smtClean="0"/>
              <a:t>Fifth level</a:t>
            </a:r>
            <a:endParaRPr lang="en-AU" altLang="zh-CN" smtClean="0"/>
          </a:p>
        </p:txBody>
      </p:sp>
      <p:sp>
        <p:nvSpPr>
          <p:cNvPr id="239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692275" y="6381750"/>
            <a:ext cx="7272338" cy="358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400" b="1" smtClean="0"/>
            </a:lvl1pPr>
          </a:lstStyle>
          <a:p>
            <a:pPr>
              <a:defRPr/>
            </a:pPr>
            <a:r>
              <a:rPr lang="en-AU" altLang="zh-CN"/>
              <a:t>Chapter 2 — Instructions: Language of the Computer — </a:t>
            </a:r>
            <a:fld id="{EE98C61E-D137-450A-AF7D-624BBEB5B5E7}" type="slidenum">
              <a:rPr lang="en-AU" altLang="zh-CN"/>
            </a:fld>
            <a:endParaRPr lang="en-AU" altLang="zh-CN"/>
          </a:p>
        </p:txBody>
      </p:sp>
      <p:sp>
        <p:nvSpPr>
          <p:cNvPr id="1030" name="Rectangle 7"/>
          <p:cNvSpPr>
            <a:spLocks noChangeArrowheads="1"/>
          </p:cNvSpPr>
          <p:nvPr/>
        </p:nvSpPr>
        <p:spPr bwMode="auto">
          <a:xfrm>
            <a:off x="250825" y="981075"/>
            <a:ext cx="8569325" cy="71438"/>
          </a:xfrm>
          <a:prstGeom prst="rect">
            <a:avLst/>
          </a:prstGeom>
          <a:gradFill rotWithShape="1">
            <a:gsLst>
              <a:gs pos="0">
                <a:schemeClr val="tx2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zh-CN" altLang="zh-CN" smtClean="0">
              <a:ea typeface="宋体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vmlDrawing" Target="../drawings/vmlDrawing1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wmf"/><Relationship Id="rId1" Type="http://schemas.openxmlformats.org/officeDocument/2006/relationships/oleObject" Target="../embeddings/oleObject1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vmlDrawing" Target="../drawings/vmlDrawing2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wmf"/><Relationship Id="rId1" Type="http://schemas.openxmlformats.org/officeDocument/2006/relationships/oleObject" Target="../embeddings/oleObject2.bin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vmlDrawing" Target="../drawings/vmlDrawing3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wmf"/><Relationship Id="rId1" Type="http://schemas.openxmlformats.org/officeDocument/2006/relationships/oleObject" Target="../embeddings/oleObject3.bin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jpe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4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20.emf"/><Relationship Id="rId7" Type="http://schemas.openxmlformats.org/officeDocument/2006/relationships/oleObject" Target="../embeddings/oleObject7.bin"/><Relationship Id="rId6" Type="http://schemas.openxmlformats.org/officeDocument/2006/relationships/image" Target="../media/image19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18.emf"/><Relationship Id="rId3" Type="http://schemas.openxmlformats.org/officeDocument/2006/relationships/oleObject" Target="../embeddings/oleObject5.bin"/><Relationship Id="rId2" Type="http://schemas.openxmlformats.org/officeDocument/2006/relationships/image" Target="../media/image17.emf"/><Relationship Id="rId11" Type="http://schemas.openxmlformats.org/officeDocument/2006/relationships/notesSlide" Target="../notesSlides/notesSlide77.xml"/><Relationship Id="rId10" Type="http://schemas.openxmlformats.org/officeDocument/2006/relationships/vmlDrawing" Target="../drawings/vmlDrawing4.vml"/><Relationship Id="rId1" Type="http://schemas.openxmlformats.org/officeDocument/2006/relationships/oleObject" Target="../embeddings/oleObject4.bin"/></Relationships>
</file>

<file path=ppt/slides/_rels/slide7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78.xml"/><Relationship Id="rId8" Type="http://schemas.openxmlformats.org/officeDocument/2006/relationships/vmlDrawing" Target="../drawings/vmlDrawing5.v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3.emf"/><Relationship Id="rId5" Type="http://schemas.openxmlformats.org/officeDocument/2006/relationships/oleObject" Target="../embeddings/oleObject10.bin"/><Relationship Id="rId4" Type="http://schemas.openxmlformats.org/officeDocument/2006/relationships/image" Target="../media/image22.emf"/><Relationship Id="rId3" Type="http://schemas.openxmlformats.org/officeDocument/2006/relationships/oleObject" Target="../embeddings/oleObject9.bin"/><Relationship Id="rId2" Type="http://schemas.openxmlformats.org/officeDocument/2006/relationships/image" Target="../media/image21.emf"/><Relationship Id="rId1" Type="http://schemas.openxmlformats.org/officeDocument/2006/relationships/oleObject" Target="../embeddings/oleObject8.bin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jpe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5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6.jpe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9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7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D2FFFE6-497E-47C6-824D-028FCDC4A384}" type="slidenum">
              <a:rPr lang="en-AU" altLang="zh-CN" sz="1400"/>
            </a:fld>
            <a:endParaRPr lang="en-AU" altLang="zh-CN" sz="1400"/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指令集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计算机的指令集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不同的计算机有不同的指令集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0070C0"/>
                </a:solidFill>
                <a:ea typeface="宋体" panose="02010600030101010101" pitchFamily="2" charset="-122"/>
              </a:rPr>
              <a:t>但有很多共同之处</a:t>
            </a:r>
            <a:endParaRPr lang="en-US" altLang="zh-CN" smtClean="0">
              <a:solidFill>
                <a:srgbClr val="0070C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早期的计算机具有非常简单的指令集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0070C0"/>
                </a:solidFill>
                <a:ea typeface="宋体" panose="02010600030101010101" pitchFamily="2" charset="-122"/>
              </a:rPr>
              <a:t>简化实施</a:t>
            </a:r>
            <a:endParaRPr lang="en-US" altLang="zh-CN" smtClean="0">
              <a:solidFill>
                <a:srgbClr val="0070C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许多现代计算机也有简单的指令集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 rot="5400000">
            <a:off x="8017669" y="759619"/>
            <a:ext cx="18859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第2.1节简介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1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1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1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05CDB942-A7E1-4A84-8CE0-6F5F804D31DE}" type="slidenum">
              <a:rPr lang="en-AU" altLang="zh-CN" sz="1400"/>
            </a:fld>
            <a:endParaRPr lang="en-AU" altLang="zh-CN" sz="1400"/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MIPS指令集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作为整个课程中的示例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斯坦福MIPS由MIPS Technologies（www.mips.com）商业化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较大的嵌入式核心市场份额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在智能手机、平板电脑、消费电子产品、网络/存储设备、照相机、打印机等领域的应用。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AC89803C-54D7-46A4-9844-5C1A1FC015D6}" type="slidenum">
              <a:rPr lang="en-AU" altLang="zh-CN" sz="1400"/>
            </a:fld>
            <a:endParaRPr lang="en-AU" altLang="zh-CN" sz="1400"/>
          </a:p>
        </p:txBody>
      </p:sp>
      <p:sp>
        <p:nvSpPr>
          <p:cNvPr id="11267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算术运算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268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加减运算，三个操作数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两个源和一个目标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添加a、b、c # a获得b + c</a:t>
            </a:r>
            <a:endParaRPr lang="en-US" altLang="zh-CN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所有算术运算都具有这种形式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i="1" smtClean="0">
                <a:solidFill>
                  <a:srgbClr val="FF0000"/>
                </a:solidFill>
                <a:ea typeface="宋体" panose="02010600030101010101" pitchFamily="2" charset="-122"/>
              </a:rPr>
              <a:t>设计原则1：简单有利于规律性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规则使实现更简单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简单性使您能够以较低的成本获得更高的性能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269" name="Text Box 4"/>
          <p:cNvSpPr txBox="1">
            <a:spLocks noChangeArrowheads="1"/>
          </p:cNvSpPr>
          <p:nvPr/>
        </p:nvSpPr>
        <p:spPr bwMode="auto">
          <a:xfrm rot="5400000">
            <a:off x="6677819" y="2099469"/>
            <a:ext cx="45656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第2.2节计算机硬件操作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6F504D8C-D863-4751-A054-3EBAC9E641DD}" type="slidenum">
              <a:rPr lang="en-AU" altLang="zh-CN" sz="1400"/>
            </a:fld>
            <a:endParaRPr lang="en-AU" altLang="zh-CN" sz="1400"/>
          </a:p>
        </p:txBody>
      </p:sp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算术示例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f = (g + h) - (i + j);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编译的MIPS代码：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加t0，g，h#临时变量t0=g+h加t1，i，j#临时变量t1=i+j减t0，t1，f#f=t0-t1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AU" altLang="zh-CN" smtClean="0">
              <a:solidFill>
                <a:srgbClr val="0070C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5D45C5AE-A234-4867-A181-6477739E7239}" type="slidenum">
              <a:rPr lang="en-AU" altLang="zh-CN" sz="1400"/>
            </a:fld>
            <a:endParaRPr lang="en-AU" altLang="zh-CN" sz="1400"/>
          </a:p>
        </p:txBody>
      </p:sp>
      <p:sp>
        <p:nvSpPr>
          <p:cNvPr id="1536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寄存器操作数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3316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算术指令使用寄存器操作数</a:t>
            </a:r>
            <a:endParaRPr lang="en-US" altLang="zh-CN" sz="28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MIPS具有32×32位寄存器文件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对经常访问的数据的使用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编号为0到31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称为“字”的32位数据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装配名称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rgbClr val="00B050"/>
                </a:solidFill>
                <a:ea typeface="宋体" panose="02010600030101010101" pitchFamily="2" charset="-122"/>
              </a:rPr>
              <a:t>t0、$t1，...，$t9用于临时值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rgbClr val="00B050"/>
                </a:solidFill>
                <a:ea typeface="宋体" panose="02010600030101010101" pitchFamily="2" charset="-122"/>
              </a:rPr>
              <a:t>$s0、$s1，...，$s7用于保存的变量</a:t>
            </a:r>
            <a:endParaRPr lang="en-US" altLang="zh-CN" i="1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i="1" smtClean="0">
                <a:solidFill>
                  <a:srgbClr val="FF0000"/>
                </a:solidFill>
                <a:ea typeface="宋体" panose="02010600030101010101" pitchFamily="2" charset="-122"/>
              </a:rPr>
              <a:t>设计原则2：越小越快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寄存器文件较小的原因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参见主存储器：数百万个位置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  <p:sp>
        <p:nvSpPr>
          <p:cNvPr id="15365" name="Text Box 4"/>
          <p:cNvSpPr txBox="1">
            <a:spLocks noChangeArrowheads="1"/>
          </p:cNvSpPr>
          <p:nvPr/>
        </p:nvSpPr>
        <p:spPr bwMode="auto">
          <a:xfrm rot="5400000">
            <a:off x="6734969" y="2042319"/>
            <a:ext cx="44513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第2.3节计算机硬件的操作数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1B5A6ED5-F111-4668-824A-EABF0FBD9622}" type="slidenum">
              <a:rPr lang="en-AU" altLang="zh-CN" sz="1400"/>
            </a:fld>
            <a:endParaRPr lang="en-AU" altLang="zh-CN" sz="1400"/>
          </a:p>
        </p:txBody>
      </p:sp>
      <p:sp>
        <p:nvSpPr>
          <p:cNvPr id="1741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寄存器操作数示例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4340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f = (g + h) - (i + j);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在$s0，...，$s4区间内的f，...，j</a:t>
            </a:r>
            <a:endParaRPr lang="en-US" altLang="zh-CN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编译的MIPS代码：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加法运算：$t0+$s1+$s2；减法运算：$s0-$t0-$t1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AU" altLang="zh-CN" sz="2800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F5D1257-8D2C-47A4-8A2A-715CEE48E4A1}" type="slidenum">
              <a:rPr lang="en-AU" altLang="zh-CN" sz="1400"/>
            </a:fld>
            <a:endParaRPr lang="en-AU" altLang="zh-CN" sz="1400"/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内存操作数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36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用于复合数据的主存储器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数组、结构、动态数据...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只有少量数据可以装入寄存器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应用算术运算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将值从内存加载到寄存器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将注册结果存储到内存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内存采用字节寻址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每个地址标识一个8位字节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单词在记忆中排列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地址必须是4的倍数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MIPS是大端模式</a:t>
            </a:r>
            <a:endParaRPr lang="en-US" altLang="zh-CN" sz="2800" smtClean="0">
              <a:solidFill>
                <a:srgbClr val="009900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字的最高有效字节地址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AU" altLang="zh-CN" sz="2400" i="1" smtClean="0">
                <a:ea typeface="宋体" panose="02010600030101010101" pitchFamily="2" charset="-122"/>
              </a:rPr>
              <a:t>c.f.</a:t>
            </a:r>
            <a:r>
              <a:rPr lang="en-AU" altLang="zh-CN" sz="2400" smtClean="0">
                <a:ea typeface="宋体" panose="02010600030101010101" pitchFamily="2" charset="-122"/>
              </a:rPr>
              <a:t>Little Endian：最低有效字节至少地址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大端与小端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21507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8444E773-34DF-47E4-BB87-B44A0DD74725}" type="slidenum">
              <a:rPr lang="en-AU" altLang="zh-CN" sz="1400"/>
            </a:fld>
            <a:endParaRPr lang="en-AU" altLang="zh-CN" sz="1400"/>
          </a:p>
        </p:txBody>
      </p:sp>
      <p:sp>
        <p:nvSpPr>
          <p:cNvPr id="21508" name="Rectangle 4"/>
          <p:cNvSpPr>
            <a:spLocks noGrp="1" noChangeArrowheads="1"/>
          </p:cNvSpPr>
          <p:nvPr/>
        </p:nvSpPr>
        <p:spPr bwMode="auto">
          <a:xfrm>
            <a:off x="571500" y="1214438"/>
            <a:ext cx="7848600" cy="168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 marL="287655" indent="-287655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6175" indent="-17653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0000"/>
              </a:lnSpc>
              <a:spcBef>
                <a:spcPct val="6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>
                <a:solidFill>
                  <a:srgbClr val="002B7D"/>
                </a:solidFill>
              </a:rPr>
              <a:t>Big Endian：最左边的字节是单词地址</a:t>
            </a:r>
            <a:endParaRPr lang="en-US" altLang="zh-CN" sz="2400"/>
          </a:p>
          <a:p>
            <a:pPr lvl="2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100000"/>
              <a:buFontTx/>
              <a:buNone/>
            </a:pPr>
            <a:r>
              <a:rPr lang="en-US" altLang="zh-CN" sz="1800"/>
              <a:t>IBM 360/370、Motorola 68k、MIPS、Sparc和HP PA</a:t>
            </a:r>
            <a:endParaRPr lang="en-US" altLang="zh-CN" sz="2000"/>
          </a:p>
          <a:p>
            <a:pPr>
              <a:lnSpc>
                <a:spcPct val="90000"/>
              </a:lnSpc>
              <a:spcBef>
                <a:spcPct val="6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>
                <a:solidFill>
                  <a:srgbClr val="009900"/>
                </a:solidFill>
              </a:rPr>
              <a:t>Little Endian：最右边的字节是字地址</a:t>
            </a:r>
            <a:endParaRPr lang="en-US" altLang="zh-CN" sz="2400"/>
          </a:p>
          <a:p>
            <a:pPr lvl="2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100000"/>
              <a:buFontTx/>
              <a:buNone/>
            </a:pPr>
            <a:r>
              <a:rPr lang="en-US" altLang="zh-CN" sz="1800"/>
              <a:t>Intel 80x86、DEC Vax、DEC Alpha（Windows NT）</a:t>
            </a:r>
            <a:endParaRPr lang="en-US" altLang="zh-CN" sz="1800"/>
          </a:p>
        </p:txBody>
      </p:sp>
      <p:pic>
        <p:nvPicPr>
          <p:cNvPr id="21509" name="Picture 20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25" y="3214688"/>
            <a:ext cx="2997200" cy="2643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510" name="Picture 2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25" y="3286125"/>
            <a:ext cx="2786063" cy="248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4204A159-6E2D-47CC-AADF-D449BDFF6DA9}" type="slidenum">
              <a:rPr lang="en-AU" altLang="zh-CN" sz="1400"/>
            </a:fld>
            <a:endParaRPr lang="en-AU" altLang="zh-CN" sz="1400"/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内存操作数示例1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7412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g = h + A[8];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g∈s₁，h∈s₂，A的基址位于s₃中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编译的MIPS代码：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索引8需要偏移32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每字4字节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lw t0,32（s3）#载入字add s1，s2，t0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AU" altLang="zh-CN" sz="2800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7413" name="AutoShape 6"/>
          <p:cNvSpPr/>
          <p:nvPr/>
        </p:nvSpPr>
        <p:spPr bwMode="auto">
          <a:xfrm>
            <a:off x="1619250" y="5445125"/>
            <a:ext cx="914400" cy="403225"/>
          </a:xfrm>
          <a:prstGeom prst="borderCallout1">
            <a:avLst>
              <a:gd name="adj1" fmla="val 28347"/>
              <a:gd name="adj2" fmla="val 108333"/>
              <a:gd name="adj3" fmla="val -190944"/>
              <a:gd name="adj4" fmla="val 16006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偏移量</a:t>
            </a:r>
            <a:endParaRPr lang="en-AU" altLang="zh-CN" sz="1800"/>
          </a:p>
        </p:txBody>
      </p:sp>
      <p:sp>
        <p:nvSpPr>
          <p:cNvPr id="17414" name="AutoShape 7"/>
          <p:cNvSpPr/>
          <p:nvPr/>
        </p:nvSpPr>
        <p:spPr bwMode="auto">
          <a:xfrm>
            <a:off x="4140200" y="5445125"/>
            <a:ext cx="1655763" cy="403225"/>
          </a:xfrm>
          <a:prstGeom prst="borderCallout1">
            <a:avLst>
              <a:gd name="adj1" fmla="val 28347"/>
              <a:gd name="adj2" fmla="val -4602"/>
              <a:gd name="adj3" fmla="val -180708"/>
              <a:gd name="adj4" fmla="val -853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基址寄存器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  <p:bldP spid="174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509BCE3B-7555-482A-84D8-C6C5C36A9AA5}" type="slidenum">
              <a:rPr lang="en-AU" altLang="zh-CN" sz="1400"/>
            </a:fld>
            <a:endParaRPr lang="en-AU" altLang="zh-CN" sz="1400"/>
          </a:p>
        </p:txBody>
      </p:sp>
      <p:sp>
        <p:nvSpPr>
          <p:cNvPr id="2560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内存操作数示例2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8436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A[12] = h + A[8];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h在$s2中，A的基址在$s3中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编译的MIPS代码：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索引8需要偏移32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lw t0,32（s3）#装入字节add$t0，$s2，$t0sw$t0,48（s3）#存储字节</a:t>
            </a: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rgbClr val="0070C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AU" altLang="zh-CN" sz="2800" smtClean="0">
              <a:solidFill>
                <a:srgbClr val="0070C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613E447D-50B8-4EBC-934C-C54B273766CB}" type="slidenum">
              <a:rPr lang="en-AU" altLang="zh-CN" sz="1400"/>
            </a:fld>
            <a:endParaRPr lang="en-AU" altLang="zh-CN" sz="1400"/>
          </a:p>
        </p:txBody>
      </p:sp>
      <p:sp>
        <p:nvSpPr>
          <p:cNvPr id="2765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寄存器与内存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460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寄存器比内存访问更快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对内存数据进行操作需要加载和存储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zh-CN" sz="2600" smtClean="0">
                <a:ea typeface="宋体" panose="02010600030101010101" pitchFamily="2" charset="-122"/>
              </a:rPr>
              <a:t>待执行的更多指令</a:t>
            </a:r>
            <a:endParaRPr lang="en-US" altLang="zh-CN" sz="26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endParaRPr lang="en-US" altLang="zh-CN" sz="26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编译器尽可能使用寄存器来存储变量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仅将不常使用的变量的值“溢出”到内存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ea typeface="宋体" panose="02010600030101010101" pitchFamily="2" charset="-122"/>
              </a:rPr>
              <a:t>注册优化很重要！</a:t>
            </a:r>
            <a:endParaRPr lang="en-AU" altLang="zh-CN" smtClean="0">
              <a:solidFill>
                <a:schemeClr val="tx2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4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4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4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4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DF1B80B-16C3-4AC5-BE0F-F2132562D100}" type="slidenum">
              <a:rPr lang="en-AU" altLang="zh-CN" sz="1400"/>
            </a:fld>
            <a:endParaRPr lang="en-AU" altLang="zh-CN" sz="1400"/>
          </a:p>
        </p:txBody>
      </p:sp>
      <p:sp>
        <p:nvSpPr>
          <p:cNvPr id="296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立即操作数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048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指令中指定的常量数据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addi $s3, $s3, 4</a:t>
            </a:r>
            <a:endParaRPr lang="en-US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不减去即时指令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只需使用负常数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addi $s2, $s1, -1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i="1" smtClean="0">
                <a:solidFill>
                  <a:srgbClr val="FF0000"/>
                </a:solidFill>
                <a:ea typeface="宋体" panose="02010600030101010101" pitchFamily="2" charset="-122"/>
              </a:rPr>
              <a:t>设计原则3：使常见情况快速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小常数很常见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直接操作数避免加载指令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68313" y="333375"/>
            <a:ext cx="8540750" cy="658813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数字类型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1747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603250" y="1052513"/>
            <a:ext cx="8289925" cy="5400675"/>
          </a:xfrm>
        </p:spPr>
        <p:txBody>
          <a:bodyPr/>
          <a:lstStyle/>
          <a:p>
            <a:r>
              <a:rPr lang="en-US" altLang="zh-CN" sz="2800" smtClean="0">
                <a:ea typeface="宋体" panose="02010600030101010101" pitchFamily="2" charset="-122"/>
              </a:rPr>
              <a:t>整数，无符号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地址计算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只能为正数的数字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r>
              <a:rPr lang="en-US" altLang="zh-CN" sz="2800" smtClean="0">
                <a:ea typeface="宋体" panose="02010600030101010101" pitchFamily="2" charset="-122"/>
              </a:rPr>
              <a:t>已签名数字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积极的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否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r>
              <a:rPr lang="en-US" altLang="zh-CN" sz="2800" smtClean="0">
                <a:ea typeface="宋体" panose="02010600030101010101" pitchFamily="2" charset="-122"/>
              </a:rPr>
              <a:t>浮点数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数值计算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/>
            <a:r>
              <a:rPr lang="en-US" altLang="zh-CN" sz="2400" smtClean="0">
                <a:ea typeface="宋体" panose="02010600030101010101" pitchFamily="2" charset="-122"/>
              </a:rPr>
              <a:t>不同精度等级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/>
            <a:r>
              <a:rPr lang="en-US" altLang="zh-CN" sz="2000" smtClean="0">
                <a:ea typeface="宋体" panose="02010600030101010101" pitchFamily="2" charset="-122"/>
              </a:rPr>
              <a:t>Singe精度（IEEE 754）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/>
            <a:r>
              <a:rPr lang="en-US" altLang="zh-CN" sz="2000" smtClean="0">
                <a:ea typeface="宋体" panose="02010600030101010101" pitchFamily="2" charset="-122"/>
              </a:rPr>
              <a:t>双精度（IEEE 754）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/>
            <a:r>
              <a:rPr lang="en-US" altLang="zh-CN" sz="2000" smtClean="0">
                <a:ea typeface="宋体" panose="02010600030101010101" pitchFamily="2" charset="-122"/>
              </a:rPr>
              <a:t>四倍精度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603250" y="404813"/>
            <a:ext cx="8540750" cy="658812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数字格式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3795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468313" y="981075"/>
            <a:ext cx="8999537" cy="6048375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符号和大小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二进制补码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1的补数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类似于二进制补码，+ 0 &amp; - 0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带有偏倚的符号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1000 0000 =最小负值（-2^7）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0111 1111 =最大正值（2的7次方减1）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mtClean="0">
                <a:ea typeface="宋体" panose="02010600030101010101" pitchFamily="2" charset="-122"/>
                <a:cs typeface="Arial" panose="020B0604020202020204" pitchFamily="34" charset="0"/>
              </a:rPr>
              <a:t>表示</a:t>
            </a:r>
            <a:endParaRPr lang="en-US" altLang="zh-CN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/>
            <a:r>
              <a:rPr lang="en-US" altLang="zh-CN" sz="2200" smtClean="0">
                <a:ea typeface="宋体" panose="02010600030101010101" pitchFamily="2" charset="-122"/>
                <a:cs typeface="Arial" panose="020B0604020202020204" pitchFamily="34" charset="0"/>
              </a:rPr>
              <a:t>二进制</a:t>
            </a:r>
            <a:endParaRPr lang="en-US" altLang="zh-CN" sz="220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/>
            <a:r>
              <a:rPr lang="en-US" altLang="zh-CN" sz="2200" smtClean="0">
                <a:ea typeface="宋体" panose="02010600030101010101" pitchFamily="2" charset="-122"/>
                <a:cs typeface="Arial" panose="020B0604020202020204" pitchFamily="34" charset="0"/>
              </a:rPr>
              <a:t>十进位的</a:t>
            </a:r>
            <a:endParaRPr lang="en-US" altLang="zh-CN" sz="220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/>
            <a:r>
              <a:rPr lang="en-US" altLang="zh-CN" sz="2200" smtClean="0">
                <a:ea typeface="宋体" panose="02010600030101010101" pitchFamily="2" charset="-122"/>
                <a:cs typeface="Arial" panose="020B0604020202020204" pitchFamily="34" charset="0"/>
              </a:rPr>
              <a:t>十六进制</a:t>
            </a:r>
            <a:endParaRPr lang="en-US" altLang="zh-CN" sz="2200" smtClean="0"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E10F0F81-3512-4034-B6CD-D7BCA371777A}" type="slidenum">
              <a:rPr lang="en-AU" altLang="zh-CN" sz="1400"/>
            </a:fld>
            <a:endParaRPr lang="en-AU" altLang="zh-CN" sz="1400"/>
          </a:p>
        </p:txBody>
      </p:sp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恒定零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MIPS寄存器0（$zero）是常量0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无法被覆盖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适用于常见操作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例如，在寄存器间移动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加t2、s1和零</a:t>
            </a:r>
            <a:endParaRPr lang="en-AU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13A82B9B-2941-40BD-823F-4135AA4036C3}" type="slidenum">
              <a:rPr lang="en-AU" altLang="zh-CN" sz="1400"/>
            </a:fld>
            <a:endParaRPr lang="en-AU" altLang="zh-CN" sz="1400"/>
          </a:p>
        </p:txBody>
      </p:sp>
      <p:sp>
        <p:nvSpPr>
          <p:cNvPr id="37891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无符号整数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3789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4770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给定一个n位数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37893" name="Object 4"/>
          <p:cNvGraphicFramePr>
            <a:graphicFrameLocks noChangeAspect="1"/>
          </p:cNvGraphicFramePr>
          <p:nvPr/>
        </p:nvGraphicFramePr>
        <p:xfrm>
          <a:off x="1447800" y="1844675"/>
          <a:ext cx="6010275" cy="579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7945" name="Equation" r:id="rId1" imgW="2501900" imgH="241300" progId="Equation.3">
                  <p:embed/>
                </p:oleObj>
              </mc:Choice>
              <mc:Fallback>
                <p:oleObj name="Equation" r:id="rId1" imgW="2501900" imgH="241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1844675"/>
                        <a:ext cx="6010275" cy="579438"/>
                      </a:xfrm>
                      <a:prstGeom prst="rect">
                        <a:avLst/>
                      </a:prstGeom>
                      <a:solidFill>
                        <a:schemeClr val="folHlink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0" name="Rectangle 5"/>
          <p:cNvSpPr>
            <a:spLocks noChangeArrowheads="1"/>
          </p:cNvSpPr>
          <p:nvPr/>
        </p:nvSpPr>
        <p:spPr bwMode="auto">
          <a:xfrm>
            <a:off x="684213" y="2565400"/>
            <a:ext cx="8270875" cy="3527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范围：0至+2n-1</a:t>
            </a:r>
            <a:endParaRPr lang="en-US" altLang="zh-CN"/>
          </a:p>
          <a:p>
            <a:pPr eaLnBrk="1" hangingPunct="1"/>
            <a:r>
              <a:rPr lang="en-US" altLang="zh-CN"/>
              <a:t>样例</a:t>
            </a:r>
            <a:endParaRPr lang="en-US" altLang="zh-CN"/>
          </a:p>
          <a:p>
            <a:pPr lvl="1" eaLnBrk="1" hangingPunct="1"/>
            <a:r>
              <a:rPr lang="en-US" altLang="zh-CN" sz="2400"/>
              <a:t>0000 0000 0000 0000 0000 0000 0000 1011 2= 0 + … + 1×2 3 + 0×2 2 +1×2 1 +1×2 0= 0 + … + 8 + 0 + 2 + 1 = 11 10</a:t>
            </a:r>
            <a:br>
              <a:rPr lang="en-US" altLang="zh-CN" sz="2400"/>
            </a:br>
            <a:br>
              <a:rPr lang="en-US" altLang="zh-CN" sz="2400"/>
            </a:br>
            <a:endParaRPr lang="en-US" altLang="zh-CN" sz="2400"/>
          </a:p>
          <a:p>
            <a:pPr eaLnBrk="1" hangingPunct="1"/>
            <a:r>
              <a:rPr lang="en-US" altLang="zh-CN"/>
              <a:t>使用32位</a:t>
            </a:r>
            <a:endParaRPr lang="en-US" altLang="zh-CN"/>
          </a:p>
          <a:p>
            <a:pPr lvl="1" eaLnBrk="1" hangingPunct="1"/>
            <a:r>
              <a:rPr lang="en-US" altLang="zh-CN"/>
              <a:t>0至+4,294,967,295</a:t>
            </a:r>
            <a:endParaRPr lang="en-US" altLang="zh-CN"/>
          </a:p>
        </p:txBody>
      </p:sp>
      <p:sp>
        <p:nvSpPr>
          <p:cNvPr id="37895" name="Text Box 7"/>
          <p:cNvSpPr txBox="1">
            <a:spLocks noChangeArrowheads="1"/>
          </p:cNvSpPr>
          <p:nvPr/>
        </p:nvSpPr>
        <p:spPr bwMode="auto">
          <a:xfrm rot="5400000">
            <a:off x="7027069" y="1750219"/>
            <a:ext cx="3867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第2.4节已签名和未签名的数字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684213" y="146050"/>
            <a:ext cx="8459787" cy="762000"/>
          </a:xfrm>
        </p:spPr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带符号数表示法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9939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第一个想法：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>
              <a:buFont typeface="Wingdings" panose="05000000000000000000" pitchFamily="2" charset="2"/>
              <a:buNone/>
            </a:pPr>
            <a:r>
              <a:rPr lang="en-US" altLang="zh-CN" smtClean="0">
                <a:ea typeface="宋体" panose="02010600030101010101" pitchFamily="2" charset="-122"/>
              </a:rPr>
              <a:t>正数和负数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取一个位（例如31)作为符号位</a:t>
            </a:r>
            <a:endParaRPr lang="en-US" altLang="zh-CN" b="1" smtClean="0">
              <a:solidFill>
                <a:srgbClr val="FF3300"/>
              </a:solidFill>
              <a:ea typeface="宋体" panose="02010600030101010101" pitchFamily="2" charset="-122"/>
            </a:endParaRPr>
          </a:p>
          <a:p>
            <a:pPr lvl="2"/>
            <a:r>
              <a:rPr lang="en-US" altLang="zh-CN" smtClean="0">
                <a:ea typeface="宋体" panose="02010600030101010101" pitchFamily="2" charset="-122"/>
              </a:rPr>
              <a:t>问题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b="1" smtClean="0">
                <a:solidFill>
                  <a:srgbClr val="FF3300"/>
                </a:solidFill>
                <a:ea typeface="宋体" panose="02010600030101010101" pitchFamily="2" charset="-122"/>
              </a:rPr>
              <a:t>0 0000000 = 0正零！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b="1" smtClean="0">
                <a:solidFill>
                  <a:srgbClr val="FF3300"/>
                </a:solidFill>
                <a:ea typeface="宋体" panose="02010600030101010101" pitchFamily="2" charset="-122"/>
              </a:rPr>
              <a:t>1 0000000 = 0负零！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每次比较到0都需要两个步骤</a:t>
            </a:r>
            <a:endParaRPr lang="en-US" altLang="zh-CN" smtClean="0">
              <a:ea typeface="宋体" panose="02010600030101010101" pitchFamily="2" charset="-122"/>
            </a:endParaRPr>
          </a:p>
          <a:p>
            <a:r>
              <a:rPr lang="en-US" altLang="zh-CN" smtClean="0">
                <a:ea typeface="宋体" panose="02010600030101010101" pitchFamily="2" charset="-122"/>
              </a:rPr>
              <a:t>1的补数</a:t>
            </a:r>
            <a:endParaRPr lang="en-US" altLang="zh-CN" smtClean="0">
              <a:ea typeface="宋体" panose="02010600030101010101" pitchFamily="2" charset="-122"/>
            </a:endParaRPr>
          </a:p>
          <a:p>
            <a:r>
              <a:rPr lang="en-US" altLang="zh-CN" smtClean="0">
                <a:ea typeface="宋体" panose="02010600030101010101" pitchFamily="2" charset="-122"/>
              </a:rPr>
              <a:t>二进制补码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7B35EB08-7965-4AFA-9EDC-F8E1EAD9EC4C}" type="slidenum">
              <a:rPr lang="en-AU" altLang="zh-CN" sz="1400"/>
            </a:fld>
            <a:endParaRPr lang="en-AU" altLang="zh-CN" sz="1400"/>
          </a:p>
        </p:txBody>
      </p:sp>
      <p:sp>
        <p:nvSpPr>
          <p:cNvPr id="40963" name="Rectangle 6"/>
          <p:cNvSpPr>
            <a:spLocks noGrp="1" noChangeArrowheads="1"/>
          </p:cNvSpPr>
          <p:nvPr>
            <p:ph type="title"/>
          </p:nvPr>
        </p:nvSpPr>
        <p:spPr>
          <a:xfrm>
            <a:off x="684213" y="206375"/>
            <a:ext cx="8259762" cy="701675"/>
          </a:xfrm>
        </p:spPr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2s-补码整数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sp>
        <p:nvSpPr>
          <p:cNvPr id="40964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4770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给定一个n位数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40965" name="Object 4"/>
          <p:cNvGraphicFramePr>
            <a:graphicFrameLocks noChangeAspect="1"/>
          </p:cNvGraphicFramePr>
          <p:nvPr/>
        </p:nvGraphicFramePr>
        <p:xfrm>
          <a:off x="1433513" y="1844675"/>
          <a:ext cx="6223000" cy="579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16" name="Equation" r:id="rId1" imgW="2590800" imgH="241300" progId="Equation.3">
                  <p:embed/>
                </p:oleObj>
              </mc:Choice>
              <mc:Fallback>
                <p:oleObj name="Equation" r:id="rId1" imgW="2590800" imgH="241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33513" y="1844675"/>
                        <a:ext cx="6223000" cy="579438"/>
                      </a:xfrm>
                      <a:prstGeom prst="rect">
                        <a:avLst/>
                      </a:prstGeom>
                      <a:solidFill>
                        <a:schemeClr val="folHlink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4" name="Rectangle 5"/>
          <p:cNvSpPr>
            <a:spLocks noChangeArrowheads="1"/>
          </p:cNvSpPr>
          <p:nvPr/>
        </p:nvSpPr>
        <p:spPr bwMode="auto">
          <a:xfrm>
            <a:off x="684213" y="2565400"/>
            <a:ext cx="8270875" cy="345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范围：-2n-1至+2n-1-1</a:t>
            </a:r>
            <a:endParaRPr lang="en-US" altLang="zh-CN"/>
          </a:p>
          <a:p>
            <a:pPr eaLnBrk="1" hangingPunct="1"/>
            <a:r>
              <a:rPr lang="en-US" altLang="zh-CN"/>
              <a:t>样例</a:t>
            </a:r>
            <a:endParaRPr lang="en-US" altLang="zh-CN"/>
          </a:p>
          <a:p>
            <a:pPr lvl="1" eaLnBrk="1" hangingPunct="1"/>
            <a:r>
              <a:rPr lang="en-US" altLang="zh-CN" sz="2400"/>
              <a:t>1111 1111 1111 1111 1111 1111 1111 1100 2= –1×2 31 + 1×2 30 + … + 1×2 2 +0×2 1 +0×2 0= –2,147,483,648 + 2,147,483,644 = –4 10</a:t>
            </a:r>
            <a:br>
              <a:rPr lang="en-US" altLang="zh-CN" sz="2400"/>
            </a:br>
            <a:br>
              <a:rPr lang="en-US" altLang="zh-CN" sz="2400"/>
            </a:br>
            <a:endParaRPr lang="en-US" altLang="zh-CN" sz="2400"/>
          </a:p>
          <a:p>
            <a:pPr eaLnBrk="1" hangingPunct="1"/>
            <a:r>
              <a:rPr lang="en-US" altLang="zh-CN"/>
              <a:t>使用32位</a:t>
            </a:r>
            <a:endParaRPr lang="en-US" altLang="zh-CN"/>
          </a:p>
          <a:p>
            <a:pPr lvl="1" eaLnBrk="1" hangingPunct="1"/>
            <a:r>
              <a:rPr lang="en-US" altLang="zh-CN"/>
              <a:t>–2,147,483,648至+2,147,483,647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第2章——指令：计算机的语言——</a:t>
            </a:r>
            <a:fld id="{ADBEE285-EA95-406C-B2B6-4C75D60D5A0A}" type="slidenum">
              <a:rPr lang="en-AU" altLang="zh-CN" sz="1400"/>
            </a:fld>
            <a:endParaRPr lang="en-AU" altLang="zh-CN" sz="1400"/>
          </a:p>
        </p:txBody>
      </p:sp>
      <p:sp>
        <p:nvSpPr>
          <p:cNvPr id="43011" name="Rectangle 4"/>
          <p:cNvSpPr>
            <a:spLocks noGrp="1" noChangeArrowheads="1"/>
          </p:cNvSpPr>
          <p:nvPr>
            <p:ph type="title"/>
          </p:nvPr>
        </p:nvSpPr>
        <p:spPr>
          <a:xfrm>
            <a:off x="684213" y="206375"/>
            <a:ext cx="8259762" cy="701675"/>
          </a:xfrm>
        </p:spPr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2s-补码整数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sp>
        <p:nvSpPr>
          <p:cNvPr id="22532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第31位是符号位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1用于负数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对于非负数，值为0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AU" altLang="zh-CN" sz="2800" smtClean="0">
                <a:ea typeface="宋体" panose="02010600030101010101" pitchFamily="2" charset="-122"/>
              </a:rPr>
              <a:t>–（-2n-1）无法表示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非负数具有相同的无符号和二进制补码表示法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一些具体数字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0:	0000 0000 … 0000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AU" altLang="zh-CN" sz="2400" smtClean="0">
                <a:ea typeface="宋体" panose="02010600030101010101" pitchFamily="2" charset="-122"/>
              </a:rPr>
              <a:t>–1:	1111 1111 … 1111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最负数：1000 0000...0000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最正：0111 1111...1111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800" smtClean="0">
                <a:ea typeface="宋体" panose="02010600030101010101" pitchFamily="2" charset="-122"/>
              </a:rPr>
              <a:t>默认情况下，MIPS中的所有数据都是带符号整数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tabLst>
                <a:tab pos="1341120" algn="l"/>
                <a:tab pos="2874645" algn="l"/>
              </a:tabLst>
            </a:pPr>
            <a:r>
              <a:rPr lang="en-US" altLang="zh-CN" sz="2400" smtClean="0">
                <a:ea typeface="宋体" panose="02010600030101010101" pitchFamily="2" charset="-122"/>
              </a:rPr>
              <a:t>添加与添加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115F75D-0892-42C3-9959-AA5E88574C22}" type="slidenum">
              <a:rPr lang="en-AU" altLang="zh-CN" sz="1400"/>
            </a:fld>
            <a:endParaRPr lang="en-AU" altLang="zh-CN" sz="1400"/>
          </a:p>
        </p:txBody>
      </p:sp>
      <p:sp>
        <p:nvSpPr>
          <p:cNvPr id="45059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签名否定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5060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29540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补充并添加1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补码表示1→0和0→1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45061" name="Object 4"/>
          <p:cNvGraphicFramePr>
            <a:graphicFrameLocks noChangeAspect="1"/>
          </p:cNvGraphicFramePr>
          <p:nvPr/>
        </p:nvGraphicFramePr>
        <p:xfrm>
          <a:off x="1592263" y="2536825"/>
          <a:ext cx="3514725" cy="114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112" name="Equation" r:id="rId1" imgW="1562100" imgH="508000" progId="Equation.3">
                  <p:embed/>
                </p:oleObj>
              </mc:Choice>
              <mc:Fallback>
                <p:oleObj name="Equation" r:id="rId1" imgW="1562100" imgH="508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92263" y="2536825"/>
                        <a:ext cx="3514725" cy="1143000"/>
                      </a:xfrm>
                      <a:prstGeom prst="rect">
                        <a:avLst/>
                      </a:prstGeom>
                      <a:solidFill>
                        <a:schemeClr val="folHlink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8" name="Rectangle 5"/>
          <p:cNvSpPr>
            <a:spLocks noChangeArrowheads="1"/>
          </p:cNvSpPr>
          <p:nvPr/>
        </p:nvSpPr>
        <p:spPr bwMode="auto">
          <a:xfrm>
            <a:off x="684213" y="3933825"/>
            <a:ext cx="8270875" cy="2087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示例：否定+2</a:t>
            </a:r>
            <a:endParaRPr lang="en-US" altLang="zh-CN"/>
          </a:p>
          <a:p>
            <a:pPr lvl="1" eaLnBrk="1" hangingPunct="1"/>
            <a:r>
              <a:rPr lang="en-US" altLang="zh-CN"/>
              <a:t>+2 = 0000 0000 … 0010 2</a:t>
            </a:r>
            <a:endParaRPr lang="en-US" altLang="zh-CN"/>
          </a:p>
          <a:p>
            <a:pPr lvl="1" eaLnBrk="1" hangingPunct="1"/>
            <a:r>
              <a:rPr lang="en-US" altLang="zh-CN"/>
              <a:t>–2 = 1111 1111 … 1101 2 + 1     = 1111 1111 … 1110 2</a:t>
            </a:r>
            <a:br>
              <a:rPr lang="en-US" altLang="zh-CN"/>
            </a:br>
            <a:endParaRPr lang="en-US" altLang="zh-CN" baseline="-25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61E07752-0DF2-4C0A-8497-A90953292A43}" type="slidenum">
              <a:rPr lang="en-AU" altLang="zh-CN" sz="1400"/>
            </a:fld>
            <a:endParaRPr lang="en-AU" altLang="zh-CN" sz="1400"/>
          </a:p>
        </p:txBody>
      </p:sp>
      <p:sp>
        <p:nvSpPr>
          <p:cNvPr id="47107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签名扩展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3556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如何使用更多的位来表示一个数字？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例如，将16位数字作为32位数字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必须保留数值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chemeClr val="tx2"/>
                </a:solidFill>
                <a:ea typeface="宋体" panose="02010600030101010101" pitchFamily="2" charset="-122"/>
              </a:rPr>
              <a:t>将符号位复制到左边</a:t>
            </a:r>
            <a:endParaRPr lang="en-US" altLang="zh-CN" sz="280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c.f.未签名值：用0扩展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示例：8位到16位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+2:  0000 0010 =&gt;  0000 0000 0 000 0010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z="2400" smtClean="0">
                <a:ea typeface="宋体" panose="02010600030101010101" pitchFamily="2" charset="-122"/>
              </a:rPr>
              <a:t>–2:  1111 1110 =&gt;  1111 1111 1 111 1110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在MIPS指令集里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addi：扩展即时值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lb和lh：扩展加载字节/半字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latin typeface="Lucida Console" panose="020B0609040504020204" pitchFamily="49" charset="0"/>
                <a:ea typeface="宋体" panose="02010600030101010101" pitchFamily="2" charset="-122"/>
              </a:rPr>
              <a:t>beq、bne：扩展位移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261A498B-435E-40BB-A8B6-5B0ED73F5D55}" type="slidenum">
              <a:rPr lang="en-AU" altLang="zh-CN" sz="1400"/>
            </a:fld>
            <a:endParaRPr lang="en-AU" altLang="zh-CN" sz="1400"/>
          </a:p>
        </p:txBody>
      </p:sp>
      <p:sp>
        <p:nvSpPr>
          <p:cNvPr id="49155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代表说明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9156" name="Rectangle 6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指令以二进制编码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称为机器代码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MIPS指令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以32位指令字的形式编码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少量格式编码操作码（opcode）、寄存器号等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规律！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注册号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t0至t7为寄存器的8至15号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t8至t9是注册的24至25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$s0至$s7为寄存器的16至23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  <p:sp>
        <p:nvSpPr>
          <p:cNvPr id="49157" name="Text Box 4"/>
          <p:cNvSpPr txBox="1">
            <a:spLocks noChangeArrowheads="1"/>
          </p:cNvSpPr>
          <p:nvPr/>
        </p:nvSpPr>
        <p:spPr bwMode="auto">
          <a:xfrm rot="5400000">
            <a:off x="6474619" y="2302669"/>
            <a:ext cx="49720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第2.5节计算机中的表示指令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MIPS-32指令集架构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51203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A6C4678-3957-4649-B4DD-88AF32EA8C57}" type="slidenum">
              <a:rPr lang="en-AU" altLang="zh-CN" sz="1400"/>
            </a:fld>
            <a:endParaRPr lang="en-AU" altLang="zh-CN" sz="1400"/>
          </a:p>
        </p:txBody>
      </p:sp>
      <p:sp>
        <p:nvSpPr>
          <p:cNvPr id="51204" name="Rectangle 4"/>
          <p:cNvSpPr>
            <a:spLocks noGrp="1" noChangeArrowheads="1"/>
          </p:cNvSpPr>
          <p:nvPr/>
        </p:nvSpPr>
        <p:spPr bwMode="auto">
          <a:xfrm>
            <a:off x="571500" y="1143000"/>
            <a:ext cx="5448300" cy="302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914400" indent="-45720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6000"/>
              </a:lnSpc>
              <a:spcBef>
                <a:spcPct val="6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/>
              <a:t>指令类别</a:t>
            </a:r>
            <a:endParaRPr lang="en-US" altLang="zh-CN" sz="24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计算的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加载/存储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跳转和分支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浮点</a:t>
            </a:r>
            <a:endParaRPr lang="en-US" altLang="zh-CN" sz="2000"/>
          </a:p>
          <a:p>
            <a:pPr lvl="2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100000"/>
              <a:buFontTx/>
              <a:buNone/>
            </a:pPr>
            <a:r>
              <a:rPr lang="en-US" altLang="zh-CN" sz="1800"/>
              <a:t>--协处理器</a:t>
            </a:r>
            <a:endParaRPr lang="en-US" altLang="zh-CN" sz="18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内存管理</a:t>
            </a:r>
            <a:endParaRPr lang="en-US" altLang="zh-CN" sz="2000"/>
          </a:p>
          <a:p>
            <a:pPr lvl="1">
              <a:lnSpc>
                <a:spcPct val="85000"/>
              </a:lnSpc>
              <a:spcBef>
                <a:spcPct val="40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特殊的</a:t>
            </a:r>
            <a:endParaRPr lang="en-US" altLang="zh-CN" sz="2000"/>
          </a:p>
        </p:txBody>
      </p:sp>
      <p:sp>
        <p:nvSpPr>
          <p:cNvPr id="51205" name="Rectangle 4"/>
          <p:cNvSpPr>
            <a:spLocks noChangeArrowheads="1"/>
          </p:cNvSpPr>
          <p:nvPr/>
        </p:nvSpPr>
        <p:spPr bwMode="auto">
          <a:xfrm>
            <a:off x="5518150" y="1301750"/>
            <a:ext cx="1993900" cy="1638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06" name="Rectangle 5"/>
          <p:cNvSpPr>
            <a:spLocks noChangeArrowheads="1"/>
          </p:cNvSpPr>
          <p:nvPr/>
        </p:nvSpPr>
        <p:spPr bwMode="auto">
          <a:xfrm>
            <a:off x="5892800" y="1670050"/>
            <a:ext cx="1041400" cy="284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R0 - R31</a:t>
            </a:r>
            <a:endParaRPr lang="en-US" altLang="zh-CN" sz="1800" b="1"/>
          </a:p>
        </p:txBody>
      </p:sp>
      <p:sp>
        <p:nvSpPr>
          <p:cNvPr id="51207" name="Rectangle 6"/>
          <p:cNvSpPr>
            <a:spLocks noChangeArrowheads="1"/>
          </p:cNvSpPr>
          <p:nvPr/>
        </p:nvSpPr>
        <p:spPr bwMode="auto">
          <a:xfrm>
            <a:off x="5518150" y="3028950"/>
            <a:ext cx="1993900" cy="241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08" name="Rectangle 7"/>
          <p:cNvSpPr>
            <a:spLocks noChangeArrowheads="1"/>
          </p:cNvSpPr>
          <p:nvPr/>
        </p:nvSpPr>
        <p:spPr bwMode="auto">
          <a:xfrm>
            <a:off x="5518150" y="3333750"/>
            <a:ext cx="1993900" cy="241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09" name="Rectangle 8"/>
          <p:cNvSpPr>
            <a:spLocks noChangeArrowheads="1"/>
          </p:cNvSpPr>
          <p:nvPr/>
        </p:nvSpPr>
        <p:spPr bwMode="auto">
          <a:xfrm>
            <a:off x="5518150" y="3663950"/>
            <a:ext cx="1993900" cy="241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1210" name="Rectangle 9"/>
          <p:cNvSpPr>
            <a:spLocks noChangeArrowheads="1"/>
          </p:cNvSpPr>
          <p:nvPr/>
        </p:nvSpPr>
        <p:spPr bwMode="auto">
          <a:xfrm>
            <a:off x="6229350" y="3016250"/>
            <a:ext cx="457200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个人电脑</a:t>
            </a:r>
            <a:endParaRPr lang="en-US" altLang="zh-CN" sz="1800" b="1"/>
          </a:p>
        </p:txBody>
      </p:sp>
      <p:sp>
        <p:nvSpPr>
          <p:cNvPr id="51211" name="Rectangle 10"/>
          <p:cNvSpPr>
            <a:spLocks noChangeArrowheads="1"/>
          </p:cNvSpPr>
          <p:nvPr/>
        </p:nvSpPr>
        <p:spPr bwMode="auto">
          <a:xfrm>
            <a:off x="6229350" y="3321050"/>
            <a:ext cx="368300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嘿</a:t>
            </a:r>
            <a:endParaRPr lang="en-US" altLang="zh-CN" sz="1800" b="1"/>
          </a:p>
        </p:txBody>
      </p:sp>
      <p:sp>
        <p:nvSpPr>
          <p:cNvPr id="51212" name="Rectangle 11"/>
          <p:cNvSpPr>
            <a:spLocks noChangeArrowheads="1"/>
          </p:cNvSpPr>
          <p:nvPr/>
        </p:nvSpPr>
        <p:spPr bwMode="auto">
          <a:xfrm>
            <a:off x="6229350" y="3676650"/>
            <a:ext cx="457200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3500" tIns="25400" rIns="63500" bIns="2540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左</a:t>
            </a:r>
            <a:endParaRPr lang="en-US" altLang="zh-CN" sz="1800" b="1"/>
          </a:p>
        </p:txBody>
      </p:sp>
      <p:sp>
        <p:nvSpPr>
          <p:cNvPr id="51213" name="Rectangle 37"/>
          <p:cNvSpPr>
            <a:spLocks noChangeArrowheads="1"/>
          </p:cNvSpPr>
          <p:nvPr/>
        </p:nvSpPr>
        <p:spPr bwMode="auto">
          <a:xfrm>
            <a:off x="5867400" y="914400"/>
            <a:ext cx="1146175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88" tIns="44450" rIns="90488" bIns="44450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注册表</a:t>
            </a:r>
            <a:endParaRPr lang="en-US" altLang="zh-CN" sz="1800"/>
          </a:p>
        </p:txBody>
      </p:sp>
      <p:grpSp>
        <p:nvGrpSpPr>
          <p:cNvPr id="2" name="Group 42"/>
          <p:cNvGrpSpPr/>
          <p:nvPr/>
        </p:nvGrpSpPr>
        <p:grpSpPr bwMode="auto">
          <a:xfrm>
            <a:off x="819150" y="4362450"/>
            <a:ext cx="7553325" cy="1885950"/>
            <a:chOff x="516" y="2748"/>
            <a:chExt cx="4758" cy="1188"/>
          </a:xfrm>
        </p:grpSpPr>
        <p:sp>
          <p:nvSpPr>
            <p:cNvPr id="51215" name="Rectangle 12"/>
            <p:cNvSpPr>
              <a:spLocks noChangeArrowheads="1"/>
            </p:cNvSpPr>
            <p:nvPr/>
          </p:nvSpPr>
          <p:spPr bwMode="auto">
            <a:xfrm>
              <a:off x="672" y="3061"/>
              <a:ext cx="792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16" name="Rectangle 13"/>
            <p:cNvSpPr>
              <a:spLocks noChangeArrowheads="1"/>
            </p:cNvSpPr>
            <p:nvPr/>
          </p:nvSpPr>
          <p:spPr bwMode="auto">
            <a:xfrm>
              <a:off x="864" y="3085"/>
              <a:ext cx="259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op</a:t>
              </a:r>
              <a:endParaRPr lang="en-US" altLang="zh-CN" sz="1800" b="1"/>
            </a:p>
          </p:txBody>
        </p:sp>
        <p:sp>
          <p:nvSpPr>
            <p:cNvPr id="51217" name="Rectangle 14"/>
            <p:cNvSpPr>
              <a:spLocks noChangeArrowheads="1"/>
            </p:cNvSpPr>
            <p:nvPr/>
          </p:nvSpPr>
          <p:spPr bwMode="auto">
            <a:xfrm>
              <a:off x="1472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18" name="Rectangle 15"/>
            <p:cNvSpPr>
              <a:spLocks noChangeArrowheads="1"/>
            </p:cNvSpPr>
            <p:nvPr/>
          </p:nvSpPr>
          <p:spPr bwMode="auto">
            <a:xfrm>
              <a:off x="2080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19" name="Rectangle 16"/>
            <p:cNvSpPr>
              <a:spLocks noChangeArrowheads="1"/>
            </p:cNvSpPr>
            <p:nvPr/>
          </p:nvSpPr>
          <p:spPr bwMode="auto">
            <a:xfrm>
              <a:off x="672" y="3365"/>
              <a:ext cx="792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0" name="Rectangle 17"/>
            <p:cNvSpPr>
              <a:spLocks noChangeArrowheads="1"/>
            </p:cNvSpPr>
            <p:nvPr/>
          </p:nvSpPr>
          <p:spPr bwMode="auto">
            <a:xfrm>
              <a:off x="864" y="3389"/>
              <a:ext cx="259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op</a:t>
              </a:r>
              <a:endParaRPr lang="en-US" altLang="zh-CN" sz="1800" b="1"/>
            </a:p>
          </p:txBody>
        </p:sp>
        <p:sp>
          <p:nvSpPr>
            <p:cNvPr id="51221" name="Rectangle 18"/>
            <p:cNvSpPr>
              <a:spLocks noChangeArrowheads="1"/>
            </p:cNvSpPr>
            <p:nvPr/>
          </p:nvSpPr>
          <p:spPr bwMode="auto">
            <a:xfrm>
              <a:off x="1472" y="3365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2" name="Rectangle 19"/>
            <p:cNvSpPr>
              <a:spLocks noChangeArrowheads="1"/>
            </p:cNvSpPr>
            <p:nvPr/>
          </p:nvSpPr>
          <p:spPr bwMode="auto">
            <a:xfrm>
              <a:off x="2080" y="3365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3" name="Rectangle 20"/>
            <p:cNvSpPr>
              <a:spLocks noChangeArrowheads="1"/>
            </p:cNvSpPr>
            <p:nvPr/>
          </p:nvSpPr>
          <p:spPr bwMode="auto">
            <a:xfrm>
              <a:off x="2688" y="3365"/>
              <a:ext cx="188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4" name="Rectangle 21"/>
            <p:cNvSpPr>
              <a:spLocks noChangeArrowheads="1"/>
            </p:cNvSpPr>
            <p:nvPr/>
          </p:nvSpPr>
          <p:spPr bwMode="auto">
            <a:xfrm>
              <a:off x="672" y="3685"/>
              <a:ext cx="792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5" name="Rectangle 22"/>
            <p:cNvSpPr>
              <a:spLocks noChangeArrowheads="1"/>
            </p:cNvSpPr>
            <p:nvPr/>
          </p:nvSpPr>
          <p:spPr bwMode="auto">
            <a:xfrm>
              <a:off x="864" y="3709"/>
              <a:ext cx="259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op</a:t>
              </a:r>
              <a:endParaRPr lang="en-US" altLang="zh-CN" sz="1800" b="1"/>
            </a:p>
          </p:txBody>
        </p:sp>
        <p:sp>
          <p:nvSpPr>
            <p:cNvPr id="51226" name="Rectangle 23"/>
            <p:cNvSpPr>
              <a:spLocks noChangeArrowheads="1"/>
            </p:cNvSpPr>
            <p:nvPr/>
          </p:nvSpPr>
          <p:spPr bwMode="auto">
            <a:xfrm>
              <a:off x="1472" y="3685"/>
              <a:ext cx="3096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7" name="Rectangle 24"/>
            <p:cNvSpPr>
              <a:spLocks noChangeArrowheads="1"/>
            </p:cNvSpPr>
            <p:nvPr/>
          </p:nvSpPr>
          <p:spPr bwMode="auto">
            <a:xfrm>
              <a:off x="2688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8" name="Rectangle 25"/>
            <p:cNvSpPr>
              <a:spLocks noChangeArrowheads="1"/>
            </p:cNvSpPr>
            <p:nvPr/>
          </p:nvSpPr>
          <p:spPr bwMode="auto">
            <a:xfrm>
              <a:off x="3296" y="3061"/>
              <a:ext cx="600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29" name="Rectangle 26"/>
            <p:cNvSpPr>
              <a:spLocks noChangeArrowheads="1"/>
            </p:cNvSpPr>
            <p:nvPr/>
          </p:nvSpPr>
          <p:spPr bwMode="auto">
            <a:xfrm>
              <a:off x="3904" y="3061"/>
              <a:ext cx="664" cy="21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51230" name="Rectangle 27"/>
            <p:cNvSpPr>
              <a:spLocks noChangeArrowheads="1"/>
            </p:cNvSpPr>
            <p:nvPr/>
          </p:nvSpPr>
          <p:spPr bwMode="auto">
            <a:xfrm>
              <a:off x="1552" y="3085"/>
              <a:ext cx="216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rs</a:t>
              </a:r>
              <a:endParaRPr lang="en-US" altLang="zh-CN" sz="1800" b="1"/>
            </a:p>
          </p:txBody>
        </p:sp>
        <p:sp>
          <p:nvSpPr>
            <p:cNvPr id="51231" name="Rectangle 28"/>
            <p:cNvSpPr>
              <a:spLocks noChangeArrowheads="1"/>
            </p:cNvSpPr>
            <p:nvPr/>
          </p:nvSpPr>
          <p:spPr bwMode="auto">
            <a:xfrm>
              <a:off x="2208" y="3101"/>
              <a:ext cx="18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rt</a:t>
              </a:r>
              <a:endParaRPr lang="en-US" altLang="zh-CN" sz="1800" b="1"/>
            </a:p>
          </p:txBody>
        </p:sp>
        <p:sp>
          <p:nvSpPr>
            <p:cNvPr id="51232" name="Rectangle 29"/>
            <p:cNvSpPr>
              <a:spLocks noChangeArrowheads="1"/>
            </p:cNvSpPr>
            <p:nvPr/>
          </p:nvSpPr>
          <p:spPr bwMode="auto">
            <a:xfrm>
              <a:off x="2832" y="3085"/>
              <a:ext cx="22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rd</a:t>
              </a:r>
              <a:endParaRPr lang="en-US" altLang="zh-CN" sz="1800" b="1"/>
            </a:p>
          </p:txBody>
        </p:sp>
        <p:sp>
          <p:nvSpPr>
            <p:cNvPr id="51233" name="Rectangle 30"/>
            <p:cNvSpPr>
              <a:spLocks noChangeArrowheads="1"/>
            </p:cNvSpPr>
            <p:nvPr/>
          </p:nvSpPr>
          <p:spPr bwMode="auto">
            <a:xfrm>
              <a:off x="3408" y="3085"/>
              <a:ext cx="240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sa</a:t>
              </a:r>
              <a:endParaRPr lang="en-US" altLang="zh-CN" sz="1800" b="1"/>
            </a:p>
          </p:txBody>
        </p:sp>
        <p:sp>
          <p:nvSpPr>
            <p:cNvPr id="51234" name="Rectangle 31"/>
            <p:cNvSpPr>
              <a:spLocks noChangeArrowheads="1"/>
            </p:cNvSpPr>
            <p:nvPr/>
          </p:nvSpPr>
          <p:spPr bwMode="auto">
            <a:xfrm>
              <a:off x="3984" y="3085"/>
              <a:ext cx="432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funct</a:t>
              </a:r>
              <a:endParaRPr lang="en-US" altLang="zh-CN" sz="1800" b="1"/>
            </a:p>
          </p:txBody>
        </p:sp>
        <p:sp>
          <p:nvSpPr>
            <p:cNvPr id="51235" name="Rectangle 32"/>
            <p:cNvSpPr>
              <a:spLocks noChangeArrowheads="1"/>
            </p:cNvSpPr>
            <p:nvPr/>
          </p:nvSpPr>
          <p:spPr bwMode="auto">
            <a:xfrm>
              <a:off x="1568" y="3389"/>
              <a:ext cx="216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rs</a:t>
              </a:r>
              <a:endParaRPr lang="en-US" altLang="zh-CN" sz="1800" b="1"/>
            </a:p>
          </p:txBody>
        </p:sp>
        <p:sp>
          <p:nvSpPr>
            <p:cNvPr id="51236" name="Rectangle 33"/>
            <p:cNvSpPr>
              <a:spLocks noChangeArrowheads="1"/>
            </p:cNvSpPr>
            <p:nvPr/>
          </p:nvSpPr>
          <p:spPr bwMode="auto">
            <a:xfrm>
              <a:off x="2224" y="3405"/>
              <a:ext cx="18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rt</a:t>
              </a:r>
              <a:endParaRPr lang="en-US" altLang="zh-CN" sz="1800" b="1"/>
            </a:p>
          </p:txBody>
        </p:sp>
        <p:sp>
          <p:nvSpPr>
            <p:cNvPr id="51237" name="Rectangle 34"/>
            <p:cNvSpPr>
              <a:spLocks noChangeArrowheads="1"/>
            </p:cNvSpPr>
            <p:nvPr/>
          </p:nvSpPr>
          <p:spPr bwMode="auto">
            <a:xfrm>
              <a:off x="2928" y="3421"/>
              <a:ext cx="792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即刻的</a:t>
              </a:r>
              <a:endParaRPr lang="en-US" altLang="zh-CN" sz="1800" b="1"/>
            </a:p>
          </p:txBody>
        </p:sp>
        <p:sp>
          <p:nvSpPr>
            <p:cNvPr id="51238" name="Rectangle 35"/>
            <p:cNvSpPr>
              <a:spLocks noChangeArrowheads="1"/>
            </p:cNvSpPr>
            <p:nvPr/>
          </p:nvSpPr>
          <p:spPr bwMode="auto">
            <a:xfrm>
              <a:off x="2288" y="3757"/>
              <a:ext cx="864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/>
                <a:t>跳动靶</a:t>
              </a:r>
              <a:endParaRPr lang="en-US" altLang="zh-CN" sz="1800" b="1"/>
            </a:p>
          </p:txBody>
        </p:sp>
        <p:sp>
          <p:nvSpPr>
            <p:cNvPr id="51239" name="Rectangle 36"/>
            <p:cNvSpPr>
              <a:spLocks noChangeArrowheads="1"/>
            </p:cNvSpPr>
            <p:nvPr/>
          </p:nvSpPr>
          <p:spPr bwMode="auto">
            <a:xfrm>
              <a:off x="516" y="2748"/>
              <a:ext cx="2656" cy="1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63500" tIns="25400" rIns="63500" bIns="2540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lnSpc>
                  <a:spcPct val="85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 b="1" dirty="0"/>
                <a:t>指令格式：全部32位宽</a:t>
              </a:r>
              <a:endParaRPr lang="en-US" altLang="zh-CN" sz="1800" b="1" dirty="0">
                <a:solidFill>
                  <a:srgbClr val="FF0000"/>
                </a:solidFill>
              </a:endParaRPr>
            </a:p>
          </p:txBody>
        </p:sp>
        <p:sp>
          <p:nvSpPr>
            <p:cNvPr id="51240" name="Rectangle 39"/>
            <p:cNvSpPr>
              <a:spLocks noChangeArrowheads="1"/>
            </p:cNvSpPr>
            <p:nvPr/>
          </p:nvSpPr>
          <p:spPr bwMode="auto">
            <a:xfrm>
              <a:off x="4608" y="3057"/>
              <a:ext cx="666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/>
                <a:t>R格式</a:t>
              </a:r>
              <a:endParaRPr lang="en-US" altLang="zh-CN" sz="1800"/>
            </a:p>
          </p:txBody>
        </p:sp>
        <p:sp>
          <p:nvSpPr>
            <p:cNvPr id="51241" name="Rectangle 40"/>
            <p:cNvSpPr>
              <a:spLocks noChangeArrowheads="1"/>
            </p:cNvSpPr>
            <p:nvPr/>
          </p:nvSpPr>
          <p:spPr bwMode="auto">
            <a:xfrm>
              <a:off x="4608" y="3345"/>
              <a:ext cx="602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/>
                <a:t>格式</a:t>
              </a:r>
              <a:endParaRPr lang="en-US" altLang="zh-CN" sz="1800"/>
            </a:p>
          </p:txBody>
        </p:sp>
        <p:sp>
          <p:nvSpPr>
            <p:cNvPr id="51242" name="Rectangle 41"/>
            <p:cNvSpPr>
              <a:spLocks noChangeArrowheads="1"/>
            </p:cNvSpPr>
            <p:nvPr/>
          </p:nvSpPr>
          <p:spPr bwMode="auto">
            <a:xfrm>
              <a:off x="4608" y="3681"/>
              <a:ext cx="634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800"/>
                <a:t>J格式</a:t>
              </a:r>
              <a:endParaRPr lang="en-US" altLang="zh-CN" sz="18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B43758B5-D4C6-4DAF-9C71-384DBEBE8049}" type="slidenum">
              <a:rPr lang="en-AU" altLang="zh-CN" sz="1400"/>
            </a:fld>
            <a:endParaRPr lang="en-AU" altLang="zh-CN" sz="1400"/>
          </a:p>
        </p:txBody>
      </p:sp>
      <p:sp>
        <p:nvSpPr>
          <p:cNvPr id="53251" name="Rectangle 1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MIPS R格式指令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3252" name="Rectangle 18"/>
          <p:cNvSpPr>
            <a:spLocks noGrp="1" noChangeArrowheads="1"/>
          </p:cNvSpPr>
          <p:nvPr>
            <p:ph type="body" idx="1"/>
          </p:nvPr>
        </p:nvSpPr>
        <p:spPr>
          <a:xfrm>
            <a:off x="684213" y="2276475"/>
            <a:ext cx="8270875" cy="3960813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指令字段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op：操作码（opcode）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rs：第一个源寄存器号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rt：第二源寄存器号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rd：目标寄存器号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shamt：移位量（目前为00000）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funct：功能代码（扩展了opcode)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53253" name="Group 4"/>
          <p:cNvGrpSpPr/>
          <p:nvPr/>
        </p:nvGrpSpPr>
        <p:grpSpPr bwMode="auto">
          <a:xfrm>
            <a:off x="1331913" y="1412875"/>
            <a:ext cx="6913562" cy="773113"/>
            <a:chOff x="703" y="981"/>
            <a:chExt cx="4355" cy="487"/>
          </a:xfrm>
        </p:grpSpPr>
        <p:sp>
          <p:nvSpPr>
            <p:cNvPr id="53254" name="Text Box 5"/>
            <p:cNvSpPr txBox="1">
              <a:spLocks noChangeArrowheads="1"/>
            </p:cNvSpPr>
            <p:nvPr/>
          </p:nvSpPr>
          <p:spPr bwMode="auto">
            <a:xfrm>
              <a:off x="703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53255" name="Text Box 6"/>
            <p:cNvSpPr txBox="1">
              <a:spLocks noChangeArrowheads="1"/>
            </p:cNvSpPr>
            <p:nvPr/>
          </p:nvSpPr>
          <p:spPr bwMode="auto">
            <a:xfrm>
              <a:off x="152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53256" name="Text Box 7"/>
            <p:cNvSpPr txBox="1">
              <a:spLocks noChangeArrowheads="1"/>
            </p:cNvSpPr>
            <p:nvPr/>
          </p:nvSpPr>
          <p:spPr bwMode="auto">
            <a:xfrm>
              <a:off x="220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53257" name="Text Box 8"/>
            <p:cNvSpPr txBox="1">
              <a:spLocks noChangeArrowheads="1"/>
            </p:cNvSpPr>
            <p:nvPr/>
          </p:nvSpPr>
          <p:spPr bwMode="auto">
            <a:xfrm>
              <a:off x="288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rd</a:t>
              </a:r>
              <a:endParaRPr lang="en-AU" altLang="zh-CN" sz="2000"/>
            </a:p>
          </p:txBody>
        </p:sp>
        <p:sp>
          <p:nvSpPr>
            <p:cNvPr id="53258" name="Text Box 9"/>
            <p:cNvSpPr txBox="1">
              <a:spLocks noChangeArrowheads="1"/>
            </p:cNvSpPr>
            <p:nvPr/>
          </p:nvSpPr>
          <p:spPr bwMode="auto">
            <a:xfrm>
              <a:off x="356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shamt</a:t>
              </a:r>
              <a:endParaRPr lang="en-AU" altLang="zh-CN" sz="2000"/>
            </a:p>
          </p:txBody>
        </p:sp>
        <p:sp>
          <p:nvSpPr>
            <p:cNvPr id="53259" name="Text Box 10"/>
            <p:cNvSpPr txBox="1">
              <a:spLocks noChangeArrowheads="1"/>
            </p:cNvSpPr>
            <p:nvPr/>
          </p:nvSpPr>
          <p:spPr bwMode="auto">
            <a:xfrm>
              <a:off x="4241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funct</a:t>
              </a:r>
              <a:endParaRPr lang="en-AU" altLang="zh-CN" sz="2000"/>
            </a:p>
          </p:txBody>
        </p:sp>
        <p:sp>
          <p:nvSpPr>
            <p:cNvPr id="53260" name="Text Box 11"/>
            <p:cNvSpPr txBox="1">
              <a:spLocks noChangeArrowheads="1"/>
            </p:cNvSpPr>
            <p:nvPr/>
          </p:nvSpPr>
          <p:spPr bwMode="auto">
            <a:xfrm>
              <a:off x="886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53261" name="Text Box 12"/>
            <p:cNvSpPr txBox="1">
              <a:spLocks noChangeArrowheads="1"/>
            </p:cNvSpPr>
            <p:nvPr/>
          </p:nvSpPr>
          <p:spPr bwMode="auto">
            <a:xfrm>
              <a:off x="4424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53262" name="Text Box 13"/>
            <p:cNvSpPr txBox="1">
              <a:spLocks noChangeArrowheads="1"/>
            </p:cNvSpPr>
            <p:nvPr/>
          </p:nvSpPr>
          <p:spPr bwMode="auto">
            <a:xfrm>
              <a:off x="165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3263" name="Text Box 14"/>
            <p:cNvSpPr txBox="1">
              <a:spLocks noChangeArrowheads="1"/>
            </p:cNvSpPr>
            <p:nvPr/>
          </p:nvSpPr>
          <p:spPr bwMode="auto">
            <a:xfrm>
              <a:off x="23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3264" name="Text Box 15"/>
            <p:cNvSpPr txBox="1">
              <a:spLocks noChangeArrowheads="1"/>
            </p:cNvSpPr>
            <p:nvPr/>
          </p:nvSpPr>
          <p:spPr bwMode="auto">
            <a:xfrm>
              <a:off x="301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3265" name="Text Box 16"/>
            <p:cNvSpPr txBox="1">
              <a:spLocks noChangeArrowheads="1"/>
            </p:cNvSpPr>
            <p:nvPr/>
          </p:nvSpPr>
          <p:spPr bwMode="auto">
            <a:xfrm>
              <a:off x="369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3890FE0-587B-4D1A-8B97-C298AF2435CE}" type="slidenum">
              <a:rPr lang="en-AU" altLang="zh-CN" sz="1400"/>
            </a:fld>
            <a:endParaRPr lang="en-AU" altLang="zh-CN" sz="1400"/>
          </a:p>
        </p:txBody>
      </p:sp>
      <p:sp>
        <p:nvSpPr>
          <p:cNvPr id="55299" name="Rectangle 3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R格式示例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5300" name="Rectangle 37"/>
          <p:cNvSpPr>
            <a:spLocks noGrp="1" noChangeArrowheads="1"/>
          </p:cNvSpPr>
          <p:nvPr>
            <p:ph type="body" idx="1"/>
          </p:nvPr>
        </p:nvSpPr>
        <p:spPr>
          <a:xfrm>
            <a:off x="684213" y="2492375"/>
            <a:ext cx="8270875" cy="649288"/>
          </a:xfrm>
        </p:spPr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加t0、s1和s2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55301" name="Text Box 17"/>
          <p:cNvSpPr txBox="1">
            <a:spLocks noChangeArrowheads="1"/>
          </p:cNvSpPr>
          <p:nvPr/>
        </p:nvSpPr>
        <p:spPr bwMode="auto">
          <a:xfrm>
            <a:off x="1331913" y="3429000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特殊的</a:t>
            </a:r>
            <a:endParaRPr lang="en-AU" altLang="zh-CN" sz="2000"/>
          </a:p>
        </p:txBody>
      </p:sp>
      <p:sp>
        <p:nvSpPr>
          <p:cNvPr id="55302" name="Text Box 18"/>
          <p:cNvSpPr txBox="1">
            <a:spLocks noChangeArrowheads="1"/>
          </p:cNvSpPr>
          <p:nvPr/>
        </p:nvSpPr>
        <p:spPr bwMode="auto">
          <a:xfrm>
            <a:off x="2628900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$s1</a:t>
            </a:r>
            <a:endParaRPr lang="en-AU" altLang="zh-CN" sz="2000"/>
          </a:p>
        </p:txBody>
      </p:sp>
      <p:sp>
        <p:nvSpPr>
          <p:cNvPr id="55303" name="Text Box 19"/>
          <p:cNvSpPr txBox="1">
            <a:spLocks noChangeArrowheads="1"/>
          </p:cNvSpPr>
          <p:nvPr/>
        </p:nvSpPr>
        <p:spPr bwMode="auto">
          <a:xfrm>
            <a:off x="3708400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$s2</a:t>
            </a:r>
            <a:endParaRPr lang="en-AU" altLang="zh-CN" sz="2000"/>
          </a:p>
        </p:txBody>
      </p:sp>
      <p:sp>
        <p:nvSpPr>
          <p:cNvPr id="55304" name="Text Box 20"/>
          <p:cNvSpPr txBox="1">
            <a:spLocks noChangeArrowheads="1"/>
          </p:cNvSpPr>
          <p:nvPr/>
        </p:nvSpPr>
        <p:spPr bwMode="auto">
          <a:xfrm>
            <a:off x="4787900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  <p:sp>
        <p:nvSpPr>
          <p:cNvPr id="55305" name="Text Box 21"/>
          <p:cNvSpPr txBox="1">
            <a:spLocks noChangeArrowheads="1"/>
          </p:cNvSpPr>
          <p:nvPr/>
        </p:nvSpPr>
        <p:spPr bwMode="auto">
          <a:xfrm>
            <a:off x="5868988" y="3429000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</a:t>
            </a:r>
            <a:endParaRPr lang="en-AU" altLang="zh-CN" sz="2000"/>
          </a:p>
        </p:txBody>
      </p:sp>
      <p:sp>
        <p:nvSpPr>
          <p:cNvPr id="55306" name="Text Box 22"/>
          <p:cNvSpPr txBox="1">
            <a:spLocks noChangeArrowheads="1"/>
          </p:cNvSpPr>
          <p:nvPr/>
        </p:nvSpPr>
        <p:spPr bwMode="auto">
          <a:xfrm>
            <a:off x="6948488" y="3429000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添加</a:t>
            </a:r>
            <a:endParaRPr lang="en-AU" altLang="zh-CN" sz="2000"/>
          </a:p>
        </p:txBody>
      </p:sp>
      <p:sp>
        <p:nvSpPr>
          <p:cNvPr id="55307" name="Text Box 23"/>
          <p:cNvSpPr txBox="1">
            <a:spLocks noChangeArrowheads="1"/>
          </p:cNvSpPr>
          <p:nvPr/>
        </p:nvSpPr>
        <p:spPr bwMode="auto">
          <a:xfrm>
            <a:off x="1331913" y="40782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</a:t>
            </a:r>
            <a:endParaRPr lang="en-AU" altLang="zh-CN" sz="2000"/>
          </a:p>
        </p:txBody>
      </p:sp>
      <p:sp>
        <p:nvSpPr>
          <p:cNvPr id="55308" name="Text Box 24"/>
          <p:cNvSpPr txBox="1">
            <a:spLocks noChangeArrowheads="1"/>
          </p:cNvSpPr>
          <p:nvPr/>
        </p:nvSpPr>
        <p:spPr bwMode="auto">
          <a:xfrm>
            <a:off x="2628900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17</a:t>
            </a:r>
            <a:endParaRPr lang="en-AU" altLang="zh-CN" sz="2000"/>
          </a:p>
        </p:txBody>
      </p:sp>
      <p:sp>
        <p:nvSpPr>
          <p:cNvPr id="55309" name="Text Box 25"/>
          <p:cNvSpPr txBox="1">
            <a:spLocks noChangeArrowheads="1"/>
          </p:cNvSpPr>
          <p:nvPr/>
        </p:nvSpPr>
        <p:spPr bwMode="auto">
          <a:xfrm>
            <a:off x="3708400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18</a:t>
            </a:r>
            <a:endParaRPr lang="en-AU" altLang="zh-CN" sz="2000"/>
          </a:p>
        </p:txBody>
      </p:sp>
      <p:sp>
        <p:nvSpPr>
          <p:cNvPr id="55310" name="Text Box 26"/>
          <p:cNvSpPr txBox="1">
            <a:spLocks noChangeArrowheads="1"/>
          </p:cNvSpPr>
          <p:nvPr/>
        </p:nvSpPr>
        <p:spPr bwMode="auto">
          <a:xfrm>
            <a:off x="4787900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8</a:t>
            </a:r>
            <a:endParaRPr lang="en-AU" altLang="zh-CN" sz="2000"/>
          </a:p>
        </p:txBody>
      </p:sp>
      <p:sp>
        <p:nvSpPr>
          <p:cNvPr id="55311" name="Text Box 27"/>
          <p:cNvSpPr txBox="1">
            <a:spLocks noChangeArrowheads="1"/>
          </p:cNvSpPr>
          <p:nvPr/>
        </p:nvSpPr>
        <p:spPr bwMode="auto">
          <a:xfrm>
            <a:off x="5868988" y="40782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</a:t>
            </a:r>
            <a:endParaRPr lang="en-AU" altLang="zh-CN" sz="2000"/>
          </a:p>
        </p:txBody>
      </p:sp>
      <p:sp>
        <p:nvSpPr>
          <p:cNvPr id="55312" name="Text Box 28"/>
          <p:cNvSpPr txBox="1">
            <a:spLocks noChangeArrowheads="1"/>
          </p:cNvSpPr>
          <p:nvPr/>
        </p:nvSpPr>
        <p:spPr bwMode="auto">
          <a:xfrm>
            <a:off x="6948488" y="40782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32</a:t>
            </a:r>
            <a:endParaRPr lang="en-AU" altLang="zh-CN" sz="2000"/>
          </a:p>
        </p:txBody>
      </p:sp>
      <p:sp>
        <p:nvSpPr>
          <p:cNvPr id="55313" name="Text Box 29"/>
          <p:cNvSpPr txBox="1">
            <a:spLocks noChangeArrowheads="1"/>
          </p:cNvSpPr>
          <p:nvPr/>
        </p:nvSpPr>
        <p:spPr bwMode="auto">
          <a:xfrm>
            <a:off x="1331913" y="47259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000000</a:t>
            </a:r>
            <a:endParaRPr lang="en-AU" altLang="zh-CN" sz="2000"/>
          </a:p>
        </p:txBody>
      </p:sp>
      <p:sp>
        <p:nvSpPr>
          <p:cNvPr id="55314" name="Text Box 30"/>
          <p:cNvSpPr txBox="1">
            <a:spLocks noChangeArrowheads="1"/>
          </p:cNvSpPr>
          <p:nvPr/>
        </p:nvSpPr>
        <p:spPr bwMode="auto">
          <a:xfrm>
            <a:off x="2628900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10001</a:t>
            </a:r>
            <a:endParaRPr lang="en-AU" altLang="zh-CN" sz="2000"/>
          </a:p>
        </p:txBody>
      </p:sp>
      <p:sp>
        <p:nvSpPr>
          <p:cNvPr id="55315" name="Text Box 31"/>
          <p:cNvSpPr txBox="1">
            <a:spLocks noChangeArrowheads="1"/>
          </p:cNvSpPr>
          <p:nvPr/>
        </p:nvSpPr>
        <p:spPr bwMode="auto">
          <a:xfrm>
            <a:off x="3708400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10010</a:t>
            </a:r>
            <a:endParaRPr lang="en-AU" altLang="zh-CN" sz="2000"/>
          </a:p>
        </p:txBody>
      </p:sp>
      <p:sp>
        <p:nvSpPr>
          <p:cNvPr id="55316" name="Text Box 32"/>
          <p:cNvSpPr txBox="1">
            <a:spLocks noChangeArrowheads="1"/>
          </p:cNvSpPr>
          <p:nvPr/>
        </p:nvSpPr>
        <p:spPr bwMode="auto">
          <a:xfrm>
            <a:off x="4787900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01000</a:t>
            </a:r>
            <a:endParaRPr lang="en-AU" altLang="zh-CN" sz="2000"/>
          </a:p>
        </p:txBody>
      </p:sp>
      <p:sp>
        <p:nvSpPr>
          <p:cNvPr id="55317" name="Text Box 33"/>
          <p:cNvSpPr txBox="1">
            <a:spLocks noChangeArrowheads="1"/>
          </p:cNvSpPr>
          <p:nvPr/>
        </p:nvSpPr>
        <p:spPr bwMode="auto">
          <a:xfrm>
            <a:off x="5868988" y="4725988"/>
            <a:ext cx="1079500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00000</a:t>
            </a:r>
            <a:endParaRPr lang="en-AU" altLang="zh-CN" sz="2000"/>
          </a:p>
        </p:txBody>
      </p:sp>
      <p:sp>
        <p:nvSpPr>
          <p:cNvPr id="55318" name="Text Box 34"/>
          <p:cNvSpPr txBox="1">
            <a:spLocks noChangeArrowheads="1"/>
          </p:cNvSpPr>
          <p:nvPr/>
        </p:nvSpPr>
        <p:spPr bwMode="auto">
          <a:xfrm>
            <a:off x="6948488" y="4725988"/>
            <a:ext cx="1296987" cy="4159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100000</a:t>
            </a:r>
            <a:endParaRPr lang="en-AU" altLang="zh-CN" sz="2000"/>
          </a:p>
        </p:txBody>
      </p:sp>
      <p:sp>
        <p:nvSpPr>
          <p:cNvPr id="55319" name="Rectangle 35"/>
          <p:cNvSpPr>
            <a:spLocks noChangeArrowheads="1"/>
          </p:cNvSpPr>
          <p:nvPr/>
        </p:nvSpPr>
        <p:spPr bwMode="auto">
          <a:xfrm>
            <a:off x="684213" y="5516563"/>
            <a:ext cx="8140700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400"/>
              <a:t>00000010001100100100000000100000 2 = 02324020 16</a:t>
            </a:r>
            <a:endParaRPr lang="en-AU" altLang="zh-CN" sz="2400"/>
          </a:p>
        </p:txBody>
      </p:sp>
      <p:grpSp>
        <p:nvGrpSpPr>
          <p:cNvPr id="55320" name="Group 38"/>
          <p:cNvGrpSpPr/>
          <p:nvPr/>
        </p:nvGrpSpPr>
        <p:grpSpPr bwMode="auto">
          <a:xfrm>
            <a:off x="1331913" y="1412875"/>
            <a:ext cx="6913562" cy="773113"/>
            <a:chOff x="703" y="981"/>
            <a:chExt cx="4355" cy="487"/>
          </a:xfrm>
        </p:grpSpPr>
        <p:sp>
          <p:nvSpPr>
            <p:cNvPr id="55321" name="Text Box 39"/>
            <p:cNvSpPr txBox="1">
              <a:spLocks noChangeArrowheads="1"/>
            </p:cNvSpPr>
            <p:nvPr/>
          </p:nvSpPr>
          <p:spPr bwMode="auto">
            <a:xfrm>
              <a:off x="703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55322" name="Text Box 40"/>
            <p:cNvSpPr txBox="1">
              <a:spLocks noChangeArrowheads="1"/>
            </p:cNvSpPr>
            <p:nvPr/>
          </p:nvSpPr>
          <p:spPr bwMode="auto">
            <a:xfrm>
              <a:off x="152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55323" name="Text Box 41"/>
            <p:cNvSpPr txBox="1">
              <a:spLocks noChangeArrowheads="1"/>
            </p:cNvSpPr>
            <p:nvPr/>
          </p:nvSpPr>
          <p:spPr bwMode="auto">
            <a:xfrm>
              <a:off x="220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55324" name="Text Box 42"/>
            <p:cNvSpPr txBox="1">
              <a:spLocks noChangeArrowheads="1"/>
            </p:cNvSpPr>
            <p:nvPr/>
          </p:nvSpPr>
          <p:spPr bwMode="auto">
            <a:xfrm>
              <a:off x="288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rd</a:t>
              </a:r>
              <a:endParaRPr lang="en-AU" altLang="zh-CN" sz="2000"/>
            </a:p>
          </p:txBody>
        </p:sp>
        <p:sp>
          <p:nvSpPr>
            <p:cNvPr id="55325" name="Text Box 43"/>
            <p:cNvSpPr txBox="1">
              <a:spLocks noChangeArrowheads="1"/>
            </p:cNvSpPr>
            <p:nvPr/>
          </p:nvSpPr>
          <p:spPr bwMode="auto">
            <a:xfrm>
              <a:off x="356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shamt</a:t>
              </a:r>
              <a:endParaRPr lang="en-AU" altLang="zh-CN" sz="2000"/>
            </a:p>
          </p:txBody>
        </p:sp>
        <p:sp>
          <p:nvSpPr>
            <p:cNvPr id="55326" name="Text Box 44"/>
            <p:cNvSpPr txBox="1">
              <a:spLocks noChangeArrowheads="1"/>
            </p:cNvSpPr>
            <p:nvPr/>
          </p:nvSpPr>
          <p:spPr bwMode="auto">
            <a:xfrm>
              <a:off x="4241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funct</a:t>
              </a:r>
              <a:endParaRPr lang="en-AU" altLang="zh-CN" sz="2000"/>
            </a:p>
          </p:txBody>
        </p:sp>
        <p:sp>
          <p:nvSpPr>
            <p:cNvPr id="55327" name="Text Box 45"/>
            <p:cNvSpPr txBox="1">
              <a:spLocks noChangeArrowheads="1"/>
            </p:cNvSpPr>
            <p:nvPr/>
          </p:nvSpPr>
          <p:spPr bwMode="auto">
            <a:xfrm>
              <a:off x="886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55328" name="Text Box 46"/>
            <p:cNvSpPr txBox="1">
              <a:spLocks noChangeArrowheads="1"/>
            </p:cNvSpPr>
            <p:nvPr/>
          </p:nvSpPr>
          <p:spPr bwMode="auto">
            <a:xfrm>
              <a:off x="4424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55329" name="Text Box 47"/>
            <p:cNvSpPr txBox="1">
              <a:spLocks noChangeArrowheads="1"/>
            </p:cNvSpPr>
            <p:nvPr/>
          </p:nvSpPr>
          <p:spPr bwMode="auto">
            <a:xfrm>
              <a:off x="165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5330" name="Text Box 48"/>
            <p:cNvSpPr txBox="1">
              <a:spLocks noChangeArrowheads="1"/>
            </p:cNvSpPr>
            <p:nvPr/>
          </p:nvSpPr>
          <p:spPr bwMode="auto">
            <a:xfrm>
              <a:off x="23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5331" name="Text Box 49"/>
            <p:cNvSpPr txBox="1">
              <a:spLocks noChangeArrowheads="1"/>
            </p:cNvSpPr>
            <p:nvPr/>
          </p:nvSpPr>
          <p:spPr bwMode="auto">
            <a:xfrm>
              <a:off x="301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5332" name="Text Box 50"/>
            <p:cNvSpPr txBox="1">
              <a:spLocks noChangeArrowheads="1"/>
            </p:cNvSpPr>
            <p:nvPr/>
          </p:nvSpPr>
          <p:spPr bwMode="auto">
            <a:xfrm>
              <a:off x="369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7EB619D3-7BF8-4FC1-B65B-A4D9F4189CDB}" type="slidenum">
              <a:rPr lang="en-AU" altLang="zh-CN" sz="1400"/>
            </a:fld>
            <a:endParaRPr lang="en-AU" altLang="zh-CN" sz="1400"/>
          </a:p>
        </p:txBody>
      </p:sp>
      <p:sp>
        <p:nvSpPr>
          <p:cNvPr id="573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十六进制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582737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AU" altLang="zh-CN" smtClean="0">
                <a:ea typeface="宋体" panose="02010600030101010101" pitchFamily="2" charset="-122"/>
              </a:rPr>
              <a:t>基座16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位字符串的紧凑表示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mtClean="0">
                <a:ea typeface="宋体" panose="02010600030101010101" pitchFamily="2" charset="-122"/>
              </a:rPr>
              <a:t>每个十六进制数字4位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441420" name="Group 76"/>
          <p:cNvGraphicFramePr>
            <a:graphicFrameLocks noGrp="1"/>
          </p:cNvGraphicFramePr>
          <p:nvPr/>
        </p:nvGraphicFramePr>
        <p:xfrm>
          <a:off x="1116013" y="2852738"/>
          <a:ext cx="7127875" cy="1828800"/>
        </p:xfrm>
        <a:graphic>
          <a:graphicData uri="http://schemas.openxmlformats.org/drawingml/2006/table">
            <a:tbl>
              <a:tblPr/>
              <a:tblGrid>
                <a:gridCol w="647700"/>
                <a:gridCol w="1135062"/>
                <a:gridCol w="665163"/>
                <a:gridCol w="1116012"/>
                <a:gridCol w="684213"/>
                <a:gridCol w="1098550"/>
                <a:gridCol w="630237"/>
                <a:gridCol w="1150938"/>
              </a:tblGrid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c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1100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d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1101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e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1110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0011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0111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b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1011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f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1111</a:t>
                      </a:r>
                      <a:endParaRPr kumimoji="0" lang="en-AU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57396" name="Rectangle 77"/>
          <p:cNvSpPr>
            <a:spLocks noChangeArrowheads="1"/>
          </p:cNvSpPr>
          <p:nvPr/>
        </p:nvSpPr>
        <p:spPr bwMode="auto">
          <a:xfrm>
            <a:off x="611188" y="4940300"/>
            <a:ext cx="8270875" cy="1152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AU" altLang="zh-CN"/>
              <a:t>示例：eca8 6420</a:t>
            </a:r>
            <a:endParaRPr lang="en-AU" altLang="zh-CN"/>
          </a:p>
          <a:p>
            <a:pPr lvl="1" eaLnBrk="1" hangingPunct="1">
              <a:lnSpc>
                <a:spcPct val="90000"/>
              </a:lnSpc>
            </a:pPr>
            <a:r>
              <a:rPr lang="en-AU" altLang="zh-CN"/>
              <a:t>1110 1100 1010 1000 0110 0100 0010 0000</a:t>
            </a:r>
            <a:endParaRPr lang="en-AU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826F4969-1D5D-41A0-9B1B-9776654522A3}" type="slidenum">
              <a:rPr lang="en-AU" altLang="zh-CN" sz="1400"/>
            </a:fld>
            <a:endParaRPr lang="en-AU" altLang="zh-CN" sz="1400"/>
          </a:p>
        </p:txBody>
      </p:sp>
      <p:sp>
        <p:nvSpPr>
          <p:cNvPr id="59395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MIPS I格式指令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9700" name="Rectangle 27"/>
          <p:cNvSpPr>
            <a:spLocks noGrp="1" noChangeArrowheads="1"/>
          </p:cNvSpPr>
          <p:nvPr>
            <p:ph type="body" idx="1"/>
          </p:nvPr>
        </p:nvSpPr>
        <p:spPr>
          <a:xfrm>
            <a:off x="684213" y="2349500"/>
            <a:ext cx="8270875" cy="38877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立即算术和加载/存储指令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rt：目标或源寄存器号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常数：-2 15至+2 15-1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地址：在rs中的基址上添加偏移量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i="1" smtClean="0">
                <a:solidFill>
                  <a:srgbClr val="FF0000"/>
                </a:solidFill>
                <a:ea typeface="宋体" panose="02010600030101010101" pitchFamily="2" charset="-122"/>
              </a:rPr>
              <a:t>设计原则4：好的设计需要好的妥协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不同的格式使解码变得复杂，但允许统一的32位指令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保持格式尽可能相似</a:t>
            </a:r>
            <a:endParaRPr lang="en-US" altLang="zh-CN" sz="2400" smtClean="0">
              <a:ea typeface="宋体" panose="02010600030101010101" pitchFamily="2" charset="-122"/>
            </a:endParaRPr>
          </a:p>
        </p:txBody>
      </p:sp>
      <p:grpSp>
        <p:nvGrpSpPr>
          <p:cNvPr id="59397" name="Group 4"/>
          <p:cNvGrpSpPr/>
          <p:nvPr/>
        </p:nvGrpSpPr>
        <p:grpSpPr bwMode="auto">
          <a:xfrm>
            <a:off x="1331913" y="1412875"/>
            <a:ext cx="6913562" cy="773113"/>
            <a:chOff x="884" y="981"/>
            <a:chExt cx="4355" cy="487"/>
          </a:xfrm>
        </p:grpSpPr>
        <p:sp>
          <p:nvSpPr>
            <p:cNvPr id="59398" name="Text Box 5"/>
            <p:cNvSpPr txBox="1">
              <a:spLocks noChangeArrowheads="1"/>
            </p:cNvSpPr>
            <p:nvPr/>
          </p:nvSpPr>
          <p:spPr bwMode="auto">
            <a:xfrm>
              <a:off x="884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59399" name="Text Box 6"/>
            <p:cNvSpPr txBox="1">
              <a:spLocks noChangeArrowheads="1"/>
            </p:cNvSpPr>
            <p:nvPr/>
          </p:nvSpPr>
          <p:spPr bwMode="auto">
            <a:xfrm>
              <a:off x="170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59400" name="Text Box 7"/>
            <p:cNvSpPr txBox="1">
              <a:spLocks noChangeArrowheads="1"/>
            </p:cNvSpPr>
            <p:nvPr/>
          </p:nvSpPr>
          <p:spPr bwMode="auto">
            <a:xfrm>
              <a:off x="238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59401" name="Text Box 8"/>
            <p:cNvSpPr txBox="1">
              <a:spLocks noChangeArrowheads="1"/>
            </p:cNvSpPr>
            <p:nvPr/>
          </p:nvSpPr>
          <p:spPr bwMode="auto">
            <a:xfrm>
              <a:off x="3061" y="981"/>
              <a:ext cx="2178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常量或地址</a:t>
              </a:r>
              <a:endParaRPr lang="en-AU" altLang="zh-CN" sz="2000"/>
            </a:p>
          </p:txBody>
        </p:sp>
        <p:sp>
          <p:nvSpPr>
            <p:cNvPr id="59402" name="Text Box 9"/>
            <p:cNvSpPr txBox="1">
              <a:spLocks noChangeArrowheads="1"/>
            </p:cNvSpPr>
            <p:nvPr/>
          </p:nvSpPr>
          <p:spPr bwMode="auto">
            <a:xfrm>
              <a:off x="106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59403" name="Text Box 10"/>
            <p:cNvSpPr txBox="1">
              <a:spLocks noChangeArrowheads="1"/>
            </p:cNvSpPr>
            <p:nvPr/>
          </p:nvSpPr>
          <p:spPr bwMode="auto">
            <a:xfrm>
              <a:off x="18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9404" name="Text Box 11"/>
            <p:cNvSpPr txBox="1">
              <a:spLocks noChangeArrowheads="1"/>
            </p:cNvSpPr>
            <p:nvPr/>
          </p:nvSpPr>
          <p:spPr bwMode="auto">
            <a:xfrm>
              <a:off x="2519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59405" name="Text Box 12"/>
            <p:cNvSpPr txBox="1">
              <a:spLocks noChangeArrowheads="1"/>
            </p:cNvSpPr>
            <p:nvPr/>
          </p:nvSpPr>
          <p:spPr bwMode="auto">
            <a:xfrm>
              <a:off x="3935" y="1256"/>
              <a:ext cx="4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16位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2FA54FF-8401-465E-86FB-B30D98C0B467}" type="slidenum">
              <a:rPr lang="en-AU" altLang="zh-CN" sz="1400"/>
            </a:fld>
            <a:endParaRPr lang="en-AU" altLang="zh-CN" sz="1400"/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323850"/>
            <a:ext cx="8259762" cy="584200"/>
          </a:xfrm>
        </p:spPr>
        <p:txBody>
          <a:bodyPr/>
          <a:lstStyle/>
          <a:p>
            <a:pPr eaLnBrk="1" hangingPunct="1"/>
            <a:r>
              <a:rPr lang="en-US" altLang="zh-CN" sz="3200" smtClean="0">
                <a:ea typeface="宋体" panose="02010600030101010101" pitchFamily="2" charset="-122"/>
              </a:rPr>
              <a:t>计算机设计的两个关键原则</a:t>
            </a:r>
            <a:endParaRPr lang="en-AU" altLang="zh-CN" sz="3200" smtClean="0">
              <a:ea typeface="宋体" panose="02010600030101010101" pitchFamily="2" charset="-122"/>
            </a:endParaRPr>
          </a:p>
        </p:txBody>
      </p:sp>
      <p:sp>
        <p:nvSpPr>
          <p:cNvPr id="30725" name="Text Box 5"/>
          <p:cNvSpPr txBox="1">
            <a:spLocks noChangeArrowheads="1"/>
          </p:cNvSpPr>
          <p:nvPr/>
        </p:nvSpPr>
        <p:spPr bwMode="auto">
          <a:xfrm>
            <a:off x="928688" y="2857500"/>
            <a:ext cx="2865437" cy="4619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400" b="1">
                <a:solidFill>
                  <a:srgbClr val="FF0000"/>
                </a:solidFill>
                <a:latin typeface="Arial Black" panose="020B0A04020102020204" pitchFamily="34" charset="0"/>
              </a:rPr>
              <a:t>全局</a:t>
            </a:r>
            <a:endParaRPr lang="en-US" altLang="zh-CN" sz="2400" b="1">
              <a:solidFill>
                <a:srgbClr val="FF0000"/>
              </a:solidFill>
              <a:latin typeface="Arial Black" panose="020B0A04020102020204" pitchFamily="34" charset="0"/>
            </a:endParaRPr>
          </a:p>
        </p:txBody>
      </p:sp>
      <p:pic>
        <p:nvPicPr>
          <p:cNvPr id="30726" name="Picture 7" descr="f02-07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6438" y="2428875"/>
            <a:ext cx="2908300" cy="3846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500063" y="1071563"/>
            <a:ext cx="7848600" cy="19526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/>
          <a:lstStyle/>
          <a:p>
            <a:pPr marL="533400" lvl="1" indent="-533400">
              <a:lnSpc>
                <a:spcPct val="90000"/>
              </a:lnSpc>
              <a:spcBef>
                <a:spcPct val="65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AutoNum type="arabicPeriod"/>
              <a:defRPr/>
            </a:pPr>
            <a:r>
              <a:rPr lang="en-US" sz="2400" kern="0" dirty="0">
                <a:latin typeface="+mn-lt"/>
                <a:ea typeface="+mn-ea"/>
              </a:rPr>
              <a:t>指令表示为数字，因此与数据无法区分</a:t>
            </a:r>
            <a:endParaRPr lang="en-US" sz="2400" kern="0" dirty="0">
              <a:latin typeface="+mn-lt"/>
              <a:ea typeface="+mn-ea"/>
            </a:endParaRPr>
          </a:p>
          <a:p>
            <a:pPr marL="533400" lvl="1" indent="-533400">
              <a:lnSpc>
                <a:spcPct val="90000"/>
              </a:lnSpc>
              <a:spcBef>
                <a:spcPct val="65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AutoNum type="arabicPeriod"/>
              <a:defRPr/>
            </a:pPr>
            <a:r>
              <a:rPr lang="en-US" sz="2400" kern="0" dirty="0">
                <a:latin typeface="+mn-lt"/>
                <a:ea typeface="+mn-ea"/>
              </a:rPr>
              <a:t>程序和数据一样，都存储在可修改的内存（可以读取或写入）中</a:t>
            </a:r>
            <a:endParaRPr lang="en-US" sz="2400" kern="0" dirty="0">
              <a:latin typeface="+mn-lt"/>
              <a:ea typeface="+mn-ea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500063" y="3462338"/>
            <a:ext cx="48768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3500" tIns="25400" rIns="63500" bIns="25400">
            <a:spAutoFit/>
          </a:bodyPr>
          <a:lstStyle>
            <a:lvl1pPr marL="287655" indent="-287655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952500" indent="-45720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95000"/>
              </a:lnSpc>
              <a:spcBef>
                <a:spcPct val="25000"/>
              </a:spcBef>
              <a:buClr>
                <a:schemeClr val="accent1"/>
              </a:buClr>
              <a:buSzPct val="75000"/>
              <a:buFont typeface="Wingdings" panose="05000000000000000000" pitchFamily="2" charset="2"/>
              <a:buChar char="q"/>
            </a:pPr>
            <a:r>
              <a:rPr lang="en-US" altLang="zh-CN" sz="2400"/>
              <a:t>存储程序概念</a:t>
            </a:r>
            <a:endParaRPr lang="en-US" altLang="zh-CN" sz="2400"/>
          </a:p>
          <a:p>
            <a:pPr lvl="1">
              <a:lnSpc>
                <a:spcPct val="95000"/>
              </a:lnSpc>
              <a:spcBef>
                <a:spcPct val="25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程序可以作为二进制数文件进行分发——二进制兼容性</a:t>
            </a:r>
            <a:endParaRPr lang="en-US" altLang="zh-CN" sz="2000"/>
          </a:p>
          <a:p>
            <a:pPr lvl="1">
              <a:lnSpc>
                <a:spcPct val="95000"/>
              </a:lnSpc>
              <a:spcBef>
                <a:spcPct val="25000"/>
              </a:spcBef>
              <a:buClr>
                <a:schemeClr val="accent1"/>
              </a:buClr>
              <a:buSzPct val="75000"/>
              <a:buFont typeface="Arial" panose="020B0604020202020204" pitchFamily="34" charset="0"/>
              <a:buAutoNum type="arabicPeriod"/>
            </a:pPr>
            <a:r>
              <a:rPr lang="en-US" altLang="zh-CN" sz="2000"/>
              <a:t>只要与现有的ISA兼容，计算机就可以继承现成的软件，这将引导行业围绕少数ISA进行调整</a:t>
            </a:r>
            <a:endParaRPr lang="en-US" altLang="zh-CN" sz="20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5" grpId="0" animBg="1"/>
      <p:bldP spid="8" grpId="0" bldLvl="2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E0116AD4-E36E-4A03-9D78-D6514CFC3E58}" type="slidenum">
              <a:rPr lang="en-AU" altLang="zh-CN" sz="1400"/>
            </a:fld>
            <a:endParaRPr lang="en-AU" altLang="zh-CN" sz="1400"/>
          </a:p>
        </p:txBody>
      </p:sp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逻辑运算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90562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位操作说明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275503" name="Group 47"/>
          <p:cNvGraphicFramePr>
            <a:graphicFrameLocks noGrp="1"/>
          </p:cNvGraphicFramePr>
          <p:nvPr/>
        </p:nvGraphicFramePr>
        <p:xfrm>
          <a:off x="1042988" y="1916113"/>
          <a:ext cx="7200900" cy="2824164"/>
        </p:xfrm>
        <a:graphic>
          <a:graphicData uri="http://schemas.openxmlformats.org/drawingml/2006/table">
            <a:tbl>
              <a:tblPr/>
              <a:tblGrid>
                <a:gridCol w="2233612"/>
                <a:gridCol w="1366838"/>
                <a:gridCol w="1512887"/>
                <a:gridCol w="2087563"/>
              </a:tblGrid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操作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C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爪哇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阳性铁管尺寸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左移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&lt;&lt;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&lt;&lt;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sll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右移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&gt;&gt;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&gt;&gt;&gt;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srl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按位与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&amp;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&amp;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以及，还有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按位或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|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|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或，ori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714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按位非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~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~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也不</a:t>
                      </a:r>
                      <a:endParaRPr kumimoji="0" lang="en-AU" altLang="zh-CN" sz="2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3530" name="Rectangle 41"/>
          <p:cNvSpPr>
            <a:spLocks noChangeArrowheads="1"/>
          </p:cNvSpPr>
          <p:nvPr/>
        </p:nvSpPr>
        <p:spPr bwMode="auto">
          <a:xfrm>
            <a:off x="684213" y="5013325"/>
            <a:ext cx="7772400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可用于提取和插入字中的位组</a:t>
            </a:r>
            <a:endParaRPr lang="en-AU" altLang="zh-CN"/>
          </a:p>
        </p:txBody>
      </p:sp>
      <p:sp>
        <p:nvSpPr>
          <p:cNvPr id="63531" name="Text Box 42"/>
          <p:cNvSpPr txBox="1">
            <a:spLocks noChangeArrowheads="1"/>
          </p:cNvSpPr>
          <p:nvPr/>
        </p:nvSpPr>
        <p:spPr bwMode="auto">
          <a:xfrm rot="5400000">
            <a:off x="7662069" y="1115219"/>
            <a:ext cx="2597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第2.6节逻辑运算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E63A42B0-F9C0-4D64-8CD8-2BF72234507D}" type="slidenum">
              <a:rPr lang="en-AU" altLang="zh-CN" sz="1400"/>
            </a:fld>
            <a:endParaRPr lang="en-AU" altLang="zh-CN" sz="1400"/>
          </a:p>
        </p:txBody>
      </p:sp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轮班操作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2349500"/>
            <a:ext cx="8270875" cy="38877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沙姆特：要调动多少个职位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左移逻辑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左移并填充0位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sll（按位）操作将i位数乘以2的i次方</a:t>
            </a:r>
            <a:endParaRPr lang="en-US" altLang="zh-CN" i="1" baseline="300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右移逻辑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右移并填充0位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latin typeface="Lucida Console" panose="020B0609040504020204" pitchFamily="49" charset="0"/>
                <a:ea typeface="宋体" panose="02010600030101010101" pitchFamily="2" charset="-122"/>
              </a:rPr>
              <a:t>srl按i位数除以2的i次方（仅限无符号数）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65541" name="Group 4"/>
          <p:cNvGrpSpPr/>
          <p:nvPr/>
        </p:nvGrpSpPr>
        <p:grpSpPr bwMode="auto">
          <a:xfrm>
            <a:off x="1403350" y="1557338"/>
            <a:ext cx="6913563" cy="773112"/>
            <a:chOff x="703" y="981"/>
            <a:chExt cx="4355" cy="487"/>
          </a:xfrm>
        </p:grpSpPr>
        <p:sp>
          <p:nvSpPr>
            <p:cNvPr id="65542" name="Text Box 5"/>
            <p:cNvSpPr txBox="1">
              <a:spLocks noChangeArrowheads="1"/>
            </p:cNvSpPr>
            <p:nvPr/>
          </p:nvSpPr>
          <p:spPr bwMode="auto">
            <a:xfrm>
              <a:off x="703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65543" name="Text Box 6"/>
            <p:cNvSpPr txBox="1">
              <a:spLocks noChangeArrowheads="1"/>
            </p:cNvSpPr>
            <p:nvPr/>
          </p:nvSpPr>
          <p:spPr bwMode="auto">
            <a:xfrm>
              <a:off x="152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65544" name="Text Box 7"/>
            <p:cNvSpPr txBox="1">
              <a:spLocks noChangeArrowheads="1"/>
            </p:cNvSpPr>
            <p:nvPr/>
          </p:nvSpPr>
          <p:spPr bwMode="auto">
            <a:xfrm>
              <a:off x="220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65545" name="Text Box 8"/>
            <p:cNvSpPr txBox="1">
              <a:spLocks noChangeArrowheads="1"/>
            </p:cNvSpPr>
            <p:nvPr/>
          </p:nvSpPr>
          <p:spPr bwMode="auto">
            <a:xfrm>
              <a:off x="2880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rd</a:t>
              </a:r>
              <a:endParaRPr lang="en-AU" altLang="zh-CN" sz="2000"/>
            </a:p>
          </p:txBody>
        </p:sp>
        <p:sp>
          <p:nvSpPr>
            <p:cNvPr id="65546" name="Text Box 9"/>
            <p:cNvSpPr txBox="1">
              <a:spLocks noChangeArrowheads="1"/>
            </p:cNvSpPr>
            <p:nvPr/>
          </p:nvSpPr>
          <p:spPr bwMode="auto">
            <a:xfrm>
              <a:off x="356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shamt</a:t>
              </a:r>
              <a:endParaRPr lang="en-AU" altLang="zh-CN" sz="2000"/>
            </a:p>
          </p:txBody>
        </p:sp>
        <p:sp>
          <p:nvSpPr>
            <p:cNvPr id="65547" name="Text Box 10"/>
            <p:cNvSpPr txBox="1">
              <a:spLocks noChangeArrowheads="1"/>
            </p:cNvSpPr>
            <p:nvPr/>
          </p:nvSpPr>
          <p:spPr bwMode="auto">
            <a:xfrm>
              <a:off x="4241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funct</a:t>
              </a:r>
              <a:endParaRPr lang="en-AU" altLang="zh-CN" sz="2000"/>
            </a:p>
          </p:txBody>
        </p:sp>
        <p:sp>
          <p:nvSpPr>
            <p:cNvPr id="65548" name="Text Box 11"/>
            <p:cNvSpPr txBox="1">
              <a:spLocks noChangeArrowheads="1"/>
            </p:cNvSpPr>
            <p:nvPr/>
          </p:nvSpPr>
          <p:spPr bwMode="auto">
            <a:xfrm>
              <a:off x="886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65549" name="Text Box 12"/>
            <p:cNvSpPr txBox="1">
              <a:spLocks noChangeArrowheads="1"/>
            </p:cNvSpPr>
            <p:nvPr/>
          </p:nvSpPr>
          <p:spPr bwMode="auto">
            <a:xfrm>
              <a:off x="4424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65550" name="Text Box 13"/>
            <p:cNvSpPr txBox="1">
              <a:spLocks noChangeArrowheads="1"/>
            </p:cNvSpPr>
            <p:nvPr/>
          </p:nvSpPr>
          <p:spPr bwMode="auto">
            <a:xfrm>
              <a:off x="165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65551" name="Text Box 14"/>
            <p:cNvSpPr txBox="1">
              <a:spLocks noChangeArrowheads="1"/>
            </p:cNvSpPr>
            <p:nvPr/>
          </p:nvSpPr>
          <p:spPr bwMode="auto">
            <a:xfrm>
              <a:off x="23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65552" name="Text Box 15"/>
            <p:cNvSpPr txBox="1">
              <a:spLocks noChangeArrowheads="1"/>
            </p:cNvSpPr>
            <p:nvPr/>
          </p:nvSpPr>
          <p:spPr bwMode="auto">
            <a:xfrm>
              <a:off x="301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65553" name="Text Box 16"/>
            <p:cNvSpPr txBox="1">
              <a:spLocks noChangeArrowheads="1"/>
            </p:cNvSpPr>
            <p:nvPr/>
          </p:nvSpPr>
          <p:spPr bwMode="auto">
            <a:xfrm>
              <a:off x="369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87AE173-4BF3-4671-950A-C99DDB572562}" type="slidenum">
              <a:rPr lang="en-AU" altLang="zh-CN" sz="1400"/>
            </a:fld>
            <a:endParaRPr lang="en-AU" altLang="zh-CN" sz="1400"/>
          </a:p>
        </p:txBody>
      </p:sp>
      <p:sp>
        <p:nvSpPr>
          <p:cNvPr id="67587" name="Rectangle 2"/>
          <p:cNvSpPr>
            <a:spLocks noChangeArrowheads="1"/>
          </p:cNvSpPr>
          <p:nvPr/>
        </p:nvSpPr>
        <p:spPr bwMode="auto">
          <a:xfrm>
            <a:off x="4824413" y="3408363"/>
            <a:ext cx="647700" cy="16049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6758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以及操作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7589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073275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可用于对字中的位进行掩码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选择一些位，将其他位清零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以及$t0、$t1和$t2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67590" name="Text Box 5"/>
          <p:cNvSpPr txBox="1">
            <a:spLocks noChangeArrowheads="1"/>
          </p:cNvSpPr>
          <p:nvPr/>
        </p:nvSpPr>
        <p:spPr bwMode="auto">
          <a:xfrm>
            <a:off x="1924050" y="3403600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0000 0000 0000 0000 0000 1101 1100 0000</a:t>
            </a:r>
            <a:endParaRPr lang="en-AU" altLang="zh-CN" sz="2000"/>
          </a:p>
        </p:txBody>
      </p:sp>
      <p:sp>
        <p:nvSpPr>
          <p:cNvPr id="67591" name="Text Box 6"/>
          <p:cNvSpPr txBox="1">
            <a:spLocks noChangeArrowheads="1"/>
          </p:cNvSpPr>
          <p:nvPr/>
        </p:nvSpPr>
        <p:spPr bwMode="auto">
          <a:xfrm>
            <a:off x="1924050" y="39639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0000 0000 0000 0000 0011 1100 0000 0000</a:t>
            </a:r>
            <a:endParaRPr lang="en-AU" altLang="zh-CN" sz="2000"/>
          </a:p>
        </p:txBody>
      </p:sp>
      <p:sp>
        <p:nvSpPr>
          <p:cNvPr id="67592" name="Text Box 7"/>
          <p:cNvSpPr txBox="1">
            <a:spLocks noChangeArrowheads="1"/>
          </p:cNvSpPr>
          <p:nvPr/>
        </p:nvSpPr>
        <p:spPr bwMode="auto">
          <a:xfrm>
            <a:off x="1287463" y="3403600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$t2</a:t>
            </a:r>
            <a:endParaRPr lang="en-AU" altLang="zh-CN" sz="2000"/>
          </a:p>
        </p:txBody>
      </p:sp>
      <p:sp>
        <p:nvSpPr>
          <p:cNvPr id="67593" name="Text Box 8"/>
          <p:cNvSpPr txBox="1">
            <a:spLocks noChangeArrowheads="1"/>
          </p:cNvSpPr>
          <p:nvPr/>
        </p:nvSpPr>
        <p:spPr bwMode="auto">
          <a:xfrm>
            <a:off x="1287463" y="39639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$t1</a:t>
            </a:r>
            <a:endParaRPr lang="en-AU" altLang="zh-CN" sz="2000"/>
          </a:p>
        </p:txBody>
      </p:sp>
      <p:sp>
        <p:nvSpPr>
          <p:cNvPr id="67594" name="Text Box 9"/>
          <p:cNvSpPr txBox="1">
            <a:spLocks noChangeArrowheads="1"/>
          </p:cNvSpPr>
          <p:nvPr/>
        </p:nvSpPr>
        <p:spPr bwMode="auto">
          <a:xfrm>
            <a:off x="1924050" y="46116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0000 0000 0000 0000 0000 1100 0000 0000</a:t>
            </a:r>
            <a:endParaRPr lang="en-AU" altLang="zh-CN" sz="2000"/>
          </a:p>
        </p:txBody>
      </p:sp>
      <p:sp>
        <p:nvSpPr>
          <p:cNvPr id="67595" name="Text Box 10"/>
          <p:cNvSpPr txBox="1">
            <a:spLocks noChangeArrowheads="1"/>
          </p:cNvSpPr>
          <p:nvPr/>
        </p:nvSpPr>
        <p:spPr bwMode="auto">
          <a:xfrm>
            <a:off x="1287463" y="46116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B70E46F-AFAD-4645-A1EF-0D035F09C379}" type="slidenum">
              <a:rPr lang="en-AU" altLang="zh-CN" sz="1400"/>
            </a:fld>
            <a:endParaRPr lang="en-AU" altLang="zh-CN" sz="1400"/>
          </a:p>
        </p:txBody>
      </p:sp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4859338" y="3408363"/>
            <a:ext cx="612775" cy="16049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OR运营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9637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073275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在单词中包含比特很有用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将某些位设置为1，其他保持不变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或$t0、$t1、$t2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69638" name="Text Box 5"/>
          <p:cNvSpPr txBox="1">
            <a:spLocks noChangeArrowheads="1"/>
          </p:cNvSpPr>
          <p:nvPr/>
        </p:nvSpPr>
        <p:spPr bwMode="auto">
          <a:xfrm>
            <a:off x="1924050" y="3403600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0000 0000 0000 0000 0000 1101 1100 0000</a:t>
            </a:r>
            <a:endParaRPr lang="en-AU" altLang="zh-CN" sz="2000"/>
          </a:p>
        </p:txBody>
      </p:sp>
      <p:sp>
        <p:nvSpPr>
          <p:cNvPr id="69639" name="Text Box 6"/>
          <p:cNvSpPr txBox="1">
            <a:spLocks noChangeArrowheads="1"/>
          </p:cNvSpPr>
          <p:nvPr/>
        </p:nvSpPr>
        <p:spPr bwMode="auto">
          <a:xfrm>
            <a:off x="1924050" y="39639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0000 0000 0000 0000 0011 1100 0000 0000</a:t>
            </a:r>
            <a:endParaRPr lang="en-AU" altLang="zh-CN" sz="2000"/>
          </a:p>
        </p:txBody>
      </p:sp>
      <p:sp>
        <p:nvSpPr>
          <p:cNvPr id="69640" name="Text Box 7"/>
          <p:cNvSpPr txBox="1">
            <a:spLocks noChangeArrowheads="1"/>
          </p:cNvSpPr>
          <p:nvPr/>
        </p:nvSpPr>
        <p:spPr bwMode="auto">
          <a:xfrm>
            <a:off x="1287463" y="3403600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$t2</a:t>
            </a:r>
            <a:endParaRPr lang="en-AU" altLang="zh-CN" sz="2000"/>
          </a:p>
        </p:txBody>
      </p:sp>
      <p:sp>
        <p:nvSpPr>
          <p:cNvPr id="69641" name="Text Box 8"/>
          <p:cNvSpPr txBox="1">
            <a:spLocks noChangeArrowheads="1"/>
          </p:cNvSpPr>
          <p:nvPr/>
        </p:nvSpPr>
        <p:spPr bwMode="auto">
          <a:xfrm>
            <a:off x="1287463" y="39639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$t1</a:t>
            </a:r>
            <a:endParaRPr lang="en-AU" altLang="zh-CN" sz="2000"/>
          </a:p>
        </p:txBody>
      </p:sp>
      <p:sp>
        <p:nvSpPr>
          <p:cNvPr id="69642" name="Text Box 9"/>
          <p:cNvSpPr txBox="1">
            <a:spLocks noChangeArrowheads="1"/>
          </p:cNvSpPr>
          <p:nvPr/>
        </p:nvSpPr>
        <p:spPr bwMode="auto">
          <a:xfrm>
            <a:off x="1924050" y="46116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0000 0000 0000 0000 0011 1101 1100 0000</a:t>
            </a:r>
            <a:endParaRPr lang="en-AU" altLang="zh-CN" sz="2000"/>
          </a:p>
        </p:txBody>
      </p:sp>
      <p:sp>
        <p:nvSpPr>
          <p:cNvPr id="69643" name="Text Box 10"/>
          <p:cNvSpPr txBox="1">
            <a:spLocks noChangeArrowheads="1"/>
          </p:cNvSpPr>
          <p:nvPr/>
        </p:nvSpPr>
        <p:spPr bwMode="auto">
          <a:xfrm>
            <a:off x="1287463" y="46116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68A72901-B79C-4D86-B601-8FE87D929193}" type="slidenum">
              <a:rPr lang="en-AU" altLang="zh-CN" sz="1400"/>
            </a:fld>
            <a:endParaRPr lang="en-AU" altLang="zh-CN" sz="1400"/>
          </a:p>
        </p:txBody>
      </p:sp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NOT操作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3227387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可用于反转字中的位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将0更改为1，将1更改为0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MIPS具有NOR 3操作数指令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NOR b等于NOT（a OR b）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既不为$t0，也不为$t1，亦不为$zero</a:t>
            </a: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71685" name="Text Box 4"/>
          <p:cNvSpPr txBox="1">
            <a:spLocks noChangeArrowheads="1"/>
          </p:cNvSpPr>
          <p:nvPr/>
        </p:nvSpPr>
        <p:spPr bwMode="auto">
          <a:xfrm>
            <a:off x="1924050" y="45862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0000 0000 0000 0000 0011 1100 0000 0000</a:t>
            </a:r>
            <a:endParaRPr lang="en-AU" altLang="zh-CN" sz="2000"/>
          </a:p>
        </p:txBody>
      </p:sp>
      <p:sp>
        <p:nvSpPr>
          <p:cNvPr id="71686" name="Text Box 5"/>
          <p:cNvSpPr txBox="1">
            <a:spLocks noChangeArrowheads="1"/>
          </p:cNvSpPr>
          <p:nvPr/>
        </p:nvSpPr>
        <p:spPr bwMode="auto">
          <a:xfrm>
            <a:off x="1287463" y="45862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$t1</a:t>
            </a:r>
            <a:endParaRPr lang="en-AU" altLang="zh-CN" sz="2000"/>
          </a:p>
        </p:txBody>
      </p:sp>
      <p:sp>
        <p:nvSpPr>
          <p:cNvPr id="71687" name="Text Box 6"/>
          <p:cNvSpPr txBox="1">
            <a:spLocks noChangeArrowheads="1"/>
          </p:cNvSpPr>
          <p:nvPr/>
        </p:nvSpPr>
        <p:spPr bwMode="auto">
          <a:xfrm>
            <a:off x="1924050" y="523398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1111 1111 1111 1111 1100 0011 1111 1111</a:t>
            </a:r>
            <a:endParaRPr lang="en-AU" altLang="zh-CN" sz="2000"/>
          </a:p>
        </p:txBody>
      </p:sp>
      <p:sp>
        <p:nvSpPr>
          <p:cNvPr id="71688" name="Text Box 7"/>
          <p:cNvSpPr txBox="1">
            <a:spLocks noChangeArrowheads="1"/>
          </p:cNvSpPr>
          <p:nvPr/>
        </p:nvSpPr>
        <p:spPr bwMode="auto">
          <a:xfrm>
            <a:off x="1287463" y="5233988"/>
            <a:ext cx="536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$t0</a:t>
            </a:r>
            <a:endParaRPr lang="en-AU" altLang="zh-CN" sz="2000"/>
          </a:p>
        </p:txBody>
      </p:sp>
      <p:sp>
        <p:nvSpPr>
          <p:cNvPr id="71689" name="AutoShape 8"/>
          <p:cNvSpPr/>
          <p:nvPr/>
        </p:nvSpPr>
        <p:spPr bwMode="auto">
          <a:xfrm>
            <a:off x="6877050" y="3573463"/>
            <a:ext cx="2084388" cy="609600"/>
          </a:xfrm>
          <a:prstGeom prst="borderCallout1">
            <a:avLst>
              <a:gd name="adj1" fmla="val 18750"/>
              <a:gd name="adj2" fmla="val -3657"/>
              <a:gd name="adj3" fmla="val 26301"/>
              <a:gd name="adj4" fmla="val -75477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寄存器0：始终读取为零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E2E54E79-71E0-4C01-9B88-4BFBA6DF4CC0}" type="slidenum">
              <a:rPr lang="en-AU" altLang="zh-CN" sz="1400"/>
            </a:fld>
            <a:endParaRPr lang="en-AU" altLang="zh-CN" sz="1400"/>
          </a:p>
        </p:txBody>
      </p:sp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条件操作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37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如果条件为真，则转向标记的指令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否则，按顺序继续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 rs, rt, L1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如果（rs等于rt），则跳转到标记为L1的指令；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 rs, rt, L1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如果（rs不等于rt），则跳转到标记为L1的指令；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 L1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无条件跳转到标记为L1的指令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3733" name="Text Box 4"/>
          <p:cNvSpPr txBox="1">
            <a:spLocks noChangeArrowheads="1"/>
          </p:cNvSpPr>
          <p:nvPr/>
        </p:nvSpPr>
        <p:spPr bwMode="auto">
          <a:xfrm rot="5400000">
            <a:off x="6938169" y="1839119"/>
            <a:ext cx="40449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第2.7条决策指南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E0E6A114-C260-40A2-A1BF-582FAD7FA31C}" type="slidenum">
              <a:rPr lang="en-AU" altLang="zh-CN" sz="1400"/>
            </a:fld>
            <a:endParaRPr lang="en-AU" altLang="zh-CN" sz="1400"/>
          </a:p>
        </p:txBody>
      </p:sp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编译If语句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如果（i等于j），则f等于g+h；否则，f等于g减去h。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f和g，...属于s₀、s₁等集合。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编译的MIPS代码：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 $s3，$s4，否则加$s0，$s1，$s2；j ExitElse：减$s0，$s1，$s2；Exit：...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37893" name="AutoShape 5"/>
          <p:cNvSpPr/>
          <p:nvPr/>
        </p:nvSpPr>
        <p:spPr bwMode="auto">
          <a:xfrm>
            <a:off x="3635375" y="5805488"/>
            <a:ext cx="3529013" cy="403225"/>
          </a:xfrm>
          <a:prstGeom prst="borderCallout1">
            <a:avLst>
              <a:gd name="adj1" fmla="val 28347"/>
              <a:gd name="adj2" fmla="val -2157"/>
              <a:gd name="adj3" fmla="val -57875"/>
              <a:gd name="adj4" fmla="val -3895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向量处理器计算地址</a:t>
            </a:r>
            <a:endParaRPr lang="en-AU" altLang="zh-CN" sz="1800"/>
          </a:p>
        </p:txBody>
      </p:sp>
      <p:pic>
        <p:nvPicPr>
          <p:cNvPr id="75782" name="Picture 6" descr="f02-09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163" y="1484313"/>
            <a:ext cx="3468687" cy="210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25D47EFE-83DC-4DAF-B38A-9E39D5746DBC}" type="slidenum">
              <a:rPr lang="en-AU" altLang="zh-CN" sz="1400"/>
            </a:fld>
            <a:endParaRPr lang="en-AU" altLang="zh-CN" sz="1400"/>
          </a:p>
        </p:txBody>
      </p:sp>
      <p:sp>
        <p:nvSpPr>
          <p:cNvPr id="778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编译循环语句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当(save[i]等于k）时，i += 1；</a:t>
            </a: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i位于$s3，k位于$s5，保存地址存入$s6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编译的MIPS代码：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  <a:spcBef>
                <a:spcPct val="50000"/>
              </a:spcBef>
              <a:spcAft>
                <a:spcPct val="30000"/>
              </a:spcAft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循环：sll $t1，$s3,2 # $t1 = i*4加法$t1，$t1，$s6按位左移$t0,0（$t1）符号不等$t0，$s5，跳转至Exit加法$s3，$s3,1判断LoopExit：...</a:t>
            </a: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AU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F0A1A11E-4B67-4B7D-8355-EA5F1612CD35}" type="slidenum">
              <a:rPr lang="en-AU" altLang="zh-CN" sz="1400"/>
            </a:fld>
            <a:endParaRPr lang="en-AU" altLang="zh-CN" sz="1400"/>
          </a:p>
        </p:txBody>
      </p:sp>
      <p:sp>
        <p:nvSpPr>
          <p:cNvPr id="798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基本块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303462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基本块是一组指令序列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无嵌入分支（末端除外）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没有分支目标（除开始处外）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79877" name="Group 4"/>
          <p:cNvGrpSpPr/>
          <p:nvPr/>
        </p:nvGrpSpPr>
        <p:grpSpPr bwMode="auto">
          <a:xfrm>
            <a:off x="755650" y="3573463"/>
            <a:ext cx="3311525" cy="2592387"/>
            <a:chOff x="1429" y="2296"/>
            <a:chExt cx="2086" cy="1633"/>
          </a:xfrm>
        </p:grpSpPr>
        <p:sp>
          <p:nvSpPr>
            <p:cNvPr id="79879" name="Rectangle 5"/>
            <p:cNvSpPr>
              <a:spLocks noChangeArrowheads="1"/>
            </p:cNvSpPr>
            <p:nvPr/>
          </p:nvSpPr>
          <p:spPr bwMode="auto">
            <a:xfrm>
              <a:off x="1791" y="2614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0" name="Rectangle 6"/>
            <p:cNvSpPr>
              <a:spLocks noChangeArrowheads="1"/>
            </p:cNvSpPr>
            <p:nvPr/>
          </p:nvSpPr>
          <p:spPr bwMode="auto">
            <a:xfrm>
              <a:off x="1791" y="2750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1" name="Rectangle 7"/>
            <p:cNvSpPr>
              <a:spLocks noChangeArrowheads="1"/>
            </p:cNvSpPr>
            <p:nvPr/>
          </p:nvSpPr>
          <p:spPr bwMode="auto">
            <a:xfrm>
              <a:off x="1791" y="2886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2" name="Rectangle 8"/>
            <p:cNvSpPr>
              <a:spLocks noChangeArrowheads="1"/>
            </p:cNvSpPr>
            <p:nvPr/>
          </p:nvSpPr>
          <p:spPr bwMode="auto">
            <a:xfrm>
              <a:off x="1791" y="3022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3" name="Rectangle 9"/>
            <p:cNvSpPr>
              <a:spLocks noChangeArrowheads="1"/>
            </p:cNvSpPr>
            <p:nvPr/>
          </p:nvSpPr>
          <p:spPr bwMode="auto">
            <a:xfrm>
              <a:off x="1791" y="3158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4" name="Rectangle 10"/>
            <p:cNvSpPr>
              <a:spLocks noChangeArrowheads="1"/>
            </p:cNvSpPr>
            <p:nvPr/>
          </p:nvSpPr>
          <p:spPr bwMode="auto">
            <a:xfrm>
              <a:off x="1791" y="3294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5" name="Rectangle 11"/>
            <p:cNvSpPr>
              <a:spLocks noChangeArrowheads="1"/>
            </p:cNvSpPr>
            <p:nvPr/>
          </p:nvSpPr>
          <p:spPr bwMode="auto">
            <a:xfrm>
              <a:off x="1791" y="3430"/>
              <a:ext cx="1270" cy="13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86" name="Line 12"/>
            <p:cNvSpPr>
              <a:spLocks noChangeShapeType="1"/>
            </p:cNvSpPr>
            <p:nvPr/>
          </p:nvSpPr>
          <p:spPr bwMode="auto">
            <a:xfrm>
              <a:off x="2426" y="2296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87" name="Line 13"/>
            <p:cNvSpPr>
              <a:spLocks noChangeShapeType="1"/>
            </p:cNvSpPr>
            <p:nvPr/>
          </p:nvSpPr>
          <p:spPr bwMode="auto">
            <a:xfrm>
              <a:off x="2426" y="2614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88" name="Line 14"/>
            <p:cNvSpPr>
              <a:spLocks noChangeShapeType="1"/>
            </p:cNvSpPr>
            <p:nvPr/>
          </p:nvSpPr>
          <p:spPr bwMode="auto">
            <a:xfrm>
              <a:off x="2426" y="3521"/>
              <a:ext cx="0" cy="40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89" name="Line 15"/>
            <p:cNvSpPr>
              <a:spLocks noChangeShapeType="1"/>
            </p:cNvSpPr>
            <p:nvPr/>
          </p:nvSpPr>
          <p:spPr bwMode="auto">
            <a:xfrm>
              <a:off x="2426" y="3521"/>
              <a:ext cx="10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90" name="Line 16"/>
            <p:cNvSpPr>
              <a:spLocks noChangeShapeType="1"/>
            </p:cNvSpPr>
            <p:nvPr/>
          </p:nvSpPr>
          <p:spPr bwMode="auto">
            <a:xfrm>
              <a:off x="1429" y="2659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9891" name="Rectangle 17"/>
            <p:cNvSpPr>
              <a:spLocks noChangeArrowheads="1"/>
            </p:cNvSpPr>
            <p:nvPr/>
          </p:nvSpPr>
          <p:spPr bwMode="auto">
            <a:xfrm>
              <a:off x="1791" y="2478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92" name="Rectangle 18"/>
            <p:cNvSpPr>
              <a:spLocks noChangeArrowheads="1"/>
            </p:cNvSpPr>
            <p:nvPr/>
          </p:nvSpPr>
          <p:spPr bwMode="auto">
            <a:xfrm>
              <a:off x="1791" y="2341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93" name="Rectangle 19"/>
            <p:cNvSpPr>
              <a:spLocks noChangeArrowheads="1"/>
            </p:cNvSpPr>
            <p:nvPr/>
          </p:nvSpPr>
          <p:spPr bwMode="auto">
            <a:xfrm>
              <a:off x="1791" y="3566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  <p:sp>
          <p:nvSpPr>
            <p:cNvPr id="79894" name="Rectangle 20"/>
            <p:cNvSpPr>
              <a:spLocks noChangeArrowheads="1"/>
            </p:cNvSpPr>
            <p:nvPr/>
          </p:nvSpPr>
          <p:spPr bwMode="auto">
            <a:xfrm>
              <a:off x="1791" y="3702"/>
              <a:ext cx="1270" cy="13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zh-CN" sz="1800"/>
            </a:p>
          </p:txBody>
        </p:sp>
      </p:grpSp>
      <p:sp>
        <p:nvSpPr>
          <p:cNvPr id="37894" name="Rectangle 21"/>
          <p:cNvSpPr>
            <a:spLocks noChangeArrowheads="1"/>
          </p:cNvSpPr>
          <p:nvPr/>
        </p:nvSpPr>
        <p:spPr bwMode="auto">
          <a:xfrm>
            <a:off x="4211638" y="3716338"/>
            <a:ext cx="4670425" cy="237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 sz="2800"/>
              <a:t>编译器识别出基本块以进行优化</a:t>
            </a:r>
            <a:endParaRPr lang="en-US" altLang="zh-CN" sz="2800"/>
          </a:p>
          <a:p>
            <a:pPr eaLnBrk="1" hangingPunct="1"/>
            <a:r>
              <a:rPr lang="en-US" altLang="zh-CN" sz="2800"/>
              <a:t>高级处理器可加快基本块的执行</a:t>
            </a:r>
            <a:endParaRPr lang="en-US" altLang="zh-CN" sz="2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630E3B28-4DC1-4025-968E-FD22BEC879DE}" type="slidenum">
              <a:rPr lang="en-AU" altLang="zh-CN" sz="1400"/>
            </a:fld>
            <a:endParaRPr lang="en-AU" altLang="zh-CN" sz="1400"/>
          </a:p>
        </p:txBody>
      </p:sp>
      <p:sp>
        <p:nvSpPr>
          <p:cNvPr id="819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更多条件操作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如果条件为true，则将结果设置为1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否则，设置为0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 rd, rs, rt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若（rs小于rt），rd设为1；否则rd设为0。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slti RT、RS和常数</a:t>
            </a: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若(rs小于常数），则rt设为1；否则设为0。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与beq、bne结合使用</a:t>
            </a:r>
            <a:endParaRPr lang="en-US" altLang="zh-CN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$t0，$s1，$s2 #如果（$s1&lt;$s2）不等于$t0，$零，跳转到L#分支至L</a:t>
            </a:r>
            <a:b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04450935-4E2D-4FCD-AACB-4DF109CE14B6}" type="slidenum">
              <a:rPr lang="en-AU" altLang="zh-CN" sz="1400"/>
            </a:fld>
            <a:endParaRPr lang="en-AU" altLang="zh-CN" sz="1400"/>
          </a:p>
        </p:txBody>
      </p:sp>
      <p:sp>
        <p:nvSpPr>
          <p:cNvPr id="839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分支指令设计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为什么不选择blt、bge等呢？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硬件的&lt;、≥，...慢于=、=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与分支结合会增加每条指令的工作量，需要更慢的时钟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solidFill>
                  <a:srgbClr val="008000"/>
                </a:solidFill>
                <a:ea typeface="宋体" panose="02010600030101010101" pitchFamily="2" charset="-122"/>
              </a:rPr>
              <a:t>所有指令均受处罚！</a:t>
            </a:r>
            <a:endParaRPr lang="en-US" altLang="zh-CN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rgbClr val="FF0000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beq和bne是常见用例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这是一个很好的设计折衷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FE646B9F-74F9-4DDA-9C82-0BC0D4BDFEC5}" type="slidenum">
              <a:rPr lang="en-AU" altLang="zh-CN" sz="1400"/>
            </a:fld>
            <a:endParaRPr lang="en-AU" altLang="zh-CN" sz="1400"/>
          </a:p>
        </p:txBody>
      </p:sp>
      <p:sp>
        <p:nvSpPr>
          <p:cNvPr id="860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签名与未签名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带符号比较：slt、slti</a:t>
            </a:r>
            <a:endParaRPr lang="en-AU" altLang="zh-CN" smtClean="0">
              <a:solidFill>
                <a:srgbClr val="FF000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无符号比较：sltu和sltui</a:t>
            </a:r>
            <a:endParaRPr lang="en-AU" altLang="zh-CN" smtClean="0">
              <a:solidFill>
                <a:srgbClr val="FF0000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样例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$s0 =  1111 1111 1111 1111 1111 1111 1111 1111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$s1 =  0000 0000 0000 0000 0000 0000 0000 0001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$t0、$s0和$s1的类型为有符号</a:t>
            </a:r>
            <a:endParaRPr lang="en-AU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mtClean="0">
                <a:ea typeface="宋体" panose="02010600030101010101" pitchFamily="2" charset="-122"/>
                <a:cs typeface="Arial" panose="020B0604020202020204" pitchFamily="34" charset="0"/>
              </a:rPr>
              <a:t>–1 &lt; +1  $t0 = 1</a:t>
            </a:r>
            <a:endParaRPr lang="en-AU" altLang="zh-CN" smtClean="0">
              <a:ea typeface="宋体" panose="02010600030101010101" pitchFamily="2" charset="-122"/>
              <a:cs typeface="Arial" panose="020B0604020202020204" pitchFamily="34" charset="0"/>
              <a:sym typeface="Symbol" panose="05050102010706020507" pitchFamily="18" charset="2"/>
            </a:endParaRPr>
          </a:p>
          <a:p>
            <a:pPr lvl="1" eaLnBrk="1" hangingPunct="1"/>
            <a:r>
              <a:rPr lang="en-AU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  <a:cs typeface="Arial" panose="020B0604020202020204" pitchFamily="34" charset="0"/>
                <a:sym typeface="Symbol" panose="05050102010706020507" pitchFamily="18" charset="2"/>
              </a:rPr>
              <a:t>sltu $t0，$s0，$s1 #无符号</a:t>
            </a:r>
            <a:endParaRPr lang="en-AU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  <a:cs typeface="Arial" panose="020B0604020202020204" pitchFamily="34" charset="0"/>
              <a:sym typeface="Symbol" panose="05050102010706020507" pitchFamily="18" charset="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+4,294,967,295 &gt; +1  $t0 = 0</a:t>
            </a:r>
            <a:endParaRPr lang="en-AU" altLang="zh-CN" smtClean="0">
              <a:ea typeface="宋体" panose="02010600030101010101" pitchFamily="2" charset="-122"/>
              <a:sym typeface="Symbol" panose="05050102010706020507" pitchFamily="18" charset="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F2FB8B8-A9F9-46F4-82B5-96AEF82C28B8}" type="slidenum">
              <a:rPr lang="en-AU" altLang="zh-CN" sz="1400"/>
            </a:fld>
            <a:endParaRPr lang="en-AU" altLang="zh-CN" sz="1400"/>
          </a:p>
        </p:txBody>
      </p:sp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程序调用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defRPr/>
            </a:pPr>
            <a:r>
              <a:rPr lang="en-US" dirty="0" smtClean="0"/>
              <a:t>程序支持结构化程序</a:t>
            </a:r>
            <a:endParaRPr lang="en-US" dirty="0" smtClean="0"/>
          </a:p>
          <a:p>
            <a:pPr marL="1009650" lvl="1" indent="-609600" eaLnBrk="1" hangingPunct="1">
              <a:defRPr/>
            </a:pPr>
            <a:r>
              <a:rPr lang="en-US" dirty="0" smtClean="0"/>
              <a:t>更容易理解和重用代码</a:t>
            </a:r>
            <a:endParaRPr lang="en-US" dirty="0" smtClean="0"/>
          </a:p>
          <a:p>
            <a:pPr marL="609600" indent="-609600" eaLnBrk="1" hangingPunct="1">
              <a:defRPr/>
            </a:pPr>
            <a:r>
              <a:rPr lang="en-US" dirty="0" smtClean="0"/>
              <a:t>所需步骤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将参数存入寄存器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将控制转移到程序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为手术获取储存空间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执行程序操作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将结果存入调用方的寄存器</a:t>
            </a:r>
            <a:endParaRPr lang="en-US" dirty="0" smtClean="0"/>
          </a:p>
          <a:p>
            <a:pPr marL="990600" lvl="1" indent="-533400" eaLnBrk="1" hangingPunct="1">
              <a:buSzTx/>
              <a:buFont typeface="Wingdings" panose="05000000000000000000" pitchFamily="2" charset="2"/>
              <a:buAutoNum type="arabicPeriod"/>
              <a:defRPr/>
            </a:pPr>
            <a:r>
              <a:rPr lang="en-US" dirty="0" smtClean="0"/>
              <a:t>返回呼叫地点</a:t>
            </a:r>
            <a:endParaRPr lang="en-US" dirty="0" smtClean="0"/>
          </a:p>
        </p:txBody>
      </p:sp>
      <p:sp>
        <p:nvSpPr>
          <p:cNvPr id="88069" name="Text Box 4"/>
          <p:cNvSpPr txBox="1">
            <a:spLocks noChangeArrowheads="1"/>
          </p:cNvSpPr>
          <p:nvPr/>
        </p:nvSpPr>
        <p:spPr bwMode="auto">
          <a:xfrm rot="5400000">
            <a:off x="6265069" y="2512219"/>
            <a:ext cx="5391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第2.8节计算机硬件中的支持程序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0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E034A40F-1245-4B82-8D47-899A32757709}" type="slidenum">
              <a:rPr lang="en-AU" altLang="zh-CN" sz="1400"/>
            </a:fld>
            <a:endParaRPr lang="en-AU" altLang="zh-CN" sz="1400"/>
          </a:p>
        </p:txBody>
      </p:sp>
      <p:sp>
        <p:nvSpPr>
          <p:cNvPr id="901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注册使用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a0至a3：参数（寄存器4至7）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$v0和$v1：结果（即返回）值（寄存器2和3）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t0至t9：临时变量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可被调用者覆盖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$s0-$s7：已保存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必须由被调用方保存/恢复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$gp：静态数据的全局指针（寄存器28)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$s：堆栈指针（寄存器29)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$fp：帧指针（寄存器30)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$ra：返回地址（寄存器31)</a:t>
            </a:r>
            <a:endParaRPr lang="en-US" altLang="zh-CN" sz="28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40DC9B75-5767-4CFD-BC16-47DA03CC6164}" type="slidenum">
              <a:rPr lang="en-AU" altLang="zh-CN" sz="1400"/>
            </a:fld>
            <a:endParaRPr lang="en-AU" altLang="zh-CN" sz="1400"/>
          </a:p>
        </p:txBody>
      </p:sp>
      <p:sp>
        <p:nvSpPr>
          <p:cNvPr id="921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程序调用说明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程序调用：跳转和链接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jal ProcedureLabel</a:t>
            </a:r>
            <a:endParaRPr lang="en-US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将以下指令的地址放入ra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跳转到目标地址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程序返回：跳转寄存器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jr $ra</a:t>
            </a:r>
            <a:endParaRPr lang="en-US" altLang="zh-CN" sz="28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将ra复制到程序计数器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也可用于计算跳跃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例如，对于case/switch语句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66470399-46AE-4DDF-BFC7-0C87991FEA4C}" type="slidenum">
              <a:rPr lang="en-AU" altLang="zh-CN" sz="1400"/>
            </a:fld>
            <a:endParaRPr lang="en-AU" altLang="zh-CN" sz="1400"/>
          </a:p>
        </p:txBody>
      </p:sp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叶程序示例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4391025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int leaf_example（int g，h，i，j）{ int f；f =（g + h）-（i + j）；return f；}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在$a0，...，$a3中的参数$g，...，j$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f在s0中（因此，需要将s0保存到堆栈中）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结果为v0</a:t>
            </a:r>
            <a:endParaRPr lang="en-AU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9270A9C-CE22-47BA-9F25-FAC6DAAED9B9}" type="slidenum">
              <a:rPr lang="en-AU" altLang="zh-CN" sz="1400"/>
            </a:fld>
            <a:endParaRPr lang="en-AU" altLang="zh-CN" sz="1400"/>
          </a:p>
        </p:txBody>
      </p:sp>
      <p:sp>
        <p:nvSpPr>
          <p:cNvPr id="96259" name="Rectangle 12"/>
          <p:cNvSpPr>
            <a:spLocks noChangeArrowheads="1"/>
          </p:cNvSpPr>
          <p:nvPr/>
        </p:nvSpPr>
        <p:spPr bwMode="auto">
          <a:xfrm>
            <a:off x="990600" y="2082800"/>
            <a:ext cx="5021263" cy="7747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0" name="Rectangle 15"/>
          <p:cNvSpPr>
            <a:spLocks noChangeArrowheads="1"/>
          </p:cNvSpPr>
          <p:nvPr/>
        </p:nvSpPr>
        <p:spPr bwMode="auto">
          <a:xfrm>
            <a:off x="990600" y="2857500"/>
            <a:ext cx="5021263" cy="114776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1" name="Rectangle 16"/>
          <p:cNvSpPr>
            <a:spLocks noChangeArrowheads="1"/>
          </p:cNvSpPr>
          <p:nvPr/>
        </p:nvSpPr>
        <p:spPr bwMode="auto">
          <a:xfrm>
            <a:off x="990600" y="4005263"/>
            <a:ext cx="5021263" cy="366712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2" name="Rectangle 19"/>
          <p:cNvSpPr>
            <a:spLocks noChangeArrowheads="1"/>
          </p:cNvSpPr>
          <p:nvPr/>
        </p:nvSpPr>
        <p:spPr bwMode="auto">
          <a:xfrm>
            <a:off x="990600" y="1676400"/>
            <a:ext cx="5021263" cy="4064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3" name="Rectangle 20"/>
          <p:cNvSpPr>
            <a:spLocks noChangeArrowheads="1"/>
          </p:cNvSpPr>
          <p:nvPr/>
        </p:nvSpPr>
        <p:spPr bwMode="auto">
          <a:xfrm>
            <a:off x="990600" y="4371975"/>
            <a:ext cx="5021263" cy="78581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4" name="Rectangle 21"/>
          <p:cNvSpPr>
            <a:spLocks noChangeArrowheads="1"/>
          </p:cNvSpPr>
          <p:nvPr/>
        </p:nvSpPr>
        <p:spPr bwMode="auto">
          <a:xfrm>
            <a:off x="990600" y="5157788"/>
            <a:ext cx="5021263" cy="39528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962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叶程序示例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626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MIPS代码：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leaf示例：加法指令：addi $sp，$sp，-4；减法指令：sw $s0,0（$sp）；加法指令：add $t0，$a0，$a1；加法指令：add $t1，$a2，$a3；减法指令：sub $s0，$t0，$t1；加法指令：add $v0，$s0，$zero；左移指令：lw $s0,0（$sp）；加法指令：addi $sp，$sp，4；跳转指令：jr $ra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96267" name="Text Box 4"/>
          <p:cNvSpPr txBox="1">
            <a:spLocks noChangeArrowheads="1"/>
          </p:cNvSpPr>
          <p:nvPr/>
        </p:nvSpPr>
        <p:spPr bwMode="auto">
          <a:xfrm>
            <a:off x="6224588" y="2347913"/>
            <a:ext cx="20018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在堆栈上保存s0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68" name="Text Box 5"/>
          <p:cNvSpPr txBox="1">
            <a:spLocks noChangeArrowheads="1"/>
          </p:cNvSpPr>
          <p:nvPr/>
        </p:nvSpPr>
        <p:spPr bwMode="auto">
          <a:xfrm>
            <a:off x="6224588" y="3213100"/>
            <a:ext cx="176212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程序主体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69" name="Text Box 6"/>
          <p:cNvSpPr txBox="1">
            <a:spLocks noChangeArrowheads="1"/>
          </p:cNvSpPr>
          <p:nvPr/>
        </p:nvSpPr>
        <p:spPr bwMode="auto">
          <a:xfrm>
            <a:off x="6224588" y="4581525"/>
            <a:ext cx="13747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还原s0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70" name="Text Box 10"/>
          <p:cNvSpPr txBox="1">
            <a:spLocks noChangeArrowheads="1"/>
          </p:cNvSpPr>
          <p:nvPr/>
        </p:nvSpPr>
        <p:spPr bwMode="auto">
          <a:xfrm>
            <a:off x="6224588" y="4005263"/>
            <a:ext cx="8032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结果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6271" name="Text Box 11"/>
          <p:cNvSpPr txBox="1">
            <a:spLocks noChangeArrowheads="1"/>
          </p:cNvSpPr>
          <p:nvPr/>
        </p:nvSpPr>
        <p:spPr bwMode="auto">
          <a:xfrm>
            <a:off x="6215063" y="5157788"/>
            <a:ext cx="8588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返回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16" name="TextBox 15"/>
          <p:cNvSpPr txBox="1">
            <a:spLocks noChangeArrowheads="1"/>
          </p:cNvSpPr>
          <p:nvPr/>
        </p:nvSpPr>
        <p:spPr bwMode="auto">
          <a:xfrm>
            <a:off x="250825" y="5949950"/>
            <a:ext cx="87852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b="1"/>
              <a:t>想想80x86和MIPS过程指令之间的区别！</a:t>
            </a:r>
            <a:endParaRPr lang="zh-CN" altLang="en-US" sz="180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16B53096-C0CC-49B6-B45D-1323FC109CAF}" type="slidenum">
              <a:rPr lang="en-AU" altLang="zh-CN" sz="1400"/>
            </a:fld>
            <a:endParaRPr lang="en-AU" altLang="zh-CN" sz="1400"/>
          </a:p>
        </p:txBody>
      </p:sp>
      <p:sp>
        <p:nvSpPr>
          <p:cNvPr id="983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非叶程序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600" smtClean="0">
                <a:ea typeface="宋体" panose="02010600030101010101" pitchFamily="2" charset="-122"/>
              </a:rPr>
              <a:t>调用其他过程的程序</a:t>
            </a:r>
            <a:endParaRPr lang="en-US" altLang="zh-CN" sz="26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600" smtClean="0">
                <a:ea typeface="宋体" panose="02010600030101010101" pitchFamily="2" charset="-122"/>
              </a:rPr>
              <a:t>对于嵌套调用，调用者需要在堆栈上保存：</a:t>
            </a:r>
            <a:endParaRPr lang="en-US" altLang="zh-CN" sz="26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所有保存的寄存器均被使用，范围为$s0-$s7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其返回地址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通话结束后需要的任何参数和临时变量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例如，假设主程序调用过程A，并将参数3存入a0，随后使用jal A指令。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如果过程A通过jal B调用过程B，并将参数7放置在$a0寄存器中，那么就会出现关于使用$a0寄存器的冲突。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600" smtClean="0">
                <a:ea typeface="宋体" panose="02010600030101010101" pitchFamily="2" charset="-122"/>
              </a:rPr>
              <a:t>调用后从堆栈中恢复</a:t>
            </a:r>
            <a:endParaRPr lang="en-AU" altLang="zh-CN" sz="26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1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1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71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1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1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A7496267-7E41-4DD6-9F22-467AEF0FCF1B}" type="slidenum">
              <a:rPr lang="en-AU" altLang="zh-CN" sz="1400"/>
            </a:fld>
            <a:endParaRPr lang="en-AU" altLang="zh-CN" sz="1400"/>
          </a:p>
        </p:txBody>
      </p:sp>
      <p:sp>
        <p:nvSpPr>
          <p:cNvPr id="1003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非叶手术示例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C代码：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fact(n)的定义为：如果n小于1，则返回1；否则，返回n乘以fact（n-1）。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参数n位于a0中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结果为$v0</a:t>
            </a:r>
            <a:endParaRPr lang="en-AU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B74A540-3BCD-4519-B62C-F540150E9845}" type="slidenum">
              <a:rPr lang="en-AU" altLang="zh-CN" sz="1400"/>
            </a:fld>
            <a:endParaRPr lang="en-AU" altLang="zh-CN" sz="1400"/>
          </a:p>
        </p:txBody>
      </p:sp>
      <p:sp>
        <p:nvSpPr>
          <p:cNvPr id="102403" name="Rectangle 4"/>
          <p:cNvSpPr>
            <a:spLocks noChangeArrowheads="1"/>
          </p:cNvSpPr>
          <p:nvPr/>
        </p:nvSpPr>
        <p:spPr bwMode="auto">
          <a:xfrm>
            <a:off x="1038225" y="1647825"/>
            <a:ext cx="7372350" cy="285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4" name="Rectangle 5"/>
          <p:cNvSpPr>
            <a:spLocks noChangeArrowheads="1"/>
          </p:cNvSpPr>
          <p:nvPr/>
        </p:nvSpPr>
        <p:spPr bwMode="auto">
          <a:xfrm>
            <a:off x="1038225" y="1933575"/>
            <a:ext cx="7372350" cy="82232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5" name="Rectangle 6"/>
          <p:cNvSpPr>
            <a:spLocks noChangeArrowheads="1"/>
          </p:cNvSpPr>
          <p:nvPr/>
        </p:nvSpPr>
        <p:spPr bwMode="auto">
          <a:xfrm>
            <a:off x="1038225" y="2755900"/>
            <a:ext cx="7372350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6" name="Rectangle 7"/>
          <p:cNvSpPr>
            <a:spLocks noChangeArrowheads="1"/>
          </p:cNvSpPr>
          <p:nvPr/>
        </p:nvSpPr>
        <p:spPr bwMode="auto">
          <a:xfrm>
            <a:off x="1038225" y="3308350"/>
            <a:ext cx="7372350" cy="8318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7" name="Rectangle 8"/>
          <p:cNvSpPr>
            <a:spLocks noChangeArrowheads="1"/>
          </p:cNvSpPr>
          <p:nvPr/>
        </p:nvSpPr>
        <p:spPr bwMode="auto">
          <a:xfrm>
            <a:off x="1038225" y="4140200"/>
            <a:ext cx="7372350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8" name="Rectangle 9"/>
          <p:cNvSpPr>
            <a:spLocks noChangeArrowheads="1"/>
          </p:cNvSpPr>
          <p:nvPr/>
        </p:nvSpPr>
        <p:spPr bwMode="auto">
          <a:xfrm>
            <a:off x="1038225" y="4692650"/>
            <a:ext cx="7372350" cy="8128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09" name="Rectangle 10"/>
          <p:cNvSpPr>
            <a:spLocks noChangeArrowheads="1"/>
          </p:cNvSpPr>
          <p:nvPr/>
        </p:nvSpPr>
        <p:spPr bwMode="auto">
          <a:xfrm>
            <a:off x="1038225" y="5505450"/>
            <a:ext cx="7372350" cy="2730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10" name="Rectangle 11"/>
          <p:cNvSpPr>
            <a:spLocks noChangeArrowheads="1"/>
          </p:cNvSpPr>
          <p:nvPr/>
        </p:nvSpPr>
        <p:spPr bwMode="auto">
          <a:xfrm>
            <a:off x="1038225" y="5778500"/>
            <a:ext cx="7372350" cy="298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02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非叶手术示例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241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MIPS代码：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事实：addi $sp，$sp，-8 #调整堆栈以容纳2个项目sw $ra，4（$sp）#保存返回地址sw $a0,0（$sp）#保存参数slti $t0，$a0,1 #检查n是否小于1，如果小于则跳转到L1 addi $v0，$zero，1 #如果小于，则结果为1 addi $sp，$sp，8 #弹出堆栈中的2个项目jr $ra #返回L1：addi$a0，$a0，-1#否则，减少n jal fact #递归调用lw $a0,0（$sp）#恢复原始n lw $ra，4（$sp）#返回地址addi $sp，$sp，8 #弹出堆栈中的2个项目mul $v0，$a0，$v0 #乘法运算以获得结果jr $ra #返回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1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MIPS寄存器约定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04451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88F84767-87A5-46A9-8308-B5620FA7BE6D}" type="slidenum">
              <a:rPr lang="en-AU" altLang="zh-CN" sz="1400"/>
            </a:fld>
            <a:endParaRPr lang="en-AU" altLang="zh-CN" sz="1400"/>
          </a:p>
        </p:txBody>
      </p:sp>
      <p:pic>
        <p:nvPicPr>
          <p:cNvPr id="104452" name="Picture 4" descr="f02-14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1158875"/>
            <a:ext cx="8535987" cy="4141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4453" name="Rectangle 5"/>
          <p:cNvSpPr>
            <a:spLocks noChangeArrowheads="1"/>
          </p:cNvSpPr>
          <p:nvPr/>
        </p:nvSpPr>
        <p:spPr bwMode="auto">
          <a:xfrm>
            <a:off x="411163" y="5300663"/>
            <a:ext cx="8624887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400"/>
              <a:t>寄存器1，称为$at，是为汇编程序保留的，寄存器26−27，称为$k0−$k1，是为操作系统保留的。</a:t>
            </a:r>
            <a:endParaRPr lang="en-US" altLang="zh-CN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77DF8E7E-3DD5-4FA3-8E61-DE8C75C01116}" type="slidenum">
              <a:rPr lang="en-AU" altLang="zh-CN" sz="1400"/>
            </a:fld>
            <a:endParaRPr lang="en-AU" altLang="zh-CN" sz="1400"/>
          </a:p>
        </p:txBody>
      </p:sp>
      <p:sp>
        <p:nvSpPr>
          <p:cNvPr id="106499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堆栈上的本地数据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6500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684213" y="4581525"/>
            <a:ext cx="8270875" cy="16557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由被调方分配的本地数据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例如，C自动变量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程序帧（激活记录）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被一些编译器用来管理堆栈存储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  <p:pic>
        <p:nvPicPr>
          <p:cNvPr id="106501" name="Picture 9" descr="f02-12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63" y="1268413"/>
            <a:ext cx="6567487" cy="318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8068A123-2444-4136-A536-040D8D6FFF71}" type="slidenum">
              <a:rPr lang="en-AU" altLang="zh-CN" sz="1400"/>
            </a:fld>
            <a:endParaRPr lang="en-AU" altLang="zh-CN" sz="1400"/>
          </a:p>
        </p:txBody>
      </p:sp>
      <p:pic>
        <p:nvPicPr>
          <p:cNvPr id="108547" name="Picture 8" descr="f02-13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1775" y="2060575"/>
            <a:ext cx="3617913" cy="3011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8548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内存布局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3253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539750" y="1125538"/>
            <a:ext cx="5040313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文本：程序代码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静态数据：全局变量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例如，C语言中的静态变量、常量数组和字符串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$gp初始化为允许±偏移量进入此段的地址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动态数据：堆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例如，C语言中的malloc（）、Java语言中的new、链表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必须在C中使用free（）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内存泄漏问题！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solidFill>
                  <a:srgbClr val="009900"/>
                </a:solidFill>
                <a:ea typeface="宋体" panose="02010600030101010101" pitchFamily="2" charset="-122"/>
              </a:rPr>
              <a:t>堆栈：自动存储</a:t>
            </a:r>
            <a:endParaRPr lang="en-AU" altLang="zh-CN" sz="28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5B8E9F0F-FFF1-44C0-8AF0-BEBF753E0446}" type="slidenum">
              <a:rPr lang="en-AU" altLang="zh-CN" sz="1400"/>
            </a:fld>
            <a:endParaRPr lang="en-AU" altLang="zh-CN" sz="1400"/>
          </a:p>
        </p:txBody>
      </p:sp>
      <p:sp>
        <p:nvSpPr>
          <p:cNvPr id="1105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字符数据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400" smtClean="0">
                <a:ea typeface="宋体" panose="02010600030101010101" pitchFamily="2" charset="-122"/>
              </a:rPr>
              <a:t>字节编码字符集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solidFill>
                  <a:srgbClr val="FF0000"/>
                </a:solidFill>
                <a:ea typeface="宋体" panose="02010600030101010101" pitchFamily="2" charset="-122"/>
              </a:rPr>
              <a:t>ASCII：128个字符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1800" smtClean="0">
                <a:ea typeface="宋体" panose="02010600030101010101" pitchFamily="2" charset="-122"/>
              </a:rPr>
              <a:t>95个图形，33个不可打印的控制（现已几乎过时）</a:t>
            </a:r>
            <a:endParaRPr lang="en-US" altLang="zh-CN" sz="1800" smtClean="0"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endParaRPr lang="en-US" altLang="zh-CN" sz="20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solidFill>
                  <a:srgbClr val="FF0000"/>
                </a:solidFill>
                <a:ea typeface="宋体" panose="02010600030101010101" pitchFamily="2" charset="-122"/>
              </a:rPr>
              <a:t>拉丁文-1：256个字符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1800" smtClean="0">
                <a:ea typeface="宋体" panose="02010600030101010101" pitchFamily="2" charset="-122"/>
              </a:rPr>
              <a:t>ASCII，+96个更多图形字符</a:t>
            </a:r>
            <a:endParaRPr lang="en-US" altLang="zh-CN" sz="1800" smtClean="0">
              <a:ea typeface="宋体" panose="02010600030101010101" pitchFamily="2" charset="-122"/>
            </a:endParaRPr>
          </a:p>
        </p:txBody>
      </p:sp>
      <p:sp>
        <p:nvSpPr>
          <p:cNvPr id="110597" name="Text Box 4"/>
          <p:cNvSpPr txBox="1">
            <a:spLocks noChangeArrowheads="1"/>
          </p:cNvSpPr>
          <p:nvPr/>
        </p:nvSpPr>
        <p:spPr bwMode="auto">
          <a:xfrm rot="5400000">
            <a:off x="7198519" y="1578769"/>
            <a:ext cx="35242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第2.9条与人沟通</a:t>
            </a:r>
            <a:endParaRPr lang="en-US" altLang="zh-CN" sz="1800">
              <a:solidFill>
                <a:schemeClr val="folHlink"/>
              </a:solidFill>
            </a:endParaRPr>
          </a:p>
        </p:txBody>
      </p:sp>
      <p:pic>
        <p:nvPicPr>
          <p:cNvPr id="55302" name="Picture 4" descr="f02-15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2297113"/>
            <a:ext cx="6989763" cy="3357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字符数据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1264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Unicode：32位字符集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ea typeface="宋体" panose="02010600030101010101" pitchFamily="2" charset="-122"/>
              </a:rPr>
              <a:t>在Java中使用C++宽字符，...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ea typeface="宋体" panose="02010600030101010101" pitchFamily="2" charset="-122"/>
              </a:rPr>
              <a:t>UTF-8、UTF-16：可变长度编码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smtClean="0">
                <a:ea typeface="宋体" panose="02010600030101010101" pitchFamily="2" charset="-122"/>
              </a:rPr>
              <a:t>世界上大多数字母表，加上符号</a:t>
            </a:r>
            <a:endParaRPr lang="en-AU" altLang="zh-CN" sz="2000" smtClean="0">
              <a:ea typeface="宋体" panose="02010600030101010101" pitchFamily="2" charset="-122"/>
            </a:endParaRPr>
          </a:p>
          <a:p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1264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3E2C6330-CCCF-4B74-A4B7-864CDA7DE09B}" type="slidenum">
              <a:rPr lang="en-AU" altLang="zh-CN" sz="1400"/>
            </a:fld>
            <a:endParaRPr lang="en-AU" altLang="zh-CN" sz="1400"/>
          </a:p>
        </p:txBody>
      </p:sp>
      <p:pic>
        <p:nvPicPr>
          <p:cNvPr id="112645" name="Picture 4" descr="f02-16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5875" y="2714625"/>
            <a:ext cx="6581775" cy="3748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A9A25772-1321-41D7-891D-900C61E47F8E}" type="slidenum">
              <a:rPr lang="en-AU" altLang="zh-CN" sz="1400"/>
            </a:fld>
            <a:endParaRPr lang="en-AU" altLang="zh-CN" sz="1400"/>
          </a:p>
        </p:txBody>
      </p:sp>
      <p:sp>
        <p:nvSpPr>
          <p:cNvPr id="1136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字节/半字操作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要操纵文本（例如ASCII字符），必须使用字节操作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MIPS字节/半字加载/存储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字符串处理是一个常见案例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左基准线（LB），偏移量（RS）；右基准线（RH），偏移量（RS）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在rt中将符号扩展到32位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lbu RT，偏移量（RS）；lhu RT，偏移量（RS）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在rt中，零扩展到32位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6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SB RT，偏移量（RS）；SH RT，偏移量（RS）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存储最右侧字节/半字</a:t>
            </a:r>
            <a:endParaRPr lang="en-AU" altLang="zh-CN" dirty="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3D46F6B1-B95B-45CD-9CD8-5E6025E9CA04}" type="slidenum">
              <a:rPr lang="en-AU" altLang="zh-CN" sz="1400"/>
            </a:fld>
            <a:endParaRPr lang="en-AU" altLang="zh-CN" sz="1400"/>
          </a:p>
        </p:txBody>
      </p:sp>
      <p:sp>
        <p:nvSpPr>
          <p:cNvPr id="1157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字符串复制示例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C代码（简单）：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空终止字符串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  <a:t>函数strcpy（x[]，y[]）：通过循环逐个比较字符串中的字符。具体实现为：i = 0；当x[i]与y[i]不相等且未到达字符串末尾时，i递增1。</a:t>
            </a: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2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2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在$a0和$a1中x和y的地址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在$s0中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850A378-DD87-4F3C-927E-63FFD0B851A8}" type="slidenum">
              <a:rPr lang="en-AU" altLang="zh-CN" sz="1400"/>
            </a:fld>
            <a:endParaRPr lang="en-AU" altLang="zh-CN" sz="1400"/>
          </a:p>
        </p:txBody>
      </p:sp>
      <p:sp>
        <p:nvSpPr>
          <p:cNvPr id="117763" name="Rectangle 4"/>
          <p:cNvSpPr>
            <a:spLocks noChangeArrowheads="1"/>
          </p:cNvSpPr>
          <p:nvPr/>
        </p:nvSpPr>
        <p:spPr bwMode="auto">
          <a:xfrm>
            <a:off x="1009650" y="1657350"/>
            <a:ext cx="7477125" cy="2794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4" name="Rectangle 5"/>
          <p:cNvSpPr>
            <a:spLocks noChangeArrowheads="1"/>
          </p:cNvSpPr>
          <p:nvPr/>
        </p:nvSpPr>
        <p:spPr bwMode="auto">
          <a:xfrm>
            <a:off x="1009650" y="1936750"/>
            <a:ext cx="7477125" cy="5461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5" name="Rectangle 6"/>
          <p:cNvSpPr>
            <a:spLocks noChangeArrowheads="1"/>
          </p:cNvSpPr>
          <p:nvPr/>
        </p:nvSpPr>
        <p:spPr bwMode="auto">
          <a:xfrm>
            <a:off x="1009650" y="2482850"/>
            <a:ext cx="7477125" cy="2794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6" name="Rectangle 7"/>
          <p:cNvSpPr>
            <a:spLocks noChangeArrowheads="1"/>
          </p:cNvSpPr>
          <p:nvPr/>
        </p:nvSpPr>
        <p:spPr bwMode="auto">
          <a:xfrm>
            <a:off x="1009650" y="2762250"/>
            <a:ext cx="7477125" cy="539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7" name="Rectangle 8"/>
          <p:cNvSpPr>
            <a:spLocks noChangeArrowheads="1"/>
          </p:cNvSpPr>
          <p:nvPr/>
        </p:nvSpPr>
        <p:spPr bwMode="auto">
          <a:xfrm>
            <a:off x="1009650" y="3302000"/>
            <a:ext cx="7477125" cy="5588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8" name="Rectangle 9"/>
          <p:cNvSpPr>
            <a:spLocks noChangeArrowheads="1"/>
          </p:cNvSpPr>
          <p:nvPr/>
        </p:nvSpPr>
        <p:spPr bwMode="auto">
          <a:xfrm>
            <a:off x="1009650" y="3860800"/>
            <a:ext cx="7477125" cy="2730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69" name="Rectangle 10"/>
          <p:cNvSpPr>
            <a:spLocks noChangeArrowheads="1"/>
          </p:cNvSpPr>
          <p:nvPr/>
        </p:nvSpPr>
        <p:spPr bwMode="auto">
          <a:xfrm>
            <a:off x="1009650" y="4133850"/>
            <a:ext cx="7477125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70" name="Rectangle 11"/>
          <p:cNvSpPr>
            <a:spLocks noChangeArrowheads="1"/>
          </p:cNvSpPr>
          <p:nvPr/>
        </p:nvSpPr>
        <p:spPr bwMode="auto">
          <a:xfrm>
            <a:off x="1009650" y="4686300"/>
            <a:ext cx="7477125" cy="5524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71" name="Rectangle 12"/>
          <p:cNvSpPr>
            <a:spLocks noChangeArrowheads="1"/>
          </p:cNvSpPr>
          <p:nvPr/>
        </p:nvSpPr>
        <p:spPr bwMode="auto">
          <a:xfrm>
            <a:off x="1009650" y="5238750"/>
            <a:ext cx="7477125" cy="285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777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字符串复制示例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1777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MIPS代码：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  <a:t>strcpy：加$sp，$sp，-4 #调整堆栈以容纳一个元素sw $s0,0（$sp）#存储$s0加$s0，$零，$零#将$i设置为0 L1：加$t1，$s0，$a1 #将$t1设置为y[i]的地址lbu $t2,0（$t1）#将$t2设置为y[i]加$t3，$s0，$a0 #将$t3设置为x[i]的地址sb $t2,0（$t3）#将x[i]设置为y[i] beq $t2，$零，L2 #如果y[i]为0，则退出循环加$s0，$s0,1#将$i增加1+1 j L1 #进入下一次循环L2：lw$s0,0（$sp）#恢复保存的$s0加$sp，$sp，4#从堆栈中弹出一个元素返回</a:t>
            </a: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z="1800" smtClean="0"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z="18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 dirty="0"/>
              <a:t>第2章——说明：计算机语言——</a:t>
            </a:r>
            <a:fld id="{539A83A0-668E-4483-B327-62B14C6A2F11}" type="slidenum">
              <a:rPr lang="en-AU" altLang="zh-CN" sz="1400" dirty="0"/>
            </a:fld>
            <a:endParaRPr lang="en-AU" altLang="zh-CN" sz="1400" dirty="0"/>
          </a:p>
        </p:txBody>
      </p:sp>
      <p:sp>
        <p:nvSpPr>
          <p:cNvPr id="58371" name="Rectangle 11"/>
          <p:cNvSpPr>
            <a:spLocks noChangeArrowheads="1"/>
          </p:cNvSpPr>
          <p:nvPr/>
        </p:nvSpPr>
        <p:spPr bwMode="auto">
          <a:xfrm>
            <a:off x="3363913" y="4143375"/>
            <a:ext cx="2570162" cy="41116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58372" name="Text Box 4"/>
          <p:cNvSpPr txBox="1">
            <a:spLocks noChangeArrowheads="1"/>
          </p:cNvSpPr>
          <p:nvPr/>
        </p:nvSpPr>
        <p:spPr bwMode="auto">
          <a:xfrm>
            <a:off x="3363913" y="414813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0000 0000 0111 1101 0000 0000 0000 0000</a:t>
            </a:r>
            <a:endParaRPr lang="en-AU" altLang="zh-CN" sz="2000"/>
          </a:p>
        </p:txBody>
      </p:sp>
      <p:sp>
        <p:nvSpPr>
          <p:cNvPr id="58373" name="Rectangle 12"/>
          <p:cNvSpPr>
            <a:spLocks noChangeArrowheads="1"/>
          </p:cNvSpPr>
          <p:nvPr/>
        </p:nvSpPr>
        <p:spPr bwMode="auto">
          <a:xfrm>
            <a:off x="5934075" y="4791075"/>
            <a:ext cx="2633663" cy="411163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19814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32位常量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8375" name="Rectangle 10"/>
          <p:cNvSpPr>
            <a:spLocks noGrp="1" noChangeArrowheads="1"/>
          </p:cNvSpPr>
          <p:nvPr>
            <p:ph type="body" idx="1"/>
          </p:nvPr>
        </p:nvSpPr>
        <p:spPr>
          <a:xfrm>
            <a:off x="684213" y="1071563"/>
            <a:ext cx="8270875" cy="5143500"/>
          </a:xfrm>
        </p:spPr>
        <p:txBody>
          <a:bodyPr/>
          <a:lstStyle/>
          <a:p>
            <a:pPr eaLnBrk="1" hangingPunct="1"/>
            <a:r>
              <a:rPr lang="en-US" altLang="zh-CN" sz="2400" dirty="0" smtClean="0">
                <a:ea typeface="宋体" panose="02010600030101010101" pitchFamily="2" charset="-122"/>
              </a:rPr>
              <a:t>大多数常数都很小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dirty="0" smtClean="0">
                <a:ea typeface="宋体" panose="02010600030101010101" pitchFamily="2" charset="-122"/>
              </a:rPr>
              <a:t>16位即时内存已足够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400" dirty="0" smtClean="0">
                <a:ea typeface="宋体" panose="02010600030101010101" pitchFamily="2" charset="-122"/>
              </a:rPr>
              <a:t>用于偶尔使用的32位常量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4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他总是如此，始终如一。</a:t>
            </a:r>
            <a:endParaRPr lang="en-US" altLang="zh-CN" sz="24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000" dirty="0" smtClean="0">
                <a:ea typeface="宋体" panose="02010600030101010101" pitchFamily="2" charset="-122"/>
              </a:rPr>
              <a:t>将16位常量复制到rt的左16位；清除rt的右16位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400" dirty="0" smtClean="0">
                <a:ea typeface="宋体" panose="02010600030101010101" pitchFamily="2" charset="-122"/>
              </a:rPr>
              <a:t>示例：如何将32位常量加载到$s0中？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sz="2400" dirty="0" smtClean="0">
                <a:solidFill>
                  <a:srgbClr val="008000"/>
                </a:solidFill>
                <a:ea typeface="宋体" panose="02010600030101010101" pitchFamily="2" charset="-122"/>
              </a:rPr>
              <a:t>0000 0000 0111 1101 0000 1001 0000 0000</a:t>
            </a: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CN" sz="2400" dirty="0" smtClean="0">
              <a:solidFill>
                <a:srgbClr val="008000"/>
              </a:solidFill>
              <a:ea typeface="宋体" panose="02010600030101010101" pitchFamily="2" charset="-122"/>
            </a:endParaRPr>
          </a:p>
          <a:p>
            <a:pPr eaLnBrk="1" hangingPunct="1">
              <a:buClr>
                <a:srgbClr val="ECEAAC"/>
              </a:buClr>
            </a:pPr>
            <a:r>
              <a:rPr lang="en-US" altLang="zh-CN" sz="2400" dirty="0" smtClean="0">
                <a:solidFill>
                  <a:srgbClr val="000000"/>
                </a:solidFill>
                <a:ea typeface="宋体" panose="02010600030101010101" pitchFamily="2" charset="-122"/>
              </a:rPr>
              <a:t>通常情况下，汇编器负责将一个大常量拆分并重新组装到寄存器中（使用预留的寄存器$at )。</a:t>
            </a:r>
            <a:endParaRPr lang="en-US" altLang="zh-CN" sz="2400" dirty="0" smtClean="0">
              <a:solidFill>
                <a:srgbClr val="000000"/>
              </a:solidFill>
              <a:ea typeface="宋体" panose="02010600030101010101" pitchFamily="2" charset="-122"/>
            </a:endParaRPr>
          </a:p>
        </p:txBody>
      </p:sp>
      <p:sp>
        <p:nvSpPr>
          <p:cNvPr id="58376" name="Text Box 5"/>
          <p:cNvSpPr txBox="1">
            <a:spLocks noChangeArrowheads="1"/>
          </p:cNvSpPr>
          <p:nvPr/>
        </p:nvSpPr>
        <p:spPr bwMode="auto">
          <a:xfrm>
            <a:off x="107950" y="4154488"/>
            <a:ext cx="2035175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200">
                <a:solidFill>
                  <a:schemeClr val="tx2"/>
                </a:solidFill>
                <a:latin typeface="Lucida Console" panose="020B0609040504020204" pitchFamily="49" charset="0"/>
              </a:rPr>
              <a:t>lui $s0, 61</a:t>
            </a:r>
            <a:endParaRPr lang="en-AU" altLang="zh-CN" sz="220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sp>
        <p:nvSpPr>
          <p:cNvPr id="58377" name="Text Box 6"/>
          <p:cNvSpPr txBox="1">
            <a:spLocks noChangeArrowheads="1"/>
          </p:cNvSpPr>
          <p:nvPr/>
        </p:nvSpPr>
        <p:spPr bwMode="auto">
          <a:xfrm>
            <a:off x="3363913" y="4795838"/>
            <a:ext cx="5203825" cy="406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000"/>
              <a:t>0000 0000 0111 1101 0000 1001 0000 0000</a:t>
            </a:r>
            <a:endParaRPr lang="en-AU" altLang="zh-CN" sz="2000"/>
          </a:p>
        </p:txBody>
      </p:sp>
      <p:sp>
        <p:nvSpPr>
          <p:cNvPr id="58378" name="Text Box 7"/>
          <p:cNvSpPr txBox="1">
            <a:spLocks noChangeArrowheads="1"/>
          </p:cNvSpPr>
          <p:nvPr/>
        </p:nvSpPr>
        <p:spPr bwMode="auto">
          <a:xfrm>
            <a:off x="107950" y="4802188"/>
            <a:ext cx="32131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200">
                <a:solidFill>
                  <a:schemeClr val="tx2"/>
                </a:solidFill>
                <a:latin typeface="Lucida Console" panose="020B0609040504020204" pitchFamily="49" charset="0"/>
              </a:rPr>
              <a:t>ori $s0, $s0, 2304</a:t>
            </a:r>
            <a:endParaRPr lang="en-AU" altLang="zh-CN" sz="220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sp>
        <p:nvSpPr>
          <p:cNvPr id="119819" name="Text Box 8"/>
          <p:cNvSpPr txBox="1">
            <a:spLocks noChangeArrowheads="1"/>
          </p:cNvSpPr>
          <p:nvPr/>
        </p:nvSpPr>
        <p:spPr bwMode="auto">
          <a:xfrm rot="5400000">
            <a:off x="5757069" y="3020219"/>
            <a:ext cx="6407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第2.10节32位立即数和地址的MIPS寻址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2" grpId="0" animBg="1"/>
      <p:bldP spid="58373" grpId="0" animBg="1"/>
      <p:bldP spid="58376" grpId="0"/>
      <p:bldP spid="58377" grpId="0" animBg="1"/>
      <p:bldP spid="5837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BE552BBC-793F-41A7-82B7-CBC3D560D559}" type="slidenum">
              <a:rPr lang="en-AU" altLang="zh-CN" sz="1400"/>
            </a:fld>
            <a:endParaRPr lang="en-AU" altLang="zh-CN" sz="1400"/>
          </a:p>
        </p:txBody>
      </p:sp>
      <p:sp>
        <p:nvSpPr>
          <p:cNvPr id="1218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分支寻址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000125"/>
            <a:ext cx="8270875" cy="2214563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分支指令指定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操作码，两个寄存器，目标地址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如果地址必须符合16位，那么没有程序可以大于2的16次方</a:t>
            </a:r>
            <a:endParaRPr lang="en-US" altLang="zh-CN" baseline="30000" smtClean="0">
              <a:ea typeface="宋体" panose="02010600030101010101" pitchFamily="2" charset="-122"/>
            </a:endParaRPr>
          </a:p>
        </p:txBody>
      </p:sp>
      <p:grpSp>
        <p:nvGrpSpPr>
          <p:cNvPr id="121861" name="Group 4"/>
          <p:cNvGrpSpPr/>
          <p:nvPr/>
        </p:nvGrpSpPr>
        <p:grpSpPr bwMode="auto">
          <a:xfrm>
            <a:off x="1403350" y="3441700"/>
            <a:ext cx="6913563" cy="773113"/>
            <a:chOff x="884" y="981"/>
            <a:chExt cx="4355" cy="487"/>
          </a:xfrm>
        </p:grpSpPr>
        <p:sp>
          <p:nvSpPr>
            <p:cNvPr id="121863" name="Text Box 5"/>
            <p:cNvSpPr txBox="1">
              <a:spLocks noChangeArrowheads="1"/>
            </p:cNvSpPr>
            <p:nvPr/>
          </p:nvSpPr>
          <p:spPr bwMode="auto">
            <a:xfrm>
              <a:off x="884" y="981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121864" name="Text Box 6"/>
            <p:cNvSpPr txBox="1">
              <a:spLocks noChangeArrowheads="1"/>
            </p:cNvSpPr>
            <p:nvPr/>
          </p:nvSpPr>
          <p:spPr bwMode="auto">
            <a:xfrm>
              <a:off x="170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rs</a:t>
              </a:r>
              <a:endParaRPr lang="en-AU" altLang="zh-CN" sz="2000"/>
            </a:p>
          </p:txBody>
        </p:sp>
        <p:sp>
          <p:nvSpPr>
            <p:cNvPr id="121865" name="Text Box 7"/>
            <p:cNvSpPr txBox="1">
              <a:spLocks noChangeArrowheads="1"/>
            </p:cNvSpPr>
            <p:nvPr/>
          </p:nvSpPr>
          <p:spPr bwMode="auto">
            <a:xfrm>
              <a:off x="2381" y="981"/>
              <a:ext cx="680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rt</a:t>
              </a:r>
              <a:endParaRPr lang="en-AU" altLang="zh-CN" sz="2000"/>
            </a:p>
          </p:txBody>
        </p:sp>
        <p:sp>
          <p:nvSpPr>
            <p:cNvPr id="121866" name="Text Box 8"/>
            <p:cNvSpPr txBox="1">
              <a:spLocks noChangeArrowheads="1"/>
            </p:cNvSpPr>
            <p:nvPr/>
          </p:nvSpPr>
          <p:spPr bwMode="auto">
            <a:xfrm>
              <a:off x="3061" y="981"/>
              <a:ext cx="2178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常量或地址</a:t>
              </a:r>
              <a:endParaRPr lang="en-AU" altLang="zh-CN" sz="2000"/>
            </a:p>
          </p:txBody>
        </p:sp>
        <p:sp>
          <p:nvSpPr>
            <p:cNvPr id="121867" name="Text Box 9"/>
            <p:cNvSpPr txBox="1">
              <a:spLocks noChangeArrowheads="1"/>
            </p:cNvSpPr>
            <p:nvPr/>
          </p:nvSpPr>
          <p:spPr bwMode="auto">
            <a:xfrm>
              <a:off x="1067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121868" name="Text Box 10"/>
            <p:cNvSpPr txBox="1">
              <a:spLocks noChangeArrowheads="1"/>
            </p:cNvSpPr>
            <p:nvPr/>
          </p:nvSpPr>
          <p:spPr bwMode="auto">
            <a:xfrm>
              <a:off x="1838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121869" name="Text Box 11"/>
            <p:cNvSpPr txBox="1">
              <a:spLocks noChangeArrowheads="1"/>
            </p:cNvSpPr>
            <p:nvPr/>
          </p:nvSpPr>
          <p:spPr bwMode="auto">
            <a:xfrm>
              <a:off x="2519" y="1256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5位</a:t>
              </a:r>
              <a:endParaRPr lang="en-AU" altLang="zh-CN" sz="1600"/>
            </a:p>
          </p:txBody>
        </p:sp>
        <p:sp>
          <p:nvSpPr>
            <p:cNvPr id="121870" name="Text Box 12"/>
            <p:cNvSpPr txBox="1">
              <a:spLocks noChangeArrowheads="1"/>
            </p:cNvSpPr>
            <p:nvPr/>
          </p:nvSpPr>
          <p:spPr bwMode="auto">
            <a:xfrm>
              <a:off x="3935" y="1256"/>
              <a:ext cx="4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16位</a:t>
              </a:r>
              <a:endParaRPr lang="en-AU" altLang="zh-CN" sz="1600"/>
            </a:p>
          </p:txBody>
        </p:sp>
      </p:grpSp>
      <p:sp>
        <p:nvSpPr>
          <p:cNvPr id="59398" name="Rectangle 13"/>
          <p:cNvSpPr>
            <a:spLocks noChangeArrowheads="1"/>
          </p:cNvSpPr>
          <p:nvPr/>
        </p:nvSpPr>
        <p:spPr bwMode="auto">
          <a:xfrm>
            <a:off x="714375" y="4318000"/>
            <a:ext cx="8286750" cy="1682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>
                <a:solidFill>
                  <a:srgbClr val="FF0000"/>
                </a:solidFill>
              </a:rPr>
              <a:t>PC相对寻址</a:t>
            </a:r>
            <a:endParaRPr lang="en-US" altLang="zh-CN">
              <a:solidFill>
                <a:srgbClr val="FF0000"/>
              </a:solidFill>
            </a:endParaRPr>
          </a:p>
          <a:p>
            <a:pPr lvl="1" eaLnBrk="1" hangingPunct="1"/>
            <a:r>
              <a:rPr lang="en-US" altLang="zh-CN"/>
              <a:t>目标地址= PC +偏移×4</a:t>
            </a:r>
            <a:endParaRPr lang="en-US" altLang="zh-CN"/>
          </a:p>
          <a:p>
            <a:pPr lvl="1" eaLnBrk="1" hangingPunct="1"/>
            <a:r>
              <a:rPr lang="en-US" altLang="zh-CN"/>
              <a:t>此时，PC已经增加4</a:t>
            </a:r>
            <a:endParaRPr lang="en-US" altLang="zh-CN"/>
          </a:p>
          <a:p>
            <a:pPr lvl="1" eaLnBrk="1" hangingPunct="1"/>
            <a:r>
              <a:rPr lang="en-US" altLang="zh-CN"/>
              <a:t>几乎所有的循环和if语句少于2 16个单词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3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802E2592-304F-4B41-BE7B-540D3D34335F}" type="slidenum">
              <a:rPr lang="en-AU" altLang="zh-CN" sz="1400"/>
            </a:fld>
            <a:endParaRPr lang="en-AU" altLang="zh-CN" sz="1400"/>
          </a:p>
        </p:txBody>
      </p:sp>
      <p:sp>
        <p:nvSpPr>
          <p:cNvPr id="1239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跳转寻址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239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843087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跳转（j和jal )的目标可能位于文本段落的任何位置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在指令中编码完整地址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pSp>
        <p:nvGrpSpPr>
          <p:cNvPr id="123909" name="Group 4"/>
          <p:cNvGrpSpPr/>
          <p:nvPr/>
        </p:nvGrpSpPr>
        <p:grpSpPr bwMode="auto">
          <a:xfrm>
            <a:off x="1403350" y="3165475"/>
            <a:ext cx="6913563" cy="773113"/>
            <a:chOff x="884" y="2356"/>
            <a:chExt cx="4355" cy="487"/>
          </a:xfrm>
        </p:grpSpPr>
        <p:sp>
          <p:nvSpPr>
            <p:cNvPr id="123911" name="Text Box 5"/>
            <p:cNvSpPr txBox="1">
              <a:spLocks noChangeArrowheads="1"/>
            </p:cNvSpPr>
            <p:nvPr/>
          </p:nvSpPr>
          <p:spPr bwMode="auto">
            <a:xfrm>
              <a:off x="884" y="2356"/>
              <a:ext cx="817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op</a:t>
              </a:r>
              <a:endParaRPr lang="en-AU" altLang="zh-CN" sz="2000"/>
            </a:p>
          </p:txBody>
        </p:sp>
        <p:sp>
          <p:nvSpPr>
            <p:cNvPr id="123912" name="Text Box 6"/>
            <p:cNvSpPr txBox="1">
              <a:spLocks noChangeArrowheads="1"/>
            </p:cNvSpPr>
            <p:nvPr/>
          </p:nvSpPr>
          <p:spPr bwMode="auto">
            <a:xfrm>
              <a:off x="1701" y="2356"/>
              <a:ext cx="3538" cy="26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/>
                <a:t>地址</a:t>
              </a:r>
              <a:endParaRPr lang="en-AU" altLang="zh-CN" sz="2000"/>
            </a:p>
          </p:txBody>
        </p:sp>
        <p:sp>
          <p:nvSpPr>
            <p:cNvPr id="123913" name="Text Box 7"/>
            <p:cNvSpPr txBox="1">
              <a:spLocks noChangeArrowheads="1"/>
            </p:cNvSpPr>
            <p:nvPr/>
          </p:nvSpPr>
          <p:spPr bwMode="auto">
            <a:xfrm>
              <a:off x="1067" y="2631"/>
              <a:ext cx="42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6位</a:t>
              </a:r>
              <a:endParaRPr lang="en-AU" altLang="zh-CN" sz="1600"/>
            </a:p>
          </p:txBody>
        </p:sp>
        <p:sp>
          <p:nvSpPr>
            <p:cNvPr id="123914" name="Text Box 8"/>
            <p:cNvSpPr txBox="1">
              <a:spLocks noChangeArrowheads="1"/>
            </p:cNvSpPr>
            <p:nvPr/>
          </p:nvSpPr>
          <p:spPr bwMode="auto">
            <a:xfrm>
              <a:off x="3244" y="2617"/>
              <a:ext cx="4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panose="05000000000000000000" pitchFamily="2" charset="2"/>
                <a:buChar char="n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panose="05000000000000000000" pitchFamily="2" charset="2"/>
                <a:buChar char="n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/>
                <a:t>26位</a:t>
              </a:r>
              <a:endParaRPr lang="en-AU" altLang="zh-CN" sz="1600"/>
            </a:p>
          </p:txBody>
        </p:sp>
      </p:grpSp>
      <p:sp>
        <p:nvSpPr>
          <p:cNvPr id="123910" name="Rectangle 9"/>
          <p:cNvSpPr>
            <a:spLocks noChangeArrowheads="1"/>
          </p:cNvSpPr>
          <p:nvPr/>
        </p:nvSpPr>
        <p:spPr bwMode="auto">
          <a:xfrm>
            <a:off x="684213" y="4076700"/>
            <a:ext cx="7772400" cy="1682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zh-CN"/>
              <a:t>（伪）直接跳转寻址</a:t>
            </a:r>
            <a:endParaRPr lang="en-US" altLang="zh-CN"/>
          </a:p>
          <a:p>
            <a:pPr lvl="1" eaLnBrk="1" hangingPunct="1"/>
            <a:r>
              <a:rPr lang="en-US" altLang="zh-CN"/>
              <a:t>目标地址= PC 31...28：（地址×4）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5E2F522-D6D2-4FDB-BA51-227EFD8EE708}" type="slidenum">
              <a:rPr lang="en-AU" altLang="zh-CN" sz="1400"/>
            </a:fld>
            <a:endParaRPr lang="en-AU" altLang="zh-CN" sz="1400"/>
          </a:p>
        </p:txBody>
      </p:sp>
      <p:sp>
        <p:nvSpPr>
          <p:cNvPr id="1259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分支太远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tabLst>
                <a:tab pos="1619250" algn="l"/>
              </a:tabLst>
            </a:pPr>
            <a:r>
              <a:rPr lang="en-AU" altLang="zh-CN" dirty="0" smtClean="0">
                <a:ea typeface="宋体" panose="02010600030101010101" pitchFamily="2" charset="-122"/>
              </a:rPr>
              <a:t>如果分支目标太远，无法使用16位偏移量进行编码，则汇编器将重写代码</a:t>
            </a:r>
            <a:endParaRPr lang="en-AU" altLang="zh-CN" dirty="0" smtClean="0">
              <a:ea typeface="宋体" panose="02010600030101010101" pitchFamily="2" charset="-122"/>
            </a:endParaRPr>
          </a:p>
          <a:p>
            <a:pPr eaLnBrk="1" hangingPunct="1">
              <a:tabLst>
                <a:tab pos="1619250" algn="l"/>
              </a:tabLst>
            </a:pPr>
            <a:r>
              <a:rPr lang="en-AU" altLang="zh-CN" dirty="0" smtClean="0">
                <a:ea typeface="宋体" panose="02010600030101010101" pitchFamily="2" charset="-122"/>
              </a:rPr>
              <a:t>示例：如何增加以下指令的分支距离？</a:t>
            </a:r>
            <a:endParaRPr lang="en-AU" altLang="zh-CN" dirty="0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  <a:tabLst>
                <a:tab pos="1619250" algn="l"/>
              </a:tabLst>
            </a:pPr>
            <a:r>
              <a:rPr lang="en-AU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 $s0,$s1, L1</a:t>
            </a:r>
            <a:endParaRPr lang="en-AU" altLang="zh-CN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  <a:tabLst>
                <a:tab pos="1619250" algn="l"/>
              </a:tabLst>
            </a:pPr>
            <a:r>
              <a:rPr lang="en-AU" altLang="zh-CN" dirty="0" smtClean="0">
                <a:ea typeface="宋体" panose="02010600030101010101" pitchFamily="2" charset="-122"/>
                <a:cs typeface="Arial" panose="020B0604020202020204" pitchFamily="34" charset="0"/>
              </a:rPr>
              <a:t>↓</a:t>
            </a:r>
            <a:endParaRPr lang="en-AU" altLang="zh-CN" dirty="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 eaLnBrk="1" hangingPunct="1">
              <a:buFont typeface="Wingdings" panose="05000000000000000000" pitchFamily="2" charset="2"/>
              <a:buNone/>
              <a:tabLst>
                <a:tab pos="1619250" algn="l"/>
              </a:tabLst>
            </a:pPr>
            <a:r>
              <a:rPr lang="en-AU" altLang="zh-CN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bne $s0,$s1, L2 j L1L2: ...</a:t>
            </a:r>
            <a:b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AU" altLang="zh-CN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AU" altLang="zh-CN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0AC8B6D-B336-4FB4-BA3A-EB20FFF7BA63}" type="slidenum">
              <a:rPr lang="en-AU" altLang="zh-CN" sz="1400"/>
            </a:fld>
            <a:endParaRPr lang="en-AU" altLang="zh-CN" sz="1400"/>
          </a:p>
        </p:txBody>
      </p:sp>
      <p:sp>
        <p:nvSpPr>
          <p:cNvPr id="1280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解决模式摘要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28004" name="Picture 6" descr="f02-18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052513"/>
            <a:ext cx="5111750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352196C8-598F-422C-AD04-28938D08F8AD}" type="slidenum">
              <a:rPr lang="en-AU" altLang="zh-CN" sz="1400"/>
            </a:fld>
            <a:endParaRPr lang="en-AU" altLang="zh-CN" sz="1400"/>
          </a:p>
        </p:txBody>
      </p:sp>
      <p:sp>
        <p:nvSpPr>
          <p:cNvPr id="1300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同步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两个处理器共享一个内存区域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P1写，然后P2读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如果P1和P2未同步，则发生数据冲突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z="2000" smtClean="0">
                <a:ea typeface="宋体" panose="02010600030101010101" pitchFamily="2" charset="-122"/>
              </a:rPr>
              <a:t>结果取决于访问顺序</a:t>
            </a:r>
            <a:endParaRPr lang="en-AU" altLang="zh-CN" sz="2000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所需的硬件和ISA支持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原子读/写内存操作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在读取和写入之间不允许访问该位置</a:t>
            </a:r>
            <a:endParaRPr lang="en-AU" altLang="zh-CN" sz="2400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可以是单条指令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</a:rPr>
              <a:t>例如，寄存器↔内存的原子交换</a:t>
            </a:r>
            <a:endParaRPr lang="en-AU" altLang="zh-CN" sz="2400" smtClean="0"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lvl="1" eaLnBrk="1" hangingPunct="1"/>
            <a:r>
              <a:rPr lang="en-AU" altLang="zh-CN" sz="2400" smtClean="0">
                <a:ea typeface="宋体" panose="02010600030101010101" pitchFamily="2" charset="-122"/>
                <a:cs typeface="Arial" panose="020B0604020202020204" pitchFamily="34" charset="0"/>
              </a:rPr>
              <a:t>或者是一对原子指令</a:t>
            </a:r>
            <a:endParaRPr lang="en-AU" altLang="zh-CN" sz="2400" smtClean="0"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30053" name="Text Box 4"/>
          <p:cNvSpPr txBox="1">
            <a:spLocks noChangeArrowheads="1"/>
          </p:cNvSpPr>
          <p:nvPr/>
        </p:nvSpPr>
        <p:spPr bwMode="auto">
          <a:xfrm rot="5400000">
            <a:off x="6277769" y="2499519"/>
            <a:ext cx="53657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第2.11节并行与指令：同步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原子交换的动机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为多处理器系统构建锁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管理对某些关键资源的访问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0表示锁是空闲的；1表示锁不可用；“lock”存储在内存中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处理器尝试通过交换寄存器中的1来设置锁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从交换中返回的值是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smtClean="0">
                <a:ea typeface="宋体" panose="02010600030101010101" pitchFamily="2" charset="-122"/>
              </a:rPr>
              <a:t>1如果另一个处理器已经获取了锁；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/>
            <a:r>
              <a:rPr lang="en-US" altLang="zh-CN" smtClean="0">
                <a:ea typeface="宋体" panose="02010600030101010101" pitchFamily="2" charset="-122"/>
              </a:rPr>
              <a:t>0否则；在这种情况下，值更改为1以防止其他处理器检索0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/>
            <a:r>
              <a:rPr lang="en-US" altLang="zh-CN" smtClean="0">
                <a:ea typeface="宋体" panose="02010600030101010101" pitchFamily="2" charset="-122"/>
              </a:rPr>
              <a:t>锁定允许打破比赛条件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3210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6147234-00B6-48F0-9357-CFBACD886EF2}" type="slidenum">
              <a:rPr lang="en-AU" altLang="zh-CN" sz="1400"/>
            </a:fld>
            <a:endParaRPr lang="en-AU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A660991-1AC8-401C-B4F1-C07C705D96B4}" type="slidenum">
              <a:rPr lang="en-AU" altLang="zh-CN" sz="1400"/>
            </a:fld>
            <a:endParaRPr lang="en-AU" altLang="zh-CN" sz="1400"/>
          </a:p>
        </p:txBody>
      </p:sp>
      <p:sp>
        <p:nvSpPr>
          <p:cNvPr id="133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MIPS中的同步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655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351837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AU" altLang="zh-CN" sz="2600" dirty="0" smtClean="0">
                <a:ea typeface="宋体" panose="02010600030101010101" pitchFamily="2" charset="-122"/>
              </a:rPr>
              <a:t>加载链接：ll rt，偏移量（rs）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AU" altLang="zh-CN" sz="2600" dirty="0" smtClean="0">
                <a:ea typeface="宋体" panose="02010600030101010101" pitchFamily="2" charset="-122"/>
              </a:rPr>
              <a:t>存储条件：sc rt，偏移量（rs）；rt指向（rs）。</a:t>
            </a:r>
            <a:endParaRPr lang="en-US" altLang="zh-CN" sz="26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z="2400" dirty="0" smtClean="0">
                <a:ea typeface="宋体" panose="02010600030101010101" pitchFamily="2" charset="-122"/>
              </a:rPr>
              <a:t>如果自ll以来位置未更改，则成功</a:t>
            </a:r>
            <a:endParaRPr lang="en-AU" altLang="zh-CN" sz="2400" dirty="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AU" altLang="zh-CN" sz="2000" dirty="0" smtClean="0">
                <a:ea typeface="宋体" panose="02010600030101010101" pitchFamily="2" charset="-122"/>
              </a:rPr>
              <a:t>在rt中返回1</a:t>
            </a:r>
            <a:endParaRPr lang="en-AU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AU" altLang="zh-CN" sz="2400" dirty="0" smtClean="0">
                <a:ea typeface="宋体" panose="02010600030101010101" pitchFamily="2" charset="-122"/>
              </a:rPr>
              <a:t>如果位置发生改变，则失败</a:t>
            </a:r>
            <a:endParaRPr lang="en-AU" altLang="zh-CN" sz="24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90000"/>
              </a:lnSpc>
            </a:pPr>
            <a:r>
              <a:rPr lang="en-AU" altLang="zh-CN" sz="2000" dirty="0" smtClean="0">
                <a:ea typeface="宋体" panose="02010600030101010101" pitchFamily="2" charset="-122"/>
              </a:rPr>
              <a:t>在rt中返回0</a:t>
            </a:r>
            <a:endParaRPr lang="en-AU" altLang="zh-CN" sz="2000" dirty="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AU" altLang="zh-CN" sz="2600" dirty="0" smtClean="0">
                <a:ea typeface="宋体" panose="02010600030101010101" pitchFamily="2" charset="-122"/>
              </a:rPr>
              <a:t>示例：原子交换（用于测试/设置锁定变量）</a:t>
            </a:r>
            <a:endParaRPr lang="en-AU" altLang="zh-CN" sz="26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尝试：添加$t0，$zero，$s4；复制交换值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l$t1,0（$s1）；load linked相当于加锁机制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条件存储指令：将寄存器$s0的内容存储到$s1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beq$t0，零，尝试；分支存储失败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18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add $s4，$zero，$t1；将负载值存入$s4</a:t>
            </a:r>
            <a:endParaRPr lang="en-AU" altLang="zh-CN" sz="18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AU" altLang="zh-CN" sz="2600" dirty="0" err="1" smtClean="0">
                <a:ea typeface="宋体" panose="02010600030101010101" pitchFamily="2" charset="-122"/>
                <a:cs typeface="Arial" panose="020B0604020202020204" pitchFamily="34" charset="0"/>
              </a:rPr>
              <a:t>ll、sc可用于构建其他同步原语：原子比较和交换、取指和递增等。</a:t>
            </a:r>
            <a:endParaRPr lang="en-AU" altLang="zh-CN" sz="2600" dirty="0" smtClean="0"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44A36346-440D-4F52-89D6-C89FB9094572}" type="slidenum">
              <a:rPr lang="en-AU" altLang="zh-CN" sz="1400"/>
            </a:fld>
            <a:endParaRPr lang="en-AU" altLang="zh-CN" sz="1400"/>
          </a:p>
        </p:txBody>
      </p:sp>
      <p:pic>
        <p:nvPicPr>
          <p:cNvPr id="135171" name="Picture 10" descr="f02-21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1700213"/>
            <a:ext cx="6030913" cy="441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517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翻译和启动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35173" name="Text Box 4"/>
          <p:cNvSpPr txBox="1">
            <a:spLocks noChangeArrowheads="1"/>
          </p:cNvSpPr>
          <p:nvPr/>
        </p:nvSpPr>
        <p:spPr bwMode="auto">
          <a:xfrm>
            <a:off x="3563938" y="1989138"/>
            <a:ext cx="27368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许多编译器直接生成对象模块</a:t>
            </a:r>
            <a:endParaRPr lang="en-AU" altLang="zh-CN" sz="1800"/>
          </a:p>
        </p:txBody>
      </p:sp>
      <p:sp>
        <p:nvSpPr>
          <p:cNvPr id="135174" name="AutoShape 5"/>
          <p:cNvSpPr/>
          <p:nvPr/>
        </p:nvSpPr>
        <p:spPr bwMode="auto">
          <a:xfrm rot="-2520133">
            <a:off x="3276600" y="1557338"/>
            <a:ext cx="215900" cy="1800225"/>
          </a:xfrm>
          <a:prstGeom prst="rightBrace">
            <a:avLst>
              <a:gd name="adj1" fmla="val 69485"/>
              <a:gd name="adj2" fmla="val 50000"/>
            </a:avLst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35175" name="Text Box 6"/>
          <p:cNvSpPr txBox="1">
            <a:spLocks noChangeArrowheads="1"/>
          </p:cNvSpPr>
          <p:nvPr/>
        </p:nvSpPr>
        <p:spPr bwMode="auto">
          <a:xfrm>
            <a:off x="7164388" y="4149725"/>
            <a:ext cx="15541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静态链接</a:t>
            </a:r>
            <a:endParaRPr lang="en-AU" altLang="zh-CN" sz="1800"/>
          </a:p>
        </p:txBody>
      </p:sp>
      <p:sp>
        <p:nvSpPr>
          <p:cNvPr id="135176" name="AutoShape 7"/>
          <p:cNvSpPr/>
          <p:nvPr/>
        </p:nvSpPr>
        <p:spPr bwMode="auto">
          <a:xfrm>
            <a:off x="6948488" y="3573463"/>
            <a:ext cx="215900" cy="1511300"/>
          </a:xfrm>
          <a:prstGeom prst="rightBrace">
            <a:avLst>
              <a:gd name="adj1" fmla="val 58333"/>
              <a:gd name="adj2" fmla="val 50000"/>
            </a:avLst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35177" name="Text Box 8"/>
          <p:cNvSpPr txBox="1">
            <a:spLocks noChangeArrowheads="1"/>
          </p:cNvSpPr>
          <p:nvPr/>
        </p:nvSpPr>
        <p:spPr bwMode="auto">
          <a:xfrm rot="5400000">
            <a:off x="6773069" y="2004219"/>
            <a:ext cx="43751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第2.12节程序的翻译和启动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BF449C1D-2512-4861-B60E-A1BCAD05B754}" type="slidenum">
              <a:rPr lang="en-AU" altLang="zh-CN" sz="1400"/>
            </a:fld>
            <a:endParaRPr lang="en-AU" altLang="zh-CN" sz="1400"/>
          </a:p>
        </p:txBody>
      </p:sp>
      <p:sp>
        <p:nvSpPr>
          <p:cNvPr id="137219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206375"/>
            <a:ext cx="8259762" cy="701675"/>
          </a:xfrm>
        </p:spPr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装配伪指令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tabLst>
                <a:tab pos="3409950" algn="l"/>
                <a:tab pos="4038600" algn="l"/>
              </a:tabLst>
            </a:pPr>
            <a:r>
              <a:rPr lang="en-US" altLang="zh-CN" dirty="0" smtClean="0">
                <a:ea typeface="宋体" panose="02010600030101010101" pitchFamily="2" charset="-122"/>
              </a:rPr>
              <a:t>大多数汇编指令与机器指令一一对应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tabLst>
                <a:tab pos="3409950" algn="l"/>
                <a:tab pos="4038600" algn="l"/>
              </a:tabLst>
            </a:pPr>
            <a:r>
              <a:rPr lang="en-US" altLang="zh-CN" dirty="0" err="1" smtClean="0">
                <a:solidFill>
                  <a:srgbClr val="FF0000"/>
                </a:solidFill>
                <a:ea typeface="宋体" panose="02010600030101010101" pitchFamily="2" charset="-122"/>
              </a:rPr>
              <a:t>伪指令：汇编器想象的产物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  <a:tabLst>
                <a:tab pos="3409950" algn="l"/>
                <a:tab pos="4038600" algn="l"/>
              </a:tabLst>
            </a:pPr>
            <a:r>
              <a:rPr lang="en-US" altLang="zh-CN" sz="2400" dirty="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将t0和t1的值相加→用t0、零和t1的值进行加法运算</a:t>
            </a:r>
            <a:endParaRPr lang="en-US" altLang="zh-CN" sz="24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buFont typeface="Wingdings" panose="05000000000000000000" pitchFamily="2" charset="2"/>
              <a:buNone/>
              <a:tabLst>
                <a:tab pos="3409950" algn="l"/>
                <a:tab pos="4038600" algn="l"/>
              </a:tabLst>
            </a:pPr>
            <a:r>
              <a:rPr lang="en-US" altLang="zh-CN" sz="2400" dirty="0" err="1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blt $t0, $t1, L → slt $at, $t0, $t1 bne $at, $zero, L</a:t>
            </a:r>
            <a:br>
              <a:rPr lang="en-US" altLang="zh-CN" sz="2800" dirty="0" smtClean="0">
                <a:solidFill>
                  <a:schemeClr val="tx2"/>
                </a:solidFill>
                <a:ea typeface="宋体" panose="02010600030101010101" pitchFamily="2" charset="-122"/>
              </a:rPr>
            </a:br>
            <a:endParaRPr lang="en-US" altLang="zh-CN" sz="2400" dirty="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tabLst>
                <a:tab pos="3409950" algn="l"/>
                <a:tab pos="4038600" algn="l"/>
              </a:tabLst>
            </a:pPr>
            <a:r>
              <a:rPr lang="en-US" altLang="zh-CN" dirty="0" smtClean="0">
                <a:solidFill>
                  <a:srgbClr val="FF0000"/>
                </a:solidFill>
                <a:ea typeface="宋体" panose="02010600030101010101" pitchFamily="2" charset="-122"/>
              </a:rPr>
              <a:t>在寄存器1处：临时汇编器</a:t>
            </a:r>
            <a:endParaRPr lang="en-US" altLang="zh-CN" dirty="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8BB3480A-56F3-4816-ADEF-6474AE14227B}" type="slidenum">
              <a:rPr lang="en-AU" altLang="zh-CN" sz="1400"/>
            </a:fld>
            <a:endParaRPr lang="en-AU" altLang="zh-CN" sz="1400"/>
          </a:p>
        </p:txBody>
      </p:sp>
      <p:sp>
        <p:nvSpPr>
          <p:cNvPr id="139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生成对象模块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汇编器（或编译器）将程序转换为机器指令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提供用于从各个部分构建完整程序的信息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例如，UNIX的对象文件（*.o）有6个不同的部分：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标题：描述对象模块的内容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文本段落：翻译说明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静态数据段：程序生命周期内分配的数据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重新定位信息：用于依赖于加载程序的绝对位置的内容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符号表：全局定义和外部引用</a:t>
            </a:r>
            <a:endParaRPr lang="en-US" altLang="zh-CN" sz="22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200" smtClean="0">
                <a:solidFill>
                  <a:srgbClr val="009900"/>
                </a:solidFill>
                <a:ea typeface="宋体" panose="02010600030101010101" pitchFamily="2" charset="-122"/>
              </a:rPr>
              <a:t>调试信息：用于调试器将机器代码与高级源代码关联</a:t>
            </a:r>
            <a:endParaRPr lang="en-AU" altLang="zh-CN" sz="22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A54A778A-A8C0-4688-B37E-BD3E6FA7EFC3}" type="slidenum">
              <a:rPr lang="en-AU" altLang="zh-CN" sz="1400"/>
            </a:fld>
            <a:endParaRPr lang="en-AU" altLang="zh-CN" sz="1400"/>
          </a:p>
        </p:txBody>
      </p:sp>
      <p:sp>
        <p:nvSpPr>
          <p:cNvPr id="141315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链接对象模块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0660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459787" cy="511175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生成可执行映像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1.合并段/对象文件/过程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当程序的一行被修改时，不必编译/组装整个程序，而是独立地编译/组装程序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2.解析标签（确定其地址）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3.</a:t>
            </a: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位置相关的修补程序和外部引用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06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6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6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06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F946E91F-4B0C-44DE-BE07-F54D85351881}" type="slidenum">
              <a:rPr lang="en-AU" altLang="zh-CN" sz="1400"/>
            </a:fld>
            <a:endParaRPr lang="en-AU" altLang="zh-CN" sz="1400"/>
          </a:p>
        </p:txBody>
      </p:sp>
      <p:sp>
        <p:nvSpPr>
          <p:cNvPr id="14336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加载程序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4336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将磁盘上的图像文件加载到内存中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1.</a:t>
            </a:r>
            <a:r>
              <a:rPr lang="en-US" altLang="zh-CN" smtClean="0">
                <a:ea typeface="宋体" panose="02010600030101010101" pitchFamily="2" charset="-122"/>
              </a:rPr>
              <a:t>阅读标题以确定节的大小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2.</a:t>
            </a:r>
            <a:r>
              <a:rPr lang="en-US" altLang="zh-CN" smtClean="0">
                <a:ea typeface="宋体" panose="02010600030101010101" pitchFamily="2" charset="-122"/>
              </a:rPr>
              <a:t>创建虚拟地址空间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3.</a:t>
            </a:r>
            <a:r>
              <a:rPr lang="en-US" altLang="zh-CN" smtClean="0">
                <a:ea typeface="宋体" panose="02010600030101010101" pitchFamily="2" charset="-122"/>
              </a:rPr>
              <a:t>将文本和初始化数据复制到内存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或者设置页表项，以便它们可以被错误地加载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4.</a:t>
            </a:r>
            <a:r>
              <a:rPr lang="en-US" altLang="zh-CN" smtClean="0">
                <a:ea typeface="宋体" panose="02010600030101010101" pitchFamily="2" charset="-122"/>
              </a:rPr>
              <a:t>在堆栈上设置参数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5.</a:t>
            </a:r>
            <a:r>
              <a:rPr lang="en-US" altLang="zh-CN" smtClean="0">
                <a:ea typeface="宋体" panose="02010600030101010101" pitchFamily="2" charset="-122"/>
              </a:rPr>
              <a:t>初始化寄存器（包括$sp、$fp和$gp )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6.</a:t>
            </a:r>
            <a:r>
              <a:rPr lang="en-US" altLang="zh-CN" smtClean="0">
                <a:ea typeface="宋体" panose="02010600030101010101" pitchFamily="2" charset="-122"/>
              </a:rPr>
              <a:t>跳转至启动例程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将参数复制到$a0，...并调用main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当主程序返回时，退出系统调用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4B3AF876-6977-489E-B2CB-89230204828A}" type="slidenum">
              <a:rPr lang="en-AU" altLang="zh-CN" sz="1400"/>
            </a:fld>
            <a:endParaRPr lang="en-AU" altLang="zh-CN" sz="1400"/>
          </a:p>
        </p:txBody>
      </p:sp>
      <p:sp>
        <p:nvSpPr>
          <p:cNvPr id="145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静态链接和动态链接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到目前为止，我们讨论了在程序执行前链接库的传统方法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chemeClr val="tx2"/>
                </a:solidFill>
                <a:ea typeface="宋体" panose="02010600030101010101" pitchFamily="2" charset="-122"/>
              </a:rPr>
              <a:t>静态链接</a:t>
            </a:r>
            <a:endParaRPr lang="en-US" altLang="zh-CN" sz="240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如果发布新版本的库以修复错误或支持新硬件，静态链接程序将继续使用旧版本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即使未使用，库中的所有例程也会被加载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动态链接：在程序运行之前，不要链接/加载库例程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需要程序代码可重定位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自动选择新的库版本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</a:rPr>
              <a:t>动态链接库（DLL）</a:t>
            </a:r>
            <a:endParaRPr lang="en-AU" altLang="zh-CN" sz="24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0928F01E-2ACD-4671-ABC1-2F6514ACB0F2}" type="slidenum">
              <a:rPr lang="en-AU" altLang="zh-CN" sz="1400"/>
            </a:fld>
            <a:endParaRPr lang="en-AU" altLang="zh-CN" sz="1400"/>
          </a:p>
        </p:txBody>
      </p:sp>
      <p:pic>
        <p:nvPicPr>
          <p:cNvPr id="147459" name="Picture 10" descr="f02-22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2988" y="1489075"/>
            <a:ext cx="4005262" cy="5011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7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弱链接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47461" name="Text Box 4"/>
          <p:cNvSpPr txBox="1">
            <a:spLocks noChangeArrowheads="1"/>
          </p:cNvSpPr>
          <p:nvPr/>
        </p:nvSpPr>
        <p:spPr bwMode="auto">
          <a:xfrm>
            <a:off x="2044700" y="2789238"/>
            <a:ext cx="179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间接表</a:t>
            </a:r>
            <a:endParaRPr lang="en-AU" altLang="zh-CN" sz="1800"/>
          </a:p>
        </p:txBody>
      </p:sp>
      <p:sp>
        <p:nvSpPr>
          <p:cNvPr id="147462" name="Text Box 5"/>
          <p:cNvSpPr txBox="1">
            <a:spLocks noChangeArrowheads="1"/>
          </p:cNvSpPr>
          <p:nvPr/>
        </p:nvSpPr>
        <p:spPr bwMode="auto">
          <a:xfrm>
            <a:off x="2044700" y="3597275"/>
            <a:ext cx="2520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Stub：加载例程ID，跳转到链接器/加载程序</a:t>
            </a:r>
            <a:br>
              <a:rPr lang="en-US" altLang="zh-CN" sz="1800"/>
            </a:br>
            <a:endParaRPr lang="en-AU" altLang="zh-CN" sz="1800"/>
          </a:p>
        </p:txBody>
      </p:sp>
      <p:sp>
        <p:nvSpPr>
          <p:cNvPr id="147463" name="Text Box 6"/>
          <p:cNvSpPr txBox="1">
            <a:spLocks noChangeArrowheads="1"/>
          </p:cNvSpPr>
          <p:nvPr/>
        </p:nvSpPr>
        <p:spPr bwMode="auto">
          <a:xfrm>
            <a:off x="2044700" y="466248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链接器/加载程序代码</a:t>
            </a:r>
            <a:endParaRPr lang="en-AU" altLang="zh-CN" sz="1800"/>
          </a:p>
        </p:txBody>
      </p:sp>
      <p:sp>
        <p:nvSpPr>
          <p:cNvPr id="147464" name="Text Box 7"/>
          <p:cNvSpPr txBox="1">
            <a:spLocks noChangeArrowheads="1"/>
          </p:cNvSpPr>
          <p:nvPr/>
        </p:nvSpPr>
        <p:spPr bwMode="auto">
          <a:xfrm>
            <a:off x="2044700" y="5526088"/>
            <a:ext cx="1568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动态映射代码</a:t>
            </a:r>
            <a:br>
              <a:rPr lang="en-US" altLang="zh-CN" sz="1800"/>
            </a:br>
            <a:endParaRPr lang="en-AU" altLang="zh-CN" sz="1800"/>
          </a:p>
        </p:txBody>
      </p:sp>
      <p:sp>
        <p:nvSpPr>
          <p:cNvPr id="147465" name="TextBox 8"/>
          <p:cNvSpPr txBox="1">
            <a:spLocks noChangeArrowheads="1"/>
          </p:cNvSpPr>
          <p:nvPr/>
        </p:nvSpPr>
        <p:spPr bwMode="auto">
          <a:xfrm>
            <a:off x="500063" y="1000125"/>
            <a:ext cx="4927600" cy="10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400"/>
              <a:t>只有在调用常规函数后，才会链接它</a:t>
            </a:r>
            <a:endParaRPr lang="en-US" altLang="zh-CN" sz="2400"/>
          </a:p>
          <a:p>
            <a:pPr marL="0" lvl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 i="1"/>
              <a:t>避免了所有引用库的静态链接导致的图像膨胀</a:t>
            </a:r>
            <a:br>
              <a:rPr lang="en-US" altLang="zh-CN" sz="1800" i="1"/>
            </a:br>
            <a:endParaRPr lang="en-US" altLang="zh-CN" sz="1800" i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3700FFBB-6FED-4109-9D26-DC660014253C}" type="slidenum">
              <a:rPr lang="en-AU" altLang="zh-CN" sz="1400"/>
            </a:fld>
            <a:endParaRPr lang="en-AU" altLang="zh-CN" sz="1400"/>
          </a:p>
        </p:txBody>
      </p:sp>
      <p:pic>
        <p:nvPicPr>
          <p:cNvPr id="149507" name="Picture 8" descr="f02-23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413" y="1989138"/>
            <a:ext cx="6416675" cy="278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9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启动Java应用程序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3733" name="AutoShape 4"/>
          <p:cNvSpPr/>
          <p:nvPr/>
        </p:nvSpPr>
        <p:spPr bwMode="auto">
          <a:xfrm>
            <a:off x="6003925" y="1844675"/>
            <a:ext cx="1939925" cy="906463"/>
          </a:xfrm>
          <a:prstGeom prst="borderCallout1">
            <a:avLst>
              <a:gd name="adj1" fmla="val 12611"/>
              <a:gd name="adj2" fmla="val -3926"/>
              <a:gd name="adj3" fmla="val 138005"/>
              <a:gd name="adj4" fmla="val -5065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JVM的简单便携式指令集</a:t>
            </a:r>
            <a:endParaRPr lang="en-AU" altLang="zh-CN" sz="1800"/>
          </a:p>
        </p:txBody>
      </p:sp>
      <p:sp>
        <p:nvSpPr>
          <p:cNvPr id="73734" name="AutoShape 5"/>
          <p:cNvSpPr/>
          <p:nvPr/>
        </p:nvSpPr>
        <p:spPr bwMode="auto">
          <a:xfrm>
            <a:off x="7156450" y="4149725"/>
            <a:ext cx="1584325" cy="647700"/>
          </a:xfrm>
          <a:prstGeom prst="borderCallout1">
            <a:avLst>
              <a:gd name="adj1" fmla="val 17648"/>
              <a:gd name="adj2" fmla="val -4810"/>
              <a:gd name="adj3" fmla="val -23528"/>
              <a:gd name="adj4" fmla="val -59417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解释字节码</a:t>
            </a:r>
            <a:endParaRPr lang="en-AU" altLang="zh-CN" sz="1800"/>
          </a:p>
        </p:txBody>
      </p:sp>
      <p:sp>
        <p:nvSpPr>
          <p:cNvPr id="73735" name="AutoShape 6"/>
          <p:cNvSpPr/>
          <p:nvPr/>
        </p:nvSpPr>
        <p:spPr bwMode="auto">
          <a:xfrm>
            <a:off x="179388" y="4005263"/>
            <a:ext cx="1704975" cy="1728787"/>
          </a:xfrm>
          <a:prstGeom prst="borderCallout1">
            <a:avLst>
              <a:gd name="adj1" fmla="val 6611"/>
              <a:gd name="adj2" fmla="val 104468"/>
              <a:gd name="adj3" fmla="val -2019"/>
              <a:gd name="adj4" fmla="val 12783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/>
              <a:t>将“热”方法的字节码编译为宿主机器的本地代码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733" grpId="0" animBg="1"/>
      <p:bldP spid="73734" grpId="0" animBg="1"/>
      <p:bldP spid="7373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DC13382-1133-4A29-9636-4BEE36103C4C}" type="slidenum">
              <a:rPr lang="en-AU" altLang="zh-CN" sz="1400"/>
            </a:fld>
            <a:endParaRPr lang="en-AU" altLang="zh-CN" sz="1400"/>
          </a:p>
        </p:txBody>
      </p:sp>
      <p:sp>
        <p:nvSpPr>
          <p:cNvPr id="1515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C类示例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7821612" cy="51117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说明了C语言气泡排序函数的汇编指令的使用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交换过程（叶）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void swap（int v[]，int k）{ int temp；temp = v[k]；v[k] = v[k+1]；v[k+1]=temp；}</a:t>
            </a: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br>
              <a:rPr lang="en-US" altLang="zh-CN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</a:br>
            <a:endParaRPr lang="en-US" altLang="zh-CN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v∈a₀，k∈a₁，temp∈t₀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  <p:sp>
        <p:nvSpPr>
          <p:cNvPr id="151557" name="Text Box 4"/>
          <p:cNvSpPr txBox="1">
            <a:spLocks noChangeArrowheads="1"/>
          </p:cNvSpPr>
          <p:nvPr/>
        </p:nvSpPr>
        <p:spPr bwMode="auto">
          <a:xfrm rot="5400000">
            <a:off x="6569869" y="2207419"/>
            <a:ext cx="47815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第2.13节A C Sort示例，将所有内容整合在一起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F3A1E065-5891-4703-AAE5-EBD2FB7C6C2A}" type="slidenum">
              <a:rPr lang="en-AU" altLang="zh-CN" sz="1400"/>
            </a:fld>
            <a:endParaRPr lang="en-AU" altLang="zh-CN" sz="1400"/>
          </a:p>
        </p:txBody>
      </p:sp>
      <p:sp>
        <p:nvSpPr>
          <p:cNvPr id="153603" name="Rectangle 4"/>
          <p:cNvSpPr>
            <a:spLocks noChangeArrowheads="1"/>
          </p:cNvSpPr>
          <p:nvPr/>
        </p:nvSpPr>
        <p:spPr bwMode="auto">
          <a:xfrm>
            <a:off x="684213" y="1268413"/>
            <a:ext cx="8002587" cy="99853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4" name="Rectangle 5"/>
          <p:cNvSpPr>
            <a:spLocks noChangeArrowheads="1"/>
          </p:cNvSpPr>
          <p:nvPr/>
        </p:nvSpPr>
        <p:spPr bwMode="auto">
          <a:xfrm>
            <a:off x="684213" y="2266950"/>
            <a:ext cx="8002587" cy="68580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5" name="Rectangle 6"/>
          <p:cNvSpPr>
            <a:spLocks noChangeArrowheads="1"/>
          </p:cNvSpPr>
          <p:nvPr/>
        </p:nvSpPr>
        <p:spPr bwMode="auto">
          <a:xfrm>
            <a:off x="684213" y="2952750"/>
            <a:ext cx="8002587" cy="6667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6" name="Rectangle 7"/>
          <p:cNvSpPr>
            <a:spLocks noChangeArrowheads="1"/>
          </p:cNvSpPr>
          <p:nvPr/>
        </p:nvSpPr>
        <p:spPr bwMode="auto">
          <a:xfrm>
            <a:off x="684213" y="3619500"/>
            <a:ext cx="8002587" cy="37147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36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程序交换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360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268413"/>
            <a:ext cx="8270875" cy="4968875"/>
          </a:xfrm>
        </p:spPr>
        <p:txBody>
          <a:bodyPr/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交换操作：sll $t1，$a1,2 # $t1 = k * 4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将t1、a0和t1相加，令t1等于v+（k*4）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#（v[k]的地址）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lw$t0,0（$t1）#$t0（临时变量）=v[k]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lw $t2, 4($t1) # $t2 = v[k+1]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sw $t2, 0($t1) # v[k] = $t2 (v[k+1])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sw$t0,4（$t1）#v[k+1]=$t0（临时变量）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AU" altLang="zh-CN" sz="2000" smtClean="0">
                <a:latin typeface="Lucida Console" panose="020B0609040504020204" pitchFamily="49" charset="0"/>
                <a:ea typeface="宋体" panose="02010600030101010101" pitchFamily="2" charset="-122"/>
              </a:rPr>
              <a:t>jr $ra返回调用例程</a:t>
            </a:r>
            <a:endParaRPr lang="en-AU" altLang="zh-CN" sz="20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684213" y="4286250"/>
            <a:ext cx="7821612" cy="1951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zh-CN" sz="2800"/>
              <a:t>在汇编语言编程中，常犯的一个错误就是忘记顺序字地址之间的差值是4而不是1</a:t>
            </a:r>
            <a:endParaRPr lang="en-US" altLang="zh-CN" sz="28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F17BC8AC-F3F9-410A-B714-01D1A07BA17B}" type="slidenum">
              <a:rPr lang="en-AU" altLang="zh-CN" sz="1400"/>
            </a:fld>
            <a:endParaRPr lang="en-AU" altLang="zh-CN" sz="1400"/>
          </a:p>
        </p:txBody>
      </p:sp>
      <p:sp>
        <p:nvSpPr>
          <p:cNvPr id="155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C语言中的排序过程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非叶泡/交换排序（调用交换）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void sort (int v[]，int n）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{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int i，j；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对于（i = 0；i &lt; n；i += 1）{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对于（j=i-1；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 &gt;= 0 &amp;&amp; v[j] &gt; v[j + 1];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j -= 1) {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交换（v，j）；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}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}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CN" sz="2400" smtClean="0">
                <a:solidFill>
                  <a:schemeClr val="tx2"/>
                </a:solidFill>
                <a:latin typeface="Lucida Console" panose="020B0609040504020204" pitchFamily="49" charset="0"/>
                <a:ea typeface="宋体" panose="02010600030101010101" pitchFamily="2" charset="-122"/>
              </a:rPr>
              <a:t>}</a:t>
            </a:r>
            <a:endParaRPr lang="en-US" altLang="zh-CN" sz="2400" smtClean="0">
              <a:solidFill>
                <a:schemeClr val="tx2"/>
              </a:solidFill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ea typeface="宋体" panose="02010600030101010101" pitchFamily="2" charset="-122"/>
              </a:rPr>
              <a:t>v属于a0，n属于a1，i属于s0，j属于s1</a:t>
            </a:r>
            <a:endParaRPr lang="en-AU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D87B20EF-981A-42AB-B371-A76BD1DFF3C2}" type="slidenum">
              <a:rPr lang="en-AU" altLang="zh-CN" sz="1400"/>
            </a:fld>
            <a:endParaRPr lang="en-AU" altLang="zh-CN" sz="1400"/>
          </a:p>
        </p:txBody>
      </p:sp>
      <p:sp>
        <p:nvSpPr>
          <p:cNvPr id="157699" name="Rectangle 5"/>
          <p:cNvSpPr>
            <a:spLocks noChangeArrowheads="1"/>
          </p:cNvSpPr>
          <p:nvPr/>
        </p:nvSpPr>
        <p:spPr bwMode="auto">
          <a:xfrm>
            <a:off x="684213" y="1116013"/>
            <a:ext cx="7316787" cy="48418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0" name="Rectangle 6"/>
          <p:cNvSpPr>
            <a:spLocks noChangeArrowheads="1"/>
          </p:cNvSpPr>
          <p:nvPr/>
        </p:nvSpPr>
        <p:spPr bwMode="auto">
          <a:xfrm>
            <a:off x="684213" y="1600200"/>
            <a:ext cx="7316787" cy="484188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1" name="Rectangle 7"/>
          <p:cNvSpPr>
            <a:spLocks noChangeArrowheads="1"/>
          </p:cNvSpPr>
          <p:nvPr/>
        </p:nvSpPr>
        <p:spPr bwMode="auto">
          <a:xfrm>
            <a:off x="684213" y="2084388"/>
            <a:ext cx="7316787" cy="245903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2" name="Rectangle 8"/>
          <p:cNvSpPr>
            <a:spLocks noChangeArrowheads="1"/>
          </p:cNvSpPr>
          <p:nvPr/>
        </p:nvSpPr>
        <p:spPr bwMode="auto">
          <a:xfrm>
            <a:off x="684213" y="4543425"/>
            <a:ext cx="7316787" cy="73342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3" name="Rectangle 9"/>
          <p:cNvSpPr>
            <a:spLocks noChangeArrowheads="1"/>
          </p:cNvSpPr>
          <p:nvPr/>
        </p:nvSpPr>
        <p:spPr bwMode="auto">
          <a:xfrm>
            <a:off x="684213" y="5276850"/>
            <a:ext cx="7316787" cy="485775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4" name="Rectangle 10"/>
          <p:cNvSpPr>
            <a:spLocks noChangeArrowheads="1"/>
          </p:cNvSpPr>
          <p:nvPr/>
        </p:nvSpPr>
        <p:spPr bwMode="auto">
          <a:xfrm>
            <a:off x="684213" y="5762625"/>
            <a:ext cx="7316787" cy="503238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77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程序主体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57706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684213" y="1087438"/>
            <a:ext cx="8270875" cy="5111750"/>
          </a:xfrm>
        </p:spPr>
        <p:txBody>
          <a:bodyPr/>
          <a:lstStyle/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将$a0的内容保存到$s2中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将$a1保存到$s3中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将$s0和$zero赋值为0#i=0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对于第1步：执行smt t0，s0，s3操作，若s0≥s3（即i≥n），则t0被赋值为0。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当$s0≥$s3（即i≥n）时，执行exit1跳转。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加法指令：将s1和s0的值相加，结果减去1，即j等于i减一。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for2tst： slti $t0，$s1,0 # $t0 = 1若$s1 &lt; 0（j &lt; 0）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当$s1&lt;0（即j&lt;0）时，执行bne $t0，$zero，exit2跳转至exit2。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sll $t1, $s1, 2 # $t1 = j * 4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将t2、s2和t1相加，其中t2的计算公式为v +（j * 4）。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lw $t3, 0($t2) # $t3 = v[j]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lw $t4, 4($t2) # $t4 = v[j + 1]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当$t4≥$t3时，$t0被赋值为0。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当$t4≥$t3时，执行beq $t0，$zero，exit2跳转至exit2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将$a0和$s2赋值为1，交换操作的第一个参数是v（即原来的$a0)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将$a1和$s1移动，交换操作的第二个参数是j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执行调用交换过程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addi $s1, $s1, –1 # j –= 1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j for2tst #跳转至内循环测试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exit2：加法指令$s0，$s0,1 #计数器+初始化为1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j for1tst #跳转至外循环测试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57707" name="Rectangle 16"/>
          <p:cNvSpPr>
            <a:spLocks noChangeArrowheads="1"/>
          </p:cNvSpPr>
          <p:nvPr/>
        </p:nvSpPr>
        <p:spPr bwMode="auto">
          <a:xfrm>
            <a:off x="8062913" y="4591050"/>
            <a:ext cx="749300" cy="64928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参数设置与调用</a:t>
            </a:r>
            <a:br>
              <a:rPr lang="en-AU" altLang="zh-CN" sz="1400"/>
            </a:br>
            <a:br>
              <a:rPr lang="en-AU" altLang="zh-CN" sz="1400"/>
            </a:br>
            <a:endParaRPr lang="en-AU" altLang="zh-CN" sz="1400"/>
          </a:p>
        </p:txBody>
      </p:sp>
      <p:sp>
        <p:nvSpPr>
          <p:cNvPr id="157708" name="Rectangle 19"/>
          <p:cNvSpPr>
            <a:spLocks noChangeArrowheads="1"/>
          </p:cNvSpPr>
          <p:nvPr/>
        </p:nvSpPr>
        <p:spPr bwMode="auto">
          <a:xfrm>
            <a:off x="8062913" y="1122363"/>
            <a:ext cx="758825" cy="5048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移动参数</a:t>
            </a:r>
            <a:br>
              <a:rPr lang="en-AU" altLang="zh-CN" sz="1400"/>
            </a:br>
            <a:endParaRPr lang="en-AU" altLang="zh-CN" sz="1400"/>
          </a:p>
        </p:txBody>
      </p:sp>
      <p:sp>
        <p:nvSpPr>
          <p:cNvPr id="157709" name="Rectangle 23"/>
          <p:cNvSpPr>
            <a:spLocks noChangeArrowheads="1"/>
          </p:cNvSpPr>
          <p:nvPr/>
        </p:nvSpPr>
        <p:spPr bwMode="auto">
          <a:xfrm>
            <a:off x="8062913" y="5405438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内环</a:t>
            </a:r>
            <a:endParaRPr lang="en-AU" altLang="zh-CN" sz="1400"/>
          </a:p>
        </p:txBody>
      </p:sp>
      <p:sp>
        <p:nvSpPr>
          <p:cNvPr id="157710" name="Rectangle 24"/>
          <p:cNvSpPr>
            <a:spLocks noChangeArrowheads="1"/>
          </p:cNvSpPr>
          <p:nvPr/>
        </p:nvSpPr>
        <p:spPr bwMode="auto">
          <a:xfrm>
            <a:off x="8062913" y="5891213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外环</a:t>
            </a:r>
            <a:endParaRPr lang="en-AU" altLang="zh-CN" sz="1400"/>
          </a:p>
        </p:txBody>
      </p:sp>
      <p:sp>
        <p:nvSpPr>
          <p:cNvPr id="157711" name="Rectangle 25"/>
          <p:cNvSpPr>
            <a:spLocks noChangeArrowheads="1"/>
          </p:cNvSpPr>
          <p:nvPr/>
        </p:nvSpPr>
        <p:spPr bwMode="auto">
          <a:xfrm>
            <a:off x="8062913" y="3148013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内环</a:t>
            </a:r>
            <a:endParaRPr lang="en-AU" altLang="zh-CN" sz="1400"/>
          </a:p>
        </p:txBody>
      </p:sp>
      <p:sp>
        <p:nvSpPr>
          <p:cNvPr id="157712" name="Rectangle 28"/>
          <p:cNvSpPr>
            <a:spLocks noChangeArrowheads="1"/>
          </p:cNvSpPr>
          <p:nvPr/>
        </p:nvSpPr>
        <p:spPr bwMode="auto">
          <a:xfrm>
            <a:off x="8062913" y="1728788"/>
            <a:ext cx="954087" cy="2746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lIns="54000" rIns="54000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外环</a:t>
            </a:r>
            <a:endParaRPr lang="en-AU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CB5662AA-C546-4AC3-9F2D-70C6F136D4D3}" type="slidenum">
              <a:rPr lang="en-AU" altLang="zh-CN" sz="1400"/>
            </a:fld>
            <a:endParaRPr lang="en-AU" altLang="zh-CN" sz="1400"/>
          </a:p>
        </p:txBody>
      </p:sp>
      <p:sp>
        <p:nvSpPr>
          <p:cNvPr id="159747" name="Rectangle 2"/>
          <p:cNvSpPr>
            <a:spLocks noChangeArrowheads="1"/>
          </p:cNvSpPr>
          <p:nvPr/>
        </p:nvSpPr>
        <p:spPr bwMode="auto">
          <a:xfrm>
            <a:off x="684213" y="1201738"/>
            <a:ext cx="7450137" cy="1466850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48" name="Rectangle 3"/>
          <p:cNvSpPr>
            <a:spLocks noChangeArrowheads="1"/>
          </p:cNvSpPr>
          <p:nvPr/>
        </p:nvSpPr>
        <p:spPr bwMode="auto">
          <a:xfrm>
            <a:off x="684213" y="3152775"/>
            <a:ext cx="7450137" cy="1493838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49" name="Rectangle 4"/>
          <p:cNvSpPr>
            <a:spLocks noChangeArrowheads="1"/>
          </p:cNvSpPr>
          <p:nvPr/>
        </p:nvSpPr>
        <p:spPr bwMode="auto">
          <a:xfrm>
            <a:off x="684213" y="4646613"/>
            <a:ext cx="7450137" cy="258762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50" name="Rectangle 16"/>
          <p:cNvSpPr>
            <a:spLocks noChangeArrowheads="1"/>
          </p:cNvSpPr>
          <p:nvPr/>
        </p:nvSpPr>
        <p:spPr bwMode="auto">
          <a:xfrm>
            <a:off x="684213" y="2668588"/>
            <a:ext cx="7450137" cy="484187"/>
          </a:xfrm>
          <a:prstGeom prst="rect">
            <a:avLst/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  <p:sp>
        <p:nvSpPr>
          <p:cNvPr id="159751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684213" y="1173163"/>
            <a:ext cx="8270875" cy="4960937"/>
          </a:xfrm>
        </p:spPr>
        <p:txBody>
          <a:bodyPr/>
          <a:lstStyle/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sort：addi$sp，-20#在堆栈上为5个寄存器腾出空间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sw $ra，16（$sp）#将$ra保存到堆栈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sw $s3,12（$sp）#将$s3保存到堆栈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sw $s2,8（$sp）#将$s2保存到堆栈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sw $s1,4（$sp）#将$s1保存到堆栈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sw $s0,0（$sp）#将$s0保存到堆栈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...#程序体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…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exit1： lw $s0,0（$sp）#从堆栈恢复$s0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lw $s1,4（$sp）#从堆栈恢复$s1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lw $s2,8（$sp）#从堆栈恢复$s2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lw $s3,12（$sp）#从堆栈恢复$s3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lw $ra，16（$sp）#从堆栈恢复$ra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addi$sp，20#恢复堆栈指针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15000"/>
              </a:spcBef>
              <a:buFont typeface="Wingdings" panose="05000000000000000000" pitchFamily="2" charset="2"/>
              <a:buNone/>
            </a:pPr>
            <a:r>
              <a:rPr lang="en-AU" altLang="zh-CN" sz="1400" smtClean="0">
                <a:latin typeface="Lucida Console" panose="020B0609040504020204" pitchFamily="49" charset="0"/>
                <a:ea typeface="宋体" panose="02010600030101010101" pitchFamily="2" charset="-122"/>
              </a:rPr>
              <a:t>jr $ra返回调用例程</a:t>
            </a:r>
            <a:endParaRPr lang="en-AU" altLang="zh-CN" sz="1400" smtClean="0">
              <a:latin typeface="Lucida Console" panose="020B0609040504020204" pitchFamily="49" charset="0"/>
              <a:ea typeface="宋体" panose="02010600030101010101" pitchFamily="2" charset="-122"/>
            </a:endParaRPr>
          </a:p>
        </p:txBody>
      </p:sp>
      <p:sp>
        <p:nvSpPr>
          <p:cNvPr id="159752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完整程序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081A2EE4-70AB-47AD-BEDD-16F77256AF7B}" type="slidenum">
              <a:rPr lang="en-AU" altLang="zh-CN" sz="1400"/>
            </a:fld>
            <a:endParaRPr lang="en-AU" altLang="zh-CN" sz="1400"/>
          </a:p>
        </p:txBody>
      </p:sp>
      <p:sp>
        <p:nvSpPr>
          <p:cNvPr id="1617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z="4000" smtClean="0">
                <a:ea typeface="宋体" panose="02010600030101010101" pitchFamily="2" charset="-122"/>
              </a:rPr>
              <a:t>编译器优化的效果</a:t>
            </a:r>
            <a:endParaRPr lang="en-AU" altLang="zh-CN" sz="4000" smtClean="0">
              <a:ea typeface="宋体" panose="02010600030101010101" pitchFamily="2" charset="-122"/>
            </a:endParaRPr>
          </a:p>
        </p:txBody>
      </p:sp>
      <p:graphicFrame>
        <p:nvGraphicFramePr>
          <p:cNvPr id="4098" name="Object 3"/>
          <p:cNvGraphicFramePr>
            <a:graphicFrameLocks noChangeAspect="1"/>
          </p:cNvGraphicFramePr>
          <p:nvPr/>
        </p:nvGraphicFramePr>
        <p:xfrm>
          <a:off x="400050" y="1774825"/>
          <a:ext cx="382905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998" name="Chart" r:id="rId1" imgW="4549140" imgH="2776855" progId="MSGraph.Chart.8">
                  <p:embed followColorScheme="full"/>
                </p:oleObj>
              </mc:Choice>
              <mc:Fallback>
                <p:oleObj name="Chart" r:id="rId1" imgW="4549140" imgH="2776855" progId="MSGraph.Chart.8">
                  <p:embed followColorScheme="full"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050" y="1774825"/>
                        <a:ext cx="382905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797" name="Object 4"/>
          <p:cNvGraphicFramePr>
            <a:graphicFrameLocks noChangeAspect="1"/>
          </p:cNvGraphicFramePr>
          <p:nvPr/>
        </p:nvGraphicFramePr>
        <p:xfrm>
          <a:off x="400050" y="4044950"/>
          <a:ext cx="377190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1999" name="Chart" r:id="rId3" imgW="4481830" imgH="2776855" progId="MSGraph.Chart.8">
                  <p:embed followColorScheme="full"/>
                </p:oleObj>
              </mc:Choice>
              <mc:Fallback>
                <p:oleObj name="Chart" r:id="rId3" imgW="4481830" imgH="2776855" progId="MSGraph.Chart.8">
                  <p:embed followColorScheme="full"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0050" y="4044950"/>
                        <a:ext cx="377190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798" name="Object 5"/>
          <p:cNvGraphicFramePr>
            <a:graphicFrameLocks noChangeAspect="1"/>
          </p:cNvGraphicFramePr>
          <p:nvPr/>
        </p:nvGraphicFramePr>
        <p:xfrm>
          <a:off x="4284663" y="1773238"/>
          <a:ext cx="377190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000" name="Chart" r:id="rId5" imgW="4481830" imgH="2776855" progId="MSGraph.Chart.8">
                  <p:embed followColorScheme="full"/>
                </p:oleObj>
              </mc:Choice>
              <mc:Fallback>
                <p:oleObj name="Chart" r:id="rId5" imgW="4481830" imgH="2776855" progId="MSGraph.Chart.8">
                  <p:embed followColorScheme="full"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1773238"/>
                        <a:ext cx="377190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1799" name="Object 6"/>
          <p:cNvGraphicFramePr>
            <a:graphicFrameLocks noChangeAspect="1"/>
          </p:cNvGraphicFramePr>
          <p:nvPr/>
        </p:nvGraphicFramePr>
        <p:xfrm>
          <a:off x="4427538" y="4048125"/>
          <a:ext cx="3829050" cy="233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2001" name="Chart" r:id="rId7" imgW="4549140" imgH="2776855" progId="MSGraph.Chart.8">
                  <p:embed followColorScheme="full"/>
                </p:oleObj>
              </mc:Choice>
              <mc:Fallback>
                <p:oleObj name="Chart" r:id="rId7" imgW="4549140" imgH="2776855" progId="MSGraph.Chart.8">
                  <p:embed followColorScheme="full"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4048125"/>
                        <a:ext cx="3829050" cy="233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800" name="Text Box 7"/>
          <p:cNvSpPr txBox="1">
            <a:spLocks noChangeArrowheads="1"/>
          </p:cNvSpPr>
          <p:nvPr/>
        </p:nvSpPr>
        <p:spPr bwMode="auto">
          <a:xfrm>
            <a:off x="1908175" y="1268413"/>
            <a:ext cx="47307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latin typeface="Tahoma" panose="020B0604030504040204" pitchFamily="34" charset="0"/>
              </a:rPr>
              <a:t>用gcc在Linux下的奔腾4上编译</a:t>
            </a:r>
            <a:endParaRPr lang="en-AU" altLang="zh-CN" sz="1800">
              <a:latin typeface="Tahoma" panose="020B0604030504040204" pitchFamily="34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285750" y="4071938"/>
            <a:ext cx="4214813" cy="2357437"/>
          </a:xfrm>
          <a:prstGeom prst="rect">
            <a:avLst/>
          </a:prstGeom>
          <a:noFill/>
          <a:ln w="53975" algn="ctr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zh-CN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OleChart spid="4098" grpId="0"/>
      <p:bldP spid="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3EF5E51E-87C5-404D-9D23-5C0237CFC90B}" type="slidenum">
              <a:rPr lang="en-AU" altLang="zh-CN" sz="1400"/>
            </a:fld>
            <a:endParaRPr lang="en-AU" altLang="zh-CN" sz="1400"/>
          </a:p>
        </p:txBody>
      </p:sp>
      <p:sp>
        <p:nvSpPr>
          <p:cNvPr id="163843" name="Rectangle 2"/>
          <p:cNvSpPr>
            <a:spLocks noGrp="1" noChangeArrowheads="1"/>
          </p:cNvSpPr>
          <p:nvPr>
            <p:ph type="title"/>
          </p:nvPr>
        </p:nvSpPr>
        <p:spPr>
          <a:xfrm>
            <a:off x="684213" y="266700"/>
            <a:ext cx="8259762" cy="641350"/>
          </a:xfrm>
        </p:spPr>
        <p:txBody>
          <a:bodyPr/>
          <a:lstStyle/>
          <a:p>
            <a:pPr eaLnBrk="1" hangingPunct="1"/>
            <a:r>
              <a:rPr lang="en-US" altLang="zh-CN" sz="3600" smtClean="0">
                <a:ea typeface="宋体" panose="02010600030101010101" pitchFamily="2" charset="-122"/>
              </a:rPr>
              <a:t>语言和算法的影响</a:t>
            </a:r>
            <a:endParaRPr lang="en-AU" altLang="zh-CN" sz="3600" smtClean="0">
              <a:ea typeface="宋体" panose="02010600030101010101" pitchFamily="2" charset="-122"/>
            </a:endParaRPr>
          </a:p>
        </p:txBody>
      </p:sp>
      <p:graphicFrame>
        <p:nvGraphicFramePr>
          <p:cNvPr id="163844" name="Object 3"/>
          <p:cNvGraphicFramePr>
            <a:graphicFrameLocks noChangeAspect="1"/>
          </p:cNvGraphicFramePr>
          <p:nvPr/>
        </p:nvGraphicFramePr>
        <p:xfrm>
          <a:off x="1647825" y="1125538"/>
          <a:ext cx="5086350" cy="1798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94" name="Chart" r:id="rId1" imgW="6039485" imgH="2313940" progId="MSGraph.Chart.8">
                  <p:embed followColorScheme="full"/>
                </p:oleObj>
              </mc:Choice>
              <mc:Fallback>
                <p:oleObj name="Chart" r:id="rId1" imgW="6039485" imgH="2313940" progId="MSGraph.Chart.8">
                  <p:embed followColorScheme="full"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47825" y="1125538"/>
                        <a:ext cx="5086350" cy="1798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3" name="Object 4"/>
          <p:cNvGraphicFramePr>
            <a:graphicFrameLocks noChangeAspect="1"/>
          </p:cNvGraphicFramePr>
          <p:nvPr/>
        </p:nvGraphicFramePr>
        <p:xfrm>
          <a:off x="1647825" y="2852738"/>
          <a:ext cx="5086350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95" name="Chart" r:id="rId3" imgW="6039485" imgH="2313940" progId="MSGraph.Chart.8">
                  <p:embed followColorScheme="full"/>
                </p:oleObj>
              </mc:Choice>
              <mc:Fallback>
                <p:oleObj name="Chart" r:id="rId3" imgW="6039485" imgH="2313940" progId="MSGraph.Chart.8">
                  <p:embed followColorScheme="full"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47825" y="2852738"/>
                        <a:ext cx="5086350" cy="1800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4" name="Object 5"/>
          <p:cNvGraphicFramePr>
            <a:graphicFrameLocks noChangeAspect="1"/>
          </p:cNvGraphicFramePr>
          <p:nvPr/>
        </p:nvGraphicFramePr>
        <p:xfrm>
          <a:off x="1619250" y="4652963"/>
          <a:ext cx="5086350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96" name="Chart" r:id="rId5" imgW="6039485" imgH="2313940" progId="MSGraph.Chart.8">
                  <p:embed followColorScheme="full"/>
                </p:oleObj>
              </mc:Choice>
              <mc:Fallback>
                <p:oleObj name="Chart" r:id="rId5" imgW="6039485" imgH="2313940" progId="MSGraph.Chart.8">
                  <p:embed followColorScheme="full"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4652963"/>
                        <a:ext cx="5086350" cy="1800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OleChart spid="5123" grpId="0"/>
      <p:bldOleChart spid="5124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1A13345A-060A-413E-8E90-3448F771A03B}" type="slidenum">
              <a:rPr lang="en-AU" altLang="zh-CN" sz="1400"/>
            </a:fld>
            <a:endParaRPr lang="en-AU" altLang="zh-CN" sz="1400"/>
          </a:p>
        </p:txBody>
      </p:sp>
      <p:sp>
        <p:nvSpPr>
          <p:cNvPr id="165891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经验教训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1924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指令数和CPI单独来看并不是很好的性能指标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编译器优化对算法很敏感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Java/JIT编译代码比JVM解释代码快得多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在某些情况下与优化的C相当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没有什么能修复一个愚蠢的算法！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2B90EC26-C88D-4CAA-ADA7-44EE91488B04}" type="slidenum">
              <a:rPr lang="en-AU" altLang="zh-CN" sz="1400"/>
            </a:fld>
            <a:endParaRPr lang="en-AU" altLang="zh-CN" sz="1400"/>
          </a:p>
        </p:txBody>
      </p:sp>
      <p:sp>
        <p:nvSpPr>
          <p:cNvPr id="167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数组与指针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7897812" cy="5111750"/>
          </a:xfrm>
        </p:spPr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数组索引涉及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将索引乘以元素大小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向数组基址添加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指针直接对应于内存地址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可避免索引复杂性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67941" name="Text Box 4"/>
          <p:cNvSpPr txBox="1">
            <a:spLocks noChangeArrowheads="1"/>
          </p:cNvSpPr>
          <p:nvPr/>
        </p:nvSpPr>
        <p:spPr bwMode="auto">
          <a:xfrm rot="5400000">
            <a:off x="7401719" y="1375569"/>
            <a:ext cx="31178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第2.14节数组与指针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AD9694DE-E0B2-4C05-9A59-C97F9278D0B5}" type="slidenum">
              <a:rPr lang="en-AU" altLang="zh-CN" sz="1400"/>
            </a:fld>
            <a:endParaRPr lang="en-AU" altLang="zh-CN" sz="1400"/>
          </a:p>
        </p:txBody>
      </p:sp>
      <p:sp>
        <p:nvSpPr>
          <p:cNvPr id="1699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示例：清除数组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graphicFrame>
        <p:nvGraphicFramePr>
          <p:cNvPr id="396291" name="Group 3"/>
          <p:cNvGraphicFramePr>
            <a:graphicFrameLocks noGrp="1"/>
          </p:cNvGraphicFramePr>
          <p:nvPr/>
        </p:nvGraphicFramePr>
        <p:xfrm>
          <a:off x="107950" y="1457325"/>
          <a:ext cx="8928100" cy="4065588"/>
        </p:xfrm>
        <a:graphic>
          <a:graphicData uri="http://schemas.openxmlformats.org/drawingml/2006/table">
            <a:tbl>
              <a:tblPr/>
              <a:tblGrid>
                <a:gridCol w="4392613"/>
                <a:gridCol w="4535487"/>
              </a:tblGrid>
              <a:tr h="145573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clear1(int数组[]，int大小）{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int i；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对于（i = 0；i &lt; size；i += 1）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array[i] = 0;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}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clear2（int *array，int size）{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int *p;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对于(p = &amp;array[0]；p &lt; &amp;array[size]；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p = p + 1)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*p = 0;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}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609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移动t0，置零# i = 0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循环1：sll $t1，$t0,2 # $t1 = i * 4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添加t2、a0和t1，其中t2的值为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# &amp;array[i]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sw $zero, 0($t2) # array[i] = 0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addi $t0，$t0,1 #将i增加1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slt $t3,$t0,$a1 # $t3 =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# (i小于大小）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bne$t3，零，循环1#如果...#转至循环1</a:t>
                      </a:r>
                      <a:b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</a:b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移动t0和a0，p = &amp; array[0]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sll$t1，a1,2#$t1=size*4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添加t2、a0和t1，其中t2的值为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#&amp;数组[大小]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loop2: sw $zero,0($t0) # Memory[p] = 0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addi $t0,$t0, 4 # p = p + 4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slt $t3,$t0,$t2 # $t3 =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#(p&lt;&amp;array[size] )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bne $t3，$zero，loop2 #如果（...）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14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#转至循环2</a:t>
                      </a:r>
                      <a:endParaRPr kumimoji="0" lang="en-AU" altLang="zh-CN" sz="14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EA33F7A4-58D6-4030-935C-27145A6FD957}" type="slidenum">
              <a:rPr lang="en-AU" altLang="zh-CN" sz="1400"/>
            </a:fld>
            <a:endParaRPr lang="en-AU" altLang="zh-CN" sz="1400"/>
          </a:p>
        </p:txBody>
      </p:sp>
      <p:sp>
        <p:nvSpPr>
          <p:cNvPr id="172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Array与Ptr的比较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499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将“强度降低”乘以移动量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dirty="0" smtClean="0">
                <a:ea typeface="宋体" panose="02010600030101010101" pitchFamily="2" charset="-122"/>
              </a:rPr>
              <a:t>数组版本要求将移位操作置于循环内部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增量i的索引计算的一部分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c.f.增加指针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dirty="0" smtClean="0">
                <a:solidFill>
                  <a:srgbClr val="FF0000"/>
                </a:solidFill>
                <a:ea typeface="宋体" panose="02010600030101010101" pitchFamily="2" charset="-122"/>
              </a:rPr>
              <a:t>编译器可以实现与手动使用指针相同的效果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归纳变量消除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dirty="0" smtClean="0">
                <a:ea typeface="宋体" panose="02010600030101010101" pitchFamily="2" charset="-122"/>
              </a:rPr>
              <a:t>最好使程序更清晰、更安全</a:t>
            </a:r>
            <a:endParaRPr lang="en-US" altLang="zh-CN" dirty="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dirty="0" smtClean="0">
                <a:solidFill>
                  <a:srgbClr val="FF0000"/>
                </a:solidFill>
                <a:ea typeface="宋体" panose="02010600030101010101" pitchFamily="2" charset="-122"/>
              </a:rPr>
              <a:t>避免使用指针！！</a:t>
            </a:r>
            <a:endParaRPr lang="en-AU" altLang="zh-CN" dirty="0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4ACAA290-1BF7-402F-AED1-D21D86218430}" type="slidenum">
              <a:rPr lang="en-AU" altLang="zh-CN" sz="1400"/>
            </a:fld>
            <a:endParaRPr lang="en-AU" altLang="zh-CN" sz="1400"/>
          </a:p>
        </p:txBody>
      </p:sp>
      <p:sp>
        <p:nvSpPr>
          <p:cNvPr id="174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ARM与MIPS的相似性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7408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935037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AU" altLang="zh-CN" sz="2800" smtClean="0">
                <a:ea typeface="宋体" panose="02010600030101010101" pitchFamily="2" charset="-122"/>
              </a:rPr>
              <a:t>ARM：最流行的嵌入式核心</a:t>
            </a:r>
            <a:endParaRPr lang="en-AU" altLang="zh-CN" sz="280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AU" altLang="zh-CN" sz="2800" smtClean="0">
                <a:ea typeface="宋体" panose="02010600030101010101" pitchFamily="2" charset="-122"/>
              </a:rPr>
              <a:t>与MIPS类似的基本指令集</a:t>
            </a:r>
            <a:endParaRPr lang="en-AU" altLang="zh-CN" sz="2800" smtClean="0">
              <a:ea typeface="宋体" panose="02010600030101010101" pitchFamily="2" charset="-122"/>
            </a:endParaRPr>
          </a:p>
        </p:txBody>
      </p:sp>
      <p:sp>
        <p:nvSpPr>
          <p:cNvPr id="174085" name="Text Box 4"/>
          <p:cNvSpPr txBox="1">
            <a:spLocks noChangeArrowheads="1"/>
          </p:cNvSpPr>
          <p:nvPr/>
        </p:nvSpPr>
        <p:spPr bwMode="auto">
          <a:xfrm rot="5400000">
            <a:off x="7115969" y="1661319"/>
            <a:ext cx="36893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第2.16条实物：ARM指令</a:t>
            </a:r>
            <a:endParaRPr lang="en-US" altLang="zh-CN" sz="1800">
              <a:solidFill>
                <a:schemeClr val="folHlink"/>
              </a:solidFill>
            </a:endParaRPr>
          </a:p>
        </p:txBody>
      </p:sp>
      <p:graphicFrame>
        <p:nvGraphicFramePr>
          <p:cNvPr id="420939" name="Group 75"/>
          <p:cNvGraphicFramePr>
            <a:graphicFrameLocks noGrp="1"/>
          </p:cNvGraphicFramePr>
          <p:nvPr/>
        </p:nvGraphicFramePr>
        <p:xfrm>
          <a:off x="755650" y="2133600"/>
          <a:ext cx="7632700" cy="3976688"/>
        </p:xfrm>
        <a:graphic>
          <a:graphicData uri="http://schemas.openxmlformats.org/drawingml/2006/table">
            <a:tbl>
              <a:tblPr/>
              <a:tblGrid>
                <a:gridCol w="3482975"/>
                <a:gridCol w="2076450"/>
                <a:gridCol w="2073275"/>
              </a:tblGrid>
              <a:tr h="4603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ARM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阳性铁管尺寸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宣布日期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1985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1985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35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指令大小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32位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32位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地址空间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32位平视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32位平视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数据对齐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已对齐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已对齐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数据寻址模式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9</a:t>
                      </a:r>
                      <a:endParaRPr kumimoji="0" lang="en-US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3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</a:tr>
              <a:tr h="4603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注册表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15×32位</a:t>
                      </a:r>
                      <a:endParaRPr kumimoji="0" lang="en-US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31×32位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folHlink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输入/输出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内存映射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内存映射</a:t>
                      </a:r>
                      <a:endParaRPr kumimoji="0" lang="en-AU" altLang="zh-CN" sz="22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zh-CN" smtClean="0">
                <a:ea typeface="宋体" panose="02010600030101010101" pitchFamily="2" charset="-122"/>
              </a:rPr>
              <a:t>ARM与MIPS的相似性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7613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zh-CN" smtClean="0">
              <a:ea typeface="宋体" panose="02010600030101010101" pitchFamily="2" charset="-122"/>
            </a:endParaRPr>
          </a:p>
        </p:txBody>
      </p:sp>
      <p:sp>
        <p:nvSpPr>
          <p:cNvPr id="17613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F34B4CC4-F3B7-4CD3-BA97-37868ACEEAE1}" type="slidenum">
              <a:rPr lang="en-AU" altLang="zh-CN" sz="1400"/>
            </a:fld>
            <a:endParaRPr lang="en-AU" altLang="zh-CN" sz="1400"/>
          </a:p>
        </p:txBody>
      </p:sp>
      <p:pic>
        <p:nvPicPr>
          <p:cNvPr id="176133" name="Picture 4" descr="f02-32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908050"/>
            <a:ext cx="7848600" cy="5513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4438C9EE-F1EF-476F-8220-AFCD2B1F833C}" type="slidenum">
              <a:rPr lang="en-AU" altLang="zh-CN" sz="1400"/>
            </a:fld>
            <a:endParaRPr lang="en-AU" altLang="zh-CN" sz="1400"/>
          </a:p>
        </p:txBody>
      </p:sp>
      <p:sp>
        <p:nvSpPr>
          <p:cNvPr id="177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ARM中的比较和分支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使用条件码来决定算术/逻辑指令的结果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负数、零、进位、溢出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比较（CMP）指令，用于设置条件码而不保留结果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mtClean="0">
                <a:ea typeface="宋体" panose="02010600030101010101" pitchFamily="2" charset="-122"/>
              </a:rPr>
              <a:t>从一个操作数中减去另一个操作数</a:t>
            </a:r>
            <a:endParaRPr lang="en-AU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每个指令都可以是条件性的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指令字的前4位：条件值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可避免单条指令上的分支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54A96870-5699-442B-B0B4-3376835C4E42}" type="slidenum">
              <a:rPr lang="en-AU" altLang="zh-CN" sz="1400"/>
            </a:fld>
            <a:endParaRPr lang="en-AU" altLang="zh-CN" sz="1400"/>
          </a:p>
        </p:txBody>
      </p:sp>
      <p:sp>
        <p:nvSpPr>
          <p:cNvPr id="179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指令编码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79204" name="Picture 4" descr="f02-34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981075"/>
            <a:ext cx="7416800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>
                <a:ea typeface="宋体" panose="02010600030101010101" pitchFamily="2" charset="-122"/>
              </a:rPr>
              <a:t>唯一ARM指令</a:t>
            </a:r>
            <a:endParaRPr lang="en-US" altLang="zh-CN" smtClean="0">
              <a:ea typeface="宋体" panose="02010600030101010101" pitchFamily="2" charset="-122"/>
            </a:endParaRPr>
          </a:p>
        </p:txBody>
      </p:sp>
      <p:sp>
        <p:nvSpPr>
          <p:cNvPr id="181251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A7F84C93-3C6B-4198-84EE-BFAF1282ED1F}" type="slidenum">
              <a:rPr lang="en-AU" altLang="zh-CN" sz="1400"/>
            </a:fld>
            <a:endParaRPr lang="en-AU" altLang="zh-CN" sz="1400"/>
          </a:p>
        </p:txBody>
      </p:sp>
      <p:pic>
        <p:nvPicPr>
          <p:cNvPr id="181252" name="Picture 4" descr="f02-35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1557338"/>
            <a:ext cx="7669213" cy="367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DDD95EBB-3CED-41ED-AAB4-1686FEF494B4}" type="slidenum">
              <a:rPr lang="en-AU" altLang="zh-CN" sz="1400"/>
            </a:fld>
            <a:endParaRPr lang="en-AU" altLang="zh-CN" sz="1400"/>
          </a:p>
        </p:txBody>
      </p:sp>
      <p:sp>
        <p:nvSpPr>
          <p:cNvPr id="182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Intel x86 ISA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ea typeface="宋体" panose="02010600030101010101" pitchFamily="2" charset="-122"/>
              </a:rPr>
              <a:t>具有向后兼容性的进化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8080（1974）：8位微处理器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蓄能器，加3对索引寄存器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8086（1978）：对8080的16位扩展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复杂指令集（CISC）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8087（1980）：浮点协处理器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添加FP指令和寄存器堆栈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80286（1982）：24位地址，MMU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分段内存映射和保护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80386（1985）：32位扩展（现在是IA-32)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其他寻址模式和操作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</a:rPr>
              <a:t>分页内存映射和段</a:t>
            </a:r>
            <a:endParaRPr lang="en-AU" altLang="zh-CN" sz="2000" smtClean="0">
              <a:ea typeface="宋体" panose="02010600030101010101" pitchFamily="2" charset="-122"/>
            </a:endParaRPr>
          </a:p>
        </p:txBody>
      </p:sp>
      <p:sp>
        <p:nvSpPr>
          <p:cNvPr id="182277" name="Text Box 4"/>
          <p:cNvSpPr txBox="1">
            <a:spLocks noChangeArrowheads="1"/>
          </p:cNvSpPr>
          <p:nvPr/>
        </p:nvSpPr>
        <p:spPr bwMode="auto">
          <a:xfrm rot="5400000">
            <a:off x="7185819" y="1591469"/>
            <a:ext cx="35496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第2.17节实际内容：x86指令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09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8AA8BC52-C5A0-4FC8-9C9F-85BF80F3B6D9}" type="slidenum">
              <a:rPr lang="en-AU" altLang="zh-CN" sz="1400"/>
            </a:fld>
            <a:endParaRPr lang="en-AU" altLang="zh-CN" sz="1400"/>
          </a:p>
        </p:txBody>
      </p:sp>
      <p:sp>
        <p:nvSpPr>
          <p:cNvPr id="184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Intel x86 ISA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800" smtClean="0">
                <a:ea typeface="宋体" panose="02010600030101010101" pitchFamily="2" charset="-122"/>
              </a:rPr>
              <a:t>进一步发展...</a:t>
            </a:r>
            <a:endParaRPr lang="en-US" altLang="zh-CN" sz="28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i486（1989）：流水线、片上缓存和浮点运算单元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有力的竞争对手：AMD、Cyrix……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奔腾（1993）：超标量、64位数据路径</a:t>
            </a:r>
            <a:endParaRPr lang="en-US" altLang="zh-CN" sz="24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以后的版本添加了MMX（多媒体扩展）指令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臭名昭著的5亿美元FDIV漏洞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奔腾Pro（1995）、奔腾II（1997）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新的微体系结构（参见Colwell的《奔腾编年史》）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奔腾III（1999年）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添加了SSE（流式SIMD扩展）和相关寄存器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400" smtClean="0">
                <a:solidFill>
                  <a:srgbClr val="FF0000"/>
                </a:solidFill>
                <a:ea typeface="宋体" panose="02010600030101010101" pitchFamily="2" charset="-122"/>
              </a:rPr>
              <a:t>奔腾4（2001年）</a:t>
            </a:r>
            <a:endParaRPr lang="en-US" altLang="zh-CN" sz="240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新型微架构</a:t>
            </a:r>
            <a:endParaRPr lang="en-US" altLang="zh-CN" sz="200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smtClean="0">
                <a:ea typeface="宋体" panose="02010600030101010101" pitchFamily="2" charset="-122"/>
              </a:rPr>
              <a:t>添加了144条SSE2指令</a:t>
            </a:r>
            <a:endParaRPr lang="en-AU" altLang="zh-CN" sz="200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19D0603D-3CBC-4B3F-B578-A516FC8ADEC4}" type="slidenum">
              <a:rPr lang="en-AU" altLang="zh-CN" sz="1400"/>
            </a:fld>
            <a:endParaRPr lang="en-AU" altLang="zh-CN" sz="1400"/>
          </a:p>
        </p:txBody>
      </p:sp>
      <p:sp>
        <p:nvSpPr>
          <p:cNvPr id="186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Intel x86 ISA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5375275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zh-CN" sz="2400" dirty="0" smtClean="0">
                <a:ea typeface="宋体" panose="02010600030101010101" pitchFamily="2" charset="-122"/>
              </a:rPr>
              <a:t>还有更多...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AMD64（2003）：扩展到64位的体系结构</a:t>
            </a:r>
            <a:endParaRPr lang="en-US" altLang="zh-CN" sz="2200" dirty="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EM64T-扩展内存64技术（2004）</a:t>
            </a:r>
            <a:endParaRPr lang="en-US" altLang="zh-CN" sz="22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AMD64被Intel采用（经过改进）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添加了SSE3指令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Intel Core（2006）</a:t>
            </a:r>
            <a:endParaRPr lang="en-US" altLang="zh-CN" sz="2200" dirty="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添加了SSE4指令，支持虚拟机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AMD64（2007年发布）：SSE5指令</a:t>
            </a:r>
            <a:endParaRPr lang="en-US" altLang="zh-CN" sz="2200" dirty="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solidFill>
                  <a:schemeClr val="tx2"/>
                </a:solidFill>
                <a:ea typeface="宋体" panose="02010600030101010101" pitchFamily="2" charset="-122"/>
              </a:rPr>
              <a:t>英特尔拒绝效仿，而是...</a:t>
            </a:r>
            <a:endParaRPr lang="en-US" altLang="zh-CN" sz="2000" dirty="0" smtClean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200" dirty="0" smtClean="0">
                <a:solidFill>
                  <a:srgbClr val="FF0000"/>
                </a:solidFill>
                <a:ea typeface="宋体" panose="02010600030101010101" pitchFamily="2" charset="-122"/>
              </a:rPr>
              <a:t>高级向量扩展（2008年发布）</a:t>
            </a:r>
            <a:endParaRPr lang="en-US" altLang="zh-CN" sz="2200" dirty="0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更长的SSE寄存器，更多指令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2" eaLnBrk="1" hangingPunct="1">
              <a:lnSpc>
                <a:spcPct val="80000"/>
              </a:lnSpc>
            </a:pPr>
            <a:endParaRPr lang="en-US" altLang="zh-CN" sz="500" dirty="0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80000"/>
              </a:lnSpc>
            </a:pPr>
            <a:r>
              <a:rPr lang="en-US" altLang="zh-CN" sz="2400" dirty="0" smtClean="0">
                <a:ea typeface="宋体" panose="02010600030101010101" pitchFamily="2" charset="-122"/>
              </a:rPr>
              <a:t>每个步骤中现有的x86软件基础非常重要，不能因重大体系结构更改而危及</a:t>
            </a:r>
            <a:endParaRPr lang="en-US" altLang="zh-CN" sz="24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自成立以来，x86每月扩展一个指令！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是一种难以解释和难以喜爱的架构</a:t>
            </a:r>
            <a:endParaRPr lang="en-US" altLang="zh-CN" sz="2000" dirty="0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zh-CN" sz="2000" dirty="0" smtClean="0">
                <a:ea typeface="宋体" panose="02010600030101010101" pitchFamily="2" charset="-122"/>
              </a:rPr>
              <a:t>尽管缺乏“技术上的优雅”，x86家族如今已普及</a:t>
            </a:r>
            <a:endParaRPr lang="en-US" altLang="zh-CN" sz="2000" dirty="0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Footer Placeholder 2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9D215086-E7ED-4669-8E8B-0CB77A5B7DC4}" type="slidenum">
              <a:rPr lang="en-AU" altLang="zh-CN" sz="1400"/>
            </a:fld>
            <a:endParaRPr lang="en-AU" altLang="zh-CN" sz="1400"/>
          </a:p>
        </p:txBody>
      </p:sp>
      <p:sp>
        <p:nvSpPr>
          <p:cNvPr id="188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基本x86寄存器（80386）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88420" name="Picture 5" descr="f02-36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196975"/>
            <a:ext cx="5024438" cy="507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2BB23472-70DB-4B18-B030-5B9E4459B411}" type="slidenum">
              <a:rPr lang="en-AU" altLang="zh-CN" sz="1400"/>
            </a:fld>
            <a:endParaRPr lang="en-AU" altLang="zh-CN" sz="1400"/>
          </a:p>
        </p:txBody>
      </p:sp>
      <p:sp>
        <p:nvSpPr>
          <p:cNvPr id="190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基本x86地址模式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04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647700"/>
          </a:xfrm>
        </p:spPr>
        <p:txBody>
          <a:bodyPr/>
          <a:lstStyle/>
          <a:p>
            <a:pPr eaLnBrk="1" hangingPunct="1"/>
            <a:r>
              <a:rPr lang="en-AU" altLang="zh-CN" sz="2800" smtClean="0">
                <a:ea typeface="宋体" panose="02010600030101010101" pitchFamily="2" charset="-122"/>
              </a:rPr>
              <a:t>每条指令有两个操作数</a:t>
            </a:r>
            <a:endParaRPr lang="en-AU" altLang="zh-CN" sz="2800" smtClean="0">
              <a:ea typeface="宋体" panose="02010600030101010101" pitchFamily="2" charset="-122"/>
            </a:endParaRPr>
          </a:p>
        </p:txBody>
      </p:sp>
      <p:graphicFrame>
        <p:nvGraphicFramePr>
          <p:cNvPr id="471080" name="Group 40"/>
          <p:cNvGraphicFramePr>
            <a:graphicFrameLocks noGrp="1"/>
          </p:cNvGraphicFramePr>
          <p:nvPr/>
        </p:nvGraphicFramePr>
        <p:xfrm>
          <a:off x="1187450" y="1700213"/>
          <a:ext cx="6697663" cy="2011362"/>
        </p:xfrm>
        <a:graphic>
          <a:graphicData uri="http://schemas.openxmlformats.org/drawingml/2006/table">
            <a:tbl>
              <a:tblPr/>
              <a:tblGrid>
                <a:gridCol w="3349625"/>
                <a:gridCol w="3348038"/>
              </a:tblGrid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源/目标操作数</a:t>
                      </a:r>
                      <a:endParaRPr kumimoji="0" lang="en-AU" sz="16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第二个源操作数</a:t>
                      </a:r>
                      <a:endParaRPr kumimoji="0" lang="en-AU" sz="1600" b="1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注册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注册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注册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即时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注册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记忆力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记忆力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注册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22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记忆力</a:t>
                      </a:r>
                      <a:endParaRPr kumimoji="0" lang="en-AU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AU" sz="16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即时</a:t>
                      </a:r>
                      <a:endParaRPr kumimoji="0" lang="en-AU" sz="16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T="45676" marB="4567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90492" name="Rectangle 41"/>
          <p:cNvSpPr>
            <a:spLocks noChangeArrowheads="1"/>
          </p:cNvSpPr>
          <p:nvPr/>
        </p:nvSpPr>
        <p:spPr bwMode="auto">
          <a:xfrm>
            <a:off x="684213" y="3933825"/>
            <a:ext cx="8270875" cy="2303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AU" altLang="zh-CN" sz="2800"/>
              <a:t>内存寻址模式</a:t>
            </a:r>
            <a:endParaRPr lang="en-AU" altLang="zh-CN" sz="2800"/>
          </a:p>
          <a:p>
            <a:pPr lvl="1" eaLnBrk="1" hangingPunct="1"/>
            <a:r>
              <a:rPr lang="en-AU" altLang="zh-CN" sz="2400"/>
              <a:t>寄存器中的地址</a:t>
            </a:r>
            <a:endParaRPr lang="en-AU" altLang="zh-CN" sz="2400"/>
          </a:p>
          <a:p>
            <a:pPr lvl="1" eaLnBrk="1" hangingPunct="1"/>
            <a:r>
              <a:rPr lang="en-AU" altLang="zh-CN" sz="2400"/>
              <a:t>地址=R基+位移</a:t>
            </a:r>
            <a:endParaRPr lang="en-AU" altLang="zh-CN" sz="2400"/>
          </a:p>
          <a:p>
            <a:pPr lvl="1" eaLnBrk="1" hangingPunct="1"/>
            <a:r>
              <a:rPr lang="en-AU" altLang="zh-CN" sz="2400"/>
              <a:t>地址=R基+2标度×R索引（标度=0、1、2或3）</a:t>
            </a:r>
            <a:endParaRPr lang="en-AU" altLang="zh-CN" sz="2400"/>
          </a:p>
          <a:p>
            <a:pPr lvl="1" eaLnBrk="1" hangingPunct="1"/>
            <a:r>
              <a:rPr lang="en-AU" altLang="zh-CN" sz="2400"/>
              <a:t>地址=R基+2尺度×R索引+位移</a:t>
            </a:r>
            <a:endParaRPr lang="en-AU" altLang="zh-CN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332ECFD3-442F-4EB0-A2DB-4D43FC8FFC60}" type="slidenum">
              <a:rPr lang="en-AU" altLang="zh-CN" sz="1400"/>
            </a:fld>
            <a:endParaRPr lang="en-AU" altLang="zh-CN" sz="1400"/>
          </a:p>
        </p:txBody>
      </p:sp>
      <p:sp>
        <p:nvSpPr>
          <p:cNvPr id="1925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x86指令编码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25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9475" y="1125538"/>
            <a:ext cx="4383088" cy="5111750"/>
          </a:xfrm>
        </p:spPr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可变长度编码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1到17字节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正确地称为CISC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后缀字节指定寻址模式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</a:rPr>
              <a:t>前缀字节修改操作</a:t>
            </a:r>
            <a:endParaRPr lang="en-AU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AU" altLang="zh-CN" smtClean="0">
                <a:ea typeface="宋体" panose="02010600030101010101" pitchFamily="2" charset="-122"/>
              </a:rPr>
              <a:t>操作数长度、重复、锁定...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pic>
        <p:nvPicPr>
          <p:cNvPr id="192517" name="Picture 4" descr="f02-41-P374493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625" y="1341438"/>
            <a:ext cx="5191125" cy="496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5F527304-6B7A-45D0-8877-6BD8DFC377EC}" type="slidenum">
              <a:rPr lang="en-AU" altLang="zh-CN" sz="1400"/>
            </a:fld>
            <a:endParaRPr lang="en-AU" altLang="zh-CN" sz="1400"/>
          </a:p>
        </p:txBody>
      </p:sp>
      <p:sp>
        <p:nvSpPr>
          <p:cNvPr id="1945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实施IA-32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9456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复杂的指令集使得实现困难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硬件将指令转换为更简单的微操作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简单说明：1-1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2" eaLnBrk="1" hangingPunct="1"/>
            <a:r>
              <a:rPr lang="en-US" altLang="zh-CN" smtClean="0">
                <a:ea typeface="宋体" panose="02010600030101010101" pitchFamily="2" charset="-122"/>
              </a:rPr>
              <a:t>复杂指令：1-许多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与RISC类似的微处理器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与RISC的可比性能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编译器避免复杂的指令</a:t>
            </a:r>
            <a:endParaRPr lang="en-US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1865D565-27BD-404F-AD2F-940C77C5EB63}" type="slidenum">
              <a:rPr lang="en-AU" altLang="zh-CN" sz="1400"/>
            </a:fld>
            <a:endParaRPr lang="en-AU" altLang="zh-CN" sz="1400"/>
          </a:p>
        </p:txBody>
      </p:sp>
      <p:sp>
        <p:nvSpPr>
          <p:cNvPr id="1966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谬误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62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</a:rPr>
              <a:t>强大的指令更高的性能</a:t>
            </a:r>
            <a:endParaRPr lang="en-US" altLang="zh-CN" sz="2800" smtClean="0">
              <a:solidFill>
                <a:srgbClr val="FF0000"/>
              </a:solidFill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所需指令更少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但是复杂的指令很难实现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2" eaLnBrk="1" hangingPunct="1"/>
            <a:r>
              <a:rPr lang="en-US" altLang="zh-CN" sz="2000" smtClean="0">
                <a:ea typeface="宋体" panose="02010600030101010101" pitchFamily="2" charset="-122"/>
                <a:sym typeface="Symbol" panose="05050102010706020507" pitchFamily="18" charset="2"/>
              </a:rPr>
              <a:t>可能会减慢所有指令的执行速度，包括简单的指令</a:t>
            </a:r>
            <a:endParaRPr lang="en-US" altLang="zh-CN" sz="20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编译器擅长从简单的指令中生成快速的代码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eaLnBrk="1" hangingPunct="1"/>
            <a:r>
              <a:rPr lang="en-US" altLang="zh-CN" sz="2800" smtClean="0">
                <a:solidFill>
                  <a:srgbClr val="FF0000"/>
                </a:solidFill>
                <a:ea typeface="宋体" panose="02010600030101010101" pitchFamily="2" charset="-122"/>
                <a:sym typeface="Symbol" panose="05050102010706020507" pitchFamily="18" charset="2"/>
              </a:rPr>
              <a:t>使用高性能的装配代码</a:t>
            </a:r>
            <a:endParaRPr lang="en-US" altLang="zh-CN" sz="2800" smtClean="0">
              <a:solidFill>
                <a:srgbClr val="FF0000"/>
              </a:solidFill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但是现代编译器在处理现代处理器方面做得更好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US" altLang="zh-CN" sz="2400" smtClean="0">
                <a:ea typeface="宋体" panose="02010600030101010101" pitchFamily="2" charset="-122"/>
                <a:sym typeface="Symbol" panose="05050102010706020507" pitchFamily="18" charset="2"/>
              </a:rPr>
              <a:t>更多的代码行（就像汇编代码与C或Java之间的区别一样）更多的错误和更低的生产率</a:t>
            </a:r>
            <a:endParaRPr lang="en-US" altLang="zh-CN" sz="2400" smtClean="0">
              <a:ea typeface="宋体" panose="02010600030101010101" pitchFamily="2" charset="-122"/>
              <a:sym typeface="Symbol" panose="05050102010706020507" pitchFamily="18" charset="2"/>
            </a:endParaRPr>
          </a:p>
        </p:txBody>
      </p:sp>
      <p:sp>
        <p:nvSpPr>
          <p:cNvPr id="196613" name="Text Box 4"/>
          <p:cNvSpPr txBox="1">
            <a:spLocks noChangeArrowheads="1"/>
          </p:cNvSpPr>
          <p:nvPr/>
        </p:nvSpPr>
        <p:spPr bwMode="auto">
          <a:xfrm rot="5400000">
            <a:off x="7509669" y="1267619"/>
            <a:ext cx="29019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第2.18节谬误和陷阱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3B810E9A-50A4-48DE-B51F-AD3C81CFAC46}" type="slidenum">
              <a:rPr lang="en-AU" altLang="zh-CN" sz="1400"/>
            </a:fld>
            <a:endParaRPr lang="en-AU" altLang="zh-CN" sz="1400"/>
          </a:p>
        </p:txBody>
      </p:sp>
      <p:pic>
        <p:nvPicPr>
          <p:cNvPr id="97283" name="Picture 6" descr="f02-43-P37449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813" y="2997200"/>
            <a:ext cx="4538662" cy="3148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86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AU" altLang="zh-CN" smtClean="0">
                <a:ea typeface="宋体" panose="02010600030101010101" pitchFamily="2" charset="-122"/>
              </a:rPr>
              <a:t>谬误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728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1727200"/>
          </a:xfrm>
        </p:spPr>
        <p:txBody>
          <a:bodyPr/>
          <a:lstStyle/>
          <a:p>
            <a:pPr eaLnBrk="1" hangingPunct="1"/>
            <a:r>
              <a:rPr lang="en-AU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向后兼容性指令集不变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  <a:sym typeface="Symbol" panose="05050102010706020507" pitchFamily="18" charset="2"/>
            </a:endParaRPr>
          </a:p>
          <a:p>
            <a:pPr lvl="1" eaLnBrk="1" hangingPunct="1"/>
            <a:r>
              <a:rPr lang="en-AU" altLang="zh-CN" smtClean="0">
                <a:ea typeface="宋体" panose="02010600030101010101" pitchFamily="2" charset="-122"/>
                <a:sym typeface="Symbol" panose="05050102010706020507" pitchFamily="18" charset="2"/>
              </a:rPr>
              <a:t>但是它们确实积累了更多的指令</a:t>
            </a:r>
            <a:endParaRPr lang="en-AU" altLang="zh-CN" smtClean="0">
              <a:ea typeface="宋体" panose="02010600030101010101" pitchFamily="2" charset="-122"/>
              <a:sym typeface="Symbol" panose="05050102010706020507" pitchFamily="18" charset="2"/>
            </a:endParaRPr>
          </a:p>
        </p:txBody>
      </p:sp>
      <p:sp>
        <p:nvSpPr>
          <p:cNvPr id="97286" name="Text Box 5"/>
          <p:cNvSpPr txBox="1">
            <a:spLocks noChangeArrowheads="1"/>
          </p:cNvSpPr>
          <p:nvPr/>
        </p:nvSpPr>
        <p:spPr bwMode="auto">
          <a:xfrm>
            <a:off x="6300788" y="4149725"/>
            <a:ext cx="2035175" cy="37623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800"/>
              <a:t>x86指令集</a:t>
            </a:r>
            <a:endParaRPr lang="en-AU" altLang="zh-CN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8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68D960AC-910D-46E5-95A4-CFA1D878B624}" type="slidenum">
              <a:rPr lang="en-AU" altLang="zh-CN" sz="1400"/>
            </a:fld>
            <a:endParaRPr lang="en-AU" altLang="zh-CN" sz="1400"/>
          </a:p>
        </p:txBody>
      </p:sp>
      <p:sp>
        <p:nvSpPr>
          <p:cNvPr id="2007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陷阱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忘记顺序单词不在顺序地址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增加4，而不是1！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/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在过程返回后保留对自动变量的指针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例如，通过参数将指针传递回本地数组或变量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/>
            <a:r>
              <a:rPr lang="en-US" altLang="zh-CN" smtClean="0">
                <a:ea typeface="宋体" panose="02010600030101010101" pitchFamily="2" charset="-122"/>
              </a:rPr>
              <a:t>弹出堆栈时，指针失效</a:t>
            </a:r>
            <a:endParaRPr lang="en-AU" altLang="zh-CN" smtClean="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第2章—指令：计算机语言—</a:t>
            </a:r>
            <a:fld id="{CED192F6-0B03-4B33-A56F-C86A92CCEB4E}" type="slidenum">
              <a:rPr lang="en-AU" altLang="zh-CN" sz="1400"/>
            </a:fld>
            <a:endParaRPr lang="en-AU" altLang="zh-CN" sz="1400"/>
          </a:p>
        </p:txBody>
      </p:sp>
      <p:sp>
        <p:nvSpPr>
          <p:cNvPr id="202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结束语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设计原则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1.</a:t>
            </a:r>
            <a:r>
              <a:rPr lang="en-US" altLang="zh-CN" smtClean="0">
                <a:ea typeface="宋体" panose="02010600030101010101" pitchFamily="2" charset="-122"/>
              </a:rPr>
              <a:t>简单有利于规律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2.</a:t>
            </a:r>
            <a:r>
              <a:rPr lang="en-US" altLang="zh-CN" smtClean="0">
                <a:ea typeface="宋体" panose="02010600030101010101" pitchFamily="2" charset="-122"/>
              </a:rPr>
              <a:t>体积越小，速度越快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3.</a:t>
            </a:r>
            <a:r>
              <a:rPr lang="en-US" altLang="zh-CN" smtClean="0">
                <a:ea typeface="宋体" panose="02010600030101010101" pitchFamily="2" charset="-122"/>
              </a:rPr>
              <a:t>快速处理常见案例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CN" smtClean="0">
                <a:solidFill>
                  <a:schemeClr val="hlink"/>
                </a:solidFill>
                <a:ea typeface="宋体" panose="02010600030101010101" pitchFamily="2" charset="-122"/>
              </a:rPr>
              <a:t>4.</a:t>
            </a:r>
            <a:r>
              <a:rPr lang="en-US" altLang="zh-CN" smtClean="0">
                <a:ea typeface="宋体" panose="02010600030101010101" pitchFamily="2" charset="-122"/>
              </a:rPr>
              <a:t>好的设计需要好的妥协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软件/硬件层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编译器、汇编器、硬件</a:t>
            </a:r>
            <a:endParaRPr lang="en-US" altLang="zh-CN" smtClean="0">
              <a:ea typeface="宋体" panose="02010600030101010101" pitchFamily="2" charset="-122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MIPS：典型的RISC指令系统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c.f. x86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202757" name="Text Box 4"/>
          <p:cNvSpPr txBox="1">
            <a:spLocks noChangeArrowheads="1"/>
          </p:cNvSpPr>
          <p:nvPr/>
        </p:nvSpPr>
        <p:spPr bwMode="auto">
          <a:xfrm rot="5400000">
            <a:off x="7490619" y="1286669"/>
            <a:ext cx="2940050" cy="3667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800">
                <a:solidFill>
                  <a:schemeClr val="folHlink"/>
                </a:solidFill>
              </a:rPr>
              <a:t>第2.19节结论性意见</a:t>
            </a:r>
            <a:endParaRPr lang="en-US" altLang="zh-CN" sz="1800">
              <a:solidFill>
                <a:schemeClr val="folHlink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AU" altLang="zh-CN" sz="1400"/>
              <a:t>第2章——说明：计算机语言——</a:t>
            </a:r>
            <a:fld id="{51204359-C9A8-4BAF-BFC8-2AE20238E018}" type="slidenum">
              <a:rPr lang="en-AU" altLang="zh-CN" sz="1400"/>
            </a:fld>
            <a:endParaRPr lang="en-AU" altLang="zh-CN" sz="1400"/>
          </a:p>
        </p:txBody>
      </p:sp>
      <p:sp>
        <p:nvSpPr>
          <p:cNvPr id="2048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smtClean="0">
                <a:ea typeface="宋体" panose="02010600030101010101" pitchFamily="2" charset="-122"/>
              </a:rPr>
              <a:t>结束语</a:t>
            </a:r>
            <a:endParaRPr lang="en-AU" altLang="zh-CN" smtClean="0">
              <a:ea typeface="宋体" panose="02010600030101010101" pitchFamily="2" charset="-122"/>
            </a:endParaRPr>
          </a:p>
        </p:txBody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4213" y="1125538"/>
            <a:ext cx="8270875" cy="215106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zh-CN" smtClean="0">
                <a:ea typeface="宋体" panose="02010600030101010101" pitchFamily="2" charset="-122"/>
              </a:rPr>
              <a:t>基准程序中MIPS指令执行频率的精确测量</a:t>
            </a:r>
            <a:endParaRPr lang="en-US" altLang="zh-CN" smtClean="0">
              <a:ea typeface="宋体" panose="02010600030101010101" pitchFamily="2" charset="-122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mtClean="0">
                <a:solidFill>
                  <a:srgbClr val="FF0000"/>
                </a:solidFill>
                <a:ea typeface="宋体" panose="02010600030101010101" pitchFamily="2" charset="-122"/>
              </a:rPr>
              <a:t>考虑让常见情况快速处理</a:t>
            </a:r>
            <a:endParaRPr lang="en-US" altLang="zh-CN" smtClean="0">
              <a:solidFill>
                <a:srgbClr val="FF0000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414764" name="Group 44"/>
          <p:cNvGraphicFramePr>
            <a:graphicFrameLocks noGrp="1"/>
          </p:cNvGraphicFramePr>
          <p:nvPr/>
        </p:nvGraphicFramePr>
        <p:xfrm>
          <a:off x="179388" y="2928938"/>
          <a:ext cx="8783637" cy="3017838"/>
        </p:xfrm>
        <a:graphic>
          <a:graphicData uri="http://schemas.openxmlformats.org/drawingml/2006/table">
            <a:tbl>
              <a:tblPr/>
              <a:tblGrid>
                <a:gridCol w="2016125"/>
                <a:gridCol w="2881312"/>
                <a:gridCol w="1943100"/>
                <a:gridCol w="1943100"/>
              </a:tblGrid>
              <a:tr h="3658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指令类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MIPS示例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SPEC2006 Int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SPEC2006 FP</a:t>
                      </a:r>
                      <a:endParaRPr kumimoji="0" lang="en-AU" altLang="zh-CN" sz="1800" b="1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5DFE5"/>
                    </a:solidFill>
                  </a:tcPr>
                </a:tc>
              </a:tr>
              <a:tr h="3658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算术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加法、减法、加迪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16%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48%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64014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数据传输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lw, sw, lb, lbu, lh, lhu, sb, lui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35%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36%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64014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逻辑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以及、或、不、和、或、或、或、或、或、或、或、或、或、或、或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12%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4%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64014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条件分支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beq, bne, slt, slti, sltiu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34%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8%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3658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跳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宋体" panose="02010600030101010101" pitchFamily="2" charset="-122"/>
                        </a:rPr>
                        <a:t>j, jr, jal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Lucida Console" panose="020B0609040504020204" pitchFamily="49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2%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宋体" panose="02010600030101010101" pitchFamily="2" charset="-122"/>
                        </a:rPr>
                        <a:t>0%</a:t>
                      </a:r>
                      <a:endParaRPr kumimoji="0" lang="en-AU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宋体" panose="02010600030101010101" pitchFamily="2" charset="-122"/>
                      </a:endParaRPr>
                    </a:p>
                  </a:txBody>
                  <a:tcPr marT="45729" marB="45729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commondata" val="eyJoZGlkIjoiMTg2OGVlMWE3MWNiZTFmOTNlMTMyNDA1NjRlY2YxMWEifQ=="/>
</p:tagLst>
</file>

<file path=ppt/theme/theme1.xml><?xml version="1.0" encoding="utf-8"?>
<a:theme xmlns:a="http://schemas.openxmlformats.org/drawingml/2006/main" name="1_cod4e">
  <a:themeElements>
    <a:clrScheme name="1_cod4e 7">
      <a:dk1>
        <a:srgbClr val="000000"/>
      </a:dk1>
      <a:lt1>
        <a:srgbClr val="FFFFFF"/>
      </a:lt1>
      <a:dk2>
        <a:srgbClr val="0039A6"/>
      </a:dk2>
      <a:lt2>
        <a:srgbClr val="808080"/>
      </a:lt2>
      <a:accent1>
        <a:srgbClr val="9FCAD3"/>
      </a:accent1>
      <a:accent2>
        <a:srgbClr val="C0C0C0"/>
      </a:accent2>
      <a:accent3>
        <a:srgbClr val="FFFFFF"/>
      </a:accent3>
      <a:accent4>
        <a:srgbClr val="000000"/>
      </a:accent4>
      <a:accent5>
        <a:srgbClr val="CDE1E6"/>
      </a:accent5>
      <a:accent6>
        <a:srgbClr val="AEAEAE"/>
      </a:accent6>
      <a:hlink>
        <a:srgbClr val="91AFBF"/>
      </a:hlink>
      <a:folHlink>
        <a:srgbClr val="ECEAAC"/>
      </a:folHlink>
    </a:clrScheme>
    <a:fontScheme name="1_cod4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lnDef>
  </a:objectDefaults>
  <a:extraClrSchemeLst>
    <a:extraClrScheme>
      <a:clrScheme name="1_cod4e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od4e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cod4e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cod4e 7">
        <a:dk1>
          <a:srgbClr val="000000"/>
        </a:dk1>
        <a:lt1>
          <a:srgbClr val="FFFFFF"/>
        </a:lt1>
        <a:dk2>
          <a:srgbClr val="0039A6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cod4e</Template>
  <TotalTime>0</TotalTime>
  <Words>15091</Words>
  <Application>WPS 演示</Application>
  <PresentationFormat>全屏显示(4:3)</PresentationFormat>
  <Paragraphs>1722</Paragraphs>
  <Slides>100</Slides>
  <Notes>98</Notes>
  <HiddenSlides>0</HiddenSlides>
  <MMClips>0</MMClips>
  <ScaleCrop>false</ScaleCrop>
  <HeadingPairs>
    <vt:vector size="8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10</vt:i4>
      </vt:variant>
      <vt:variant>
        <vt:lpstr>幻灯片标题</vt:lpstr>
      </vt:variant>
      <vt:variant>
        <vt:i4>100</vt:i4>
      </vt:variant>
    </vt:vector>
  </HeadingPairs>
  <TitlesOfParts>
    <vt:vector size="124" baseType="lpstr">
      <vt:lpstr>Arial</vt:lpstr>
      <vt:lpstr>宋体</vt:lpstr>
      <vt:lpstr>Wingdings</vt:lpstr>
      <vt:lpstr>Arial Black</vt:lpstr>
      <vt:lpstr>Times New Roman</vt:lpstr>
      <vt:lpstr>Lucida Console</vt:lpstr>
      <vt:lpstr>微软雅黑</vt:lpstr>
      <vt:lpstr>Arial Unicode MS</vt:lpstr>
      <vt:lpstr>Symbol</vt:lpstr>
      <vt:lpstr>Tahoma</vt:lpstr>
      <vt:lpstr>MS PGothic</vt:lpstr>
      <vt:lpstr>Symbol</vt:lpstr>
      <vt:lpstr>Wingdings</vt:lpstr>
      <vt:lpstr>1_cod4e</vt:lpstr>
      <vt:lpstr>Equation.3</vt:lpstr>
      <vt:lpstr>MSGraph.Chart.8</vt:lpstr>
      <vt:lpstr>Equation.3</vt:lpstr>
      <vt:lpstr>Equation.3</vt:lpstr>
      <vt:lpstr>MSGraph.Chart.8</vt:lpstr>
      <vt:lpstr>MSGraph.Chart.8</vt:lpstr>
      <vt:lpstr>MSGraph.Chart.8</vt:lpstr>
      <vt:lpstr>MSGraph.Chart.8</vt:lpstr>
      <vt:lpstr>MSGraph.Chart.8</vt:lpstr>
      <vt:lpstr>MSGraph.Chart.8</vt:lpstr>
      <vt:lpstr>指令集</vt:lpstr>
      <vt:lpstr>MIPS指令集</vt:lpstr>
      <vt:lpstr>算术运算</vt:lpstr>
      <vt:lpstr>算术示例</vt:lpstr>
      <vt:lpstr>寄存器操作数</vt:lpstr>
      <vt:lpstr>寄存器操作数示例</vt:lpstr>
      <vt:lpstr>内存操作数</vt:lpstr>
      <vt:lpstr>大端与小端</vt:lpstr>
      <vt:lpstr>内存操作数示例1</vt:lpstr>
      <vt:lpstr>内存操作数示例2</vt:lpstr>
      <vt:lpstr>寄存器与内存</vt:lpstr>
      <vt:lpstr>立即操作数</vt:lpstr>
      <vt:lpstr>数字类型</vt:lpstr>
      <vt:lpstr>数字格式</vt:lpstr>
      <vt:lpstr>恒定零</vt:lpstr>
      <vt:lpstr>无符号整数</vt:lpstr>
      <vt:lpstr>带符号数表示法</vt:lpstr>
      <vt:lpstr>2s-补码整数</vt:lpstr>
      <vt:lpstr>2s-补码整数</vt:lpstr>
      <vt:lpstr>签名否定</vt:lpstr>
      <vt:lpstr>签名扩展</vt:lpstr>
      <vt:lpstr>代表说明</vt:lpstr>
      <vt:lpstr>MIPS-32指令集架构</vt:lpstr>
      <vt:lpstr>MIPS R格式指令</vt:lpstr>
      <vt:lpstr>R格式示例</vt:lpstr>
      <vt:lpstr>十六进制</vt:lpstr>
      <vt:lpstr>MIPS I格式指令</vt:lpstr>
      <vt:lpstr>计算机设计的两个关键原则</vt:lpstr>
      <vt:lpstr>逻辑运算</vt:lpstr>
      <vt:lpstr>轮班操作</vt:lpstr>
      <vt:lpstr>以及操作</vt:lpstr>
      <vt:lpstr>OR运营</vt:lpstr>
      <vt:lpstr>NOT操作</vt:lpstr>
      <vt:lpstr>条件操作</vt:lpstr>
      <vt:lpstr>编译If语句</vt:lpstr>
      <vt:lpstr>编译循环语句</vt:lpstr>
      <vt:lpstr>基本块</vt:lpstr>
      <vt:lpstr>更多条件操作</vt:lpstr>
      <vt:lpstr>分支指令设计</vt:lpstr>
      <vt:lpstr>签名与未签名</vt:lpstr>
      <vt:lpstr>程序调用</vt:lpstr>
      <vt:lpstr>注册使用</vt:lpstr>
      <vt:lpstr>程序调用说明</vt:lpstr>
      <vt:lpstr>叶程序示例</vt:lpstr>
      <vt:lpstr>叶程序示例</vt:lpstr>
      <vt:lpstr>非叶程序</vt:lpstr>
      <vt:lpstr>非叶手术示例</vt:lpstr>
      <vt:lpstr>非叶手术示例</vt:lpstr>
      <vt:lpstr>MIPS寄存器约定</vt:lpstr>
      <vt:lpstr>堆栈上的本地数据</vt:lpstr>
      <vt:lpstr>内存布局</vt:lpstr>
      <vt:lpstr>字符数据</vt:lpstr>
      <vt:lpstr>字符数据</vt:lpstr>
      <vt:lpstr>字节/半字操作</vt:lpstr>
      <vt:lpstr>字符串复制示例</vt:lpstr>
      <vt:lpstr>字符串复制示例</vt:lpstr>
      <vt:lpstr>32位常量</vt:lpstr>
      <vt:lpstr>分支寻址</vt:lpstr>
      <vt:lpstr>跳转寻址</vt:lpstr>
      <vt:lpstr>分支太远</vt:lpstr>
      <vt:lpstr>解决模式摘要</vt:lpstr>
      <vt:lpstr>同步</vt:lpstr>
      <vt:lpstr>原子交换的动机</vt:lpstr>
      <vt:lpstr>MIPS中的同步</vt:lpstr>
      <vt:lpstr>翻译和启动</vt:lpstr>
      <vt:lpstr>装配伪指令</vt:lpstr>
      <vt:lpstr>生成对象模块</vt:lpstr>
      <vt:lpstr>链接对象模块</vt:lpstr>
      <vt:lpstr>加载程序</vt:lpstr>
      <vt:lpstr>静态链接和动态链接</vt:lpstr>
      <vt:lpstr>弱链接</vt:lpstr>
      <vt:lpstr>启动Java应用程序</vt:lpstr>
      <vt:lpstr>C类示例</vt:lpstr>
      <vt:lpstr>程序交换</vt:lpstr>
      <vt:lpstr>C语言中的排序过程</vt:lpstr>
      <vt:lpstr>程序主体</vt:lpstr>
      <vt:lpstr>完整程序</vt:lpstr>
      <vt:lpstr>编译器优化的效果</vt:lpstr>
      <vt:lpstr>语言和算法的影响</vt:lpstr>
      <vt:lpstr>经验教训</vt:lpstr>
      <vt:lpstr>数组与指针</vt:lpstr>
      <vt:lpstr>示例：清除数组</vt:lpstr>
      <vt:lpstr>Array与Ptr的比较</vt:lpstr>
      <vt:lpstr>ARM与MIPS的相似性</vt:lpstr>
      <vt:lpstr>ARM与MIPS的相似性</vt:lpstr>
      <vt:lpstr>ARM中的比较和分支</vt:lpstr>
      <vt:lpstr>指令编码</vt:lpstr>
      <vt:lpstr>唯一ARM指令</vt:lpstr>
      <vt:lpstr>Intel x86 ISA</vt:lpstr>
      <vt:lpstr>Intel x86 ISA</vt:lpstr>
      <vt:lpstr>Intel x86 ISA</vt:lpstr>
      <vt:lpstr>基本x86寄存器（80386）</vt:lpstr>
      <vt:lpstr>基本x86地址模式</vt:lpstr>
      <vt:lpstr>x86指令编码</vt:lpstr>
      <vt:lpstr>实施IA-32</vt:lpstr>
      <vt:lpstr>谬误</vt:lpstr>
      <vt:lpstr>谬误</vt:lpstr>
      <vt:lpstr>陷阱</vt:lpstr>
      <vt:lpstr>结束语</vt:lpstr>
      <vt:lpstr>结束语</vt:lpstr>
    </vt:vector>
  </TitlesOfParts>
  <Company>Ashenden Designs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Peter Ashenden</dc:creator>
  <cp:lastModifiedBy>O₂</cp:lastModifiedBy>
  <cp:revision>324</cp:revision>
  <dcterms:created xsi:type="dcterms:W3CDTF">2008-07-27T22:34:00Z</dcterms:created>
  <dcterms:modified xsi:type="dcterms:W3CDTF">2026-06-24T08:46:54Z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2FAE6FCCC48846FC8E5DE68C52F9421C_12</vt:lpwstr>
  </property>
</Properties>
</file>