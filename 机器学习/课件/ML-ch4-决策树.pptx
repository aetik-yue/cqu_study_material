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338" r:id="rId3"/>
    <p:sldId id="277" r:id="rId4"/>
    <p:sldId id="279" r:id="rId5"/>
    <p:sldId id="351" r:id="rId6"/>
    <p:sldId id="280" r:id="rId7"/>
    <p:sldId id="369" r:id="rId8"/>
    <p:sldId id="370" r:id="rId9"/>
    <p:sldId id="282" r:id="rId10"/>
    <p:sldId id="283" r:id="rId11"/>
    <p:sldId id="340" r:id="rId12"/>
    <p:sldId id="341" r:id="rId13"/>
    <p:sldId id="371" r:id="rId14"/>
    <p:sldId id="284" r:id="rId15"/>
    <p:sldId id="286" r:id="rId16"/>
    <p:sldId id="287" r:id="rId17"/>
    <p:sldId id="288" r:id="rId18"/>
    <p:sldId id="289" r:id="rId19"/>
    <p:sldId id="290" r:id="rId20"/>
    <p:sldId id="293" r:id="rId21"/>
    <p:sldId id="291" r:id="rId22"/>
    <p:sldId id="372" r:id="rId23"/>
    <p:sldId id="353" r:id="rId24"/>
    <p:sldId id="294" r:id="rId25"/>
    <p:sldId id="345" r:id="rId26"/>
    <p:sldId id="373" r:id="rId27"/>
    <p:sldId id="347" r:id="rId28"/>
    <p:sldId id="374" r:id="rId29"/>
    <p:sldId id="375" r:id="rId30"/>
    <p:sldId id="376" r:id="rId31"/>
    <p:sldId id="352" r:id="rId32"/>
    <p:sldId id="361" r:id="rId33"/>
    <p:sldId id="354" r:id="rId34"/>
    <p:sldId id="355" r:id="rId35"/>
    <p:sldId id="356" r:id="rId36"/>
    <p:sldId id="368" r:id="rId37"/>
    <p:sldId id="297" r:id="rId38"/>
    <p:sldId id="303" r:id="rId39"/>
    <p:sldId id="301" r:id="rId40"/>
    <p:sldId id="295" r:id="rId41"/>
    <p:sldId id="299" r:id="rId42"/>
    <p:sldId id="305" r:id="rId43"/>
    <p:sldId id="306" r:id="rId44"/>
    <p:sldId id="307" r:id="rId45"/>
    <p:sldId id="308" r:id="rId46"/>
    <p:sldId id="309" r:id="rId47"/>
    <p:sldId id="310" r:id="rId48"/>
    <p:sldId id="311" r:id="rId49"/>
    <p:sldId id="313" r:id="rId50"/>
    <p:sldId id="315" r:id="rId51"/>
    <p:sldId id="314" r:id="rId52"/>
    <p:sldId id="316" r:id="rId53"/>
    <p:sldId id="377" r:id="rId54"/>
    <p:sldId id="317" r:id="rId56"/>
    <p:sldId id="319" r:id="rId57"/>
    <p:sldId id="318" r:id="rId58"/>
    <p:sldId id="320" r:id="rId59"/>
    <p:sldId id="366" r:id="rId60"/>
    <p:sldId id="322" r:id="rId61"/>
    <p:sldId id="323" r:id="rId62"/>
    <p:sldId id="325" r:id="rId63"/>
    <p:sldId id="334" r:id="rId64"/>
    <p:sldId id="335" r:id="rId65"/>
    <p:sldId id="336" r:id="rId66"/>
    <p:sldId id="364" r:id="rId67"/>
    <p:sldId id="327" r:id="rId68"/>
    <p:sldId id="365" r:id="rId69"/>
    <p:sldId id="328" r:id="rId70"/>
    <p:sldId id="363" r:id="rId71"/>
    <p:sldId id="329" r:id="rId72"/>
    <p:sldId id="330" r:id="rId73"/>
    <p:sldId id="367" r:id="rId74"/>
    <p:sldId id="331" r:id="rId7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17D"/>
    <a:srgbClr val="E5E17E"/>
    <a:srgbClr val="C30D23"/>
    <a:srgbClr val="CC0000"/>
    <a:srgbClr val="023A91"/>
    <a:srgbClr val="013990"/>
    <a:srgbClr val="2361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03" autoAdjust="0"/>
    <p:restoredTop sz="94660" autoAdjust="0"/>
  </p:normalViewPr>
  <p:slideViewPr>
    <p:cSldViewPr snapToGrid="0">
      <p:cViewPr varScale="1">
        <p:scale>
          <a:sx n="87" d="100"/>
          <a:sy n="87" d="100"/>
        </p:scale>
        <p:origin x="1310" y="72"/>
      </p:cViewPr>
      <p:guideLst/>
    </p:cSldViewPr>
  </p:slideViewPr>
  <p:outlineViewPr>
    <p:cViewPr>
      <p:scale>
        <a:sx n="33" d="100"/>
        <a:sy n="33" d="100"/>
      </p:scale>
      <p:origin x="0" y="-56463"/>
    </p:cViewPr>
  </p:outlineViewPr>
  <p:notesTextViewPr>
    <p:cViewPr>
      <p:scale>
        <a:sx n="1" d="1"/>
        <a:sy n="1" d="1"/>
      </p:scale>
      <p:origin x="0" y="0"/>
    </p:cViewPr>
  </p:notesTextViewPr>
  <p:sorterViewPr>
    <p:cViewPr>
      <p:scale>
        <a:sx n="100" d="100"/>
        <a:sy n="100" d="100"/>
      </p:scale>
      <p:origin x="0" y="-16173"/>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notesMaster" Target="notesMasters/notesMaster1.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21.wmf"/><Relationship Id="rId8" Type="http://schemas.openxmlformats.org/officeDocument/2006/relationships/image" Target="../media/image20.wmf"/><Relationship Id="rId7" Type="http://schemas.openxmlformats.org/officeDocument/2006/relationships/image" Target="../media/image19.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0" Type="http://schemas.openxmlformats.org/officeDocument/2006/relationships/image" Target="../media/image22.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31.wmf"/><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46.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5" Type="http://schemas.openxmlformats.org/officeDocument/2006/relationships/image" Target="../media/image52.wmf"/><Relationship Id="rId14" Type="http://schemas.openxmlformats.org/officeDocument/2006/relationships/image" Target="../media/image51.wmf"/><Relationship Id="rId13" Type="http://schemas.openxmlformats.org/officeDocument/2006/relationships/image" Target="../media/image50.wmf"/><Relationship Id="rId12" Type="http://schemas.openxmlformats.org/officeDocument/2006/relationships/image" Target="../media/image49.wmf"/><Relationship Id="rId11" Type="http://schemas.openxmlformats.org/officeDocument/2006/relationships/image" Target="../media/image48.wmf"/><Relationship Id="rId10" Type="http://schemas.openxmlformats.org/officeDocument/2006/relationships/image" Target="../media/image47.wmf"/><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57.wmf"/><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60.wmf"/><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59.wmf"/><Relationship Id="rId1" Type="http://schemas.openxmlformats.org/officeDocument/2006/relationships/image" Target="../media/image5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25.wmf"/><Relationship Id="rId6" Type="http://schemas.openxmlformats.org/officeDocument/2006/relationships/image" Target="../media/image29.wmf"/><Relationship Id="rId5" Type="http://schemas.openxmlformats.org/officeDocument/2006/relationships/image" Target="../media/image66.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62.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11.vml.rels><?xml version="1.0" encoding="UTF-8" standalone="yes"?>
<Relationships xmlns="http://schemas.openxmlformats.org/package/2006/relationships"><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2.vml.rels><?xml version="1.0" encoding="UTF-8" standalone="yes"?>
<Relationships xmlns="http://schemas.openxmlformats.org/package/2006/relationships"><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9.wmf"/><Relationship Id="rId1" Type="http://schemas.openxmlformats.org/officeDocument/2006/relationships/image" Target="../media/image9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8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87.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09.wmf"/><Relationship Id="rId8" Type="http://schemas.openxmlformats.org/officeDocument/2006/relationships/image" Target="../media/image108.wmf"/><Relationship Id="rId7" Type="http://schemas.openxmlformats.org/officeDocument/2006/relationships/image" Target="../media/image29.wmf"/><Relationship Id="rId6" Type="http://schemas.openxmlformats.org/officeDocument/2006/relationships/image" Target="../media/image25.wmf"/><Relationship Id="rId5" Type="http://schemas.openxmlformats.org/officeDocument/2006/relationships/image" Target="../media/image107.wmf"/><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1" Type="http://schemas.openxmlformats.org/officeDocument/2006/relationships/image" Target="../media/image111.wmf"/><Relationship Id="rId10" Type="http://schemas.openxmlformats.org/officeDocument/2006/relationships/image" Target="../media/image110.wmf"/><Relationship Id="rId1" Type="http://schemas.openxmlformats.org/officeDocument/2006/relationships/image" Target="../media/image103.wmf"/></Relationships>
</file>

<file path=ppt/drawings/_rels/vmlDrawing20.vml.rels><?xml version="1.0" encoding="UTF-8" standalone="yes"?>
<Relationships xmlns="http://schemas.openxmlformats.org/package/2006/relationships"><Relationship Id="rId5" Type="http://schemas.openxmlformats.org/officeDocument/2006/relationships/image" Target="../media/image109.wmf"/><Relationship Id="rId4" Type="http://schemas.openxmlformats.org/officeDocument/2006/relationships/image" Target="../media/image18.wmf"/><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19.wmf"/><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28.wmf"/><Relationship Id="rId8" Type="http://schemas.openxmlformats.org/officeDocument/2006/relationships/image" Target="../media/image127.wmf"/><Relationship Id="rId7" Type="http://schemas.openxmlformats.org/officeDocument/2006/relationships/image" Target="../media/image126.wmf"/><Relationship Id="rId6" Type="http://schemas.openxmlformats.org/officeDocument/2006/relationships/image" Target="../media/image125.wmf"/><Relationship Id="rId5" Type="http://schemas.openxmlformats.org/officeDocument/2006/relationships/image" Target="../media/image124.wmf"/><Relationship Id="rId4" Type="http://schemas.openxmlformats.org/officeDocument/2006/relationships/image" Target="../media/image30.wmf"/><Relationship Id="rId3" Type="http://schemas.openxmlformats.org/officeDocument/2006/relationships/image" Target="../media/image123.wmf"/><Relationship Id="rId2" Type="http://schemas.openxmlformats.org/officeDocument/2006/relationships/image" Target="../media/image29.wmf"/><Relationship Id="rId12" Type="http://schemas.openxmlformats.org/officeDocument/2006/relationships/image" Target="../media/image129.wmf"/><Relationship Id="rId11" Type="http://schemas.openxmlformats.org/officeDocument/2006/relationships/image" Target="../media/image19.wmf"/><Relationship Id="rId10" Type="http://schemas.openxmlformats.org/officeDocument/2006/relationships/image" Target="../media/image25.wmf"/><Relationship Id="rId1" Type="http://schemas.openxmlformats.org/officeDocument/2006/relationships/image" Target="../media/image12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5.wmf"/><Relationship Id="rId7" Type="http://schemas.openxmlformats.org/officeDocument/2006/relationships/image" Target="../media/image129.wmf"/><Relationship Id="rId6" Type="http://schemas.openxmlformats.org/officeDocument/2006/relationships/image" Target="../media/image133.wmf"/><Relationship Id="rId5" Type="http://schemas.openxmlformats.org/officeDocument/2006/relationships/image" Target="../media/image30.wmf"/><Relationship Id="rId4" Type="http://schemas.openxmlformats.org/officeDocument/2006/relationships/image" Target="../media/image125.wmf"/><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s>
</file>

<file path=ppt/drawings/_rels/vmlDrawing24.vml.rels><?xml version="1.0" encoding="UTF-8" standalone="yes"?>
<Relationships xmlns="http://schemas.openxmlformats.org/package/2006/relationships"><Relationship Id="rId7" Type="http://schemas.openxmlformats.org/officeDocument/2006/relationships/image" Target="../media/image138.wmf"/><Relationship Id="rId6" Type="http://schemas.openxmlformats.org/officeDocument/2006/relationships/image" Target="../media/image137.wmf"/><Relationship Id="rId5" Type="http://schemas.openxmlformats.org/officeDocument/2006/relationships/image" Target="../media/image36.wmf"/><Relationship Id="rId4" Type="http://schemas.openxmlformats.org/officeDocument/2006/relationships/image" Target="../media/image136.wmf"/><Relationship Id="rId3" Type="http://schemas.openxmlformats.org/officeDocument/2006/relationships/image" Target="../media/image135.wmf"/><Relationship Id="rId2" Type="http://schemas.openxmlformats.org/officeDocument/2006/relationships/image" Target="../media/image122.wmf"/><Relationship Id="rId1" Type="http://schemas.openxmlformats.org/officeDocument/2006/relationships/image" Target="../media/image29.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147.wmf"/><Relationship Id="rId8" Type="http://schemas.openxmlformats.org/officeDocument/2006/relationships/image" Target="../media/image146.wmf"/><Relationship Id="rId7" Type="http://schemas.openxmlformats.org/officeDocument/2006/relationships/image" Target="../media/image145.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wmf"/><Relationship Id="rId12" Type="http://schemas.openxmlformats.org/officeDocument/2006/relationships/image" Target="../media/image29.wmf"/><Relationship Id="rId11" Type="http://schemas.openxmlformats.org/officeDocument/2006/relationships/image" Target="../media/image148.wmf"/><Relationship Id="rId10" Type="http://schemas.openxmlformats.org/officeDocument/2006/relationships/image" Target="../media/image122.wmf"/><Relationship Id="rId1" Type="http://schemas.openxmlformats.org/officeDocument/2006/relationships/image" Target="../media/image139.wmf"/></Relationships>
</file>

<file path=ppt/drawings/_rels/vmlDrawing26.vml.rels><?xml version="1.0" encoding="UTF-8" standalone="yes"?>
<Relationships xmlns="http://schemas.openxmlformats.org/package/2006/relationships"><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152.wmf"/><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s>
</file>

<file path=ppt/drawings/_rels/vmlDrawing27.vml.rels><?xml version="1.0" encoding="UTF-8" standalone="yes"?>
<Relationships xmlns="http://schemas.openxmlformats.org/package/2006/relationships"><Relationship Id="rId6" Type="http://schemas.openxmlformats.org/officeDocument/2006/relationships/image" Target="../media/image159.wmf"/><Relationship Id="rId5" Type="http://schemas.openxmlformats.org/officeDocument/2006/relationships/image" Target="../media/image158.wmf"/><Relationship Id="rId4" Type="http://schemas.openxmlformats.org/officeDocument/2006/relationships/image" Target="../media/image157.wmf"/><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ECF19-471E-4005-84D8-773F3A472FC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ADE56E-D1BF-4FAB-BEFE-DE0ADD8187A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912A28-0608-CA4C-AB6B-5134AF048CA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45" algn="l">
              <a:buClr>
                <a:schemeClr val="accent1"/>
              </a:buClr>
              <a:buSzPct val="100000"/>
              <a:buFont typeface="Wingdings" panose="05000000000000000000" pitchFamily="2" charset="2"/>
              <a:buChar char="p"/>
              <a:defRPr lang="zh-CN" altLang="en-US" dirty="0" smtClean="0"/>
            </a:lvl1pPr>
            <a:lvl2pPr marL="685800" indent="-360045">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endParaRPr lang="zh-CN" altLang="en-US"/>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45">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45">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45">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45">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60350" y="1724773"/>
            <a:ext cx="4006850" cy="4308473"/>
          </a:xfrm>
        </p:spPr>
        <p:txBody>
          <a:bodyPr/>
          <a:lstStyle>
            <a:lvl1pPr marL="228600" indent="-360045">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572000" y="1724773"/>
            <a:ext cx="4305300" cy="4308473"/>
          </a:xfrm>
        </p:spPr>
        <p:txBody>
          <a:bodyPr/>
          <a:lstStyle>
            <a:lvl1pPr marL="228600" indent="-360045">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endParaRPr lang="zh-CN" altLang="en-US"/>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45">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45">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45">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45">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60350" y="1724773"/>
            <a:ext cx="4006850" cy="4308473"/>
          </a:xfrm>
        </p:spPr>
        <p:txBody>
          <a:bodyPr/>
          <a:lstStyle>
            <a:lvl1pPr marL="228600" indent="-360045">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572000" y="1724773"/>
            <a:ext cx="4305300" cy="4308473"/>
          </a:xfrm>
        </p:spPr>
        <p:txBody>
          <a:bodyPr/>
          <a:lstStyle>
            <a:lvl1pPr marL="228600" indent="-360045">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bg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050917"/>
            <a:ext cx="8629650" cy="5070476"/>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p:titleStyle>
    <p:body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jpe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6.wmf"/><Relationship Id="rId7" Type="http://schemas.openxmlformats.org/officeDocument/2006/relationships/oleObject" Target="../embeddings/oleObject4.bin"/><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 Id="rId3" Type="http://schemas.openxmlformats.org/officeDocument/2006/relationships/oleObject" Target="../embeddings/oleObject2.bin"/><Relationship Id="rId25" Type="http://schemas.openxmlformats.org/officeDocument/2006/relationships/vmlDrawing" Target="../drawings/vmlDrawing1.vml"/><Relationship Id="rId24" Type="http://schemas.openxmlformats.org/officeDocument/2006/relationships/slideLayout" Target="../slideLayouts/slideLayout3.xml"/><Relationship Id="rId23" Type="http://schemas.openxmlformats.org/officeDocument/2006/relationships/image" Target="../media/image22.wmf"/><Relationship Id="rId22" Type="http://schemas.openxmlformats.org/officeDocument/2006/relationships/oleObject" Target="../embeddings/oleObject13.bin"/><Relationship Id="rId21" Type="http://schemas.openxmlformats.org/officeDocument/2006/relationships/oleObject" Target="../embeddings/oleObject12.bin"/><Relationship Id="rId20" Type="http://schemas.openxmlformats.org/officeDocument/2006/relationships/oleObject" Target="../embeddings/oleObject11.bin"/><Relationship Id="rId2" Type="http://schemas.openxmlformats.org/officeDocument/2006/relationships/image" Target="../media/image13.wmf"/><Relationship Id="rId19" Type="http://schemas.openxmlformats.org/officeDocument/2006/relationships/image" Target="../media/image21.wmf"/><Relationship Id="rId18" Type="http://schemas.openxmlformats.org/officeDocument/2006/relationships/oleObject" Target="../embeddings/oleObject10.bin"/><Relationship Id="rId17" Type="http://schemas.openxmlformats.org/officeDocument/2006/relationships/image" Target="../media/image20.wmf"/><Relationship Id="rId16" Type="http://schemas.openxmlformats.org/officeDocument/2006/relationships/oleObject" Target="../embeddings/oleObject9.bin"/><Relationship Id="rId15" Type="http://schemas.openxmlformats.org/officeDocument/2006/relationships/oleObject" Target="../embeddings/oleObject8.bin"/><Relationship Id="rId14" Type="http://schemas.openxmlformats.org/officeDocument/2006/relationships/image" Target="../media/image19.wmf"/><Relationship Id="rId13" Type="http://schemas.openxmlformats.org/officeDocument/2006/relationships/oleObject" Target="../embeddings/oleObject7.bin"/><Relationship Id="rId12" Type="http://schemas.openxmlformats.org/officeDocument/2006/relationships/image" Target="../media/image18.wmf"/><Relationship Id="rId11" Type="http://schemas.openxmlformats.org/officeDocument/2006/relationships/oleObject" Target="../embeddings/oleObject6.bin"/><Relationship Id="rId10" Type="http://schemas.openxmlformats.org/officeDocument/2006/relationships/image" Target="../media/image17.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17.bin"/><Relationship Id="rId7" Type="http://schemas.openxmlformats.org/officeDocument/2006/relationships/image" Target="../media/image26.wmf"/><Relationship Id="rId6" Type="http://schemas.openxmlformats.org/officeDocument/2006/relationships/oleObject" Target="../embeddings/oleObject16.bin"/><Relationship Id="rId5" Type="http://schemas.openxmlformats.org/officeDocument/2006/relationships/image" Target="../media/image25.wmf"/><Relationship Id="rId4" Type="http://schemas.openxmlformats.org/officeDocument/2006/relationships/oleObject" Target="../embeddings/oleObject15.bin"/><Relationship Id="rId3" Type="http://schemas.openxmlformats.org/officeDocument/2006/relationships/image" Target="../media/image24.wmf"/><Relationship Id="rId25" Type="http://schemas.openxmlformats.org/officeDocument/2006/relationships/vmlDrawing" Target="../drawings/vmlDrawing2.vml"/><Relationship Id="rId24" Type="http://schemas.openxmlformats.org/officeDocument/2006/relationships/slideLayout" Target="../slideLayouts/slideLayout3.xml"/><Relationship Id="rId23" Type="http://schemas.openxmlformats.org/officeDocument/2006/relationships/oleObject" Target="../embeddings/oleObject27.bin"/><Relationship Id="rId22" Type="http://schemas.openxmlformats.org/officeDocument/2006/relationships/oleObject" Target="../embeddings/oleObject26.bin"/><Relationship Id="rId21" Type="http://schemas.openxmlformats.org/officeDocument/2006/relationships/oleObject" Target="../embeddings/oleObject25.bin"/><Relationship Id="rId20" Type="http://schemas.openxmlformats.org/officeDocument/2006/relationships/image" Target="../media/image31.wmf"/><Relationship Id="rId2" Type="http://schemas.openxmlformats.org/officeDocument/2006/relationships/oleObject" Target="../embeddings/oleObject14.bin"/><Relationship Id="rId19" Type="http://schemas.openxmlformats.org/officeDocument/2006/relationships/oleObject" Target="../embeddings/oleObject24.bin"/><Relationship Id="rId18" Type="http://schemas.openxmlformats.org/officeDocument/2006/relationships/image" Target="../media/image30.wmf"/><Relationship Id="rId17" Type="http://schemas.openxmlformats.org/officeDocument/2006/relationships/oleObject" Target="../embeddings/oleObject23.bin"/><Relationship Id="rId16" Type="http://schemas.openxmlformats.org/officeDocument/2006/relationships/oleObject" Target="../embeddings/oleObject22.bin"/><Relationship Id="rId15" Type="http://schemas.openxmlformats.org/officeDocument/2006/relationships/image" Target="../media/image29.wmf"/><Relationship Id="rId14" Type="http://schemas.openxmlformats.org/officeDocument/2006/relationships/oleObject" Target="../embeddings/oleObject21.bin"/><Relationship Id="rId13" Type="http://schemas.openxmlformats.org/officeDocument/2006/relationships/image" Target="../media/image28.wmf"/><Relationship Id="rId12" Type="http://schemas.openxmlformats.org/officeDocument/2006/relationships/oleObject" Target="../embeddings/oleObject20.bin"/><Relationship Id="rId11" Type="http://schemas.openxmlformats.org/officeDocument/2006/relationships/oleObject" Target="../embeddings/oleObject19.bin"/><Relationship Id="rId10" Type="http://schemas.openxmlformats.org/officeDocument/2006/relationships/oleObject" Target="../embeddings/oleObject18.bin"/><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35.wmf"/><Relationship Id="rId7" Type="http://schemas.openxmlformats.org/officeDocument/2006/relationships/oleObject" Target="../embeddings/oleObject31.bin"/><Relationship Id="rId6" Type="http://schemas.openxmlformats.org/officeDocument/2006/relationships/image" Target="../media/image34.wmf"/><Relationship Id="rId5" Type="http://schemas.openxmlformats.org/officeDocument/2006/relationships/oleObject" Target="../embeddings/oleObject30.bin"/><Relationship Id="rId4" Type="http://schemas.openxmlformats.org/officeDocument/2006/relationships/image" Target="../media/image33.wmf"/><Relationship Id="rId3" Type="http://schemas.openxmlformats.org/officeDocument/2006/relationships/oleObject" Target="../embeddings/oleObject29.bin"/><Relationship Id="rId2" Type="http://schemas.openxmlformats.org/officeDocument/2006/relationships/image" Target="../media/image32.wmf"/><Relationship Id="rId13" Type="http://schemas.openxmlformats.org/officeDocument/2006/relationships/vmlDrawing" Target="../drawings/vmlDrawing3.vml"/><Relationship Id="rId12" Type="http://schemas.openxmlformats.org/officeDocument/2006/relationships/slideLayout" Target="../slideLayouts/slideLayout4.xml"/><Relationship Id="rId11" Type="http://schemas.openxmlformats.org/officeDocument/2006/relationships/image" Target="../media/image37.png"/><Relationship Id="rId10" Type="http://schemas.openxmlformats.org/officeDocument/2006/relationships/image" Target="../media/image36.wmf"/><Relationship Id="rId1" Type="http://schemas.openxmlformats.org/officeDocument/2006/relationships/oleObject" Target="../embeddings/oleObject28.bin"/></Relationships>
</file>

<file path=ppt/slides/_rels/slide16.xml.rels><?xml version="1.0" encoding="UTF-8" standalone="yes"?>
<Relationships xmlns="http://schemas.openxmlformats.org/package/2006/relationships"><Relationship Id="rId9" Type="http://schemas.openxmlformats.org/officeDocument/2006/relationships/image" Target="../media/image41.wmf"/><Relationship Id="rId8" Type="http://schemas.openxmlformats.org/officeDocument/2006/relationships/oleObject" Target="../embeddings/oleObject37.bin"/><Relationship Id="rId7" Type="http://schemas.openxmlformats.org/officeDocument/2006/relationships/oleObject" Target="../embeddings/oleObject36.bin"/><Relationship Id="rId6" Type="http://schemas.openxmlformats.org/officeDocument/2006/relationships/image" Target="../media/image40.wmf"/><Relationship Id="rId5" Type="http://schemas.openxmlformats.org/officeDocument/2006/relationships/oleObject" Target="../embeddings/oleObject35.bin"/><Relationship Id="rId4" Type="http://schemas.openxmlformats.org/officeDocument/2006/relationships/image" Target="../media/image39.wmf"/><Relationship Id="rId37" Type="http://schemas.openxmlformats.org/officeDocument/2006/relationships/vmlDrawing" Target="../drawings/vmlDrawing4.vml"/><Relationship Id="rId36" Type="http://schemas.openxmlformats.org/officeDocument/2006/relationships/slideLayout" Target="../slideLayouts/slideLayout3.xml"/><Relationship Id="rId35" Type="http://schemas.openxmlformats.org/officeDocument/2006/relationships/oleObject" Target="../embeddings/oleObject52.bin"/><Relationship Id="rId34" Type="http://schemas.openxmlformats.org/officeDocument/2006/relationships/image" Target="../media/image52.wmf"/><Relationship Id="rId33" Type="http://schemas.openxmlformats.org/officeDocument/2006/relationships/oleObject" Target="../embeddings/oleObject51.bin"/><Relationship Id="rId32" Type="http://schemas.openxmlformats.org/officeDocument/2006/relationships/oleObject" Target="../embeddings/oleObject50.bin"/><Relationship Id="rId31" Type="http://schemas.openxmlformats.org/officeDocument/2006/relationships/image" Target="../media/image51.wmf"/><Relationship Id="rId30" Type="http://schemas.openxmlformats.org/officeDocument/2006/relationships/oleObject" Target="../embeddings/oleObject49.bin"/><Relationship Id="rId3" Type="http://schemas.openxmlformats.org/officeDocument/2006/relationships/oleObject" Target="../embeddings/oleObject34.bin"/><Relationship Id="rId29" Type="http://schemas.openxmlformats.org/officeDocument/2006/relationships/image" Target="../media/image50.wmf"/><Relationship Id="rId28" Type="http://schemas.openxmlformats.org/officeDocument/2006/relationships/oleObject" Target="../embeddings/oleObject48.bin"/><Relationship Id="rId27" Type="http://schemas.openxmlformats.org/officeDocument/2006/relationships/image" Target="../media/image49.wmf"/><Relationship Id="rId26" Type="http://schemas.openxmlformats.org/officeDocument/2006/relationships/oleObject" Target="../embeddings/oleObject47.bin"/><Relationship Id="rId25" Type="http://schemas.openxmlformats.org/officeDocument/2006/relationships/image" Target="../media/image48.wmf"/><Relationship Id="rId24" Type="http://schemas.openxmlformats.org/officeDocument/2006/relationships/oleObject" Target="../embeddings/oleObject46.bin"/><Relationship Id="rId23" Type="http://schemas.openxmlformats.org/officeDocument/2006/relationships/image" Target="../media/image47.wmf"/><Relationship Id="rId22" Type="http://schemas.openxmlformats.org/officeDocument/2006/relationships/oleObject" Target="../embeddings/oleObject45.bin"/><Relationship Id="rId21" Type="http://schemas.openxmlformats.org/officeDocument/2006/relationships/image" Target="../media/image46.wmf"/><Relationship Id="rId20" Type="http://schemas.openxmlformats.org/officeDocument/2006/relationships/oleObject" Target="../embeddings/oleObject44.bin"/><Relationship Id="rId2" Type="http://schemas.openxmlformats.org/officeDocument/2006/relationships/image" Target="../media/image38.wmf"/><Relationship Id="rId19" Type="http://schemas.openxmlformats.org/officeDocument/2006/relationships/image" Target="../media/image45.wmf"/><Relationship Id="rId18" Type="http://schemas.openxmlformats.org/officeDocument/2006/relationships/oleObject" Target="../embeddings/oleObject43.bin"/><Relationship Id="rId17" Type="http://schemas.openxmlformats.org/officeDocument/2006/relationships/image" Target="../media/image44.wmf"/><Relationship Id="rId16" Type="http://schemas.openxmlformats.org/officeDocument/2006/relationships/oleObject" Target="../embeddings/oleObject42.bin"/><Relationship Id="rId15" Type="http://schemas.openxmlformats.org/officeDocument/2006/relationships/image" Target="../media/image43.wmf"/><Relationship Id="rId14" Type="http://schemas.openxmlformats.org/officeDocument/2006/relationships/oleObject" Target="../embeddings/oleObject41.bin"/><Relationship Id="rId13" Type="http://schemas.openxmlformats.org/officeDocument/2006/relationships/oleObject" Target="../embeddings/oleObject40.bin"/><Relationship Id="rId12" Type="http://schemas.openxmlformats.org/officeDocument/2006/relationships/oleObject" Target="../embeddings/oleObject39.bin"/><Relationship Id="rId11" Type="http://schemas.openxmlformats.org/officeDocument/2006/relationships/image" Target="../media/image42.wmf"/><Relationship Id="rId10" Type="http://schemas.openxmlformats.org/officeDocument/2006/relationships/oleObject" Target="../embeddings/oleObject38.bin"/><Relationship Id="rId1" Type="http://schemas.openxmlformats.org/officeDocument/2006/relationships/oleObject" Target="../embeddings/oleObject33.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57.bin"/><Relationship Id="rId8" Type="http://schemas.openxmlformats.org/officeDocument/2006/relationships/image" Target="../media/image56.wmf"/><Relationship Id="rId7" Type="http://schemas.openxmlformats.org/officeDocument/2006/relationships/oleObject" Target="../embeddings/oleObject56.bin"/><Relationship Id="rId6" Type="http://schemas.openxmlformats.org/officeDocument/2006/relationships/image" Target="../media/image55.wmf"/><Relationship Id="rId5" Type="http://schemas.openxmlformats.org/officeDocument/2006/relationships/oleObject" Target="../embeddings/oleObject55.bin"/><Relationship Id="rId4" Type="http://schemas.openxmlformats.org/officeDocument/2006/relationships/image" Target="../media/image54.wmf"/><Relationship Id="rId3" Type="http://schemas.openxmlformats.org/officeDocument/2006/relationships/oleObject" Target="../embeddings/oleObject54.bin"/><Relationship Id="rId2" Type="http://schemas.openxmlformats.org/officeDocument/2006/relationships/image" Target="../media/image53.wmf"/><Relationship Id="rId12" Type="http://schemas.openxmlformats.org/officeDocument/2006/relationships/vmlDrawing" Target="../drawings/vmlDrawing5.vml"/><Relationship Id="rId11" Type="http://schemas.openxmlformats.org/officeDocument/2006/relationships/slideLayout" Target="../slideLayouts/slideLayout3.xml"/><Relationship Id="rId10" Type="http://schemas.openxmlformats.org/officeDocument/2006/relationships/image" Target="../media/image57.wmf"/><Relationship Id="rId1" Type="http://schemas.openxmlformats.org/officeDocument/2006/relationships/oleObject" Target="../embeddings/oleObject5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62.bin"/><Relationship Id="rId7" Type="http://schemas.openxmlformats.org/officeDocument/2006/relationships/oleObject" Target="../embeddings/oleObject61.bin"/><Relationship Id="rId6" Type="http://schemas.openxmlformats.org/officeDocument/2006/relationships/image" Target="../media/image25.wmf"/><Relationship Id="rId5" Type="http://schemas.openxmlformats.org/officeDocument/2006/relationships/oleObject" Target="../embeddings/oleObject60.bin"/><Relationship Id="rId4" Type="http://schemas.openxmlformats.org/officeDocument/2006/relationships/image" Target="../media/image59.wmf"/><Relationship Id="rId3" Type="http://schemas.openxmlformats.org/officeDocument/2006/relationships/oleObject" Target="../embeddings/oleObject59.bin"/><Relationship Id="rId2" Type="http://schemas.openxmlformats.org/officeDocument/2006/relationships/image" Target="../media/image58.wmf"/><Relationship Id="rId13" Type="http://schemas.openxmlformats.org/officeDocument/2006/relationships/vmlDrawing" Target="../drawings/vmlDrawing6.vml"/><Relationship Id="rId12" Type="http://schemas.openxmlformats.org/officeDocument/2006/relationships/slideLayout" Target="../slideLayouts/slideLayout3.xml"/><Relationship Id="rId11" Type="http://schemas.openxmlformats.org/officeDocument/2006/relationships/image" Target="../media/image60.wmf"/><Relationship Id="rId10" Type="http://schemas.openxmlformats.org/officeDocument/2006/relationships/oleObject" Target="../embeddings/oleObject63.bin"/><Relationship Id="rId1" Type="http://schemas.openxmlformats.org/officeDocument/2006/relationships/oleObject" Target="../embeddings/oleObject58.bin"/></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3.xml"/><Relationship Id="rId3" Type="http://schemas.openxmlformats.org/officeDocument/2006/relationships/image" Target="../media/image59.wmf"/><Relationship Id="rId2" Type="http://schemas.openxmlformats.org/officeDocument/2006/relationships/oleObject" Target="../embeddings/oleObject64.bin"/><Relationship Id="rId1" Type="http://schemas.openxmlformats.org/officeDocument/2006/relationships/image" Target="../media/image6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69.bin"/><Relationship Id="rId8" Type="http://schemas.openxmlformats.org/officeDocument/2006/relationships/image" Target="../media/image65.wmf"/><Relationship Id="rId7" Type="http://schemas.openxmlformats.org/officeDocument/2006/relationships/oleObject" Target="../embeddings/oleObject68.bin"/><Relationship Id="rId6" Type="http://schemas.openxmlformats.org/officeDocument/2006/relationships/image" Target="../media/image64.wmf"/><Relationship Id="rId5" Type="http://schemas.openxmlformats.org/officeDocument/2006/relationships/oleObject" Target="../embeddings/oleObject67.bin"/><Relationship Id="rId4" Type="http://schemas.openxmlformats.org/officeDocument/2006/relationships/image" Target="../media/image63.wmf"/><Relationship Id="rId3" Type="http://schemas.openxmlformats.org/officeDocument/2006/relationships/oleObject" Target="../embeddings/oleObject66.bin"/><Relationship Id="rId2" Type="http://schemas.openxmlformats.org/officeDocument/2006/relationships/image" Target="../media/image62.wmf"/><Relationship Id="rId18" Type="http://schemas.openxmlformats.org/officeDocument/2006/relationships/vmlDrawing" Target="../drawings/vmlDrawing8.vml"/><Relationship Id="rId17" Type="http://schemas.openxmlformats.org/officeDocument/2006/relationships/slideLayout" Target="../slideLayouts/slideLayout3.xml"/><Relationship Id="rId16" Type="http://schemas.openxmlformats.org/officeDocument/2006/relationships/image" Target="../media/image25.wmf"/><Relationship Id="rId15" Type="http://schemas.openxmlformats.org/officeDocument/2006/relationships/oleObject" Target="../embeddings/oleObject73.bin"/><Relationship Id="rId14" Type="http://schemas.openxmlformats.org/officeDocument/2006/relationships/oleObject" Target="../embeddings/oleObject72.bin"/><Relationship Id="rId13" Type="http://schemas.openxmlformats.org/officeDocument/2006/relationships/oleObject" Target="../embeddings/oleObject71.bin"/><Relationship Id="rId12" Type="http://schemas.openxmlformats.org/officeDocument/2006/relationships/image" Target="../media/image29.wmf"/><Relationship Id="rId11" Type="http://schemas.openxmlformats.org/officeDocument/2006/relationships/oleObject" Target="../embeddings/oleObject70.bin"/><Relationship Id="rId10" Type="http://schemas.openxmlformats.org/officeDocument/2006/relationships/image" Target="../media/image66.wmf"/><Relationship Id="rId1" Type="http://schemas.openxmlformats.org/officeDocument/2006/relationships/oleObject" Target="../embeddings/oleObject65.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7.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8.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0.png"/></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8.bin"/><Relationship Id="rId8" Type="http://schemas.openxmlformats.org/officeDocument/2006/relationships/image" Target="../media/image62.wmf"/><Relationship Id="rId7" Type="http://schemas.openxmlformats.org/officeDocument/2006/relationships/oleObject" Target="../embeddings/oleObject77.bin"/><Relationship Id="rId6" Type="http://schemas.openxmlformats.org/officeDocument/2006/relationships/image" Target="../media/image59.wmf"/><Relationship Id="rId5" Type="http://schemas.openxmlformats.org/officeDocument/2006/relationships/oleObject" Target="../embeddings/oleObject76.bin"/><Relationship Id="rId4" Type="http://schemas.openxmlformats.org/officeDocument/2006/relationships/image" Target="../media/image58.wmf"/><Relationship Id="rId3" Type="http://schemas.openxmlformats.org/officeDocument/2006/relationships/oleObject" Target="../embeddings/oleObject75.bin"/><Relationship Id="rId2" Type="http://schemas.openxmlformats.org/officeDocument/2006/relationships/image" Target="../media/image24.wmf"/><Relationship Id="rId14" Type="http://schemas.openxmlformats.org/officeDocument/2006/relationships/vmlDrawing" Target="../drawings/vmlDrawing9.vml"/><Relationship Id="rId13" Type="http://schemas.openxmlformats.org/officeDocument/2006/relationships/slideLayout" Target="../slideLayouts/slideLayout3.xml"/><Relationship Id="rId12" Type="http://schemas.openxmlformats.org/officeDocument/2006/relationships/image" Target="../media/image64.wmf"/><Relationship Id="rId11" Type="http://schemas.openxmlformats.org/officeDocument/2006/relationships/oleObject" Target="../embeddings/oleObject79.bin"/><Relationship Id="rId10" Type="http://schemas.openxmlformats.org/officeDocument/2006/relationships/image" Target="../media/image63.wmf"/><Relationship Id="rId1" Type="http://schemas.openxmlformats.org/officeDocument/2006/relationships/oleObject" Target="../embeddings/oleObject74.bin"/></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6.png"/><Relationship Id="rId1" Type="http://schemas.openxmlformats.org/officeDocument/2006/relationships/image" Target="../media/image75.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8.png"/><Relationship Id="rId1" Type="http://schemas.openxmlformats.org/officeDocument/2006/relationships/image" Target="../media/image7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3.xml"/><Relationship Id="rId6" Type="http://schemas.openxmlformats.org/officeDocument/2006/relationships/image" Target="../media/image84.png"/><Relationship Id="rId5" Type="http://schemas.openxmlformats.org/officeDocument/2006/relationships/image" Target="../media/image83.wmf"/><Relationship Id="rId4" Type="http://schemas.openxmlformats.org/officeDocument/2006/relationships/oleObject" Target="../embeddings/oleObject81.bin"/><Relationship Id="rId3" Type="http://schemas.openxmlformats.org/officeDocument/2006/relationships/image" Target="../media/image82.wmf"/><Relationship Id="rId2" Type="http://schemas.openxmlformats.org/officeDocument/2006/relationships/oleObject" Target="../embeddings/oleObject80.bin"/><Relationship Id="rId1" Type="http://schemas.openxmlformats.org/officeDocument/2006/relationships/image" Target="../media/image81.png"/></Relationships>
</file>

<file path=ppt/slides/_rels/slide41.xml.rels><?xml version="1.0" encoding="UTF-8" standalone="yes"?>
<Relationships xmlns="http://schemas.openxmlformats.org/package/2006/relationships"><Relationship Id="rId9" Type="http://schemas.openxmlformats.org/officeDocument/2006/relationships/image" Target="../media/image81.png"/><Relationship Id="rId8" Type="http://schemas.openxmlformats.org/officeDocument/2006/relationships/image" Target="../media/image88.wmf"/><Relationship Id="rId7" Type="http://schemas.openxmlformats.org/officeDocument/2006/relationships/oleObject" Target="../embeddings/oleObject85.bin"/><Relationship Id="rId6" Type="http://schemas.openxmlformats.org/officeDocument/2006/relationships/image" Target="../media/image87.wmf"/><Relationship Id="rId5" Type="http://schemas.openxmlformats.org/officeDocument/2006/relationships/oleObject" Target="../embeddings/oleObject84.bin"/><Relationship Id="rId4" Type="http://schemas.openxmlformats.org/officeDocument/2006/relationships/image" Target="../media/image86.wmf"/><Relationship Id="rId3" Type="http://schemas.openxmlformats.org/officeDocument/2006/relationships/oleObject" Target="../embeddings/oleObject83.bin"/><Relationship Id="rId2" Type="http://schemas.openxmlformats.org/officeDocument/2006/relationships/image" Target="../media/image85.wmf"/><Relationship Id="rId15" Type="http://schemas.openxmlformats.org/officeDocument/2006/relationships/vmlDrawing" Target="../drawings/vmlDrawing11.vml"/><Relationship Id="rId14" Type="http://schemas.openxmlformats.org/officeDocument/2006/relationships/slideLayout" Target="../slideLayouts/slideLayout3.xml"/><Relationship Id="rId13" Type="http://schemas.openxmlformats.org/officeDocument/2006/relationships/image" Target="../media/image90.wmf"/><Relationship Id="rId12" Type="http://schemas.openxmlformats.org/officeDocument/2006/relationships/oleObject" Target="../embeddings/oleObject87.bin"/><Relationship Id="rId11" Type="http://schemas.openxmlformats.org/officeDocument/2006/relationships/image" Target="../media/image89.wmf"/><Relationship Id="rId10" Type="http://schemas.openxmlformats.org/officeDocument/2006/relationships/oleObject" Target="../embeddings/oleObject86.bin"/><Relationship Id="rId1" Type="http://schemas.openxmlformats.org/officeDocument/2006/relationships/oleObject" Target="../embeddings/oleObject82.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86.wmf"/><Relationship Id="rId7" Type="http://schemas.openxmlformats.org/officeDocument/2006/relationships/oleObject" Target="../embeddings/oleObject91.bin"/><Relationship Id="rId6" Type="http://schemas.openxmlformats.org/officeDocument/2006/relationships/image" Target="../media/image93.wmf"/><Relationship Id="rId5" Type="http://schemas.openxmlformats.org/officeDocument/2006/relationships/oleObject" Target="../embeddings/oleObject90.bin"/><Relationship Id="rId4" Type="http://schemas.openxmlformats.org/officeDocument/2006/relationships/image" Target="../media/image92.wmf"/><Relationship Id="rId3" Type="http://schemas.openxmlformats.org/officeDocument/2006/relationships/oleObject" Target="../embeddings/oleObject89.bin"/><Relationship Id="rId2" Type="http://schemas.openxmlformats.org/officeDocument/2006/relationships/image" Target="../media/image91.wmf"/><Relationship Id="rId15" Type="http://schemas.openxmlformats.org/officeDocument/2006/relationships/vmlDrawing" Target="../drawings/vmlDrawing12.vml"/><Relationship Id="rId14" Type="http://schemas.openxmlformats.org/officeDocument/2006/relationships/slideLayout" Target="../slideLayouts/slideLayout3.xml"/><Relationship Id="rId13" Type="http://schemas.openxmlformats.org/officeDocument/2006/relationships/image" Target="../media/image81.png"/><Relationship Id="rId12" Type="http://schemas.openxmlformats.org/officeDocument/2006/relationships/image" Target="../media/image88.wmf"/><Relationship Id="rId11" Type="http://schemas.openxmlformats.org/officeDocument/2006/relationships/oleObject" Target="../embeddings/oleObject93.bin"/><Relationship Id="rId10" Type="http://schemas.openxmlformats.org/officeDocument/2006/relationships/image" Target="../media/image87.wmf"/><Relationship Id="rId1" Type="http://schemas.openxmlformats.org/officeDocument/2006/relationships/oleObject" Target="../embeddings/oleObject88.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3.xml"/><Relationship Id="rId3" Type="http://schemas.openxmlformats.org/officeDocument/2006/relationships/image" Target="../media/image81.png"/><Relationship Id="rId2" Type="http://schemas.openxmlformats.org/officeDocument/2006/relationships/image" Target="../media/image94.wmf"/><Relationship Id="rId1" Type="http://schemas.openxmlformats.org/officeDocument/2006/relationships/oleObject" Target="../embeddings/oleObject94.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3.xml"/><Relationship Id="rId6" Type="http://schemas.openxmlformats.org/officeDocument/2006/relationships/image" Target="../media/image97.wmf"/><Relationship Id="rId5" Type="http://schemas.openxmlformats.org/officeDocument/2006/relationships/oleObject" Target="../embeddings/oleObject97.bin"/><Relationship Id="rId4" Type="http://schemas.openxmlformats.org/officeDocument/2006/relationships/image" Target="../media/image96.wmf"/><Relationship Id="rId3" Type="http://schemas.openxmlformats.org/officeDocument/2006/relationships/oleObject" Target="../embeddings/oleObject96.bin"/><Relationship Id="rId2" Type="http://schemas.openxmlformats.org/officeDocument/2006/relationships/image" Target="../media/image95.wmf"/><Relationship Id="rId1" Type="http://schemas.openxmlformats.org/officeDocument/2006/relationships/oleObject" Target="../embeddings/oleObject95.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3.xml"/><Relationship Id="rId6" Type="http://schemas.openxmlformats.org/officeDocument/2006/relationships/image" Target="../media/image97.wmf"/><Relationship Id="rId5" Type="http://schemas.openxmlformats.org/officeDocument/2006/relationships/oleObject" Target="../embeddings/oleObject100.bin"/><Relationship Id="rId4" Type="http://schemas.openxmlformats.org/officeDocument/2006/relationships/image" Target="../media/image96.wmf"/><Relationship Id="rId3" Type="http://schemas.openxmlformats.org/officeDocument/2006/relationships/oleObject" Target="../embeddings/oleObject99.bin"/><Relationship Id="rId2" Type="http://schemas.openxmlformats.org/officeDocument/2006/relationships/image" Target="../media/image95.wmf"/><Relationship Id="rId1" Type="http://schemas.openxmlformats.org/officeDocument/2006/relationships/oleObject" Target="../embeddings/oleObject98.bin"/></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3.xml"/><Relationship Id="rId6" Type="http://schemas.openxmlformats.org/officeDocument/2006/relationships/image" Target="../media/image97.wmf"/><Relationship Id="rId5" Type="http://schemas.openxmlformats.org/officeDocument/2006/relationships/oleObject" Target="../embeddings/oleObject103.bin"/><Relationship Id="rId4" Type="http://schemas.openxmlformats.org/officeDocument/2006/relationships/image" Target="../media/image99.wmf"/><Relationship Id="rId3" Type="http://schemas.openxmlformats.org/officeDocument/2006/relationships/oleObject" Target="../embeddings/oleObject102.bin"/><Relationship Id="rId2" Type="http://schemas.openxmlformats.org/officeDocument/2006/relationships/image" Target="../media/image98.wmf"/><Relationship Id="rId1" Type="http://schemas.openxmlformats.org/officeDocument/2006/relationships/oleObject" Target="../embeddings/oleObject101.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3.xml"/><Relationship Id="rId6" Type="http://schemas.openxmlformats.org/officeDocument/2006/relationships/image" Target="../media/image101.wmf"/><Relationship Id="rId5" Type="http://schemas.openxmlformats.org/officeDocument/2006/relationships/oleObject" Target="../embeddings/oleObject106.bin"/><Relationship Id="rId4" Type="http://schemas.openxmlformats.org/officeDocument/2006/relationships/image" Target="../media/image100.wmf"/><Relationship Id="rId3" Type="http://schemas.openxmlformats.org/officeDocument/2006/relationships/oleObject" Target="../embeddings/oleObject105.bin"/><Relationship Id="rId2" Type="http://schemas.openxmlformats.org/officeDocument/2006/relationships/image" Target="../media/image86.wmf"/><Relationship Id="rId1" Type="http://schemas.openxmlformats.org/officeDocument/2006/relationships/oleObject" Target="../embeddings/oleObject104.bin"/></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3.xml"/><Relationship Id="rId4" Type="http://schemas.openxmlformats.org/officeDocument/2006/relationships/image" Target="../media/image102.wmf"/><Relationship Id="rId3" Type="http://schemas.openxmlformats.org/officeDocument/2006/relationships/oleObject" Target="../embeddings/oleObject108.bin"/><Relationship Id="rId2" Type="http://schemas.openxmlformats.org/officeDocument/2006/relationships/image" Target="../media/image87.wmf"/><Relationship Id="rId1" Type="http://schemas.openxmlformats.org/officeDocument/2006/relationships/oleObject" Target="../embeddings/oleObject107.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114.bin"/><Relationship Id="rId8" Type="http://schemas.openxmlformats.org/officeDocument/2006/relationships/oleObject" Target="../embeddings/oleObject113.bin"/><Relationship Id="rId7" Type="http://schemas.openxmlformats.org/officeDocument/2006/relationships/oleObject" Target="../embeddings/oleObject112.bin"/><Relationship Id="rId6" Type="http://schemas.openxmlformats.org/officeDocument/2006/relationships/image" Target="../media/image105.wmf"/><Relationship Id="rId5" Type="http://schemas.openxmlformats.org/officeDocument/2006/relationships/oleObject" Target="../embeddings/oleObject111.bin"/><Relationship Id="rId4" Type="http://schemas.openxmlformats.org/officeDocument/2006/relationships/image" Target="../media/image104.wmf"/><Relationship Id="rId31" Type="http://schemas.openxmlformats.org/officeDocument/2006/relationships/vmlDrawing" Target="../drawings/vmlDrawing19.vml"/><Relationship Id="rId30" Type="http://schemas.openxmlformats.org/officeDocument/2006/relationships/slideLayout" Target="../slideLayouts/slideLayout3.xml"/><Relationship Id="rId3" Type="http://schemas.openxmlformats.org/officeDocument/2006/relationships/oleObject" Target="../embeddings/oleObject110.bin"/><Relationship Id="rId29" Type="http://schemas.openxmlformats.org/officeDocument/2006/relationships/image" Target="../media/image111.wmf"/><Relationship Id="rId28" Type="http://schemas.openxmlformats.org/officeDocument/2006/relationships/oleObject" Target="../embeddings/oleObject126.bin"/><Relationship Id="rId27" Type="http://schemas.openxmlformats.org/officeDocument/2006/relationships/image" Target="../media/image110.wmf"/><Relationship Id="rId26" Type="http://schemas.openxmlformats.org/officeDocument/2006/relationships/oleObject" Target="../embeddings/oleObject125.bin"/><Relationship Id="rId25" Type="http://schemas.openxmlformats.org/officeDocument/2006/relationships/oleObject" Target="../embeddings/oleObject124.bin"/><Relationship Id="rId24" Type="http://schemas.openxmlformats.org/officeDocument/2006/relationships/oleObject" Target="../embeddings/oleObject123.bin"/><Relationship Id="rId23" Type="http://schemas.openxmlformats.org/officeDocument/2006/relationships/oleObject" Target="../embeddings/oleObject122.bin"/><Relationship Id="rId22" Type="http://schemas.openxmlformats.org/officeDocument/2006/relationships/oleObject" Target="../embeddings/oleObject121.bin"/><Relationship Id="rId21" Type="http://schemas.openxmlformats.org/officeDocument/2006/relationships/oleObject" Target="../embeddings/oleObject120.bin"/><Relationship Id="rId20" Type="http://schemas.openxmlformats.org/officeDocument/2006/relationships/image" Target="../media/image109.wmf"/><Relationship Id="rId2" Type="http://schemas.openxmlformats.org/officeDocument/2006/relationships/image" Target="../media/image103.wmf"/><Relationship Id="rId19" Type="http://schemas.openxmlformats.org/officeDocument/2006/relationships/oleObject" Target="../embeddings/oleObject119.bin"/><Relationship Id="rId18" Type="http://schemas.openxmlformats.org/officeDocument/2006/relationships/image" Target="../media/image108.wmf"/><Relationship Id="rId17" Type="http://schemas.openxmlformats.org/officeDocument/2006/relationships/oleObject" Target="../embeddings/oleObject118.bin"/><Relationship Id="rId16" Type="http://schemas.openxmlformats.org/officeDocument/2006/relationships/image" Target="../media/image29.wmf"/><Relationship Id="rId15" Type="http://schemas.openxmlformats.org/officeDocument/2006/relationships/oleObject" Target="../embeddings/oleObject117.bin"/><Relationship Id="rId14" Type="http://schemas.openxmlformats.org/officeDocument/2006/relationships/image" Target="../media/image25.wmf"/><Relationship Id="rId13" Type="http://schemas.openxmlformats.org/officeDocument/2006/relationships/oleObject" Target="../embeddings/oleObject116.bin"/><Relationship Id="rId12" Type="http://schemas.openxmlformats.org/officeDocument/2006/relationships/image" Target="../media/image107.wmf"/><Relationship Id="rId11" Type="http://schemas.openxmlformats.org/officeDocument/2006/relationships/oleObject" Target="../embeddings/oleObject115.bin"/><Relationship Id="rId10" Type="http://schemas.openxmlformats.org/officeDocument/2006/relationships/image" Target="../media/image106.wmf"/><Relationship Id="rId1" Type="http://schemas.openxmlformats.org/officeDocument/2006/relationships/oleObject" Target="../embeddings/oleObject109.bin"/></Relationships>
</file>

<file path=ppt/slides/_rels/slide55.x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oleObject" Target="../embeddings/oleObject131.bin"/><Relationship Id="rId7" Type="http://schemas.openxmlformats.org/officeDocument/2006/relationships/oleObject" Target="../embeddings/oleObject130.bin"/><Relationship Id="rId6" Type="http://schemas.openxmlformats.org/officeDocument/2006/relationships/image" Target="../media/image114.wmf"/><Relationship Id="rId5" Type="http://schemas.openxmlformats.org/officeDocument/2006/relationships/oleObject" Target="../embeddings/oleObject129.bin"/><Relationship Id="rId4" Type="http://schemas.openxmlformats.org/officeDocument/2006/relationships/image" Target="../media/image113.wmf"/><Relationship Id="rId3" Type="http://schemas.openxmlformats.org/officeDocument/2006/relationships/oleObject" Target="../embeddings/oleObject128.bin"/><Relationship Id="rId2" Type="http://schemas.openxmlformats.org/officeDocument/2006/relationships/image" Target="../media/image112.wmf"/><Relationship Id="rId13" Type="http://schemas.openxmlformats.org/officeDocument/2006/relationships/vmlDrawing" Target="../drawings/vmlDrawing20.vml"/><Relationship Id="rId12" Type="http://schemas.openxmlformats.org/officeDocument/2006/relationships/slideLayout" Target="../slideLayouts/slideLayout3.xml"/><Relationship Id="rId11" Type="http://schemas.openxmlformats.org/officeDocument/2006/relationships/image" Target="../media/image109.wmf"/><Relationship Id="rId10" Type="http://schemas.openxmlformats.org/officeDocument/2006/relationships/oleObject" Target="../embeddings/oleObject132.bin"/><Relationship Id="rId1" Type="http://schemas.openxmlformats.org/officeDocument/2006/relationships/oleObject" Target="../embeddings/oleObject127.bin"/></Relationships>
</file>

<file path=ppt/slides/_rels/slide56.xml.rels><?xml version="1.0" encoding="UTF-8" standalone="yes"?>
<Relationships xmlns="http://schemas.openxmlformats.org/package/2006/relationships"><Relationship Id="rId9" Type="http://schemas.openxmlformats.org/officeDocument/2006/relationships/image" Target="../media/image119.wmf"/><Relationship Id="rId8" Type="http://schemas.openxmlformats.org/officeDocument/2006/relationships/oleObject" Target="../embeddings/oleObject136.bin"/><Relationship Id="rId7" Type="http://schemas.openxmlformats.org/officeDocument/2006/relationships/image" Target="../media/image118.wmf"/><Relationship Id="rId6" Type="http://schemas.openxmlformats.org/officeDocument/2006/relationships/oleObject" Target="../embeddings/oleObject135.bin"/><Relationship Id="rId5" Type="http://schemas.openxmlformats.org/officeDocument/2006/relationships/image" Target="../media/image117.wmf"/><Relationship Id="rId4" Type="http://schemas.openxmlformats.org/officeDocument/2006/relationships/oleObject" Target="../embeddings/oleObject134.bin"/><Relationship Id="rId3" Type="http://schemas.openxmlformats.org/officeDocument/2006/relationships/image" Target="../media/image116.wmf"/><Relationship Id="rId2" Type="http://schemas.openxmlformats.org/officeDocument/2006/relationships/oleObject" Target="../embeddings/oleObject133.bin"/><Relationship Id="rId11" Type="http://schemas.openxmlformats.org/officeDocument/2006/relationships/vmlDrawing" Target="../drawings/vmlDrawing21.vml"/><Relationship Id="rId10" Type="http://schemas.openxmlformats.org/officeDocument/2006/relationships/slideLayout" Target="../slideLayouts/slideLayout3.xml"/><Relationship Id="rId1" Type="http://schemas.openxmlformats.org/officeDocument/2006/relationships/image" Target="../media/image115.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1.png"/><Relationship Id="rId1" Type="http://schemas.openxmlformats.org/officeDocument/2006/relationships/image" Target="../media/image12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oleObject" Target="../embeddings/oleObject141.bin"/><Relationship Id="rId7" Type="http://schemas.openxmlformats.org/officeDocument/2006/relationships/oleObject" Target="../embeddings/oleObject140.bin"/><Relationship Id="rId6" Type="http://schemas.openxmlformats.org/officeDocument/2006/relationships/image" Target="../media/image123.wmf"/><Relationship Id="rId5" Type="http://schemas.openxmlformats.org/officeDocument/2006/relationships/oleObject" Target="../embeddings/oleObject139.bin"/><Relationship Id="rId4" Type="http://schemas.openxmlformats.org/officeDocument/2006/relationships/image" Target="../media/image29.wmf"/><Relationship Id="rId32" Type="http://schemas.openxmlformats.org/officeDocument/2006/relationships/vmlDrawing" Target="../drawings/vmlDrawing22.vml"/><Relationship Id="rId31" Type="http://schemas.openxmlformats.org/officeDocument/2006/relationships/slideLayout" Target="../slideLayouts/slideLayout3.xml"/><Relationship Id="rId30" Type="http://schemas.openxmlformats.org/officeDocument/2006/relationships/image" Target="../media/image129.wmf"/><Relationship Id="rId3" Type="http://schemas.openxmlformats.org/officeDocument/2006/relationships/oleObject" Target="../embeddings/oleObject138.bin"/><Relationship Id="rId29" Type="http://schemas.openxmlformats.org/officeDocument/2006/relationships/oleObject" Target="../embeddings/oleObject154.bin"/><Relationship Id="rId28" Type="http://schemas.openxmlformats.org/officeDocument/2006/relationships/oleObject" Target="../embeddings/oleObject153.bin"/><Relationship Id="rId27" Type="http://schemas.openxmlformats.org/officeDocument/2006/relationships/oleObject" Target="../embeddings/oleObject152.bin"/><Relationship Id="rId26" Type="http://schemas.openxmlformats.org/officeDocument/2006/relationships/image" Target="../media/image19.wmf"/><Relationship Id="rId25" Type="http://schemas.openxmlformats.org/officeDocument/2006/relationships/oleObject" Target="../embeddings/oleObject151.bin"/><Relationship Id="rId24" Type="http://schemas.openxmlformats.org/officeDocument/2006/relationships/oleObject" Target="../embeddings/oleObject150.bin"/><Relationship Id="rId23" Type="http://schemas.openxmlformats.org/officeDocument/2006/relationships/image" Target="../media/image25.wmf"/><Relationship Id="rId22" Type="http://schemas.openxmlformats.org/officeDocument/2006/relationships/oleObject" Target="../embeddings/oleObject149.bin"/><Relationship Id="rId21" Type="http://schemas.openxmlformats.org/officeDocument/2006/relationships/oleObject" Target="../embeddings/oleObject148.bin"/><Relationship Id="rId20" Type="http://schemas.openxmlformats.org/officeDocument/2006/relationships/image" Target="../media/image128.wmf"/><Relationship Id="rId2" Type="http://schemas.openxmlformats.org/officeDocument/2006/relationships/image" Target="../media/image122.wmf"/><Relationship Id="rId19" Type="http://schemas.openxmlformats.org/officeDocument/2006/relationships/oleObject" Target="../embeddings/oleObject147.bin"/><Relationship Id="rId18" Type="http://schemas.openxmlformats.org/officeDocument/2006/relationships/image" Target="../media/image127.wmf"/><Relationship Id="rId17" Type="http://schemas.openxmlformats.org/officeDocument/2006/relationships/oleObject" Target="../embeddings/oleObject146.bin"/><Relationship Id="rId16" Type="http://schemas.openxmlformats.org/officeDocument/2006/relationships/image" Target="../media/image126.wmf"/><Relationship Id="rId15" Type="http://schemas.openxmlformats.org/officeDocument/2006/relationships/oleObject" Target="../embeddings/oleObject145.bin"/><Relationship Id="rId14" Type="http://schemas.openxmlformats.org/officeDocument/2006/relationships/image" Target="../media/image125.wmf"/><Relationship Id="rId13" Type="http://schemas.openxmlformats.org/officeDocument/2006/relationships/oleObject" Target="../embeddings/oleObject144.bin"/><Relationship Id="rId12" Type="http://schemas.openxmlformats.org/officeDocument/2006/relationships/oleObject" Target="../embeddings/oleObject143.bin"/><Relationship Id="rId11" Type="http://schemas.openxmlformats.org/officeDocument/2006/relationships/image" Target="../media/image124.wmf"/><Relationship Id="rId10" Type="http://schemas.openxmlformats.org/officeDocument/2006/relationships/oleObject" Target="../embeddings/oleObject142.bin"/><Relationship Id="rId1" Type="http://schemas.openxmlformats.org/officeDocument/2006/relationships/oleObject" Target="../embeddings/oleObject137.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25.wmf"/><Relationship Id="rId7" Type="http://schemas.openxmlformats.org/officeDocument/2006/relationships/oleObject" Target="../embeddings/oleObject158.bin"/><Relationship Id="rId6" Type="http://schemas.openxmlformats.org/officeDocument/2006/relationships/image" Target="../media/image132.wmf"/><Relationship Id="rId5" Type="http://schemas.openxmlformats.org/officeDocument/2006/relationships/oleObject" Target="../embeddings/oleObject157.bin"/><Relationship Id="rId4" Type="http://schemas.openxmlformats.org/officeDocument/2006/relationships/image" Target="../media/image131.wmf"/><Relationship Id="rId3" Type="http://schemas.openxmlformats.org/officeDocument/2006/relationships/oleObject" Target="../embeddings/oleObject156.bin"/><Relationship Id="rId22" Type="http://schemas.openxmlformats.org/officeDocument/2006/relationships/vmlDrawing" Target="../drawings/vmlDrawing23.vml"/><Relationship Id="rId21" Type="http://schemas.openxmlformats.org/officeDocument/2006/relationships/slideLayout" Target="../slideLayouts/slideLayout3.xml"/><Relationship Id="rId20" Type="http://schemas.openxmlformats.org/officeDocument/2006/relationships/oleObject" Target="../embeddings/oleObject166.bin"/><Relationship Id="rId2" Type="http://schemas.openxmlformats.org/officeDocument/2006/relationships/image" Target="../media/image130.wmf"/><Relationship Id="rId19" Type="http://schemas.openxmlformats.org/officeDocument/2006/relationships/oleObject" Target="../embeddings/oleObject165.bin"/><Relationship Id="rId18" Type="http://schemas.openxmlformats.org/officeDocument/2006/relationships/oleObject" Target="../embeddings/oleObject164.bin"/><Relationship Id="rId17" Type="http://schemas.openxmlformats.org/officeDocument/2006/relationships/image" Target="../media/image25.wmf"/><Relationship Id="rId16" Type="http://schemas.openxmlformats.org/officeDocument/2006/relationships/oleObject" Target="../embeddings/oleObject163.bin"/><Relationship Id="rId15" Type="http://schemas.openxmlformats.org/officeDocument/2006/relationships/oleObject" Target="../embeddings/oleObject162.bin"/><Relationship Id="rId14" Type="http://schemas.openxmlformats.org/officeDocument/2006/relationships/image" Target="../media/image129.wmf"/><Relationship Id="rId13" Type="http://schemas.openxmlformats.org/officeDocument/2006/relationships/oleObject" Target="../embeddings/oleObject161.bin"/><Relationship Id="rId12" Type="http://schemas.openxmlformats.org/officeDocument/2006/relationships/image" Target="../media/image133.wmf"/><Relationship Id="rId11" Type="http://schemas.openxmlformats.org/officeDocument/2006/relationships/oleObject" Target="../embeddings/oleObject160.bin"/><Relationship Id="rId10" Type="http://schemas.openxmlformats.org/officeDocument/2006/relationships/image" Target="../media/image30.wmf"/><Relationship Id="rId1" Type="http://schemas.openxmlformats.org/officeDocument/2006/relationships/oleObject" Target="../embeddings/oleObject155.bin"/></Relationships>
</file>

<file path=ppt/slides/_rels/slide61.xml.rels><?xml version="1.0" encoding="UTF-8" standalone="yes"?>
<Relationships xmlns="http://schemas.openxmlformats.org/package/2006/relationships"><Relationship Id="rId9" Type="http://schemas.openxmlformats.org/officeDocument/2006/relationships/image" Target="../media/image136.wmf"/><Relationship Id="rId8" Type="http://schemas.openxmlformats.org/officeDocument/2006/relationships/oleObject" Target="../embeddings/oleObject170.bin"/><Relationship Id="rId7" Type="http://schemas.openxmlformats.org/officeDocument/2006/relationships/image" Target="../media/image135.wmf"/><Relationship Id="rId6" Type="http://schemas.openxmlformats.org/officeDocument/2006/relationships/oleObject" Target="../embeddings/oleObject169.bin"/><Relationship Id="rId5" Type="http://schemas.openxmlformats.org/officeDocument/2006/relationships/image" Target="../media/image122.wmf"/><Relationship Id="rId4" Type="http://schemas.openxmlformats.org/officeDocument/2006/relationships/oleObject" Target="../embeddings/oleObject168.bin"/><Relationship Id="rId3" Type="http://schemas.openxmlformats.org/officeDocument/2006/relationships/image" Target="../media/image29.wmf"/><Relationship Id="rId2" Type="http://schemas.openxmlformats.org/officeDocument/2006/relationships/oleObject" Target="../embeddings/oleObject167.bin"/><Relationship Id="rId18" Type="http://schemas.openxmlformats.org/officeDocument/2006/relationships/vmlDrawing" Target="../drawings/vmlDrawing24.vml"/><Relationship Id="rId17" Type="http://schemas.openxmlformats.org/officeDocument/2006/relationships/slideLayout" Target="../slideLayouts/slideLayout3.xml"/><Relationship Id="rId16" Type="http://schemas.openxmlformats.org/officeDocument/2006/relationships/oleObject" Target="../embeddings/oleObject174.bin"/><Relationship Id="rId15" Type="http://schemas.openxmlformats.org/officeDocument/2006/relationships/image" Target="../media/image138.wmf"/><Relationship Id="rId14" Type="http://schemas.openxmlformats.org/officeDocument/2006/relationships/oleObject" Target="../embeddings/oleObject173.bin"/><Relationship Id="rId13" Type="http://schemas.openxmlformats.org/officeDocument/2006/relationships/image" Target="../media/image137.wmf"/><Relationship Id="rId12" Type="http://schemas.openxmlformats.org/officeDocument/2006/relationships/oleObject" Target="../embeddings/oleObject172.bin"/><Relationship Id="rId11" Type="http://schemas.openxmlformats.org/officeDocument/2006/relationships/image" Target="../media/image36.wmf"/><Relationship Id="rId10" Type="http://schemas.openxmlformats.org/officeDocument/2006/relationships/oleObject" Target="../embeddings/oleObject171.bin"/><Relationship Id="rId1" Type="http://schemas.openxmlformats.org/officeDocument/2006/relationships/image" Target="../media/image134.png"/></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179.bin"/><Relationship Id="rId8" Type="http://schemas.openxmlformats.org/officeDocument/2006/relationships/image" Target="../media/image142.wmf"/><Relationship Id="rId7" Type="http://schemas.openxmlformats.org/officeDocument/2006/relationships/oleObject" Target="../embeddings/oleObject178.bin"/><Relationship Id="rId6" Type="http://schemas.openxmlformats.org/officeDocument/2006/relationships/image" Target="../media/image141.wmf"/><Relationship Id="rId5" Type="http://schemas.openxmlformats.org/officeDocument/2006/relationships/oleObject" Target="../embeddings/oleObject177.bin"/><Relationship Id="rId4" Type="http://schemas.openxmlformats.org/officeDocument/2006/relationships/image" Target="../media/image140.wmf"/><Relationship Id="rId3" Type="http://schemas.openxmlformats.org/officeDocument/2006/relationships/oleObject" Target="../embeddings/oleObject176.bin"/><Relationship Id="rId26" Type="http://schemas.openxmlformats.org/officeDocument/2006/relationships/vmlDrawing" Target="../drawings/vmlDrawing25.vml"/><Relationship Id="rId25" Type="http://schemas.openxmlformats.org/officeDocument/2006/relationships/slideLayout" Target="../slideLayouts/slideLayout3.xml"/><Relationship Id="rId24" Type="http://schemas.openxmlformats.org/officeDocument/2006/relationships/image" Target="../media/image29.wmf"/><Relationship Id="rId23" Type="http://schemas.openxmlformats.org/officeDocument/2006/relationships/oleObject" Target="../embeddings/oleObject186.bin"/><Relationship Id="rId22" Type="http://schemas.openxmlformats.org/officeDocument/2006/relationships/image" Target="../media/image148.wmf"/><Relationship Id="rId21" Type="http://schemas.openxmlformats.org/officeDocument/2006/relationships/oleObject" Target="../embeddings/oleObject185.bin"/><Relationship Id="rId20" Type="http://schemas.openxmlformats.org/officeDocument/2006/relationships/image" Target="../media/image122.wmf"/><Relationship Id="rId2" Type="http://schemas.openxmlformats.org/officeDocument/2006/relationships/image" Target="../media/image139.wmf"/><Relationship Id="rId19" Type="http://schemas.openxmlformats.org/officeDocument/2006/relationships/oleObject" Target="../embeddings/oleObject184.bin"/><Relationship Id="rId18" Type="http://schemas.openxmlformats.org/officeDocument/2006/relationships/image" Target="../media/image147.wmf"/><Relationship Id="rId17" Type="http://schemas.openxmlformats.org/officeDocument/2006/relationships/oleObject" Target="../embeddings/oleObject183.bin"/><Relationship Id="rId16" Type="http://schemas.openxmlformats.org/officeDocument/2006/relationships/image" Target="../media/image146.wmf"/><Relationship Id="rId15" Type="http://schemas.openxmlformats.org/officeDocument/2006/relationships/oleObject" Target="../embeddings/oleObject182.bin"/><Relationship Id="rId14" Type="http://schemas.openxmlformats.org/officeDocument/2006/relationships/image" Target="../media/image145.wmf"/><Relationship Id="rId13" Type="http://schemas.openxmlformats.org/officeDocument/2006/relationships/oleObject" Target="../embeddings/oleObject181.bin"/><Relationship Id="rId12" Type="http://schemas.openxmlformats.org/officeDocument/2006/relationships/image" Target="../media/image144.wmf"/><Relationship Id="rId11" Type="http://schemas.openxmlformats.org/officeDocument/2006/relationships/oleObject" Target="../embeddings/oleObject180.bin"/><Relationship Id="rId10" Type="http://schemas.openxmlformats.org/officeDocument/2006/relationships/image" Target="../media/image143.wmf"/><Relationship Id="rId1" Type="http://schemas.openxmlformats.org/officeDocument/2006/relationships/oleObject" Target="../embeddings/oleObject175.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191.bin"/><Relationship Id="rId8" Type="http://schemas.openxmlformats.org/officeDocument/2006/relationships/image" Target="../media/image152.wmf"/><Relationship Id="rId7" Type="http://schemas.openxmlformats.org/officeDocument/2006/relationships/oleObject" Target="../embeddings/oleObject190.bin"/><Relationship Id="rId6" Type="http://schemas.openxmlformats.org/officeDocument/2006/relationships/image" Target="../media/image151.wmf"/><Relationship Id="rId5" Type="http://schemas.openxmlformats.org/officeDocument/2006/relationships/oleObject" Target="../embeddings/oleObject189.bin"/><Relationship Id="rId4" Type="http://schemas.openxmlformats.org/officeDocument/2006/relationships/image" Target="../media/image150.wmf"/><Relationship Id="rId3" Type="http://schemas.openxmlformats.org/officeDocument/2006/relationships/oleObject" Target="../embeddings/oleObject188.bin"/><Relationship Id="rId2" Type="http://schemas.openxmlformats.org/officeDocument/2006/relationships/image" Target="../media/image149.wmf"/><Relationship Id="rId15" Type="http://schemas.openxmlformats.org/officeDocument/2006/relationships/vmlDrawing" Target="../drawings/vmlDrawing26.vml"/><Relationship Id="rId14" Type="http://schemas.openxmlformats.org/officeDocument/2006/relationships/slideLayout" Target="../slideLayouts/slideLayout3.xml"/><Relationship Id="rId13" Type="http://schemas.openxmlformats.org/officeDocument/2006/relationships/image" Target="../media/image134.png"/><Relationship Id="rId12" Type="http://schemas.openxmlformats.org/officeDocument/2006/relationships/image" Target="../media/image57.wmf"/><Relationship Id="rId11" Type="http://schemas.openxmlformats.org/officeDocument/2006/relationships/oleObject" Target="../embeddings/oleObject192.bin"/><Relationship Id="rId10" Type="http://schemas.openxmlformats.org/officeDocument/2006/relationships/image" Target="../media/image56.wmf"/><Relationship Id="rId1" Type="http://schemas.openxmlformats.org/officeDocument/2006/relationships/oleObject" Target="../embeddings/oleObject187.bin"/></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3.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197.bin"/><Relationship Id="rId8" Type="http://schemas.openxmlformats.org/officeDocument/2006/relationships/image" Target="../media/image157.wmf"/><Relationship Id="rId7" Type="http://schemas.openxmlformats.org/officeDocument/2006/relationships/oleObject" Target="../embeddings/oleObject196.bin"/><Relationship Id="rId6" Type="http://schemas.openxmlformats.org/officeDocument/2006/relationships/image" Target="../media/image156.wmf"/><Relationship Id="rId5" Type="http://schemas.openxmlformats.org/officeDocument/2006/relationships/oleObject" Target="../embeddings/oleObject195.bin"/><Relationship Id="rId4" Type="http://schemas.openxmlformats.org/officeDocument/2006/relationships/image" Target="../media/image155.wmf"/><Relationship Id="rId3" Type="http://schemas.openxmlformats.org/officeDocument/2006/relationships/oleObject" Target="../embeddings/oleObject194.bin"/><Relationship Id="rId2" Type="http://schemas.openxmlformats.org/officeDocument/2006/relationships/image" Target="../media/image154.wmf"/><Relationship Id="rId15" Type="http://schemas.openxmlformats.org/officeDocument/2006/relationships/vmlDrawing" Target="../drawings/vmlDrawing27.vml"/><Relationship Id="rId14" Type="http://schemas.openxmlformats.org/officeDocument/2006/relationships/slideLayout" Target="../slideLayouts/slideLayout3.xml"/><Relationship Id="rId13" Type="http://schemas.openxmlformats.org/officeDocument/2006/relationships/oleObject" Target="../embeddings/oleObject199.bin"/><Relationship Id="rId12" Type="http://schemas.openxmlformats.org/officeDocument/2006/relationships/image" Target="../media/image159.wmf"/><Relationship Id="rId11" Type="http://schemas.openxmlformats.org/officeDocument/2006/relationships/oleObject" Target="../embeddings/oleObject198.bin"/><Relationship Id="rId10" Type="http://schemas.openxmlformats.org/officeDocument/2006/relationships/image" Target="../media/image158.wmf"/><Relationship Id="rId1" Type="http://schemas.openxmlformats.org/officeDocument/2006/relationships/oleObject" Target="../embeddings/oleObject193.bin"/></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9" Type="http://schemas.openxmlformats.org/officeDocument/2006/relationships/vmlDrawing" Target="../drawings/vmlDrawing28.vml"/><Relationship Id="rId8" Type="http://schemas.openxmlformats.org/officeDocument/2006/relationships/slideLayout" Target="../slideLayouts/slideLayout3.xml"/><Relationship Id="rId7" Type="http://schemas.openxmlformats.org/officeDocument/2006/relationships/image" Target="../media/image163.wmf"/><Relationship Id="rId6" Type="http://schemas.openxmlformats.org/officeDocument/2006/relationships/oleObject" Target="../embeddings/oleObject203.bin"/><Relationship Id="rId5" Type="http://schemas.openxmlformats.org/officeDocument/2006/relationships/oleObject" Target="../embeddings/oleObject202.bin"/><Relationship Id="rId4" Type="http://schemas.openxmlformats.org/officeDocument/2006/relationships/image" Target="../media/image162.wmf"/><Relationship Id="rId3" Type="http://schemas.openxmlformats.org/officeDocument/2006/relationships/oleObject" Target="../embeddings/oleObject201.bin"/><Relationship Id="rId2" Type="http://schemas.openxmlformats.org/officeDocument/2006/relationships/image" Target="../media/image161.wmf"/><Relationship Id="rId1" Type="http://schemas.openxmlformats.org/officeDocument/2006/relationships/oleObject" Target="../embeddings/oleObject200.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387424"/>
            <a:ext cx="9144000" cy="7245424"/>
          </a:xfrm>
          <a:prstGeom prst="rect">
            <a:avLst/>
          </a:prstGeom>
        </p:spPr>
      </p:pic>
      <p:sp>
        <p:nvSpPr>
          <p:cNvPr id="4" name="Rectangle 19"/>
          <p:cNvSpPr>
            <a:spLocks noGrp="1" noChangeArrowheads="1"/>
          </p:cNvSpPr>
          <p:nvPr>
            <p:ph type="title"/>
          </p:nvPr>
        </p:nvSpPr>
        <p:spPr>
          <a:xfrm>
            <a:off x="684213" y="836613"/>
            <a:ext cx="7772400" cy="1800225"/>
          </a:xfrm>
        </p:spPr>
        <p:txBody>
          <a:bodyPr/>
          <a:lstStyle/>
          <a:p>
            <a:pPr algn="ctr" eaLnBrk="1" hangingPunct="1"/>
            <a:r>
              <a:rPr lang="zh-CN" altLang="en-US" sz="3600" b="1" dirty="0">
                <a:solidFill>
                  <a:srgbClr val="00B050"/>
                </a:solidFill>
              </a:rPr>
              <a:t>机器学习</a:t>
            </a:r>
            <a:br>
              <a:rPr lang="zh-CN" altLang="en-US" sz="3600" b="1" dirty="0">
                <a:solidFill>
                  <a:srgbClr val="00B050"/>
                </a:solidFill>
              </a:rPr>
            </a:br>
            <a:br>
              <a:rPr lang="zh-CN" altLang="en-US" sz="3600" b="1" dirty="0">
                <a:solidFill>
                  <a:srgbClr val="00B050"/>
                </a:solidFill>
              </a:rPr>
            </a:br>
            <a:r>
              <a:rPr lang="en-US" altLang="zh-CN" sz="3600" b="1" dirty="0">
                <a:solidFill>
                  <a:srgbClr val="00B050"/>
                </a:solidFill>
              </a:rPr>
              <a:t>Machine Learning</a:t>
            </a:r>
            <a:endParaRPr lang="en-US" altLang="zh-CN" sz="3600" b="1" dirty="0">
              <a:solidFill>
                <a:srgbClr val="00B050"/>
              </a:solidFill>
            </a:endParaRPr>
          </a:p>
        </p:txBody>
      </p:sp>
      <p:sp>
        <p:nvSpPr>
          <p:cNvPr id="5" name="Rectangle 22"/>
          <p:cNvSpPr>
            <a:spLocks noChangeArrowheads="1"/>
          </p:cNvSpPr>
          <p:nvPr/>
        </p:nvSpPr>
        <p:spPr bwMode="auto">
          <a:xfrm>
            <a:off x="685800" y="3211513"/>
            <a:ext cx="77724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lnSpc>
                <a:spcPct val="90000"/>
              </a:lnSpc>
              <a:spcBef>
                <a:spcPct val="20000"/>
              </a:spcBef>
            </a:pPr>
            <a:r>
              <a:rPr kumimoji="1" lang="zh-CN" altLang="en-US" sz="4400" b="1" dirty="0">
                <a:latin typeface="黑体" panose="02010609060101010101" pitchFamily="49" charset="-122"/>
                <a:ea typeface="黑体" panose="02010609060101010101" pitchFamily="49" charset="-122"/>
                <a:cs typeface="Verdana" panose="020B0604030504040204" pitchFamily="34" charset="0"/>
              </a:rPr>
              <a:t>第四章：决策树</a:t>
            </a:r>
            <a:endParaRPr kumimoji="1" lang="zh-CN" altLang="en-US" sz="4400" b="1" dirty="0">
              <a:latin typeface="黑体" panose="02010609060101010101" pitchFamily="49" charset="-122"/>
              <a:ea typeface="黑体" panose="02010609060101010101" pitchFamily="49" charset="-122"/>
            </a:endParaRPr>
          </a:p>
          <a:p>
            <a:pPr marL="342900" indent="-342900" algn="ctr" eaLnBrk="1" hangingPunct="1">
              <a:lnSpc>
                <a:spcPct val="90000"/>
              </a:lnSpc>
              <a:spcBef>
                <a:spcPct val="20000"/>
              </a:spcBef>
            </a:pPr>
            <a:endParaRPr kumimoji="1" lang="zh-CN" altLang="en-US" sz="4400" dirty="0">
              <a:latin typeface="幼圆" panose="02010509060101010101" pitchFamily="49" charset="-122"/>
              <a:ea typeface="幼圆" panose="02010509060101010101" pitchFamily="49" charset="-122"/>
            </a:endParaRPr>
          </a:p>
        </p:txBody>
      </p:sp>
      <p:sp>
        <p:nvSpPr>
          <p:cNvPr id="6" name="Text Box 24"/>
          <p:cNvSpPr txBox="1">
            <a:spLocks noChangeArrowheads="1"/>
          </p:cNvSpPr>
          <p:nvPr/>
        </p:nvSpPr>
        <p:spPr bwMode="auto">
          <a:xfrm>
            <a:off x="2944420" y="4682520"/>
            <a:ext cx="4895775" cy="523220"/>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GB" sz="2800" dirty="0">
                <a:latin typeface="楷体_GB2312" pitchFamily="49" charset="-122"/>
                <a:ea typeface="楷体_GB2312" pitchFamily="49" charset="-122"/>
              </a:rPr>
              <a:t>重庆大学计算机学院</a:t>
            </a:r>
            <a:endParaRPr kumimoji="1" lang="en-US" altLang="zh-CN" sz="2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基本流程</a:t>
            </a:r>
            <a:endParaRPr lang="en-US" altLang="zh-CN" b="1" dirty="0">
              <a:latin typeface="黑体" panose="02010609060101010101" pitchFamily="49" charset="-122"/>
              <a:ea typeface="黑体" panose="02010609060101010101" pitchFamily="49" charset="-122"/>
            </a:endParaRPr>
          </a:p>
          <a:p>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基本流程</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决策树基于树结构来进行预测</a:t>
            </a:r>
            <a:endParaRPr lang="zh-CN" altLang="en-US" b="1" dirty="0">
              <a:latin typeface="黑体" panose="02010609060101010101" pitchFamily="49" charset="-122"/>
              <a:ea typeface="黑体" panose="02010609060101010101" pitchFamily="49" charset="-122"/>
            </a:endParaRPr>
          </a:p>
        </p:txBody>
      </p:sp>
      <p:sp>
        <p:nvSpPr>
          <p:cNvPr id="5" name="圆角矩形 4"/>
          <p:cNvSpPr/>
          <p:nvPr/>
        </p:nvSpPr>
        <p:spPr>
          <a:xfrm>
            <a:off x="4196055" y="1822016"/>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6" name="圆角矩形 5"/>
          <p:cNvSpPr/>
          <p:nvPr/>
        </p:nvSpPr>
        <p:spPr>
          <a:xfrm>
            <a:off x="3466040" y="2836135"/>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7" name="圆角矩形 6"/>
          <p:cNvSpPr/>
          <p:nvPr/>
        </p:nvSpPr>
        <p:spPr>
          <a:xfrm>
            <a:off x="2736025" y="385025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敲声</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8" name="椭圆 7"/>
          <p:cNvSpPr/>
          <p:nvPr/>
        </p:nvSpPr>
        <p:spPr>
          <a:xfrm>
            <a:off x="2006010" y="4864372"/>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9" name="直接连接符 8"/>
          <p:cNvCxnSpPr>
            <a:endCxn id="6" idx="0"/>
          </p:cNvCxnSpPr>
          <p:nvPr/>
        </p:nvCxnSpPr>
        <p:spPr>
          <a:xfrm flipH="1">
            <a:off x="4006040" y="2254016"/>
            <a:ext cx="540000" cy="582119"/>
          </a:xfrm>
          <a:prstGeom prst="line">
            <a:avLst/>
          </a:prstGeom>
        </p:spPr>
        <p:style>
          <a:lnRef idx="1">
            <a:schemeClr val="dk1"/>
          </a:lnRef>
          <a:fillRef idx="0">
            <a:schemeClr val="dk1"/>
          </a:fillRef>
          <a:effectRef idx="0">
            <a:schemeClr val="dk1"/>
          </a:effectRef>
          <a:fontRef idx="minor">
            <a:schemeClr val="tx1"/>
          </a:fontRef>
        </p:style>
      </p:cxnSp>
      <p:cxnSp>
        <p:nvCxnSpPr>
          <p:cNvPr id="10" name="直接连接符 9"/>
          <p:cNvCxnSpPr>
            <a:endCxn id="7" idx="0"/>
          </p:cNvCxnSpPr>
          <p:nvPr/>
        </p:nvCxnSpPr>
        <p:spPr>
          <a:xfrm flipH="1">
            <a:off x="3276025" y="3268135"/>
            <a:ext cx="540000" cy="582119"/>
          </a:xfrm>
          <a:prstGeom prst="line">
            <a:avLst/>
          </a:prstGeom>
        </p:spPr>
        <p:style>
          <a:lnRef idx="1">
            <a:schemeClr val="dk1"/>
          </a:lnRef>
          <a:fillRef idx="0">
            <a:schemeClr val="dk1"/>
          </a:fillRef>
          <a:effectRef idx="0">
            <a:schemeClr val="dk1"/>
          </a:effectRef>
          <a:fontRef idx="minor">
            <a:schemeClr val="tx1"/>
          </a:fontRef>
        </p:style>
      </p:cxnSp>
      <p:cxnSp>
        <p:nvCxnSpPr>
          <p:cNvPr id="11" name="直接连接符 10"/>
          <p:cNvCxnSpPr>
            <a:endCxn id="8" idx="0"/>
          </p:cNvCxnSpPr>
          <p:nvPr/>
        </p:nvCxnSpPr>
        <p:spPr>
          <a:xfrm flipH="1">
            <a:off x="2546010" y="4282254"/>
            <a:ext cx="540000" cy="582118"/>
          </a:xfrm>
          <a:prstGeom prst="line">
            <a:avLst/>
          </a:prstGeom>
        </p:spPr>
        <p:style>
          <a:lnRef idx="1">
            <a:schemeClr val="dk1"/>
          </a:lnRef>
          <a:fillRef idx="0">
            <a:schemeClr val="dk1"/>
          </a:fillRef>
          <a:effectRef idx="0">
            <a:schemeClr val="dk1"/>
          </a:effectRef>
          <a:fontRef idx="minor">
            <a:schemeClr val="tx1"/>
          </a:fontRef>
        </p:style>
      </p:cxnSp>
      <p:sp>
        <p:nvSpPr>
          <p:cNvPr id="12" name="文本框 19"/>
          <p:cNvSpPr txBox="1"/>
          <p:nvPr/>
        </p:nvSpPr>
        <p:spPr>
          <a:xfrm>
            <a:off x="3549724" y="2281957"/>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13" name="文本框 20"/>
          <p:cNvSpPr txBox="1"/>
          <p:nvPr/>
        </p:nvSpPr>
        <p:spPr>
          <a:xfrm>
            <a:off x="2899694" y="3299469"/>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sp>
        <p:nvSpPr>
          <p:cNvPr id="14" name="文本框 21"/>
          <p:cNvSpPr txBox="1"/>
          <p:nvPr/>
        </p:nvSpPr>
        <p:spPr>
          <a:xfrm>
            <a:off x="2169679" y="4358863"/>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浊响</a:t>
            </a:r>
            <a:endParaRPr lang="zh-CN" altLang="en-US" b="1" dirty="0">
              <a:latin typeface="楷体" panose="02010609060101010101" pitchFamily="49" charset="-122"/>
              <a:ea typeface="楷体" panose="02010609060101010101" pitchFamily="49" charset="-122"/>
            </a:endParaRPr>
          </a:p>
        </p:txBody>
      </p:sp>
      <p:cxnSp>
        <p:nvCxnSpPr>
          <p:cNvPr id="15" name="直接连接符 14"/>
          <p:cNvCxnSpPr/>
          <p:nvPr/>
        </p:nvCxnSpPr>
        <p:spPr>
          <a:xfrm>
            <a:off x="4951556" y="2254016"/>
            <a:ext cx="559656" cy="582119"/>
          </a:xfrm>
          <a:prstGeom prst="line">
            <a:avLst/>
          </a:prstGeom>
        </p:spPr>
        <p:style>
          <a:lnRef idx="1">
            <a:schemeClr val="dk1"/>
          </a:lnRef>
          <a:fillRef idx="0">
            <a:schemeClr val="dk1"/>
          </a:fillRef>
          <a:effectRef idx="0">
            <a:schemeClr val="dk1"/>
          </a:effectRef>
          <a:fontRef idx="minor">
            <a:schemeClr val="tx1"/>
          </a:fontRef>
        </p:style>
      </p:cxnSp>
      <p:sp>
        <p:nvSpPr>
          <p:cNvPr id="16" name="文本框 25"/>
          <p:cNvSpPr txBox="1"/>
          <p:nvPr/>
        </p:nvSpPr>
        <p:spPr>
          <a:xfrm>
            <a:off x="5244253" y="2726056"/>
            <a:ext cx="723275" cy="461665"/>
          </a:xfrm>
          <a:prstGeom prst="rect">
            <a:avLst/>
          </a:prstGeom>
          <a:noFill/>
        </p:spPr>
        <p:txBody>
          <a:bodyPr wrap="none" rtlCol="0">
            <a:spAutoFit/>
          </a:bodyPr>
          <a:lstStyle/>
          <a:p>
            <a:r>
              <a:rPr lang="en-US" altLang="zh-CN" sz="2400" b="1" dirty="0">
                <a:latin typeface="Times" panose="02020603060405020304" pitchFamily="18" charset="0"/>
              </a:rPr>
              <a:t>…...</a:t>
            </a:r>
            <a:endParaRPr lang="zh-CN" altLang="en-US" sz="2400" b="1" dirty="0">
              <a:latin typeface="Times" panose="02020603060405020304" pitchFamily="18" charset="0"/>
            </a:endParaRPr>
          </a:p>
        </p:txBody>
      </p:sp>
      <p:sp>
        <p:nvSpPr>
          <p:cNvPr id="17" name="文本框 26"/>
          <p:cNvSpPr txBox="1"/>
          <p:nvPr/>
        </p:nvSpPr>
        <p:spPr>
          <a:xfrm>
            <a:off x="5359668" y="2189624"/>
            <a:ext cx="492443" cy="461665"/>
          </a:xfrm>
          <a:prstGeom prst="rect">
            <a:avLst/>
          </a:prstGeom>
          <a:noFill/>
        </p:spPr>
        <p:txBody>
          <a:bodyPr wrap="none" rtlCol="0">
            <a:spAutoFit/>
          </a:bodyPr>
          <a:lstStyle/>
          <a:p>
            <a:r>
              <a:rPr lang="en-US" altLang="zh-CN" sz="2400" b="1" dirty="0">
                <a:latin typeface="Times" panose="02020603060405020304" pitchFamily="18" charset="0"/>
              </a:rPr>
              <a:t>…</a:t>
            </a:r>
            <a:endParaRPr lang="zh-CN" altLang="en-US" sz="2400" b="1" dirty="0">
              <a:latin typeface="Times" panose="02020603060405020304" pitchFamily="18" charset="0"/>
            </a:endParaRPr>
          </a:p>
        </p:txBody>
      </p:sp>
      <p:cxnSp>
        <p:nvCxnSpPr>
          <p:cNvPr id="18" name="直接连接符 17"/>
          <p:cNvCxnSpPr/>
          <p:nvPr/>
        </p:nvCxnSpPr>
        <p:spPr>
          <a:xfrm>
            <a:off x="4186741" y="3273240"/>
            <a:ext cx="559656" cy="582119"/>
          </a:xfrm>
          <a:prstGeom prst="line">
            <a:avLst/>
          </a:prstGeom>
        </p:spPr>
        <p:style>
          <a:lnRef idx="1">
            <a:schemeClr val="dk1"/>
          </a:lnRef>
          <a:fillRef idx="0">
            <a:schemeClr val="dk1"/>
          </a:fillRef>
          <a:effectRef idx="0">
            <a:schemeClr val="dk1"/>
          </a:effectRef>
          <a:fontRef idx="minor">
            <a:schemeClr val="tx1"/>
          </a:fontRef>
        </p:style>
      </p:cxnSp>
      <p:sp>
        <p:nvSpPr>
          <p:cNvPr id="19" name="文本框 28"/>
          <p:cNvSpPr txBox="1"/>
          <p:nvPr/>
        </p:nvSpPr>
        <p:spPr>
          <a:xfrm>
            <a:off x="4479438" y="3745280"/>
            <a:ext cx="723275" cy="461665"/>
          </a:xfrm>
          <a:prstGeom prst="rect">
            <a:avLst/>
          </a:prstGeom>
          <a:noFill/>
        </p:spPr>
        <p:txBody>
          <a:bodyPr wrap="none" rtlCol="0">
            <a:spAutoFit/>
          </a:bodyPr>
          <a:lstStyle/>
          <a:p>
            <a:r>
              <a:rPr lang="en-US" altLang="zh-CN" sz="2400" b="1" dirty="0">
                <a:latin typeface="Times" panose="02020603060405020304" pitchFamily="18" charset="0"/>
              </a:rPr>
              <a:t>…...</a:t>
            </a:r>
            <a:endParaRPr lang="zh-CN" altLang="en-US" sz="2400" b="1" dirty="0">
              <a:latin typeface="Times" panose="02020603060405020304" pitchFamily="18" charset="0"/>
            </a:endParaRPr>
          </a:p>
        </p:txBody>
      </p:sp>
      <p:sp>
        <p:nvSpPr>
          <p:cNvPr id="20" name="文本框 29"/>
          <p:cNvSpPr txBox="1"/>
          <p:nvPr/>
        </p:nvSpPr>
        <p:spPr>
          <a:xfrm>
            <a:off x="4594853" y="3208848"/>
            <a:ext cx="492443" cy="461665"/>
          </a:xfrm>
          <a:prstGeom prst="rect">
            <a:avLst/>
          </a:prstGeom>
          <a:noFill/>
        </p:spPr>
        <p:txBody>
          <a:bodyPr wrap="none" rtlCol="0">
            <a:spAutoFit/>
          </a:bodyPr>
          <a:lstStyle/>
          <a:p>
            <a:r>
              <a:rPr lang="en-US" altLang="zh-CN" sz="2400" b="1" dirty="0">
                <a:latin typeface="Times" panose="02020603060405020304" pitchFamily="18" charset="0"/>
              </a:rPr>
              <a:t>…</a:t>
            </a:r>
            <a:endParaRPr lang="zh-CN" altLang="en-US" sz="2400" b="1" dirty="0">
              <a:latin typeface="Times" panose="02020603060405020304" pitchFamily="18" charset="0"/>
            </a:endParaRPr>
          </a:p>
        </p:txBody>
      </p:sp>
      <p:cxnSp>
        <p:nvCxnSpPr>
          <p:cNvPr id="21" name="直接连接符 20"/>
          <p:cNvCxnSpPr/>
          <p:nvPr/>
        </p:nvCxnSpPr>
        <p:spPr>
          <a:xfrm>
            <a:off x="3453285" y="4289691"/>
            <a:ext cx="559656" cy="582119"/>
          </a:xfrm>
          <a:prstGeom prst="line">
            <a:avLst/>
          </a:prstGeom>
        </p:spPr>
        <p:style>
          <a:lnRef idx="1">
            <a:schemeClr val="dk1"/>
          </a:lnRef>
          <a:fillRef idx="0">
            <a:schemeClr val="dk1"/>
          </a:fillRef>
          <a:effectRef idx="0">
            <a:schemeClr val="dk1"/>
          </a:effectRef>
          <a:fontRef idx="minor">
            <a:schemeClr val="tx1"/>
          </a:fontRef>
        </p:style>
      </p:cxnSp>
      <p:sp>
        <p:nvSpPr>
          <p:cNvPr id="22" name="文本框 31"/>
          <p:cNvSpPr txBox="1"/>
          <p:nvPr/>
        </p:nvSpPr>
        <p:spPr>
          <a:xfrm>
            <a:off x="3745982" y="4761731"/>
            <a:ext cx="723275" cy="461665"/>
          </a:xfrm>
          <a:prstGeom prst="rect">
            <a:avLst/>
          </a:prstGeom>
          <a:noFill/>
        </p:spPr>
        <p:txBody>
          <a:bodyPr wrap="none" rtlCol="0">
            <a:spAutoFit/>
          </a:bodyPr>
          <a:lstStyle/>
          <a:p>
            <a:r>
              <a:rPr lang="en-US" altLang="zh-CN" sz="2400" b="1" dirty="0">
                <a:latin typeface="Times" panose="02020603060405020304" pitchFamily="18" charset="0"/>
              </a:rPr>
              <a:t>…...</a:t>
            </a:r>
            <a:endParaRPr lang="zh-CN" altLang="en-US" sz="2400" b="1" dirty="0">
              <a:latin typeface="Times" panose="02020603060405020304" pitchFamily="18" charset="0"/>
            </a:endParaRPr>
          </a:p>
        </p:txBody>
      </p:sp>
      <p:sp>
        <p:nvSpPr>
          <p:cNvPr id="23" name="文本框 32"/>
          <p:cNvSpPr txBox="1"/>
          <p:nvPr/>
        </p:nvSpPr>
        <p:spPr>
          <a:xfrm>
            <a:off x="3861397" y="4225299"/>
            <a:ext cx="492443" cy="461665"/>
          </a:xfrm>
          <a:prstGeom prst="rect">
            <a:avLst/>
          </a:prstGeom>
          <a:noFill/>
        </p:spPr>
        <p:txBody>
          <a:bodyPr wrap="none" rtlCol="0">
            <a:spAutoFit/>
          </a:bodyPr>
          <a:lstStyle/>
          <a:p>
            <a:r>
              <a:rPr lang="en-US" altLang="zh-CN" sz="2400" b="1" dirty="0">
                <a:latin typeface="Times" panose="02020603060405020304" pitchFamily="18" charset="0"/>
              </a:rPr>
              <a:t>…</a:t>
            </a:r>
            <a:endParaRPr lang="zh-CN" altLang="en-US" sz="2400" b="1" dirty="0">
              <a:latin typeface="Times" panose="0202060306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4067" y="138113"/>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主要决策树算法</a:t>
            </a:r>
            <a:endParaRPr altLang="zh-CN" dirty="0">
              <a:latin typeface="黑体" panose="02010609060101010101" pitchFamily="49" charset="-122"/>
              <a:ea typeface="黑体" panose="02010609060101010101" pitchFamily="49" charset="-122"/>
            </a:endParaRPr>
          </a:p>
        </p:txBody>
      </p:sp>
      <p:sp>
        <p:nvSpPr>
          <p:cNvPr id="36867" name="内容占位符 2"/>
          <p:cNvSpPr>
            <a:spLocks noGrp="1"/>
          </p:cNvSpPr>
          <p:nvPr>
            <p:ph idx="1"/>
          </p:nvPr>
        </p:nvSpPr>
        <p:spPr>
          <a:xfrm>
            <a:off x="341710" y="1058170"/>
            <a:ext cx="8695084" cy="4989481"/>
          </a:xfrm>
        </p:spPr>
        <p:txBody>
          <a:bodyPr vert="horz" lIns="91440" tIns="46800" rIns="91440" bIns="45720" rtlCol="0">
            <a:normAutofit/>
          </a:bodyPr>
          <a:lstStyle/>
          <a:p>
            <a:pPr>
              <a:lnSpc>
                <a:spcPct val="150000"/>
              </a:lnSpc>
            </a:pPr>
            <a:r>
              <a:rPr lang="en-US" altLang="zh-CN" b="1" dirty="0">
                <a:latin typeface="+mn-ea"/>
                <a:ea typeface="+mn-ea"/>
              </a:rPr>
              <a:t> </a:t>
            </a:r>
            <a:r>
              <a:rPr lang="en-US" altLang="zh-CN" b="1" dirty="0">
                <a:latin typeface="黑体" panose="02010609060101010101" pitchFamily="49" charset="-122"/>
                <a:ea typeface="黑体" panose="02010609060101010101" pitchFamily="49" charset="-122"/>
              </a:rPr>
              <a:t>ID3 [Quinlan, </a:t>
            </a:r>
            <a:r>
              <a:rPr lang="en-US" altLang="zh-CN" b="1" dirty="0">
                <a:solidFill>
                  <a:srgbClr val="0000FF"/>
                </a:solidFill>
                <a:latin typeface="黑体" panose="02010609060101010101" pitchFamily="49" charset="-122"/>
                <a:ea typeface="黑体" panose="02010609060101010101" pitchFamily="49" charset="-122"/>
              </a:rPr>
              <a:t>1986</a:t>
            </a:r>
            <a:r>
              <a:rPr lang="en-US" altLang="zh-CN" b="1" dirty="0">
                <a:latin typeface="黑体" panose="02010609060101010101" pitchFamily="49" charset="-122"/>
                <a:ea typeface="黑体" panose="02010609060101010101" pitchFamily="49" charset="-122"/>
              </a:rPr>
              <a:t>]</a:t>
            </a:r>
            <a:br>
              <a:rPr altLang="en-US" b="1" dirty="0">
                <a:latin typeface="黑体" panose="02010609060101010101" pitchFamily="49" charset="-122"/>
                <a:ea typeface="黑体" panose="02010609060101010101" pitchFamily="49" charset="-122"/>
              </a:rPr>
            </a:br>
            <a:r>
              <a:rPr altLang="en-US" b="1" dirty="0">
                <a:latin typeface="黑体" panose="02010609060101010101" pitchFamily="49" charset="-122"/>
                <a:ea typeface="黑体" panose="02010609060101010101" pitchFamily="49" charset="-122"/>
              </a:rPr>
              <a:t>是最早提出的一种决策树方法，使用上述信息增益的方式建立。 </a:t>
            </a:r>
            <a:br>
              <a:rPr altLang="en-US" b="1" dirty="0">
                <a:latin typeface="黑体" panose="02010609060101010101" pitchFamily="49" charset="-122"/>
                <a:ea typeface="黑体" panose="02010609060101010101" pitchFamily="49" charset="-122"/>
              </a:rPr>
            </a:br>
            <a:r>
              <a:rPr altLang="en-US" b="1" dirty="0">
                <a:latin typeface="黑体" panose="02010609060101010101" pitchFamily="49" charset="-122"/>
                <a:ea typeface="黑体" panose="02010609060101010101" pitchFamily="49" charset="-122"/>
              </a:rPr>
              <a:t>缺点：只能处理离散型属性，并且对倾向于选择取值较多的属性； </a:t>
            </a:r>
            <a:endParaRPr lang="en-US" altLang="zh-CN" b="1" dirty="0">
              <a:latin typeface="黑体" panose="02010609060101010101" pitchFamily="49" charset="-122"/>
              <a:ea typeface="黑体" panose="02010609060101010101" pitchFamily="49" charset="-122"/>
            </a:endParaRPr>
          </a:p>
          <a:p>
            <a:pPr>
              <a:lnSpc>
                <a:spcPct val="150000"/>
              </a:lnSpc>
            </a:pPr>
            <a:r>
              <a:rPr lang="en-US" altLang="zh-CN" b="1" dirty="0">
                <a:latin typeface="黑体" panose="02010609060101010101" pitchFamily="49" charset="-122"/>
                <a:ea typeface="黑体" panose="02010609060101010101" pitchFamily="49" charset="-122"/>
              </a:rPr>
              <a:t> C4.5 [Quinlan, </a:t>
            </a:r>
            <a:r>
              <a:rPr lang="en-US" altLang="zh-CN" b="1" dirty="0">
                <a:solidFill>
                  <a:srgbClr val="0000FF"/>
                </a:solidFill>
                <a:latin typeface="黑体" panose="02010609060101010101" pitchFamily="49" charset="-122"/>
                <a:ea typeface="黑体" panose="02010609060101010101" pitchFamily="49" charset="-122"/>
              </a:rPr>
              <a:t>1993</a:t>
            </a:r>
            <a:r>
              <a:rPr lang="en-US" altLang="zh-CN" b="1" dirty="0">
                <a:latin typeface="黑体" panose="02010609060101010101" pitchFamily="49" charset="-122"/>
                <a:ea typeface="黑体" panose="02010609060101010101" pitchFamily="49" charset="-122"/>
              </a:rPr>
              <a:t>]</a:t>
            </a:r>
            <a:br>
              <a:rPr altLang="en-US" b="1" dirty="0">
                <a:latin typeface="黑体" panose="02010609060101010101" pitchFamily="49" charset="-122"/>
                <a:ea typeface="黑体" panose="02010609060101010101" pitchFamily="49" charset="-122"/>
              </a:rPr>
            </a:br>
            <a:r>
              <a:rPr altLang="en-US" b="1" dirty="0">
                <a:latin typeface="黑体" panose="02010609060101010101" pitchFamily="49" charset="-122"/>
                <a:ea typeface="黑体" panose="02010609060101010101" pitchFamily="49" charset="-122"/>
              </a:rPr>
              <a:t>使用增益率对信息增益进行扩充，以解决偏向取值较多的属性的问题。可以处理连续型属性。 </a:t>
            </a:r>
            <a:endParaRPr lang="en-US" altLang="zh-CN" b="1" dirty="0">
              <a:latin typeface="黑体" panose="02010609060101010101" pitchFamily="49" charset="-122"/>
              <a:ea typeface="黑体" panose="02010609060101010101" pitchFamily="49" charset="-122"/>
            </a:endParaRPr>
          </a:p>
          <a:p>
            <a:pPr>
              <a:lnSpc>
                <a:spcPct val="150000"/>
              </a:lnSpc>
            </a:pPr>
            <a:r>
              <a:rPr lang="en-US" altLang="zh-CN" b="1" dirty="0">
                <a:latin typeface="黑体" panose="02010609060101010101" pitchFamily="49" charset="-122"/>
                <a:ea typeface="黑体" panose="02010609060101010101" pitchFamily="49" charset="-122"/>
              </a:rPr>
              <a:t>CART [</a:t>
            </a:r>
            <a:r>
              <a:rPr lang="en-US" altLang="zh-CN" b="1" dirty="0" err="1">
                <a:latin typeface="黑体" panose="02010609060101010101" pitchFamily="49" charset="-122"/>
                <a:ea typeface="黑体" panose="02010609060101010101" pitchFamily="49" charset="-122"/>
              </a:rPr>
              <a:t>Breiman</a:t>
            </a:r>
            <a:r>
              <a:rPr lang="en-US" altLang="zh-CN" b="1" dirty="0">
                <a:latin typeface="黑体" panose="02010609060101010101" pitchFamily="49" charset="-122"/>
                <a:ea typeface="黑体" panose="02010609060101010101" pitchFamily="49" charset="-122"/>
              </a:rPr>
              <a:t> et al., </a:t>
            </a:r>
            <a:r>
              <a:rPr lang="en-US" altLang="zh-CN" b="1" dirty="0">
                <a:solidFill>
                  <a:srgbClr val="0000FF"/>
                </a:solidFill>
                <a:latin typeface="黑体" panose="02010609060101010101" pitchFamily="49" charset="-122"/>
                <a:ea typeface="黑体" panose="02010609060101010101" pitchFamily="49" charset="-122"/>
              </a:rPr>
              <a:t>1984</a:t>
            </a:r>
            <a:r>
              <a:rPr lang="en-US" altLang="zh-CN" b="1" dirty="0">
                <a:latin typeface="黑体" panose="02010609060101010101" pitchFamily="49" charset="-122"/>
                <a:ea typeface="黑体" panose="02010609060101010101" pitchFamily="49" charset="-122"/>
              </a:rPr>
              <a:t>]</a:t>
            </a:r>
            <a:br>
              <a:rPr altLang="en-US" b="1" dirty="0">
                <a:latin typeface="黑体" panose="02010609060101010101" pitchFamily="49" charset="-122"/>
                <a:ea typeface="黑体" panose="02010609060101010101" pitchFamily="49" charset="-122"/>
              </a:rPr>
            </a:br>
            <a:r>
              <a:rPr lang="en-US" altLang="zh-CN" b="1" dirty="0">
                <a:latin typeface="黑体" panose="02010609060101010101" pitchFamily="49" charset="-122"/>
                <a:ea typeface="黑体" panose="02010609060101010101" pitchFamily="49" charset="-122"/>
              </a:rPr>
              <a:t>CART</a:t>
            </a:r>
            <a:r>
              <a:rPr altLang="en-US" b="1" dirty="0">
                <a:latin typeface="黑体" panose="02010609060101010101" pitchFamily="49" charset="-122"/>
                <a:ea typeface="黑体" panose="02010609060101010101" pitchFamily="49" charset="-122"/>
              </a:rPr>
              <a:t>中用于选择变量的不纯性度量是</a:t>
            </a:r>
            <a:r>
              <a:rPr lang="en-US" altLang="zh-CN" b="1" dirty="0">
                <a:latin typeface="黑体" panose="02010609060101010101" pitchFamily="49" charset="-122"/>
                <a:ea typeface="黑体" panose="02010609060101010101" pitchFamily="49" charset="-122"/>
              </a:rPr>
              <a:t>Gini</a:t>
            </a:r>
            <a:r>
              <a:rPr altLang="en-US" b="1" dirty="0">
                <a:latin typeface="黑体" panose="02010609060101010101" pitchFamily="49" charset="-122"/>
                <a:ea typeface="黑体" panose="02010609060101010101" pitchFamily="49" charset="-122"/>
              </a:rPr>
              <a:t>不存度。构造的是二叉树。</a:t>
            </a:r>
            <a:endParaRPr lang="en-US" altLang="en-US" b="1" dirty="0">
              <a:latin typeface="黑体" panose="02010609060101010101" pitchFamily="49" charset="-122"/>
              <a:ea typeface="黑体" panose="02010609060101010101" pitchFamily="49" charset="-122"/>
            </a:endParaRPr>
          </a:p>
          <a:p>
            <a:pPr marL="0" indent="0">
              <a:lnSpc>
                <a:spcPct val="150000"/>
              </a:lnSpc>
              <a:buNone/>
            </a:pPr>
            <a:r>
              <a:rPr lang="zh-CN" altLang="en-US" b="1" dirty="0">
                <a:latin typeface="黑体" panose="02010609060101010101" pitchFamily="49" charset="-122"/>
                <a:ea typeface="黑体" panose="02010609060101010101" pitchFamily="49" charset="-122"/>
              </a:rPr>
              <a:t>可以用于回归。</a:t>
            </a:r>
            <a:endParaRPr altLang="en-US"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基本流程</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a:lnSpc>
                <a:spcPts val="2800"/>
              </a:lnSpc>
            </a:pPr>
            <a:r>
              <a:rPr lang="zh-CN" altLang="en-US" b="1" dirty="0">
                <a:solidFill>
                  <a:srgbClr val="FF0000"/>
                </a:solidFill>
                <a:latin typeface="黑体" panose="02010609060101010101" pitchFamily="49" charset="-122"/>
                <a:ea typeface="黑体" panose="02010609060101010101" pitchFamily="49" charset="-122"/>
              </a:rPr>
              <a:t>特征选择</a:t>
            </a:r>
            <a:r>
              <a:rPr lang="zh-CN" altLang="en-US" b="1" dirty="0">
                <a:latin typeface="黑体" panose="02010609060101010101" pitchFamily="49" charset="-122"/>
                <a:ea typeface="黑体" panose="02010609060101010101" pitchFamily="49" charset="-122"/>
              </a:rPr>
              <a:t>：特征选择是指从训练数据众多的特征中选择一个特征作为当前节点的分裂标准，如何选择特征有着很多不同量化评估标准，从而衍生出不同的决策树算法。</a:t>
            </a:r>
            <a:endParaRPr lang="en-US" altLang="zh-CN" b="1" dirty="0">
              <a:latin typeface="黑体" panose="02010609060101010101" pitchFamily="49" charset="-122"/>
              <a:ea typeface="黑体" panose="02010609060101010101" pitchFamily="49" charset="-122"/>
            </a:endParaRPr>
          </a:p>
          <a:p>
            <a:pPr>
              <a:lnSpc>
                <a:spcPts val="2800"/>
              </a:lnSpc>
            </a:pPr>
            <a:r>
              <a:rPr lang="zh-CN" altLang="en-US" b="1" dirty="0">
                <a:solidFill>
                  <a:srgbClr val="FF0000"/>
                </a:solidFill>
                <a:latin typeface="黑体" panose="02010609060101010101" pitchFamily="49" charset="-122"/>
                <a:ea typeface="黑体" panose="02010609060101010101" pitchFamily="49" charset="-122"/>
              </a:rPr>
              <a:t>决策树生成</a:t>
            </a:r>
            <a:r>
              <a:rPr lang="zh-CN" altLang="en-US" b="1" dirty="0">
                <a:latin typeface="黑体" panose="02010609060101010101" pitchFamily="49" charset="-122"/>
                <a:ea typeface="黑体" panose="02010609060101010101" pitchFamily="49" charset="-122"/>
              </a:rPr>
              <a:t>： 根据选择的特征评估标准，从上至下递归地生成子节点，直到数据集不可分则停止决策树停止生长。 树结构来说，递归结构是最容易理解的方式。</a:t>
            </a:r>
            <a:endParaRPr lang="en-US" altLang="zh-CN" b="1" dirty="0">
              <a:latin typeface="黑体" panose="02010609060101010101" pitchFamily="49" charset="-122"/>
              <a:ea typeface="黑体" panose="02010609060101010101" pitchFamily="49" charset="-122"/>
            </a:endParaRPr>
          </a:p>
          <a:p>
            <a:pPr>
              <a:lnSpc>
                <a:spcPts val="2800"/>
              </a:lnSpc>
            </a:pPr>
            <a:r>
              <a:rPr lang="zh-CN" altLang="en-US" b="1" dirty="0">
                <a:solidFill>
                  <a:srgbClr val="FF0000"/>
                </a:solidFill>
                <a:latin typeface="黑体" panose="02010609060101010101" pitchFamily="49" charset="-122"/>
                <a:ea typeface="黑体" panose="02010609060101010101" pitchFamily="49" charset="-122"/>
              </a:rPr>
              <a:t>剪枝</a:t>
            </a:r>
            <a:r>
              <a:rPr lang="zh-CN" altLang="en-US" b="1" dirty="0">
                <a:latin typeface="黑体" panose="02010609060101010101" pitchFamily="49" charset="-122"/>
                <a:ea typeface="黑体" panose="02010609060101010101" pitchFamily="49" charset="-122"/>
              </a:rPr>
              <a:t>：决策树容易过拟合，一般来需要剪枝，缩小树结构规模、缓解过拟合。剪枝技术有预剪枝和后剪枝两种。</a:t>
            </a:r>
            <a:endParaRPr lang="zh-CN" altLang="en-US" b="1" dirty="0">
              <a:latin typeface="黑体" panose="02010609060101010101" pitchFamily="49" charset="-122"/>
              <a:ea typeface="黑体" panose="02010609060101010101" pitchFamily="49" charset="-122"/>
            </a:endParaRPr>
          </a:p>
        </p:txBody>
      </p:sp>
      <p:sp>
        <p:nvSpPr>
          <p:cNvPr id="5" name="Rectangle 3"/>
          <p:cNvSpPr>
            <a:spLocks noChangeArrowheads="1"/>
          </p:cNvSpPr>
          <p:nvPr/>
        </p:nvSpPr>
        <p:spPr bwMode="auto">
          <a:xfrm>
            <a:off x="1070656" y="4816429"/>
            <a:ext cx="6266087" cy="1071672"/>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nSpc>
                <a:spcPts val="3200"/>
              </a:lnSpc>
              <a:buNone/>
            </a:pPr>
            <a:r>
              <a:rPr lang="zh-CN" altLang="en-US" sz="2200" b="1" dirty="0">
                <a:latin typeface="黑体" panose="02010609060101010101" pitchFamily="49" charset="-122"/>
                <a:ea typeface="黑体" panose="02010609060101010101" pitchFamily="49" charset="-122"/>
              </a:rPr>
              <a:t>决策树学习的目的是为了产生一棵</a:t>
            </a:r>
            <a:r>
              <a:rPr lang="zh-CN" altLang="en-US" sz="2200" b="1" dirty="0">
                <a:solidFill>
                  <a:srgbClr val="C00000"/>
                </a:solidFill>
                <a:latin typeface="黑体" panose="02010609060101010101" pitchFamily="49" charset="-122"/>
                <a:ea typeface="黑体" panose="02010609060101010101" pitchFamily="49" charset="-122"/>
              </a:rPr>
              <a:t>泛化能力强</a:t>
            </a:r>
            <a:r>
              <a:rPr lang="zh-CN" altLang="en-US" sz="2200" b="1" dirty="0">
                <a:latin typeface="黑体" panose="02010609060101010101" pitchFamily="49" charset="-122"/>
                <a:ea typeface="黑体" panose="02010609060101010101" pitchFamily="49" charset="-122"/>
              </a:rPr>
              <a:t>，即</a:t>
            </a:r>
            <a:r>
              <a:rPr lang="zh-CN" altLang="en-US" sz="2200" b="1" dirty="0">
                <a:solidFill>
                  <a:srgbClr val="C00000"/>
                </a:solidFill>
                <a:latin typeface="黑体" panose="02010609060101010101" pitchFamily="49" charset="-122"/>
                <a:ea typeface="黑体" panose="02010609060101010101" pitchFamily="49" charset="-122"/>
              </a:rPr>
              <a:t>处理未见示例能力强的决策树</a:t>
            </a:r>
            <a:endParaRPr lang="zh-CN" altLang="en-US" sz="2200" b="1" dirty="0">
              <a:solidFill>
                <a:srgbClr val="C00000"/>
              </a:solidFill>
              <a:latin typeface="黑体" panose="02010609060101010101" pitchFamily="49" charset="-122"/>
              <a:ea typeface="黑体" panose="02010609060101010101" pitchFamily="49" charset="-122"/>
            </a:endParaRPr>
          </a:p>
          <a:p>
            <a:pPr marL="0" indent="0">
              <a:lnSpc>
                <a:spcPts val="3200"/>
              </a:lnSpc>
              <a:buNone/>
            </a:pPr>
            <a:endParaRPr lang="zh-CN" altLang="en-US" sz="2200" i="0"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基本流程</a:t>
            </a:r>
            <a:endParaRPr lang="zh-CN" altLang="en-US" dirty="0">
              <a:latin typeface="黑体" panose="02010609060101010101" pitchFamily="49" charset="-122"/>
              <a:ea typeface="黑体" panose="02010609060101010101" pitchFamily="49" charset="-122"/>
            </a:endParaRPr>
          </a:p>
        </p:txBody>
      </p:sp>
      <p:pic>
        <p:nvPicPr>
          <p:cNvPr id="4" name="Picture 7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2319" y="878656"/>
            <a:ext cx="6108489" cy="55224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319746" y="2657388"/>
            <a:ext cx="5183172" cy="27050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19746" y="3414562"/>
            <a:ext cx="5183172" cy="27050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19746" y="4818866"/>
            <a:ext cx="5183172" cy="270503"/>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146467" y="2038342"/>
            <a:ext cx="2451079" cy="92333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accent1"/>
                </a:solidFill>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1</a:t>
            </a:r>
            <a:r>
              <a:rPr lang="zh-CN" altLang="en-US" b="1" dirty="0">
                <a:solidFill>
                  <a:schemeClr val="accent1"/>
                </a:solidFill>
                <a:latin typeface="黑体" panose="02010609060101010101" pitchFamily="49" charset="-122"/>
                <a:ea typeface="黑体" panose="02010609060101010101" pitchFamily="49" charset="-122"/>
              </a:rPr>
              <a:t>）当前结点包含的样本全部属于同一类别</a:t>
            </a:r>
            <a:endParaRPr lang="zh-CN" altLang="en-US" b="1" dirty="0">
              <a:solidFill>
                <a:schemeClr val="accent1"/>
              </a:solidFill>
              <a:latin typeface="黑体" panose="02010609060101010101" pitchFamily="49" charset="-122"/>
              <a:ea typeface="黑体" panose="02010609060101010101" pitchFamily="49" charset="-122"/>
            </a:endParaRPr>
          </a:p>
        </p:txBody>
      </p:sp>
      <p:sp>
        <p:nvSpPr>
          <p:cNvPr id="15" name="矩形 14"/>
          <p:cNvSpPr/>
          <p:nvPr/>
        </p:nvSpPr>
        <p:spPr>
          <a:xfrm>
            <a:off x="6170077" y="3171327"/>
            <a:ext cx="2451079" cy="923330"/>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accent1"/>
                </a:solidFill>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2</a:t>
            </a:r>
            <a:r>
              <a:rPr lang="zh-CN" altLang="en-US" b="1" dirty="0">
                <a:solidFill>
                  <a:schemeClr val="accent1"/>
                </a:solidFill>
                <a:latin typeface="黑体" panose="02010609060101010101" pitchFamily="49" charset="-122"/>
                <a:ea typeface="黑体" panose="02010609060101010101" pitchFamily="49" charset="-122"/>
              </a:rPr>
              <a:t>）当前属性集为空，或所有样本在所有属性上取值相同</a:t>
            </a:r>
            <a:endParaRPr lang="zh-CN" altLang="en-US" b="1" dirty="0">
              <a:solidFill>
                <a:schemeClr val="accent1"/>
              </a:solidFill>
              <a:latin typeface="黑体" panose="02010609060101010101" pitchFamily="49" charset="-122"/>
              <a:ea typeface="黑体" panose="02010609060101010101" pitchFamily="49" charset="-122"/>
            </a:endParaRPr>
          </a:p>
        </p:txBody>
      </p:sp>
      <p:sp>
        <p:nvSpPr>
          <p:cNvPr id="16" name="矩形 15"/>
          <p:cNvSpPr/>
          <p:nvPr/>
        </p:nvSpPr>
        <p:spPr>
          <a:xfrm>
            <a:off x="6180808" y="4495701"/>
            <a:ext cx="2451079" cy="646331"/>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accent1"/>
                </a:solidFill>
                <a:latin typeface="黑体" panose="02010609060101010101" pitchFamily="49" charset="-122"/>
                <a:ea typeface="黑体" panose="02010609060101010101" pitchFamily="49" charset="-122"/>
              </a:rPr>
              <a:t>（</a:t>
            </a:r>
            <a:r>
              <a:rPr lang="en-US" altLang="zh-CN" b="1" dirty="0">
                <a:solidFill>
                  <a:schemeClr val="accent1"/>
                </a:solidFill>
                <a:latin typeface="黑体" panose="02010609060101010101" pitchFamily="49" charset="-122"/>
                <a:ea typeface="黑体" panose="02010609060101010101" pitchFamily="49" charset="-122"/>
              </a:rPr>
              <a:t>3</a:t>
            </a:r>
            <a:r>
              <a:rPr lang="zh-CN" altLang="en-US" b="1" dirty="0">
                <a:solidFill>
                  <a:schemeClr val="accent1"/>
                </a:solidFill>
                <a:latin typeface="黑体" panose="02010609060101010101" pitchFamily="49" charset="-122"/>
                <a:ea typeface="黑体" panose="02010609060101010101" pitchFamily="49" charset="-122"/>
              </a:rPr>
              <a:t>）当前结点包含的样本集合为空</a:t>
            </a:r>
            <a:endParaRPr lang="zh-CN" altLang="en-US" b="1" dirty="0">
              <a:solidFill>
                <a:schemeClr val="accent1"/>
              </a:solidFill>
              <a:latin typeface="黑体" panose="02010609060101010101" pitchFamily="49" charset="-122"/>
              <a:ea typeface="黑体" panose="02010609060101010101" pitchFamily="49" charset="-122"/>
            </a:endParaRPr>
          </a:p>
        </p:txBody>
      </p:sp>
      <p:sp>
        <p:nvSpPr>
          <p:cNvPr id="3" name="TextBox 2"/>
          <p:cNvSpPr txBox="1"/>
          <p:nvPr/>
        </p:nvSpPr>
        <p:spPr>
          <a:xfrm>
            <a:off x="362275" y="3864324"/>
            <a:ext cx="2178905" cy="270503"/>
          </a:xfrm>
          <a:prstGeom prst="rect">
            <a:avLst/>
          </a:prstGeom>
          <a:noFill/>
          <a:ln w="28575">
            <a:solidFill>
              <a:srgbClr val="FF0000"/>
            </a:solidFill>
          </a:ln>
        </p:spPr>
        <p:txBody>
          <a:bodyPr wrap="square" rtlCol="0">
            <a:spAutoFit/>
          </a:bodyPr>
          <a:lstStyle/>
          <a:p>
            <a:endParaRPr lang="en-US" sz="1000" dirty="0"/>
          </a:p>
        </p:txBody>
      </p:sp>
      <p:sp>
        <p:nvSpPr>
          <p:cNvPr id="6" name="TextBox 5"/>
          <p:cNvSpPr txBox="1"/>
          <p:nvPr/>
        </p:nvSpPr>
        <p:spPr>
          <a:xfrm>
            <a:off x="3033074" y="3833095"/>
            <a:ext cx="1868949" cy="338554"/>
          </a:xfrm>
          <a:prstGeom prst="rect">
            <a:avLst/>
          </a:prstGeom>
          <a:noFill/>
        </p:spPr>
        <p:txBody>
          <a:bodyPr wrap="square" rtlCol="0">
            <a:spAutoFit/>
          </a:bodyPr>
          <a:lstStyle/>
          <a:p>
            <a:r>
              <a:rPr lang="en-US" sz="1600" dirty="0">
                <a:solidFill>
                  <a:srgbClr val="FF0000"/>
                </a:solidFill>
                <a:latin typeface="黑体" panose="02010609060101010101" pitchFamily="49" charset="-122"/>
                <a:ea typeface="黑体" panose="02010609060101010101" pitchFamily="49" charset="-122"/>
              </a:rPr>
              <a:t>决策树学习的关键</a:t>
            </a:r>
            <a:endParaRPr lang="en-US" sz="1600" dirty="0">
              <a:solidFill>
                <a:srgbClr val="FF0000"/>
              </a:solidFill>
              <a:latin typeface="黑体" panose="02010609060101010101" pitchFamily="49" charset="-122"/>
              <a:ea typeface="黑体" panose="02010609060101010101" pitchFamily="49" charset="-122"/>
            </a:endParaRPr>
          </a:p>
        </p:txBody>
      </p:sp>
      <p:cxnSp>
        <p:nvCxnSpPr>
          <p:cNvPr id="10" name="Straight Arrow Connector 9"/>
          <p:cNvCxnSpPr>
            <a:endCxn id="6" idx="1"/>
          </p:cNvCxnSpPr>
          <p:nvPr/>
        </p:nvCxnSpPr>
        <p:spPr>
          <a:xfrm>
            <a:off x="2541180" y="3999575"/>
            <a:ext cx="491894" cy="2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977597" y="1182356"/>
            <a:ext cx="2788818" cy="646331"/>
          </a:xfrm>
          <a:prstGeom prst="rect">
            <a:avLst/>
          </a:prstGeom>
          <a:solidFill>
            <a:schemeClr val="accent4">
              <a:lumMod val="20000"/>
              <a:lumOff val="80000"/>
            </a:schemeClr>
          </a:solidFill>
          <a:ln>
            <a:noFill/>
          </a:ln>
        </p:spPr>
        <p:style>
          <a:lnRef idx="1">
            <a:schemeClr val="accent3"/>
          </a:lnRef>
          <a:fillRef idx="2">
            <a:schemeClr val="accent3"/>
          </a:fillRef>
          <a:effectRef idx="1">
            <a:schemeClr val="accent3"/>
          </a:effectRef>
          <a:fontRef idx="minor">
            <a:schemeClr val="dk1"/>
          </a:fontRef>
        </p:style>
        <p:txBody>
          <a:bodyPr wrap="square">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1" dirty="0">
                <a:solidFill>
                  <a:schemeClr val="tx1"/>
                </a:solidFill>
                <a:latin typeface="黑体" panose="02010609060101010101" pitchFamily="49" charset="-122"/>
                <a:ea typeface="黑体" panose="02010609060101010101" pitchFamily="49" charset="-122"/>
              </a:rPr>
              <a:t>决策树算法中，</a:t>
            </a:r>
            <a:r>
              <a:rPr lang="en-US" altLang="zh-CN" b="1" dirty="0">
                <a:solidFill>
                  <a:schemeClr val="tx1"/>
                </a:solidFill>
                <a:latin typeface="黑体" panose="02010609060101010101" pitchFamily="49" charset="-122"/>
                <a:ea typeface="黑体" panose="02010609060101010101" pitchFamily="49" charset="-122"/>
              </a:rPr>
              <a:t>3</a:t>
            </a:r>
            <a:r>
              <a:rPr lang="zh-CN" altLang="en-US" b="1" dirty="0">
                <a:solidFill>
                  <a:schemeClr val="tx1"/>
                </a:solidFill>
                <a:latin typeface="黑体" panose="02010609060101010101" pitchFamily="49" charset="-122"/>
                <a:ea typeface="黑体" panose="02010609060101010101" pitchFamily="49" charset="-122"/>
              </a:rPr>
              <a:t>种情况导致递归返回：</a:t>
            </a:r>
            <a:endParaRPr lang="zh-CN" altLang="en-US" b="1"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3" grpId="0"/>
      <p:bldP spid="15" grpId="0"/>
      <p:bldP spid="16" grpId="0"/>
      <p:bldP spid="3" grpId="0" animBg="1"/>
      <p:bldP spid="6" grpId="0"/>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决策树特点</a:t>
            </a:r>
            <a:endParaRPr lang="zh-CN" altLang="en-US" dirty="0">
              <a:latin typeface="黑体" panose="02010609060101010101" pitchFamily="49" charset="-122"/>
              <a:ea typeface="黑体" panose="02010609060101010101" pitchFamily="49" charset="-122"/>
            </a:endParaRPr>
          </a:p>
        </p:txBody>
      </p:sp>
      <p:sp>
        <p:nvSpPr>
          <p:cNvPr id="9" name="内容占位符 2"/>
          <p:cNvSpPr>
            <a:spLocks noGrp="1"/>
          </p:cNvSpPr>
          <p:nvPr>
            <p:ph idx="1"/>
          </p:nvPr>
        </p:nvSpPr>
        <p:spPr>
          <a:xfrm>
            <a:off x="260350" y="1158535"/>
            <a:ext cx="8616950" cy="4847629"/>
          </a:xfrm>
        </p:spPr>
        <p:txBody>
          <a:bodyPr>
            <a:normAutofit/>
          </a:bodyPr>
          <a:lstStyle/>
          <a:p>
            <a:pPr>
              <a:lnSpc>
                <a:spcPts val="2800"/>
              </a:lnSpc>
            </a:pPr>
            <a:r>
              <a:rPr lang="zh-CN" altLang="en-US" b="1" dirty="0">
                <a:solidFill>
                  <a:srgbClr val="FF0000"/>
                </a:solidFill>
                <a:latin typeface="黑体" panose="02010609060101010101" pitchFamily="49" charset="-122"/>
                <a:ea typeface="黑体" panose="02010609060101010101" pitchFamily="49" charset="-122"/>
              </a:rPr>
              <a:t>优点</a:t>
            </a:r>
            <a:endParaRPr lang="en-US" altLang="zh-CN" b="1" dirty="0">
              <a:solidFill>
                <a:srgbClr val="FF0000"/>
              </a:solidFill>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推理过程容易理解，计算简单，可解释性强</a:t>
            </a:r>
            <a:endParaRPr lang="zh-CN" altLang="en-US" dirty="0">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比较适合处理有缺失属性的样本</a:t>
            </a:r>
            <a:endParaRPr lang="en-US" altLang="zh-CN" dirty="0">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可自动忽略目标变量没有贡献的属性变量，也为判断属性变量的重要性</a:t>
            </a:r>
            <a:endParaRPr lang="zh-CN" altLang="en-US" dirty="0">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减少变量的数目提供参考</a:t>
            </a:r>
            <a:endParaRPr lang="en-US" altLang="zh-CN" b="1" dirty="0">
              <a:solidFill>
                <a:srgbClr val="FF0000"/>
              </a:solidFill>
              <a:latin typeface="黑体" panose="02010609060101010101" pitchFamily="49" charset="-122"/>
              <a:ea typeface="黑体" panose="02010609060101010101" pitchFamily="49" charset="-122"/>
            </a:endParaRPr>
          </a:p>
          <a:p>
            <a:pPr>
              <a:lnSpc>
                <a:spcPts val="2800"/>
              </a:lnSpc>
            </a:pPr>
            <a:r>
              <a:rPr lang="zh-CN" altLang="en-US" b="1" dirty="0">
                <a:solidFill>
                  <a:srgbClr val="FF0000"/>
                </a:solidFill>
                <a:latin typeface="黑体" panose="02010609060101010101" pitchFamily="49" charset="-122"/>
                <a:ea typeface="黑体" panose="02010609060101010101" pitchFamily="49" charset="-122"/>
              </a:rPr>
              <a:t>缺点</a:t>
            </a:r>
            <a:endParaRPr lang="en-US" altLang="zh-CN" b="1" dirty="0">
              <a:solidFill>
                <a:srgbClr val="FF0000"/>
              </a:solidFill>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容易造成过拟合，需要采用剪枝操作</a:t>
            </a:r>
            <a:endParaRPr lang="zh-CN" altLang="en-US" dirty="0">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忽略了数据之间的相关性</a:t>
            </a:r>
            <a:endParaRPr lang="zh-CN" altLang="en-US" dirty="0">
              <a:latin typeface="黑体" panose="02010609060101010101" pitchFamily="49" charset="-122"/>
              <a:ea typeface="黑体" panose="02010609060101010101" pitchFamily="49" charset="-122"/>
            </a:endParaRPr>
          </a:p>
          <a:p>
            <a:pPr lvl="1">
              <a:lnSpc>
                <a:spcPts val="2800"/>
              </a:lnSpc>
            </a:pPr>
            <a:r>
              <a:rPr lang="zh-CN" altLang="en-US" dirty="0">
                <a:latin typeface="黑体" panose="02010609060101010101" pitchFamily="49" charset="-122"/>
                <a:ea typeface="黑体" panose="02010609060101010101" pitchFamily="49" charset="-122"/>
              </a:rPr>
              <a:t>对于各类别样本数量不一致的数据，信息增益会偏向于那些更多数值的特征</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endParaRPr lang="en-US" altLang="zh-CN" dirty="0"/>
          </a:p>
          <a:p>
            <a:r>
              <a:rPr lang="zh-CN" altLang="en-US" b="1" dirty="0">
                <a:latin typeface="黑体" panose="02010609060101010101" pitchFamily="49" charset="-122"/>
                <a:ea typeface="黑体" panose="02010609060101010101" pitchFamily="49" charset="-122"/>
              </a:rPr>
              <a:t>划分选择</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a:lnSpc>
                <a:spcPct val="150000"/>
              </a:lnSpc>
            </a:pPr>
            <a:r>
              <a:rPr lang="zh-CN" altLang="en-US" b="1" dirty="0">
                <a:latin typeface="黑体" panose="02010609060101010101" pitchFamily="49" charset="-122"/>
                <a:ea typeface="黑体" panose="02010609060101010101" pitchFamily="49" charset="-122"/>
              </a:rPr>
              <a:t>决策树学习的关键在于</a:t>
            </a:r>
            <a:r>
              <a:rPr lang="zh-CN" altLang="en-US" b="1" dirty="0">
                <a:solidFill>
                  <a:srgbClr val="C00000"/>
                </a:solidFill>
                <a:latin typeface="黑体" panose="02010609060101010101" pitchFamily="49" charset="-122"/>
                <a:ea typeface="黑体" panose="02010609060101010101" pitchFamily="49" charset="-122"/>
              </a:rPr>
              <a:t>如何选择最优划分属性</a:t>
            </a:r>
            <a:r>
              <a:rPr lang="zh-CN" altLang="en-US" b="1" dirty="0">
                <a:latin typeface="黑体" panose="02010609060101010101" pitchFamily="49" charset="-122"/>
                <a:ea typeface="黑体" panose="02010609060101010101" pitchFamily="49" charset="-122"/>
              </a:rPr>
              <a:t>。一般而言，随着划分过程不断进行，希望决策树的分支结点所包含的样本</a:t>
            </a:r>
            <a:r>
              <a:rPr lang="zh-CN" altLang="en-US" b="1" dirty="0">
                <a:solidFill>
                  <a:srgbClr val="C00000"/>
                </a:solidFill>
                <a:latin typeface="黑体" panose="02010609060101010101" pitchFamily="49" charset="-122"/>
                <a:ea typeface="黑体" panose="02010609060101010101" pitchFamily="49" charset="-122"/>
              </a:rPr>
              <a:t>尽可能属于同一类别，即结点的“纯度”</a:t>
            </a:r>
            <a:r>
              <a:rPr lang="en-US" altLang="zh-CN" b="1" dirty="0">
                <a:solidFill>
                  <a:srgbClr val="C00000"/>
                </a:solidFill>
                <a:latin typeface="黑体" panose="02010609060101010101" pitchFamily="49" charset="-122"/>
                <a:ea typeface="黑体" panose="02010609060101010101" pitchFamily="49" charset="-122"/>
              </a:rPr>
              <a:t>(purity)</a:t>
            </a:r>
            <a:r>
              <a:rPr lang="zh-CN" altLang="en-US" b="1" dirty="0">
                <a:solidFill>
                  <a:srgbClr val="C00000"/>
                </a:solidFill>
                <a:latin typeface="黑体" panose="02010609060101010101" pitchFamily="49" charset="-122"/>
                <a:ea typeface="黑体" panose="02010609060101010101" pitchFamily="49" charset="-122"/>
              </a:rPr>
              <a:t>越来越高</a:t>
            </a:r>
            <a:endParaRPr lang="en-US" altLang="zh-CN" b="1" dirty="0">
              <a:latin typeface="黑体" panose="02010609060101010101" pitchFamily="49" charset="-122"/>
              <a:ea typeface="黑体" panose="02010609060101010101" pitchFamily="49" charset="-122"/>
            </a:endParaRPr>
          </a:p>
          <a:p>
            <a:pPr>
              <a:lnSpc>
                <a:spcPct val="150000"/>
              </a:lnSpc>
            </a:pPr>
            <a:r>
              <a:rPr lang="zh-CN" altLang="en-US" b="1" dirty="0">
                <a:latin typeface="黑体" panose="02010609060101010101" pitchFamily="49" charset="-122"/>
                <a:ea typeface="黑体" panose="02010609060101010101" pitchFamily="49" charset="-122"/>
              </a:rPr>
              <a:t>经典的属性划分方法：</a:t>
            </a:r>
            <a:endParaRPr lang="en-US" altLang="zh-CN" b="1" dirty="0">
              <a:latin typeface="黑体" panose="02010609060101010101" pitchFamily="49" charset="-122"/>
              <a:ea typeface="黑体" panose="02010609060101010101" pitchFamily="49" charset="-122"/>
            </a:endParaRPr>
          </a:p>
          <a:p>
            <a:pPr lvl="1">
              <a:lnSpc>
                <a:spcPct val="150000"/>
              </a:lnSpc>
            </a:pPr>
            <a:r>
              <a:rPr lang="zh-CN" altLang="en-US" b="1" dirty="0">
                <a:latin typeface="黑体" panose="02010609060101010101" pitchFamily="49" charset="-122"/>
                <a:ea typeface="黑体" panose="02010609060101010101" pitchFamily="49" charset="-122"/>
              </a:rPr>
              <a:t>信息增益 </a:t>
            </a:r>
            <a:r>
              <a:rPr lang="en-US" altLang="zh-CN" b="1" dirty="0">
                <a:latin typeface="黑体" panose="02010609060101010101" pitchFamily="49" charset="-122"/>
                <a:ea typeface="黑体" panose="02010609060101010101" pitchFamily="49" charset="-122"/>
              </a:rPr>
              <a:t>ID3</a:t>
            </a:r>
            <a:endParaRPr lang="en-US" altLang="zh-CN" b="1" dirty="0">
              <a:latin typeface="黑体" panose="02010609060101010101" pitchFamily="49" charset="-122"/>
              <a:ea typeface="黑体" panose="02010609060101010101" pitchFamily="49" charset="-122"/>
            </a:endParaRPr>
          </a:p>
          <a:p>
            <a:pPr lvl="1">
              <a:lnSpc>
                <a:spcPct val="150000"/>
              </a:lnSpc>
            </a:pPr>
            <a:r>
              <a:rPr lang="zh-CN" altLang="en-US" b="1" dirty="0">
                <a:latin typeface="黑体" panose="02010609060101010101" pitchFamily="49" charset="-122"/>
                <a:ea typeface="黑体" panose="02010609060101010101" pitchFamily="49" charset="-122"/>
              </a:rPr>
              <a:t>信息增益率 </a:t>
            </a:r>
            <a:r>
              <a:rPr lang="en-US" altLang="zh-CN" b="1" dirty="0">
                <a:latin typeface="黑体" panose="02010609060101010101" pitchFamily="49" charset="-122"/>
                <a:ea typeface="黑体" panose="02010609060101010101" pitchFamily="49" charset="-122"/>
              </a:rPr>
              <a:t>C4.5</a:t>
            </a:r>
            <a:endParaRPr lang="en-US" altLang="zh-CN" b="1" dirty="0">
              <a:latin typeface="黑体" panose="02010609060101010101" pitchFamily="49" charset="-122"/>
              <a:ea typeface="黑体" panose="02010609060101010101" pitchFamily="49" charset="-122"/>
            </a:endParaRPr>
          </a:p>
          <a:p>
            <a:pPr lvl="1">
              <a:lnSpc>
                <a:spcPct val="150000"/>
              </a:lnSpc>
            </a:pPr>
            <a:r>
              <a:rPr lang="zh-CN" altLang="en-US" b="1" dirty="0">
                <a:latin typeface="黑体" panose="02010609060101010101" pitchFamily="49" charset="-122"/>
                <a:ea typeface="黑体" panose="02010609060101010101" pitchFamily="49" charset="-122"/>
              </a:rPr>
              <a:t>基尼指数 </a:t>
            </a:r>
            <a:r>
              <a:rPr lang="en-US" altLang="zh-CN" b="1" dirty="0">
                <a:latin typeface="黑体" panose="02010609060101010101" pitchFamily="49" charset="-122"/>
                <a:ea typeface="黑体" panose="02010609060101010101" pitchFamily="49" charset="-122"/>
              </a:rPr>
              <a:t>CART</a:t>
            </a:r>
            <a:endParaRPr lang="en-US" altLang="zh-CN" b="1" dirty="0">
              <a:latin typeface="黑体" panose="02010609060101010101" pitchFamily="49" charset="-122"/>
              <a:ea typeface="黑体" panose="02010609060101010101" pitchFamily="49" charset="-122"/>
            </a:endParaRPr>
          </a:p>
          <a:p>
            <a:pPr lvl="1">
              <a:lnSpc>
                <a:spcPct val="150000"/>
              </a:lnSpc>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1"/>
          <p:cNvSpPr txBox="1">
            <a:spLocks noChangeArrowheads="1"/>
          </p:cNvSpPr>
          <p:nvPr/>
        </p:nvSpPr>
        <p:spPr bwMode="auto">
          <a:xfrm>
            <a:off x="381132" y="279937"/>
            <a:ext cx="3482579" cy="421481"/>
          </a:xfrm>
          <a:prstGeom prst="rect">
            <a:avLst/>
          </a:prstGeom>
        </p:spPr>
        <p:txBody>
          <a:bodyPr vert="horz" lIns="91440" tIns="45720" rIns="91440" bIns="45720" rtlCol="0" anchor="ctr">
            <a:normAutofit fontScale="77500" lnSpcReduction="20000"/>
          </a:bodyPr>
          <a:lstStyle>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香农熵</a:t>
            </a:r>
            <a:endParaRPr lang="zh-CN" altLang="en-US" dirty="0">
              <a:latin typeface="黑体" panose="02010609060101010101" pitchFamily="49" charset="-122"/>
              <a:ea typeface="黑体" panose="02010609060101010101" pitchFamily="49" charset="-122"/>
            </a:endParaRPr>
          </a:p>
        </p:txBody>
      </p:sp>
      <p:sp>
        <p:nvSpPr>
          <p:cNvPr id="26627" name="TextBox 4"/>
          <p:cNvSpPr txBox="1">
            <a:spLocks noChangeArrowheads="1"/>
          </p:cNvSpPr>
          <p:nvPr/>
        </p:nvSpPr>
        <p:spPr bwMode="auto">
          <a:xfrm>
            <a:off x="381132" y="1132284"/>
            <a:ext cx="815459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a:lnSpc>
                <a:spcPct val="150000"/>
              </a:lnSpc>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集合信息的度量方式称为香农熵或者简称为</a:t>
            </a:r>
            <a:r>
              <a:rPr lang="zh-CN" altLang="en-US" sz="2100" b="1" dirty="0">
                <a:solidFill>
                  <a:srgbClr val="FF0000"/>
                </a:solidFill>
                <a:latin typeface="黑体" panose="02010609060101010101" pitchFamily="49" charset="-122"/>
                <a:ea typeface="黑体" panose="02010609060101010101" pitchFamily="49" charset="-122"/>
              </a:rPr>
              <a:t>熵</a:t>
            </a:r>
            <a:r>
              <a:rPr lang="en-US" altLang="zh-CN" sz="2100" b="1" dirty="0">
                <a:solidFill>
                  <a:srgbClr val="FF0000"/>
                </a:solidFill>
                <a:latin typeface="黑体" panose="02010609060101010101" pitchFamily="49" charset="-122"/>
                <a:ea typeface="黑体" panose="02010609060101010101" pitchFamily="49" charset="-122"/>
              </a:rPr>
              <a:t>(entropy)</a:t>
            </a:r>
            <a:r>
              <a:rPr lang="zh-CN" altLang="en-US" sz="2100" b="1" dirty="0">
                <a:latin typeface="黑体" panose="02010609060101010101" pitchFamily="49" charset="-122"/>
                <a:ea typeface="黑体" panose="02010609060101010101" pitchFamily="49" charset="-122"/>
              </a:rPr>
              <a:t>，来源于信息论之父克劳德</a:t>
            </a:r>
            <a:r>
              <a:rPr lang="en-US" altLang="zh-CN" sz="2100" b="1" dirty="0">
                <a:latin typeface="黑体" panose="02010609060101010101" pitchFamily="49" charset="-122"/>
                <a:ea typeface="黑体" panose="02010609060101010101" pitchFamily="49" charset="-122"/>
              </a:rPr>
              <a:t>·</a:t>
            </a:r>
            <a:r>
              <a:rPr lang="zh-CN" altLang="en-US" sz="2100" b="1" dirty="0">
                <a:latin typeface="黑体" panose="02010609060101010101" pitchFamily="49" charset="-122"/>
                <a:ea typeface="黑体" panose="02010609060101010101" pitchFamily="49" charset="-122"/>
              </a:rPr>
              <a:t>香农</a:t>
            </a:r>
            <a:r>
              <a:rPr lang="zh-CN" altLang="en-US" sz="2100" dirty="0">
                <a:latin typeface="黑体" panose="02010609060101010101" pitchFamily="49" charset="-122"/>
                <a:ea typeface="黑体" panose="02010609060101010101" pitchFamily="49" charset="-122"/>
              </a:rPr>
              <a:t>（熵代表一个系统信息的混乱程度，熵越大，越混乱，信息越少</a:t>
            </a:r>
            <a:r>
              <a:rPr lang="en-US" altLang="zh-CN" sz="2100" dirty="0">
                <a:latin typeface="黑体" panose="02010609060101010101" pitchFamily="49" charset="-122"/>
                <a:ea typeface="黑体" panose="02010609060101010101" pitchFamily="49" charset="-122"/>
              </a:rPr>
              <a:t>)</a:t>
            </a:r>
            <a:r>
              <a:rPr lang="zh-CN" altLang="en-US" sz="2100" dirty="0">
                <a:latin typeface="黑体" panose="02010609060101010101" pitchFamily="49" charset="-122"/>
                <a:ea typeface="黑体" panose="02010609060101010101" pitchFamily="49" charset="-122"/>
              </a:rPr>
              <a:t>。</a:t>
            </a:r>
            <a:endParaRPr lang="en-US" altLang="zh-CN" sz="2100" b="1" dirty="0">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熵定义为信息的期望值。在信息论与概率统计中，</a:t>
            </a:r>
            <a:r>
              <a:rPr lang="zh-CN" altLang="en-US" sz="2100" b="1" dirty="0">
                <a:solidFill>
                  <a:srgbClr val="FF0000"/>
                </a:solidFill>
                <a:latin typeface="黑体" panose="02010609060101010101" pitchFamily="49" charset="-122"/>
                <a:ea typeface="黑体" panose="02010609060101010101" pitchFamily="49" charset="-122"/>
              </a:rPr>
              <a:t>熵是表示随机变量不确定性的度量</a:t>
            </a:r>
            <a:r>
              <a:rPr lang="zh-CN" altLang="en-US" sz="2100" b="1" dirty="0">
                <a:latin typeface="黑体" panose="02010609060101010101" pitchFamily="49" charset="-122"/>
                <a:ea typeface="黑体" panose="02010609060101010101" pitchFamily="49" charset="-122"/>
              </a:rPr>
              <a:t>。如果待分类的事物可能划分在多个分类之中，则符号</a:t>
            </a:r>
            <a:r>
              <a:rPr lang="en-US" altLang="zh-CN" sz="2100" b="1" dirty="0">
                <a:latin typeface="黑体" panose="02010609060101010101" pitchFamily="49" charset="-122"/>
                <a:ea typeface="黑体" panose="02010609060101010101" pitchFamily="49" charset="-122"/>
              </a:rPr>
              <a:t>xi</a:t>
            </a:r>
            <a:r>
              <a:rPr lang="zh-CN" altLang="en-US" sz="2100" b="1" dirty="0">
                <a:latin typeface="黑体" panose="02010609060101010101" pitchFamily="49" charset="-122"/>
                <a:ea typeface="黑体" panose="02010609060101010101" pitchFamily="49" charset="-122"/>
              </a:rPr>
              <a:t>的信息定义为 ：</a:t>
            </a:r>
            <a:endParaRPr lang="zh-CN" altLang="en-US" sz="2100" b="1" dirty="0">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p"/>
            </a:pPr>
            <a:endParaRPr lang="zh-CN" altLang="en-US" sz="2100" dirty="0">
              <a:latin typeface="+mn-ea"/>
              <a:ea typeface="+mn-ea"/>
            </a:endParaRPr>
          </a:p>
        </p:txBody>
      </p:sp>
      <p:pic>
        <p:nvPicPr>
          <p:cNvPr id="26628"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707606" y="3790950"/>
            <a:ext cx="2972991" cy="664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4"/>
          <p:cNvSpPr txBox="1">
            <a:spLocks noChangeArrowheads="1"/>
          </p:cNvSpPr>
          <p:nvPr/>
        </p:nvSpPr>
        <p:spPr bwMode="auto">
          <a:xfrm>
            <a:off x="521494" y="4725591"/>
            <a:ext cx="5185172" cy="594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l"/>
            </a:pPr>
            <a:r>
              <a:rPr lang="zh-CN" altLang="en-US" sz="2100" b="1" dirty="0">
                <a:latin typeface="黑体" panose="02010609060101010101" pitchFamily="49" charset="-122"/>
                <a:ea typeface="黑体" panose="02010609060101010101" pitchFamily="49" charset="-122"/>
              </a:rPr>
              <a:t>其中</a:t>
            </a:r>
            <a:r>
              <a:rPr lang="en-US" altLang="zh-CN" sz="2100" b="1" dirty="0">
                <a:latin typeface="黑体" panose="02010609060101010101" pitchFamily="49" charset="-122"/>
                <a:ea typeface="黑体" panose="02010609060101010101" pitchFamily="49" charset="-122"/>
              </a:rPr>
              <a:t>p(xi)</a:t>
            </a:r>
            <a:r>
              <a:rPr lang="zh-CN" altLang="en-US" sz="2100" b="1" dirty="0">
                <a:latin typeface="黑体" panose="02010609060101010101" pitchFamily="49" charset="-122"/>
                <a:ea typeface="黑体" panose="02010609060101010101" pitchFamily="49" charset="-122"/>
              </a:rPr>
              <a:t>是选择该分类的概率。</a:t>
            </a:r>
            <a:endParaRPr lang="en-US" altLang="zh-CN" sz="2100" b="1" dirty="0">
              <a:latin typeface="黑体" panose="02010609060101010101" pitchFamily="49" charset="-122"/>
              <a:ea typeface="黑体" panose="02010609060101010101" pitchFamily="49" charset="-122"/>
            </a:endParaRPr>
          </a:p>
        </p:txBody>
      </p:sp>
      <p:pic>
        <p:nvPicPr>
          <p:cNvPr id="2" name="图片 1"/>
          <p:cNvPicPr/>
          <p:nvPr/>
        </p:nvPicPr>
        <p:blipFill>
          <a:blip r:embed="rId2"/>
          <a:stretch>
            <a:fillRect/>
          </a:stretch>
        </p:blipFill>
        <p:spPr>
          <a:xfrm>
            <a:off x="4973076" y="4455319"/>
            <a:ext cx="3723640" cy="17735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p:cNvSpPr txBox="1">
            <a:spLocks noChangeArrowheads="1"/>
          </p:cNvSpPr>
          <p:nvPr/>
        </p:nvSpPr>
        <p:spPr bwMode="auto">
          <a:xfrm>
            <a:off x="395370" y="247568"/>
            <a:ext cx="3482579" cy="421481"/>
          </a:xfrm>
          <a:prstGeom prst="rect">
            <a:avLst/>
          </a:prstGeom>
        </p:spPr>
        <p:txBody>
          <a:bodyPr vert="horz" lIns="91440" tIns="45720" rIns="91440" bIns="45720" rtlCol="0" anchor="ctr">
            <a:normAutofit fontScale="77500" lnSpcReduction="2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香农熵</a:t>
            </a:r>
            <a:endParaRPr lang="zh-CN" altLang="en-US" dirty="0">
              <a:latin typeface="黑体" panose="02010609060101010101" pitchFamily="49" charset="-122"/>
              <a:ea typeface="黑体" panose="02010609060101010101" pitchFamily="49" charset="-122"/>
            </a:endParaRPr>
          </a:p>
        </p:txBody>
      </p:sp>
      <p:sp>
        <p:nvSpPr>
          <p:cNvPr id="27651" name="TextBox 4"/>
          <p:cNvSpPr txBox="1">
            <a:spLocks noChangeArrowheads="1"/>
          </p:cNvSpPr>
          <p:nvPr/>
        </p:nvSpPr>
        <p:spPr bwMode="auto">
          <a:xfrm>
            <a:off x="683419" y="1670447"/>
            <a:ext cx="7939088" cy="3834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通过上式，可以得到所有类别的信息。为了计算熵，需要计算所有类别所有可能值包含的信息期望值</a:t>
            </a:r>
            <a:r>
              <a:rPr lang="en-US" altLang="zh-CN" sz="2100" b="1" dirty="0">
                <a:latin typeface="黑体" panose="02010609060101010101" pitchFamily="49" charset="-122"/>
                <a:ea typeface="黑体" panose="02010609060101010101" pitchFamily="49" charset="-122"/>
              </a:rPr>
              <a:t>(</a:t>
            </a:r>
            <a:r>
              <a:rPr lang="zh-CN" altLang="en-US" sz="2100" b="1" dirty="0">
                <a:latin typeface="黑体" panose="02010609060101010101" pitchFamily="49" charset="-122"/>
                <a:ea typeface="黑体" panose="02010609060101010101" pitchFamily="49" charset="-122"/>
              </a:rPr>
              <a:t>数学期望</a:t>
            </a:r>
            <a:r>
              <a:rPr lang="en-US" altLang="zh-CN" sz="2100" b="1" dirty="0">
                <a:latin typeface="黑体" panose="02010609060101010101" pitchFamily="49" charset="-122"/>
                <a:ea typeface="黑体" panose="02010609060101010101" pitchFamily="49" charset="-122"/>
              </a:rPr>
              <a:t>)</a:t>
            </a:r>
            <a:r>
              <a:rPr lang="zh-CN" altLang="en-US" sz="2100" b="1" dirty="0">
                <a:latin typeface="黑体" panose="02010609060101010101" pitchFamily="49" charset="-122"/>
                <a:ea typeface="黑体" panose="02010609060101010101" pitchFamily="49" charset="-122"/>
              </a:rPr>
              <a:t>，通过下面的公式得到：</a:t>
            </a:r>
            <a:endParaRPr lang="zh-CN" altLang="en-US" sz="2100" b="1" dirty="0">
              <a:latin typeface="黑体" panose="02010609060101010101" pitchFamily="49" charset="-122"/>
              <a:ea typeface="黑体" panose="02010609060101010101" pitchFamily="49" charset="-122"/>
            </a:endParaRPr>
          </a:p>
        </p:txBody>
      </p:sp>
      <p:sp>
        <p:nvSpPr>
          <p:cNvPr id="27652" name="TextBox 4"/>
          <p:cNvSpPr txBox="1">
            <a:spLocks noChangeArrowheads="1"/>
          </p:cNvSpPr>
          <p:nvPr/>
        </p:nvSpPr>
        <p:spPr bwMode="auto">
          <a:xfrm>
            <a:off x="816095" y="4466207"/>
            <a:ext cx="6387704" cy="496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228600" indent="-228600">
              <a:lnSpc>
                <a:spcPct val="150000"/>
              </a:lnSpc>
              <a:spcBef>
                <a:spcPts val="1800"/>
              </a:spcBef>
              <a:buClr>
                <a:schemeClr val="accent1"/>
              </a:buClr>
              <a:buFont typeface="Wingdings" panose="05000000000000000000" pitchFamily="2" charset="2"/>
              <a:buChar char="p"/>
              <a:defRPr sz="2100">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9pPr>
          </a:lstStyle>
          <a:p>
            <a:r>
              <a:rPr lang="zh-CN" altLang="en-US" b="1" dirty="0">
                <a:latin typeface="黑体" panose="02010609060101010101" pitchFamily="49" charset="-122"/>
                <a:ea typeface="黑体" panose="02010609060101010101" pitchFamily="49" charset="-122"/>
              </a:rPr>
              <a:t>其中</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是分类的数目。</a:t>
            </a:r>
            <a:endParaRPr lang="en-US" altLang="zh-CN" b="1" dirty="0">
              <a:latin typeface="黑体" panose="02010609060101010101" pitchFamily="49" charset="-122"/>
              <a:ea typeface="黑体" panose="02010609060101010101" pitchFamily="49" charset="-122"/>
            </a:endParaRPr>
          </a:p>
        </p:txBody>
      </p:sp>
      <p:pic>
        <p:nvPicPr>
          <p:cNvPr id="2765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51560" y="3232548"/>
            <a:ext cx="3078956" cy="1006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6858000" y="3019425"/>
            <a:ext cx="2245995" cy="1975485"/>
          </a:xfrm>
          <a:prstGeom prst="rect">
            <a:avLst/>
          </a:prstGeom>
        </p:spPr>
      </p:pic>
      <p:sp>
        <p:nvSpPr>
          <p:cNvPr id="28674" name="TextBox 1"/>
          <p:cNvSpPr txBox="1">
            <a:spLocks noChangeArrowheads="1"/>
          </p:cNvSpPr>
          <p:nvPr/>
        </p:nvSpPr>
        <p:spPr bwMode="auto">
          <a:xfrm>
            <a:off x="395646" y="246658"/>
            <a:ext cx="3482578" cy="422672"/>
          </a:xfrm>
          <a:prstGeom prst="rect">
            <a:avLst/>
          </a:prstGeom>
        </p:spPr>
        <p:txBody>
          <a:bodyPr vert="horz" lIns="91440" tIns="45720" rIns="91440" bIns="45720" rtlCol="0" anchor="ctr">
            <a:normAutofit fontScale="85000" lnSpcReduction="2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香农熵的性质</a:t>
            </a:r>
            <a:endParaRPr lang="zh-CN" altLang="en-US" dirty="0">
              <a:latin typeface="黑体" panose="02010609060101010101" pitchFamily="49" charset="-122"/>
              <a:ea typeface="黑体" panose="02010609060101010101" pitchFamily="49" charset="-122"/>
            </a:endParaRPr>
          </a:p>
        </p:txBody>
      </p:sp>
      <p:sp>
        <p:nvSpPr>
          <p:cNvPr id="28675" name="TextBox 4"/>
          <p:cNvSpPr txBox="1">
            <a:spLocks noChangeArrowheads="1"/>
          </p:cNvSpPr>
          <p:nvPr/>
        </p:nvSpPr>
        <p:spPr bwMode="auto">
          <a:xfrm>
            <a:off x="260952" y="1254324"/>
            <a:ext cx="863710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信息熵是信息的期望值，描述信息的</a:t>
            </a:r>
            <a:r>
              <a:rPr lang="zh-CN" altLang="en-US" sz="2100" b="1" dirty="0">
                <a:solidFill>
                  <a:srgbClr val="FF0000"/>
                </a:solidFill>
                <a:latin typeface="黑体" panose="02010609060101010101" pitchFamily="49" charset="-122"/>
                <a:ea typeface="黑体" panose="02010609060101010101" pitchFamily="49" charset="-122"/>
              </a:rPr>
              <a:t>不确定度</a:t>
            </a:r>
            <a:r>
              <a:rPr lang="zh-CN" altLang="en-US" sz="2100" b="1" dirty="0">
                <a:latin typeface="黑体" panose="02010609060101010101" pitchFamily="49" charset="-122"/>
                <a:ea typeface="黑体" panose="02010609060101010101" pitchFamily="49" charset="-122"/>
              </a:rPr>
              <a:t>。</a:t>
            </a:r>
            <a:r>
              <a:rPr lang="zh-CN" altLang="en-US" sz="2100" b="1" dirty="0">
                <a:solidFill>
                  <a:srgbClr val="FF0000"/>
                </a:solidFill>
                <a:latin typeface="黑体" panose="02010609060101010101" pitchFamily="49" charset="-122"/>
                <a:ea typeface="黑体" panose="02010609060101010101" pitchFamily="49" charset="-122"/>
              </a:rPr>
              <a:t>熵越大，表明集合信息的混乱程度越高，换句话说，集合信息混沌，其包含信息价值少</a:t>
            </a:r>
            <a:r>
              <a:rPr lang="zh-CN" altLang="en-US" sz="2100" b="1" dirty="0">
                <a:latin typeface="黑体" panose="02010609060101010101" pitchFamily="49" charset="-122"/>
                <a:ea typeface="黑体" panose="02010609060101010101" pitchFamily="49" charset="-122"/>
              </a:rPr>
              <a:t>。</a:t>
            </a:r>
            <a:endParaRPr lang="zh-CN" altLang="en-US" sz="2100" b="1" dirty="0">
              <a:latin typeface="黑体" panose="02010609060101010101" pitchFamily="49" charset="-122"/>
              <a:ea typeface="黑体" panose="02010609060101010101" pitchFamily="49" charset="-122"/>
            </a:endParaRPr>
          </a:p>
        </p:txBody>
      </p:sp>
      <p:sp>
        <p:nvSpPr>
          <p:cNvPr id="28676" name="TextBox 4"/>
          <p:cNvSpPr txBox="1">
            <a:spLocks noChangeArrowheads="1"/>
          </p:cNvSpPr>
          <p:nvPr/>
        </p:nvSpPr>
        <p:spPr bwMode="auto">
          <a:xfrm>
            <a:off x="351790" y="3429000"/>
            <a:ext cx="7987665" cy="1212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marL="228600" indent="-228600">
              <a:lnSpc>
                <a:spcPct val="150000"/>
              </a:lnSpc>
              <a:spcBef>
                <a:spcPts val="1800"/>
              </a:spcBef>
              <a:buClr>
                <a:schemeClr val="accent1"/>
              </a:buClr>
              <a:buFont typeface="Wingdings" panose="05000000000000000000" pitchFamily="2" charset="2"/>
              <a:buChar char="p"/>
              <a:defRPr sz="2100">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9pPr>
          </a:lstStyle>
          <a:p>
            <a:r>
              <a:rPr lang="zh-CN" altLang="en-US" dirty="0">
                <a:latin typeface="黑体" panose="02010609060101010101" pitchFamily="49" charset="-122"/>
                <a:ea typeface="黑体" panose="02010609060101010101" pitchFamily="49" charset="-122"/>
              </a:rPr>
              <a:t>以两个随机变量为例，熵可以表示如下，曲线如右：</a:t>
            </a:r>
            <a:endParaRPr lang="zh-CN" altLang="en-US" dirty="0">
              <a:latin typeface="黑体" panose="02010609060101010101" pitchFamily="49" charset="-122"/>
              <a:ea typeface="黑体" panose="02010609060101010101" pitchFamily="49" charset="-122"/>
            </a:endParaRPr>
          </a:p>
          <a:p>
            <a:endParaRPr lang="zh-CN" altLang="en-US" dirty="0">
              <a:highlight>
                <a:srgbClr val="FFFF00"/>
              </a:highlight>
              <a:latin typeface="黑体" panose="02010609060101010101" pitchFamily="49" charset="-122"/>
              <a:ea typeface="黑体" panose="02010609060101010101" pitchFamily="49" charset="-122"/>
            </a:endParaRPr>
          </a:p>
          <a:p>
            <a:pPr marL="0" indent="0">
              <a:buNone/>
            </a:pPr>
            <a:r>
              <a:rPr lang="en-US" altLang="zh-CN" dirty="0">
                <a:latin typeface="黑体" panose="02010609060101010101" pitchFamily="49" charset="-122"/>
                <a:ea typeface="黑体" panose="02010609060101010101" pitchFamily="49" charset="-122"/>
              </a:rPr>
              <a:t>Q:</a:t>
            </a:r>
            <a:r>
              <a:rPr lang="zh-CN" altLang="en-US" dirty="0">
                <a:latin typeface="黑体" panose="02010609060101010101" pitchFamily="49" charset="-122"/>
                <a:ea typeface="黑体" panose="02010609060101010101" pitchFamily="49" charset="-122"/>
              </a:rPr>
              <a:t>抛硬币的熵是多少？结合右图观察，该熵是大是小？代表什么？</a:t>
            </a:r>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4" name="TextBox 3"/>
              <p:cNvSpPr txBox="1"/>
              <p:nvPr/>
            </p:nvSpPr>
            <p:spPr>
              <a:xfrm>
                <a:off x="2286000" y="2388267"/>
                <a:ext cx="4572000" cy="97283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sz="2100" smtClean="0">
                          <a:latin typeface="Cambria Math" panose="02040503050406030204" pitchFamily="18" charset="0"/>
                        </a:rPr>
                        <m:t>H</m:t>
                      </m:r>
                      <m:r>
                        <a:rPr lang="en-US" sz="2100" i="0">
                          <a:latin typeface="Cambria Math" panose="02040503050406030204" pitchFamily="18" charset="0"/>
                        </a:rPr>
                        <m:t>=−</m:t>
                      </m:r>
                      <m:nary>
                        <m:naryPr>
                          <m:chr m:val="∑"/>
                          <m:grow m:val="on"/>
                          <m:limLoc m:val="undOvr"/>
                          <m:ctrlPr>
                            <a:rPr lang="en-US" sz="2100" i="1">
                              <a:latin typeface="Cambria Math" panose="02040503050406030204" pitchFamily="18" charset="0"/>
                            </a:rPr>
                          </m:ctrlPr>
                        </m:naryPr>
                        <m:sub>
                          <m:r>
                            <m:rPr>
                              <m:sty m:val="p"/>
                            </m:rPr>
                            <a:rPr lang="en-US" sz="2100" i="0">
                              <a:latin typeface="Cambria Math" panose="02040503050406030204" pitchFamily="18" charset="0"/>
                            </a:rPr>
                            <m:t>i</m:t>
                          </m:r>
                          <m:r>
                            <a:rPr lang="en-US" sz="2100" i="0">
                              <a:latin typeface="Cambria Math" panose="02040503050406030204" pitchFamily="18" charset="0"/>
                            </a:rPr>
                            <m:t>=</m:t>
                          </m:r>
                          <m:r>
                            <a:rPr lang="en-US" sz="2100" i="0">
                              <a:latin typeface="Cambria Math" panose="02040503050406030204" pitchFamily="18" charset="0"/>
                            </a:rPr>
                            <m:t>1</m:t>
                          </m:r>
                        </m:sub>
                        <m:sup>
                          <m:r>
                            <a:rPr lang="en-US" sz="2100" i="1">
                              <a:latin typeface="Cambria Math" panose="02040503050406030204" pitchFamily="18" charset="0"/>
                            </a:rPr>
                            <m:t>𝑛</m:t>
                          </m:r>
                        </m:sup>
                        <m:e>
                          <m:r>
                            <a:rPr lang="en-US" sz="2100" i="0">
                              <a:latin typeface="Cambria Math" panose="02040503050406030204" pitchFamily="18" charset="0"/>
                            </a:rPr>
                            <m:t> </m:t>
                          </m:r>
                        </m:e>
                      </m:nary>
                      <m:r>
                        <m:rPr>
                          <m:sty m:val="p"/>
                        </m:rPr>
                        <a:rPr lang="en-US" sz="2100" i="0">
                          <a:latin typeface="Cambria Math" panose="02040503050406030204" pitchFamily="18" charset="0"/>
                        </a:rPr>
                        <m:t>p</m:t>
                      </m:r>
                      <m:d>
                        <m:dPr>
                          <m:ctrlPr>
                            <a:rPr lang="en-US" sz="2100" i="1">
                              <a:latin typeface="Cambria Math" panose="02040503050406030204" pitchFamily="18" charset="0"/>
                            </a:rPr>
                          </m:ctrlPr>
                        </m:dPr>
                        <m:e>
                          <m:sSub>
                            <m:sSubPr>
                              <m:ctrlPr>
                                <a:rPr lang="en-US" sz="2100" i="1">
                                  <a:solidFill>
                                    <a:srgbClr val="836967"/>
                                  </a:solidFill>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𝑖</m:t>
                              </m:r>
                            </m:sub>
                          </m:sSub>
                        </m:e>
                      </m:d>
                      <m:func>
                        <m:funcPr>
                          <m:ctrlPr>
                            <a:rPr lang="en-US" sz="2100" i="1">
                              <a:latin typeface="Cambria Math" panose="02040503050406030204" pitchFamily="18" charset="0"/>
                            </a:rPr>
                          </m:ctrlPr>
                        </m:funcPr>
                        <m:fName>
                          <m:sSub>
                            <m:sSubPr>
                              <m:ctrlPr>
                                <a:rPr lang="en-US" sz="2100" i="1">
                                  <a:solidFill>
                                    <a:srgbClr val="836967"/>
                                  </a:solidFill>
                                  <a:latin typeface="Cambria Math" panose="02040503050406030204" pitchFamily="18" charset="0"/>
                                </a:rPr>
                              </m:ctrlPr>
                            </m:sSubPr>
                            <m:e>
                              <m:r>
                                <m:rPr>
                                  <m:sty m:val="p"/>
                                </m:rPr>
                                <a:rPr lang="en-US" sz="2100" i="0">
                                  <a:latin typeface="Cambria Math" panose="02040503050406030204" pitchFamily="18" charset="0"/>
                                </a:rPr>
                                <m:t>log</m:t>
                              </m:r>
                            </m:e>
                            <m:sub>
                              <m:r>
                                <a:rPr lang="en-US" sz="2100" i="0">
                                  <a:latin typeface="Cambria Math" panose="02040503050406030204" pitchFamily="18" charset="0"/>
                                </a:rPr>
                                <m:t>2</m:t>
                              </m:r>
                            </m:sub>
                          </m:sSub>
                        </m:fName>
                        <m:e>
                          <m:r>
                            <a:rPr lang="en-US" sz="2100" i="1">
                              <a:latin typeface="Cambria Math" panose="02040503050406030204" pitchFamily="18" charset="0"/>
                            </a:rPr>
                            <m:t>𝑝</m:t>
                          </m:r>
                        </m:e>
                      </m:func>
                      <m:d>
                        <m:dPr>
                          <m:ctrlPr>
                            <a:rPr lang="en-US" sz="2100" i="1">
                              <a:latin typeface="Cambria Math" panose="02040503050406030204" pitchFamily="18" charset="0"/>
                            </a:rPr>
                          </m:ctrlPr>
                        </m:dPr>
                        <m:e>
                          <m:sSub>
                            <m:sSubPr>
                              <m:ctrlPr>
                                <a:rPr lang="en-US" sz="2100" i="1">
                                  <a:solidFill>
                                    <a:srgbClr val="836967"/>
                                  </a:solidFill>
                                  <a:latin typeface="Cambria Math" panose="02040503050406030204" pitchFamily="18" charset="0"/>
                                </a:rPr>
                              </m:ctrlPr>
                            </m:sSubPr>
                            <m:e>
                              <m:r>
                                <a:rPr lang="en-US" sz="2100" i="1">
                                  <a:latin typeface="Cambria Math" panose="02040503050406030204" pitchFamily="18" charset="0"/>
                                </a:rPr>
                                <m:t>𝑥</m:t>
                              </m:r>
                            </m:e>
                            <m:sub>
                              <m:r>
                                <a:rPr lang="en-US" sz="2100" i="1">
                                  <a:latin typeface="Cambria Math" panose="02040503050406030204" pitchFamily="18" charset="0"/>
                                </a:rPr>
                                <m:t>𝑖</m:t>
                              </m:r>
                            </m:sub>
                          </m:sSub>
                        </m:e>
                      </m:d>
                    </m:oMath>
                  </m:oMathPara>
                </a14:m>
                <a:endParaRPr lang="en-US" sz="2100" dirty="0"/>
              </a:p>
            </p:txBody>
          </p:sp>
        </mc:Choice>
        <mc:Fallback>
          <p:sp>
            <p:nvSpPr>
              <p:cNvPr id="4" name="TextBox 3"/>
              <p:cNvSpPr txBox="1">
                <a:spLocks noRot="1" noChangeAspect="1" noMove="1" noResize="1" noEditPoints="1" noAdjustHandles="1" noChangeArrowheads="1" noChangeShapeType="1" noTextEdit="1"/>
              </p:cNvSpPr>
              <p:nvPr/>
            </p:nvSpPr>
            <p:spPr>
              <a:xfrm>
                <a:off x="2286000" y="2388267"/>
                <a:ext cx="4572000" cy="972830"/>
              </a:xfrm>
              <a:prstGeom prst="rect">
                <a:avLst/>
              </a:prstGeom>
              <a:blipFill rotWithShape="1">
                <a:blip r:embed="rId2"/>
                <a:stretch>
                  <a:fillRect t="-3" b="4"/>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719580" y="5568950"/>
            <a:ext cx="4785360" cy="546735"/>
          </a:xfrm>
          <a:prstGeom prst="rect">
            <a:avLst/>
          </a:prstGeom>
        </p:spPr>
      </p:pic>
      <p:pic>
        <p:nvPicPr>
          <p:cNvPr id="6" name="图片 5"/>
          <p:cNvPicPr>
            <a:picLocks noChangeAspect="1"/>
          </p:cNvPicPr>
          <p:nvPr/>
        </p:nvPicPr>
        <p:blipFill>
          <a:blip r:embed="rId4"/>
          <a:stretch>
            <a:fillRect/>
          </a:stretch>
        </p:blipFill>
        <p:spPr>
          <a:xfrm>
            <a:off x="1607820" y="4141470"/>
            <a:ext cx="5008245" cy="5702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350" y="120137"/>
            <a:ext cx="7886700" cy="777874"/>
          </a:xfrm>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p:sp>
        <p:nvSpPr>
          <p:cNvPr id="5" name="内容占位符 4"/>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a:t>
            </a:r>
            <a:r>
              <a:rPr lang="zh-CN" altLang="en-US" b="1" dirty="0">
                <a:solidFill>
                  <a:srgbClr val="C00000"/>
                </a:solidFill>
                <a:latin typeface="黑体" panose="02010609060101010101" pitchFamily="49" charset="-122"/>
                <a:ea typeface="黑体" panose="02010609060101010101" pitchFamily="49" charset="-122"/>
              </a:rPr>
              <a:t>信息熵</a:t>
            </a:r>
            <a:r>
              <a:rPr lang="zh-CN" altLang="en-US" b="1" dirty="0">
                <a:latin typeface="黑体" panose="02010609060101010101" pitchFamily="49" charset="-122"/>
                <a:ea typeface="黑体" panose="02010609060101010101" pitchFamily="49" charset="-122"/>
              </a:rPr>
              <a:t>”是</a:t>
            </a:r>
            <a:r>
              <a:rPr lang="zh-CN" altLang="en-US" b="1" dirty="0">
                <a:solidFill>
                  <a:srgbClr val="C00000"/>
                </a:solidFill>
                <a:latin typeface="黑体" panose="02010609060101010101" pitchFamily="49" charset="-122"/>
                <a:ea typeface="黑体" panose="02010609060101010101" pitchFamily="49" charset="-122"/>
              </a:rPr>
              <a:t>度量样本集合纯度最常用的一种指标</a:t>
            </a:r>
            <a:r>
              <a:rPr lang="zh-CN" altLang="en-US" b="1" dirty="0">
                <a:latin typeface="黑体" panose="02010609060101010101" pitchFamily="49" charset="-122"/>
                <a:ea typeface="黑体" panose="02010609060101010101" pitchFamily="49" charset="-122"/>
              </a:rPr>
              <a:t>，假定当前样本集合</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中第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类样本所占的比例为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，则</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的信息熵定义为</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endParaRPr lang="en-US" altLang="zh-CN" dirty="0"/>
          </a:p>
          <a:p>
            <a:endParaRPr lang="en-US" altLang="zh-CN" dirty="0"/>
          </a:p>
          <a:p>
            <a:pPr marL="0" indent="0">
              <a:buNone/>
            </a:pPr>
            <a:r>
              <a:rPr lang="zh-CN" altLang="en-US" dirty="0"/>
              <a:t>           </a:t>
            </a:r>
            <a:r>
              <a:rPr lang="zh-CN" altLang="en-US" b="1" dirty="0">
                <a:latin typeface="黑体" panose="02010609060101010101" pitchFamily="49" charset="-122"/>
                <a:ea typeface="黑体" panose="02010609060101010101" pitchFamily="49" charset="-122"/>
              </a:rPr>
              <a:t>的值越小，则  的纯度越高</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计算信息熵时约定：若        ，则</a:t>
            </a: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的最小值为</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，最大值为</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endParaRPr lang="en-US" altLang="zh-CN" dirty="0"/>
          </a:p>
        </p:txBody>
      </p:sp>
      <p:graphicFrame>
        <p:nvGraphicFramePr>
          <p:cNvPr id="6" name="内容占位符 3"/>
          <p:cNvGraphicFramePr>
            <a:graphicFrameLocks noChangeAspect="1"/>
          </p:cNvGraphicFramePr>
          <p:nvPr/>
        </p:nvGraphicFramePr>
        <p:xfrm>
          <a:off x="2547938" y="2135188"/>
          <a:ext cx="3432175" cy="1003300"/>
        </p:xfrm>
        <a:graphic>
          <a:graphicData uri="http://schemas.openxmlformats.org/presentationml/2006/ole">
            <mc:AlternateContent xmlns:mc="http://schemas.openxmlformats.org/markup-compatibility/2006">
              <mc:Choice xmlns:v="urn:schemas-microsoft-com:vml" Requires="v">
                <p:oleObj spid="_x0000_s27941" name="Formula" r:id="rId1" imgW="12334875" imgH="3600450" progId="Equation.Ribbit">
                  <p:embed/>
                </p:oleObj>
              </mc:Choice>
              <mc:Fallback>
                <p:oleObj name="Formula" r:id="rId1" imgW="12334875" imgH="3600450" progId="Equation.Ribbit">
                  <p:embed/>
                  <p:pic>
                    <p:nvPicPr>
                      <p:cNvPr id="0" name="图片 27940"/>
                      <p:cNvPicPr/>
                      <p:nvPr/>
                    </p:nvPicPr>
                    <p:blipFill>
                      <a:blip r:embed="rId2"/>
                      <a:stretch>
                        <a:fillRect/>
                      </a:stretch>
                    </p:blipFill>
                    <p:spPr>
                      <a:xfrm>
                        <a:off x="2547938" y="2135188"/>
                        <a:ext cx="3432175" cy="10033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478247" y="3914775"/>
          <a:ext cx="1427162" cy="330200"/>
        </p:xfrm>
        <a:graphic>
          <a:graphicData uri="http://schemas.openxmlformats.org/presentationml/2006/ole">
            <mc:AlternateContent xmlns:mc="http://schemas.openxmlformats.org/markup-compatibility/2006">
              <mc:Choice xmlns:v="urn:schemas-microsoft-com:vml" Requires="v">
                <p:oleObj spid="_x0000_s3" name="Formula" r:id="rId3" imgW="5514975" imgH="1266825" progId="Equation.Ribbit">
                  <p:embed/>
                </p:oleObj>
              </mc:Choice>
              <mc:Fallback>
                <p:oleObj name="Formula" r:id="rId3" imgW="5514975" imgH="1266825" progId="Equation.Ribbit">
                  <p:embed/>
                  <p:pic>
                    <p:nvPicPr>
                      <p:cNvPr id="0" name="图片 2"/>
                      <p:cNvPicPr/>
                      <p:nvPr/>
                    </p:nvPicPr>
                    <p:blipFill>
                      <a:blip r:embed="rId4"/>
                      <a:stretch>
                        <a:fillRect/>
                      </a:stretch>
                    </p:blipFill>
                    <p:spPr>
                      <a:xfrm>
                        <a:off x="5478247" y="3914775"/>
                        <a:ext cx="1427162" cy="3302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715862" y="3941763"/>
          <a:ext cx="663575" cy="303212"/>
        </p:xfrm>
        <a:graphic>
          <a:graphicData uri="http://schemas.openxmlformats.org/presentationml/2006/ole">
            <mc:AlternateContent xmlns:mc="http://schemas.openxmlformats.org/markup-compatibility/2006">
              <mc:Choice xmlns:v="urn:schemas-microsoft-com:vml" Requires="v">
                <p:oleObj spid="_x0000_s4" name="Formula" r:id="rId5" imgW="2705100" imgH="1238250" progId="Equation.Ribbit">
                  <p:embed/>
                </p:oleObj>
              </mc:Choice>
              <mc:Fallback>
                <p:oleObj name="Formula" r:id="rId5" imgW="2705100" imgH="1238250" progId="Equation.Ribbit">
                  <p:embed/>
                  <p:pic>
                    <p:nvPicPr>
                      <p:cNvPr id="0" name="图片 3"/>
                      <p:cNvPicPr/>
                      <p:nvPr/>
                    </p:nvPicPr>
                    <p:blipFill>
                      <a:blip r:embed="rId6"/>
                      <a:stretch>
                        <a:fillRect/>
                      </a:stretch>
                    </p:blipFill>
                    <p:spPr>
                      <a:xfrm>
                        <a:off x="3715862" y="3941763"/>
                        <a:ext cx="663575" cy="30321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720398" y="4391025"/>
          <a:ext cx="755650" cy="306388"/>
        </p:xfrm>
        <a:graphic>
          <a:graphicData uri="http://schemas.openxmlformats.org/presentationml/2006/ole">
            <mc:AlternateContent xmlns:mc="http://schemas.openxmlformats.org/markup-compatibility/2006">
              <mc:Choice xmlns:v="urn:schemas-microsoft-com:vml" Requires="v">
                <p:oleObj spid="_x0000_s7" name="Formula" r:id="rId7" imgW="3286125" imgH="1333500" progId="Equation.Ribbit">
                  <p:embed/>
                </p:oleObj>
              </mc:Choice>
              <mc:Fallback>
                <p:oleObj name="Formula" r:id="rId7" imgW="3286125" imgH="1333500" progId="Equation.Ribbit">
                  <p:embed/>
                  <p:pic>
                    <p:nvPicPr>
                      <p:cNvPr id="0" name="图片 6"/>
                      <p:cNvPicPr/>
                      <p:nvPr/>
                    </p:nvPicPr>
                    <p:blipFill>
                      <a:blip r:embed="rId8"/>
                      <a:stretch>
                        <a:fillRect/>
                      </a:stretch>
                    </p:blipFill>
                    <p:spPr>
                      <a:xfrm>
                        <a:off x="4720398" y="4391025"/>
                        <a:ext cx="755650" cy="306388"/>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242050" y="1541463"/>
          <a:ext cx="1905000" cy="306387"/>
        </p:xfrm>
        <a:graphic>
          <a:graphicData uri="http://schemas.openxmlformats.org/presentationml/2006/ole">
            <mc:AlternateContent xmlns:mc="http://schemas.openxmlformats.org/markup-compatibility/2006">
              <mc:Choice xmlns:v="urn:schemas-microsoft-com:vml" Requires="v">
                <p:oleObj spid="_x0000_s12" name="Formula" r:id="rId9" imgW="8296275" imgH="1333500" progId="Equation.Ribbit">
                  <p:embed/>
                </p:oleObj>
              </mc:Choice>
              <mc:Fallback>
                <p:oleObj name="Formula" r:id="rId9" imgW="8296275" imgH="1333500" progId="Equation.Ribbit">
                  <p:embed/>
                  <p:pic>
                    <p:nvPicPr>
                      <p:cNvPr id="0" name="图片 11"/>
                      <p:cNvPicPr/>
                      <p:nvPr/>
                    </p:nvPicPr>
                    <p:blipFill>
                      <a:blip r:embed="rId10"/>
                      <a:stretch>
                        <a:fillRect/>
                      </a:stretch>
                    </p:blipFill>
                    <p:spPr>
                      <a:xfrm>
                        <a:off x="6242050" y="1541463"/>
                        <a:ext cx="1905000" cy="30638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445638" y="1553988"/>
          <a:ext cx="205130" cy="251284"/>
        </p:xfrm>
        <a:graphic>
          <a:graphicData uri="http://schemas.openxmlformats.org/presentationml/2006/ole">
            <mc:AlternateContent xmlns:mc="http://schemas.openxmlformats.org/markup-compatibility/2006">
              <mc:Choice xmlns:v="urn:schemas-microsoft-com:vml" Requires="v">
                <p:oleObj spid="_x0000_s14" name="Formula" r:id="rId11" imgW="952500" imgH="1162050" progId="Equation.Ribbit">
                  <p:embed/>
                </p:oleObj>
              </mc:Choice>
              <mc:Fallback>
                <p:oleObj name="Formula" r:id="rId11" imgW="952500" imgH="1162050" progId="Equation.Ribbit">
                  <p:embed/>
                  <p:pic>
                    <p:nvPicPr>
                      <p:cNvPr id="0" name="图片 13"/>
                      <p:cNvPicPr/>
                      <p:nvPr/>
                    </p:nvPicPr>
                    <p:blipFill>
                      <a:blip r:embed="rId12"/>
                      <a:stretch>
                        <a:fillRect/>
                      </a:stretch>
                    </p:blipFill>
                    <p:spPr>
                      <a:xfrm>
                        <a:off x="1445638" y="1553988"/>
                        <a:ext cx="205130" cy="251284"/>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2339792" y="1530350"/>
          <a:ext cx="141288" cy="293688"/>
        </p:xfrm>
        <a:graphic>
          <a:graphicData uri="http://schemas.openxmlformats.org/presentationml/2006/ole">
            <mc:AlternateContent xmlns:mc="http://schemas.openxmlformats.org/markup-compatibility/2006">
              <mc:Choice xmlns:v="urn:schemas-microsoft-com:vml" Requires="v">
                <p:oleObj spid="_x0000_s16" name="Formula" r:id="rId13" imgW="600075" imgH="1257300" progId="Equation.Ribbit">
                  <p:embed/>
                </p:oleObj>
              </mc:Choice>
              <mc:Fallback>
                <p:oleObj name="Formula" r:id="rId13" imgW="600075" imgH="1257300" progId="Equation.Ribbit">
                  <p:embed/>
                  <p:pic>
                    <p:nvPicPr>
                      <p:cNvPr id="0" name="图片 15"/>
                      <p:cNvPicPr/>
                      <p:nvPr/>
                    </p:nvPicPr>
                    <p:blipFill>
                      <a:blip r:embed="rId14"/>
                      <a:stretch>
                        <a:fillRect/>
                      </a:stretch>
                    </p:blipFill>
                    <p:spPr>
                      <a:xfrm>
                        <a:off x="2339792" y="1530350"/>
                        <a:ext cx="141288" cy="29368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888035" y="1862386"/>
          <a:ext cx="205130" cy="251284"/>
        </p:xfrm>
        <a:graphic>
          <a:graphicData uri="http://schemas.openxmlformats.org/presentationml/2006/ole">
            <mc:AlternateContent xmlns:mc="http://schemas.openxmlformats.org/markup-compatibility/2006">
              <mc:Choice xmlns:v="urn:schemas-microsoft-com:vml" Requires="v">
                <p:oleObj spid="_x0000_s18" name="Formula" r:id="rId15" imgW="952500" imgH="1162050" progId="Equation.Ribbit">
                  <p:embed/>
                </p:oleObj>
              </mc:Choice>
              <mc:Fallback>
                <p:oleObj name="Formula" r:id="rId15" imgW="952500" imgH="1162050" progId="Equation.Ribbit">
                  <p:embed/>
                  <p:pic>
                    <p:nvPicPr>
                      <p:cNvPr id="0" name="图片 17"/>
                      <p:cNvPicPr/>
                      <p:nvPr/>
                    </p:nvPicPr>
                    <p:blipFill>
                      <a:blip r:embed="rId12"/>
                      <a:stretch>
                        <a:fillRect/>
                      </a:stretch>
                    </p:blipFill>
                    <p:spPr>
                      <a:xfrm>
                        <a:off x="888035" y="1862386"/>
                        <a:ext cx="205130" cy="251284"/>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5446559" y="1541463"/>
          <a:ext cx="307975" cy="277812"/>
        </p:xfrm>
        <a:graphic>
          <a:graphicData uri="http://schemas.openxmlformats.org/presentationml/2006/ole">
            <mc:AlternateContent xmlns:mc="http://schemas.openxmlformats.org/markup-compatibility/2006">
              <mc:Choice xmlns:v="urn:schemas-microsoft-com:vml" Requires="v">
                <p:oleObj spid="_x0000_s20" name="Formula" r:id="rId16" imgW="1095375" imgH="981075" progId="Equation.Ribbit">
                  <p:embed/>
                </p:oleObj>
              </mc:Choice>
              <mc:Fallback>
                <p:oleObj name="Formula" r:id="rId16" imgW="1095375" imgH="981075" progId="Equation.Ribbit">
                  <p:embed/>
                  <p:pic>
                    <p:nvPicPr>
                      <p:cNvPr id="0" name="图片 19"/>
                      <p:cNvPicPr/>
                      <p:nvPr/>
                    </p:nvPicPr>
                    <p:blipFill>
                      <a:blip r:embed="rId17"/>
                      <a:stretch>
                        <a:fillRect/>
                      </a:stretch>
                    </p:blipFill>
                    <p:spPr>
                      <a:xfrm>
                        <a:off x="5446559" y="1541463"/>
                        <a:ext cx="307975" cy="277812"/>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596900" y="3529013"/>
          <a:ext cx="787400" cy="296862"/>
        </p:xfrm>
        <a:graphic>
          <a:graphicData uri="http://schemas.openxmlformats.org/presentationml/2006/ole">
            <mc:AlternateContent xmlns:mc="http://schemas.openxmlformats.org/markup-compatibility/2006">
              <mc:Choice xmlns:v="urn:schemas-microsoft-com:vml" Requires="v">
                <p:oleObj spid="_x0000_s22" name="Formula" r:id="rId18" imgW="3543300" imgH="1333500" progId="Equation.Ribbit">
                  <p:embed/>
                </p:oleObj>
              </mc:Choice>
              <mc:Fallback>
                <p:oleObj name="Formula" r:id="rId18" imgW="3543300" imgH="1333500" progId="Equation.Ribbit">
                  <p:embed/>
                  <p:pic>
                    <p:nvPicPr>
                      <p:cNvPr id="0" name="图片 21"/>
                      <p:cNvPicPr/>
                      <p:nvPr/>
                    </p:nvPicPr>
                    <p:blipFill>
                      <a:blip r:embed="rId19"/>
                      <a:stretch>
                        <a:fillRect/>
                      </a:stretch>
                    </p:blipFill>
                    <p:spPr>
                      <a:xfrm>
                        <a:off x="596900" y="3529013"/>
                        <a:ext cx="787400" cy="296862"/>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3140430" y="3569830"/>
          <a:ext cx="205130" cy="251284"/>
        </p:xfrm>
        <a:graphic>
          <a:graphicData uri="http://schemas.openxmlformats.org/presentationml/2006/ole">
            <mc:AlternateContent xmlns:mc="http://schemas.openxmlformats.org/markup-compatibility/2006">
              <mc:Choice xmlns:v="urn:schemas-microsoft-com:vml" Requires="v">
                <p:oleObj spid="_x0000_s24" name="Formula" r:id="rId20" imgW="952500" imgH="1162050" progId="Equation.Ribbit">
                  <p:embed/>
                </p:oleObj>
              </mc:Choice>
              <mc:Fallback>
                <p:oleObj name="Formula" r:id="rId20" imgW="952500" imgH="1162050" progId="Equation.Ribbit">
                  <p:embed/>
                  <p:pic>
                    <p:nvPicPr>
                      <p:cNvPr id="0" name="图片 23"/>
                      <p:cNvPicPr/>
                      <p:nvPr/>
                    </p:nvPicPr>
                    <p:blipFill>
                      <a:blip r:embed="rId12"/>
                      <a:stretch>
                        <a:fillRect/>
                      </a:stretch>
                    </p:blipFill>
                    <p:spPr>
                      <a:xfrm>
                        <a:off x="3140430" y="3569830"/>
                        <a:ext cx="205130" cy="251284"/>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712788" y="4384675"/>
          <a:ext cx="836612" cy="314325"/>
        </p:xfrm>
        <a:graphic>
          <a:graphicData uri="http://schemas.openxmlformats.org/presentationml/2006/ole">
            <mc:AlternateContent xmlns:mc="http://schemas.openxmlformats.org/markup-compatibility/2006">
              <mc:Choice xmlns:v="urn:schemas-microsoft-com:vml" Requires="v">
                <p:oleObj spid="_x0000_s26" name="Formula" r:id="rId21" imgW="3543300" imgH="1333500" progId="Equation.Ribbit">
                  <p:embed/>
                </p:oleObj>
              </mc:Choice>
              <mc:Fallback>
                <p:oleObj name="Formula" r:id="rId21" imgW="3543300" imgH="1333500" progId="Equation.Ribbit">
                  <p:embed/>
                  <p:pic>
                    <p:nvPicPr>
                      <p:cNvPr id="0" name="图片 25"/>
                      <p:cNvPicPr/>
                      <p:nvPr/>
                    </p:nvPicPr>
                    <p:blipFill>
                      <a:blip r:embed="rId19"/>
                      <a:stretch>
                        <a:fillRect/>
                      </a:stretch>
                    </p:blipFill>
                    <p:spPr>
                      <a:xfrm>
                        <a:off x="712788" y="4384675"/>
                        <a:ext cx="836612" cy="314325"/>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3018375" y="4394200"/>
          <a:ext cx="149225" cy="325438"/>
        </p:xfrm>
        <a:graphic>
          <a:graphicData uri="http://schemas.openxmlformats.org/presentationml/2006/ole">
            <mc:AlternateContent xmlns:mc="http://schemas.openxmlformats.org/markup-compatibility/2006">
              <mc:Choice xmlns:v="urn:schemas-microsoft-com:vml" Requires="v">
                <p:oleObj spid="_x0000_s28" name="Formula" r:id="rId22" imgW="561975" imgH="1219200" progId="Equation.Ribbit">
                  <p:embed/>
                </p:oleObj>
              </mc:Choice>
              <mc:Fallback>
                <p:oleObj name="Formula" r:id="rId22" imgW="561975" imgH="1219200" progId="Equation.Ribbit">
                  <p:embed/>
                  <p:pic>
                    <p:nvPicPr>
                      <p:cNvPr id="0" name="图片 27"/>
                      <p:cNvPicPr/>
                      <p:nvPr/>
                    </p:nvPicPr>
                    <p:blipFill>
                      <a:blip r:embed="rId23"/>
                      <a:stretch>
                        <a:fillRect/>
                      </a:stretch>
                    </p:blipFill>
                    <p:spPr>
                      <a:xfrm>
                        <a:off x="3018375" y="4394200"/>
                        <a:ext cx="149225" cy="325438"/>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r>
                  <a:rPr lang="zh-CN" altLang="en-US" b="1" dirty="0">
                    <a:latin typeface="黑体" panose="02010609060101010101" pitchFamily="49" charset="-122"/>
                    <a:ea typeface="黑体" panose="02010609060101010101" pitchFamily="49" charset="-122"/>
                  </a:rPr>
                  <a:t>离散属性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有</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个可能的取值             ，用</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来进行划分，则会产生</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个分支结点，其中第  个分支结点包含了  中所有在属性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上取值为  </a:t>
                </a:r>
                <a14:m>
                  <m:oMath xmlns:m="http://schemas.openxmlformats.org/officeDocument/2006/math">
                    <m:r>
                      <a:rPr lang="en-US" altLang="zh-CN" b="1" i="0" smtClean="0">
                        <a:latin typeface="Cambria Math" panose="02040503050406030204" pitchFamily="18" charset="0"/>
                      </a:rPr>
                      <m:t> </m:t>
                    </m:r>
                    <m:r>
                      <a:rPr lang="en-US" altLang="zh-CN" b="1" i="1" smtClean="0">
                        <a:latin typeface="Cambria Math" panose="02040503050406030204" pitchFamily="18" charset="0"/>
                      </a:rPr>
                      <m:t> </m:t>
                    </m:r>
                    <m:r>
                      <a:rPr lang="zh-CN" altLang="en-US" b="1" i="1">
                        <a:latin typeface="Cambria Math" panose="02040503050406030204" pitchFamily="18" charset="0"/>
                      </a:rPr>
                      <m:t>的样本，记为</m:t>
                    </m:r>
                    <m:r>
                      <a:rPr lang="en-US" altLang="zh-CN" b="1" i="1" smtClean="0">
                        <a:latin typeface="Cambria Math" panose="02040503050406030204" pitchFamily="18" charset="0"/>
                      </a:rPr>
                      <m:t>     </m:t>
                    </m:r>
                    <m:r>
                      <a:rPr lang="zh-CN" altLang="en-US" b="1" i="1" smtClean="0">
                        <a:latin typeface="Cambria Math" panose="02040503050406030204" pitchFamily="18" charset="0"/>
                      </a:rPr>
                      <m:t>。</m:t>
                    </m:r>
                    <m:r>
                      <a:rPr lang="zh-CN" altLang="en-US" b="1" i="1">
                        <a:latin typeface="Cambria Math" panose="02040503050406030204" pitchFamily="18" charset="0"/>
                      </a:rPr>
                      <m:t>则可计算出</m:t>
                    </m:r>
                  </m:oMath>
                </a14:m>
                <a:r>
                  <a:rPr lang="zh-CN" altLang="en-US" b="1" dirty="0">
                    <a:latin typeface="黑体" panose="02010609060101010101" pitchFamily="49" charset="-122"/>
                    <a:ea typeface="黑体" panose="02010609060101010101" pitchFamily="49" charset="-122"/>
                  </a:rPr>
                  <a:t>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对样本集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进行划分所获得的“信息增益”</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342900" indent="-342900"/>
                <a:r>
                  <a:rPr lang="en-US" altLang="zh-CN" dirty="0"/>
                  <a:t> </a:t>
                </a:r>
                <a:r>
                  <a:rPr lang="zh-CN" altLang="en-US" b="1" dirty="0">
                    <a:latin typeface="黑体" panose="02010609060101010101" pitchFamily="49" charset="-122"/>
                    <a:ea typeface="黑体" panose="02010609060101010101" pitchFamily="49" charset="-122"/>
                  </a:rPr>
                  <a:t>一般而言，</a:t>
                </a:r>
                <a:r>
                  <a:rPr lang="zh-CN" altLang="en-US" b="1" dirty="0">
                    <a:solidFill>
                      <a:srgbClr val="C00000"/>
                    </a:solidFill>
                    <a:latin typeface="黑体" panose="02010609060101010101" pitchFamily="49" charset="-122"/>
                    <a:ea typeface="黑体" panose="02010609060101010101" pitchFamily="49" charset="-122"/>
                  </a:rPr>
                  <a:t>信息增益越大</a:t>
                </a:r>
                <a:r>
                  <a:rPr lang="zh-CN" altLang="en-US" b="1" dirty="0">
                    <a:latin typeface="黑体" panose="02010609060101010101" pitchFamily="49" charset="-122"/>
                    <a:ea typeface="黑体" panose="02010609060101010101" pitchFamily="49" charset="-122"/>
                  </a:rPr>
                  <a:t>，则意味着使用属性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来进行划分所获得的“</a:t>
                </a:r>
                <a:r>
                  <a:rPr lang="zh-CN" altLang="en-US" b="1" dirty="0">
                    <a:solidFill>
                      <a:srgbClr val="C00000"/>
                    </a:solidFill>
                    <a:latin typeface="黑体" panose="02010609060101010101" pitchFamily="49" charset="-122"/>
                    <a:ea typeface="黑体" panose="02010609060101010101" pitchFamily="49" charset="-122"/>
                  </a:rPr>
                  <a:t>纯度提升</a:t>
                </a:r>
                <a:r>
                  <a:rPr lang="zh-CN" altLang="en-US" b="1" dirty="0">
                    <a:latin typeface="黑体" panose="02010609060101010101" pitchFamily="49" charset="-122"/>
                    <a:ea typeface="黑体" panose="02010609060101010101" pitchFamily="49" charset="-122"/>
                  </a:rPr>
                  <a:t>”越大</a:t>
                </a:r>
                <a:endParaRPr lang="en-US" altLang="zh-CN" b="1" dirty="0">
                  <a:latin typeface="黑体" panose="02010609060101010101" pitchFamily="49" charset="-122"/>
                  <a:ea typeface="黑体" panose="02010609060101010101" pitchFamily="49" charset="-122"/>
                </a:endParaRPr>
              </a:p>
              <a:p>
                <a:pPr marL="228600" lvl="1">
                  <a:spcBef>
                    <a:spcPts val="1000"/>
                  </a:spcBef>
                  <a:buSzPct val="100000"/>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 </a:t>
                </a:r>
                <a:r>
                  <a:rPr lang="en-US" altLang="zh-CN" sz="2200" b="1" dirty="0">
                    <a:latin typeface="黑体" panose="02010609060101010101" pitchFamily="49" charset="-122"/>
                    <a:ea typeface="黑体" panose="02010609060101010101" pitchFamily="49" charset="-122"/>
                  </a:rPr>
                  <a:t>ID3</a:t>
                </a:r>
                <a:r>
                  <a:rPr lang="zh-CN" altLang="en-US" sz="2200" b="1" dirty="0">
                    <a:latin typeface="黑体" panose="02010609060101010101" pitchFamily="49" charset="-122"/>
                    <a:ea typeface="黑体" panose="02010609060101010101" pitchFamily="49" charset="-122"/>
                  </a:rPr>
                  <a:t>决策树学习算法</a:t>
                </a:r>
                <a:r>
                  <a:rPr lang="en-US" altLang="zh-CN" sz="1600" b="1" dirty="0">
                    <a:latin typeface="黑体" panose="02010609060101010101" pitchFamily="49" charset="-122"/>
                    <a:ea typeface="黑体" panose="02010609060101010101" pitchFamily="49" charset="-122"/>
                  </a:rPr>
                  <a:t>[Quinlan, 1986]</a:t>
                </a:r>
                <a:r>
                  <a:rPr lang="zh-CN" altLang="en-US" sz="2200" b="1" dirty="0">
                    <a:latin typeface="黑体" panose="02010609060101010101" pitchFamily="49" charset="-122"/>
                    <a:ea typeface="黑体" panose="02010609060101010101" pitchFamily="49" charset="-122"/>
                  </a:rPr>
                  <a:t>以信息增益为准则来选择划分属性</a:t>
                </a:r>
                <a:endParaRPr lang="zh-CN" altLang="en-US" sz="2200" b="1" dirty="0">
                  <a:latin typeface="黑体" panose="02010609060101010101" pitchFamily="49" charset="-122"/>
                  <a:ea typeface="黑体" panose="02010609060101010101" pitchFamily="49"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6" b="6"/>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nvGraphicFramePr>
        <p:xfrm>
          <a:off x="1520825" y="2408238"/>
          <a:ext cx="6121400" cy="1066800"/>
        </p:xfrm>
        <a:graphic>
          <a:graphicData uri="http://schemas.openxmlformats.org/presentationml/2006/ole">
            <mc:AlternateContent xmlns:mc="http://schemas.openxmlformats.org/markup-compatibility/2006">
              <mc:Choice xmlns:v="urn:schemas-microsoft-com:vml" Requires="v">
                <p:oleObj spid="_x0000_s27941" name="Formula" r:id="rId2" imgW="19878675" imgH="3467100" progId="Equation.Ribbit">
                  <p:embed/>
                </p:oleObj>
              </mc:Choice>
              <mc:Fallback>
                <p:oleObj name="Formula" r:id="rId2" imgW="19878675" imgH="3467100" progId="Equation.Ribbit">
                  <p:embed/>
                  <p:pic>
                    <p:nvPicPr>
                      <p:cNvPr id="0" name="图片 27940"/>
                      <p:cNvPicPr/>
                      <p:nvPr/>
                    </p:nvPicPr>
                    <p:blipFill>
                      <a:blip r:embed="rId3"/>
                      <a:stretch>
                        <a:fillRect/>
                      </a:stretch>
                    </p:blipFill>
                    <p:spPr>
                      <a:xfrm>
                        <a:off x="1520825" y="2408238"/>
                        <a:ext cx="6121400" cy="1066800"/>
                      </a:xfrm>
                      <a:prstGeom prst="rect">
                        <a:avLst/>
                      </a:prstGeom>
                    </p:spPr>
                  </p:pic>
                </p:oleObj>
              </mc:Fallback>
            </mc:AlternateContent>
          </a:graphicData>
        </a:graphic>
      </p:graphicFrame>
      <p:sp>
        <p:nvSpPr>
          <p:cNvPr id="7" name="矩形 6"/>
          <p:cNvSpPr/>
          <p:nvPr/>
        </p:nvSpPr>
        <p:spPr>
          <a:xfrm>
            <a:off x="5726806" y="2483099"/>
            <a:ext cx="633080" cy="90800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p:cNvSpPr>
            <a:spLocks noChangeArrowheads="1"/>
          </p:cNvSpPr>
          <p:nvPr/>
        </p:nvSpPr>
        <p:spPr bwMode="auto">
          <a:xfrm>
            <a:off x="4725570" y="3650163"/>
            <a:ext cx="3586980" cy="875529"/>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nSpc>
                <a:spcPts val="3200"/>
              </a:lnSpc>
              <a:buNone/>
            </a:pPr>
            <a:r>
              <a:rPr lang="zh-CN" altLang="en-US" sz="2200" b="1" dirty="0">
                <a:latin typeface="黑体" panose="02010609060101010101" pitchFamily="49" charset="-122"/>
                <a:ea typeface="黑体" panose="02010609060101010101" pitchFamily="49" charset="-122"/>
              </a:rPr>
              <a:t>为分支结点权重，样本数越多的分支结点的影响越大</a:t>
            </a:r>
            <a:endParaRPr lang="zh-CN" altLang="en-US" sz="2200" b="1" i="0" dirty="0">
              <a:latin typeface="黑体" panose="02010609060101010101" pitchFamily="49" charset="-122"/>
              <a:ea typeface="黑体" panose="02010609060101010101" pitchFamily="49" charset="-122"/>
            </a:endParaRPr>
          </a:p>
        </p:txBody>
      </p:sp>
      <p:graphicFrame>
        <p:nvGraphicFramePr>
          <p:cNvPr id="5" name="对象 4"/>
          <p:cNvGraphicFramePr>
            <a:graphicFrameLocks noChangeAspect="1"/>
          </p:cNvGraphicFramePr>
          <p:nvPr/>
        </p:nvGraphicFramePr>
        <p:xfrm>
          <a:off x="1899813" y="1227138"/>
          <a:ext cx="188913" cy="304800"/>
        </p:xfrm>
        <a:graphic>
          <a:graphicData uri="http://schemas.openxmlformats.org/presentationml/2006/ole">
            <mc:AlternateContent xmlns:mc="http://schemas.openxmlformats.org/markup-compatibility/2006">
              <mc:Choice xmlns:v="urn:schemas-microsoft-com:vml" Requires="v">
                <p:oleObj spid="_x0000_s6" name="Formula" r:id="rId4" imgW="600075" imgH="971550" progId="Equation.Ribbit">
                  <p:embed/>
                </p:oleObj>
              </mc:Choice>
              <mc:Fallback>
                <p:oleObj name="Formula" r:id="rId4" imgW="600075" imgH="971550" progId="Equation.Ribbit">
                  <p:embed/>
                  <p:pic>
                    <p:nvPicPr>
                      <p:cNvPr id="0" name="图片 5"/>
                      <p:cNvPicPr/>
                      <p:nvPr/>
                    </p:nvPicPr>
                    <p:blipFill>
                      <a:blip r:embed="rId5"/>
                      <a:stretch>
                        <a:fillRect/>
                      </a:stretch>
                    </p:blipFill>
                    <p:spPr>
                      <a:xfrm>
                        <a:off x="1899813" y="1227138"/>
                        <a:ext cx="188913" cy="3048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2470900" y="1255713"/>
          <a:ext cx="173037" cy="242887"/>
        </p:xfrm>
        <a:graphic>
          <a:graphicData uri="http://schemas.openxmlformats.org/presentationml/2006/ole">
            <mc:AlternateContent xmlns:mc="http://schemas.openxmlformats.org/markup-compatibility/2006">
              <mc:Choice xmlns:v="urn:schemas-microsoft-com:vml" Requires="v">
                <p:oleObj spid="_x0000_s10" name="Formula" r:id="rId6" imgW="895350" imgH="1247775" progId="Equation.Ribbit">
                  <p:embed/>
                </p:oleObj>
              </mc:Choice>
              <mc:Fallback>
                <p:oleObj name="Formula" r:id="rId6" imgW="895350" imgH="1247775" progId="Equation.Ribbit">
                  <p:embed/>
                  <p:pic>
                    <p:nvPicPr>
                      <p:cNvPr id="0" name="图片 9"/>
                      <p:cNvPicPr/>
                      <p:nvPr/>
                    </p:nvPicPr>
                    <p:blipFill>
                      <a:blip r:embed="rId7"/>
                      <a:stretch>
                        <a:fillRect/>
                      </a:stretch>
                    </p:blipFill>
                    <p:spPr>
                      <a:xfrm>
                        <a:off x="2470900" y="1255713"/>
                        <a:ext cx="173037" cy="242887"/>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538163" y="1211263"/>
          <a:ext cx="1606550" cy="331787"/>
        </p:xfrm>
        <a:graphic>
          <a:graphicData uri="http://schemas.openxmlformats.org/presentationml/2006/ole">
            <mc:AlternateContent xmlns:mc="http://schemas.openxmlformats.org/markup-compatibility/2006">
              <mc:Choice xmlns:v="urn:schemas-microsoft-com:vml" Requires="v">
                <p:oleObj spid="_x0000_s12" name="Formula" r:id="rId8" imgW="6848475" imgH="1409700" progId="Equation.Ribbit">
                  <p:embed/>
                </p:oleObj>
              </mc:Choice>
              <mc:Fallback>
                <p:oleObj name="Formula" r:id="rId8" imgW="6848475" imgH="1409700" progId="Equation.Ribbit">
                  <p:embed/>
                  <p:pic>
                    <p:nvPicPr>
                      <p:cNvPr id="0" name="图片 11"/>
                      <p:cNvPicPr/>
                      <p:nvPr/>
                    </p:nvPicPr>
                    <p:blipFill>
                      <a:blip r:embed="rId9"/>
                      <a:stretch>
                        <a:fillRect/>
                      </a:stretch>
                    </p:blipFill>
                    <p:spPr>
                      <a:xfrm>
                        <a:off x="4538163" y="1211263"/>
                        <a:ext cx="1606550" cy="33178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805013" y="1233488"/>
          <a:ext cx="188912" cy="306387"/>
        </p:xfrm>
        <a:graphic>
          <a:graphicData uri="http://schemas.openxmlformats.org/presentationml/2006/ole">
            <mc:AlternateContent xmlns:mc="http://schemas.openxmlformats.org/markup-compatibility/2006">
              <mc:Choice xmlns:v="urn:schemas-microsoft-com:vml" Requires="v">
                <p:oleObj spid="_x0000_s14" name="Formula" r:id="rId10" imgW="600075" imgH="971550" progId="Equation.Ribbit">
                  <p:embed/>
                </p:oleObj>
              </mc:Choice>
              <mc:Fallback>
                <p:oleObj name="Formula" r:id="rId10" imgW="600075" imgH="971550" progId="Equation.Ribbit">
                  <p:embed/>
                  <p:pic>
                    <p:nvPicPr>
                      <p:cNvPr id="0" name="图片 13"/>
                      <p:cNvPicPr/>
                      <p:nvPr/>
                    </p:nvPicPr>
                    <p:blipFill>
                      <a:blip r:embed="rId5"/>
                      <a:stretch>
                        <a:fillRect/>
                      </a:stretch>
                    </p:blipFill>
                    <p:spPr>
                      <a:xfrm>
                        <a:off x="6805013" y="1233488"/>
                        <a:ext cx="188912" cy="306387"/>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778442" y="1554163"/>
          <a:ext cx="173037" cy="242887"/>
        </p:xfrm>
        <a:graphic>
          <a:graphicData uri="http://schemas.openxmlformats.org/presentationml/2006/ole">
            <mc:AlternateContent xmlns:mc="http://schemas.openxmlformats.org/markup-compatibility/2006">
              <mc:Choice xmlns:v="urn:schemas-microsoft-com:vml" Requires="v">
                <p:oleObj spid="_x0000_s16" name="Formula" r:id="rId11" imgW="895350" imgH="1247775" progId="Equation.Ribbit">
                  <p:embed/>
                </p:oleObj>
              </mc:Choice>
              <mc:Fallback>
                <p:oleObj name="Formula" r:id="rId11" imgW="895350" imgH="1247775" progId="Equation.Ribbit">
                  <p:embed/>
                  <p:pic>
                    <p:nvPicPr>
                      <p:cNvPr id="0" name="图片 15"/>
                      <p:cNvPicPr/>
                      <p:nvPr/>
                    </p:nvPicPr>
                    <p:blipFill>
                      <a:blip r:embed="rId7"/>
                      <a:stretch>
                        <a:fillRect/>
                      </a:stretch>
                    </p:blipFill>
                    <p:spPr>
                      <a:xfrm>
                        <a:off x="1778442" y="1554163"/>
                        <a:ext cx="173037" cy="24288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542219" y="1543050"/>
          <a:ext cx="190500" cy="312738"/>
        </p:xfrm>
        <a:graphic>
          <a:graphicData uri="http://schemas.openxmlformats.org/presentationml/2006/ole">
            <mc:AlternateContent xmlns:mc="http://schemas.openxmlformats.org/markup-compatibility/2006">
              <mc:Choice xmlns:v="urn:schemas-microsoft-com:vml" Requires="v">
                <p:oleObj spid="_x0000_s18" name="Formula" r:id="rId12" imgW="590550" imgH="971550" progId="Equation.Ribbit">
                  <p:embed/>
                </p:oleObj>
              </mc:Choice>
              <mc:Fallback>
                <p:oleObj name="Formula" r:id="rId12" imgW="590550" imgH="971550" progId="Equation.Ribbit">
                  <p:embed/>
                  <p:pic>
                    <p:nvPicPr>
                      <p:cNvPr id="0" name="图片 17"/>
                      <p:cNvPicPr/>
                      <p:nvPr/>
                    </p:nvPicPr>
                    <p:blipFill>
                      <a:blip r:embed="rId13"/>
                      <a:stretch>
                        <a:fillRect/>
                      </a:stretch>
                    </p:blipFill>
                    <p:spPr>
                      <a:xfrm>
                        <a:off x="4542219" y="1543050"/>
                        <a:ext cx="190500" cy="312738"/>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7054108" y="1533525"/>
          <a:ext cx="201613" cy="271463"/>
        </p:xfrm>
        <a:graphic>
          <a:graphicData uri="http://schemas.openxmlformats.org/presentationml/2006/ole">
            <mc:AlternateContent xmlns:mc="http://schemas.openxmlformats.org/markup-compatibility/2006">
              <mc:Choice xmlns:v="urn:schemas-microsoft-com:vml" Requires="v">
                <p:oleObj spid="_x0000_s20" name="Formula" r:id="rId14" imgW="933450" imgH="1247775" progId="Equation.Ribbit">
                  <p:embed/>
                </p:oleObj>
              </mc:Choice>
              <mc:Fallback>
                <p:oleObj name="Formula" r:id="rId14" imgW="933450" imgH="1247775" progId="Equation.Ribbit">
                  <p:embed/>
                  <p:pic>
                    <p:nvPicPr>
                      <p:cNvPr id="0" name="图片 19"/>
                      <p:cNvPicPr/>
                      <p:nvPr/>
                    </p:nvPicPr>
                    <p:blipFill>
                      <a:blip r:embed="rId15"/>
                      <a:stretch>
                        <a:fillRect/>
                      </a:stretch>
                    </p:blipFill>
                    <p:spPr>
                      <a:xfrm>
                        <a:off x="7054108" y="1533525"/>
                        <a:ext cx="201613" cy="271463"/>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921380" y="1824038"/>
          <a:ext cx="188913" cy="303212"/>
        </p:xfrm>
        <a:graphic>
          <a:graphicData uri="http://schemas.openxmlformats.org/presentationml/2006/ole">
            <mc:AlternateContent xmlns:mc="http://schemas.openxmlformats.org/markup-compatibility/2006">
              <mc:Choice xmlns:v="urn:schemas-microsoft-com:vml" Requires="v">
                <p:oleObj spid="_x0000_s22" name="Formula" r:id="rId16" imgW="600075" imgH="971550" progId="Equation.Ribbit">
                  <p:embed/>
                </p:oleObj>
              </mc:Choice>
              <mc:Fallback>
                <p:oleObj name="Formula" r:id="rId16" imgW="600075" imgH="971550" progId="Equation.Ribbit">
                  <p:embed/>
                  <p:pic>
                    <p:nvPicPr>
                      <p:cNvPr id="0" name="图片 21"/>
                      <p:cNvPicPr/>
                      <p:nvPr/>
                    </p:nvPicPr>
                    <p:blipFill>
                      <a:blip r:embed="rId5"/>
                      <a:stretch>
                        <a:fillRect/>
                      </a:stretch>
                    </p:blipFill>
                    <p:spPr>
                      <a:xfrm>
                        <a:off x="921380" y="1824038"/>
                        <a:ext cx="188913" cy="303212"/>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2363796" y="1828546"/>
          <a:ext cx="255365" cy="311489"/>
        </p:xfrm>
        <a:graphic>
          <a:graphicData uri="http://schemas.openxmlformats.org/presentationml/2006/ole">
            <mc:AlternateContent xmlns:mc="http://schemas.openxmlformats.org/markup-compatibility/2006">
              <mc:Choice xmlns:v="urn:schemas-microsoft-com:vml" Requires="v">
                <p:oleObj spid="_x0000_s24" name="Formula" r:id="rId17" imgW="1009650" imgH="1219200" progId="Equation.Ribbit">
                  <p:embed/>
                </p:oleObj>
              </mc:Choice>
              <mc:Fallback>
                <p:oleObj name="Formula" r:id="rId17" imgW="1009650" imgH="1219200" progId="Equation.Ribbit">
                  <p:embed/>
                  <p:pic>
                    <p:nvPicPr>
                      <p:cNvPr id="0" name="图片 23"/>
                      <p:cNvPicPr/>
                      <p:nvPr/>
                    </p:nvPicPr>
                    <p:blipFill>
                      <a:blip r:embed="rId18"/>
                      <a:stretch>
                        <a:fillRect/>
                      </a:stretch>
                    </p:blipFill>
                    <p:spPr>
                      <a:xfrm>
                        <a:off x="2363796" y="1828546"/>
                        <a:ext cx="255365" cy="311489"/>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4384975" y="1853553"/>
          <a:ext cx="285750" cy="261938"/>
        </p:xfrm>
        <a:graphic>
          <a:graphicData uri="http://schemas.openxmlformats.org/presentationml/2006/ole">
            <mc:AlternateContent xmlns:mc="http://schemas.openxmlformats.org/markup-compatibility/2006">
              <mc:Choice xmlns:v="urn:schemas-microsoft-com:vml" Requires="v">
                <p:oleObj spid="_x0000_s26" name="Formula" r:id="rId19" imgW="1371600" imgH="1247775" progId="Equation.Ribbit">
                  <p:embed/>
                </p:oleObj>
              </mc:Choice>
              <mc:Fallback>
                <p:oleObj name="Formula" r:id="rId19" imgW="1371600" imgH="1247775" progId="Equation.Ribbit">
                  <p:embed/>
                  <p:pic>
                    <p:nvPicPr>
                      <p:cNvPr id="0" name="图片 25"/>
                      <p:cNvPicPr/>
                      <p:nvPr/>
                    </p:nvPicPr>
                    <p:blipFill>
                      <a:blip r:embed="rId20"/>
                      <a:stretch>
                        <a:fillRect/>
                      </a:stretch>
                    </p:blipFill>
                    <p:spPr>
                      <a:xfrm>
                        <a:off x="4384975" y="1853553"/>
                        <a:ext cx="285750" cy="261938"/>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7192970" y="1841500"/>
          <a:ext cx="190500" cy="303213"/>
        </p:xfrm>
        <a:graphic>
          <a:graphicData uri="http://schemas.openxmlformats.org/presentationml/2006/ole">
            <mc:AlternateContent xmlns:mc="http://schemas.openxmlformats.org/markup-compatibility/2006">
              <mc:Choice xmlns:v="urn:schemas-microsoft-com:vml" Requires="v">
                <p:oleObj spid="_x0000_s28" name="Formula" r:id="rId21" imgW="600075" imgH="971550" progId="Equation.Ribbit">
                  <p:embed/>
                </p:oleObj>
              </mc:Choice>
              <mc:Fallback>
                <p:oleObj name="Formula" r:id="rId21" imgW="600075" imgH="971550" progId="Equation.Ribbit">
                  <p:embed/>
                  <p:pic>
                    <p:nvPicPr>
                      <p:cNvPr id="0" name="图片 27"/>
                      <p:cNvPicPr/>
                      <p:nvPr/>
                    </p:nvPicPr>
                    <p:blipFill>
                      <a:blip r:embed="rId5"/>
                      <a:stretch>
                        <a:fillRect/>
                      </a:stretch>
                    </p:blipFill>
                    <p:spPr>
                      <a:xfrm>
                        <a:off x="7192970" y="1841500"/>
                        <a:ext cx="190500" cy="303213"/>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8608260" y="1839157"/>
          <a:ext cx="200025" cy="269875"/>
        </p:xfrm>
        <a:graphic>
          <a:graphicData uri="http://schemas.openxmlformats.org/presentationml/2006/ole">
            <mc:AlternateContent xmlns:mc="http://schemas.openxmlformats.org/markup-compatibility/2006">
              <mc:Choice xmlns:v="urn:schemas-microsoft-com:vml" Requires="v">
                <p:oleObj spid="_x0000_s30" name="Formula" r:id="rId22" imgW="933450" imgH="1247775" progId="Equation.Ribbit">
                  <p:embed/>
                </p:oleObj>
              </mc:Choice>
              <mc:Fallback>
                <p:oleObj name="Formula" r:id="rId22" imgW="933450" imgH="1247775" progId="Equation.Ribbit">
                  <p:embed/>
                  <p:pic>
                    <p:nvPicPr>
                      <p:cNvPr id="0" name="图片 29"/>
                      <p:cNvPicPr/>
                      <p:nvPr/>
                    </p:nvPicPr>
                    <p:blipFill>
                      <a:blip r:embed="rId15"/>
                      <a:stretch>
                        <a:fillRect/>
                      </a:stretch>
                    </p:blipFill>
                    <p:spPr>
                      <a:xfrm>
                        <a:off x="8608260" y="1839157"/>
                        <a:ext cx="200025" cy="269875"/>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6459120" y="4724400"/>
          <a:ext cx="188913" cy="304800"/>
        </p:xfrm>
        <a:graphic>
          <a:graphicData uri="http://schemas.openxmlformats.org/presentationml/2006/ole">
            <mc:AlternateContent xmlns:mc="http://schemas.openxmlformats.org/markup-compatibility/2006">
              <mc:Choice xmlns:v="urn:schemas-microsoft-com:vml" Requires="v">
                <p:oleObj spid="_x0000_s32" name="Formula" r:id="rId23" imgW="600075" imgH="971550" progId="Equation.Ribbit">
                  <p:embed/>
                </p:oleObj>
              </mc:Choice>
              <mc:Fallback>
                <p:oleObj name="Formula" r:id="rId23" imgW="600075" imgH="971550" progId="Equation.Ribbit">
                  <p:embed/>
                  <p:pic>
                    <p:nvPicPr>
                      <p:cNvPr id="0" name="图片 31"/>
                      <p:cNvPicPr/>
                      <p:nvPr/>
                    </p:nvPicPr>
                    <p:blipFill>
                      <a:blip r:embed="rId5"/>
                      <a:stretch>
                        <a:fillRect/>
                      </a:stretch>
                    </p:blipFill>
                    <p:spPr>
                      <a:xfrm>
                        <a:off x="6459120" y="4724400"/>
                        <a:ext cx="188913" cy="3048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信息增益实例</a:t>
            </a:r>
            <a:endParaRPr lang="zh-CN" altLang="en-US" b="1" dirty="0">
              <a:latin typeface="黑体" panose="02010609060101010101" pitchFamily="49" charset="-122"/>
              <a:ea typeface="黑体" panose="02010609060101010101" pitchFamily="49" charset="-122"/>
            </a:endParaRPr>
          </a:p>
        </p:txBody>
      </p:sp>
      <p:sp>
        <p:nvSpPr>
          <p:cNvPr id="19" name="文本框 28"/>
          <p:cNvSpPr txBox="1"/>
          <p:nvPr/>
        </p:nvSpPr>
        <p:spPr>
          <a:xfrm>
            <a:off x="4479438" y="3745280"/>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0" name="文本框 29"/>
          <p:cNvSpPr txBox="1"/>
          <p:nvPr/>
        </p:nvSpPr>
        <p:spPr>
          <a:xfrm>
            <a:off x="4594853" y="3208848"/>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2" name="文本框 31"/>
          <p:cNvSpPr txBox="1"/>
          <p:nvPr/>
        </p:nvSpPr>
        <p:spPr>
          <a:xfrm>
            <a:off x="3745982" y="4761731"/>
            <a:ext cx="723275"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3" name="文本框 32"/>
          <p:cNvSpPr txBox="1"/>
          <p:nvPr/>
        </p:nvSpPr>
        <p:spPr>
          <a:xfrm>
            <a:off x="3861397" y="4225299"/>
            <a:ext cx="492443" cy="461665"/>
          </a:xfrm>
          <a:prstGeom prst="rect">
            <a:avLst/>
          </a:prstGeom>
          <a:noFill/>
        </p:spPr>
        <p:txBody>
          <a:bodyPr wrap="none" rtlCol="0">
            <a:spAutoFit/>
          </a:bodyPr>
          <a:lstStyle/>
          <a:p>
            <a:r>
              <a:rPr lang="en-US" altLang="zh-CN" sz="2400" dirty="0">
                <a:latin typeface="Times" panose="02020603060405020304" pitchFamily="18" charset="0"/>
              </a:rPr>
              <a:t>…</a:t>
            </a:r>
            <a:endParaRPr lang="zh-CN" altLang="en-US" sz="2400" dirty="0">
              <a:latin typeface="Times" panose="02020603060405020304" pitchFamily="18" charset="0"/>
            </a:endParaRPr>
          </a:p>
        </p:txBody>
      </p:sp>
      <p:sp>
        <p:nvSpPr>
          <p:cNvPr id="26" name="文本框 25"/>
          <p:cNvSpPr txBox="1"/>
          <p:nvPr/>
        </p:nvSpPr>
        <p:spPr>
          <a:xfrm>
            <a:off x="5650518" y="3246855"/>
            <a:ext cx="2622680" cy="2123658"/>
          </a:xfrm>
          <a:prstGeom prst="rect">
            <a:avLst/>
          </a:prstGeom>
          <a:noFill/>
        </p:spPr>
        <p:txBody>
          <a:bodyPr wrap="square" rtlCol="0">
            <a:spAutoFit/>
          </a:bodyPr>
          <a:lstStyle/>
          <a:p>
            <a:r>
              <a:rPr lang="zh-CN" altLang="en-US" sz="2200" b="1" dirty="0">
                <a:latin typeface="Verdana" panose="020B0604030504040204" pitchFamily="34" charset="0"/>
                <a:ea typeface="幼圆" panose="02010509060101010101" pitchFamily="49" charset="-122"/>
              </a:rPr>
              <a:t>该数据集包含</a:t>
            </a:r>
            <a:r>
              <a:rPr lang="en-US" altLang="zh-CN" sz="2200" b="1" dirty="0">
                <a:latin typeface="Verdana" panose="020B0604030504040204" pitchFamily="34" charset="0"/>
                <a:ea typeface="幼圆" panose="02010509060101010101" pitchFamily="49" charset="-122"/>
              </a:rPr>
              <a:t>   </a:t>
            </a:r>
            <a:r>
              <a:rPr lang="zh-CN" altLang="en-US" sz="2200" b="1" dirty="0">
                <a:latin typeface="Verdana" panose="020B0604030504040204" pitchFamily="34" charset="0"/>
                <a:ea typeface="幼圆" panose="02010509060101010101" pitchFamily="49" charset="-122"/>
              </a:rPr>
              <a:t>个训练样本</a:t>
            </a:r>
            <a:r>
              <a:rPr lang="zh-CN" altLang="en-US" b="1" dirty="0"/>
              <a:t>，         ，</a:t>
            </a:r>
            <a:r>
              <a:rPr lang="zh-CN" altLang="en-US" sz="2200" b="1" dirty="0">
                <a:latin typeface="Verdana" panose="020B0604030504040204" pitchFamily="34" charset="0"/>
                <a:ea typeface="幼圆" panose="02010509060101010101" pitchFamily="49" charset="-122"/>
              </a:rPr>
              <a:t>其中正例占          ，</a:t>
            </a:r>
            <a:endParaRPr lang="en-US" altLang="zh-CN" sz="2200" b="1" dirty="0">
              <a:latin typeface="Verdana" panose="020B0604030504040204" pitchFamily="34" charset="0"/>
              <a:ea typeface="幼圆" panose="02010509060101010101" pitchFamily="49" charset="-122"/>
            </a:endParaRPr>
          </a:p>
          <a:p>
            <a:r>
              <a:rPr lang="zh-CN" altLang="en-US" sz="2200" b="1" dirty="0">
                <a:latin typeface="Verdana" panose="020B0604030504040204" pitchFamily="34" charset="0"/>
                <a:ea typeface="幼圆" panose="02010509060101010101" pitchFamily="49" charset="-122"/>
              </a:rPr>
              <a:t>反例占         ，计算得到根结点的信息熵为</a:t>
            </a:r>
            <a:endParaRPr lang="zh-CN" altLang="en-US" sz="2200" b="1" dirty="0">
              <a:latin typeface="Verdana" panose="020B0604030504040204" pitchFamily="34" charset="0"/>
              <a:ea typeface="幼圆" panose="02010509060101010101" pitchFamily="49" charset="-122"/>
            </a:endParaRPr>
          </a:p>
        </p:txBody>
      </p:sp>
      <p:graphicFrame>
        <p:nvGraphicFramePr>
          <p:cNvPr id="27" name="对象 26"/>
          <p:cNvGraphicFramePr>
            <a:graphicFrameLocks noChangeAspect="1"/>
          </p:cNvGraphicFramePr>
          <p:nvPr/>
        </p:nvGraphicFramePr>
        <p:xfrm>
          <a:off x="7023343" y="3677843"/>
          <a:ext cx="755906" cy="292378"/>
        </p:xfrm>
        <a:graphic>
          <a:graphicData uri="http://schemas.openxmlformats.org/presentationml/2006/ole">
            <mc:AlternateContent xmlns:mc="http://schemas.openxmlformats.org/markup-compatibility/2006">
              <mc:Choice xmlns:v="urn:schemas-microsoft-com:vml" Requires="v">
                <p:oleObj spid="_x0000_s27941" name="Formula" r:id="rId1" imgW="3448050" imgH="1333500" progId="Equation.Ribbit">
                  <p:embed/>
                </p:oleObj>
              </mc:Choice>
              <mc:Fallback>
                <p:oleObj name="Formula" r:id="rId1" imgW="3448050" imgH="1333500" progId="Equation.Ribbit">
                  <p:embed/>
                  <p:pic>
                    <p:nvPicPr>
                      <p:cNvPr id="0" name="图片 27940"/>
                      <p:cNvPicPr/>
                      <p:nvPr/>
                    </p:nvPicPr>
                    <p:blipFill>
                      <a:blip r:embed="rId2"/>
                      <a:stretch>
                        <a:fillRect/>
                      </a:stretch>
                    </p:blipFill>
                    <p:spPr>
                      <a:xfrm>
                        <a:off x="7023343" y="3677843"/>
                        <a:ext cx="755906" cy="292378"/>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7188200" y="3946525"/>
          <a:ext cx="841375" cy="357188"/>
        </p:xfrm>
        <a:graphic>
          <a:graphicData uri="http://schemas.openxmlformats.org/presentationml/2006/ole">
            <mc:AlternateContent xmlns:mc="http://schemas.openxmlformats.org/markup-compatibility/2006">
              <mc:Choice xmlns:v="urn:schemas-microsoft-com:vml" Requires="v">
                <p:oleObj spid="_x0000_s4" name="Formula" r:id="rId3" imgW="3590925" imgH="1524000" progId="Equation.Ribbit">
                  <p:embed/>
                </p:oleObj>
              </mc:Choice>
              <mc:Fallback>
                <p:oleObj name="Formula" r:id="rId3" imgW="3590925" imgH="1524000" progId="Equation.Ribbit">
                  <p:embed/>
                  <p:pic>
                    <p:nvPicPr>
                      <p:cNvPr id="0" name="图片 3"/>
                      <p:cNvPicPr/>
                      <p:nvPr/>
                    </p:nvPicPr>
                    <p:blipFill>
                      <a:blip r:embed="rId4"/>
                      <a:stretch>
                        <a:fillRect/>
                      </a:stretch>
                    </p:blipFill>
                    <p:spPr>
                      <a:xfrm>
                        <a:off x="7188200" y="3946525"/>
                        <a:ext cx="841375" cy="357188"/>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6602413" y="4292600"/>
          <a:ext cx="801687" cy="339725"/>
        </p:xfrm>
        <a:graphic>
          <a:graphicData uri="http://schemas.openxmlformats.org/presentationml/2006/ole">
            <mc:AlternateContent xmlns:mc="http://schemas.openxmlformats.org/markup-compatibility/2006">
              <mc:Choice xmlns:v="urn:schemas-microsoft-com:vml" Requires="v">
                <p:oleObj spid="_x0000_s5" name="Formula" r:id="rId5" imgW="3590925" imgH="1524000" progId="Equation.Ribbit">
                  <p:embed/>
                </p:oleObj>
              </mc:Choice>
              <mc:Fallback>
                <p:oleObj name="Formula" r:id="rId5" imgW="3590925" imgH="1524000" progId="Equation.Ribbit">
                  <p:embed/>
                  <p:pic>
                    <p:nvPicPr>
                      <p:cNvPr id="0" name="图片 4"/>
                      <p:cNvPicPr/>
                      <p:nvPr/>
                    </p:nvPicPr>
                    <p:blipFill>
                      <a:blip r:embed="rId6"/>
                      <a:stretch>
                        <a:fillRect/>
                      </a:stretch>
                    </p:blipFill>
                    <p:spPr>
                      <a:xfrm>
                        <a:off x="6602413" y="4292600"/>
                        <a:ext cx="801687" cy="339725"/>
                      </a:xfrm>
                      <a:prstGeom prst="rect">
                        <a:avLst/>
                      </a:prstGeom>
                    </p:spPr>
                  </p:pic>
                </p:oleObj>
              </mc:Fallback>
            </mc:AlternateContent>
          </a:graphicData>
        </a:graphic>
      </p:graphicFrame>
      <p:graphicFrame>
        <p:nvGraphicFramePr>
          <p:cNvPr id="31" name="内容占位符 3"/>
          <p:cNvGraphicFramePr>
            <a:graphicFrameLocks noChangeAspect="1"/>
          </p:cNvGraphicFramePr>
          <p:nvPr/>
        </p:nvGraphicFramePr>
        <p:xfrm>
          <a:off x="1136650" y="5370513"/>
          <a:ext cx="6959600" cy="788987"/>
        </p:xfrm>
        <a:graphic>
          <a:graphicData uri="http://schemas.openxmlformats.org/presentationml/2006/ole">
            <mc:AlternateContent xmlns:mc="http://schemas.openxmlformats.org/markup-compatibility/2006">
              <mc:Choice xmlns:v="urn:schemas-microsoft-com:vml" Requires="v">
                <p:oleObj spid="_x0000_s6" name="Formula" r:id="rId7" imgW="30537150" imgH="3448050" progId="Equation.Ribbit">
                  <p:embed/>
                </p:oleObj>
              </mc:Choice>
              <mc:Fallback>
                <p:oleObj name="Formula" r:id="rId7" imgW="30537150" imgH="3448050" progId="Equation.Ribbit">
                  <p:embed/>
                  <p:pic>
                    <p:nvPicPr>
                      <p:cNvPr id="0" name="图片 5"/>
                      <p:cNvPicPr/>
                      <p:nvPr/>
                    </p:nvPicPr>
                    <p:blipFill>
                      <a:blip r:embed="rId8"/>
                      <a:stretch>
                        <a:fillRect/>
                      </a:stretch>
                    </p:blipFill>
                    <p:spPr>
                      <a:xfrm>
                        <a:off x="1136650" y="5370513"/>
                        <a:ext cx="6959600" cy="7889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7458075" y="3352800"/>
          <a:ext cx="266700" cy="304800"/>
        </p:xfrm>
        <a:graphic>
          <a:graphicData uri="http://schemas.openxmlformats.org/presentationml/2006/ole">
            <mc:AlternateContent xmlns:mc="http://schemas.openxmlformats.org/markup-compatibility/2006">
              <mc:Choice xmlns:v="urn:schemas-microsoft-com:vml" Requires="v">
                <p:oleObj spid="_x0000_s8" name="Formula" r:id="rId9" imgW="1085850" imgH="1238250" progId="Equation.Ribbit">
                  <p:embed/>
                </p:oleObj>
              </mc:Choice>
              <mc:Fallback>
                <p:oleObj name="Formula" r:id="rId9" imgW="1085850" imgH="1238250" progId="Equation.Ribbit">
                  <p:embed/>
                  <p:pic>
                    <p:nvPicPr>
                      <p:cNvPr id="0" name="图片 7"/>
                      <p:cNvPicPr/>
                      <p:nvPr/>
                    </p:nvPicPr>
                    <p:blipFill>
                      <a:blip r:embed="rId10"/>
                      <a:stretch>
                        <a:fillRect/>
                      </a:stretch>
                    </p:blipFill>
                    <p:spPr>
                      <a:xfrm>
                        <a:off x="7458075" y="3352800"/>
                        <a:ext cx="266700" cy="304800"/>
                      </a:xfrm>
                      <a:prstGeom prst="rect">
                        <a:avLst/>
                      </a:prstGeom>
                    </p:spPr>
                  </p:pic>
                </p:oleObj>
              </mc:Fallback>
            </mc:AlternateContent>
          </a:graphicData>
        </a:graphic>
      </p:graphicFrame>
      <p:pic>
        <p:nvPicPr>
          <p:cNvPr id="9" name="图片 8"/>
          <p:cNvPicPr>
            <a:picLocks noChangeAspect="1"/>
          </p:cNvPicPr>
          <p:nvPr/>
        </p:nvPicPr>
        <p:blipFill>
          <a:blip r:embed="rId11"/>
          <a:stretch>
            <a:fillRect/>
          </a:stretch>
        </p:blipFill>
        <p:spPr>
          <a:xfrm>
            <a:off x="457075" y="1696261"/>
            <a:ext cx="5128424" cy="36006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51671" y="1081263"/>
            <a:ext cx="8616950" cy="4930775"/>
          </a:xfrm>
        </p:spPr>
        <p:txBody>
          <a:bodyPr/>
          <a:lstStyle/>
          <a:p>
            <a:r>
              <a:rPr lang="zh-CN" altLang="en-US" b="1" dirty="0">
                <a:latin typeface="黑体" panose="02010609060101010101" pitchFamily="49" charset="-122"/>
                <a:ea typeface="黑体" panose="02010609060101010101" pitchFamily="49" charset="-122"/>
              </a:rPr>
              <a:t>以属性“色泽”为例，其对应的</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个数据子集分别为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色泽</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青绿</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色泽</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乌黑</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色泽</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浅白</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子集   包含编号为                 的</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个样例，其中正例占</a:t>
            </a:r>
            <a:endParaRPr lang="en-US" altLang="zh-CN" b="1" dirty="0">
              <a:latin typeface="黑体" panose="02010609060101010101" pitchFamily="49" charset="-122"/>
              <a:ea typeface="黑体" panose="02010609060101010101" pitchFamily="49" charset="-122"/>
            </a:endParaRPr>
          </a:p>
          <a:p>
            <a:pPr marL="0"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，反例占       ，  、   同理，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个结点的信息熵为：</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342900" indent="-342900"/>
            <a:r>
              <a:rPr lang="zh-CN" altLang="en-US" b="1" dirty="0">
                <a:latin typeface="黑体" panose="02010609060101010101" pitchFamily="49" charset="-122"/>
                <a:ea typeface="黑体" panose="02010609060101010101" pitchFamily="49" charset="-122"/>
              </a:rPr>
              <a:t>属性“色泽”的信息增益为</a:t>
            </a:r>
            <a:endParaRPr lang="en-US" altLang="zh-CN" b="1"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7078124" y="1144588"/>
          <a:ext cx="307975" cy="317500"/>
        </p:xfrm>
        <a:graphic>
          <a:graphicData uri="http://schemas.openxmlformats.org/presentationml/2006/ole">
            <mc:AlternateContent xmlns:mc="http://schemas.openxmlformats.org/markup-compatibility/2006">
              <mc:Choice xmlns:v="urn:schemas-microsoft-com:vml" Requires="v">
                <p:oleObj spid="_x0000_s27941" name="Formula" r:id="rId1" imgW="1333500" imgH="1381125" progId="Equation.Ribbit">
                  <p:embed/>
                </p:oleObj>
              </mc:Choice>
              <mc:Fallback>
                <p:oleObj name="Formula" r:id="rId1" imgW="1333500" imgH="1381125" progId="Equation.Ribbit">
                  <p:embed/>
                  <p:pic>
                    <p:nvPicPr>
                      <p:cNvPr id="0" name="图片 27940"/>
                      <p:cNvPicPr/>
                      <p:nvPr/>
                    </p:nvPicPr>
                    <p:blipFill>
                      <a:blip r:embed="rId2"/>
                      <a:stretch>
                        <a:fillRect/>
                      </a:stretch>
                    </p:blipFill>
                    <p:spPr>
                      <a:xfrm>
                        <a:off x="7078124" y="1144588"/>
                        <a:ext cx="307975" cy="3175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335599" y="1457325"/>
          <a:ext cx="312738" cy="319088"/>
        </p:xfrm>
        <a:graphic>
          <a:graphicData uri="http://schemas.openxmlformats.org/presentationml/2006/ole">
            <mc:AlternateContent xmlns:mc="http://schemas.openxmlformats.org/markup-compatibility/2006">
              <mc:Choice xmlns:v="urn:schemas-microsoft-com:vml" Requires="v">
                <p:oleObj spid="_x0000_s6" name="Formula" r:id="rId3" imgW="1352550" imgH="1381125" progId="Equation.Ribbit">
                  <p:embed/>
                </p:oleObj>
              </mc:Choice>
              <mc:Fallback>
                <p:oleObj name="Formula" r:id="rId3" imgW="1352550" imgH="1381125" progId="Equation.Ribbit">
                  <p:embed/>
                  <p:pic>
                    <p:nvPicPr>
                      <p:cNvPr id="0" name="图片 5"/>
                      <p:cNvPicPr/>
                      <p:nvPr/>
                    </p:nvPicPr>
                    <p:blipFill>
                      <a:blip r:embed="rId4"/>
                      <a:stretch>
                        <a:fillRect/>
                      </a:stretch>
                    </p:blipFill>
                    <p:spPr>
                      <a:xfrm>
                        <a:off x="1335599" y="1457325"/>
                        <a:ext cx="312738" cy="319088"/>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633694" y="1446213"/>
          <a:ext cx="314325" cy="317500"/>
        </p:xfrm>
        <a:graphic>
          <a:graphicData uri="http://schemas.openxmlformats.org/presentationml/2006/ole">
            <mc:AlternateContent xmlns:mc="http://schemas.openxmlformats.org/markup-compatibility/2006">
              <mc:Choice xmlns:v="urn:schemas-microsoft-com:vml" Requires="v">
                <p:oleObj spid="_x0000_s8" name="Formula" r:id="rId5" imgW="1362075" imgH="1381125" progId="Equation.Ribbit">
                  <p:embed/>
                </p:oleObj>
              </mc:Choice>
              <mc:Fallback>
                <p:oleObj name="Formula" r:id="rId5" imgW="1362075" imgH="1381125" progId="Equation.Ribbit">
                  <p:embed/>
                  <p:pic>
                    <p:nvPicPr>
                      <p:cNvPr id="0" name="图片 7"/>
                      <p:cNvPicPr/>
                      <p:nvPr/>
                    </p:nvPicPr>
                    <p:blipFill>
                      <a:blip r:embed="rId6"/>
                      <a:stretch>
                        <a:fillRect/>
                      </a:stretch>
                    </p:blipFill>
                    <p:spPr>
                      <a:xfrm>
                        <a:off x="3633694" y="1446213"/>
                        <a:ext cx="314325" cy="3175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093788" y="1858963"/>
          <a:ext cx="306387" cy="319087"/>
        </p:xfrm>
        <a:graphic>
          <a:graphicData uri="http://schemas.openxmlformats.org/presentationml/2006/ole">
            <mc:AlternateContent xmlns:mc="http://schemas.openxmlformats.org/markup-compatibility/2006">
              <mc:Choice xmlns:v="urn:schemas-microsoft-com:vml" Requires="v">
                <p:oleObj spid="_x0000_s10" name="Formula" r:id="rId7" imgW="1333500" imgH="1381125" progId="Equation.Ribbit">
                  <p:embed/>
                </p:oleObj>
              </mc:Choice>
              <mc:Fallback>
                <p:oleObj name="Formula" r:id="rId7" imgW="1333500" imgH="1381125" progId="Equation.Ribbit">
                  <p:embed/>
                  <p:pic>
                    <p:nvPicPr>
                      <p:cNvPr id="0" name="图片 9"/>
                      <p:cNvPicPr/>
                      <p:nvPr/>
                    </p:nvPicPr>
                    <p:blipFill>
                      <a:blip r:embed="rId2"/>
                      <a:stretch>
                        <a:fillRect/>
                      </a:stretch>
                    </p:blipFill>
                    <p:spPr>
                      <a:xfrm>
                        <a:off x="1093788" y="1858963"/>
                        <a:ext cx="306387" cy="319087"/>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47675" y="2216150"/>
          <a:ext cx="849313" cy="403225"/>
        </p:xfrm>
        <a:graphic>
          <a:graphicData uri="http://schemas.openxmlformats.org/presentationml/2006/ole">
            <mc:AlternateContent xmlns:mc="http://schemas.openxmlformats.org/markup-compatibility/2006">
              <mc:Choice xmlns:v="urn:schemas-microsoft-com:vml" Requires="v">
                <p:oleObj spid="_x0000_s12" name="Formula" r:id="rId8" imgW="3190875" imgH="1524000" progId="Equation.Ribbit">
                  <p:embed/>
                </p:oleObj>
              </mc:Choice>
              <mc:Fallback>
                <p:oleObj name="Formula" r:id="rId8" imgW="3190875" imgH="1524000" progId="Equation.Ribbit">
                  <p:embed/>
                  <p:pic>
                    <p:nvPicPr>
                      <p:cNvPr id="0" name="图片 11"/>
                      <p:cNvPicPr/>
                      <p:nvPr/>
                    </p:nvPicPr>
                    <p:blipFill>
                      <a:blip r:embed="rId9"/>
                      <a:stretch>
                        <a:fillRect/>
                      </a:stretch>
                    </p:blipFill>
                    <p:spPr>
                      <a:xfrm>
                        <a:off x="447675" y="2216150"/>
                        <a:ext cx="849313" cy="403225"/>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600325" y="2217738"/>
          <a:ext cx="838200" cy="398462"/>
        </p:xfrm>
        <a:graphic>
          <a:graphicData uri="http://schemas.openxmlformats.org/presentationml/2006/ole">
            <mc:AlternateContent xmlns:mc="http://schemas.openxmlformats.org/markup-compatibility/2006">
              <mc:Choice xmlns:v="urn:schemas-microsoft-com:vml" Requires="v">
                <p:oleObj spid="_x0000_s14" name="Formula" r:id="rId10" imgW="3190875" imgH="1524000" progId="Equation.Ribbit">
                  <p:embed/>
                </p:oleObj>
              </mc:Choice>
              <mc:Fallback>
                <p:oleObj name="Formula" r:id="rId10" imgW="3190875" imgH="1524000" progId="Equation.Ribbit">
                  <p:embed/>
                  <p:pic>
                    <p:nvPicPr>
                      <p:cNvPr id="0" name="图片 13"/>
                      <p:cNvPicPr/>
                      <p:nvPr/>
                    </p:nvPicPr>
                    <p:blipFill>
                      <a:blip r:embed="rId11"/>
                      <a:stretch>
                        <a:fillRect/>
                      </a:stretch>
                    </p:blipFill>
                    <p:spPr>
                      <a:xfrm>
                        <a:off x="2600325" y="2217738"/>
                        <a:ext cx="838200" cy="398462"/>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3733800" y="2270125"/>
          <a:ext cx="311150" cy="319088"/>
        </p:xfrm>
        <a:graphic>
          <a:graphicData uri="http://schemas.openxmlformats.org/presentationml/2006/ole">
            <mc:AlternateContent xmlns:mc="http://schemas.openxmlformats.org/markup-compatibility/2006">
              <mc:Choice xmlns:v="urn:schemas-microsoft-com:vml" Requires="v">
                <p:oleObj spid="_x0000_s16" name="Formula" r:id="rId12" imgW="1352550" imgH="1381125" progId="Equation.Ribbit">
                  <p:embed/>
                </p:oleObj>
              </mc:Choice>
              <mc:Fallback>
                <p:oleObj name="Formula" r:id="rId12" imgW="1352550" imgH="1381125" progId="Equation.Ribbit">
                  <p:embed/>
                  <p:pic>
                    <p:nvPicPr>
                      <p:cNvPr id="0" name="图片 15"/>
                      <p:cNvPicPr/>
                      <p:nvPr/>
                    </p:nvPicPr>
                    <p:blipFill>
                      <a:blip r:embed="rId4"/>
                      <a:stretch>
                        <a:fillRect/>
                      </a:stretch>
                    </p:blipFill>
                    <p:spPr>
                      <a:xfrm>
                        <a:off x="3733800" y="2270125"/>
                        <a:ext cx="311150" cy="319088"/>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4265846" y="2270125"/>
          <a:ext cx="314325" cy="319088"/>
        </p:xfrm>
        <a:graphic>
          <a:graphicData uri="http://schemas.openxmlformats.org/presentationml/2006/ole">
            <mc:AlternateContent xmlns:mc="http://schemas.openxmlformats.org/markup-compatibility/2006">
              <mc:Choice xmlns:v="urn:schemas-microsoft-com:vml" Requires="v">
                <p:oleObj spid="_x0000_s18" name="Formula" r:id="rId13" imgW="1362075" imgH="1381125" progId="Equation.Ribbit">
                  <p:embed/>
                </p:oleObj>
              </mc:Choice>
              <mc:Fallback>
                <p:oleObj name="Formula" r:id="rId13" imgW="1362075" imgH="1381125" progId="Equation.Ribbit">
                  <p:embed/>
                  <p:pic>
                    <p:nvPicPr>
                      <p:cNvPr id="0" name="图片 17"/>
                      <p:cNvPicPr/>
                      <p:nvPr/>
                    </p:nvPicPr>
                    <p:blipFill>
                      <a:blip r:embed="rId6"/>
                      <a:stretch>
                        <a:fillRect/>
                      </a:stretch>
                    </p:blipFill>
                    <p:spPr>
                      <a:xfrm>
                        <a:off x="4265846" y="2270125"/>
                        <a:ext cx="314325" cy="319088"/>
                      </a:xfrm>
                      <a:prstGeom prst="rect">
                        <a:avLst/>
                      </a:prstGeom>
                    </p:spPr>
                  </p:pic>
                </p:oleObj>
              </mc:Fallback>
            </mc:AlternateContent>
          </a:graphicData>
        </a:graphic>
      </p:graphicFrame>
      <p:graphicFrame>
        <p:nvGraphicFramePr>
          <p:cNvPr id="19" name="内容占位符 3"/>
          <p:cNvGraphicFramePr>
            <a:graphicFrameLocks noChangeAspect="1"/>
          </p:cNvGraphicFramePr>
          <p:nvPr/>
        </p:nvGraphicFramePr>
        <p:xfrm>
          <a:off x="2146300" y="2760663"/>
          <a:ext cx="4887913" cy="387350"/>
        </p:xfrm>
        <a:graphic>
          <a:graphicData uri="http://schemas.openxmlformats.org/presentationml/2006/ole">
            <mc:AlternateContent xmlns:mc="http://schemas.openxmlformats.org/markup-compatibility/2006">
              <mc:Choice xmlns:v="urn:schemas-microsoft-com:vml" Requires="v">
                <p:oleObj spid="_x0000_s20" name="Formula" r:id="rId14" imgW="19373850" imgH="1524000" progId="Equation.Ribbit">
                  <p:embed/>
                </p:oleObj>
              </mc:Choice>
              <mc:Fallback>
                <p:oleObj name="Formula" r:id="rId14" imgW="19373850" imgH="1524000" progId="Equation.Ribbit">
                  <p:embed/>
                  <p:pic>
                    <p:nvPicPr>
                      <p:cNvPr id="0" name="图片 19"/>
                      <p:cNvPicPr/>
                      <p:nvPr/>
                    </p:nvPicPr>
                    <p:blipFill>
                      <a:blip r:embed="rId15"/>
                      <a:stretch>
                        <a:fillRect/>
                      </a:stretch>
                    </p:blipFill>
                    <p:spPr>
                      <a:xfrm>
                        <a:off x="2146300" y="2760663"/>
                        <a:ext cx="4887913" cy="387350"/>
                      </a:xfrm>
                      <a:prstGeom prst="rect">
                        <a:avLst/>
                      </a:prstGeom>
                    </p:spPr>
                  </p:pic>
                </p:oleObj>
              </mc:Fallback>
            </mc:AlternateContent>
          </a:graphicData>
        </a:graphic>
      </p:graphicFrame>
      <p:graphicFrame>
        <p:nvGraphicFramePr>
          <p:cNvPr id="21" name="内容占位符 3"/>
          <p:cNvGraphicFramePr>
            <a:graphicFrameLocks noChangeAspect="1"/>
          </p:cNvGraphicFramePr>
          <p:nvPr/>
        </p:nvGraphicFramePr>
        <p:xfrm>
          <a:off x="2146300" y="3255963"/>
          <a:ext cx="4887913" cy="388937"/>
        </p:xfrm>
        <a:graphic>
          <a:graphicData uri="http://schemas.openxmlformats.org/presentationml/2006/ole">
            <mc:AlternateContent xmlns:mc="http://schemas.openxmlformats.org/markup-compatibility/2006">
              <mc:Choice xmlns:v="urn:schemas-microsoft-com:vml" Requires="v">
                <p:oleObj spid="_x0000_s22" name="Formula" r:id="rId16" imgW="19373850" imgH="1533525" progId="Equation.Ribbit">
                  <p:embed/>
                </p:oleObj>
              </mc:Choice>
              <mc:Fallback>
                <p:oleObj name="Formula" r:id="rId16" imgW="19373850" imgH="1533525" progId="Equation.Ribbit">
                  <p:embed/>
                  <p:pic>
                    <p:nvPicPr>
                      <p:cNvPr id="0" name="图片 21"/>
                      <p:cNvPicPr/>
                      <p:nvPr/>
                    </p:nvPicPr>
                    <p:blipFill>
                      <a:blip r:embed="rId17"/>
                      <a:stretch>
                        <a:fillRect/>
                      </a:stretch>
                    </p:blipFill>
                    <p:spPr>
                      <a:xfrm>
                        <a:off x="2146300" y="3255963"/>
                        <a:ext cx="4887913" cy="388937"/>
                      </a:xfrm>
                      <a:prstGeom prst="rect">
                        <a:avLst/>
                      </a:prstGeom>
                    </p:spPr>
                  </p:pic>
                </p:oleObj>
              </mc:Fallback>
            </mc:AlternateContent>
          </a:graphicData>
        </a:graphic>
      </p:graphicFrame>
      <p:graphicFrame>
        <p:nvGraphicFramePr>
          <p:cNvPr id="23" name="内容占位符 3"/>
          <p:cNvGraphicFramePr>
            <a:graphicFrameLocks noChangeAspect="1"/>
          </p:cNvGraphicFramePr>
          <p:nvPr/>
        </p:nvGraphicFramePr>
        <p:xfrm>
          <a:off x="2146300" y="3749675"/>
          <a:ext cx="4887913" cy="388938"/>
        </p:xfrm>
        <a:graphic>
          <a:graphicData uri="http://schemas.openxmlformats.org/presentationml/2006/ole">
            <mc:AlternateContent xmlns:mc="http://schemas.openxmlformats.org/markup-compatibility/2006">
              <mc:Choice xmlns:v="urn:schemas-microsoft-com:vml" Requires="v">
                <p:oleObj spid="_x0000_s24" name="Formula" r:id="rId18" imgW="19364325" imgH="1533525" progId="Equation.Ribbit">
                  <p:embed/>
                </p:oleObj>
              </mc:Choice>
              <mc:Fallback>
                <p:oleObj name="Formula" r:id="rId18" imgW="19364325" imgH="1533525" progId="Equation.Ribbit">
                  <p:embed/>
                  <p:pic>
                    <p:nvPicPr>
                      <p:cNvPr id="0" name="图片 23"/>
                      <p:cNvPicPr/>
                      <p:nvPr/>
                    </p:nvPicPr>
                    <p:blipFill>
                      <a:blip r:embed="rId19"/>
                      <a:stretch>
                        <a:fillRect/>
                      </a:stretch>
                    </p:blipFill>
                    <p:spPr>
                      <a:xfrm>
                        <a:off x="2146300" y="3749675"/>
                        <a:ext cx="4887913" cy="388938"/>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644525" y="4768850"/>
          <a:ext cx="4506913" cy="722313"/>
        </p:xfrm>
        <a:graphic>
          <a:graphicData uri="http://schemas.openxmlformats.org/presentationml/2006/ole">
            <mc:AlternateContent xmlns:mc="http://schemas.openxmlformats.org/markup-compatibility/2006">
              <mc:Choice xmlns:v="urn:schemas-microsoft-com:vml" Requires="v">
                <p:oleObj spid="_x0000_s25" name="Formula" r:id="rId20" imgW="21574125" imgH="3457575" progId="Equation.Ribbit">
                  <p:embed/>
                </p:oleObj>
              </mc:Choice>
              <mc:Fallback>
                <p:oleObj name="Formula" r:id="rId20" imgW="21574125" imgH="3457575" progId="Equation.Ribbit">
                  <p:embed/>
                  <p:pic>
                    <p:nvPicPr>
                      <p:cNvPr id="0" name="图片 24"/>
                      <p:cNvPicPr/>
                      <p:nvPr/>
                    </p:nvPicPr>
                    <p:blipFill>
                      <a:blip r:embed="rId21"/>
                      <a:stretch>
                        <a:fillRect/>
                      </a:stretch>
                    </p:blipFill>
                    <p:spPr>
                      <a:xfrm>
                        <a:off x="644525" y="4768850"/>
                        <a:ext cx="4506913" cy="722313"/>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2159000" y="5514975"/>
          <a:ext cx="5343525" cy="346075"/>
        </p:xfrm>
        <a:graphic>
          <a:graphicData uri="http://schemas.openxmlformats.org/presentationml/2006/ole">
            <mc:AlternateContent xmlns:mc="http://schemas.openxmlformats.org/markup-compatibility/2006">
              <mc:Choice xmlns:v="urn:schemas-microsoft-com:vml" Requires="v">
                <p:oleObj spid="_x0000_s28" name="Formula" r:id="rId22" imgW="23545800" imgH="1524000" progId="Equation.Ribbit">
                  <p:embed/>
                </p:oleObj>
              </mc:Choice>
              <mc:Fallback>
                <p:oleObj name="Formula" r:id="rId22" imgW="23545800" imgH="1524000" progId="Equation.Ribbit">
                  <p:embed/>
                  <p:pic>
                    <p:nvPicPr>
                      <p:cNvPr id="0" name="图片 27"/>
                      <p:cNvPicPr/>
                      <p:nvPr/>
                    </p:nvPicPr>
                    <p:blipFill>
                      <a:blip r:embed="rId23"/>
                      <a:stretch>
                        <a:fillRect/>
                      </a:stretch>
                    </p:blipFill>
                    <p:spPr>
                      <a:xfrm>
                        <a:off x="2159000" y="5514975"/>
                        <a:ext cx="5343525" cy="346075"/>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2160588" y="5940425"/>
          <a:ext cx="828675" cy="273050"/>
        </p:xfrm>
        <a:graphic>
          <a:graphicData uri="http://schemas.openxmlformats.org/presentationml/2006/ole">
            <mc:AlternateContent xmlns:mc="http://schemas.openxmlformats.org/markup-compatibility/2006">
              <mc:Choice xmlns:v="urn:schemas-microsoft-com:vml" Requires="v">
                <p:oleObj spid="_x0000_s30" name="Formula" r:id="rId24" imgW="3714750" imgH="1219200" progId="Equation.Ribbit">
                  <p:embed/>
                </p:oleObj>
              </mc:Choice>
              <mc:Fallback>
                <p:oleObj name="Formula" r:id="rId24" imgW="3714750" imgH="1219200" progId="Equation.Ribbit">
                  <p:embed/>
                  <p:pic>
                    <p:nvPicPr>
                      <p:cNvPr id="0" name="图片 29"/>
                      <p:cNvPicPr/>
                      <p:nvPr/>
                    </p:nvPicPr>
                    <p:blipFill>
                      <a:blip r:embed="rId25"/>
                      <a:stretch>
                        <a:fillRect/>
                      </a:stretch>
                    </p:blipFill>
                    <p:spPr>
                      <a:xfrm>
                        <a:off x="2160588" y="5940425"/>
                        <a:ext cx="828675" cy="27305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2929793" y="1824037"/>
          <a:ext cx="2363787" cy="366713"/>
        </p:xfrm>
        <a:graphic>
          <a:graphicData uri="http://schemas.openxmlformats.org/presentationml/2006/ole">
            <mc:AlternateContent xmlns:mc="http://schemas.openxmlformats.org/markup-compatibility/2006">
              <mc:Choice xmlns:v="urn:schemas-microsoft-com:vml" Requires="v">
                <p:oleObj spid="_x0000_s32" name="Formula" r:id="rId26" imgW="8582025" imgH="1333500" progId="Equation.Ribbit">
                  <p:embed/>
                </p:oleObj>
              </mc:Choice>
              <mc:Fallback>
                <p:oleObj name="Formula" r:id="rId26" imgW="8582025" imgH="1333500" progId="Equation.Ribbit">
                  <p:embed/>
                  <p:pic>
                    <p:nvPicPr>
                      <p:cNvPr id="0" name="图片 31"/>
                      <p:cNvPicPr/>
                      <p:nvPr/>
                    </p:nvPicPr>
                    <p:blipFill>
                      <a:blip r:embed="rId27"/>
                      <a:stretch>
                        <a:fillRect/>
                      </a:stretch>
                    </p:blipFill>
                    <p:spPr>
                      <a:xfrm>
                        <a:off x="2929793" y="1824037"/>
                        <a:ext cx="2363787" cy="366713"/>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5596754" y="1858963"/>
          <a:ext cx="158750" cy="347662"/>
        </p:xfrm>
        <a:graphic>
          <a:graphicData uri="http://schemas.openxmlformats.org/presentationml/2006/ole">
            <mc:AlternateContent xmlns:mc="http://schemas.openxmlformats.org/markup-compatibility/2006">
              <mc:Choice xmlns:v="urn:schemas-microsoft-com:vml" Requires="v">
                <p:oleObj spid="_x0000_s34" name="Formula" r:id="rId28" imgW="561975" imgH="1219200" progId="Equation.Ribbit">
                  <p:embed/>
                </p:oleObj>
              </mc:Choice>
              <mc:Fallback>
                <p:oleObj name="Formula" r:id="rId28" imgW="561975" imgH="1219200" progId="Equation.Ribbit">
                  <p:embed/>
                  <p:pic>
                    <p:nvPicPr>
                      <p:cNvPr id="0" name="图片 33"/>
                      <p:cNvPicPr/>
                      <p:nvPr/>
                    </p:nvPicPr>
                    <p:blipFill>
                      <a:blip r:embed="rId29"/>
                      <a:stretch>
                        <a:fillRect/>
                      </a:stretch>
                    </p:blipFill>
                    <p:spPr>
                      <a:xfrm>
                        <a:off x="5596754" y="1858963"/>
                        <a:ext cx="158750" cy="347662"/>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5666714" y="2287409"/>
          <a:ext cx="158750" cy="347662"/>
        </p:xfrm>
        <a:graphic>
          <a:graphicData uri="http://schemas.openxmlformats.org/presentationml/2006/ole">
            <mc:AlternateContent xmlns:mc="http://schemas.openxmlformats.org/markup-compatibility/2006">
              <mc:Choice xmlns:v="urn:schemas-microsoft-com:vml" Requires="v">
                <p:oleObj spid="_x0000_s36" name="Formula" r:id="rId30" imgW="561975" imgH="1219200" progId="Equation.Ribbit">
                  <p:embed/>
                </p:oleObj>
              </mc:Choice>
              <mc:Fallback>
                <p:oleObj name="Formula" r:id="rId30" imgW="561975" imgH="1219200" progId="Equation.Ribbit">
                  <p:embed/>
                  <p:pic>
                    <p:nvPicPr>
                      <p:cNvPr id="0" name="图片 35"/>
                      <p:cNvPicPr/>
                      <p:nvPr/>
                    </p:nvPicPr>
                    <p:blipFill>
                      <a:blip r:embed="rId31"/>
                      <a:stretch>
                        <a:fillRect/>
                      </a:stretch>
                    </p:blipFill>
                    <p:spPr>
                      <a:xfrm>
                        <a:off x="5666714" y="2287409"/>
                        <a:ext cx="158750" cy="347662"/>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4518552" y="1128176"/>
          <a:ext cx="149269" cy="330200"/>
        </p:xfrm>
        <a:graphic>
          <a:graphicData uri="http://schemas.openxmlformats.org/presentationml/2006/ole">
            <mc:AlternateContent xmlns:mc="http://schemas.openxmlformats.org/markup-compatibility/2006">
              <mc:Choice xmlns:v="urn:schemas-microsoft-com:vml" Requires="v">
                <p:oleObj spid="_x0000_s38" name="Formula" r:id="rId32" imgW="561975" imgH="1219200" progId="Equation.Ribbit">
                  <p:embed/>
                </p:oleObj>
              </mc:Choice>
              <mc:Fallback>
                <p:oleObj name="Formula" r:id="rId32" imgW="561975" imgH="1219200" progId="Equation.Ribbit">
                  <p:embed/>
                  <p:pic>
                    <p:nvPicPr>
                      <p:cNvPr id="0" name="图片 37"/>
                      <p:cNvPicPr/>
                      <p:nvPr/>
                    </p:nvPicPr>
                    <p:blipFill>
                      <a:blip r:embed="rId31"/>
                      <a:stretch>
                        <a:fillRect/>
                      </a:stretch>
                    </p:blipFill>
                    <p:spPr>
                      <a:xfrm>
                        <a:off x="4518552" y="1128176"/>
                        <a:ext cx="149269" cy="330200"/>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7864475" y="2776935"/>
          <a:ext cx="730250" cy="520303"/>
        </p:xfrm>
        <a:graphic>
          <a:graphicData uri="http://schemas.openxmlformats.org/presentationml/2006/ole">
            <mc:AlternateContent xmlns:mc="http://schemas.openxmlformats.org/markup-compatibility/2006">
              <mc:Choice xmlns:v="urn:schemas-microsoft-com:vml" Requires="v">
                <p:oleObj spid="_x0000_s40" name="Formula" r:id="rId33" imgW="104775" imgH="257175" progId="Equation.Ribbit">
                  <p:embed/>
                </p:oleObj>
              </mc:Choice>
              <mc:Fallback>
                <p:oleObj name="Formula" r:id="rId33" imgW="104775" imgH="257175" progId="Equation.Ribbit">
                  <p:embed/>
                  <p:pic>
                    <p:nvPicPr>
                      <p:cNvPr id="0" name="图片 39"/>
                      <p:cNvPicPr/>
                      <p:nvPr/>
                    </p:nvPicPr>
                    <p:blipFill>
                      <a:blip r:embed="rId34"/>
                      <a:stretch>
                        <a:fillRect/>
                      </a:stretch>
                    </p:blipFill>
                    <p:spPr>
                      <a:xfrm>
                        <a:off x="7864475" y="2776935"/>
                        <a:ext cx="730250" cy="520303"/>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4491038" y="3371850"/>
          <a:ext cx="608996" cy="114300"/>
        </p:xfrm>
        <a:graphic>
          <a:graphicData uri="http://schemas.openxmlformats.org/presentationml/2006/ole">
            <mc:AlternateContent xmlns:mc="http://schemas.openxmlformats.org/markup-compatibility/2006">
              <mc:Choice xmlns:v="urn:schemas-microsoft-com:vml" Requires="v">
                <p:oleObj spid="_x0000_s42" name="Formula" r:id="rId35" imgW="104775" imgH="257175" progId="Equation.Ribbit">
                  <p:embed/>
                </p:oleObj>
              </mc:Choice>
              <mc:Fallback>
                <p:oleObj name="Formula" r:id="rId35" imgW="104775" imgH="257175" progId="Equation.Ribbit">
                  <p:embed/>
                  <p:pic>
                    <p:nvPicPr>
                      <p:cNvPr id="0" name="图片 41"/>
                      <p:cNvPicPr/>
                      <p:nvPr/>
                    </p:nvPicPr>
                    <p:blipFill>
                      <a:blip r:embed="rId34"/>
                      <a:stretch>
                        <a:fillRect/>
                      </a:stretch>
                    </p:blipFill>
                    <p:spPr>
                      <a:xfrm>
                        <a:off x="4491038" y="3371850"/>
                        <a:ext cx="608996" cy="1143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类似的，其他属性的信息增益为</a:t>
            </a:r>
            <a:endParaRPr lang="en-US" altLang="zh-CN" b="1"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dirty="0"/>
          </a:p>
          <a:p>
            <a:endParaRPr lang="en-US" altLang="zh-CN" dirty="0"/>
          </a:p>
          <a:p>
            <a:endParaRPr lang="en-US" altLang="zh-CN" dirty="0"/>
          </a:p>
          <a:p>
            <a:endParaRPr lang="en-US" altLang="zh-CN" dirty="0"/>
          </a:p>
          <a:p>
            <a:r>
              <a:rPr lang="zh-CN" altLang="en-US" b="1" dirty="0">
                <a:latin typeface="黑体" panose="02010609060101010101" pitchFamily="49" charset="-122"/>
                <a:ea typeface="黑体" panose="02010609060101010101" pitchFamily="49" charset="-122"/>
              </a:rPr>
              <a:t>显然，属性“纹理”的信息增益最大，其被选为划分属性</a:t>
            </a:r>
            <a:endParaRPr lang="zh-CN" altLang="en-US" b="1" dirty="0">
              <a:latin typeface="黑体" panose="02010609060101010101" pitchFamily="49" charset="-122"/>
              <a:ea typeface="黑体" panose="02010609060101010101" pitchFamily="49" charset="-122"/>
            </a:endParaRPr>
          </a:p>
        </p:txBody>
      </p:sp>
      <p:graphicFrame>
        <p:nvGraphicFramePr>
          <p:cNvPr id="5" name="对象 4"/>
          <p:cNvGraphicFramePr>
            <a:graphicFrameLocks noChangeAspect="1"/>
          </p:cNvGraphicFramePr>
          <p:nvPr/>
        </p:nvGraphicFramePr>
        <p:xfrm>
          <a:off x="858838" y="1928813"/>
          <a:ext cx="2922587" cy="377825"/>
        </p:xfrm>
        <a:graphic>
          <a:graphicData uri="http://schemas.openxmlformats.org/presentationml/2006/ole">
            <mc:AlternateContent xmlns:mc="http://schemas.openxmlformats.org/markup-compatibility/2006">
              <mc:Choice xmlns:v="urn:schemas-microsoft-com:vml" Requires="v">
                <p:oleObj spid="_x0000_s27941" name="Formula" r:id="rId1" imgW="10991850" imgH="1409700" progId="Equation.Ribbit">
                  <p:embed/>
                </p:oleObj>
              </mc:Choice>
              <mc:Fallback>
                <p:oleObj name="Formula" r:id="rId1" imgW="10991850" imgH="1409700" progId="Equation.Ribbit">
                  <p:embed/>
                  <p:pic>
                    <p:nvPicPr>
                      <p:cNvPr id="0" name="图片 27940"/>
                      <p:cNvPicPr/>
                      <p:nvPr/>
                    </p:nvPicPr>
                    <p:blipFill>
                      <a:blip r:embed="rId2"/>
                      <a:stretch>
                        <a:fillRect/>
                      </a:stretch>
                    </p:blipFill>
                    <p:spPr>
                      <a:xfrm>
                        <a:off x="858838" y="1928813"/>
                        <a:ext cx="2922587" cy="377825"/>
                      </a:xfrm>
                      <a:prstGeom prst="rect">
                        <a:avLst/>
                      </a:prstGeom>
                    </p:spPr>
                  </p:pic>
                </p:oleObj>
              </mc:Fallback>
            </mc:AlternateContent>
          </a:graphicData>
        </a:graphic>
      </p:graphicFrame>
      <p:cxnSp>
        <p:nvCxnSpPr>
          <p:cNvPr id="16" name="直接连接符 15"/>
          <p:cNvCxnSpPr/>
          <p:nvPr/>
        </p:nvCxnSpPr>
        <p:spPr>
          <a:xfrm>
            <a:off x="5197228" y="4761071"/>
            <a:ext cx="2203197" cy="631503"/>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flipH="1">
            <a:off x="2252888" y="4755298"/>
            <a:ext cx="2077319" cy="579765"/>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a:stCxn id="24" idx="2"/>
            <a:endCxn id="25" idx="0"/>
          </p:cNvCxnSpPr>
          <p:nvPr/>
        </p:nvCxnSpPr>
        <p:spPr>
          <a:xfrm>
            <a:off x="4590325" y="4741649"/>
            <a:ext cx="683816" cy="644360"/>
          </a:xfrm>
          <a:prstGeom prst="line">
            <a:avLst/>
          </a:prstGeom>
        </p:spPr>
        <p:style>
          <a:lnRef idx="1">
            <a:schemeClr val="dk1"/>
          </a:lnRef>
          <a:fillRef idx="0">
            <a:schemeClr val="dk1"/>
          </a:fillRef>
          <a:effectRef idx="0">
            <a:schemeClr val="dk1"/>
          </a:effectRef>
          <a:fontRef idx="minor">
            <a:schemeClr val="tx1"/>
          </a:fontRef>
        </p:style>
      </p:cxnSp>
      <p:sp>
        <p:nvSpPr>
          <p:cNvPr id="19" name="文本框 18"/>
          <p:cNvSpPr txBox="1"/>
          <p:nvPr/>
        </p:nvSpPr>
        <p:spPr>
          <a:xfrm>
            <a:off x="2348509" y="4917030"/>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清晰</a:t>
            </a:r>
            <a:endParaRPr lang="zh-CN" altLang="en-US" b="1" dirty="0">
              <a:latin typeface="楷体" panose="02010609060101010101" pitchFamily="49" charset="-122"/>
              <a:ea typeface="楷体" panose="02010609060101010101" pitchFamily="49" charset="-122"/>
            </a:endParaRPr>
          </a:p>
        </p:txBody>
      </p:sp>
      <p:sp>
        <p:nvSpPr>
          <p:cNvPr id="20" name="文本框 19"/>
          <p:cNvSpPr txBox="1"/>
          <p:nvPr/>
        </p:nvSpPr>
        <p:spPr>
          <a:xfrm>
            <a:off x="4457904" y="4952082"/>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稍糊</a:t>
            </a:r>
            <a:endParaRPr lang="zh-CN" altLang="en-US" b="1" dirty="0">
              <a:latin typeface="楷体" panose="02010609060101010101" pitchFamily="49" charset="-122"/>
              <a:ea typeface="楷体" panose="02010609060101010101" pitchFamily="49" charset="-122"/>
            </a:endParaRPr>
          </a:p>
        </p:txBody>
      </p:sp>
      <p:sp>
        <p:nvSpPr>
          <p:cNvPr id="21" name="文本框 20"/>
          <p:cNvSpPr txBox="1"/>
          <p:nvPr/>
        </p:nvSpPr>
        <p:spPr>
          <a:xfrm>
            <a:off x="6845447" y="4917030"/>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模糊</a:t>
            </a:r>
            <a:endParaRPr lang="zh-CN" altLang="en-US" b="1" dirty="0">
              <a:latin typeface="楷体" panose="02010609060101010101" pitchFamily="49" charset="-122"/>
              <a:ea typeface="楷体" panose="02010609060101010101" pitchFamily="49" charset="-122"/>
            </a:endParaRPr>
          </a:p>
        </p:txBody>
      </p:sp>
      <p:sp>
        <p:nvSpPr>
          <p:cNvPr id="22" name="圆角矩形 21"/>
          <p:cNvSpPr/>
          <p:nvPr/>
        </p:nvSpPr>
        <p:spPr>
          <a:xfrm>
            <a:off x="1171711" y="5370617"/>
            <a:ext cx="2634232"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b="1" dirty="0">
                <a:latin typeface="Times" panose="02020603060405020304" pitchFamily="18" charset="0"/>
              </a:rPr>
              <a:t>{1,2,3,4,5,6,8,10,15}</a:t>
            </a:r>
            <a:endParaRPr lang="zh-CN" altLang="en-US" sz="2200" b="1" dirty="0">
              <a:latin typeface="Times" panose="02020603060405020304" pitchFamily="18" charset="0"/>
            </a:endParaRPr>
          </a:p>
        </p:txBody>
      </p:sp>
      <p:sp>
        <p:nvSpPr>
          <p:cNvPr id="24" name="圆角矩形 23"/>
          <p:cNvSpPr/>
          <p:nvPr/>
        </p:nvSpPr>
        <p:spPr>
          <a:xfrm>
            <a:off x="3870325" y="4309649"/>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纹理</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25" name="圆角矩形 24"/>
          <p:cNvSpPr/>
          <p:nvPr/>
        </p:nvSpPr>
        <p:spPr>
          <a:xfrm>
            <a:off x="4311956" y="5386009"/>
            <a:ext cx="1924369"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b="1" dirty="0">
                <a:latin typeface="Times" panose="02020603060405020304" pitchFamily="18" charset="0"/>
              </a:rPr>
              <a:t>{7,9,13,14,17}</a:t>
            </a:r>
            <a:endParaRPr lang="zh-CN" altLang="en-US" sz="2200" b="1" dirty="0">
              <a:latin typeface="Times" panose="02020603060405020304" pitchFamily="18" charset="0"/>
            </a:endParaRPr>
          </a:p>
        </p:txBody>
      </p:sp>
      <p:sp>
        <p:nvSpPr>
          <p:cNvPr id="49" name="圆角矩形 48"/>
          <p:cNvSpPr/>
          <p:nvPr/>
        </p:nvSpPr>
        <p:spPr>
          <a:xfrm>
            <a:off x="6640889" y="5358103"/>
            <a:ext cx="1924369"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b="1" dirty="0">
                <a:latin typeface="Times" panose="02020603060405020304" pitchFamily="18" charset="0"/>
              </a:rPr>
              <a:t>{11,12,16}</a:t>
            </a:r>
            <a:endParaRPr lang="zh-CN" altLang="en-US" sz="2200" b="1" dirty="0">
              <a:latin typeface="Times" panose="02020603060405020304" pitchFamily="18" charset="0"/>
            </a:endParaRPr>
          </a:p>
        </p:txBody>
      </p:sp>
      <p:graphicFrame>
        <p:nvGraphicFramePr>
          <p:cNvPr id="26" name="对象 25"/>
          <p:cNvGraphicFramePr>
            <a:graphicFrameLocks noChangeAspect="1"/>
          </p:cNvGraphicFramePr>
          <p:nvPr/>
        </p:nvGraphicFramePr>
        <p:xfrm>
          <a:off x="4583113" y="1931988"/>
          <a:ext cx="2884487" cy="374650"/>
        </p:xfrm>
        <a:graphic>
          <a:graphicData uri="http://schemas.openxmlformats.org/presentationml/2006/ole">
            <mc:AlternateContent xmlns:mc="http://schemas.openxmlformats.org/markup-compatibility/2006">
              <mc:Choice xmlns:v="urn:schemas-microsoft-com:vml" Requires="v">
                <p:oleObj spid="_x0000_s4" name="Formula" r:id="rId3" imgW="10944225" imgH="1409700" progId="Equation.Ribbit">
                  <p:embed/>
                </p:oleObj>
              </mc:Choice>
              <mc:Fallback>
                <p:oleObj name="Formula" r:id="rId3" imgW="10944225" imgH="1409700" progId="Equation.Ribbit">
                  <p:embed/>
                  <p:pic>
                    <p:nvPicPr>
                      <p:cNvPr id="0" name="图片 3"/>
                      <p:cNvPicPr/>
                      <p:nvPr/>
                    </p:nvPicPr>
                    <p:blipFill>
                      <a:blip r:embed="rId4"/>
                      <a:stretch>
                        <a:fillRect/>
                      </a:stretch>
                    </p:blipFill>
                    <p:spPr>
                      <a:xfrm>
                        <a:off x="4583113" y="1931988"/>
                        <a:ext cx="2884487" cy="37465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855663" y="2427288"/>
          <a:ext cx="2940050" cy="374650"/>
        </p:xfrm>
        <a:graphic>
          <a:graphicData uri="http://schemas.openxmlformats.org/presentationml/2006/ole">
            <mc:AlternateContent xmlns:mc="http://schemas.openxmlformats.org/markup-compatibility/2006">
              <mc:Choice xmlns:v="urn:schemas-microsoft-com:vml" Requires="v">
                <p:oleObj spid="_x0000_s6" name="Formula" r:id="rId5" imgW="10944225" imgH="1390650" progId="Equation.Ribbit">
                  <p:embed/>
                </p:oleObj>
              </mc:Choice>
              <mc:Fallback>
                <p:oleObj name="Formula" r:id="rId5" imgW="10944225" imgH="1390650" progId="Equation.Ribbit">
                  <p:embed/>
                  <p:pic>
                    <p:nvPicPr>
                      <p:cNvPr id="0" name="图片 5"/>
                      <p:cNvPicPr/>
                      <p:nvPr/>
                    </p:nvPicPr>
                    <p:blipFill>
                      <a:blip r:embed="rId6"/>
                      <a:stretch>
                        <a:fillRect/>
                      </a:stretch>
                    </p:blipFill>
                    <p:spPr>
                      <a:xfrm>
                        <a:off x="855663" y="2427288"/>
                        <a:ext cx="2940050" cy="37465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4583113" y="2422525"/>
          <a:ext cx="2954337" cy="377825"/>
        </p:xfrm>
        <a:graphic>
          <a:graphicData uri="http://schemas.openxmlformats.org/presentationml/2006/ole">
            <mc:AlternateContent xmlns:mc="http://schemas.openxmlformats.org/markup-compatibility/2006">
              <mc:Choice xmlns:v="urn:schemas-microsoft-com:vml" Requires="v">
                <p:oleObj spid="_x0000_s7" name="Formula" r:id="rId7" imgW="10991850" imgH="1400175" progId="Equation.Ribbit">
                  <p:embed/>
                </p:oleObj>
              </mc:Choice>
              <mc:Fallback>
                <p:oleObj name="Formula" r:id="rId7" imgW="10991850" imgH="1400175" progId="Equation.Ribbit">
                  <p:embed/>
                  <p:pic>
                    <p:nvPicPr>
                      <p:cNvPr id="0" name="图片 6"/>
                      <p:cNvPicPr/>
                      <p:nvPr/>
                    </p:nvPicPr>
                    <p:blipFill>
                      <a:blip r:embed="rId8"/>
                      <a:stretch>
                        <a:fillRect/>
                      </a:stretch>
                    </p:blipFill>
                    <p:spPr>
                      <a:xfrm>
                        <a:off x="4583113" y="2422525"/>
                        <a:ext cx="2954337" cy="377825"/>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855663" y="2884488"/>
          <a:ext cx="2925762" cy="377825"/>
        </p:xfrm>
        <a:graphic>
          <a:graphicData uri="http://schemas.openxmlformats.org/presentationml/2006/ole">
            <mc:AlternateContent xmlns:mc="http://schemas.openxmlformats.org/markup-compatibility/2006">
              <mc:Choice xmlns:v="urn:schemas-microsoft-com:vml" Requires="v">
                <p:oleObj spid="_x0000_s9" name="Formula" r:id="rId9" imgW="10991850" imgH="1409700" progId="Equation.Ribbit">
                  <p:embed/>
                </p:oleObj>
              </mc:Choice>
              <mc:Fallback>
                <p:oleObj name="Formula" r:id="rId9" imgW="10991850" imgH="1409700" progId="Equation.Ribbit">
                  <p:embed/>
                  <p:pic>
                    <p:nvPicPr>
                      <p:cNvPr id="0" name="图片 8"/>
                      <p:cNvPicPr/>
                      <p:nvPr/>
                    </p:nvPicPr>
                    <p:blipFill>
                      <a:blip r:embed="rId10"/>
                      <a:stretch>
                        <a:fillRect/>
                      </a:stretch>
                    </p:blipFill>
                    <p:spPr>
                      <a:xfrm>
                        <a:off x="855663" y="2884488"/>
                        <a:ext cx="2925762" cy="377825"/>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animBg="1"/>
      <p:bldP spid="24" grpId="0" animBg="1"/>
      <p:bldP spid="25" grpId="0" animBg="1"/>
      <p:bldP spid="4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31419" y="987486"/>
            <a:ext cx="8616950" cy="4930775"/>
          </a:xfrm>
        </p:spPr>
        <p:txBody>
          <a:bodyPr/>
          <a:lstStyle/>
          <a:p>
            <a:pPr>
              <a:lnSpc>
                <a:spcPct val="150000"/>
              </a:lnSpc>
            </a:pPr>
            <a:r>
              <a:rPr lang="zh-CN" altLang="en-US" b="1" dirty="0">
                <a:latin typeface="黑体" panose="02010609060101010101" pitchFamily="49" charset="-122"/>
                <a:ea typeface="黑体" panose="02010609060101010101" pitchFamily="49" charset="-122"/>
              </a:rPr>
              <a:t>决策树学习算法将对每个分支结点做进一步划分，最终得到的决策树如图：</a:t>
            </a:r>
            <a:endParaRPr lang="zh-CN" altLang="en-US" b="1" dirty="0">
              <a:latin typeface="黑体" panose="02010609060101010101" pitchFamily="49" charset="-122"/>
              <a:ea typeface="黑体" panose="02010609060101010101" pitchFamily="49" charset="-122"/>
            </a:endParaRPr>
          </a:p>
        </p:txBody>
      </p:sp>
      <p:cxnSp>
        <p:nvCxnSpPr>
          <p:cNvPr id="4" name="直接连接符 3"/>
          <p:cNvCxnSpPr>
            <a:endCxn id="11" idx="0"/>
          </p:cNvCxnSpPr>
          <p:nvPr/>
        </p:nvCxnSpPr>
        <p:spPr>
          <a:xfrm>
            <a:off x="5197228" y="2108022"/>
            <a:ext cx="2203197" cy="631503"/>
          </a:xfrm>
          <a:prstGeom prst="line">
            <a:avLst/>
          </a:prstGeom>
        </p:spPr>
        <p:style>
          <a:lnRef idx="1">
            <a:schemeClr val="dk1"/>
          </a:lnRef>
          <a:fillRef idx="0">
            <a:schemeClr val="dk1"/>
          </a:fillRef>
          <a:effectRef idx="0">
            <a:schemeClr val="dk1"/>
          </a:effectRef>
          <a:fontRef idx="minor">
            <a:schemeClr val="tx1"/>
          </a:fontRef>
        </p:style>
      </p:cxnSp>
      <p:cxnSp>
        <p:nvCxnSpPr>
          <p:cNvPr id="5" name="直接连接符 4"/>
          <p:cNvCxnSpPr>
            <a:endCxn id="10" idx="0"/>
          </p:cNvCxnSpPr>
          <p:nvPr/>
        </p:nvCxnSpPr>
        <p:spPr>
          <a:xfrm flipH="1">
            <a:off x="2239853" y="2149092"/>
            <a:ext cx="2333275" cy="590433"/>
          </a:xfrm>
          <a:prstGeom prst="line">
            <a:avLst/>
          </a:prstGeom>
        </p:spPr>
        <p:style>
          <a:lnRef idx="1">
            <a:schemeClr val="dk1"/>
          </a:lnRef>
          <a:fillRef idx="0">
            <a:schemeClr val="dk1"/>
          </a:fillRef>
          <a:effectRef idx="0">
            <a:schemeClr val="dk1"/>
          </a:effectRef>
          <a:fontRef idx="minor">
            <a:schemeClr val="tx1"/>
          </a:fontRef>
        </p:style>
      </p:cxnSp>
      <p:cxnSp>
        <p:nvCxnSpPr>
          <p:cNvPr id="6" name="直接连接符 5"/>
          <p:cNvCxnSpPr>
            <a:stCxn id="12" idx="2"/>
            <a:endCxn id="42" idx="0"/>
          </p:cNvCxnSpPr>
          <p:nvPr/>
        </p:nvCxnSpPr>
        <p:spPr>
          <a:xfrm>
            <a:off x="4934330" y="2137803"/>
            <a:ext cx="761995" cy="595157"/>
          </a:xfrm>
          <a:prstGeom prst="line">
            <a:avLst/>
          </a:prstGeom>
        </p:spPr>
        <p:style>
          <a:lnRef idx="1">
            <a:schemeClr val="dk1"/>
          </a:lnRef>
          <a:fillRef idx="0">
            <a:schemeClr val="dk1"/>
          </a:fillRef>
          <a:effectRef idx="0">
            <a:schemeClr val="dk1"/>
          </a:effectRef>
          <a:fontRef idx="minor">
            <a:schemeClr val="tx1"/>
          </a:fontRef>
        </p:style>
      </p:cxnSp>
      <p:sp>
        <p:nvSpPr>
          <p:cNvPr id="7" name="文本框 6"/>
          <p:cNvSpPr txBox="1"/>
          <p:nvPr/>
        </p:nvSpPr>
        <p:spPr>
          <a:xfrm>
            <a:off x="2348509" y="2263981"/>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清晰</a:t>
            </a:r>
            <a:endParaRPr lang="zh-CN" altLang="en-US" b="1" dirty="0">
              <a:latin typeface="楷体" panose="02010609060101010101" pitchFamily="49" charset="-122"/>
              <a:ea typeface="楷体" panose="02010609060101010101" pitchFamily="49" charset="-122"/>
            </a:endParaRPr>
          </a:p>
        </p:txBody>
      </p:sp>
      <p:sp>
        <p:nvSpPr>
          <p:cNvPr id="8" name="文本框 7"/>
          <p:cNvSpPr txBox="1"/>
          <p:nvPr/>
        </p:nvSpPr>
        <p:spPr>
          <a:xfrm>
            <a:off x="4612930" y="2263981"/>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稍糊</a:t>
            </a:r>
            <a:endParaRPr lang="zh-CN" altLang="en-US" b="1" dirty="0">
              <a:latin typeface="楷体" panose="02010609060101010101" pitchFamily="49" charset="-122"/>
              <a:ea typeface="楷体" panose="02010609060101010101" pitchFamily="49" charset="-122"/>
            </a:endParaRPr>
          </a:p>
        </p:txBody>
      </p:sp>
      <p:sp>
        <p:nvSpPr>
          <p:cNvPr id="9" name="文本框 8"/>
          <p:cNvSpPr txBox="1"/>
          <p:nvPr/>
        </p:nvSpPr>
        <p:spPr>
          <a:xfrm>
            <a:off x="6845447" y="2263981"/>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模糊</a:t>
            </a:r>
            <a:endParaRPr lang="zh-CN" altLang="en-US" b="1" dirty="0">
              <a:latin typeface="楷体" panose="02010609060101010101" pitchFamily="49" charset="-122"/>
              <a:ea typeface="楷体" panose="02010609060101010101" pitchFamily="49" charset="-122"/>
            </a:endParaRPr>
          </a:p>
        </p:txBody>
      </p:sp>
      <p:sp>
        <p:nvSpPr>
          <p:cNvPr id="10" name="圆角矩形 9"/>
          <p:cNvSpPr/>
          <p:nvPr/>
        </p:nvSpPr>
        <p:spPr>
          <a:xfrm>
            <a:off x="1699853" y="2739525"/>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11" name="椭圆 10"/>
          <p:cNvSpPr/>
          <p:nvPr/>
        </p:nvSpPr>
        <p:spPr>
          <a:xfrm>
            <a:off x="6860425" y="273952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12" name="圆角矩形 11"/>
          <p:cNvSpPr/>
          <p:nvPr/>
        </p:nvSpPr>
        <p:spPr>
          <a:xfrm>
            <a:off x="4214330" y="1705803"/>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纹理</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13" name="椭圆 12"/>
          <p:cNvSpPr/>
          <p:nvPr/>
        </p:nvSpPr>
        <p:spPr>
          <a:xfrm>
            <a:off x="2973992" y="381311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14" name="椭圆 13"/>
          <p:cNvSpPr/>
          <p:nvPr/>
        </p:nvSpPr>
        <p:spPr>
          <a:xfrm>
            <a:off x="425714" y="381311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15" name="直接连接符 14"/>
          <p:cNvCxnSpPr>
            <a:endCxn id="14" idx="0"/>
          </p:cNvCxnSpPr>
          <p:nvPr/>
        </p:nvCxnSpPr>
        <p:spPr>
          <a:xfrm flipH="1">
            <a:off x="965714" y="3171525"/>
            <a:ext cx="1056139" cy="641590"/>
          </a:xfrm>
          <a:prstGeom prst="line">
            <a:avLst/>
          </a:prstGeom>
        </p:spPr>
        <p:style>
          <a:lnRef idx="1">
            <a:schemeClr val="dk1"/>
          </a:lnRef>
          <a:fillRef idx="0">
            <a:schemeClr val="dk1"/>
          </a:fillRef>
          <a:effectRef idx="0">
            <a:schemeClr val="dk1"/>
          </a:effectRef>
          <a:fontRef idx="minor">
            <a:schemeClr val="tx1"/>
          </a:fontRef>
        </p:style>
      </p:cxnSp>
      <p:cxnSp>
        <p:nvCxnSpPr>
          <p:cNvPr id="16" name="直接连接符 15"/>
          <p:cNvCxnSpPr>
            <a:endCxn id="13" idx="0"/>
          </p:cNvCxnSpPr>
          <p:nvPr/>
        </p:nvCxnSpPr>
        <p:spPr>
          <a:xfrm>
            <a:off x="2461419" y="3171525"/>
            <a:ext cx="1052573" cy="641590"/>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a:stCxn id="10" idx="2"/>
            <a:endCxn id="30" idx="0"/>
          </p:cNvCxnSpPr>
          <p:nvPr/>
        </p:nvCxnSpPr>
        <p:spPr>
          <a:xfrm>
            <a:off x="2239853" y="3171525"/>
            <a:ext cx="0" cy="641590"/>
          </a:xfrm>
          <a:prstGeom prst="line">
            <a:avLst/>
          </a:prstGeom>
        </p:spPr>
        <p:style>
          <a:lnRef idx="1">
            <a:schemeClr val="dk1"/>
          </a:lnRef>
          <a:fillRef idx="0">
            <a:schemeClr val="dk1"/>
          </a:fillRef>
          <a:effectRef idx="0">
            <a:schemeClr val="dk1"/>
          </a:effectRef>
          <a:fontRef idx="minor">
            <a:schemeClr val="tx1"/>
          </a:fontRef>
        </p:style>
      </p:cxnSp>
      <p:sp>
        <p:nvSpPr>
          <p:cNvPr id="18" name="文本框 37"/>
          <p:cNvSpPr txBox="1"/>
          <p:nvPr/>
        </p:nvSpPr>
        <p:spPr>
          <a:xfrm>
            <a:off x="791311" y="3291283"/>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sp>
        <p:nvSpPr>
          <p:cNvPr id="19" name="文本框 38"/>
          <p:cNvSpPr txBox="1"/>
          <p:nvPr/>
        </p:nvSpPr>
        <p:spPr>
          <a:xfrm>
            <a:off x="2177722" y="3291283"/>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20" name="文本框 39"/>
          <p:cNvSpPr txBox="1"/>
          <p:nvPr/>
        </p:nvSpPr>
        <p:spPr>
          <a:xfrm>
            <a:off x="3156208" y="3291283"/>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grpSp>
        <p:nvGrpSpPr>
          <p:cNvPr id="21" name="组合 20"/>
          <p:cNvGrpSpPr/>
          <p:nvPr/>
        </p:nvGrpSpPr>
        <p:grpSpPr>
          <a:xfrm>
            <a:off x="4614939" y="3813115"/>
            <a:ext cx="2286066" cy="432000"/>
            <a:chOff x="5861816" y="2353958"/>
            <a:chExt cx="2286066" cy="432000"/>
          </a:xfrm>
        </p:grpSpPr>
        <p:sp>
          <p:nvSpPr>
            <p:cNvPr id="22" name="椭圆 21"/>
            <p:cNvSpPr/>
            <p:nvPr/>
          </p:nvSpPr>
          <p:spPr>
            <a:xfrm>
              <a:off x="5861816" y="235395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23" name="椭圆 22"/>
            <p:cNvSpPr/>
            <p:nvPr/>
          </p:nvSpPr>
          <p:spPr>
            <a:xfrm>
              <a:off x="7067882" y="235395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grpSp>
      <p:cxnSp>
        <p:nvCxnSpPr>
          <p:cNvPr id="24" name="直接连接符 23"/>
          <p:cNvCxnSpPr>
            <a:endCxn id="22" idx="0"/>
          </p:cNvCxnSpPr>
          <p:nvPr/>
        </p:nvCxnSpPr>
        <p:spPr>
          <a:xfrm flipH="1">
            <a:off x="5154939" y="3092634"/>
            <a:ext cx="431813" cy="720481"/>
          </a:xfrm>
          <a:prstGeom prst="line">
            <a:avLst/>
          </a:prstGeom>
        </p:spPr>
        <p:style>
          <a:lnRef idx="1">
            <a:schemeClr val="dk1"/>
          </a:lnRef>
          <a:fillRef idx="0">
            <a:schemeClr val="dk1"/>
          </a:fillRef>
          <a:effectRef idx="0">
            <a:schemeClr val="dk1"/>
          </a:effectRef>
          <a:fontRef idx="minor">
            <a:schemeClr val="tx1"/>
          </a:fontRef>
        </p:style>
      </p:cxnSp>
      <p:cxnSp>
        <p:nvCxnSpPr>
          <p:cNvPr id="25" name="直接连接符 24"/>
          <p:cNvCxnSpPr>
            <a:endCxn id="23" idx="0"/>
          </p:cNvCxnSpPr>
          <p:nvPr/>
        </p:nvCxnSpPr>
        <p:spPr>
          <a:xfrm>
            <a:off x="5875565" y="3092634"/>
            <a:ext cx="485440" cy="720481"/>
          </a:xfrm>
          <a:prstGeom prst="line">
            <a:avLst/>
          </a:prstGeom>
        </p:spPr>
        <p:style>
          <a:lnRef idx="1">
            <a:schemeClr val="dk1"/>
          </a:lnRef>
          <a:fillRef idx="0">
            <a:schemeClr val="dk1"/>
          </a:fillRef>
          <a:effectRef idx="0">
            <a:schemeClr val="dk1"/>
          </a:effectRef>
          <a:fontRef idx="minor">
            <a:schemeClr val="tx1"/>
          </a:fontRef>
        </p:style>
      </p:cxnSp>
      <p:sp>
        <p:nvSpPr>
          <p:cNvPr id="26" name="椭圆 25"/>
          <p:cNvSpPr/>
          <p:nvPr/>
        </p:nvSpPr>
        <p:spPr>
          <a:xfrm>
            <a:off x="412216" y="488670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27" name="椭圆 26"/>
          <p:cNvSpPr/>
          <p:nvPr/>
        </p:nvSpPr>
        <p:spPr>
          <a:xfrm>
            <a:off x="2973992" y="488670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28" name="直接连接符 27"/>
          <p:cNvCxnSpPr>
            <a:endCxn id="26" idx="0"/>
          </p:cNvCxnSpPr>
          <p:nvPr/>
        </p:nvCxnSpPr>
        <p:spPr>
          <a:xfrm flipH="1">
            <a:off x="952216" y="4092615"/>
            <a:ext cx="1207634" cy="794090"/>
          </a:xfrm>
          <a:prstGeom prst="line">
            <a:avLst/>
          </a:prstGeom>
        </p:spPr>
        <p:style>
          <a:lnRef idx="1">
            <a:schemeClr val="dk1"/>
          </a:lnRef>
          <a:fillRef idx="0">
            <a:schemeClr val="dk1"/>
          </a:fillRef>
          <a:effectRef idx="0">
            <a:schemeClr val="dk1"/>
          </a:effectRef>
          <a:fontRef idx="minor">
            <a:schemeClr val="tx1"/>
          </a:fontRef>
        </p:style>
      </p:cxnSp>
      <p:cxnSp>
        <p:nvCxnSpPr>
          <p:cNvPr id="29" name="直接连接符 28"/>
          <p:cNvCxnSpPr>
            <a:endCxn id="27" idx="0"/>
          </p:cNvCxnSpPr>
          <p:nvPr/>
        </p:nvCxnSpPr>
        <p:spPr>
          <a:xfrm>
            <a:off x="2353180" y="4165119"/>
            <a:ext cx="1160812" cy="721586"/>
          </a:xfrm>
          <a:prstGeom prst="line">
            <a:avLst/>
          </a:prstGeom>
        </p:spPr>
        <p:style>
          <a:lnRef idx="1">
            <a:schemeClr val="dk1"/>
          </a:lnRef>
          <a:fillRef idx="0">
            <a:schemeClr val="dk1"/>
          </a:fillRef>
          <a:effectRef idx="0">
            <a:schemeClr val="dk1"/>
          </a:effectRef>
          <a:fontRef idx="minor">
            <a:schemeClr val="tx1"/>
          </a:fontRef>
        </p:style>
      </p:cxnSp>
      <p:sp>
        <p:nvSpPr>
          <p:cNvPr id="30" name="圆角矩形 29"/>
          <p:cNvSpPr/>
          <p:nvPr/>
        </p:nvSpPr>
        <p:spPr>
          <a:xfrm>
            <a:off x="1699853" y="3813115"/>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31" name="文本框 60"/>
          <p:cNvSpPr txBox="1"/>
          <p:nvPr/>
        </p:nvSpPr>
        <p:spPr>
          <a:xfrm>
            <a:off x="770849" y="4339949"/>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cxnSp>
        <p:nvCxnSpPr>
          <p:cNvPr id="32" name="直接连接符 31"/>
          <p:cNvCxnSpPr>
            <a:stCxn id="30" idx="2"/>
            <a:endCxn id="39" idx="0"/>
          </p:cNvCxnSpPr>
          <p:nvPr/>
        </p:nvCxnSpPr>
        <p:spPr>
          <a:xfrm>
            <a:off x="2239853" y="4245115"/>
            <a:ext cx="1016" cy="641590"/>
          </a:xfrm>
          <a:prstGeom prst="line">
            <a:avLst/>
          </a:prstGeom>
        </p:spPr>
        <p:style>
          <a:lnRef idx="1">
            <a:schemeClr val="dk1"/>
          </a:lnRef>
          <a:fillRef idx="0">
            <a:schemeClr val="dk1"/>
          </a:fillRef>
          <a:effectRef idx="0">
            <a:schemeClr val="dk1"/>
          </a:effectRef>
          <a:fontRef idx="minor">
            <a:schemeClr val="tx1"/>
          </a:fontRef>
        </p:style>
      </p:cxnSp>
      <p:sp>
        <p:nvSpPr>
          <p:cNvPr id="33" name="文本框 64"/>
          <p:cNvSpPr txBox="1"/>
          <p:nvPr/>
        </p:nvSpPr>
        <p:spPr>
          <a:xfrm>
            <a:off x="2160868" y="4345030"/>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sp>
        <p:nvSpPr>
          <p:cNvPr id="34" name="文本框 65"/>
          <p:cNvSpPr txBox="1"/>
          <p:nvPr/>
        </p:nvSpPr>
        <p:spPr>
          <a:xfrm>
            <a:off x="3016143" y="4339949"/>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35" name="椭圆 34"/>
          <p:cNvSpPr/>
          <p:nvPr/>
        </p:nvSpPr>
        <p:spPr>
          <a:xfrm>
            <a:off x="1060611" y="5779671"/>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36" name="椭圆 35"/>
          <p:cNvSpPr/>
          <p:nvPr/>
        </p:nvSpPr>
        <p:spPr>
          <a:xfrm>
            <a:off x="2311833" y="5779671"/>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cxnSp>
        <p:nvCxnSpPr>
          <p:cNvPr id="37" name="直接连接符 36"/>
          <p:cNvCxnSpPr>
            <a:endCxn id="35" idx="0"/>
          </p:cNvCxnSpPr>
          <p:nvPr/>
        </p:nvCxnSpPr>
        <p:spPr>
          <a:xfrm flipH="1">
            <a:off x="1600611" y="5166205"/>
            <a:ext cx="577111" cy="613466"/>
          </a:xfrm>
          <a:prstGeom prst="line">
            <a:avLst/>
          </a:prstGeom>
        </p:spPr>
        <p:style>
          <a:lnRef idx="1">
            <a:schemeClr val="dk1"/>
          </a:lnRef>
          <a:fillRef idx="0">
            <a:schemeClr val="dk1"/>
          </a:fillRef>
          <a:effectRef idx="0">
            <a:schemeClr val="dk1"/>
          </a:effectRef>
          <a:fontRef idx="minor">
            <a:schemeClr val="tx1"/>
          </a:fontRef>
        </p:style>
      </p:cxnSp>
      <p:cxnSp>
        <p:nvCxnSpPr>
          <p:cNvPr id="38" name="直接连接符 37"/>
          <p:cNvCxnSpPr>
            <a:endCxn id="36" idx="0"/>
          </p:cNvCxnSpPr>
          <p:nvPr/>
        </p:nvCxnSpPr>
        <p:spPr>
          <a:xfrm>
            <a:off x="2217977" y="5166205"/>
            <a:ext cx="633856" cy="613466"/>
          </a:xfrm>
          <a:prstGeom prst="line">
            <a:avLst/>
          </a:prstGeom>
        </p:spPr>
        <p:style>
          <a:lnRef idx="1">
            <a:schemeClr val="dk1"/>
          </a:lnRef>
          <a:fillRef idx="0">
            <a:schemeClr val="dk1"/>
          </a:fillRef>
          <a:effectRef idx="0">
            <a:schemeClr val="dk1"/>
          </a:effectRef>
          <a:fontRef idx="minor">
            <a:schemeClr val="tx1"/>
          </a:fontRef>
        </p:style>
      </p:cxnSp>
      <p:sp>
        <p:nvSpPr>
          <p:cNvPr id="39" name="圆角矩形 38"/>
          <p:cNvSpPr/>
          <p:nvPr/>
        </p:nvSpPr>
        <p:spPr>
          <a:xfrm>
            <a:off x="1700869" y="4886705"/>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触感</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40" name="文本框 77"/>
          <p:cNvSpPr txBox="1"/>
          <p:nvPr/>
        </p:nvSpPr>
        <p:spPr>
          <a:xfrm>
            <a:off x="1132545" y="5364522"/>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硬滑</a:t>
            </a:r>
            <a:endParaRPr lang="zh-CN" altLang="en-US" b="1" dirty="0">
              <a:latin typeface="楷体" panose="02010609060101010101" pitchFamily="49" charset="-122"/>
              <a:ea typeface="楷体" panose="02010609060101010101" pitchFamily="49" charset="-122"/>
            </a:endParaRPr>
          </a:p>
        </p:txBody>
      </p:sp>
      <p:sp>
        <p:nvSpPr>
          <p:cNvPr id="41" name="文本框 78"/>
          <p:cNvSpPr txBox="1"/>
          <p:nvPr/>
        </p:nvSpPr>
        <p:spPr>
          <a:xfrm>
            <a:off x="2704340" y="5366280"/>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软粘</a:t>
            </a:r>
            <a:endParaRPr lang="zh-CN" altLang="en-US" b="1" dirty="0">
              <a:latin typeface="楷体" panose="02010609060101010101" pitchFamily="49" charset="-122"/>
              <a:ea typeface="楷体" panose="02010609060101010101" pitchFamily="49" charset="-122"/>
            </a:endParaRPr>
          </a:p>
        </p:txBody>
      </p:sp>
      <p:sp>
        <p:nvSpPr>
          <p:cNvPr id="42" name="圆角矩形 41"/>
          <p:cNvSpPr/>
          <p:nvPr/>
        </p:nvSpPr>
        <p:spPr>
          <a:xfrm>
            <a:off x="5156325" y="27329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触感</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43" name="文本框 40"/>
          <p:cNvSpPr txBox="1"/>
          <p:nvPr/>
        </p:nvSpPr>
        <p:spPr>
          <a:xfrm>
            <a:off x="4727795" y="3291283"/>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硬滑</a:t>
            </a:r>
            <a:endParaRPr lang="zh-CN" altLang="en-US" b="1" dirty="0">
              <a:latin typeface="楷体" panose="02010609060101010101" pitchFamily="49" charset="-122"/>
              <a:ea typeface="楷体" panose="02010609060101010101" pitchFamily="49" charset="-122"/>
            </a:endParaRPr>
          </a:p>
        </p:txBody>
      </p:sp>
      <p:sp>
        <p:nvSpPr>
          <p:cNvPr id="44" name="文本框 42"/>
          <p:cNvSpPr txBox="1"/>
          <p:nvPr/>
        </p:nvSpPr>
        <p:spPr>
          <a:xfrm>
            <a:off x="6229189" y="3298122"/>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软粘</a:t>
            </a:r>
            <a:endParaRPr lang="zh-CN" altLang="en-US" b="1" dirty="0">
              <a:latin typeface="楷体" panose="02010609060101010101" pitchFamily="49" charset="-122"/>
              <a:ea typeface="楷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信息增益</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存在的问题</a:t>
            </a:r>
            <a:endParaRPr lang="zh-CN" altLang="en-US" b="1"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4"/>
          </p:nvPr>
        </p:nvSpPr>
        <p:spPr/>
        <p:txBody>
          <a:bodyPr/>
          <a:lstStyle/>
          <a:p>
            <a:pPr>
              <a:lnSpc>
                <a:spcPct val="150000"/>
              </a:lnSpc>
            </a:pPr>
            <a:r>
              <a:rPr lang="zh-CN" altLang="en-US" b="1" dirty="0">
                <a:latin typeface="黑体" panose="02010609060101010101" pitchFamily="49" charset="-122"/>
                <a:ea typeface="黑体" panose="02010609060101010101" pitchFamily="49" charset="-122"/>
              </a:rPr>
              <a:t>若把“编号”也作为一个候选划分属性，则其信息增益一般远大于其他属性。显然，这样的决策树不具有泛化能力，无法对新样本进行有效预测</a:t>
            </a:r>
            <a:endParaRPr lang="en-US" altLang="zh-CN" b="1" dirty="0">
              <a:latin typeface="黑体" panose="02010609060101010101" pitchFamily="49" charset="-122"/>
              <a:ea typeface="黑体" panose="02010609060101010101" pitchFamily="49" charset="-122"/>
            </a:endParaRPr>
          </a:p>
          <a:p>
            <a:pPr>
              <a:lnSpc>
                <a:spcPct val="150000"/>
              </a:lnSpc>
            </a:pPr>
            <a:endParaRPr lang="zh-CN" altLang="en-US" dirty="0"/>
          </a:p>
        </p:txBody>
      </p:sp>
      <p:sp>
        <p:nvSpPr>
          <p:cNvPr id="7" name="Rectangle 3"/>
          <p:cNvSpPr>
            <a:spLocks noChangeArrowheads="1"/>
          </p:cNvSpPr>
          <p:nvPr/>
        </p:nvSpPr>
        <p:spPr bwMode="auto">
          <a:xfrm>
            <a:off x="1733512" y="3560341"/>
            <a:ext cx="5683325" cy="66374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2200" b="1" i="0" dirty="0">
                <a:latin typeface="黑体" panose="02010609060101010101" pitchFamily="49" charset="-122"/>
                <a:ea typeface="黑体" panose="02010609060101010101" pitchFamily="49" charset="-122"/>
              </a:rPr>
              <a:t>信息增益对</a:t>
            </a:r>
            <a:r>
              <a:rPr lang="zh-CN" altLang="en-US" sz="2200" b="1" dirty="0">
                <a:solidFill>
                  <a:srgbClr val="FF0000"/>
                </a:solidFill>
                <a:latin typeface="黑体" panose="02010609060101010101" pitchFamily="49" charset="-122"/>
                <a:ea typeface="黑体" panose="02010609060101010101" pitchFamily="49" charset="-122"/>
              </a:rPr>
              <a:t>可取值数目较多</a:t>
            </a:r>
            <a:r>
              <a:rPr lang="zh-CN" altLang="en-US" sz="2200" b="1" dirty="0">
                <a:latin typeface="黑体" panose="02010609060101010101" pitchFamily="49" charset="-122"/>
                <a:ea typeface="黑体" panose="02010609060101010101" pitchFamily="49" charset="-122"/>
              </a:rPr>
              <a:t>的属性有所偏好</a:t>
            </a:r>
            <a:endParaRPr lang="zh-CN" altLang="en-US" sz="2200" b="1" dirty="0">
              <a:latin typeface="黑体" panose="02010609060101010101" pitchFamily="49" charset="-122"/>
              <a:ea typeface="黑体" panose="02010609060101010101" pitchFamily="49" charset="-122"/>
            </a:endParaRPr>
          </a:p>
          <a:p>
            <a:pPr marL="0" indent="0" algn="ctr">
              <a:lnSpc>
                <a:spcPts val="3200"/>
              </a:lnSpc>
              <a:buNone/>
            </a:pPr>
            <a:endParaRPr lang="zh-CN" altLang="en-US" sz="2200" i="0" dirty="0">
              <a:latin typeface="幼圆" panose="02010509060101010101" pitchFamily="49" charset="-122"/>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0350" y="68888"/>
            <a:ext cx="7886700" cy="777874"/>
          </a:xfrm>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增益率</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normAutofit/>
          </a:bodyPr>
          <a:lstStyle/>
          <a:p>
            <a:r>
              <a:rPr lang="zh-CN" altLang="en-US" b="1" dirty="0">
                <a:latin typeface="黑体" panose="02010609060101010101" pitchFamily="49" charset="-122"/>
                <a:ea typeface="黑体" panose="02010609060101010101" pitchFamily="49" charset="-122"/>
              </a:rPr>
              <a:t>增益率定义：</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    其中</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pPr marL="0" indent="0">
              <a:buNone/>
            </a:pPr>
            <a:endParaRPr lang="en-US" altLang="zh-CN" dirty="0"/>
          </a:p>
          <a:p>
            <a:pPr marL="0" indent="0">
              <a:buNone/>
            </a:pPr>
            <a:r>
              <a:rPr lang="zh-CN" altLang="en-US" b="1" dirty="0">
                <a:latin typeface="黑体" panose="02010609060101010101" pitchFamily="49" charset="-122"/>
                <a:ea typeface="黑体" panose="02010609060101010101" pitchFamily="49" charset="-122"/>
              </a:rPr>
              <a:t>    称为属性  的“固有值”</a:t>
            </a:r>
            <a:r>
              <a:rPr lang="en-US" altLang="zh-CN" sz="1600" b="1" dirty="0">
                <a:latin typeface="黑体" panose="02010609060101010101" pitchFamily="49" charset="-122"/>
                <a:ea typeface="黑体" panose="02010609060101010101" pitchFamily="49" charset="-122"/>
              </a:rPr>
              <a:t>[Quinlan, 1993] </a:t>
            </a:r>
            <a:r>
              <a:rPr lang="zh-CN" altLang="en-US" b="1" dirty="0">
                <a:latin typeface="黑体" panose="02010609060101010101" pitchFamily="49" charset="-122"/>
                <a:ea typeface="黑体" panose="02010609060101010101" pitchFamily="49" charset="-122"/>
              </a:rPr>
              <a:t>，属性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的可能取值数目越多（即</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越大），则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的值通常就越大</a:t>
            </a:r>
            <a:endParaRPr lang="en-US" altLang="zh-CN" b="1" dirty="0">
              <a:latin typeface="黑体" panose="02010609060101010101" pitchFamily="49" charset="-122"/>
              <a:ea typeface="黑体" panose="02010609060101010101" pitchFamily="49" charset="-122"/>
            </a:endParaRPr>
          </a:p>
          <a:p>
            <a:pPr>
              <a:lnSpc>
                <a:spcPts val="2800"/>
              </a:lnSpc>
            </a:pPr>
            <a:r>
              <a:rPr lang="zh-CN" altLang="en-US" b="1" dirty="0">
                <a:latin typeface="黑体" panose="02010609060101010101" pitchFamily="49" charset="-122"/>
                <a:ea typeface="黑体" panose="02010609060101010101" pitchFamily="49" charset="-122"/>
              </a:rPr>
              <a:t>属性的固有值（</a:t>
            </a:r>
            <a:r>
              <a:rPr lang="en-US" altLang="zh-CN" b="1" dirty="0" err="1">
                <a:latin typeface="黑体" panose="02010609060101010101" pitchFamily="49" charset="-122"/>
                <a:ea typeface="黑体" panose="02010609060101010101" pitchFamily="49" charset="-122"/>
              </a:rPr>
              <a:t>instrisic</a:t>
            </a:r>
            <a:r>
              <a:rPr lang="en-US" altLang="zh-CN" b="1" dirty="0">
                <a:latin typeface="黑体" panose="02010609060101010101" pitchFamily="49" charset="-122"/>
                <a:ea typeface="黑体" panose="02010609060101010101" pitchFamily="49" charset="-122"/>
              </a:rPr>
              <a:t> information</a:t>
            </a:r>
            <a:r>
              <a:rPr lang="zh-CN" altLang="en-US" b="1" dirty="0">
                <a:latin typeface="黑体" panose="02010609060101010101" pitchFamily="49" charset="-122"/>
                <a:ea typeface="黑体" panose="02010609060101010101" pitchFamily="49" charset="-122"/>
              </a:rPr>
              <a:t>）：信息增益率用信息增益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固有值，会导致属性的重要性随着固有值的增大而减小（也就是说，如果这个属性本身不确定性就很大，那就越不倾向于选取它），这样</a:t>
            </a:r>
            <a:r>
              <a:rPr lang="zh-CN" altLang="en-US" b="1" dirty="0">
                <a:solidFill>
                  <a:srgbClr val="C00000"/>
                </a:solidFill>
                <a:latin typeface="黑体" panose="02010609060101010101" pitchFamily="49" charset="-122"/>
                <a:ea typeface="黑体" panose="02010609060101010101" pitchFamily="49" charset="-122"/>
              </a:rPr>
              <a:t>算是对单纯用信息增益有所补偿。</a:t>
            </a:r>
            <a:endParaRPr lang="en-US" altLang="zh-CN" b="1" dirty="0">
              <a:solidFill>
                <a:srgbClr val="C00000"/>
              </a:solidFill>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2768600" y="1582738"/>
          <a:ext cx="3933825" cy="555625"/>
        </p:xfrm>
        <a:graphic>
          <a:graphicData uri="http://schemas.openxmlformats.org/presentationml/2006/ole">
            <mc:AlternateContent xmlns:mc="http://schemas.openxmlformats.org/markup-compatibility/2006">
              <mc:Choice xmlns:v="urn:schemas-microsoft-com:vml" Requires="v">
                <p:oleObj spid="_x0000_s27941" name="Formula" r:id="rId1" imgW="13315950" imgH="1876425" progId="Equation.Ribbit">
                  <p:embed/>
                </p:oleObj>
              </mc:Choice>
              <mc:Fallback>
                <p:oleObj name="Formula" r:id="rId1" imgW="13315950" imgH="1876425" progId="Equation.Ribbit">
                  <p:embed/>
                  <p:pic>
                    <p:nvPicPr>
                      <p:cNvPr id="0" name="图片 27940"/>
                      <p:cNvPicPr/>
                      <p:nvPr/>
                    </p:nvPicPr>
                    <p:blipFill>
                      <a:blip r:embed="rId2"/>
                      <a:stretch>
                        <a:fillRect/>
                      </a:stretch>
                    </p:blipFill>
                    <p:spPr>
                      <a:xfrm>
                        <a:off x="2768600" y="1582738"/>
                        <a:ext cx="3933825" cy="55562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2952750" y="2430463"/>
          <a:ext cx="2968625" cy="750887"/>
        </p:xfrm>
        <a:graphic>
          <a:graphicData uri="http://schemas.openxmlformats.org/presentationml/2006/ole">
            <mc:AlternateContent xmlns:mc="http://schemas.openxmlformats.org/markup-compatibility/2006">
              <mc:Choice xmlns:v="urn:schemas-microsoft-com:vml" Requires="v">
                <p:oleObj spid="_x0000_s6" name="Formula" r:id="rId3" imgW="13716000" imgH="3467100" progId="Equation.Ribbit">
                  <p:embed/>
                </p:oleObj>
              </mc:Choice>
              <mc:Fallback>
                <p:oleObj name="Formula" r:id="rId3" imgW="13716000" imgH="3467100" progId="Equation.Ribbit">
                  <p:embed/>
                  <p:pic>
                    <p:nvPicPr>
                      <p:cNvPr id="0" name="图片 5"/>
                      <p:cNvPicPr/>
                      <p:nvPr/>
                    </p:nvPicPr>
                    <p:blipFill>
                      <a:blip r:embed="rId4"/>
                      <a:stretch>
                        <a:fillRect/>
                      </a:stretch>
                    </p:blipFill>
                    <p:spPr>
                      <a:xfrm>
                        <a:off x="2952750" y="2430463"/>
                        <a:ext cx="2968625" cy="7508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100898" y="3408363"/>
          <a:ext cx="173038" cy="277812"/>
        </p:xfrm>
        <a:graphic>
          <a:graphicData uri="http://schemas.openxmlformats.org/presentationml/2006/ole">
            <mc:AlternateContent xmlns:mc="http://schemas.openxmlformats.org/markup-compatibility/2006">
              <mc:Choice xmlns:v="urn:schemas-microsoft-com:vml" Requires="v">
                <p:oleObj spid="_x0000_s8" name="Formula" r:id="rId5" imgW="600075" imgH="971550" progId="Equation.Ribbit">
                  <p:embed/>
                </p:oleObj>
              </mc:Choice>
              <mc:Fallback>
                <p:oleObj name="Formula" r:id="rId5" imgW="600075" imgH="971550" progId="Equation.Ribbit">
                  <p:embed/>
                  <p:pic>
                    <p:nvPicPr>
                      <p:cNvPr id="0" name="图片 7"/>
                      <p:cNvPicPr/>
                      <p:nvPr/>
                    </p:nvPicPr>
                    <p:blipFill>
                      <a:blip r:embed="rId6"/>
                      <a:stretch>
                        <a:fillRect/>
                      </a:stretch>
                    </p:blipFill>
                    <p:spPr>
                      <a:xfrm>
                        <a:off x="2100898" y="3408363"/>
                        <a:ext cx="173038" cy="277812"/>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6526970" y="3425825"/>
          <a:ext cx="173038" cy="279400"/>
        </p:xfrm>
        <a:graphic>
          <a:graphicData uri="http://schemas.openxmlformats.org/presentationml/2006/ole">
            <mc:AlternateContent xmlns:mc="http://schemas.openxmlformats.org/markup-compatibility/2006">
              <mc:Choice xmlns:v="urn:schemas-microsoft-com:vml" Requires="v">
                <p:oleObj spid="_x0000_s10" name="Formula" r:id="rId7" imgW="600075" imgH="971550" progId="Equation.Ribbit">
                  <p:embed/>
                </p:oleObj>
              </mc:Choice>
              <mc:Fallback>
                <p:oleObj name="Formula" r:id="rId7" imgW="600075" imgH="971550" progId="Equation.Ribbit">
                  <p:embed/>
                  <p:pic>
                    <p:nvPicPr>
                      <p:cNvPr id="0" name="图片 9"/>
                      <p:cNvPicPr/>
                      <p:nvPr/>
                    </p:nvPicPr>
                    <p:blipFill>
                      <a:blip r:embed="rId6"/>
                      <a:stretch>
                        <a:fillRect/>
                      </a:stretch>
                    </p:blipFill>
                    <p:spPr>
                      <a:xfrm>
                        <a:off x="6526970" y="3425825"/>
                        <a:ext cx="173038" cy="2794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511593" y="3684330"/>
          <a:ext cx="203157" cy="284420"/>
        </p:xfrm>
        <a:graphic>
          <a:graphicData uri="http://schemas.openxmlformats.org/presentationml/2006/ole">
            <mc:AlternateContent xmlns:mc="http://schemas.openxmlformats.org/markup-compatibility/2006">
              <mc:Choice xmlns:v="urn:schemas-microsoft-com:vml" Requires="v">
                <p:oleObj spid="_x0000_s12" name="Formula" r:id="rId8" imgW="895350" imgH="1247775" progId="Equation.Ribbit">
                  <p:embed/>
                </p:oleObj>
              </mc:Choice>
              <mc:Fallback>
                <p:oleObj name="Formula" r:id="rId8" imgW="895350" imgH="1247775" progId="Equation.Ribbit">
                  <p:embed/>
                  <p:pic>
                    <p:nvPicPr>
                      <p:cNvPr id="0" name="图片 11"/>
                      <p:cNvPicPr/>
                      <p:nvPr/>
                    </p:nvPicPr>
                    <p:blipFill>
                      <a:blip r:embed="rId9"/>
                      <a:stretch>
                        <a:fillRect/>
                      </a:stretch>
                    </p:blipFill>
                    <p:spPr>
                      <a:xfrm>
                        <a:off x="1511593" y="3684330"/>
                        <a:ext cx="203157" cy="28442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3241846" y="3690938"/>
          <a:ext cx="585787" cy="296862"/>
        </p:xfrm>
        <a:graphic>
          <a:graphicData uri="http://schemas.openxmlformats.org/presentationml/2006/ole">
            <mc:AlternateContent xmlns:mc="http://schemas.openxmlformats.org/markup-compatibility/2006">
              <mc:Choice xmlns:v="urn:schemas-microsoft-com:vml" Requires="v">
                <p:oleObj spid="_x0000_s14" name="Formula" r:id="rId10" imgW="2647950" imgH="1333500" progId="Equation.Ribbit">
                  <p:embed/>
                </p:oleObj>
              </mc:Choice>
              <mc:Fallback>
                <p:oleObj name="Formula" r:id="rId10" imgW="2647950" imgH="1333500" progId="Equation.Ribbit">
                  <p:embed/>
                  <p:pic>
                    <p:nvPicPr>
                      <p:cNvPr id="0" name="图片 13"/>
                      <p:cNvPicPr/>
                      <p:nvPr/>
                    </p:nvPicPr>
                    <p:blipFill>
                      <a:blip r:embed="rId11"/>
                      <a:stretch>
                        <a:fillRect/>
                      </a:stretch>
                    </p:blipFill>
                    <p:spPr>
                      <a:xfrm>
                        <a:off x="3241846" y="3690938"/>
                        <a:ext cx="585787" cy="296862"/>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596118" y="2527027"/>
            <a:ext cx="5951761" cy="2800529"/>
          </a:xfrm>
          <a:prstGeom prst="rect">
            <a:avLst/>
          </a:prstGeom>
        </p:spPr>
      </p:pic>
      <p:sp>
        <p:nvSpPr>
          <p:cNvPr id="5" name="标题 1"/>
          <p:cNvSpPr>
            <a:spLocks noGrp="1"/>
          </p:cNvSpPr>
          <p:nvPr>
            <p:ph type="title"/>
          </p:nvPr>
        </p:nvSpPr>
        <p:spPr>
          <a:xfrm>
            <a:off x="260350" y="0"/>
            <a:ext cx="7886700" cy="777874"/>
          </a:xfrm>
        </p:spPr>
        <p:txBody>
          <a:bodyPr/>
          <a:lstStyle/>
          <a:p>
            <a:r>
              <a:rPr lang="zh-CN" altLang="en-US" dirty="0">
                <a:latin typeface="黑体" panose="02010609060101010101" pitchFamily="49" charset="-122"/>
                <a:ea typeface="黑体" panose="02010609060101010101" pitchFamily="49" charset="-122"/>
              </a:rPr>
              <a:t>属性可取值数目与固有值关系</a:t>
            </a:r>
            <a:endParaRPr lang="zh-CN" altLang="en-US" dirty="0">
              <a:latin typeface="黑体" panose="02010609060101010101" pitchFamily="49" charset="-122"/>
              <a:ea typeface="黑体" panose="02010609060101010101" pitchFamily="49" charset="-122"/>
            </a:endParaRPr>
          </a:p>
        </p:txBody>
      </p:sp>
      <p:sp>
        <p:nvSpPr>
          <p:cNvPr id="7" name="TextBox 6"/>
          <p:cNvSpPr txBox="1"/>
          <p:nvPr/>
        </p:nvSpPr>
        <p:spPr>
          <a:xfrm>
            <a:off x="2183364" y="5493276"/>
            <a:ext cx="4926349" cy="646331"/>
          </a:xfrm>
          <a:prstGeom prst="rect">
            <a:avLst/>
          </a:prstGeom>
          <a:noFill/>
        </p:spPr>
        <p:txBody>
          <a:bodyPr wrap="none" rtlCol="0">
            <a:spAutoFit/>
          </a:bodyPr>
          <a:lstStyle/>
          <a:p>
            <a:pPr algn="l"/>
            <a:r>
              <a:rPr lang="zh-CN" altLang="en-US" b="1" i="0" u="none" strike="noStrike" dirty="0">
                <a:solidFill>
                  <a:srgbClr val="374151"/>
                </a:solidFill>
                <a:effectLst/>
                <a:latin typeface="黑体" panose="02010609060101010101" pitchFamily="49" charset="-122"/>
                <a:ea typeface="黑体" panose="02010609060101010101" pitchFamily="49" charset="-122"/>
              </a:rPr>
              <a:t>取值越均匀 </a:t>
            </a:r>
            <a:r>
              <a:rPr lang="zh-CN" altLang="en-US" b="0" i="0" u="none" strike="noStrike" dirty="0">
                <a:solidFill>
                  <a:srgbClr val="374151"/>
                </a:solidFill>
                <a:effectLst/>
                <a:latin typeface="黑体" panose="02010609060101010101" pitchFamily="49" charset="-122"/>
                <a:ea typeface="黑体" panose="02010609060101010101" pitchFamily="49" charset="-122"/>
              </a:rPr>
              <a:t>→ 熵值越大（不确定性越高）。 </a:t>
            </a:r>
            <a:endParaRPr lang="zh-CN" altLang="en-US" b="0" i="0" u="none" strike="noStrike" dirty="0">
              <a:solidFill>
                <a:srgbClr val="374151"/>
              </a:solidFill>
              <a:effectLst/>
              <a:latin typeface="黑体" panose="02010609060101010101" pitchFamily="49" charset="-122"/>
              <a:ea typeface="黑体" panose="02010609060101010101" pitchFamily="49" charset="-122"/>
            </a:endParaRPr>
          </a:p>
          <a:p>
            <a:pPr algn="l"/>
            <a:r>
              <a:rPr lang="zh-CN" altLang="en-US" b="1" i="0" u="none" strike="noStrike" dirty="0">
                <a:solidFill>
                  <a:srgbClr val="374151"/>
                </a:solidFill>
                <a:effectLst/>
                <a:latin typeface="黑体" panose="02010609060101010101" pitchFamily="49" charset="-122"/>
                <a:ea typeface="黑体" panose="02010609060101010101" pitchFamily="49" charset="-122"/>
              </a:rPr>
              <a:t>取值越集中 </a:t>
            </a:r>
            <a:r>
              <a:rPr lang="zh-CN" altLang="en-US" b="0" i="0" u="none" strike="noStrike" dirty="0">
                <a:solidFill>
                  <a:srgbClr val="374151"/>
                </a:solidFill>
                <a:effectLst/>
                <a:latin typeface="黑体" panose="02010609060101010101" pitchFamily="49" charset="-122"/>
                <a:ea typeface="黑体" panose="02010609060101010101" pitchFamily="49" charset="-122"/>
              </a:rPr>
              <a:t>→ 熵值越小（不确定性越低）。</a:t>
            </a:r>
            <a:endParaRPr lang="zh-CN" altLang="en-US" b="0" i="0" u="none" strike="noStrike" dirty="0">
              <a:solidFill>
                <a:srgbClr val="374151"/>
              </a:solidFill>
              <a:effectLst/>
              <a:latin typeface="黑体" panose="02010609060101010101" pitchFamily="49" charset="-122"/>
              <a:ea typeface="黑体" panose="02010609060101010101" pitchFamily="49" charset="-122"/>
            </a:endParaRPr>
          </a:p>
        </p:txBody>
      </p:sp>
      <p:sp>
        <p:nvSpPr>
          <p:cNvPr id="8" name="TextBox 7"/>
          <p:cNvSpPr txBox="1"/>
          <p:nvPr/>
        </p:nvSpPr>
        <p:spPr>
          <a:xfrm>
            <a:off x="467279" y="1300997"/>
            <a:ext cx="4221027" cy="923330"/>
          </a:xfrm>
          <a:prstGeom prst="rect">
            <a:avLst/>
          </a:prstGeom>
          <a:noFill/>
        </p:spPr>
        <p:txBody>
          <a:bodyPr wrap="none" rtlCol="0">
            <a:spAutoFit/>
          </a:bodyPr>
          <a:lstStyle/>
          <a:p>
            <a:pPr algn="l"/>
            <a:r>
              <a:rPr lang="en-US" dirty="0">
                <a:solidFill>
                  <a:srgbClr val="374151"/>
                </a:solidFill>
                <a:latin typeface="ui-sans-serif"/>
              </a:rPr>
              <a:t>i</a:t>
            </a:r>
            <a:r>
              <a:rPr lang="en-US" b="0" i="0" u="none" strike="noStrike" dirty="0">
                <a:solidFill>
                  <a:srgbClr val="374151"/>
                </a:solidFill>
                <a:effectLst/>
                <a:latin typeface="ui-sans-serif"/>
              </a:rPr>
              <a:t>v1</a:t>
            </a:r>
            <a:r>
              <a:rPr lang="zh-CN" altLang="en-US" b="0" i="0" u="none" strike="noStrike" dirty="0">
                <a:solidFill>
                  <a:srgbClr val="374151"/>
                </a:solidFill>
                <a:effectLst/>
                <a:latin typeface="ui-sans-serif"/>
              </a:rPr>
              <a:t>：</a:t>
            </a:r>
            <a:r>
              <a:rPr lang="en-US" b="0" i="0" u="none" strike="noStrike" dirty="0">
                <a:solidFill>
                  <a:srgbClr val="374151"/>
                </a:solidFill>
                <a:effectLst/>
                <a:latin typeface="ui-sans-serif"/>
              </a:rPr>
              <a:t>100</a:t>
            </a:r>
            <a:r>
              <a:rPr lang="zh-CN" altLang="en-US" b="0" i="0" u="none" strike="noStrike" dirty="0">
                <a:solidFill>
                  <a:srgbClr val="374151"/>
                </a:solidFill>
                <a:effectLst/>
                <a:latin typeface="ui-sans-serif"/>
              </a:rPr>
              <a:t>个等概率事件（每个概率</a:t>
            </a:r>
            <a:r>
              <a:rPr lang="en-US" altLang="zh-CN" b="0" i="0" u="none" strike="noStrike" dirty="0">
                <a:solidFill>
                  <a:srgbClr val="374151"/>
                </a:solidFill>
                <a:effectLst/>
                <a:latin typeface="ui-sans-serif"/>
              </a:rPr>
              <a:t>0.01</a:t>
            </a:r>
            <a:r>
              <a:rPr lang="zh-CN" altLang="en-US" b="0" i="0" u="none" strike="noStrike" dirty="0">
                <a:solidFill>
                  <a:srgbClr val="374151"/>
                </a:solidFill>
                <a:effectLst/>
                <a:latin typeface="ui-sans-serif"/>
              </a:rPr>
              <a:t>）</a:t>
            </a:r>
            <a:endParaRPr lang="en-US" altLang="zh-CN" b="0" i="0" u="none" strike="noStrike" dirty="0">
              <a:solidFill>
                <a:srgbClr val="374151"/>
              </a:solidFill>
              <a:effectLst/>
              <a:latin typeface="ui-sans-serif"/>
            </a:endParaRPr>
          </a:p>
          <a:p>
            <a:pPr algn="l"/>
            <a:r>
              <a:rPr lang="en-US" altLang="zh-CN" b="0" i="0" u="none" strike="noStrike" dirty="0">
                <a:solidFill>
                  <a:srgbClr val="374151"/>
                </a:solidFill>
                <a:effectLst/>
                <a:latin typeface="ui-sans-serif"/>
              </a:rPr>
              <a:t>Iv2</a:t>
            </a:r>
            <a:r>
              <a:rPr lang="zh-CN" altLang="en-US" b="0" i="0" u="none" strike="noStrike" dirty="0">
                <a:solidFill>
                  <a:srgbClr val="374151"/>
                </a:solidFill>
                <a:effectLst/>
                <a:latin typeface="ui-sans-serif"/>
              </a:rPr>
              <a:t>：概率分布为 </a:t>
            </a:r>
            <a:r>
              <a:rPr lang="en-US" altLang="zh-CN" b="0" i="0" u="none" strike="noStrike" dirty="0">
                <a:solidFill>
                  <a:srgbClr val="374151"/>
                </a:solidFill>
                <a:effectLst/>
                <a:latin typeface="ui-sans-serif"/>
              </a:rPr>
              <a:t>[0.3, 0.3, 0.4]</a:t>
            </a:r>
            <a:endParaRPr lang="en-US" altLang="zh-CN" b="0" i="0" u="none" strike="noStrike" dirty="0">
              <a:solidFill>
                <a:srgbClr val="374151"/>
              </a:solidFill>
              <a:effectLst/>
              <a:latin typeface="ui-sans-serif"/>
            </a:endParaRPr>
          </a:p>
          <a:p>
            <a:r>
              <a:rPr lang="en-US" altLang="zh-CN" dirty="0">
                <a:solidFill>
                  <a:srgbClr val="374151"/>
                </a:solidFill>
                <a:latin typeface="ui-sans-serif"/>
              </a:rPr>
              <a:t>Iv3</a:t>
            </a:r>
            <a:r>
              <a:rPr lang="zh-CN" altLang="en-US" dirty="0">
                <a:solidFill>
                  <a:srgbClr val="374151"/>
                </a:solidFill>
                <a:latin typeface="ui-sans-serif"/>
              </a:rPr>
              <a:t>：</a:t>
            </a:r>
            <a:r>
              <a:rPr lang="en-US" altLang="zh-CN" b="0" i="0" u="none" strike="noStrike" dirty="0">
                <a:solidFill>
                  <a:srgbClr val="374151"/>
                </a:solidFill>
                <a:effectLst/>
                <a:latin typeface="ui-sans-serif"/>
              </a:rPr>
              <a:t>10</a:t>
            </a:r>
            <a:r>
              <a:rPr lang="zh-CN" altLang="en-US" b="0" i="0" u="none" strike="noStrike" dirty="0">
                <a:solidFill>
                  <a:srgbClr val="374151"/>
                </a:solidFill>
                <a:effectLst/>
                <a:latin typeface="ui-sans-serif"/>
              </a:rPr>
              <a:t>个等概率事件（每个概率</a:t>
            </a:r>
            <a:r>
              <a:rPr lang="en-US" altLang="zh-CN" b="0" i="0" u="none" strike="noStrike" dirty="0">
                <a:solidFill>
                  <a:srgbClr val="374151"/>
                </a:solidFill>
                <a:effectLst/>
                <a:latin typeface="ui-sans-serif"/>
              </a:rPr>
              <a:t>0.1</a:t>
            </a:r>
            <a:r>
              <a:rPr lang="zh-CN" altLang="en-US" b="0" i="0" u="none" strike="noStrike" dirty="0">
                <a:solidFill>
                  <a:srgbClr val="374151"/>
                </a:solidFill>
                <a:effectLst/>
                <a:latin typeface="ui-sans-serif"/>
              </a:rPr>
              <a:t>）</a:t>
            </a:r>
            <a:endParaRPr lang="zh-CN" altLang="en-US" b="0" i="0" u="none" strike="noStrike" dirty="0">
              <a:solidFill>
                <a:srgbClr val="374151"/>
              </a:solidFill>
              <a:effectLst/>
              <a:latin typeface="ui-sans-serif"/>
            </a:endParaRPr>
          </a:p>
        </p:txBody>
      </p:sp>
      <p:graphicFrame>
        <p:nvGraphicFramePr>
          <p:cNvPr id="3" name="对象 2"/>
          <p:cNvGraphicFramePr>
            <a:graphicFrameLocks noChangeAspect="1"/>
          </p:cNvGraphicFramePr>
          <p:nvPr/>
        </p:nvGraphicFramePr>
        <p:xfrm>
          <a:off x="4992566" y="1530444"/>
          <a:ext cx="2968625" cy="750887"/>
        </p:xfrm>
        <a:graphic>
          <a:graphicData uri="http://schemas.openxmlformats.org/presentationml/2006/ole">
            <mc:AlternateContent xmlns:mc="http://schemas.openxmlformats.org/markup-compatibility/2006">
              <mc:Choice xmlns:v="urn:schemas-microsoft-com:vml" Requires="v">
                <p:oleObj spid="_x0000_s27941" name="Formula" r:id="rId2" imgW="13716000" imgH="3467100" progId="Equation.Ribbit">
                  <p:embed/>
                </p:oleObj>
              </mc:Choice>
              <mc:Fallback>
                <p:oleObj name="Formula" r:id="rId2" imgW="13716000" imgH="3467100" progId="Equation.Ribbit">
                  <p:embed/>
                  <p:pic>
                    <p:nvPicPr>
                      <p:cNvPr id="0" name="对象 4"/>
                      <p:cNvPicPr/>
                      <p:nvPr/>
                    </p:nvPicPr>
                    <p:blipFill>
                      <a:blip r:embed="rId3"/>
                      <a:stretch>
                        <a:fillRect/>
                      </a:stretch>
                    </p:blipFill>
                    <p:spPr>
                      <a:xfrm>
                        <a:off x="4992566" y="1530444"/>
                        <a:ext cx="2968625" cy="750887"/>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增益率</a:t>
            </a:r>
            <a:endParaRPr lang="zh-CN" altLang="en-US" dirty="0">
              <a:latin typeface="黑体" panose="02010609060101010101" pitchFamily="49" charset="-122"/>
              <a:ea typeface="黑体" panose="02010609060101010101" pitchFamily="49" charset="-122"/>
            </a:endParaRPr>
          </a:p>
        </p:txBody>
      </p:sp>
      <p:sp>
        <p:nvSpPr>
          <p:cNvPr id="10" name="Rectangle 3"/>
          <p:cNvSpPr>
            <a:spLocks noChangeArrowheads="1"/>
          </p:cNvSpPr>
          <p:nvPr/>
        </p:nvSpPr>
        <p:spPr bwMode="auto">
          <a:xfrm>
            <a:off x="815998" y="1724510"/>
            <a:ext cx="6413538" cy="66374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400" b="1" dirty="0">
                <a:latin typeface="黑体" panose="02010609060101010101" pitchFamily="49" charset="-122"/>
                <a:ea typeface="黑体" panose="02010609060101010101" pitchFamily="49" charset="-122"/>
              </a:rPr>
              <a:t>增益率准则对可取值数目较少的属性有所偏好</a:t>
            </a:r>
            <a:endParaRPr lang="en-US" altLang="zh-CN" sz="2400" b="1" dirty="0">
              <a:latin typeface="黑体" panose="02010609060101010101" pitchFamily="49" charset="-122"/>
              <a:ea typeface="黑体" panose="02010609060101010101" pitchFamily="49" charset="-122"/>
            </a:endParaRPr>
          </a:p>
          <a:p>
            <a:pPr marL="0" indent="0" algn="ctr">
              <a:lnSpc>
                <a:spcPts val="3200"/>
              </a:lnSpc>
              <a:buNone/>
            </a:pPr>
            <a:endParaRPr lang="zh-CN" altLang="en-US" sz="2200" b="1" i="0" dirty="0">
              <a:latin typeface="黑体" panose="02010609060101010101" pitchFamily="49" charset="-122"/>
              <a:ea typeface="黑体" panose="02010609060101010101" pitchFamily="49" charset="-122"/>
            </a:endParaRPr>
          </a:p>
        </p:txBody>
      </p:sp>
      <p:sp>
        <p:nvSpPr>
          <p:cNvPr id="12" name="内容占位符 2"/>
          <p:cNvSpPr>
            <a:spLocks noGrp="1"/>
          </p:cNvSpPr>
          <p:nvPr>
            <p:ph idx="1"/>
          </p:nvPr>
        </p:nvSpPr>
        <p:spPr>
          <a:xfrm>
            <a:off x="260350" y="1158536"/>
            <a:ext cx="8616950" cy="4930775"/>
          </a:xfrm>
        </p:spPr>
        <p:txBody>
          <a:bodyPr>
            <a:normAutofit/>
          </a:bodyPr>
          <a:lstStyle/>
          <a:p>
            <a:r>
              <a:rPr lang="zh-CN" altLang="en-US" b="1" dirty="0">
                <a:latin typeface="黑体" panose="02010609060101010101" pitchFamily="49" charset="-122"/>
                <a:ea typeface="黑体" panose="02010609060101010101" pitchFamily="49" charset="-122"/>
              </a:rPr>
              <a:t>存在的问题</a:t>
            </a:r>
            <a:endParaRPr lang="en-US" altLang="zh-CN" b="1" dirty="0">
              <a:latin typeface="黑体" panose="02010609060101010101" pitchFamily="49" charset="-122"/>
              <a:ea typeface="黑体" panose="02010609060101010101" pitchFamily="49" charset="-122"/>
            </a:endParaRPr>
          </a:p>
          <a:p>
            <a:pPr marL="0" indent="0">
              <a:buNone/>
            </a:pPr>
            <a:r>
              <a:rPr lang="en-US" altLang="zh-CN" dirty="0"/>
              <a:t>	</a:t>
            </a:r>
            <a:endParaRPr lang="en-US" altLang="zh-CN" dirty="0"/>
          </a:p>
          <a:p>
            <a:pPr marL="0" indent="0">
              <a:buNone/>
            </a:pPr>
            <a:endParaRPr lang="en-US" altLang="zh-CN" dirty="0"/>
          </a:p>
          <a:p>
            <a:pPr>
              <a:lnSpc>
                <a:spcPct val="150000"/>
              </a:lnSpc>
            </a:pPr>
            <a:r>
              <a:rPr lang="en-US" altLang="zh-CN" b="1" dirty="0">
                <a:latin typeface="黑体" panose="02010609060101010101" pitchFamily="49" charset="-122"/>
                <a:ea typeface="黑体" panose="02010609060101010101" pitchFamily="49" charset="-122"/>
              </a:rPr>
              <a:t>C4.5</a:t>
            </a:r>
            <a:r>
              <a:rPr lang="en-US" altLang="zh-CN" sz="1600" b="1" dirty="0">
                <a:latin typeface="黑体" panose="02010609060101010101" pitchFamily="49" charset="-122"/>
                <a:ea typeface="黑体" panose="02010609060101010101" pitchFamily="49" charset="-122"/>
              </a:rPr>
              <a:t>[Quinlan, 1993]</a:t>
            </a:r>
            <a:r>
              <a:rPr lang="zh-CN" altLang="en-US" b="1" dirty="0">
                <a:latin typeface="黑体" panose="02010609060101010101" pitchFamily="49" charset="-122"/>
                <a:ea typeface="黑体" panose="02010609060101010101" pitchFamily="49" charset="-122"/>
              </a:rPr>
              <a:t>使用了一个启发式：先从候选划分属性中找出</a:t>
            </a:r>
            <a:r>
              <a:rPr lang="zh-CN" altLang="en-US" b="1" dirty="0">
                <a:solidFill>
                  <a:srgbClr val="FF0000"/>
                </a:solidFill>
                <a:latin typeface="黑体" panose="02010609060101010101" pitchFamily="49" charset="-122"/>
                <a:ea typeface="黑体" panose="02010609060101010101" pitchFamily="49" charset="-122"/>
              </a:rPr>
              <a:t>信息增益高于平均水平的属性</a:t>
            </a:r>
            <a:r>
              <a:rPr lang="zh-CN" altLang="en-US" b="1" dirty="0">
                <a:latin typeface="黑体" panose="02010609060101010101" pitchFamily="49" charset="-122"/>
                <a:ea typeface="黑体" panose="02010609060101010101" pitchFamily="49" charset="-122"/>
              </a:rPr>
              <a:t>，再从中选取增益率最高的</a:t>
            </a:r>
            <a:endParaRPr lang="en-US" altLang="zh-CN" b="1" dirty="0">
              <a:latin typeface="黑体" panose="02010609060101010101" pitchFamily="49" charset="-122"/>
              <a:ea typeface="黑体" panose="02010609060101010101" pitchFamily="49" charset="-122"/>
            </a:endParaRPr>
          </a:p>
          <a:p>
            <a:pPr latinLnBrk="1"/>
            <a:r>
              <a:rPr lang="en-US" altLang="zh-CN" b="1" dirty="0">
                <a:latin typeface="黑体" panose="02010609060101010101" pitchFamily="49" charset="-122"/>
                <a:ea typeface="黑体" panose="02010609060101010101" pitchFamily="49" charset="-122"/>
              </a:rPr>
              <a:t>C5.0: </a:t>
            </a:r>
            <a:r>
              <a:rPr lang="zh-CN" altLang="en-US" b="1" dirty="0">
                <a:latin typeface="黑体" panose="02010609060101010101" pitchFamily="49" charset="-122"/>
                <a:ea typeface="黑体" panose="02010609060101010101" pitchFamily="49" charset="-122"/>
              </a:rPr>
              <a:t>决策树</a:t>
            </a:r>
            <a:r>
              <a:rPr lang="en-US" altLang="zh-CN" b="1" dirty="0">
                <a:latin typeface="黑体" panose="02010609060101010101" pitchFamily="49" charset="-122"/>
                <a:ea typeface="黑体" panose="02010609060101010101" pitchFamily="49" charset="-122"/>
              </a:rPr>
              <a:t>C4.5</a:t>
            </a:r>
            <a:r>
              <a:rPr lang="zh-CN" altLang="en-US" b="1" dirty="0">
                <a:latin typeface="黑体" panose="02010609060101010101" pitchFamily="49" charset="-122"/>
                <a:ea typeface="黑体" panose="02010609060101010101" pitchFamily="49" charset="-122"/>
              </a:rPr>
              <a:t>的商用算法，在内存管理等方面，给出了改进。比如在商用软件</a:t>
            </a:r>
            <a:r>
              <a:rPr lang="en-US" altLang="zh-CN" b="1" dirty="0">
                <a:latin typeface="黑体" panose="02010609060101010101" pitchFamily="49" charset="-122"/>
                <a:ea typeface="黑体" panose="02010609060101010101" pitchFamily="49" charset="-122"/>
              </a:rPr>
              <a:t>SPSS</a:t>
            </a:r>
            <a:r>
              <a:rPr lang="zh-CN" altLang="en-US" b="1" dirty="0">
                <a:latin typeface="黑体" panose="02010609060101010101" pitchFamily="49" charset="-122"/>
                <a:ea typeface="黑体" panose="02010609060101010101" pitchFamily="49" charset="-122"/>
              </a:rPr>
              <a:t>中，就有该算法。</a:t>
            </a:r>
            <a:endParaRPr lang="zh-CN" altLang="en-US" b="1" dirty="0">
              <a:latin typeface="黑体" panose="02010609060101010101" pitchFamily="49" charset="-122"/>
              <a:ea typeface="黑体" panose="02010609060101010101" pitchFamily="49" charset="-122"/>
            </a:endParaRPr>
          </a:p>
          <a:p>
            <a:pPr>
              <a:lnSpc>
                <a:spcPct val="15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划分选择</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基尼指数</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1158536"/>
            <a:ext cx="8616950" cy="5464206"/>
          </a:xfrm>
        </p:spPr>
        <p:txBody>
          <a:bodyPr>
            <a:normAutofit/>
          </a:bodyPr>
          <a:lstStyle/>
          <a:p>
            <a:r>
              <a:rPr lang="zh-CN" altLang="en-US" b="1" dirty="0">
                <a:latin typeface="黑体" panose="02010609060101010101" pitchFamily="49" charset="-122"/>
                <a:ea typeface="黑体" panose="02010609060101010101" pitchFamily="49" charset="-122"/>
              </a:rPr>
              <a:t>数据集  的纯度可用“基尼值”来度量</a:t>
            </a:r>
            <a:endParaRPr lang="en-US" altLang="zh-CN" b="1" dirty="0">
              <a:latin typeface="黑体" panose="02010609060101010101" pitchFamily="49" charset="-122"/>
              <a:ea typeface="黑体" panose="02010609060101010101" pitchFamily="49" charset="-122"/>
            </a:endParaRPr>
          </a:p>
          <a:p>
            <a:pPr marL="0" indent="0">
              <a:buNone/>
            </a:pPr>
            <a:r>
              <a:rPr lang="en-US" altLang="zh-CN" dirty="0"/>
              <a:t>	</a:t>
            </a:r>
            <a:endParaRPr lang="en-US" altLang="zh-CN" dirty="0"/>
          </a:p>
          <a:p>
            <a:endParaRPr lang="en-US" altLang="zh-CN" dirty="0"/>
          </a:p>
          <a:p>
            <a:endParaRPr lang="en-US" altLang="zh-CN" dirty="0"/>
          </a:p>
          <a:p>
            <a:pPr marL="0" indent="0">
              <a:buNone/>
            </a:pPr>
            <a:r>
              <a:rPr lang="en-US" altLang="zh-CN" dirty="0"/>
              <a:t>             </a:t>
            </a:r>
            <a:r>
              <a:rPr lang="zh-CN" altLang="en-US" b="1" dirty="0">
                <a:solidFill>
                  <a:srgbClr val="C00000"/>
                </a:solidFill>
                <a:latin typeface="黑体" panose="02010609060101010101" pitchFamily="49" charset="-122"/>
                <a:ea typeface="黑体" panose="02010609060101010101" pitchFamily="49" charset="-122"/>
              </a:rPr>
              <a:t>越小，数据集</a:t>
            </a:r>
            <a:r>
              <a:rPr lang="en-US" altLang="zh-CN" b="1" dirty="0">
                <a:solidFill>
                  <a:srgbClr val="C00000"/>
                </a:solidFill>
                <a:latin typeface="黑体" panose="02010609060101010101" pitchFamily="49" charset="-122"/>
                <a:ea typeface="黑体" panose="02010609060101010101" pitchFamily="49" charset="-122"/>
              </a:rPr>
              <a:t>  </a:t>
            </a:r>
            <a:r>
              <a:rPr lang="zh-CN" altLang="en-US" b="1" dirty="0">
                <a:solidFill>
                  <a:srgbClr val="C00000"/>
                </a:solidFill>
                <a:latin typeface="黑体" panose="02010609060101010101" pitchFamily="49" charset="-122"/>
                <a:ea typeface="黑体" panose="02010609060101010101" pitchFamily="49" charset="-122"/>
              </a:rPr>
              <a:t>的纯度越高</a:t>
            </a:r>
            <a:endParaRPr lang="en-US" altLang="zh-CN" b="1" dirty="0">
              <a:solidFill>
                <a:srgbClr val="C00000"/>
              </a:solidFill>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的基尼指数定义为：</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r>
              <a:rPr lang="zh-CN" altLang="en-US" b="1" dirty="0">
                <a:solidFill>
                  <a:srgbClr val="C00000"/>
                </a:solidFill>
                <a:latin typeface="黑体" panose="02010609060101010101" pitchFamily="49" charset="-122"/>
                <a:ea typeface="黑体" panose="02010609060101010101" pitchFamily="49" charset="-122"/>
              </a:rPr>
              <a:t>应选择那个使划分后基尼指数最小的属性作为最优划分属性</a:t>
            </a:r>
            <a:r>
              <a:rPr lang="zh-CN" altLang="en-US" b="1" dirty="0">
                <a:latin typeface="黑体" panose="02010609060101010101" pitchFamily="49" charset="-122"/>
                <a:ea typeface="黑体" panose="02010609060101010101" pitchFamily="49" charset="-122"/>
              </a:rPr>
              <a:t>，即</a:t>
            </a:r>
            <a:endParaRPr lang="en-US" altLang="zh-CN" b="1" dirty="0">
              <a:latin typeface="黑体" panose="02010609060101010101" pitchFamily="49" charset="-122"/>
              <a:ea typeface="黑体" panose="02010609060101010101" pitchFamily="49" charset="-122"/>
            </a:endParaRPr>
          </a:p>
          <a:p>
            <a:endParaRPr lang="en-US" altLang="zh-CN" dirty="0"/>
          </a:p>
          <a:p>
            <a:endParaRPr lang="en-US" altLang="zh-CN" dirty="0"/>
          </a:p>
          <a:p>
            <a:r>
              <a:rPr lang="en-US" altLang="zh-CN" b="1" dirty="0">
                <a:solidFill>
                  <a:srgbClr val="FF0000"/>
                </a:solidFill>
                <a:latin typeface="黑体" panose="02010609060101010101" pitchFamily="49" charset="-122"/>
                <a:ea typeface="黑体" panose="02010609060101010101" pitchFamily="49" charset="-122"/>
              </a:rPr>
              <a:t>CART</a:t>
            </a:r>
            <a:r>
              <a:rPr lang="en-US" altLang="zh-CN" sz="2000" b="1" dirty="0">
                <a:solidFill>
                  <a:srgbClr val="FF0000"/>
                </a:solidFill>
                <a:latin typeface="黑体" panose="02010609060101010101" pitchFamily="49" charset="-122"/>
                <a:ea typeface="黑体" panose="02010609060101010101" pitchFamily="49" charset="-122"/>
              </a:rPr>
              <a:t> </a:t>
            </a:r>
            <a:r>
              <a:rPr lang="en-US" altLang="zh-CN" sz="1600" b="1" dirty="0">
                <a:latin typeface="黑体" panose="02010609060101010101" pitchFamily="49" charset="-122"/>
                <a:ea typeface="黑体" panose="02010609060101010101" pitchFamily="49" charset="-122"/>
              </a:rPr>
              <a:t>[</a:t>
            </a:r>
            <a:r>
              <a:rPr lang="en-US" altLang="zh-CN" sz="1600" b="1" dirty="0" err="1">
                <a:latin typeface="黑体" panose="02010609060101010101" pitchFamily="49" charset="-122"/>
                <a:ea typeface="黑体" panose="02010609060101010101" pitchFamily="49" charset="-122"/>
              </a:rPr>
              <a:t>Breiman</a:t>
            </a:r>
            <a:r>
              <a:rPr lang="en-US" altLang="zh-CN" sz="1600" b="1" dirty="0">
                <a:latin typeface="黑体" panose="02010609060101010101" pitchFamily="49" charset="-122"/>
                <a:ea typeface="黑体" panose="02010609060101010101" pitchFamily="49" charset="-122"/>
              </a:rPr>
              <a:t> et al., 1984]</a:t>
            </a:r>
            <a:r>
              <a:rPr lang="zh-CN" altLang="en-US" b="1" dirty="0">
                <a:latin typeface="黑体" panose="02010609060101010101" pitchFamily="49" charset="-122"/>
                <a:ea typeface="黑体" panose="02010609060101010101" pitchFamily="49" charset="-122"/>
              </a:rPr>
              <a:t>采用“基尼指数”来选择划分属性，形成一颗</a:t>
            </a:r>
            <a:r>
              <a:rPr lang="zh-CN" altLang="en-US" b="1" dirty="0">
                <a:solidFill>
                  <a:srgbClr val="FF0000"/>
                </a:solidFill>
                <a:latin typeface="黑体" panose="02010609060101010101" pitchFamily="49" charset="-122"/>
                <a:ea typeface="黑体" panose="02010609060101010101" pitchFamily="49" charset="-122"/>
              </a:rPr>
              <a:t>二叉</a:t>
            </a:r>
            <a:r>
              <a:rPr lang="zh-CN" altLang="en-US" b="1" dirty="0">
                <a:latin typeface="黑体" panose="02010609060101010101" pitchFamily="49" charset="-122"/>
                <a:ea typeface="黑体" panose="02010609060101010101" pitchFamily="49" charset="-122"/>
              </a:rPr>
              <a:t>树</a:t>
            </a:r>
            <a:endParaRPr lang="zh-CN" altLang="en-US" b="1"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1073150" y="1693863"/>
          <a:ext cx="2481263" cy="808037"/>
        </p:xfrm>
        <a:graphic>
          <a:graphicData uri="http://schemas.openxmlformats.org/presentationml/2006/ole">
            <mc:AlternateContent xmlns:mc="http://schemas.openxmlformats.org/markup-compatibility/2006">
              <mc:Choice xmlns:v="urn:schemas-microsoft-com:vml" Requires="v">
                <p:oleObj spid="_x0000_s27941" name="Formula" r:id="rId1" imgW="11677650" imgH="3800475" progId="Equation.Ribbit">
                  <p:embed/>
                </p:oleObj>
              </mc:Choice>
              <mc:Fallback>
                <p:oleObj name="Formula" r:id="rId1" imgW="11677650" imgH="3800475" progId="Equation.Ribbit">
                  <p:embed/>
                  <p:pic>
                    <p:nvPicPr>
                      <p:cNvPr id="0" name="图片 27940"/>
                      <p:cNvPicPr/>
                      <p:nvPr/>
                    </p:nvPicPr>
                    <p:blipFill>
                      <a:blip r:embed="rId2"/>
                      <a:stretch>
                        <a:fillRect/>
                      </a:stretch>
                    </p:blipFill>
                    <p:spPr>
                      <a:xfrm>
                        <a:off x="1073150" y="1693863"/>
                        <a:ext cx="2481263" cy="808037"/>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749675" y="1693863"/>
          <a:ext cx="1341438" cy="809625"/>
        </p:xfrm>
        <a:graphic>
          <a:graphicData uri="http://schemas.openxmlformats.org/presentationml/2006/ole">
            <mc:AlternateContent xmlns:mc="http://schemas.openxmlformats.org/markup-compatibility/2006">
              <mc:Choice xmlns:v="urn:schemas-microsoft-com:vml" Requires="v">
                <p:oleObj spid="_x0000_s5" name="Formula" r:id="rId3" imgW="5962650" imgH="3600450" progId="Equation.Ribbit">
                  <p:embed/>
                </p:oleObj>
              </mc:Choice>
              <mc:Fallback>
                <p:oleObj name="Formula" r:id="rId3" imgW="5962650" imgH="3600450" progId="Equation.Ribbit">
                  <p:embed/>
                  <p:pic>
                    <p:nvPicPr>
                      <p:cNvPr id="0" name="图片 4"/>
                      <p:cNvPicPr/>
                      <p:nvPr/>
                    </p:nvPicPr>
                    <p:blipFill>
                      <a:blip r:embed="rId4"/>
                      <a:stretch>
                        <a:fillRect/>
                      </a:stretch>
                    </p:blipFill>
                    <p:spPr>
                      <a:xfrm>
                        <a:off x="3749675" y="1693863"/>
                        <a:ext cx="1341438" cy="80962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273300" y="3670300"/>
          <a:ext cx="4949825" cy="501650"/>
        </p:xfrm>
        <a:graphic>
          <a:graphicData uri="http://schemas.openxmlformats.org/presentationml/2006/ole">
            <mc:AlternateContent xmlns:mc="http://schemas.openxmlformats.org/markup-compatibility/2006">
              <mc:Choice xmlns:v="urn:schemas-microsoft-com:vml" Requires="v">
                <p:oleObj spid="_x0000_s8" name="Formula" r:id="rId5" imgW="18564225" imgH="1876425" progId="Equation.Ribbit">
                  <p:embed/>
                </p:oleObj>
              </mc:Choice>
              <mc:Fallback>
                <p:oleObj name="Formula" r:id="rId5" imgW="18564225" imgH="1876425" progId="Equation.Ribbit">
                  <p:embed/>
                  <p:pic>
                    <p:nvPicPr>
                      <p:cNvPr id="0" name="图片 7"/>
                      <p:cNvPicPr/>
                      <p:nvPr/>
                    </p:nvPicPr>
                    <p:blipFill>
                      <a:blip r:embed="rId6"/>
                      <a:stretch>
                        <a:fillRect/>
                      </a:stretch>
                    </p:blipFill>
                    <p:spPr>
                      <a:xfrm>
                        <a:off x="2273300" y="3670300"/>
                        <a:ext cx="4949825" cy="5016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851150" y="4714875"/>
          <a:ext cx="3844925" cy="536575"/>
        </p:xfrm>
        <a:graphic>
          <a:graphicData uri="http://schemas.openxmlformats.org/presentationml/2006/ole">
            <mc:AlternateContent xmlns:mc="http://schemas.openxmlformats.org/markup-compatibility/2006">
              <mc:Choice xmlns:v="urn:schemas-microsoft-com:vml" Requires="v">
                <p:oleObj spid="_x0000_s10" name="Formula" r:id="rId7" imgW="14325600" imgH="1990725" progId="Equation.Ribbit">
                  <p:embed/>
                </p:oleObj>
              </mc:Choice>
              <mc:Fallback>
                <p:oleObj name="Formula" r:id="rId7" imgW="14325600" imgH="1990725" progId="Equation.Ribbit">
                  <p:embed/>
                  <p:pic>
                    <p:nvPicPr>
                      <p:cNvPr id="0" name="图片 9"/>
                      <p:cNvPicPr/>
                      <p:nvPr/>
                    </p:nvPicPr>
                    <p:blipFill>
                      <a:blip r:embed="rId8"/>
                      <a:stretch>
                        <a:fillRect/>
                      </a:stretch>
                    </p:blipFill>
                    <p:spPr>
                      <a:xfrm>
                        <a:off x="2851150" y="4714875"/>
                        <a:ext cx="3844925" cy="5365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54063" y="2949575"/>
          <a:ext cx="828675" cy="284163"/>
        </p:xfrm>
        <a:graphic>
          <a:graphicData uri="http://schemas.openxmlformats.org/presentationml/2006/ole">
            <mc:AlternateContent xmlns:mc="http://schemas.openxmlformats.org/markup-compatibility/2006">
              <mc:Choice xmlns:v="urn:schemas-microsoft-com:vml" Requires="v">
                <p:oleObj spid="_x0000_s12" name="Formula" r:id="rId9" imgW="3867150" imgH="1333500" progId="Equation.Ribbit">
                  <p:embed/>
                </p:oleObj>
              </mc:Choice>
              <mc:Fallback>
                <p:oleObj name="Formula" r:id="rId9" imgW="3867150" imgH="1333500" progId="Equation.Ribbit">
                  <p:embed/>
                  <p:pic>
                    <p:nvPicPr>
                      <p:cNvPr id="0" name="图片 11"/>
                      <p:cNvPicPr/>
                      <p:nvPr/>
                    </p:nvPicPr>
                    <p:blipFill>
                      <a:blip r:embed="rId10"/>
                      <a:stretch>
                        <a:fillRect/>
                      </a:stretch>
                    </p:blipFill>
                    <p:spPr>
                      <a:xfrm>
                        <a:off x="754063" y="2949575"/>
                        <a:ext cx="828675" cy="284163"/>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599851" y="1247775"/>
          <a:ext cx="200025" cy="268288"/>
        </p:xfrm>
        <a:graphic>
          <a:graphicData uri="http://schemas.openxmlformats.org/presentationml/2006/ole">
            <mc:AlternateContent xmlns:mc="http://schemas.openxmlformats.org/markup-compatibility/2006">
              <mc:Choice xmlns:v="urn:schemas-microsoft-com:vml" Requires="v">
                <p:oleObj spid="_x0000_s14" name="Formula" r:id="rId11" imgW="933450" imgH="1247775" progId="Equation.Ribbit">
                  <p:embed/>
                </p:oleObj>
              </mc:Choice>
              <mc:Fallback>
                <p:oleObj name="Formula" r:id="rId11" imgW="933450" imgH="1247775" progId="Equation.Ribbit">
                  <p:embed/>
                  <p:pic>
                    <p:nvPicPr>
                      <p:cNvPr id="0" name="图片 13"/>
                      <p:cNvPicPr/>
                      <p:nvPr/>
                    </p:nvPicPr>
                    <p:blipFill>
                      <a:blip r:embed="rId12"/>
                      <a:stretch>
                        <a:fillRect/>
                      </a:stretch>
                    </p:blipFill>
                    <p:spPr>
                      <a:xfrm>
                        <a:off x="1599851" y="1247775"/>
                        <a:ext cx="200025" cy="268288"/>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3371148" y="2965450"/>
          <a:ext cx="200025" cy="268288"/>
        </p:xfrm>
        <a:graphic>
          <a:graphicData uri="http://schemas.openxmlformats.org/presentationml/2006/ole">
            <mc:AlternateContent xmlns:mc="http://schemas.openxmlformats.org/markup-compatibility/2006">
              <mc:Choice xmlns:v="urn:schemas-microsoft-com:vml" Requires="v">
                <p:oleObj spid="_x0000_s16" name="Formula" r:id="rId13" imgW="933450" imgH="1247775" progId="Equation.Ribbit">
                  <p:embed/>
                </p:oleObj>
              </mc:Choice>
              <mc:Fallback>
                <p:oleObj name="Formula" r:id="rId13" imgW="933450" imgH="1247775" progId="Equation.Ribbit">
                  <p:embed/>
                  <p:pic>
                    <p:nvPicPr>
                      <p:cNvPr id="0" name="图片 15"/>
                      <p:cNvPicPr/>
                      <p:nvPr/>
                    </p:nvPicPr>
                    <p:blipFill>
                      <a:blip r:embed="rId12"/>
                      <a:stretch>
                        <a:fillRect/>
                      </a:stretch>
                    </p:blipFill>
                    <p:spPr>
                      <a:xfrm>
                        <a:off x="3371148" y="2965450"/>
                        <a:ext cx="200025" cy="268288"/>
                      </a:xfrm>
                      <a:prstGeom prst="rect">
                        <a:avLst/>
                      </a:prstGeom>
                    </p:spPr>
                  </p:pic>
                </p:oleObj>
              </mc:Fallback>
            </mc:AlternateContent>
          </a:graphicData>
        </a:graphic>
      </p:graphicFrame>
      <p:sp>
        <p:nvSpPr>
          <p:cNvPr id="17" name="Rectangle 3"/>
          <p:cNvSpPr>
            <a:spLocks noChangeArrowheads="1"/>
          </p:cNvSpPr>
          <p:nvPr/>
        </p:nvSpPr>
        <p:spPr bwMode="auto">
          <a:xfrm>
            <a:off x="5883557" y="1506681"/>
            <a:ext cx="2822011" cy="1231056"/>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nSpc>
                <a:spcPts val="3200"/>
              </a:lnSpc>
              <a:buNone/>
            </a:pPr>
            <a:r>
              <a:rPr lang="zh-CN" altLang="en-US" sz="2200" b="1" dirty="0">
                <a:latin typeface="黑体" panose="02010609060101010101" pitchFamily="49" charset="-122"/>
                <a:ea typeface="黑体" panose="02010609060101010101" pitchFamily="49" charset="-122"/>
              </a:rPr>
              <a:t>反映了从</a:t>
            </a:r>
            <a:r>
              <a:rPr lang="en-US" altLang="zh-CN" sz="2200" b="1" dirty="0">
                <a:latin typeface="黑体" panose="02010609060101010101" pitchFamily="49" charset="-122"/>
                <a:ea typeface="黑体" panose="02010609060101010101" pitchFamily="49" charset="-122"/>
              </a:rPr>
              <a:t>  </a:t>
            </a:r>
            <a:r>
              <a:rPr lang="zh-CN" altLang="en-US" sz="2200" b="1" dirty="0">
                <a:latin typeface="黑体" panose="02010609060101010101" pitchFamily="49" charset="-122"/>
                <a:ea typeface="黑体" panose="02010609060101010101" pitchFamily="49" charset="-122"/>
              </a:rPr>
              <a:t>中随机抽取两个样本，其类别标记不一致的概率</a:t>
            </a:r>
            <a:endParaRPr lang="zh-CN" altLang="en-US" sz="2200" b="1" i="0" dirty="0">
              <a:latin typeface="黑体" panose="02010609060101010101" pitchFamily="49" charset="-122"/>
              <a:ea typeface="黑体" panose="02010609060101010101" pitchFamily="49" charset="-122"/>
            </a:endParaRPr>
          </a:p>
        </p:txBody>
      </p:sp>
      <p:graphicFrame>
        <p:nvGraphicFramePr>
          <p:cNvPr id="18" name="对象 17"/>
          <p:cNvGraphicFramePr>
            <a:graphicFrameLocks noChangeAspect="1"/>
          </p:cNvGraphicFramePr>
          <p:nvPr/>
        </p:nvGraphicFramePr>
        <p:xfrm>
          <a:off x="7145338" y="1638300"/>
          <a:ext cx="198437" cy="271463"/>
        </p:xfrm>
        <a:graphic>
          <a:graphicData uri="http://schemas.openxmlformats.org/presentationml/2006/ole">
            <mc:AlternateContent xmlns:mc="http://schemas.openxmlformats.org/markup-compatibility/2006">
              <mc:Choice xmlns:v="urn:schemas-microsoft-com:vml" Requires="v">
                <p:oleObj spid="_x0000_s19" name="Formula" r:id="rId14" imgW="933450" imgH="1247775" progId="Equation.Ribbit">
                  <p:embed/>
                </p:oleObj>
              </mc:Choice>
              <mc:Fallback>
                <p:oleObj name="Formula" r:id="rId14" imgW="933450" imgH="1247775" progId="Equation.Ribbit">
                  <p:embed/>
                  <p:pic>
                    <p:nvPicPr>
                      <p:cNvPr id="0" name="图片 18"/>
                      <p:cNvPicPr/>
                      <p:nvPr/>
                    </p:nvPicPr>
                    <p:blipFill>
                      <a:blip r:embed="rId12"/>
                      <a:stretch>
                        <a:fillRect/>
                      </a:stretch>
                    </p:blipFill>
                    <p:spPr>
                      <a:xfrm>
                        <a:off x="7145338" y="1638300"/>
                        <a:ext cx="198437" cy="271463"/>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296928" y="3379788"/>
          <a:ext cx="190500" cy="304800"/>
        </p:xfrm>
        <a:graphic>
          <a:graphicData uri="http://schemas.openxmlformats.org/presentationml/2006/ole">
            <mc:AlternateContent xmlns:mc="http://schemas.openxmlformats.org/markup-compatibility/2006">
              <mc:Choice xmlns:v="urn:schemas-microsoft-com:vml" Requires="v">
                <p:oleObj spid="_x0000_s21" name="Formula" r:id="rId15" imgW="600075" imgH="971550" progId="Equation.Ribbit">
                  <p:embed/>
                </p:oleObj>
              </mc:Choice>
              <mc:Fallback>
                <p:oleObj name="Formula" r:id="rId15" imgW="600075" imgH="971550" progId="Equation.Ribbit">
                  <p:embed/>
                  <p:pic>
                    <p:nvPicPr>
                      <p:cNvPr id="0" name="图片 20"/>
                      <p:cNvPicPr/>
                      <p:nvPr/>
                    </p:nvPicPr>
                    <p:blipFill>
                      <a:blip r:embed="rId16"/>
                      <a:stretch>
                        <a:fillRect/>
                      </a:stretch>
                    </p:blipFill>
                    <p:spPr>
                      <a:xfrm>
                        <a:off x="1296928" y="3379788"/>
                        <a:ext cx="190500" cy="3048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数据集</a:t>
            </a:r>
            <a:endParaRPr lang="zh-CN" altLang="en-US" dirty="0">
              <a:latin typeface="黑体" panose="02010609060101010101" pitchFamily="49" charset="-122"/>
              <a:ea typeface="黑体" panose="02010609060101010101" pitchFamily="49" charset="-122"/>
            </a:endParaRPr>
          </a:p>
        </p:txBody>
      </p:sp>
      <p:graphicFrame>
        <p:nvGraphicFramePr>
          <p:cNvPr id="4" name="Table 3"/>
          <p:cNvGraphicFramePr>
            <a:graphicFrameLocks noGrp="1"/>
          </p:cNvGraphicFramePr>
          <p:nvPr/>
        </p:nvGraphicFramePr>
        <p:xfrm>
          <a:off x="627380" y="1430582"/>
          <a:ext cx="7519670" cy="3115066"/>
        </p:xfrm>
        <a:graphic>
          <a:graphicData uri="http://schemas.openxmlformats.org/drawingml/2006/table">
            <a:tbl>
              <a:tblPr firstRow="1" bandRow="1" bandCol="1">
                <a:tableStyleId>{5C22544A-7EE6-4342-B048-85BDC9FD1C3A}</a:tableStyleId>
              </a:tblPr>
              <a:tblGrid>
                <a:gridCol w="1503934"/>
                <a:gridCol w="1503934"/>
                <a:gridCol w="1503934"/>
                <a:gridCol w="1503934"/>
                <a:gridCol w="1503934"/>
              </a:tblGrid>
              <a:tr h="371866">
                <a:tc>
                  <a:txBody>
                    <a:bodyPr/>
                    <a:lstStyle/>
                    <a:p>
                      <a:pPr algn="ctr">
                        <a:spcBef>
                          <a:spcPts val="180"/>
                        </a:spcBef>
                        <a:spcAft>
                          <a:spcPts val="180"/>
                        </a:spcAft>
                      </a:pPr>
                      <a:r>
                        <a:rPr lang="en-US" sz="1800" dirty="0" err="1">
                          <a:effectLst/>
                          <a:latin typeface="+mn-ea"/>
                          <a:ea typeface="+mn-ea"/>
                        </a:rPr>
                        <a:t>tid</a:t>
                      </a:r>
                      <a:endParaRPr lang="en-US" sz="1800" dirty="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有房者</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dirty="0" err="1">
                          <a:effectLst/>
                          <a:latin typeface="+mn-ea"/>
                          <a:ea typeface="+mn-ea"/>
                        </a:rPr>
                        <a:t>婚姻状况</a:t>
                      </a:r>
                      <a:endParaRPr lang="en-US" sz="1800" dirty="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年收入</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拖欠贷款者</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1</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dirty="0" err="1">
                          <a:effectLst/>
                          <a:latin typeface="+mn-ea"/>
                          <a:ea typeface="+mn-ea"/>
                        </a:rPr>
                        <a:t>是</a:t>
                      </a:r>
                      <a:endParaRPr lang="en-US" sz="1800" dirty="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单身</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125K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2</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已婚</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100K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3</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单身</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70K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4</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是</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已婚</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120K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5</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离异</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95K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是</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6</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已婚</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60K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7</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是</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离异</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220K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8</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单身</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85K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是</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9</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已婚</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75K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r>
              <a:tr h="250507">
                <a:tc>
                  <a:txBody>
                    <a:bodyPr/>
                    <a:lstStyle/>
                    <a:p>
                      <a:pPr algn="ctr">
                        <a:spcBef>
                          <a:spcPts val="180"/>
                        </a:spcBef>
                        <a:spcAft>
                          <a:spcPts val="180"/>
                        </a:spcAft>
                      </a:pPr>
                      <a:r>
                        <a:rPr lang="en-US" sz="1800">
                          <a:effectLst/>
                          <a:latin typeface="+mn-ea"/>
                          <a:ea typeface="+mn-ea"/>
                        </a:rPr>
                        <a:t>10</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否</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单身</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mn-ea"/>
                          <a:ea typeface="+mn-ea"/>
                        </a:rPr>
                        <a:t>90K</a:t>
                      </a:r>
                      <a:endParaRPr lang="en-US" sz="1800">
                        <a:effectLst/>
                        <a:latin typeface="+mn-ea"/>
                        <a:ea typeface="+mn-ea"/>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dirty="0" err="1">
                          <a:effectLst/>
                          <a:latin typeface="+mn-ea"/>
                          <a:ea typeface="+mn-ea"/>
                        </a:rPr>
                        <a:t>是</a:t>
                      </a:r>
                      <a:endParaRPr lang="en-US" sz="1800" dirty="0">
                        <a:effectLst/>
                        <a:latin typeface="+mn-ea"/>
                        <a:ea typeface="+mn-ea"/>
                        <a:cs typeface="Times New Roman" panose="02020603050405020304" pitchFamily="18" charset="0"/>
                      </a:endParaRPr>
                    </a:p>
                  </a:txBody>
                  <a:tcPr marL="68580" marR="68580" marT="0" marB="0" anchor="ctr"/>
                </a:tc>
              </a:tr>
            </a:tbl>
          </a:graphicData>
        </a:graphic>
      </p:graphicFrame>
      <p:sp>
        <p:nvSpPr>
          <p:cNvPr id="5" name="Rectangle 1"/>
          <p:cNvSpPr>
            <a:spLocks noChangeArrowheads="1"/>
          </p:cNvSpPr>
          <p:nvPr/>
        </p:nvSpPr>
        <p:spPr bwMode="auto">
          <a:xfrm>
            <a:off x="260350" y="25796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处理二分类属性</a:t>
            </a:r>
            <a:endParaRPr lang="zh-CN" altLang="en-US" dirty="0">
              <a:latin typeface="黑体" panose="02010609060101010101" pitchFamily="49" charset="-122"/>
              <a:ea typeface="黑体" panose="02010609060101010101" pitchFamily="49" charset="-122"/>
            </a:endParaRPr>
          </a:p>
        </p:txBody>
      </p:sp>
      <p:graphicFrame>
        <p:nvGraphicFramePr>
          <p:cNvPr id="2" name="Table 1"/>
          <p:cNvGraphicFramePr>
            <a:graphicFrameLocks noGrp="1"/>
          </p:cNvGraphicFramePr>
          <p:nvPr/>
        </p:nvGraphicFramePr>
        <p:xfrm>
          <a:off x="2428447" y="1727070"/>
          <a:ext cx="4006851" cy="1017531"/>
        </p:xfrm>
        <a:graphic>
          <a:graphicData uri="http://schemas.openxmlformats.org/drawingml/2006/table">
            <a:tbl>
              <a:tblPr firstRow="1" bandRow="1" bandCol="1">
                <a:tableStyleId>{5C22544A-7EE6-4342-B048-85BDC9FD1C3A}</a:tableStyleId>
              </a:tblPr>
              <a:tblGrid>
                <a:gridCol w="1335617"/>
                <a:gridCol w="1335617"/>
                <a:gridCol w="1335617"/>
              </a:tblGrid>
              <a:tr h="339177">
                <a:tc>
                  <a:txBody>
                    <a:bodyPr/>
                    <a:lstStyle/>
                    <a:p>
                      <a:pPr algn="ctr">
                        <a:spcBef>
                          <a:spcPts val="180"/>
                        </a:spcBef>
                        <a:spcAft>
                          <a:spcPts val="180"/>
                        </a:spcAft>
                      </a:pPr>
                      <a:r>
                        <a:rPr lang="en-US" sz="1800" dirty="0" err="1">
                          <a:effectLst/>
                          <a:latin typeface="黑体" panose="02010609060101010101" pitchFamily="49" charset="-122"/>
                          <a:ea typeface="黑体" panose="02010609060101010101" pitchFamily="49" charset="-122"/>
                        </a:rPr>
                        <a:t>有房</a:t>
                      </a:r>
                      <a:endParaRPr lang="en-US" sz="18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无房</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拖欠贷款</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r>
              <a:tr h="339177">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0</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3</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是</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r>
              <a:tr h="339177">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3</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a:effectLst/>
                          <a:latin typeface="黑体" panose="02010609060101010101" pitchFamily="49" charset="-122"/>
                          <a:ea typeface="黑体" panose="02010609060101010101" pitchFamily="49" charset="-122"/>
                        </a:rPr>
                        <a:t>4</a:t>
                      </a:r>
                      <a:endParaRPr lang="en-US" sz="180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c>
                  <a:txBody>
                    <a:bodyPr/>
                    <a:lstStyle/>
                    <a:p>
                      <a:pPr algn="ctr">
                        <a:spcBef>
                          <a:spcPts val="180"/>
                        </a:spcBef>
                        <a:spcAft>
                          <a:spcPts val="180"/>
                        </a:spcAft>
                      </a:pPr>
                      <a:r>
                        <a:rPr lang="en-US" sz="1800" dirty="0" err="1">
                          <a:effectLst/>
                          <a:latin typeface="黑体" panose="02010609060101010101" pitchFamily="49" charset="-122"/>
                          <a:ea typeface="黑体" panose="02010609060101010101" pitchFamily="49" charset="-122"/>
                        </a:rPr>
                        <a:t>否</a:t>
                      </a:r>
                      <a:endParaRPr lang="en-US" sz="1800" dirty="0">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a:tc>
              </a:tr>
            </a:tbl>
          </a:graphicData>
        </a:graphic>
      </p:graphicFrame>
      <p:sp>
        <p:nvSpPr>
          <p:cNvPr id="3" name="Rectangle 1"/>
          <p:cNvSpPr>
            <a:spLocks noChangeArrowheads="1"/>
          </p:cNvSpPr>
          <p:nvPr/>
        </p:nvSpPr>
        <p:spPr bwMode="auto">
          <a:xfrm>
            <a:off x="1921510" y="1778636"/>
            <a:ext cx="424566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US"/>
          </a:p>
        </p:txBody>
      </p:sp>
      <p:sp>
        <p:nvSpPr>
          <p:cNvPr id="6" name="内容占位符 2"/>
          <p:cNvSpPr>
            <a:spLocks noGrp="1"/>
          </p:cNvSpPr>
          <p:nvPr>
            <p:ph idx="1"/>
          </p:nvPr>
        </p:nvSpPr>
        <p:spPr>
          <a:xfrm>
            <a:off x="263525" y="1059716"/>
            <a:ext cx="8616950" cy="450453"/>
          </a:xfrm>
        </p:spPr>
        <p:txBody>
          <a:bodyPr>
            <a:normAutofit/>
          </a:bodyPr>
          <a:lstStyle/>
          <a:p>
            <a:pPr>
              <a:lnSpc>
                <a:spcPct val="100000"/>
              </a:lnSpc>
            </a:pPr>
            <a:r>
              <a:rPr lang="zh-CN" altLang="en-US" dirty="0">
                <a:latin typeface="黑体" panose="02010609060101010101" pitchFamily="49" charset="-122"/>
                <a:ea typeface="黑体" panose="02010609060101010101" pitchFamily="49" charset="-122"/>
              </a:rPr>
              <a:t>以有无房子作为分裂属性计算它的</a:t>
            </a:r>
            <a:r>
              <a:rPr lang="en-US" dirty="0">
                <a:latin typeface="黑体" panose="02010609060101010101" pitchFamily="49" charset="-122"/>
                <a:ea typeface="黑体" panose="02010609060101010101" pitchFamily="49" charset="-122"/>
              </a:rPr>
              <a:t>Gini</a:t>
            </a:r>
            <a:r>
              <a:rPr lang="zh-CN" altLang="en-US" dirty="0">
                <a:latin typeface="黑体" panose="02010609060101010101" pitchFamily="49" charset="-122"/>
                <a:ea typeface="黑体" panose="02010609060101010101" pitchFamily="49" charset="-122"/>
              </a:rPr>
              <a:t>值</a:t>
            </a:r>
            <a:endParaRPr lang="en-US" altLang="zh-CN"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7" name="TextBox 6"/>
              <p:cNvSpPr txBox="1"/>
              <p:nvPr/>
            </p:nvSpPr>
            <p:spPr>
              <a:xfrm>
                <a:off x="1985490" y="3360420"/>
                <a:ext cx="5389424" cy="1405193"/>
              </a:xfrm>
              <a:prstGeom prst="rect">
                <a:avLst/>
              </a:prstGeom>
              <a:noFill/>
            </p:spPr>
            <p:txBody>
              <a:bodyPr wrap="none" rtlCol="0">
                <a:spAutoFit/>
              </a:bodyPr>
              <a:lstStyle/>
              <a:p>
                <a:pPr>
                  <a:lnSpc>
                    <a:spcPct val="150000"/>
                  </a:lnSpc>
                </a:pPr>
                <a:r>
                  <a:rPr lang="en-US" sz="2000" dirty="0">
                    <a:effectLst/>
                    <a:latin typeface="黑体" panose="02010609060101010101" pitchFamily="49" charset="-122"/>
                    <a:ea typeface="黑体" panose="02010609060101010101" pitchFamily="49" charset="-122"/>
                    <a:cs typeface="Times New Roman" panose="02020603050405020304" pitchFamily="18" charset="0"/>
                  </a:rPr>
                  <a:t>Gini(</a:t>
                </a:r>
                <a:r>
                  <a:rPr lang="en-US" sz="2000" dirty="0" err="1">
                    <a:effectLst/>
                    <a:latin typeface="黑体" panose="02010609060101010101" pitchFamily="49" charset="-122"/>
                    <a:ea typeface="黑体" panose="02010609060101010101" pitchFamily="49" charset="-122"/>
                    <a:cs typeface="Times New Roman" panose="02020603050405020304" pitchFamily="18" charset="0"/>
                  </a:rPr>
                  <a:t>有房</a:t>
                </a:r>
                <a:r>
                  <a:rPr lang="en-US" sz="2000" dirty="0">
                    <a:effectLst/>
                    <a:latin typeface="黑体" panose="02010609060101010101" pitchFamily="49" charset="-122"/>
                    <a:ea typeface="黑体" panose="02010609060101010101" pitchFamily="49" charset="-122"/>
                    <a:cs typeface="Times New Roman" panose="02020603050405020304" pitchFamily="18" charset="0"/>
                  </a:rPr>
                  <a:t>) = 1 - </a:t>
                </a:r>
                <a14:m>
                  <m:oMath xmlns:m="http://schemas.openxmlformats.org/officeDocument/2006/math">
                    <m:sSup>
                      <m:sSupPr>
                        <m:ctrlPr>
                          <a:rPr lang="en-US" sz="2000" i="1">
                            <a:effectLst/>
                            <a:latin typeface="Cambria Math" panose="02040503050406030204" pitchFamily="18" charset="0"/>
                            <a:cs typeface="Times New Roman" panose="02020603050405020304" pitchFamily="18" charset="0"/>
                          </a:rPr>
                        </m:ctrlPr>
                      </m:sSupPr>
                      <m:e>
                        <m:d>
                          <m:dPr>
                            <m:ctrlPr>
                              <a:rPr lang="en-US" sz="2000" i="1">
                                <a:effectLst/>
                                <a:latin typeface="Cambria Math" panose="02040503050406030204" pitchFamily="18" charset="0"/>
                                <a:cs typeface="Times New Roman" panose="02020603050405020304" pitchFamily="18" charset="0"/>
                              </a:rPr>
                            </m:ctrlPr>
                          </m:dPr>
                          <m:e>
                            <m:r>
                              <a:rPr lang="en-US" sz="2000" i="1">
                                <a:effectLst/>
                                <a:latin typeface="Cambria Math" panose="02040503050406030204" pitchFamily="18" charset="0"/>
                                <a:cs typeface="Times New Roman" panose="02020603050405020304" pitchFamily="18" charset="0"/>
                              </a:rPr>
                              <m:t>3</m:t>
                            </m:r>
                            <m:r>
                              <a:rPr lang="en-US" sz="2000">
                                <a:effectLst/>
                                <a:latin typeface="Cambria Math" panose="02040503050406030204" pitchFamily="18" charset="0"/>
                                <a:cs typeface="Times New Roman" panose="02020603050405020304" pitchFamily="18" charset="0"/>
                              </a:rPr>
                              <m:t>/</m:t>
                            </m:r>
                            <m:r>
                              <a:rPr lang="en-US" sz="2000" i="1">
                                <a:effectLst/>
                                <a:latin typeface="Cambria Math" panose="02040503050406030204" pitchFamily="18" charset="0"/>
                                <a:cs typeface="Times New Roman" panose="02020603050405020304" pitchFamily="18" charset="0"/>
                              </a:rPr>
                              <m:t>3</m:t>
                            </m:r>
                          </m:e>
                        </m:d>
                      </m:e>
                      <m:sup>
                        <m:r>
                          <a:rPr lang="en-US" sz="2000" i="1">
                            <a:effectLst/>
                            <a:latin typeface="Cambria Math" panose="02040503050406030204" pitchFamily="18" charset="0"/>
                            <a:cs typeface="Times New Roman" panose="02020603050405020304" pitchFamily="18" charset="0"/>
                          </a:rPr>
                          <m:t>2</m:t>
                        </m:r>
                      </m:sup>
                    </m:sSup>
                  </m:oMath>
                </a14:m>
                <a:r>
                  <a:rPr lang="en-US" sz="2000" dirty="0">
                    <a:effectLst/>
                    <a:latin typeface="黑体" panose="02010609060101010101" pitchFamily="49" charset="-122"/>
                    <a:ea typeface="黑体" panose="02010609060101010101" pitchFamily="49" charset="-122"/>
                    <a:cs typeface="Times New Roman" panose="02020603050405020304" pitchFamily="18" charset="0"/>
                  </a:rPr>
                  <a:t> - </a:t>
                </a:r>
                <a14:m>
                  <m:oMath xmlns:m="http://schemas.openxmlformats.org/officeDocument/2006/math">
                    <m:sSup>
                      <m:sSupPr>
                        <m:ctrlPr>
                          <a:rPr lang="en-US" sz="2000" i="1">
                            <a:effectLst/>
                            <a:latin typeface="Cambria Math" panose="02040503050406030204" pitchFamily="18" charset="0"/>
                            <a:cs typeface="Times New Roman" panose="02020603050405020304" pitchFamily="18" charset="0"/>
                          </a:rPr>
                        </m:ctrlPr>
                      </m:sSupPr>
                      <m:e>
                        <m:d>
                          <m:dPr>
                            <m:ctrlPr>
                              <a:rPr lang="en-US" sz="2000" i="1">
                                <a:effectLst/>
                                <a:latin typeface="Cambria Math" panose="02040503050406030204" pitchFamily="18" charset="0"/>
                                <a:cs typeface="Times New Roman" panose="02020603050405020304" pitchFamily="18" charset="0"/>
                              </a:rPr>
                            </m:ctrlPr>
                          </m:dPr>
                          <m:e>
                            <m:r>
                              <a:rPr lang="en-US" sz="2000" i="1">
                                <a:effectLst/>
                                <a:latin typeface="Cambria Math" panose="02040503050406030204" pitchFamily="18" charset="0"/>
                                <a:cs typeface="Times New Roman" panose="02020603050405020304" pitchFamily="18" charset="0"/>
                              </a:rPr>
                              <m:t>0</m:t>
                            </m:r>
                            <m:r>
                              <a:rPr lang="en-US" sz="2000">
                                <a:effectLst/>
                                <a:latin typeface="Cambria Math" panose="02040503050406030204" pitchFamily="18" charset="0"/>
                                <a:cs typeface="Times New Roman" panose="02020603050405020304" pitchFamily="18" charset="0"/>
                              </a:rPr>
                              <m:t>/</m:t>
                            </m:r>
                            <m:r>
                              <a:rPr lang="en-US" sz="2000" i="1">
                                <a:effectLst/>
                                <a:latin typeface="Cambria Math" panose="02040503050406030204" pitchFamily="18" charset="0"/>
                                <a:cs typeface="Times New Roman" panose="02020603050405020304" pitchFamily="18" charset="0"/>
                              </a:rPr>
                              <m:t>3</m:t>
                            </m:r>
                          </m:e>
                        </m:d>
                      </m:e>
                      <m:sup>
                        <m:r>
                          <a:rPr lang="en-US" sz="2000" i="1">
                            <a:effectLst/>
                            <a:latin typeface="Cambria Math" panose="02040503050406030204" pitchFamily="18" charset="0"/>
                            <a:cs typeface="Times New Roman" panose="02020603050405020304" pitchFamily="18" charset="0"/>
                          </a:rPr>
                          <m:t>2</m:t>
                        </m:r>
                      </m:sup>
                    </m:sSup>
                  </m:oMath>
                </a14:m>
                <a:r>
                  <a:rPr lang="en-US" sz="2000" dirty="0">
                    <a:effectLst/>
                    <a:latin typeface="黑体" panose="02010609060101010101" pitchFamily="49" charset="-122"/>
                    <a:ea typeface="黑体" panose="02010609060101010101" pitchFamily="49" charset="-122"/>
                    <a:cs typeface="Times New Roman" panose="02020603050405020304" pitchFamily="18" charset="0"/>
                  </a:rPr>
                  <a:t> = 0</a:t>
                </a:r>
                <a:endParaRPr lang="en-US" sz="2000" dirty="0">
                  <a:effectLst/>
                  <a:latin typeface="黑体" panose="02010609060101010101" pitchFamily="49" charset="-122"/>
                  <a:ea typeface="黑体" panose="02010609060101010101" pitchFamily="49" charset="-122"/>
                  <a:cs typeface="Times New Roman" panose="02020603050405020304" pitchFamily="18" charset="0"/>
                </a:endParaRPr>
              </a:p>
              <a:p>
                <a:pPr>
                  <a:lnSpc>
                    <a:spcPct val="150000"/>
                  </a:lnSpc>
                </a:pPr>
                <a:r>
                  <a:rPr lang="en-US" sz="2000" dirty="0">
                    <a:effectLst/>
                    <a:latin typeface="黑体" panose="02010609060101010101" pitchFamily="49" charset="-122"/>
                    <a:ea typeface="黑体" panose="02010609060101010101" pitchFamily="49" charset="-122"/>
                    <a:cs typeface="Times New Roman" panose="02020603050405020304" pitchFamily="18" charset="0"/>
                  </a:rPr>
                  <a:t>Gini(</a:t>
                </a:r>
                <a:r>
                  <a:rPr lang="en-US" sz="2000" dirty="0" err="1">
                    <a:effectLst/>
                    <a:latin typeface="黑体" panose="02010609060101010101" pitchFamily="49" charset="-122"/>
                    <a:ea typeface="黑体" panose="02010609060101010101" pitchFamily="49" charset="-122"/>
                    <a:cs typeface="Times New Roman" panose="02020603050405020304" pitchFamily="18" charset="0"/>
                  </a:rPr>
                  <a:t>无房</a:t>
                </a:r>
                <a:r>
                  <a:rPr lang="en-US" sz="2000" dirty="0">
                    <a:effectLst/>
                    <a:latin typeface="黑体" panose="02010609060101010101" pitchFamily="49" charset="-122"/>
                    <a:ea typeface="黑体" panose="02010609060101010101" pitchFamily="49" charset="-122"/>
                    <a:cs typeface="Times New Roman" panose="02020603050405020304" pitchFamily="18" charset="0"/>
                  </a:rPr>
                  <a:t>) = 1 - </a:t>
                </a:r>
                <a14:m>
                  <m:oMath xmlns:m="http://schemas.openxmlformats.org/officeDocument/2006/math">
                    <m:sSup>
                      <m:sSupPr>
                        <m:ctrlPr>
                          <a:rPr lang="en-US" sz="2000" i="1">
                            <a:effectLst/>
                            <a:latin typeface="Cambria Math" panose="02040503050406030204" pitchFamily="18" charset="0"/>
                            <a:cs typeface="Times New Roman" panose="02020603050405020304" pitchFamily="18" charset="0"/>
                          </a:rPr>
                        </m:ctrlPr>
                      </m:sSupPr>
                      <m:e>
                        <m:d>
                          <m:dPr>
                            <m:ctrlPr>
                              <a:rPr lang="en-US" sz="2000" i="1">
                                <a:effectLst/>
                                <a:latin typeface="Cambria Math" panose="02040503050406030204" pitchFamily="18" charset="0"/>
                                <a:cs typeface="Times New Roman" panose="02020603050405020304" pitchFamily="18" charset="0"/>
                              </a:rPr>
                            </m:ctrlPr>
                          </m:dPr>
                          <m:e>
                            <m:r>
                              <a:rPr lang="en-US" sz="2000" i="1">
                                <a:effectLst/>
                                <a:latin typeface="Cambria Math" panose="02040503050406030204" pitchFamily="18" charset="0"/>
                                <a:cs typeface="Times New Roman" panose="02020603050405020304" pitchFamily="18" charset="0"/>
                              </a:rPr>
                              <m:t>4</m:t>
                            </m:r>
                            <m:r>
                              <a:rPr lang="en-US" sz="2000">
                                <a:effectLst/>
                                <a:latin typeface="Cambria Math" panose="02040503050406030204" pitchFamily="18" charset="0"/>
                                <a:cs typeface="Times New Roman" panose="02020603050405020304" pitchFamily="18" charset="0"/>
                              </a:rPr>
                              <m:t>/</m:t>
                            </m:r>
                            <m:r>
                              <a:rPr lang="en-US" sz="2000" i="1">
                                <a:effectLst/>
                                <a:latin typeface="Cambria Math" panose="02040503050406030204" pitchFamily="18" charset="0"/>
                                <a:cs typeface="Times New Roman" panose="02020603050405020304" pitchFamily="18" charset="0"/>
                              </a:rPr>
                              <m:t>7</m:t>
                            </m:r>
                          </m:e>
                        </m:d>
                      </m:e>
                      <m:sup>
                        <m:r>
                          <a:rPr lang="en-US" sz="2000" i="1">
                            <a:effectLst/>
                            <a:latin typeface="Cambria Math" panose="02040503050406030204" pitchFamily="18" charset="0"/>
                            <a:cs typeface="Times New Roman" panose="02020603050405020304" pitchFamily="18" charset="0"/>
                          </a:rPr>
                          <m:t>2</m:t>
                        </m:r>
                      </m:sup>
                    </m:sSup>
                  </m:oMath>
                </a14:m>
                <a:r>
                  <a:rPr lang="en-US" sz="2000" dirty="0">
                    <a:effectLst/>
                    <a:latin typeface="黑体" panose="02010609060101010101" pitchFamily="49" charset="-122"/>
                    <a:ea typeface="黑体" panose="02010609060101010101" pitchFamily="49" charset="-122"/>
                    <a:cs typeface="Times New Roman" panose="02020603050405020304" pitchFamily="18" charset="0"/>
                  </a:rPr>
                  <a:t> - </a:t>
                </a:r>
                <a14:m>
                  <m:oMath xmlns:m="http://schemas.openxmlformats.org/officeDocument/2006/math">
                    <m:sSup>
                      <m:sSupPr>
                        <m:ctrlPr>
                          <a:rPr lang="en-US" sz="2000" i="1">
                            <a:effectLst/>
                            <a:latin typeface="Cambria Math" panose="02040503050406030204" pitchFamily="18" charset="0"/>
                            <a:cs typeface="Times New Roman" panose="02020603050405020304" pitchFamily="18" charset="0"/>
                          </a:rPr>
                        </m:ctrlPr>
                      </m:sSupPr>
                      <m:e>
                        <m:d>
                          <m:dPr>
                            <m:ctrlPr>
                              <a:rPr lang="en-US" sz="2000" i="1">
                                <a:effectLst/>
                                <a:latin typeface="Cambria Math" panose="02040503050406030204" pitchFamily="18" charset="0"/>
                                <a:cs typeface="Times New Roman" panose="02020603050405020304" pitchFamily="18" charset="0"/>
                              </a:rPr>
                            </m:ctrlPr>
                          </m:dPr>
                          <m:e>
                            <m:r>
                              <a:rPr lang="en-US" sz="2000" i="1">
                                <a:effectLst/>
                                <a:latin typeface="Cambria Math" panose="02040503050406030204" pitchFamily="18" charset="0"/>
                                <a:cs typeface="Times New Roman" panose="02020603050405020304" pitchFamily="18" charset="0"/>
                              </a:rPr>
                              <m:t>3</m:t>
                            </m:r>
                            <m:r>
                              <a:rPr lang="en-US" sz="2000">
                                <a:effectLst/>
                                <a:latin typeface="Cambria Math" panose="02040503050406030204" pitchFamily="18" charset="0"/>
                                <a:cs typeface="Times New Roman" panose="02020603050405020304" pitchFamily="18" charset="0"/>
                              </a:rPr>
                              <m:t>/</m:t>
                            </m:r>
                            <m:r>
                              <a:rPr lang="en-US" sz="2000" i="1">
                                <a:effectLst/>
                                <a:latin typeface="Cambria Math" panose="02040503050406030204" pitchFamily="18" charset="0"/>
                                <a:cs typeface="Times New Roman" panose="02020603050405020304" pitchFamily="18" charset="0"/>
                              </a:rPr>
                              <m:t>7</m:t>
                            </m:r>
                          </m:e>
                        </m:d>
                      </m:e>
                      <m:sup>
                        <m:r>
                          <a:rPr lang="en-US" sz="2000" i="1">
                            <a:effectLst/>
                            <a:latin typeface="Cambria Math" panose="02040503050406030204" pitchFamily="18" charset="0"/>
                            <a:cs typeface="Times New Roman" panose="02020603050405020304" pitchFamily="18" charset="0"/>
                          </a:rPr>
                          <m:t>2</m:t>
                        </m:r>
                      </m:sup>
                    </m:sSup>
                  </m:oMath>
                </a14:m>
                <a:r>
                  <a:rPr lang="en-US" sz="2000" dirty="0">
                    <a:effectLst/>
                    <a:latin typeface="黑体" panose="02010609060101010101" pitchFamily="49" charset="-122"/>
                    <a:ea typeface="黑体" panose="02010609060101010101" pitchFamily="49" charset="-122"/>
                    <a:cs typeface="Times New Roman" panose="02020603050405020304" pitchFamily="18" charset="0"/>
                  </a:rPr>
                  <a:t> = 0.4849</a:t>
                </a:r>
                <a:endParaRPr lang="en-US" sz="2000" dirty="0">
                  <a:effectLst/>
                  <a:latin typeface="黑体" panose="02010609060101010101" pitchFamily="49" charset="-122"/>
                  <a:ea typeface="黑体" panose="02010609060101010101" pitchFamily="49" charset="-122"/>
                  <a:cs typeface="Times New Roman" panose="02020603050405020304" pitchFamily="18" charset="0"/>
                </a:endParaRPr>
              </a:p>
              <a:p>
                <a:pPr>
                  <a:lnSpc>
                    <a:spcPct val="150000"/>
                  </a:lnSpc>
                </a:pPr>
                <a:r>
                  <a:rPr lang="en-US" sz="2000" dirty="0">
                    <a:effectLst/>
                    <a:latin typeface="黑体" panose="02010609060101010101" pitchFamily="49" charset="-122"/>
                    <a:ea typeface="黑体" panose="02010609060101010101" pitchFamily="49" charset="-122"/>
                    <a:cs typeface="Times New Roman" panose="02020603050405020304" pitchFamily="18" charset="0"/>
                  </a:rPr>
                  <a:t>Gini = 0.3 * 0 + 0.7 * 0.4898 = 0.343</a:t>
                </a:r>
                <a:endParaRPr lang="en-US" sz="2000" dirty="0">
                  <a:effectLst/>
                  <a:latin typeface="黑体" panose="02010609060101010101" pitchFamily="49" charset="-122"/>
                  <a:ea typeface="黑体" panose="02010609060101010101" pitchFamily="49" charset="-122"/>
                  <a:cs typeface="Times New Roman" panose="02020603050405020304" pitchFamily="18" charset="0"/>
                </a:endParaRPr>
              </a:p>
            </p:txBody>
          </p:sp>
        </mc:Choice>
        <mc:Fallback>
          <p:sp>
            <p:nvSpPr>
              <p:cNvPr id="7" name="TextBox 6"/>
              <p:cNvSpPr txBox="1">
                <a:spLocks noRot="1" noChangeAspect="1" noMove="1" noResize="1" noEditPoints="1" noAdjustHandles="1" noChangeArrowheads="1" noChangeShapeType="1" noTextEdit="1"/>
              </p:cNvSpPr>
              <p:nvPr/>
            </p:nvSpPr>
            <p:spPr>
              <a:xfrm>
                <a:off x="1985490" y="3360420"/>
                <a:ext cx="5389424" cy="1405193"/>
              </a:xfrm>
              <a:prstGeom prst="rect">
                <a:avLst/>
              </a:prstGeom>
              <a:blipFill rotWithShape="1">
                <a:blip r:embed="rId1"/>
                <a:stretch>
                  <a:fillRect l="-9" b="-2761"/>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77541" y="944166"/>
            <a:ext cx="6648450" cy="473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处理多分类属性</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3"/>
          <p:cNvPicPr>
            <a:picLocks noChangeAspect="1"/>
          </p:cNvPicPr>
          <p:nvPr/>
        </p:nvPicPr>
        <p:blipFill rotWithShape="1">
          <a:blip r:embed="rId1">
            <a:extLst>
              <a:ext uri="{28A0092B-C50C-407E-A947-70E740481C1C}">
                <a14:useLocalDpi xmlns:a14="http://schemas.microsoft.com/office/drawing/2010/main" val="0"/>
              </a:ext>
            </a:extLst>
          </a:blip>
          <a:srcRect l="3887" t="33344" r="12173" b="1"/>
          <a:stretch>
            <a:fillRect/>
          </a:stretch>
        </p:blipFill>
        <p:spPr bwMode="auto">
          <a:xfrm>
            <a:off x="739141" y="2560320"/>
            <a:ext cx="7040880" cy="269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处理连续属性</a:t>
            </a:r>
            <a:endParaRPr lang="zh-CN" altLang="en-US" dirty="0">
              <a:latin typeface="黑体" panose="02010609060101010101" pitchFamily="49" charset="-122"/>
              <a:ea typeface="黑体" panose="02010609060101010101" pitchFamily="49" charset="-122"/>
            </a:endParaRPr>
          </a:p>
        </p:txBody>
      </p:sp>
      <p:sp>
        <p:nvSpPr>
          <p:cNvPr id="5" name="内容占位符 2"/>
          <p:cNvSpPr>
            <a:spLocks noGrp="1"/>
          </p:cNvSpPr>
          <p:nvPr>
            <p:ph idx="1"/>
          </p:nvPr>
        </p:nvSpPr>
        <p:spPr>
          <a:xfrm>
            <a:off x="263525" y="1059717"/>
            <a:ext cx="7883525" cy="1028164"/>
          </a:xfrm>
        </p:spPr>
        <p:txBody>
          <a:bodyPr>
            <a:normAutofit/>
          </a:bodyPr>
          <a:lstStyle/>
          <a:p>
            <a:r>
              <a:rPr lang="zh-CN" altLang="en-US" sz="2000" dirty="0">
                <a:latin typeface="黑体" panose="02010609060101010101" pitchFamily="49" charset="-122"/>
                <a:ea typeface="黑体" panose="02010609060101010101" pitchFamily="49" charset="-122"/>
              </a:rPr>
              <a:t>以有对于连续值处理引进“分裂点”的思想，假设样本集中某个属性共</a:t>
            </a:r>
            <a:r>
              <a:rPr lang="en-US" sz="2000" dirty="0">
                <a:latin typeface="黑体" panose="02010609060101010101" pitchFamily="49" charset="-122"/>
                <a:ea typeface="黑体" panose="02010609060101010101" pitchFamily="49" charset="-122"/>
              </a:rPr>
              <a:t>n</a:t>
            </a:r>
            <a:r>
              <a:rPr lang="zh-CN" altLang="en-US" sz="2000" dirty="0">
                <a:latin typeface="黑体" panose="02010609060101010101" pitchFamily="49" charset="-122"/>
                <a:ea typeface="黑体" panose="02010609060101010101" pitchFamily="49" charset="-122"/>
              </a:rPr>
              <a:t>个连续值，则有</a:t>
            </a:r>
            <a:r>
              <a:rPr lang="en-US" sz="2000" dirty="0">
                <a:latin typeface="黑体" panose="02010609060101010101" pitchFamily="49" charset="-122"/>
                <a:ea typeface="黑体" panose="02010609060101010101" pitchFamily="49" charset="-122"/>
              </a:rPr>
              <a:t>n-1</a:t>
            </a:r>
            <a:r>
              <a:rPr lang="zh-CN" altLang="en-US" sz="2000" dirty="0">
                <a:latin typeface="黑体" panose="02010609060101010101" pitchFamily="49" charset="-122"/>
                <a:ea typeface="黑体" panose="02010609060101010101" pitchFamily="49" charset="-122"/>
              </a:rPr>
              <a:t>个分裂点，每个“分裂点”为相邻两个连续值的均值 </a:t>
            </a:r>
            <a:r>
              <a:rPr lang="en-US" altLang="zh-CN" sz="2000" dirty="0">
                <a:latin typeface="黑体" panose="02010609060101010101" pitchFamily="49" charset="-122"/>
                <a:ea typeface="黑体" panose="02010609060101010101" pitchFamily="49" charset="-122"/>
              </a:rPr>
              <a:t>(</a:t>
            </a:r>
            <a:r>
              <a:rPr lang="en-US" sz="2000" dirty="0">
                <a:latin typeface="黑体" panose="02010609060101010101" pitchFamily="49" charset="-122"/>
                <a:ea typeface="黑体" panose="02010609060101010101" pitchFamily="49" charset="-122"/>
              </a:rPr>
              <a:t>a[</a:t>
            </a:r>
            <a:r>
              <a:rPr lang="en-US" sz="2000" dirty="0" err="1">
                <a:latin typeface="黑体" panose="02010609060101010101" pitchFamily="49" charset="-122"/>
                <a:ea typeface="黑体" panose="02010609060101010101" pitchFamily="49" charset="-122"/>
              </a:rPr>
              <a:t>i</a:t>
            </a:r>
            <a:r>
              <a:rPr lang="en-US" sz="2000" dirty="0">
                <a:latin typeface="黑体" panose="02010609060101010101" pitchFamily="49" charset="-122"/>
                <a:ea typeface="黑体" panose="02010609060101010101" pitchFamily="49" charset="-122"/>
              </a:rPr>
              <a:t>]+a[i+1])/2。</a:t>
            </a:r>
            <a:endParaRPr 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拓展</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决策树与其它知识的关系</a:t>
            </a:r>
            <a:endParaRPr lang="zh-CN" altLang="en-US" dirty="0">
              <a:latin typeface="黑体" panose="02010609060101010101" pitchFamily="49" charset="-122"/>
              <a:ea typeface="黑体" panose="02010609060101010101" pitchFamily="49" charset="-122"/>
            </a:endParaRPr>
          </a:p>
        </p:txBody>
      </p:sp>
      <p:sp>
        <p:nvSpPr>
          <p:cNvPr id="5" name="内容占位符 2"/>
          <p:cNvSpPr>
            <a:spLocks noGrp="1"/>
          </p:cNvSpPr>
          <p:nvPr>
            <p:ph idx="1"/>
          </p:nvPr>
        </p:nvSpPr>
        <p:spPr>
          <a:xfrm>
            <a:off x="263525" y="1012583"/>
            <a:ext cx="7883525" cy="2267945"/>
          </a:xfrm>
        </p:spPr>
        <p:txBody>
          <a:bodyPr>
            <a:normAutofit/>
          </a:bodyPr>
          <a:lstStyle/>
          <a:p>
            <a:r>
              <a:rPr lang="zh-CN" altLang="en-US" sz="2400" b="1" dirty="0">
                <a:solidFill>
                  <a:srgbClr val="000000"/>
                </a:solidFill>
                <a:latin typeface="黑体" panose="02010609060101010101" pitchFamily="49" charset="-122"/>
                <a:ea typeface="黑体" panose="02010609060101010101" pitchFamily="49" charset="-122"/>
              </a:rPr>
              <a:t>决策树与</a:t>
            </a:r>
            <a:r>
              <a:rPr lang="en-US" altLang="zh-CN" sz="2400" b="1" dirty="0">
                <a:solidFill>
                  <a:srgbClr val="000000"/>
                </a:solidFill>
                <a:latin typeface="黑体" panose="02010609060101010101" pitchFamily="49" charset="-122"/>
                <a:ea typeface="黑体" panose="02010609060101010101" pitchFamily="49" charset="-122"/>
              </a:rPr>
              <a:t>if-then</a:t>
            </a:r>
            <a:r>
              <a:rPr sz="2400" b="1" dirty="0">
                <a:solidFill>
                  <a:srgbClr val="000000"/>
                </a:solidFill>
                <a:latin typeface="黑体" panose="02010609060101010101" pitchFamily="49" charset="-122"/>
                <a:ea typeface="黑体" panose="02010609060101010101" pitchFamily="49" charset="-122"/>
              </a:rPr>
              <a:t>规则</a:t>
            </a:r>
            <a:r>
              <a:rPr lang="zh-CN" altLang="en-US" sz="2400" b="1" dirty="0">
                <a:solidFill>
                  <a:srgbClr val="000000"/>
                </a:solidFill>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q"/>
            </a:pPr>
            <a:r>
              <a:rPr lang="zh-CN" altLang="en-US" dirty="0">
                <a:solidFill>
                  <a:srgbClr val="000000"/>
                </a:solidFill>
                <a:latin typeface="黑体" panose="02010609060101010101" pitchFamily="49" charset="-122"/>
                <a:ea typeface="黑体" panose="02010609060101010101" pitchFamily="49" charset="-122"/>
              </a:rPr>
              <a:t>对于连续值的处理，</a:t>
            </a:r>
            <a:r>
              <a:rPr lang="en-US" dirty="0">
                <a:solidFill>
                  <a:srgbClr val="000000"/>
                </a:solidFill>
                <a:latin typeface="黑体" panose="02010609060101010101" pitchFamily="49" charset="-122"/>
                <a:ea typeface="黑体" panose="02010609060101010101" pitchFamily="49" charset="-122"/>
              </a:rPr>
              <a:t>CART </a:t>
            </a:r>
            <a:r>
              <a:rPr lang="zh-CN" altLang="en-US" dirty="0">
                <a:solidFill>
                  <a:srgbClr val="000000"/>
                </a:solidFill>
                <a:latin typeface="黑体" panose="02010609060101010101" pitchFamily="49" charset="-122"/>
                <a:ea typeface="黑体" panose="02010609060101010101" pitchFamily="49" charset="-122"/>
              </a:rPr>
              <a:t>分类树采用基尼系数的大小来度量特征的各个划分点。 </a:t>
            </a:r>
            <a:endParaRPr lang="zh-CN" altLang="en-US" dirty="0">
              <a:latin typeface="黑体" panose="02010609060101010101" pitchFamily="49" charset="-122"/>
              <a:ea typeface="黑体" panose="02010609060101010101" pitchFamily="49" charset="-122"/>
            </a:endParaRPr>
          </a:p>
          <a:p>
            <a:endParaRPr lang="en-US" sz="2000" dirty="0">
              <a:latin typeface="黑体" panose="02010609060101010101" pitchFamily="49" charset="-122"/>
              <a:ea typeface="黑体" panose="02010609060101010101" pitchFamily="49" charset="-122"/>
            </a:endParaRPr>
          </a:p>
        </p:txBody>
      </p:sp>
      <p:sp>
        <p:nvSpPr>
          <p:cNvPr id="9" name="内容占位符 2"/>
          <p:cNvSpPr txBox="1"/>
          <p:nvPr/>
        </p:nvSpPr>
        <p:spPr>
          <a:xfrm>
            <a:off x="263525" y="4165849"/>
            <a:ext cx="7883525" cy="167956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000000"/>
                </a:solidFill>
                <a:latin typeface="黑体" panose="02010609060101010101" pitchFamily="49" charset="-122"/>
                <a:ea typeface="黑体" panose="02010609060101010101" pitchFamily="49" charset="-122"/>
              </a:rPr>
              <a:t>决策树与条件概率分布</a:t>
            </a:r>
            <a:endParaRPr lang="zh-CN" altLang="en-US" sz="2400" dirty="0">
              <a:latin typeface="黑体" panose="02010609060101010101" pitchFamily="49" charset="-122"/>
              <a:ea typeface="黑体" panose="02010609060101010101" pitchFamily="49" charset="-122"/>
            </a:endParaRPr>
          </a:p>
          <a:p>
            <a:pPr lvl="1">
              <a:buFont typeface="Wingdings" panose="05000000000000000000" pitchFamily="2" charset="2"/>
              <a:buChar char="q"/>
            </a:pPr>
            <a:r>
              <a:rPr lang="zh-CN" altLang="en-US" dirty="0">
                <a:solidFill>
                  <a:srgbClr val="000000"/>
                </a:solidFill>
                <a:latin typeface="黑体" panose="02010609060101010101" pitchFamily="49" charset="-122"/>
                <a:ea typeface="黑体" panose="02010609060101010101" pitchFamily="49" charset="-122"/>
              </a:rPr>
              <a:t>对于决策树建立后做预测的方式，</a:t>
            </a:r>
            <a:r>
              <a:rPr lang="en-US" dirty="0">
                <a:solidFill>
                  <a:srgbClr val="000000"/>
                </a:solidFill>
                <a:latin typeface="黑体" panose="02010609060101010101" pitchFamily="49" charset="-122"/>
                <a:ea typeface="黑体" panose="02010609060101010101" pitchFamily="49" charset="-122"/>
              </a:rPr>
              <a:t>CART </a:t>
            </a:r>
            <a:r>
              <a:rPr lang="zh-CN" altLang="en-US" dirty="0">
                <a:solidFill>
                  <a:srgbClr val="000000"/>
                </a:solidFill>
                <a:latin typeface="黑体" panose="02010609060101010101" pitchFamily="49" charset="-122"/>
                <a:ea typeface="黑体" panose="02010609060101010101" pitchFamily="49" charset="-122"/>
              </a:rPr>
              <a:t>分类树采用叶子节点 里概率最大的类别作为当前节点的预测类别。 </a:t>
            </a:r>
            <a:endParaRPr lang="zh-CN" altLang="en-US" dirty="0">
              <a:latin typeface="黑体" panose="02010609060101010101" pitchFamily="49" charset="-122"/>
              <a:ea typeface="黑体" panose="02010609060101010101" pitchFamily="49" charset="-122"/>
            </a:endParaRPr>
          </a:p>
          <a:p>
            <a:pPr marL="457200" lvl="1" indent="0">
              <a:buNone/>
            </a:pP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拓展</a:t>
            </a:r>
            <a:r>
              <a:rPr lang="en-US" altLang="zh-CN" dirty="0">
                <a:latin typeface="黑体" panose="02010609060101010101" pitchFamily="49" charset="-122"/>
                <a:ea typeface="黑体" panose="02010609060101010101" pitchFamily="49" charset="-122"/>
              </a:rPr>
              <a:t>-CART </a:t>
            </a:r>
            <a:r>
              <a:rPr lang="zh-CN" altLang="en-US" dirty="0">
                <a:latin typeface="黑体" panose="02010609060101010101" pitchFamily="49" charset="-122"/>
                <a:ea typeface="黑体" panose="02010609060101010101" pitchFamily="49" charset="-122"/>
              </a:rPr>
              <a:t>实现回归</a:t>
            </a:r>
            <a:endParaRPr lang="zh-CN" altLang="en-US" dirty="0">
              <a:latin typeface="黑体" panose="02010609060101010101" pitchFamily="49" charset="-122"/>
              <a:ea typeface="黑体" panose="02010609060101010101" pitchFamily="49" charset="-122"/>
            </a:endParaRPr>
          </a:p>
        </p:txBody>
      </p:sp>
      <p:sp>
        <p:nvSpPr>
          <p:cNvPr id="5" name="内容占位符 2"/>
          <p:cNvSpPr>
            <a:spLocks noGrp="1"/>
          </p:cNvSpPr>
          <p:nvPr>
            <p:ph idx="1"/>
          </p:nvPr>
        </p:nvSpPr>
        <p:spPr>
          <a:xfrm>
            <a:off x="263525" y="1012583"/>
            <a:ext cx="7883525" cy="2267945"/>
          </a:xfrm>
        </p:spPr>
        <p:txBody>
          <a:bodyPr>
            <a:normAutofit/>
          </a:bodyPr>
          <a:lstStyle/>
          <a:p>
            <a:r>
              <a:rPr lang="zh-CN" altLang="en-US" sz="2400" b="1" dirty="0">
                <a:solidFill>
                  <a:srgbClr val="000000"/>
                </a:solidFill>
                <a:latin typeface="黑体" panose="02010609060101010101" pitchFamily="49" charset="-122"/>
                <a:ea typeface="黑体" panose="02010609060101010101" pitchFamily="49" charset="-122"/>
              </a:rPr>
              <a:t>用</a:t>
            </a:r>
            <a:r>
              <a:rPr lang="zh-CN" altLang="en-US" sz="2400" b="1" dirty="0">
                <a:solidFill>
                  <a:srgbClr val="FF0000"/>
                </a:solidFill>
                <a:latin typeface="黑体" panose="02010609060101010101" pitchFamily="49" charset="-122"/>
                <a:ea typeface="黑体" panose="02010609060101010101" pitchFamily="49" charset="-122"/>
              </a:rPr>
              <a:t>均方差</a:t>
            </a:r>
            <a:r>
              <a:rPr lang="zh-CN" altLang="en-US" sz="2400" b="1" dirty="0">
                <a:solidFill>
                  <a:srgbClr val="000000"/>
                </a:solidFill>
                <a:latin typeface="黑体" panose="02010609060101010101" pitchFamily="49" charset="-122"/>
                <a:ea typeface="黑体" panose="02010609060101010101" pitchFamily="49" charset="-122"/>
              </a:rPr>
              <a:t>来选择属性 </a:t>
            </a:r>
            <a:endParaRPr lang="zh-CN" altLang="en-US" sz="2400" dirty="0">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q"/>
            </a:pPr>
            <a:r>
              <a:rPr lang="zh-CN" altLang="en-US" dirty="0">
                <a:solidFill>
                  <a:srgbClr val="000000"/>
                </a:solidFill>
                <a:latin typeface="黑体" panose="02010609060101010101" pitchFamily="49" charset="-122"/>
                <a:ea typeface="黑体" panose="02010609060101010101" pitchFamily="49" charset="-122"/>
              </a:rPr>
              <a:t>对于连续值的处理，</a:t>
            </a:r>
            <a:r>
              <a:rPr lang="en-US" dirty="0">
                <a:solidFill>
                  <a:srgbClr val="000000"/>
                </a:solidFill>
                <a:latin typeface="黑体" panose="02010609060101010101" pitchFamily="49" charset="-122"/>
                <a:ea typeface="黑体" panose="02010609060101010101" pitchFamily="49" charset="-122"/>
              </a:rPr>
              <a:t>CART </a:t>
            </a:r>
            <a:r>
              <a:rPr lang="zh-CN" altLang="en-US" dirty="0">
                <a:solidFill>
                  <a:srgbClr val="000000"/>
                </a:solidFill>
                <a:latin typeface="黑体" panose="02010609060101010101" pitchFamily="49" charset="-122"/>
                <a:ea typeface="黑体" panose="02010609060101010101" pitchFamily="49" charset="-122"/>
              </a:rPr>
              <a:t>分类树采用基尼系数的大小来度量特征的各个划分点。 </a:t>
            </a:r>
            <a:endParaRPr lang="zh-CN" altLang="en-US" dirty="0">
              <a:latin typeface="黑体" panose="02010609060101010101" pitchFamily="49" charset="-122"/>
              <a:ea typeface="黑体" panose="02010609060101010101" pitchFamily="49" charset="-122"/>
            </a:endParaRPr>
          </a:p>
          <a:p>
            <a:pPr marL="800100" lvl="1" indent="-342900">
              <a:buFont typeface="Wingdings" panose="05000000000000000000" pitchFamily="2" charset="2"/>
              <a:buChar char="q"/>
            </a:pPr>
            <a:r>
              <a:rPr lang="zh-CN" altLang="en-US" dirty="0">
                <a:solidFill>
                  <a:srgbClr val="000000"/>
                </a:solidFill>
                <a:latin typeface="黑体" panose="02010609060101010101" pitchFamily="49" charset="-122"/>
                <a:ea typeface="黑体" panose="02010609060101010101" pitchFamily="49" charset="-122"/>
              </a:rPr>
              <a:t>对于任意划分特征 𝐴，对应的任意划分点𝑠 两边划分成的数据集 𝐷</a:t>
            </a:r>
            <a:r>
              <a:rPr lang="en-US" altLang="zh-CN" dirty="0">
                <a:solidFill>
                  <a:srgbClr val="000000"/>
                </a:solidFill>
                <a:latin typeface="黑体" panose="02010609060101010101" pitchFamily="49" charset="-122"/>
                <a:ea typeface="黑体" panose="02010609060101010101" pitchFamily="49" charset="-122"/>
              </a:rPr>
              <a:t>1</a:t>
            </a:r>
            <a:r>
              <a:rPr lang="zh-CN" altLang="en-US" dirty="0">
                <a:solidFill>
                  <a:srgbClr val="000000"/>
                </a:solidFill>
                <a:latin typeface="黑体" panose="02010609060101010101" pitchFamily="49" charset="-122"/>
                <a:ea typeface="黑体" panose="02010609060101010101" pitchFamily="49" charset="-122"/>
              </a:rPr>
              <a:t>和𝐷</a:t>
            </a:r>
            <a:r>
              <a:rPr lang="en-US" altLang="zh-CN" dirty="0">
                <a:solidFill>
                  <a:srgbClr val="000000"/>
                </a:solidFill>
                <a:latin typeface="黑体" panose="02010609060101010101" pitchFamily="49" charset="-122"/>
                <a:ea typeface="黑体" panose="02010609060101010101" pitchFamily="49" charset="-122"/>
              </a:rPr>
              <a:t>2 </a:t>
            </a:r>
            <a:r>
              <a:rPr lang="zh-CN" altLang="en-US" dirty="0">
                <a:solidFill>
                  <a:srgbClr val="000000"/>
                </a:solidFill>
                <a:latin typeface="黑体" panose="02010609060101010101" pitchFamily="49" charset="-122"/>
                <a:ea typeface="黑体" panose="02010609060101010101" pitchFamily="49" charset="-122"/>
              </a:rPr>
              <a:t>，求出使 𝐷</a:t>
            </a:r>
            <a:r>
              <a:rPr lang="en-US" altLang="zh-CN" dirty="0">
                <a:solidFill>
                  <a:srgbClr val="000000"/>
                </a:solidFill>
                <a:latin typeface="黑体" panose="02010609060101010101" pitchFamily="49" charset="-122"/>
                <a:ea typeface="黑体" panose="02010609060101010101" pitchFamily="49" charset="-122"/>
              </a:rPr>
              <a:t>1</a:t>
            </a:r>
            <a:r>
              <a:rPr lang="zh-CN" altLang="en-US" dirty="0">
                <a:solidFill>
                  <a:srgbClr val="000000"/>
                </a:solidFill>
                <a:latin typeface="黑体" panose="02010609060101010101" pitchFamily="49" charset="-122"/>
                <a:ea typeface="黑体" panose="02010609060101010101" pitchFamily="49" charset="-122"/>
              </a:rPr>
              <a:t>和𝐷</a:t>
            </a:r>
            <a:r>
              <a:rPr lang="en-US" altLang="zh-CN" dirty="0">
                <a:solidFill>
                  <a:srgbClr val="000000"/>
                </a:solidFill>
                <a:latin typeface="黑体" panose="02010609060101010101" pitchFamily="49" charset="-122"/>
                <a:ea typeface="黑体" panose="02010609060101010101" pitchFamily="49" charset="-122"/>
              </a:rPr>
              <a:t>2</a:t>
            </a:r>
            <a:r>
              <a:rPr lang="zh-CN" altLang="en-US" dirty="0">
                <a:solidFill>
                  <a:srgbClr val="000000"/>
                </a:solidFill>
                <a:latin typeface="黑体" panose="02010609060101010101" pitchFamily="49" charset="-122"/>
                <a:ea typeface="黑体" panose="02010609060101010101" pitchFamily="49" charset="-122"/>
              </a:rPr>
              <a:t>各自集合的均方差最小，同时 𝐷</a:t>
            </a:r>
            <a:r>
              <a:rPr lang="en-US" altLang="zh-CN" dirty="0">
                <a:solidFill>
                  <a:srgbClr val="000000"/>
                </a:solidFill>
                <a:latin typeface="黑体" panose="02010609060101010101" pitchFamily="49" charset="-122"/>
                <a:ea typeface="黑体" panose="02010609060101010101" pitchFamily="49" charset="-122"/>
              </a:rPr>
              <a:t>1</a:t>
            </a:r>
            <a:r>
              <a:rPr lang="zh-CN" altLang="en-US" dirty="0">
                <a:solidFill>
                  <a:srgbClr val="000000"/>
                </a:solidFill>
                <a:latin typeface="黑体" panose="02010609060101010101" pitchFamily="49" charset="-122"/>
                <a:ea typeface="黑体" panose="02010609060101010101" pitchFamily="49" charset="-122"/>
              </a:rPr>
              <a:t>和𝐷</a:t>
            </a:r>
            <a:r>
              <a:rPr lang="en-US" altLang="zh-CN" dirty="0">
                <a:solidFill>
                  <a:srgbClr val="000000"/>
                </a:solidFill>
                <a:latin typeface="黑体" panose="02010609060101010101" pitchFamily="49" charset="-122"/>
                <a:ea typeface="黑体" panose="02010609060101010101" pitchFamily="49" charset="-122"/>
              </a:rPr>
              <a:t>2</a:t>
            </a:r>
            <a:r>
              <a:rPr lang="zh-CN" altLang="en-US" dirty="0">
                <a:solidFill>
                  <a:srgbClr val="000000"/>
                </a:solidFill>
                <a:latin typeface="黑体" panose="02010609060101010101" pitchFamily="49" charset="-122"/>
                <a:ea typeface="黑体" panose="02010609060101010101" pitchFamily="49" charset="-122"/>
              </a:rPr>
              <a:t>的均方差之和最小所对应的特征和特征值划分点。表达式为：</a:t>
            </a:r>
            <a:endParaRPr lang="zh-CN" altLang="en-US" dirty="0">
              <a:latin typeface="黑体" panose="02010609060101010101" pitchFamily="49" charset="-122"/>
              <a:ea typeface="黑体" panose="02010609060101010101" pitchFamily="49" charset="-122"/>
            </a:endParaRPr>
          </a:p>
          <a:p>
            <a:endParaRPr lang="en-US" sz="2000"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7" name="TextBox 6"/>
              <p:cNvSpPr txBox="1"/>
              <p:nvPr/>
            </p:nvSpPr>
            <p:spPr>
              <a:xfrm>
                <a:off x="1793515" y="3205114"/>
                <a:ext cx="5556970" cy="8007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Cambria"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min</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𝑎</m:t>
                          </m:r>
                          <m:r>
                            <a:rPr lang="en-US" sz="1800" i="1">
                              <a:effectLst/>
                              <a:latin typeface="Cambria Math" panose="02040503050406030204" pitchFamily="18" charset="0"/>
                              <a:ea typeface="Cambria" panose="02040503050406030204" pitchFamily="18" charset="0"/>
                              <a:cs typeface="Times New Roman" panose="02020603050405020304" pitchFamily="18" charset="0"/>
                            </a:rPr>
                            <m:t>,</m:t>
                          </m:r>
                          <m:r>
                            <a:rPr lang="en-US" sz="1800" i="1">
                              <a:effectLst/>
                              <a:latin typeface="Cambria Math" panose="02040503050406030204" pitchFamily="18" charset="0"/>
                              <a:ea typeface="Cambria" panose="02040503050406030204" pitchFamily="18" charset="0"/>
                              <a:cs typeface="Times New Roman" panose="02020603050405020304" pitchFamily="18" charset="0"/>
                            </a:rPr>
                            <m:t>𝑠</m:t>
                          </m:r>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min</m:t>
                          </m:r>
                        </m:e>
                        <m:sub>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𝑐</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1</m:t>
                              </m:r>
                            </m:sub>
                          </m:sSub>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nary>
                        <m:naryPr>
                          <m:chr m:val="∑"/>
                          <m:grow m:val="on"/>
                          <m:limLoc m:val="undOvr"/>
                          <m:supHide m:val="on"/>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naryPr>
                        <m:sub>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𝑥</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𝑖</m:t>
                              </m:r>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𝐷</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1</m:t>
                              </m:r>
                            </m:sub>
                          </m:sSub>
                        </m:sub>
                        <m:sup/>
                        <m:e>
                          <m:r>
                            <a:rPr lang="en-US" sz="1800" i="1">
                              <a:effectLst/>
                              <a:latin typeface="Cambria Math" panose="02040503050406030204" pitchFamily="18" charset="0"/>
                              <a:ea typeface="Cambria" panose="02040503050406030204" pitchFamily="18" charset="0"/>
                              <a:cs typeface="Times New Roman" panose="02020603050405020304" pitchFamily="18" charset="0"/>
                            </a:rPr>
                            <m:t> </m:t>
                          </m:r>
                        </m:e>
                      </m:nary>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𝑦</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𝑖</m:t>
                          </m:r>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𝑐</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1</m:t>
                          </m:r>
                        </m:sub>
                      </m:sSub>
                      <m:sSup>
                        <m:sSup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pPr>
                        <m:e>
                          <m:r>
                            <a:rPr lang="en-US" sz="1800" i="1">
                              <a:effectLst/>
                              <a:latin typeface="Cambria Math" panose="02040503050406030204" pitchFamily="18" charset="0"/>
                              <a:ea typeface="Cambria" panose="02040503050406030204" pitchFamily="18" charset="0"/>
                              <a:cs typeface="Times New Roman" panose="02020603050405020304" pitchFamily="18" charset="0"/>
                            </a:rPr>
                            <m:t>)</m:t>
                          </m:r>
                        </m:e>
                        <m:sup>
                          <m:r>
                            <a:rPr lang="en-US" sz="1800" i="1">
                              <a:effectLst/>
                              <a:latin typeface="Cambria Math" panose="02040503050406030204" pitchFamily="18" charset="0"/>
                              <a:ea typeface="Cambria" panose="02040503050406030204" pitchFamily="18" charset="0"/>
                              <a:cs typeface="Times New Roman" panose="02020603050405020304" pitchFamily="18" charset="0"/>
                            </a:rPr>
                            <m:t>2</m:t>
                          </m:r>
                        </m:sup>
                      </m:sSup>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m:rPr>
                              <m:sty m:val="p"/>
                            </m:rPr>
                            <a:rPr lang="en-US" sz="1800">
                              <a:effectLst/>
                              <a:latin typeface="Cambria Math" panose="02040503050406030204" pitchFamily="18" charset="0"/>
                              <a:ea typeface="Cambria" panose="02040503050406030204" pitchFamily="18" charset="0"/>
                              <a:cs typeface="Times New Roman" panose="02020603050405020304" pitchFamily="18" charset="0"/>
                            </a:rPr>
                            <m:t>min</m:t>
                          </m:r>
                        </m:e>
                        <m:sub>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𝑐</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2</m:t>
                              </m:r>
                            </m:sub>
                          </m:sSub>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nary>
                        <m:naryPr>
                          <m:chr m:val="∑"/>
                          <m:grow m:val="on"/>
                          <m:limLoc m:val="undOvr"/>
                          <m:supHide m:val="on"/>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naryPr>
                        <m:sub>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𝑥</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𝑖</m:t>
                              </m:r>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𝐷</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2</m:t>
                              </m:r>
                            </m:sub>
                          </m:sSub>
                        </m:sub>
                        <m:sup/>
                        <m:e>
                          <m:r>
                            <a:rPr lang="en-US" sz="1800" i="1">
                              <a:effectLst/>
                              <a:latin typeface="Cambria Math" panose="02040503050406030204" pitchFamily="18" charset="0"/>
                              <a:ea typeface="Cambria" panose="02040503050406030204" pitchFamily="18" charset="0"/>
                              <a:cs typeface="Times New Roman" panose="02020603050405020304" pitchFamily="18" charset="0"/>
                            </a:rPr>
                            <m:t> </m:t>
                          </m:r>
                        </m:e>
                      </m:nary>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𝑦</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𝑖</m:t>
                          </m:r>
                        </m:sub>
                      </m:sSub>
                      <m:r>
                        <a:rPr lang="en-US" sz="1800" i="1">
                          <a:effectLst/>
                          <a:latin typeface="Cambria Math" panose="02040503050406030204" pitchFamily="18" charset="0"/>
                          <a:ea typeface="Cambria" panose="02040503050406030204" pitchFamily="18" charset="0"/>
                          <a:cs typeface="Times New Roman" panose="02020603050405020304" pitchFamily="18" charset="0"/>
                        </a:rPr>
                        <m:t>−</m:t>
                      </m:r>
                      <m:sSub>
                        <m:sSub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bPr>
                        <m:e>
                          <m:r>
                            <a:rPr lang="en-US" sz="1800" i="1">
                              <a:effectLst/>
                              <a:latin typeface="Cambria Math" panose="02040503050406030204" pitchFamily="18" charset="0"/>
                              <a:ea typeface="Cambria" panose="02040503050406030204" pitchFamily="18" charset="0"/>
                              <a:cs typeface="Times New Roman" panose="02020603050405020304" pitchFamily="18" charset="0"/>
                            </a:rPr>
                            <m:t>𝑐</m:t>
                          </m:r>
                        </m:e>
                        <m:sub>
                          <m:r>
                            <a:rPr lang="en-US" sz="1800" i="1">
                              <a:effectLst/>
                              <a:latin typeface="Cambria Math" panose="02040503050406030204" pitchFamily="18" charset="0"/>
                              <a:ea typeface="Cambria" panose="02040503050406030204" pitchFamily="18" charset="0"/>
                              <a:cs typeface="Times New Roman" panose="02020603050405020304" pitchFamily="18" charset="0"/>
                            </a:rPr>
                            <m:t>2</m:t>
                          </m:r>
                        </m:sub>
                      </m:sSub>
                      <m:sSup>
                        <m:sSupPr>
                          <m:ctrlPr>
                            <a:rPr lang="en-US" sz="1800" i="1">
                              <a:effectLst/>
                              <a:latin typeface="Cambria Math" panose="02040503050406030204" pitchFamily="18" charset="0"/>
                              <a:ea typeface="Cambria" panose="02040503050406030204" pitchFamily="18" charset="0"/>
                              <a:cs typeface="Times New Roman" panose="02020603050405020304" pitchFamily="18" charset="0"/>
                            </a:rPr>
                          </m:ctrlPr>
                        </m:sSupPr>
                        <m:e>
                          <m:r>
                            <a:rPr lang="en-US" sz="1800" i="1">
                              <a:effectLst/>
                              <a:latin typeface="Cambria Math" panose="02040503050406030204" pitchFamily="18" charset="0"/>
                              <a:ea typeface="Cambria" panose="02040503050406030204" pitchFamily="18" charset="0"/>
                              <a:cs typeface="Times New Roman" panose="02020603050405020304" pitchFamily="18" charset="0"/>
                            </a:rPr>
                            <m:t>)</m:t>
                          </m:r>
                        </m:e>
                        <m:sup>
                          <m:r>
                            <a:rPr lang="en-US" sz="1800" i="1">
                              <a:effectLst/>
                              <a:latin typeface="Cambria Math" panose="02040503050406030204" pitchFamily="18" charset="0"/>
                              <a:ea typeface="Cambria" panose="02040503050406030204" pitchFamily="18" charset="0"/>
                              <a:cs typeface="Times New Roman" panose="02020603050405020304" pitchFamily="18" charset="0"/>
                            </a:rPr>
                            <m:t>2</m:t>
                          </m:r>
                        </m:sup>
                      </m:sSup>
                      <m:r>
                        <a:rPr lang="en-US" sz="1800" i="1">
                          <a:effectLst/>
                          <a:latin typeface="Cambria Math" panose="02040503050406030204" pitchFamily="18" charset="0"/>
                          <a:ea typeface="Cambria" panose="02040503050406030204" pitchFamily="18" charset="0"/>
                          <a:cs typeface="Times New Roman" panose="02020603050405020304" pitchFamily="18" charset="0"/>
                        </a:rPr>
                        <m:t>]</m:t>
                      </m:r>
                    </m:oMath>
                  </m:oMathPara>
                </a14:m>
                <a:endParaRPr lang="en-US" sz="1800" dirty="0">
                  <a:effectLst/>
                  <a:latin typeface="Cambria" panose="02040503050406030204" pitchFamily="18" charset="0"/>
                  <a:ea typeface="Cambria" panose="02040503050406030204" pitchFamily="18" charset="0"/>
                  <a:cs typeface="Times New Roman" panose="02020603050405020304" pitchFamily="18" charset="0"/>
                </a:endParaRPr>
              </a:p>
            </p:txBody>
          </p:sp>
        </mc:Choice>
        <mc:Fallback>
          <p:sp>
            <p:nvSpPr>
              <p:cNvPr id="7" name="TextBox 6"/>
              <p:cNvSpPr txBox="1">
                <a:spLocks noRot="1" noChangeAspect="1" noMove="1" noResize="1" noEditPoints="1" noAdjustHandles="1" noChangeArrowheads="1" noChangeShapeType="1" noTextEdit="1"/>
              </p:cNvSpPr>
              <p:nvPr/>
            </p:nvSpPr>
            <p:spPr>
              <a:xfrm>
                <a:off x="1793515" y="3205114"/>
                <a:ext cx="5556970" cy="800732"/>
              </a:xfrm>
              <a:prstGeom prst="rect">
                <a:avLst/>
              </a:prstGeom>
              <a:blipFill rotWithShape="1">
                <a:blip r:embed="rId1"/>
                <a:stretch>
                  <a:fillRect l="-5" t="-34" r="6" b="33"/>
                </a:stretch>
              </a:blipFill>
            </p:spPr>
            <p:txBody>
              <a:bodyPr/>
              <a:lstStyle/>
              <a:p>
                <a:r>
                  <a:rPr lang="zh-CN" altLang="en-US">
                    <a:noFill/>
                  </a:rPr>
                  <a:t> </a:t>
                </a:r>
              </a:p>
            </p:txBody>
          </p:sp>
        </mc:Fallback>
      </mc:AlternateContent>
      <p:sp>
        <p:nvSpPr>
          <p:cNvPr id="9" name="内容占位符 2"/>
          <p:cNvSpPr txBox="1"/>
          <p:nvPr/>
        </p:nvSpPr>
        <p:spPr>
          <a:xfrm>
            <a:off x="263525" y="4165849"/>
            <a:ext cx="7883525" cy="167956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b="1" dirty="0">
                <a:solidFill>
                  <a:srgbClr val="000000"/>
                </a:solidFill>
                <a:latin typeface="黑体" panose="02010609060101010101" pitchFamily="49" charset="-122"/>
                <a:ea typeface="黑体" panose="02010609060101010101" pitchFamily="49" charset="-122"/>
              </a:rPr>
              <a:t>预测方式 </a:t>
            </a:r>
            <a:endParaRPr lang="zh-CN" altLang="en-US" sz="2400" dirty="0">
              <a:latin typeface="黑体" panose="02010609060101010101" pitchFamily="49" charset="-122"/>
              <a:ea typeface="黑体" panose="02010609060101010101" pitchFamily="49" charset="-122"/>
            </a:endParaRPr>
          </a:p>
          <a:p>
            <a:pPr lvl="1">
              <a:buFont typeface="Wingdings" panose="05000000000000000000" pitchFamily="2" charset="2"/>
              <a:buChar char="q"/>
            </a:pPr>
            <a:r>
              <a:rPr lang="zh-CN" altLang="en-US" dirty="0">
                <a:solidFill>
                  <a:srgbClr val="000000"/>
                </a:solidFill>
                <a:latin typeface="黑体" panose="02010609060101010101" pitchFamily="49" charset="-122"/>
                <a:ea typeface="黑体" panose="02010609060101010101" pitchFamily="49" charset="-122"/>
              </a:rPr>
              <a:t>对于决策树建立后做预测的方式，</a:t>
            </a:r>
            <a:r>
              <a:rPr lang="en-US" dirty="0">
                <a:solidFill>
                  <a:srgbClr val="000000"/>
                </a:solidFill>
                <a:latin typeface="黑体" panose="02010609060101010101" pitchFamily="49" charset="-122"/>
                <a:ea typeface="黑体" panose="02010609060101010101" pitchFamily="49" charset="-122"/>
              </a:rPr>
              <a:t>CART </a:t>
            </a:r>
            <a:r>
              <a:rPr lang="zh-CN" altLang="en-US" dirty="0">
                <a:solidFill>
                  <a:srgbClr val="000000"/>
                </a:solidFill>
                <a:latin typeface="黑体" panose="02010609060101010101" pitchFamily="49" charset="-122"/>
                <a:ea typeface="黑体" panose="02010609060101010101" pitchFamily="49" charset="-122"/>
              </a:rPr>
              <a:t>分类树采用叶子节点 里概率最大的类别作为当前节点的预测类别。 </a:t>
            </a:r>
            <a:endParaRPr lang="zh-CN" altLang="en-US" dirty="0">
              <a:latin typeface="黑体" panose="02010609060101010101" pitchFamily="49" charset="-122"/>
              <a:ea typeface="黑体" panose="02010609060101010101" pitchFamily="49" charset="-122"/>
            </a:endParaRPr>
          </a:p>
          <a:p>
            <a:pPr lvl="1">
              <a:buFont typeface="Wingdings" panose="05000000000000000000" pitchFamily="2" charset="2"/>
              <a:buChar char="q"/>
            </a:pPr>
            <a:r>
              <a:rPr lang="zh-CN" altLang="en-US" dirty="0">
                <a:solidFill>
                  <a:srgbClr val="000000"/>
                </a:solidFill>
                <a:latin typeface="黑体" panose="02010609060101010101" pitchFamily="49" charset="-122"/>
                <a:ea typeface="黑体" panose="02010609060101010101" pitchFamily="49" charset="-122"/>
              </a:rPr>
              <a:t>而回归树输出不是类别，它采用的是用最终叶子的均值或者中位数来预测输出结果。</a:t>
            </a:r>
            <a:endParaRPr lang="zh-CN" altLang="en-US" sz="2400" dirty="0">
              <a:latin typeface="黑体" panose="02010609060101010101" pitchFamily="49" charset="-122"/>
              <a:ea typeface="黑体" panose="02010609060101010101" pitchFamily="49" charset="-122"/>
            </a:endParaRPr>
          </a:p>
          <a:p>
            <a:pPr marL="457200" lvl="1" indent="0">
              <a:buNone/>
            </a:pP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p:cNvSpPr>
          <p:nvPr>
            <p:ph idx="1"/>
          </p:nvPr>
        </p:nvSpPr>
        <p:spPr>
          <a:xfrm>
            <a:off x="413148" y="2240651"/>
            <a:ext cx="2428875" cy="117359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pPr marL="0">
              <a:lnSpc>
                <a:spcPct val="150000"/>
              </a:lnSpc>
              <a:spcBef>
                <a:spcPts val="1800"/>
              </a:spcBef>
              <a:buFont typeface="Arial" panose="020B0604020202020204" pitchFamily="34" charset="0"/>
              <a:buNone/>
            </a:pPr>
            <a:r>
              <a:rPr altLang="en-US" sz="2400" b="1" dirty="0">
                <a:solidFill>
                  <a:srgbClr val="C00000"/>
                </a:solidFill>
                <a:latin typeface="黑体" panose="02010609060101010101" pitchFamily="49" charset="-122"/>
                <a:ea typeface="黑体" panose="02010609060101010101" pitchFamily="49" charset="-122"/>
              </a:rPr>
              <a:t>信息增益率</a:t>
            </a:r>
            <a:br>
              <a:rPr altLang="en-US" sz="2400" dirty="0">
                <a:solidFill>
                  <a:srgbClr val="C00000"/>
                </a:solidFill>
                <a:latin typeface="Century Schoolbook" panose="02040604050505020304" pitchFamily="18" charset="0"/>
                <a:ea typeface="Microsoft YaHei UI" panose="020B0503020204020204" pitchFamily="34" charset="-122"/>
              </a:rPr>
            </a:br>
            <a:endParaRPr altLang="en-US" sz="2400" dirty="0">
              <a:solidFill>
                <a:srgbClr val="C00000"/>
              </a:solidFill>
              <a:latin typeface="Century Schoolbook" panose="02040604050505020304" pitchFamily="18" charset="0"/>
              <a:ea typeface="Microsoft YaHei UI" panose="020B0503020204020204" pitchFamily="34" charset="-122"/>
            </a:endParaRPr>
          </a:p>
        </p:txBody>
      </p:sp>
      <p:sp>
        <p:nvSpPr>
          <p:cNvPr id="19464" name="内容占位符 2"/>
          <p:cNvSpPr txBox="1"/>
          <p:nvPr/>
        </p:nvSpPr>
        <p:spPr bwMode="auto">
          <a:xfrm>
            <a:off x="467916" y="3845719"/>
            <a:ext cx="5068934" cy="915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Arial" panose="020B0604020202020204" pitchFamily="34" charset="0"/>
              <a:buNone/>
            </a:pPr>
            <a:r>
              <a:rPr lang="en-US" altLang="zh-CN" sz="2400" dirty="0">
                <a:solidFill>
                  <a:srgbClr val="C00000"/>
                </a:solidFill>
              </a:rPr>
              <a:t>Gini</a:t>
            </a:r>
            <a:r>
              <a:rPr lang="zh-CN" altLang="en-US" sz="2400" dirty="0">
                <a:solidFill>
                  <a:srgbClr val="C00000"/>
                </a:solidFill>
              </a:rPr>
              <a:t>不纯度：计算量小</a:t>
            </a:r>
            <a:br>
              <a:rPr lang="zh-CN" altLang="en-US" sz="2400" dirty="0">
                <a:solidFill>
                  <a:srgbClr val="C00000"/>
                </a:solidFill>
              </a:rPr>
            </a:br>
            <a:endParaRPr lang="zh-CN" altLang="en-US" sz="2400" dirty="0">
              <a:solidFill>
                <a:srgbClr val="C00000"/>
              </a:solidFill>
            </a:endParaRPr>
          </a:p>
        </p:txBody>
      </p:sp>
      <p:sp>
        <p:nvSpPr>
          <p:cNvPr id="19465" name="内容占位符 2"/>
          <p:cNvSpPr txBox="1"/>
          <p:nvPr/>
        </p:nvSpPr>
        <p:spPr bwMode="auto">
          <a:xfrm>
            <a:off x="462403" y="1033356"/>
            <a:ext cx="242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150000"/>
              </a:lnSpc>
              <a:spcBef>
                <a:spcPts val="1800"/>
              </a:spcBef>
              <a:buClr>
                <a:schemeClr val="accent1"/>
              </a:buClr>
              <a:buFont typeface="Arial" panose="020B0604020202020204" pitchFamily="34" charset="0"/>
              <a:buNone/>
              <a:defRPr sz="2400">
                <a:solidFill>
                  <a:srgbClr val="C00000"/>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latin typeface="Century Schoolbook" panose="02040604050505020304" pitchFamily="18" charset="0"/>
                <a:ea typeface="Microsoft YaHei UI" panose="020B0503020204020204" pitchFamily="34" charset="-122"/>
              </a:defRPr>
            </a:lvl2pPr>
            <a:lvl3pPr marL="685800" indent="-182880">
              <a:lnSpc>
                <a:spcPct val="90000"/>
              </a:lnSpc>
              <a:spcBef>
                <a:spcPts val="800"/>
              </a:spcBef>
              <a:buClr>
                <a:schemeClr val="accent1"/>
              </a:buClr>
              <a:buFont typeface="Arial" panose="020B0604020202020204" pitchFamily="34" charset="0"/>
              <a:buChar char="•"/>
              <a:defRPr sz="1600">
                <a:latin typeface="Century Schoolbook" panose="02040604050505020304" pitchFamily="18" charset="0"/>
                <a:ea typeface="Microsoft YaHei UI" panose="020B0503020204020204" pitchFamily="34" charset="-122"/>
              </a:defRPr>
            </a:lvl3pPr>
            <a:lvl4pPr marL="914400" indent="-182880">
              <a:lnSpc>
                <a:spcPct val="90000"/>
              </a:lnSpc>
              <a:spcBef>
                <a:spcPts val="800"/>
              </a:spcBef>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4pPr>
            <a:lvl5pPr marL="1143000" indent="-182880">
              <a:lnSpc>
                <a:spcPct val="90000"/>
              </a:lnSpc>
              <a:spcBef>
                <a:spcPts val="800"/>
              </a:spcBef>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5pPr>
            <a:lvl6pPr marL="16002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6pPr>
            <a:lvl7pPr marL="20574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7pPr>
            <a:lvl8pPr marL="25146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8pPr>
            <a:lvl9pPr marL="2971800" indent="-182880" eaLnBrk="0" fontAlgn="base" hangingPunct="0">
              <a:lnSpc>
                <a:spcPct val="90000"/>
              </a:lnSpc>
              <a:spcBef>
                <a:spcPts val="800"/>
              </a:spcBef>
              <a:spcAft>
                <a:spcPct val="0"/>
              </a:spcAft>
              <a:buClr>
                <a:schemeClr val="accent1"/>
              </a:buClr>
              <a:buFont typeface="Arial" panose="020B0604020202020204" pitchFamily="34" charset="0"/>
              <a:buChar char="•"/>
              <a:defRPr sz="1400">
                <a:latin typeface="Century Schoolbook" panose="02040604050505020304" pitchFamily="18" charset="0"/>
                <a:ea typeface="Microsoft YaHei UI" panose="020B0503020204020204" pitchFamily="34" charset="-122"/>
              </a:defRPr>
            </a:lvl9pPr>
          </a:lstStyle>
          <a:p>
            <a:r>
              <a:rPr lang="zh-CN" altLang="en-US" b="1" dirty="0">
                <a:latin typeface="黑体" panose="02010609060101010101" pitchFamily="49" charset="-122"/>
                <a:ea typeface="黑体" panose="02010609060101010101" pitchFamily="49" charset="-122"/>
              </a:rPr>
              <a:t>信息增益</a:t>
            </a:r>
            <a:br>
              <a:rPr lang="zh-CN" altLang="en-US" dirty="0"/>
            </a:br>
            <a:endParaRPr lang="zh-CN" altLang="en-US" dirty="0"/>
          </a:p>
        </p:txBody>
      </p:sp>
      <p:sp>
        <p:nvSpPr>
          <p:cNvPr id="10"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公式小结</a:t>
            </a:r>
            <a:endParaRPr lang="zh-CN" altLang="en-US" dirty="0">
              <a:latin typeface="黑体" panose="02010609060101010101" pitchFamily="49" charset="-122"/>
              <a:ea typeface="黑体" panose="02010609060101010101" pitchFamily="49" charset="-122"/>
            </a:endParaRPr>
          </a:p>
        </p:txBody>
      </p:sp>
      <p:graphicFrame>
        <p:nvGraphicFramePr>
          <p:cNvPr id="2" name="对象 1"/>
          <p:cNvGraphicFramePr>
            <a:graphicFrameLocks noChangeAspect="1"/>
          </p:cNvGraphicFramePr>
          <p:nvPr/>
        </p:nvGraphicFramePr>
        <p:xfrm>
          <a:off x="2160017" y="997294"/>
          <a:ext cx="4835587" cy="842716"/>
        </p:xfrm>
        <a:graphic>
          <a:graphicData uri="http://schemas.openxmlformats.org/presentationml/2006/ole">
            <mc:AlternateContent xmlns:mc="http://schemas.openxmlformats.org/markup-compatibility/2006">
              <mc:Choice xmlns:v="urn:schemas-microsoft-com:vml" Requires="v">
                <p:oleObj spid="_x0000_s27941" name="Formula" r:id="rId1" imgW="19878675" imgH="3467100" progId="Equation.Ribbit">
                  <p:embed/>
                </p:oleObj>
              </mc:Choice>
              <mc:Fallback>
                <p:oleObj name="Formula" r:id="rId1" imgW="19878675" imgH="3467100" progId="Equation.Ribbit">
                  <p:embed/>
                  <p:pic>
                    <p:nvPicPr>
                      <p:cNvPr id="0" name="对象 3"/>
                      <p:cNvPicPr/>
                      <p:nvPr/>
                    </p:nvPicPr>
                    <p:blipFill>
                      <a:blip r:embed="rId2"/>
                      <a:stretch>
                        <a:fillRect/>
                      </a:stretch>
                    </p:blipFill>
                    <p:spPr>
                      <a:xfrm>
                        <a:off x="2160017" y="997294"/>
                        <a:ext cx="4835587" cy="842716"/>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566937" y="3056281"/>
          <a:ext cx="3933825" cy="555625"/>
        </p:xfrm>
        <a:graphic>
          <a:graphicData uri="http://schemas.openxmlformats.org/presentationml/2006/ole">
            <mc:AlternateContent xmlns:mc="http://schemas.openxmlformats.org/markup-compatibility/2006">
              <mc:Choice xmlns:v="urn:schemas-microsoft-com:vml" Requires="v">
                <p:oleObj spid="_x0000_s4" name="Formula" r:id="rId3" imgW="13315950" imgH="1876425" progId="Equation.Ribbit">
                  <p:embed/>
                </p:oleObj>
              </mc:Choice>
              <mc:Fallback>
                <p:oleObj name="Formula" r:id="rId3" imgW="13315950" imgH="1876425" progId="Equation.Ribbit">
                  <p:embed/>
                  <p:pic>
                    <p:nvPicPr>
                      <p:cNvPr id="0" name="对象 3"/>
                      <p:cNvPicPr/>
                      <p:nvPr/>
                    </p:nvPicPr>
                    <p:blipFill>
                      <a:blip r:embed="rId4"/>
                      <a:stretch>
                        <a:fillRect/>
                      </a:stretch>
                    </p:blipFill>
                    <p:spPr>
                      <a:xfrm>
                        <a:off x="566937" y="3056281"/>
                        <a:ext cx="3933825" cy="555625"/>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950226" y="2861019"/>
          <a:ext cx="2968625" cy="750887"/>
        </p:xfrm>
        <a:graphic>
          <a:graphicData uri="http://schemas.openxmlformats.org/presentationml/2006/ole">
            <mc:AlternateContent xmlns:mc="http://schemas.openxmlformats.org/markup-compatibility/2006">
              <mc:Choice xmlns:v="urn:schemas-microsoft-com:vml" Requires="v">
                <p:oleObj spid="_x0000_s6" name="Formula" r:id="rId5" imgW="13716000" imgH="3467100" progId="Equation.Ribbit">
                  <p:embed/>
                </p:oleObj>
              </mc:Choice>
              <mc:Fallback>
                <p:oleObj name="Formula" r:id="rId5" imgW="13716000" imgH="3467100" progId="Equation.Ribbit">
                  <p:embed/>
                  <p:pic>
                    <p:nvPicPr>
                      <p:cNvPr id="0" name="对象 4"/>
                      <p:cNvPicPr/>
                      <p:nvPr/>
                    </p:nvPicPr>
                    <p:blipFill>
                      <a:blip r:embed="rId6"/>
                      <a:stretch>
                        <a:fillRect/>
                      </a:stretch>
                    </p:blipFill>
                    <p:spPr>
                      <a:xfrm>
                        <a:off x="4950226" y="2861019"/>
                        <a:ext cx="2968625" cy="7508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919385" y="5456687"/>
          <a:ext cx="2481263" cy="808037"/>
        </p:xfrm>
        <a:graphic>
          <a:graphicData uri="http://schemas.openxmlformats.org/presentationml/2006/ole">
            <mc:AlternateContent xmlns:mc="http://schemas.openxmlformats.org/markup-compatibility/2006">
              <mc:Choice xmlns:v="urn:schemas-microsoft-com:vml" Requires="v">
                <p:oleObj spid="_x0000_s8" name="Formula" r:id="rId7" imgW="11677650" imgH="3800475" progId="Equation.Ribbit">
                  <p:embed/>
                </p:oleObj>
              </mc:Choice>
              <mc:Fallback>
                <p:oleObj name="Formula" r:id="rId7" imgW="11677650" imgH="3800475" progId="Equation.Ribbit">
                  <p:embed/>
                  <p:pic>
                    <p:nvPicPr>
                      <p:cNvPr id="0" name="对象 3"/>
                      <p:cNvPicPr/>
                      <p:nvPr/>
                    </p:nvPicPr>
                    <p:blipFill>
                      <a:blip r:embed="rId8"/>
                      <a:stretch>
                        <a:fillRect/>
                      </a:stretch>
                    </p:blipFill>
                    <p:spPr>
                      <a:xfrm>
                        <a:off x="919385" y="5456687"/>
                        <a:ext cx="2481263" cy="80803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400648" y="5456687"/>
          <a:ext cx="1341438" cy="809625"/>
        </p:xfrm>
        <a:graphic>
          <a:graphicData uri="http://schemas.openxmlformats.org/presentationml/2006/ole">
            <mc:AlternateContent xmlns:mc="http://schemas.openxmlformats.org/markup-compatibility/2006">
              <mc:Choice xmlns:v="urn:schemas-microsoft-com:vml" Requires="v">
                <p:oleObj spid="_x0000_s11" name="Formula" r:id="rId9" imgW="5962650" imgH="3600450" progId="Equation.Ribbit">
                  <p:embed/>
                </p:oleObj>
              </mc:Choice>
              <mc:Fallback>
                <p:oleObj name="Formula" r:id="rId9" imgW="5962650" imgH="3600450" progId="Equation.Ribbit">
                  <p:embed/>
                  <p:pic>
                    <p:nvPicPr>
                      <p:cNvPr id="0" name="对象 5"/>
                      <p:cNvPicPr/>
                      <p:nvPr/>
                    </p:nvPicPr>
                    <p:blipFill>
                      <a:blip r:embed="rId10"/>
                      <a:stretch>
                        <a:fillRect/>
                      </a:stretch>
                    </p:blipFill>
                    <p:spPr>
                      <a:xfrm>
                        <a:off x="3400648" y="5456687"/>
                        <a:ext cx="1341438" cy="809625"/>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587025" y="4691013"/>
          <a:ext cx="5068934" cy="513721"/>
        </p:xfrm>
        <a:graphic>
          <a:graphicData uri="http://schemas.openxmlformats.org/presentationml/2006/ole">
            <mc:AlternateContent xmlns:mc="http://schemas.openxmlformats.org/markup-compatibility/2006">
              <mc:Choice xmlns:v="urn:schemas-microsoft-com:vml" Requires="v">
                <p:oleObj spid="_x0000_s12" name="Formula" r:id="rId11" imgW="18564225" imgH="1876425" progId="Equation.Ribbit">
                  <p:embed/>
                </p:oleObj>
              </mc:Choice>
              <mc:Fallback>
                <p:oleObj name="Formula" r:id="rId11" imgW="18564225" imgH="1876425" progId="Equation.Ribbit">
                  <p:embed/>
                  <p:pic>
                    <p:nvPicPr>
                      <p:cNvPr id="0" name="对象 6"/>
                      <p:cNvPicPr/>
                      <p:nvPr/>
                    </p:nvPicPr>
                    <p:blipFill>
                      <a:blip r:embed="rId12"/>
                      <a:stretch>
                        <a:fillRect/>
                      </a:stretch>
                    </p:blipFill>
                    <p:spPr>
                      <a:xfrm>
                        <a:off x="587025" y="4691013"/>
                        <a:ext cx="5068934" cy="513721"/>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97747" y="1004339"/>
            <a:ext cx="6170623" cy="3437145"/>
          </a:xfrm>
          <a:prstGeom prst="rect">
            <a:avLst/>
          </a:prstGeom>
        </p:spPr>
      </p:pic>
      <p:pic>
        <p:nvPicPr>
          <p:cNvPr id="5" name="图片 4"/>
          <p:cNvPicPr>
            <a:picLocks noChangeAspect="1"/>
          </p:cNvPicPr>
          <p:nvPr/>
        </p:nvPicPr>
        <p:blipFill>
          <a:blip r:embed="rId2"/>
          <a:stretch>
            <a:fillRect/>
          </a:stretch>
        </p:blipFill>
        <p:spPr>
          <a:xfrm>
            <a:off x="3238237" y="4591991"/>
            <a:ext cx="3654447" cy="820220"/>
          </a:xfrm>
          <a:prstGeom prst="rect">
            <a:avLst/>
          </a:prstGeom>
        </p:spPr>
      </p:pic>
      <p:pic>
        <p:nvPicPr>
          <p:cNvPr id="6" name="图片 5"/>
          <p:cNvPicPr>
            <a:picLocks noChangeAspect="1"/>
          </p:cNvPicPr>
          <p:nvPr/>
        </p:nvPicPr>
        <p:blipFill>
          <a:blip r:embed="rId3"/>
          <a:stretch>
            <a:fillRect/>
          </a:stretch>
        </p:blipFill>
        <p:spPr>
          <a:xfrm>
            <a:off x="449134" y="4551373"/>
            <a:ext cx="2733924" cy="901456"/>
          </a:xfrm>
          <a:prstGeom prst="rect">
            <a:avLst/>
          </a:prstGeom>
        </p:spPr>
      </p:pic>
      <p:sp>
        <p:nvSpPr>
          <p:cNvPr id="7" name="矩形 6"/>
          <p:cNvSpPr/>
          <p:nvPr/>
        </p:nvSpPr>
        <p:spPr>
          <a:xfrm>
            <a:off x="305851" y="5603065"/>
            <a:ext cx="8532298" cy="646331"/>
          </a:xfrm>
          <a:prstGeom prst="rect">
            <a:avLst/>
          </a:prstGeom>
        </p:spPr>
        <p:txBody>
          <a:bodyPr wrap="square">
            <a:spAutoFit/>
          </a:bodyPr>
          <a:lstStyle/>
          <a:p>
            <a:r>
              <a:rPr lang="zh-CN" altLang="en-US" b="1" dirty="0">
                <a:latin typeface="黑体" panose="02010609060101010101" pitchFamily="49" charset="-122"/>
                <a:ea typeface="黑体" panose="02010609060101010101" pitchFamily="49" charset="-122"/>
              </a:rPr>
              <a:t>熵的公式中有一个log对数，而f(</a:t>
            </a:r>
            <a:r>
              <a:rPr lang="en-US" altLang="zh-CN" b="1" dirty="0">
                <a:latin typeface="黑体" panose="02010609060101010101" pitchFamily="49" charset="-122"/>
                <a:ea typeface="黑体" panose="02010609060101010101" pitchFamily="49" charset="-122"/>
              </a:rPr>
              <a:t>x</a:t>
            </a:r>
            <a:r>
              <a:rPr lang="zh-CN" altLang="en-US" b="1" dirty="0">
                <a:latin typeface="黑体" panose="02010609060101010101" pitchFamily="49" charset="-122"/>
                <a:ea typeface="黑体" panose="02010609060101010101" pitchFamily="49" charset="-122"/>
              </a:rPr>
              <a:t>)=-l</a:t>
            </a:r>
            <a:r>
              <a:rPr lang="en-US" altLang="zh-CN" b="1" dirty="0" err="1">
                <a:latin typeface="黑体" panose="02010609060101010101" pitchFamily="49" charset="-122"/>
                <a:ea typeface="黑体" panose="02010609060101010101" pitchFamily="49" charset="-122"/>
              </a:rPr>
              <a:t>og</a:t>
            </a:r>
            <a:r>
              <a:rPr lang="zh-CN" altLang="en-US" b="1" dirty="0">
                <a:latin typeface="黑体" panose="02010609060101010101" pitchFamily="49" charset="-122"/>
                <a:ea typeface="黑体" panose="02010609060101010101" pitchFamily="49" charset="-122"/>
              </a:rPr>
              <a:t>x在x=1处一阶泰勒展开，忽略掉高次项，可以得到f(x)≈1-x。这样p</a:t>
            </a:r>
            <a:r>
              <a:rPr lang="zh-CN" altLang="en-US" sz="1600" b="1" baseline="-25000" dirty="0">
                <a:latin typeface="黑体" panose="02010609060101010101" pitchFamily="49" charset="-122"/>
                <a:ea typeface="黑体" panose="02010609060101010101" pitchFamily="49" charset="-122"/>
              </a:rPr>
              <a:t>k</a:t>
            </a:r>
            <a:r>
              <a:rPr lang="zh-CN" altLang="en-US" b="1" dirty="0">
                <a:latin typeface="黑体" panose="02010609060101010101" pitchFamily="49" charset="-122"/>
                <a:ea typeface="黑体" panose="02010609060101010101" pitchFamily="49" charset="-122"/>
              </a:rPr>
              <a:t>logp</a:t>
            </a:r>
            <a:r>
              <a:rPr lang="zh-CN" altLang="en-US" sz="1600" b="1" baseline="-25000" dirty="0">
                <a:latin typeface="黑体" panose="02010609060101010101" pitchFamily="49" charset="-122"/>
                <a:ea typeface="黑体" panose="02010609060101010101" pitchFamily="49" charset="-122"/>
              </a:rPr>
              <a:t>k</a:t>
            </a:r>
            <a:r>
              <a:rPr lang="zh-CN" altLang="en-US" b="1" dirty="0">
                <a:latin typeface="黑体" panose="02010609060101010101" pitchFamily="49" charset="-122"/>
                <a:ea typeface="黑体" panose="02010609060101010101" pitchFamily="49" charset="-122"/>
              </a:rPr>
              <a:t>≈pk(1-p</a:t>
            </a:r>
            <a:r>
              <a:rPr lang="zh-CN" altLang="en-US" sz="1600" b="1" baseline="-25000" dirty="0">
                <a:latin typeface="黑体" panose="02010609060101010101" pitchFamily="49" charset="-122"/>
                <a:ea typeface="黑体" panose="02010609060101010101" pitchFamily="49" charset="-122"/>
              </a:rPr>
              <a:t>k</a:t>
            </a:r>
            <a:r>
              <a:rPr lang="zh-CN" altLang="en-US" b="1" dirty="0">
                <a:latin typeface="黑体" panose="02010609060101010101" pitchFamily="49" charset="-122"/>
                <a:ea typeface="黑体" panose="02010609060101010101" pitchFamily="49" charset="-122"/>
              </a:rPr>
              <a:t>)，可以看到基尼指数与熵很近似了。</a:t>
            </a:r>
            <a:endParaRPr lang="zh-CN" altLang="en-US" b="1" dirty="0">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4"/>
          <a:stretch>
            <a:fillRect/>
          </a:stretch>
        </p:blipFill>
        <p:spPr>
          <a:xfrm>
            <a:off x="6115031" y="1254935"/>
            <a:ext cx="2959600" cy="262485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sklearn</a:t>
            </a:r>
            <a:r>
              <a:rPr lang="zh-CN" altLang="en-US" dirty="0"/>
              <a:t>决策树</a:t>
            </a:r>
            <a:endParaRPr lang="zh-CN" altLang="en-US" dirty="0"/>
          </a:p>
        </p:txBody>
      </p:sp>
      <p:pic>
        <p:nvPicPr>
          <p:cNvPr id="5" name="图片 4"/>
          <p:cNvPicPr>
            <a:picLocks noChangeAspect="1"/>
          </p:cNvPicPr>
          <p:nvPr/>
        </p:nvPicPr>
        <p:blipFill>
          <a:blip r:embed="rId1"/>
          <a:stretch>
            <a:fillRect/>
          </a:stretch>
        </p:blipFill>
        <p:spPr>
          <a:xfrm>
            <a:off x="0" y="2739721"/>
            <a:ext cx="8380949" cy="3089989"/>
          </a:xfrm>
          <a:prstGeom prst="rect">
            <a:avLst/>
          </a:prstGeom>
        </p:spPr>
      </p:pic>
      <p:pic>
        <p:nvPicPr>
          <p:cNvPr id="6" name="图片 5"/>
          <p:cNvPicPr>
            <a:picLocks noChangeAspect="1"/>
          </p:cNvPicPr>
          <p:nvPr/>
        </p:nvPicPr>
        <p:blipFill>
          <a:blip r:embed="rId2"/>
          <a:stretch>
            <a:fillRect/>
          </a:stretch>
        </p:blipFill>
        <p:spPr>
          <a:xfrm>
            <a:off x="0" y="1129946"/>
            <a:ext cx="9144000" cy="156542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sklearn</a:t>
            </a:r>
            <a:r>
              <a:rPr lang="zh-CN" altLang="en-US" dirty="0"/>
              <a:t>决策树</a:t>
            </a:r>
            <a:endParaRPr lang="zh-CN" altLang="en-US" dirty="0"/>
          </a:p>
        </p:txBody>
      </p:sp>
      <p:pic>
        <p:nvPicPr>
          <p:cNvPr id="3" name="图片 2"/>
          <p:cNvPicPr>
            <a:picLocks noChangeAspect="1"/>
          </p:cNvPicPr>
          <p:nvPr/>
        </p:nvPicPr>
        <p:blipFill>
          <a:blip r:embed="rId1"/>
          <a:stretch>
            <a:fillRect/>
          </a:stretch>
        </p:blipFill>
        <p:spPr>
          <a:xfrm>
            <a:off x="187708" y="1146383"/>
            <a:ext cx="6372225" cy="390525"/>
          </a:xfrm>
          <a:prstGeom prst="rect">
            <a:avLst/>
          </a:prstGeom>
        </p:spPr>
      </p:pic>
      <p:pic>
        <p:nvPicPr>
          <p:cNvPr id="8" name="图片 7"/>
          <p:cNvPicPr>
            <a:picLocks noChangeAspect="1"/>
          </p:cNvPicPr>
          <p:nvPr/>
        </p:nvPicPr>
        <p:blipFill>
          <a:blip r:embed="rId2"/>
          <a:stretch>
            <a:fillRect/>
          </a:stretch>
        </p:blipFill>
        <p:spPr>
          <a:xfrm>
            <a:off x="260350" y="1599509"/>
            <a:ext cx="8153400" cy="24860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sklearn</a:t>
            </a:r>
            <a:r>
              <a:rPr lang="zh-CN" altLang="en-US" dirty="0"/>
              <a:t>决策树</a:t>
            </a:r>
            <a:endParaRPr lang="zh-CN" altLang="en-US" dirty="0"/>
          </a:p>
        </p:txBody>
      </p:sp>
      <p:pic>
        <p:nvPicPr>
          <p:cNvPr id="3" name="图片 2"/>
          <p:cNvPicPr>
            <a:picLocks noChangeAspect="1"/>
          </p:cNvPicPr>
          <p:nvPr/>
        </p:nvPicPr>
        <p:blipFill>
          <a:blip r:embed="rId1"/>
          <a:stretch>
            <a:fillRect/>
          </a:stretch>
        </p:blipFill>
        <p:spPr>
          <a:xfrm>
            <a:off x="132430" y="-46036"/>
            <a:ext cx="8476200" cy="68472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endParaRPr lang="en-US" altLang="zh-CN" dirty="0"/>
          </a:p>
          <a:p>
            <a:r>
              <a:rPr lang="zh-CN" altLang="en-US" b="1" dirty="0">
                <a:latin typeface="黑体" panose="02010609060101010101" pitchFamily="49" charset="-122"/>
                <a:ea typeface="黑体" panose="02010609060101010101" pitchFamily="49" charset="-122"/>
              </a:rPr>
              <a:t>剪枝处理</a:t>
            </a:r>
            <a:endParaRPr lang="en-US" altLang="zh-CN" b="1" dirty="0">
              <a:latin typeface="黑体" panose="02010609060101010101" pitchFamily="49" charset="-122"/>
              <a:ea typeface="黑体" panose="02010609060101010101" pitchFamily="49" charset="-122"/>
            </a:endParaRPr>
          </a:p>
          <a:p>
            <a:endParaRPr lang="en-US" altLang="zh-CN" dirty="0"/>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为什么剪枝</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“剪枝”是决策树学习算法</a:t>
            </a:r>
            <a:r>
              <a:rPr lang="zh-CN" altLang="en-US" b="1" dirty="0">
                <a:solidFill>
                  <a:srgbClr val="C00000"/>
                </a:solidFill>
                <a:latin typeface="黑体" panose="02010609060101010101" pitchFamily="49" charset="-122"/>
                <a:ea typeface="黑体" panose="02010609060101010101" pitchFamily="49" charset="-122"/>
              </a:rPr>
              <a:t>对付“过拟合”</a:t>
            </a:r>
            <a:r>
              <a:rPr lang="zh-CN" altLang="en-US" b="1" dirty="0">
                <a:latin typeface="黑体" panose="02010609060101010101" pitchFamily="49" charset="-122"/>
                <a:ea typeface="黑体" panose="02010609060101010101" pitchFamily="49" charset="-122"/>
              </a:rPr>
              <a:t>的主要手段</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可通过“剪枝”来一定程度避免因决策分支过多，以致于把训练集自身的一些特点当做所有数据都具有的一般性质而导致的过拟合</a:t>
            </a:r>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剪枝的基本策略</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预剪枝</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后剪枝</a:t>
            </a:r>
            <a:endParaRPr lang="en-US" altLang="zh-CN" b="1" dirty="0">
              <a:latin typeface="黑体" panose="02010609060101010101" pitchFamily="49" charset="-122"/>
              <a:ea typeface="黑体" panose="02010609060101010101" pitchFamily="49" charset="-122"/>
            </a:endParaRPr>
          </a:p>
          <a:p>
            <a:pPr marL="325755" lvl="1" indent="0">
              <a:buNone/>
            </a:pP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判断决策树泛化性能是否提升的方法</a:t>
            </a:r>
            <a:endParaRPr lang="en-US" altLang="zh-CN" b="1" dirty="0">
              <a:latin typeface="黑体" panose="02010609060101010101" pitchFamily="49" charset="-122"/>
              <a:ea typeface="黑体" panose="02010609060101010101" pitchFamily="49" charset="-122"/>
            </a:endParaRPr>
          </a:p>
          <a:p>
            <a:pPr lvl="1"/>
            <a:r>
              <a:rPr lang="zh-CN" altLang="en-US" b="1" dirty="0">
                <a:solidFill>
                  <a:srgbClr val="C00000"/>
                </a:solidFill>
                <a:latin typeface="黑体" panose="02010609060101010101" pitchFamily="49" charset="-122"/>
                <a:ea typeface="黑体" panose="02010609060101010101" pitchFamily="49" charset="-122"/>
              </a:rPr>
              <a:t>留出法</a:t>
            </a:r>
            <a:r>
              <a:rPr lang="zh-CN" altLang="en-US" b="1" dirty="0">
                <a:latin typeface="黑体" panose="02010609060101010101" pitchFamily="49" charset="-122"/>
                <a:ea typeface="黑体" panose="02010609060101010101" pitchFamily="49" charset="-122"/>
              </a:rPr>
              <a:t>：预留一部分数据用作“验证集”以进行性能评估</a:t>
            </a:r>
            <a:endParaRPr lang="en-US" altLang="zh-CN" b="1" dirty="0">
              <a:latin typeface="黑体" panose="02010609060101010101" pitchFamily="49" charset="-122"/>
              <a:ea typeface="黑体" panose="02010609060101010101" pitchFamily="49" charset="-122"/>
            </a:endParaRPr>
          </a:p>
          <a:p>
            <a:pPr marL="325755" lvl="1"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数据集</a:t>
            </a:r>
            <a:endParaRPr lang="zh-CN" altLang="en-US" b="1" dirty="0">
              <a:latin typeface="黑体" panose="02010609060101010101" pitchFamily="49" charset="-122"/>
              <a:ea typeface="黑体" panose="02010609060101010101" pitchFamily="49" charset="-122"/>
            </a:endParaRPr>
          </a:p>
        </p:txBody>
      </p:sp>
      <p:pic>
        <p:nvPicPr>
          <p:cNvPr id="5" name="内容占位符 3"/>
          <p:cNvPicPr>
            <a:picLocks noGrp="1" noChangeAspect="1"/>
          </p:cNvPicPr>
          <p:nvPr>
            <p:ph sz="quarter" idx="14"/>
          </p:nvPr>
        </p:nvPicPr>
        <p:blipFill>
          <a:blip r:embed="rId1"/>
          <a:stretch>
            <a:fillRect/>
          </a:stretch>
        </p:blipFill>
        <p:spPr>
          <a:xfrm>
            <a:off x="1827292" y="1721239"/>
            <a:ext cx="5489415" cy="4343400"/>
          </a:xfrm>
          <a:prstGeom prst="rect">
            <a:avLst/>
          </a:prstGeom>
        </p:spPr>
      </p:pic>
      <p:sp>
        <p:nvSpPr>
          <p:cNvPr id="8" name="左大括号 7"/>
          <p:cNvSpPr/>
          <p:nvPr/>
        </p:nvSpPr>
        <p:spPr>
          <a:xfrm>
            <a:off x="2311584" y="2059620"/>
            <a:ext cx="194872" cy="2106016"/>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b="1" dirty="0"/>
          </a:p>
        </p:txBody>
      </p:sp>
      <p:sp>
        <p:nvSpPr>
          <p:cNvPr id="9" name="左大括号 8"/>
          <p:cNvSpPr/>
          <p:nvPr/>
        </p:nvSpPr>
        <p:spPr>
          <a:xfrm>
            <a:off x="2311584" y="4477382"/>
            <a:ext cx="194872" cy="154168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1" name="Rectangle 3"/>
          <p:cNvSpPr>
            <a:spLocks noChangeArrowheads="1"/>
          </p:cNvSpPr>
          <p:nvPr/>
        </p:nvSpPr>
        <p:spPr bwMode="auto">
          <a:xfrm>
            <a:off x="773893" y="2681328"/>
            <a:ext cx="1122114" cy="66374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2200" b="1" i="0" dirty="0">
                <a:latin typeface="黑体" panose="02010609060101010101" pitchFamily="49" charset="-122"/>
                <a:ea typeface="黑体" panose="02010609060101010101" pitchFamily="49" charset="-122"/>
              </a:rPr>
              <a:t>训练集</a:t>
            </a:r>
            <a:endParaRPr lang="zh-CN" altLang="en-US" sz="2200" b="1" i="0" dirty="0">
              <a:latin typeface="黑体" panose="02010609060101010101" pitchFamily="49" charset="-122"/>
              <a:ea typeface="黑体" panose="02010609060101010101" pitchFamily="49" charset="-122"/>
            </a:endParaRPr>
          </a:p>
        </p:txBody>
      </p:sp>
      <p:sp>
        <p:nvSpPr>
          <p:cNvPr id="12" name="Rectangle 3"/>
          <p:cNvSpPr>
            <a:spLocks noChangeArrowheads="1"/>
          </p:cNvSpPr>
          <p:nvPr/>
        </p:nvSpPr>
        <p:spPr bwMode="auto">
          <a:xfrm>
            <a:off x="794302" y="4867217"/>
            <a:ext cx="1122114" cy="66374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2200" b="1" dirty="0">
                <a:latin typeface="黑体" panose="02010609060101010101" pitchFamily="49" charset="-122"/>
                <a:ea typeface="黑体" panose="02010609060101010101" pitchFamily="49" charset="-122"/>
              </a:rPr>
              <a:t>验证集</a:t>
            </a:r>
            <a:endParaRPr lang="zh-CN" altLang="en-US" sz="2200" b="1" i="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未剪枝决策树</a:t>
            </a:r>
            <a:endParaRPr lang="en-US" altLang="zh-CN" b="1" dirty="0">
              <a:latin typeface="黑体" panose="02010609060101010101" pitchFamily="49" charset="-122"/>
              <a:ea typeface="黑体" panose="02010609060101010101" pitchFamily="49" charset="-122"/>
            </a:endParaRPr>
          </a:p>
          <a:p>
            <a:endParaRPr lang="zh-CN" altLang="en-US" dirty="0"/>
          </a:p>
        </p:txBody>
      </p:sp>
      <p:grpSp>
        <p:nvGrpSpPr>
          <p:cNvPr id="5" name="组合 4"/>
          <p:cNvGrpSpPr/>
          <p:nvPr/>
        </p:nvGrpSpPr>
        <p:grpSpPr>
          <a:xfrm>
            <a:off x="330652" y="1478054"/>
            <a:ext cx="8479450" cy="4732069"/>
            <a:chOff x="1926459" y="2007290"/>
            <a:chExt cx="8479450" cy="4732069"/>
          </a:xfrm>
        </p:grpSpPr>
        <p:grpSp>
          <p:nvGrpSpPr>
            <p:cNvPr id="6" name="组合 5"/>
            <p:cNvGrpSpPr/>
            <p:nvPr/>
          </p:nvGrpSpPr>
          <p:grpSpPr>
            <a:xfrm>
              <a:off x="4423852" y="6307359"/>
              <a:ext cx="3582444" cy="432000"/>
              <a:chOff x="2341355" y="4320514"/>
              <a:chExt cx="3582444" cy="432000"/>
            </a:xfrm>
          </p:grpSpPr>
          <p:sp>
            <p:nvSpPr>
              <p:cNvPr id="56" name="椭圆 55"/>
              <p:cNvSpPr/>
              <p:nvPr/>
            </p:nvSpPr>
            <p:spPr>
              <a:xfrm>
                <a:off x="2341355" y="4320514"/>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57" name="椭圆 56"/>
              <p:cNvSpPr/>
              <p:nvPr/>
            </p:nvSpPr>
            <p:spPr>
              <a:xfrm>
                <a:off x="3592577" y="4320514"/>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58" name="椭圆 57"/>
              <p:cNvSpPr/>
              <p:nvPr/>
            </p:nvSpPr>
            <p:spPr>
              <a:xfrm>
                <a:off x="4843799" y="4320514"/>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grpSp>
        <p:cxnSp>
          <p:nvCxnSpPr>
            <p:cNvPr id="7" name="直接连接符 6"/>
            <p:cNvCxnSpPr>
              <a:endCxn id="56" idx="0"/>
            </p:cNvCxnSpPr>
            <p:nvPr/>
          </p:nvCxnSpPr>
          <p:spPr>
            <a:xfrm flipH="1">
              <a:off x="4963852" y="5508978"/>
              <a:ext cx="1256326" cy="798381"/>
            </a:xfrm>
            <a:prstGeom prst="line">
              <a:avLst/>
            </a:prstGeom>
          </p:spPr>
          <p:style>
            <a:lnRef idx="3">
              <a:schemeClr val="dk1"/>
            </a:lnRef>
            <a:fillRef idx="0">
              <a:schemeClr val="dk1"/>
            </a:fillRef>
            <a:effectRef idx="2">
              <a:schemeClr val="dk1"/>
            </a:effectRef>
            <a:fontRef idx="minor">
              <a:schemeClr val="tx1"/>
            </a:fontRef>
          </p:style>
        </p:cxnSp>
        <p:sp>
          <p:nvSpPr>
            <p:cNvPr id="8" name="文本框 11"/>
            <p:cNvSpPr txBox="1"/>
            <p:nvPr/>
          </p:nvSpPr>
          <p:spPr>
            <a:xfrm>
              <a:off x="6164461" y="581886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清晰</a:t>
              </a:r>
              <a:endParaRPr lang="zh-CN" altLang="en-US" b="1" dirty="0">
                <a:latin typeface="楷体" panose="02010609060101010101" pitchFamily="49" charset="-122"/>
                <a:ea typeface="楷体" panose="02010609060101010101" pitchFamily="49" charset="-122"/>
              </a:endParaRPr>
            </a:p>
          </p:txBody>
        </p:sp>
        <p:cxnSp>
          <p:nvCxnSpPr>
            <p:cNvPr id="9" name="直接连接符 8"/>
            <p:cNvCxnSpPr>
              <a:endCxn id="58" idx="0"/>
            </p:cNvCxnSpPr>
            <p:nvPr/>
          </p:nvCxnSpPr>
          <p:spPr>
            <a:xfrm>
              <a:off x="6215074" y="5508978"/>
              <a:ext cx="1251222" cy="798381"/>
            </a:xfrm>
            <a:prstGeom prst="line">
              <a:avLst/>
            </a:prstGeom>
          </p:spPr>
          <p:style>
            <a:lnRef idx="3">
              <a:schemeClr val="dk1"/>
            </a:lnRef>
            <a:fillRef idx="0">
              <a:schemeClr val="dk1"/>
            </a:fillRef>
            <a:effectRef idx="2">
              <a:schemeClr val="dk1"/>
            </a:effectRef>
            <a:fontRef idx="minor">
              <a:schemeClr val="tx1"/>
            </a:fontRef>
          </p:style>
        </p:cxnSp>
        <p:cxnSp>
          <p:nvCxnSpPr>
            <p:cNvPr id="10" name="直接连接符 9"/>
            <p:cNvCxnSpPr>
              <a:stCxn id="11" idx="2"/>
              <a:endCxn id="57" idx="0"/>
            </p:cNvCxnSpPr>
            <p:nvPr/>
          </p:nvCxnSpPr>
          <p:spPr>
            <a:xfrm>
              <a:off x="6215074" y="5699638"/>
              <a:ext cx="0" cy="607721"/>
            </a:xfrm>
            <a:prstGeom prst="line">
              <a:avLst/>
            </a:prstGeom>
          </p:spPr>
          <p:style>
            <a:lnRef idx="3">
              <a:schemeClr val="dk1"/>
            </a:lnRef>
            <a:fillRef idx="0">
              <a:schemeClr val="dk1"/>
            </a:fillRef>
            <a:effectRef idx="2">
              <a:schemeClr val="dk1"/>
            </a:effectRef>
            <a:fontRef idx="minor">
              <a:schemeClr val="tx1"/>
            </a:fontRef>
          </p:style>
        </p:cxnSp>
        <p:sp>
          <p:nvSpPr>
            <p:cNvPr id="11" name="圆角矩形 10"/>
            <p:cNvSpPr/>
            <p:nvPr/>
          </p:nvSpPr>
          <p:spPr>
            <a:xfrm>
              <a:off x="5675074" y="5267638"/>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纹理</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12" name="文本框 20"/>
            <p:cNvSpPr txBox="1"/>
            <p:nvPr/>
          </p:nvSpPr>
          <p:spPr>
            <a:xfrm>
              <a:off x="7089965" y="581886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模糊</a:t>
              </a:r>
              <a:endParaRPr lang="zh-CN" altLang="en-US" b="1" dirty="0">
                <a:latin typeface="楷体" panose="02010609060101010101" pitchFamily="49" charset="-122"/>
                <a:ea typeface="楷体" panose="02010609060101010101" pitchFamily="49" charset="-122"/>
              </a:endParaRPr>
            </a:p>
          </p:txBody>
        </p:sp>
        <p:sp>
          <p:nvSpPr>
            <p:cNvPr id="13" name="文本框 21"/>
            <p:cNvSpPr txBox="1"/>
            <p:nvPr/>
          </p:nvSpPr>
          <p:spPr>
            <a:xfrm>
              <a:off x="4737145" y="581886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稍糊</a:t>
              </a:r>
              <a:endParaRPr lang="zh-CN" altLang="en-US" b="1" dirty="0">
                <a:latin typeface="楷体" panose="02010609060101010101" pitchFamily="49" charset="-122"/>
                <a:ea typeface="楷体" panose="02010609060101010101" pitchFamily="49" charset="-122"/>
              </a:endParaRPr>
            </a:p>
          </p:txBody>
        </p:sp>
        <p:sp>
          <p:nvSpPr>
            <p:cNvPr id="14" name="椭圆 13"/>
            <p:cNvSpPr/>
            <p:nvPr/>
          </p:nvSpPr>
          <p:spPr>
            <a:xfrm>
              <a:off x="4423852" y="5267638"/>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15" name="椭圆 14"/>
            <p:cNvSpPr/>
            <p:nvPr/>
          </p:nvSpPr>
          <p:spPr>
            <a:xfrm>
              <a:off x="6923629" y="5267638"/>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16" name="直接连接符 15"/>
            <p:cNvCxnSpPr/>
            <p:nvPr/>
          </p:nvCxnSpPr>
          <p:spPr>
            <a:xfrm flipH="1">
              <a:off x="4963852" y="4469354"/>
              <a:ext cx="1256326" cy="798381"/>
            </a:xfrm>
            <a:prstGeom prst="line">
              <a:avLst/>
            </a:prstGeom>
          </p:spPr>
          <p:style>
            <a:lnRef idx="3">
              <a:schemeClr val="dk1"/>
            </a:lnRef>
            <a:fillRef idx="0">
              <a:schemeClr val="dk1"/>
            </a:fillRef>
            <a:effectRef idx="2">
              <a:schemeClr val="dk1"/>
            </a:effectRef>
            <a:fontRef idx="minor">
              <a:schemeClr val="tx1"/>
            </a:fontRef>
          </p:style>
        </p:cxnSp>
        <p:sp>
          <p:nvSpPr>
            <p:cNvPr id="17" name="文本框 26"/>
            <p:cNvSpPr txBox="1"/>
            <p:nvPr/>
          </p:nvSpPr>
          <p:spPr>
            <a:xfrm>
              <a:off x="6164461" y="477924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8" name="直接连接符 17"/>
            <p:cNvCxnSpPr/>
            <p:nvPr/>
          </p:nvCxnSpPr>
          <p:spPr>
            <a:xfrm>
              <a:off x="6215074" y="4469354"/>
              <a:ext cx="1251222" cy="798381"/>
            </a:xfrm>
            <a:prstGeom prst="line">
              <a:avLst/>
            </a:prstGeom>
          </p:spPr>
          <p:style>
            <a:lnRef idx="3">
              <a:schemeClr val="dk1"/>
            </a:lnRef>
            <a:fillRef idx="0">
              <a:schemeClr val="dk1"/>
            </a:fillRef>
            <a:effectRef idx="2">
              <a:schemeClr val="dk1"/>
            </a:effectRef>
            <a:fontRef idx="minor">
              <a:schemeClr val="tx1"/>
            </a:fontRef>
          </p:style>
        </p:cxnSp>
        <p:cxnSp>
          <p:nvCxnSpPr>
            <p:cNvPr id="19" name="直接连接符 18"/>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20" name="文本框 29"/>
            <p:cNvSpPr txBox="1"/>
            <p:nvPr/>
          </p:nvSpPr>
          <p:spPr>
            <a:xfrm>
              <a:off x="7089965" y="477924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1" name="文本框 30"/>
            <p:cNvSpPr txBox="1"/>
            <p:nvPr/>
          </p:nvSpPr>
          <p:spPr>
            <a:xfrm>
              <a:off x="4737145" y="477924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2" name="圆角矩形 21"/>
            <p:cNvSpPr/>
            <p:nvPr/>
          </p:nvSpPr>
          <p:spPr>
            <a:xfrm>
              <a:off x="5675074" y="4222020"/>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23" name="椭圆 22"/>
            <p:cNvSpPr/>
            <p:nvPr/>
          </p:nvSpPr>
          <p:spPr>
            <a:xfrm>
              <a:off x="6923629" y="422224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24" name="椭圆 23"/>
            <p:cNvSpPr/>
            <p:nvPr/>
          </p:nvSpPr>
          <p:spPr>
            <a:xfrm>
              <a:off x="8167080" y="4222020"/>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25" name="直接连接符 24"/>
            <p:cNvCxnSpPr/>
            <p:nvPr/>
          </p:nvCxnSpPr>
          <p:spPr>
            <a:xfrm flipH="1">
              <a:off x="6203580" y="3417574"/>
              <a:ext cx="1256326" cy="798381"/>
            </a:xfrm>
            <a:prstGeom prst="line">
              <a:avLst/>
            </a:prstGeom>
          </p:spPr>
          <p:style>
            <a:lnRef idx="3">
              <a:schemeClr val="dk1"/>
            </a:lnRef>
            <a:fillRef idx="0">
              <a:schemeClr val="dk1"/>
            </a:fillRef>
            <a:effectRef idx="2">
              <a:schemeClr val="dk1"/>
            </a:effectRef>
            <a:fontRef idx="minor">
              <a:schemeClr val="tx1"/>
            </a:fontRef>
          </p:style>
        </p:cxnSp>
        <p:sp>
          <p:nvSpPr>
            <p:cNvPr id="26" name="文本框 35"/>
            <p:cNvSpPr txBox="1"/>
            <p:nvPr/>
          </p:nvSpPr>
          <p:spPr>
            <a:xfrm>
              <a:off x="7404189" y="372746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7" name="直接连接符 26"/>
            <p:cNvCxnSpPr/>
            <p:nvPr/>
          </p:nvCxnSpPr>
          <p:spPr>
            <a:xfrm>
              <a:off x="7454802" y="3417574"/>
              <a:ext cx="1251222" cy="798381"/>
            </a:xfrm>
            <a:prstGeom prst="line">
              <a:avLst/>
            </a:prstGeom>
          </p:spPr>
          <p:style>
            <a:lnRef idx="3">
              <a:schemeClr val="dk1"/>
            </a:lnRef>
            <a:fillRef idx="0">
              <a:schemeClr val="dk1"/>
            </a:fillRef>
            <a:effectRef idx="2">
              <a:schemeClr val="dk1"/>
            </a:effectRef>
            <a:fontRef idx="minor">
              <a:schemeClr val="tx1"/>
            </a:fontRef>
          </p:style>
        </p:cxnSp>
        <p:cxnSp>
          <p:nvCxnSpPr>
            <p:cNvPr id="28" name="直接连接符 27"/>
            <p:cNvCxnSpPr/>
            <p:nvPr/>
          </p:nvCxnSpPr>
          <p:spPr>
            <a:xfrm>
              <a:off x="7454802" y="3608234"/>
              <a:ext cx="0" cy="607721"/>
            </a:xfrm>
            <a:prstGeom prst="line">
              <a:avLst/>
            </a:prstGeom>
          </p:spPr>
          <p:style>
            <a:lnRef idx="3">
              <a:schemeClr val="dk1"/>
            </a:lnRef>
            <a:fillRef idx="0">
              <a:schemeClr val="dk1"/>
            </a:fillRef>
            <a:effectRef idx="2">
              <a:schemeClr val="dk1"/>
            </a:effectRef>
            <a:fontRef idx="minor">
              <a:schemeClr val="tx1"/>
            </a:fontRef>
          </p:style>
        </p:cxnSp>
        <p:sp>
          <p:nvSpPr>
            <p:cNvPr id="29" name="文本框 38"/>
            <p:cNvSpPr txBox="1"/>
            <p:nvPr/>
          </p:nvSpPr>
          <p:spPr>
            <a:xfrm>
              <a:off x="8329693" y="372746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30" name="文本框 39"/>
            <p:cNvSpPr txBox="1"/>
            <p:nvPr/>
          </p:nvSpPr>
          <p:spPr>
            <a:xfrm>
              <a:off x="5976873" y="372746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1" name="圆角矩形 30"/>
            <p:cNvSpPr/>
            <p:nvPr/>
          </p:nvSpPr>
          <p:spPr>
            <a:xfrm>
              <a:off x="6935074" y="3176860"/>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32" name="椭圆 31"/>
            <p:cNvSpPr/>
            <p:nvPr/>
          </p:nvSpPr>
          <p:spPr>
            <a:xfrm>
              <a:off x="3155103" y="4234055"/>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33" name="椭圆 32"/>
            <p:cNvSpPr/>
            <p:nvPr/>
          </p:nvSpPr>
          <p:spPr>
            <a:xfrm>
              <a:off x="4383747" y="4234055"/>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34" name="椭圆 33"/>
            <p:cNvSpPr/>
            <p:nvPr/>
          </p:nvSpPr>
          <p:spPr>
            <a:xfrm>
              <a:off x="1926459" y="4234055"/>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35" name="直接连接符 34"/>
            <p:cNvCxnSpPr/>
            <p:nvPr/>
          </p:nvCxnSpPr>
          <p:spPr>
            <a:xfrm flipH="1">
              <a:off x="2466572" y="3419924"/>
              <a:ext cx="1256326" cy="798381"/>
            </a:xfrm>
            <a:prstGeom prst="line">
              <a:avLst/>
            </a:prstGeom>
          </p:spPr>
          <p:style>
            <a:lnRef idx="3">
              <a:schemeClr val="dk1"/>
            </a:lnRef>
            <a:fillRef idx="0">
              <a:schemeClr val="dk1"/>
            </a:fillRef>
            <a:effectRef idx="2">
              <a:schemeClr val="dk1"/>
            </a:effectRef>
            <a:fontRef idx="minor">
              <a:schemeClr val="tx1"/>
            </a:fontRef>
          </p:style>
        </p:cxnSp>
        <p:sp>
          <p:nvSpPr>
            <p:cNvPr id="36" name="文本框 45"/>
            <p:cNvSpPr txBox="1"/>
            <p:nvPr/>
          </p:nvSpPr>
          <p:spPr>
            <a:xfrm>
              <a:off x="3667181" y="372981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37" name="直接连接符 36"/>
            <p:cNvCxnSpPr/>
            <p:nvPr/>
          </p:nvCxnSpPr>
          <p:spPr>
            <a:xfrm>
              <a:off x="3717794" y="3419924"/>
              <a:ext cx="1251222" cy="798381"/>
            </a:xfrm>
            <a:prstGeom prst="line">
              <a:avLst/>
            </a:prstGeom>
          </p:spPr>
          <p:style>
            <a:lnRef idx="3">
              <a:schemeClr val="dk1"/>
            </a:lnRef>
            <a:fillRef idx="0">
              <a:schemeClr val="dk1"/>
            </a:fillRef>
            <a:effectRef idx="2">
              <a:schemeClr val="dk1"/>
            </a:effectRef>
            <a:fontRef idx="minor">
              <a:schemeClr val="tx1"/>
            </a:fontRef>
          </p:style>
        </p:cxnSp>
        <p:cxnSp>
          <p:nvCxnSpPr>
            <p:cNvPr id="38" name="直接连接符 37"/>
            <p:cNvCxnSpPr/>
            <p:nvPr/>
          </p:nvCxnSpPr>
          <p:spPr>
            <a:xfrm>
              <a:off x="3717794" y="3610584"/>
              <a:ext cx="0" cy="607721"/>
            </a:xfrm>
            <a:prstGeom prst="line">
              <a:avLst/>
            </a:prstGeom>
          </p:spPr>
          <p:style>
            <a:lnRef idx="3">
              <a:schemeClr val="dk1"/>
            </a:lnRef>
            <a:fillRef idx="0">
              <a:schemeClr val="dk1"/>
            </a:fillRef>
            <a:effectRef idx="2">
              <a:schemeClr val="dk1"/>
            </a:effectRef>
            <a:fontRef idx="minor">
              <a:schemeClr val="tx1"/>
            </a:fontRef>
          </p:style>
        </p:cxnSp>
        <p:sp>
          <p:nvSpPr>
            <p:cNvPr id="39" name="文本框 48"/>
            <p:cNvSpPr txBox="1"/>
            <p:nvPr/>
          </p:nvSpPr>
          <p:spPr>
            <a:xfrm>
              <a:off x="4592685" y="372981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40" name="文本框 49"/>
            <p:cNvSpPr txBox="1"/>
            <p:nvPr/>
          </p:nvSpPr>
          <p:spPr>
            <a:xfrm>
              <a:off x="2239865" y="372981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41" name="圆角矩形 40"/>
            <p:cNvSpPr/>
            <p:nvPr/>
          </p:nvSpPr>
          <p:spPr>
            <a:xfrm>
              <a:off x="3161197" y="3176234"/>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42" name="椭圆 41"/>
            <p:cNvSpPr/>
            <p:nvPr/>
          </p:nvSpPr>
          <p:spPr>
            <a:xfrm>
              <a:off x="9325909" y="3175860"/>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cxnSp>
          <p:nvCxnSpPr>
            <p:cNvPr id="43" name="直接连接符 42"/>
            <p:cNvCxnSpPr>
              <a:stCxn id="46" idx="2"/>
              <a:endCxn id="31" idx="0"/>
            </p:cNvCxnSpPr>
            <p:nvPr/>
          </p:nvCxnSpPr>
          <p:spPr>
            <a:xfrm>
              <a:off x="6251825" y="2573165"/>
              <a:ext cx="1223249" cy="603695"/>
            </a:xfrm>
            <a:prstGeom prst="line">
              <a:avLst/>
            </a:prstGeom>
          </p:spPr>
          <p:style>
            <a:lnRef idx="3">
              <a:schemeClr val="dk1"/>
            </a:lnRef>
            <a:fillRef idx="0">
              <a:schemeClr val="dk1"/>
            </a:fillRef>
            <a:effectRef idx="2">
              <a:schemeClr val="dk1"/>
            </a:effectRef>
            <a:fontRef idx="minor">
              <a:schemeClr val="tx1"/>
            </a:fontRef>
          </p:style>
        </p:cxnSp>
        <p:cxnSp>
          <p:nvCxnSpPr>
            <p:cNvPr id="44" name="直接连接符 43"/>
            <p:cNvCxnSpPr>
              <a:endCxn id="42" idx="0"/>
            </p:cNvCxnSpPr>
            <p:nvPr/>
          </p:nvCxnSpPr>
          <p:spPr>
            <a:xfrm>
              <a:off x="6596758" y="2579230"/>
              <a:ext cx="3269151" cy="596630"/>
            </a:xfrm>
            <a:prstGeom prst="line">
              <a:avLst/>
            </a:prstGeom>
          </p:spPr>
          <p:style>
            <a:lnRef idx="3">
              <a:schemeClr val="dk1"/>
            </a:lnRef>
            <a:fillRef idx="0">
              <a:schemeClr val="dk1"/>
            </a:fillRef>
            <a:effectRef idx="2">
              <a:schemeClr val="dk1"/>
            </a:effectRef>
            <a:fontRef idx="minor">
              <a:schemeClr val="tx1"/>
            </a:fontRef>
          </p:style>
        </p:cxnSp>
        <p:cxnSp>
          <p:nvCxnSpPr>
            <p:cNvPr id="45" name="直接连接符 44"/>
            <p:cNvCxnSpPr>
              <a:endCxn id="41" idx="0"/>
            </p:cNvCxnSpPr>
            <p:nvPr/>
          </p:nvCxnSpPr>
          <p:spPr>
            <a:xfrm flipH="1">
              <a:off x="3701197" y="2566871"/>
              <a:ext cx="2275676" cy="609363"/>
            </a:xfrm>
            <a:prstGeom prst="line">
              <a:avLst/>
            </a:prstGeom>
          </p:spPr>
          <p:style>
            <a:lnRef idx="3">
              <a:schemeClr val="dk1"/>
            </a:lnRef>
            <a:fillRef idx="0">
              <a:schemeClr val="dk1"/>
            </a:fillRef>
            <a:effectRef idx="2">
              <a:schemeClr val="dk1"/>
            </a:effectRef>
            <a:fontRef idx="minor">
              <a:schemeClr val="tx1"/>
            </a:fontRef>
          </p:style>
        </p:cxnSp>
        <p:sp>
          <p:nvSpPr>
            <p:cNvPr id="46" name="圆角矩形 45"/>
            <p:cNvSpPr/>
            <p:nvPr/>
          </p:nvSpPr>
          <p:spPr>
            <a:xfrm>
              <a:off x="5531825" y="2141165"/>
              <a:ext cx="144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47" name="文本框 63"/>
            <p:cNvSpPr txBox="1"/>
            <p:nvPr/>
          </p:nvSpPr>
          <p:spPr>
            <a:xfrm>
              <a:off x="8745894" y="265249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8" name="文本框 64"/>
            <p:cNvSpPr txBox="1"/>
            <p:nvPr/>
          </p:nvSpPr>
          <p:spPr>
            <a:xfrm>
              <a:off x="6110414" y="265249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9" name="文本框 65"/>
            <p:cNvSpPr txBox="1"/>
            <p:nvPr/>
          </p:nvSpPr>
          <p:spPr>
            <a:xfrm>
              <a:off x="3868758" y="2652494"/>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50" name="椭圆 49"/>
            <p:cNvSpPr/>
            <p:nvPr/>
          </p:nvSpPr>
          <p:spPr>
            <a:xfrm>
              <a:off x="5354660" y="2007290"/>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a:rPr>
                <a:t>1</a:t>
              </a:r>
              <a:endParaRPr lang="zh-CN" altLang="en-US" b="1" dirty="0">
                <a:solidFill>
                  <a:schemeClr val="tx1"/>
                </a:solidFill>
                <a:latin typeface="Times "/>
              </a:endParaRPr>
            </a:p>
          </p:txBody>
        </p:sp>
        <p:sp>
          <p:nvSpPr>
            <p:cNvPr id="51" name="椭圆 50"/>
            <p:cNvSpPr/>
            <p:nvPr/>
          </p:nvSpPr>
          <p:spPr>
            <a:xfrm>
              <a:off x="3003222" y="3027314"/>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52" name="椭圆 51"/>
            <p:cNvSpPr/>
            <p:nvPr/>
          </p:nvSpPr>
          <p:spPr>
            <a:xfrm>
              <a:off x="6758430" y="3038868"/>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3" name="椭圆 52"/>
            <p:cNvSpPr/>
            <p:nvPr/>
          </p:nvSpPr>
          <p:spPr>
            <a:xfrm>
              <a:off x="9153132" y="3095090"/>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4" name="椭圆 53"/>
            <p:cNvSpPr/>
            <p:nvPr/>
          </p:nvSpPr>
          <p:spPr>
            <a:xfrm>
              <a:off x="5512614" y="4037354"/>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sp>
          <p:nvSpPr>
            <p:cNvPr id="55" name="椭圆 54"/>
            <p:cNvSpPr/>
            <p:nvPr/>
          </p:nvSpPr>
          <p:spPr>
            <a:xfrm>
              <a:off x="5531825" y="5058169"/>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6</a:t>
              </a:r>
              <a:endParaRPr lang="zh-CN" altLang="en-US" b="1" dirty="0">
                <a:solidFill>
                  <a:schemeClr val="tx1"/>
                </a:solidFill>
                <a:latin typeface="Times "/>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预剪枝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a:lnSpc>
                <a:spcPct val="150000"/>
              </a:lnSpc>
            </a:pPr>
            <a:r>
              <a:rPr lang="zh-CN" altLang="en-US" b="1" dirty="0">
                <a:latin typeface="黑体" panose="02010609060101010101" pitchFamily="49" charset="-122"/>
                <a:ea typeface="黑体" panose="02010609060101010101" pitchFamily="49" charset="-122"/>
              </a:rPr>
              <a:t>决策树生成过程中，</a:t>
            </a:r>
            <a:r>
              <a:rPr lang="zh-CN" altLang="en-US" b="1" dirty="0">
                <a:solidFill>
                  <a:srgbClr val="C00000"/>
                </a:solidFill>
                <a:latin typeface="黑体" panose="02010609060101010101" pitchFamily="49" charset="-122"/>
                <a:ea typeface="黑体" panose="02010609060101010101" pitchFamily="49" charset="-122"/>
              </a:rPr>
              <a:t>对每个结点在划分前先进行估计</a:t>
            </a:r>
            <a:r>
              <a:rPr lang="zh-CN" altLang="en-US" b="1" dirty="0">
                <a:latin typeface="黑体" panose="02010609060101010101" pitchFamily="49" charset="-122"/>
                <a:ea typeface="黑体" panose="02010609060101010101" pitchFamily="49" charset="-122"/>
              </a:rPr>
              <a:t>，若当前结点的划分不能带来决策树泛化性能提升，则停止划分并将当前结点记为叶结点，其</a:t>
            </a:r>
            <a:r>
              <a:rPr lang="zh-CN" altLang="en-US" b="1" dirty="0">
                <a:solidFill>
                  <a:srgbClr val="FF0000"/>
                </a:solidFill>
                <a:latin typeface="黑体" panose="02010609060101010101" pitchFamily="49" charset="-122"/>
                <a:ea typeface="黑体" panose="02010609060101010101" pitchFamily="49" charset="-122"/>
              </a:rPr>
              <a:t>类别标记为训练样例数最多的类别</a:t>
            </a:r>
            <a:endParaRPr lang="en-US" altLang="zh-CN" b="1" dirty="0">
              <a:solidFill>
                <a:srgbClr val="FF0000"/>
              </a:solidFill>
              <a:latin typeface="黑体" panose="02010609060101010101" pitchFamily="49" charset="-122"/>
              <a:ea typeface="黑体" panose="02010609060101010101" pitchFamily="49" charset="-122"/>
            </a:endParaRPr>
          </a:p>
          <a:p>
            <a:pPr marL="0" indent="0">
              <a:lnSpc>
                <a:spcPct val="150000"/>
              </a:lnSpc>
              <a:buNone/>
            </a:pPr>
            <a:endParaRPr lang="en-US" altLang="zh-CN" dirty="0"/>
          </a:p>
          <a:p>
            <a:pPr>
              <a:lnSpc>
                <a:spcPct val="150000"/>
              </a:lnSpc>
            </a:pPr>
            <a:r>
              <a:rPr lang="zh-CN" altLang="en-US" b="1" dirty="0">
                <a:latin typeface="黑体" panose="02010609060101010101" pitchFamily="49" charset="-122"/>
                <a:ea typeface="黑体" panose="02010609060101010101" pitchFamily="49" charset="-122"/>
              </a:rPr>
              <a:t>针对上述数据集，基于信息增益准则，选取属性“脐部”划分训练集。分别计算划分前（即直接将该结点作为叶结点）及划分后的验证集精度，判断是否需要划分。若划分后能提高验证集精度，则划分，对划分后的属性，执行同样判断；否则，不划分</a:t>
            </a:r>
            <a:endParaRPr lang="zh-CN" altLang="en-US" b="1" dirty="0">
              <a:latin typeface="黑体" panose="02010609060101010101" pitchFamily="49" charset="-122"/>
              <a:ea typeface="黑体" panose="02010609060101010101" pitchFamily="49" charset="-122"/>
            </a:endParaRPr>
          </a:p>
          <a:p>
            <a:pPr marL="0" indent="0">
              <a:lnSpc>
                <a:spcPct val="150000"/>
              </a:lnSpc>
              <a:buNone/>
            </a:pPr>
            <a:endParaRPr lang="en-US" altLang="zh-CN" dirty="0"/>
          </a:p>
          <a:p>
            <a:pPr>
              <a:lnSpc>
                <a:spcPct val="150000"/>
              </a:lnSpc>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预剪枝</a:t>
            </a:r>
            <a:endParaRPr lang="zh-CN" altLang="en-US" dirty="0">
              <a:latin typeface="黑体" panose="02010609060101010101" pitchFamily="49" charset="-122"/>
              <a:ea typeface="黑体" panose="02010609060101010101" pitchFamily="49" charset="-122"/>
            </a:endParaRPr>
          </a:p>
        </p:txBody>
      </p:sp>
      <p:pic>
        <p:nvPicPr>
          <p:cNvPr id="34" name="内容占位符 33"/>
          <p:cNvPicPr>
            <a:picLocks noGrp="1" noChangeAspect="1"/>
          </p:cNvPicPr>
          <p:nvPr>
            <p:ph idx="1"/>
          </p:nvPr>
        </p:nvPicPr>
        <p:blipFill>
          <a:blip r:embed="rId1"/>
          <a:stretch>
            <a:fillRect/>
          </a:stretch>
        </p:blipFill>
        <p:spPr>
          <a:xfrm>
            <a:off x="708772" y="868836"/>
            <a:ext cx="4487272" cy="1542196"/>
          </a:xfrm>
          <a:prstGeom prst="rect">
            <a:avLst/>
          </a:prstGeom>
        </p:spPr>
      </p:pic>
      <p:sp>
        <p:nvSpPr>
          <p:cNvPr id="13" name="圆角矩形 12"/>
          <p:cNvSpPr/>
          <p:nvPr/>
        </p:nvSpPr>
        <p:spPr>
          <a:xfrm>
            <a:off x="3465503" y="2950438"/>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14" name="椭圆 13"/>
          <p:cNvSpPr/>
          <p:nvPr/>
        </p:nvSpPr>
        <p:spPr>
          <a:xfrm>
            <a:off x="3310765" y="2784283"/>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18" name="文本框 17"/>
          <p:cNvSpPr txBox="1"/>
          <p:nvPr/>
        </p:nvSpPr>
        <p:spPr>
          <a:xfrm>
            <a:off x="5687371" y="2950438"/>
            <a:ext cx="136127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“脐部</a:t>
            </a:r>
            <a:r>
              <a:rPr lang="en-US" altLang="zh-CN" b="1" dirty="0">
                <a:solidFill>
                  <a:srgbClr val="FF0000"/>
                </a:solidFill>
                <a:latin typeface="Times "/>
                <a:ea typeface="楷体" panose="02010609060101010101" pitchFamily="49" charset="-122"/>
              </a:rPr>
              <a:t>=?</a:t>
            </a:r>
            <a:r>
              <a:rPr lang="zh-CN" altLang="en-US" b="1" dirty="0">
                <a:solidFill>
                  <a:srgbClr val="FF0000"/>
                </a:solidFill>
                <a:latin typeface="Times "/>
                <a:ea typeface="楷体" panose="02010609060101010101" pitchFamily="49" charset="-122"/>
              </a:rPr>
              <a:t>”</a:t>
            </a:r>
            <a:endParaRPr lang="zh-CN" altLang="en-US" b="1" dirty="0">
              <a:solidFill>
                <a:srgbClr val="FF0000"/>
              </a:solidFill>
              <a:latin typeface="Times "/>
              <a:ea typeface="楷体" panose="02010609060101010101" pitchFamily="49" charset="-122"/>
            </a:endParaRPr>
          </a:p>
        </p:txBody>
      </p:sp>
      <p:sp>
        <p:nvSpPr>
          <p:cNvPr id="19" name="文本框 19"/>
          <p:cNvSpPr txBox="1"/>
          <p:nvPr/>
        </p:nvSpPr>
        <p:spPr>
          <a:xfrm>
            <a:off x="7557252" y="2599292"/>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20" name="文本框 20"/>
          <p:cNvSpPr txBox="1"/>
          <p:nvPr/>
        </p:nvSpPr>
        <p:spPr>
          <a:xfrm>
            <a:off x="6891223" y="2934370"/>
            <a:ext cx="1685077"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划分前</a:t>
            </a:r>
            <a:r>
              <a:rPr lang="en-US" altLang="zh-CN" b="1" dirty="0">
                <a:solidFill>
                  <a:srgbClr val="FF0000"/>
                </a:solidFill>
                <a:latin typeface="Times "/>
                <a:ea typeface="楷体" panose="02010609060101010101" pitchFamily="49" charset="-122"/>
              </a:rPr>
              <a:t>: 42.9%</a:t>
            </a:r>
            <a:endParaRPr lang="en-US" altLang="zh-CN" b="1" dirty="0">
              <a:solidFill>
                <a:srgbClr val="FF0000"/>
              </a:solidFill>
              <a:latin typeface="Times "/>
              <a:ea typeface="楷体" panose="02010609060101010101" pitchFamily="49" charset="-122"/>
            </a:endParaRPr>
          </a:p>
        </p:txBody>
      </p:sp>
      <p:cxnSp>
        <p:nvCxnSpPr>
          <p:cNvPr id="22" name="直接箭头连接符 21"/>
          <p:cNvCxnSpPr/>
          <p:nvPr/>
        </p:nvCxnSpPr>
        <p:spPr>
          <a:xfrm flipH="1">
            <a:off x="4693982" y="3166438"/>
            <a:ext cx="1121812" cy="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381469" y="901270"/>
            <a:ext cx="3514611" cy="1477328"/>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结点</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：若不划分，则将其标记为叶结点，类别标记为训练样例中最多的类别，即好瓜。验证集中，        被分类正确，得到验证集精度为</a:t>
            </a:r>
            <a:r>
              <a:rPr lang="en-US" altLang="zh-CN" b="1" dirty="0">
                <a:latin typeface="黑体" panose="02010609060101010101" pitchFamily="49" charset="-122"/>
                <a:ea typeface="黑体" panose="02010609060101010101" pitchFamily="49" charset="-122"/>
              </a:rPr>
              <a:t>  </a:t>
            </a:r>
            <a:endParaRPr lang="zh-CN" altLang="en-US" b="1" dirty="0">
              <a:latin typeface="黑体" panose="02010609060101010101" pitchFamily="49" charset="-122"/>
              <a:ea typeface="黑体" panose="02010609060101010101" pitchFamily="49" charset="-122"/>
            </a:endParaRPr>
          </a:p>
        </p:txBody>
      </p:sp>
      <p:sp>
        <p:nvSpPr>
          <p:cNvPr id="11" name="左大括号 10"/>
          <p:cNvSpPr/>
          <p:nvPr/>
        </p:nvSpPr>
        <p:spPr>
          <a:xfrm>
            <a:off x="484997" y="1062091"/>
            <a:ext cx="203957" cy="1364899"/>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2" name="Rectangle 3"/>
          <p:cNvSpPr>
            <a:spLocks noChangeArrowheads="1"/>
          </p:cNvSpPr>
          <p:nvPr/>
        </p:nvSpPr>
        <p:spPr bwMode="auto">
          <a:xfrm>
            <a:off x="84052" y="1062091"/>
            <a:ext cx="335042" cy="1253978"/>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1600" b="1" dirty="0">
                <a:latin typeface="黑体" panose="02010609060101010101" pitchFamily="49" charset="-122"/>
                <a:ea typeface="黑体" panose="02010609060101010101" pitchFamily="49" charset="-122"/>
              </a:rPr>
              <a:t>验证集</a:t>
            </a:r>
            <a:endParaRPr lang="zh-CN" altLang="en-US" sz="1600" b="1" i="0" dirty="0">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5815013" y="1787525"/>
          <a:ext cx="788987" cy="279400"/>
        </p:xfrm>
        <a:graphic>
          <a:graphicData uri="http://schemas.openxmlformats.org/presentationml/2006/ole">
            <mc:AlternateContent xmlns:mc="http://schemas.openxmlformats.org/markup-compatibility/2006">
              <mc:Choice xmlns:v="urn:schemas-microsoft-com:vml" Requires="v">
                <p:oleObj spid="_x0000_s27941" name="Formula" r:id="rId2" imgW="3733800" imgH="1333500" progId="Equation.Ribbit">
                  <p:embed/>
                </p:oleObj>
              </mc:Choice>
              <mc:Fallback>
                <p:oleObj name="Formula" r:id="rId2" imgW="3733800" imgH="1333500" progId="Equation.Ribbit">
                  <p:embed/>
                  <p:pic>
                    <p:nvPicPr>
                      <p:cNvPr id="0" name="图片 27940"/>
                      <p:cNvPicPr/>
                      <p:nvPr/>
                    </p:nvPicPr>
                    <p:blipFill>
                      <a:blip r:embed="rId3"/>
                      <a:stretch>
                        <a:fillRect/>
                      </a:stretch>
                    </p:blipFill>
                    <p:spPr>
                      <a:xfrm>
                        <a:off x="5815013" y="1787525"/>
                        <a:ext cx="788987" cy="2794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6873861" y="2055813"/>
          <a:ext cx="1879600" cy="323850"/>
        </p:xfrm>
        <a:graphic>
          <a:graphicData uri="http://schemas.openxmlformats.org/presentationml/2006/ole">
            <mc:AlternateContent xmlns:mc="http://schemas.openxmlformats.org/markup-compatibility/2006">
              <mc:Choice xmlns:v="urn:schemas-microsoft-com:vml" Requires="v">
                <p:oleObj spid="_x0000_s4" name="Formula" r:id="rId4" imgW="8972550" imgH="1524000" progId="Equation.Ribbit">
                  <p:embed/>
                </p:oleObj>
              </mc:Choice>
              <mc:Fallback>
                <p:oleObj name="Formula" r:id="rId4" imgW="8972550" imgH="1524000" progId="Equation.Ribbit">
                  <p:embed/>
                  <p:pic>
                    <p:nvPicPr>
                      <p:cNvPr id="0" name="图片 3"/>
                      <p:cNvPicPr/>
                      <p:nvPr/>
                    </p:nvPicPr>
                    <p:blipFill>
                      <a:blip r:embed="rId5"/>
                      <a:stretch>
                        <a:fillRect/>
                      </a:stretch>
                    </p:blipFill>
                    <p:spPr>
                      <a:xfrm>
                        <a:off x="6873861" y="2055813"/>
                        <a:ext cx="1879600" cy="323850"/>
                      </a:xfrm>
                      <a:prstGeom prst="rect">
                        <a:avLst/>
                      </a:prstGeom>
                    </p:spPr>
                  </p:pic>
                </p:oleObj>
              </mc:Fallback>
            </mc:AlternateContent>
          </a:graphicData>
        </a:graphic>
      </p:graphicFrame>
      <p:pic>
        <p:nvPicPr>
          <p:cNvPr id="5" name="图片 4"/>
          <p:cNvPicPr>
            <a:picLocks noChangeAspect="1"/>
          </p:cNvPicPr>
          <p:nvPr/>
        </p:nvPicPr>
        <p:blipFill>
          <a:blip r:embed="rId6"/>
          <a:stretch>
            <a:fillRect/>
          </a:stretch>
        </p:blipFill>
        <p:spPr>
          <a:xfrm>
            <a:off x="601865" y="3619618"/>
            <a:ext cx="6710189" cy="239825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预剪枝</a:t>
            </a:r>
            <a:endParaRPr lang="zh-CN" altLang="en-US" dirty="0">
              <a:latin typeface="黑体" panose="02010609060101010101" pitchFamily="49" charset="-122"/>
              <a:ea typeface="黑体" panose="02010609060101010101" pitchFamily="49" charset="-122"/>
            </a:endParaRPr>
          </a:p>
        </p:txBody>
      </p:sp>
      <p:graphicFrame>
        <p:nvGraphicFramePr>
          <p:cNvPr id="24" name="内容占位符 23"/>
          <p:cNvGraphicFramePr>
            <a:graphicFrameLocks noGrp="1" noChangeAspect="1"/>
          </p:cNvGraphicFramePr>
          <p:nvPr>
            <p:ph idx="1"/>
          </p:nvPr>
        </p:nvGraphicFramePr>
        <p:xfrm>
          <a:off x="8105775" y="1257300"/>
          <a:ext cx="134938" cy="274638"/>
        </p:xfrm>
        <a:graphic>
          <a:graphicData uri="http://schemas.openxmlformats.org/presentationml/2006/ole">
            <mc:AlternateContent xmlns:mc="http://schemas.openxmlformats.org/markup-compatibility/2006">
              <mc:Choice xmlns:v="urn:schemas-microsoft-com:vml" Requires="v">
                <p:oleObj spid="_x0000_s27941" name="Formula" r:id="rId1" imgW="571500" imgH="1162050" progId="Equation.Ribbit">
                  <p:embed/>
                </p:oleObj>
              </mc:Choice>
              <mc:Fallback>
                <p:oleObj name="Formula" r:id="rId1" imgW="571500" imgH="1162050" progId="Equation.Ribbit">
                  <p:embed/>
                  <p:pic>
                    <p:nvPicPr>
                      <p:cNvPr id="0" name="图片 27940"/>
                      <p:cNvPicPr/>
                      <p:nvPr/>
                    </p:nvPicPr>
                    <p:blipFill>
                      <a:blip r:embed="rId2"/>
                      <a:stretch>
                        <a:fillRect/>
                      </a:stretch>
                    </p:blipFill>
                    <p:spPr>
                      <a:xfrm>
                        <a:off x="8105775" y="1257300"/>
                        <a:ext cx="134938" cy="274638"/>
                      </a:xfrm>
                      <a:prstGeom prst="rect">
                        <a:avLst/>
                      </a:prstGeom>
                    </p:spPr>
                  </p:pic>
                </p:oleObj>
              </mc:Fallback>
            </mc:AlternateContent>
          </a:graphicData>
        </a:graphic>
      </p:graphicFrame>
      <p:sp>
        <p:nvSpPr>
          <p:cNvPr id="4" name="椭圆 3"/>
          <p:cNvSpPr/>
          <p:nvPr/>
        </p:nvSpPr>
        <p:spPr>
          <a:xfrm>
            <a:off x="3459409" y="400825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5" name="椭圆 4"/>
          <p:cNvSpPr/>
          <p:nvPr/>
        </p:nvSpPr>
        <p:spPr>
          <a:xfrm>
            <a:off x="5642790" y="400825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6" name="椭圆 5"/>
          <p:cNvSpPr/>
          <p:nvPr/>
        </p:nvSpPr>
        <p:spPr>
          <a:xfrm>
            <a:off x="1531521" y="400825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7" name="直接连接符 6"/>
          <p:cNvCxnSpPr>
            <a:endCxn id="6" idx="0"/>
          </p:cNvCxnSpPr>
          <p:nvPr/>
        </p:nvCxnSpPr>
        <p:spPr>
          <a:xfrm flipH="1">
            <a:off x="2071521" y="3194128"/>
            <a:ext cx="1955683" cy="814131"/>
          </a:xfrm>
          <a:prstGeom prst="line">
            <a:avLst/>
          </a:prstGeom>
          <a:ln w="19050"/>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3971487" y="350401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cxnSp>
        <p:nvCxnSpPr>
          <p:cNvPr id="9" name="直接连接符 8"/>
          <p:cNvCxnSpPr>
            <a:endCxn id="5" idx="0"/>
          </p:cNvCxnSpPr>
          <p:nvPr/>
        </p:nvCxnSpPr>
        <p:spPr>
          <a:xfrm>
            <a:off x="4022100" y="3194128"/>
            <a:ext cx="2160690" cy="814131"/>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4022100" y="3384788"/>
            <a:ext cx="0" cy="607721"/>
          </a:xfrm>
          <a:prstGeom prst="line">
            <a:avLst/>
          </a:prstGeom>
          <a:ln w="19050"/>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5596235" y="350401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12" name="文本框 11"/>
          <p:cNvSpPr txBox="1"/>
          <p:nvPr/>
        </p:nvSpPr>
        <p:spPr>
          <a:xfrm>
            <a:off x="2008131" y="350401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13" name="圆角矩形 12"/>
          <p:cNvSpPr/>
          <p:nvPr/>
        </p:nvSpPr>
        <p:spPr>
          <a:xfrm>
            <a:off x="3465503" y="2950438"/>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14" name="椭圆 13"/>
          <p:cNvSpPr/>
          <p:nvPr/>
        </p:nvSpPr>
        <p:spPr>
          <a:xfrm>
            <a:off x="3310765" y="2784283"/>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15" name="椭圆 14"/>
          <p:cNvSpPr/>
          <p:nvPr/>
        </p:nvSpPr>
        <p:spPr>
          <a:xfrm>
            <a:off x="1430541" y="386425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16" name="椭圆 15"/>
          <p:cNvSpPr/>
          <p:nvPr/>
        </p:nvSpPr>
        <p:spPr>
          <a:xfrm>
            <a:off x="3342390" y="384850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17" name="椭圆 16"/>
          <p:cNvSpPr/>
          <p:nvPr/>
        </p:nvSpPr>
        <p:spPr>
          <a:xfrm>
            <a:off x="5459469" y="387933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18" name="文本框 17"/>
          <p:cNvSpPr txBox="1"/>
          <p:nvPr/>
        </p:nvSpPr>
        <p:spPr>
          <a:xfrm>
            <a:off x="5687371" y="2950438"/>
            <a:ext cx="136127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“脐部</a:t>
            </a:r>
            <a:r>
              <a:rPr lang="en-US" altLang="zh-CN" b="1" dirty="0">
                <a:solidFill>
                  <a:srgbClr val="FF0000"/>
                </a:solidFill>
                <a:latin typeface="Times "/>
                <a:ea typeface="楷体" panose="02010609060101010101" pitchFamily="49" charset="-122"/>
              </a:rPr>
              <a:t>=?</a:t>
            </a:r>
            <a:r>
              <a:rPr lang="zh-CN" altLang="en-US" b="1" dirty="0">
                <a:solidFill>
                  <a:srgbClr val="FF0000"/>
                </a:solidFill>
                <a:latin typeface="Times "/>
                <a:ea typeface="楷体" panose="02010609060101010101" pitchFamily="49" charset="-122"/>
              </a:rPr>
              <a:t>”</a:t>
            </a:r>
            <a:endParaRPr lang="zh-CN" altLang="en-US" b="1" dirty="0">
              <a:solidFill>
                <a:srgbClr val="FF0000"/>
              </a:solidFill>
              <a:latin typeface="Times "/>
              <a:ea typeface="楷体" panose="02010609060101010101" pitchFamily="49" charset="-122"/>
            </a:endParaRPr>
          </a:p>
        </p:txBody>
      </p:sp>
      <p:sp>
        <p:nvSpPr>
          <p:cNvPr id="19" name="文本框 19"/>
          <p:cNvSpPr txBox="1"/>
          <p:nvPr/>
        </p:nvSpPr>
        <p:spPr>
          <a:xfrm>
            <a:off x="7557252" y="2599292"/>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20" name="文本框 20"/>
          <p:cNvSpPr txBox="1"/>
          <p:nvPr/>
        </p:nvSpPr>
        <p:spPr>
          <a:xfrm>
            <a:off x="6891223" y="2934370"/>
            <a:ext cx="1685077" cy="646331"/>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划分前</a:t>
            </a:r>
            <a:r>
              <a:rPr lang="en-US" altLang="zh-CN" b="1" dirty="0">
                <a:solidFill>
                  <a:srgbClr val="FF0000"/>
                </a:solidFill>
                <a:latin typeface="Times "/>
                <a:ea typeface="楷体" panose="02010609060101010101" pitchFamily="49" charset="-122"/>
              </a:rPr>
              <a:t>: 42.9%</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划分后</a:t>
            </a:r>
            <a:r>
              <a:rPr lang="en-US" altLang="zh-CN" b="1" dirty="0">
                <a:solidFill>
                  <a:srgbClr val="FF0000"/>
                </a:solidFill>
                <a:latin typeface="Times "/>
                <a:ea typeface="楷体" panose="02010609060101010101" pitchFamily="49" charset="-122"/>
              </a:rPr>
              <a:t>: 71.4%</a:t>
            </a:r>
            <a:endParaRPr lang="zh-CN" altLang="en-US" b="1" dirty="0">
              <a:solidFill>
                <a:srgbClr val="FF0000"/>
              </a:solidFill>
              <a:latin typeface="Times "/>
              <a:ea typeface="楷体" panose="02010609060101010101" pitchFamily="49" charset="-122"/>
            </a:endParaRPr>
          </a:p>
        </p:txBody>
      </p:sp>
      <p:sp>
        <p:nvSpPr>
          <p:cNvPr id="21" name="文本框 21"/>
          <p:cNvSpPr txBox="1"/>
          <p:nvPr/>
        </p:nvSpPr>
        <p:spPr>
          <a:xfrm>
            <a:off x="6445274" y="3479595"/>
            <a:ext cx="1946367"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预剪枝决策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划分</a:t>
            </a:r>
            <a:endParaRPr lang="zh-CN" altLang="en-US" b="1" dirty="0">
              <a:solidFill>
                <a:srgbClr val="FF0000"/>
              </a:solidFill>
              <a:latin typeface="Times "/>
              <a:ea typeface="楷体" panose="02010609060101010101" pitchFamily="49" charset="-122"/>
            </a:endParaRPr>
          </a:p>
        </p:txBody>
      </p:sp>
      <p:cxnSp>
        <p:nvCxnSpPr>
          <p:cNvPr id="22" name="直接箭头连接符 21"/>
          <p:cNvCxnSpPr/>
          <p:nvPr/>
        </p:nvCxnSpPr>
        <p:spPr>
          <a:xfrm flipH="1">
            <a:off x="4693982" y="3166438"/>
            <a:ext cx="1121812" cy="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381469" y="901270"/>
            <a:ext cx="3702570" cy="2031325"/>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结点</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：若划分，根据结点   ，</a:t>
            </a: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的训练样例，将这</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个结点分别标记为“好瓜”、“好瓜”、“坏瓜”。此时，验证集中编号为 </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              的样例被划分正确，验证集精度为</a:t>
            </a:r>
            <a:endParaRPr lang="en-US" altLang="zh-CN" b="1" dirty="0">
              <a:latin typeface="黑体" panose="02010609060101010101" pitchFamily="49" charset="-122"/>
              <a:ea typeface="黑体" panose="02010609060101010101" pitchFamily="49" charset="-122"/>
            </a:endParaRPr>
          </a:p>
          <a:p>
            <a:endParaRPr lang="zh-CN" altLang="en-US" dirty="0"/>
          </a:p>
        </p:txBody>
      </p:sp>
      <p:graphicFrame>
        <p:nvGraphicFramePr>
          <p:cNvPr id="3" name="对象 2"/>
          <p:cNvGraphicFramePr>
            <a:graphicFrameLocks noChangeAspect="1"/>
          </p:cNvGraphicFramePr>
          <p:nvPr/>
        </p:nvGraphicFramePr>
        <p:xfrm>
          <a:off x="8186738" y="963613"/>
          <a:ext cx="233362" cy="271462"/>
        </p:xfrm>
        <a:graphic>
          <a:graphicData uri="http://schemas.openxmlformats.org/presentationml/2006/ole">
            <mc:AlternateContent xmlns:mc="http://schemas.openxmlformats.org/markup-compatibility/2006">
              <mc:Choice xmlns:v="urn:schemas-microsoft-com:vml" Requires="v">
                <p:oleObj spid="_x0000_s23" name="Formula" r:id="rId3" imgW="1104900" imgH="1295400" progId="Equation.Ribbit">
                  <p:embed/>
                </p:oleObj>
              </mc:Choice>
              <mc:Fallback>
                <p:oleObj name="Formula" r:id="rId3" imgW="1104900" imgH="1295400" progId="Equation.Ribbit">
                  <p:embed/>
                  <p:pic>
                    <p:nvPicPr>
                      <p:cNvPr id="0" name="图片 22"/>
                      <p:cNvPicPr/>
                      <p:nvPr/>
                    </p:nvPicPr>
                    <p:blipFill>
                      <a:blip r:embed="rId4"/>
                      <a:stretch>
                        <a:fillRect/>
                      </a:stretch>
                    </p:blipFill>
                    <p:spPr>
                      <a:xfrm>
                        <a:off x="8186738" y="963613"/>
                        <a:ext cx="233362" cy="271462"/>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5486400" y="1238250"/>
          <a:ext cx="233363" cy="271463"/>
        </p:xfrm>
        <a:graphic>
          <a:graphicData uri="http://schemas.openxmlformats.org/presentationml/2006/ole">
            <mc:AlternateContent xmlns:mc="http://schemas.openxmlformats.org/markup-compatibility/2006">
              <mc:Choice xmlns:v="urn:schemas-microsoft-com:vml" Requires="v">
                <p:oleObj spid="_x0000_s25" name="Formula" r:id="rId5" imgW="1104900" imgH="1295400" progId="Equation.Ribbit">
                  <p:embed/>
                </p:oleObj>
              </mc:Choice>
              <mc:Fallback>
                <p:oleObj name="Formula" r:id="rId5" imgW="1104900" imgH="1295400" progId="Equation.Ribbit">
                  <p:embed/>
                  <p:pic>
                    <p:nvPicPr>
                      <p:cNvPr id="0" name="图片 24"/>
                      <p:cNvPicPr/>
                      <p:nvPr/>
                    </p:nvPicPr>
                    <p:blipFill>
                      <a:blip r:embed="rId6"/>
                      <a:stretch>
                        <a:fillRect/>
                      </a:stretch>
                    </p:blipFill>
                    <p:spPr>
                      <a:xfrm>
                        <a:off x="5486400" y="1238250"/>
                        <a:ext cx="233363" cy="271463"/>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5896171" y="1223481"/>
          <a:ext cx="231775" cy="271462"/>
        </p:xfrm>
        <a:graphic>
          <a:graphicData uri="http://schemas.openxmlformats.org/presentationml/2006/ole">
            <mc:AlternateContent xmlns:mc="http://schemas.openxmlformats.org/markup-compatibility/2006">
              <mc:Choice xmlns:v="urn:schemas-microsoft-com:vml" Requires="v">
                <p:oleObj spid="_x0000_s26" name="Formula" r:id="rId7" imgW="1104900" imgH="1295400" progId="Equation.Ribbit">
                  <p:embed/>
                </p:oleObj>
              </mc:Choice>
              <mc:Fallback>
                <p:oleObj name="Formula" r:id="rId7" imgW="1104900" imgH="1295400" progId="Equation.Ribbit">
                  <p:embed/>
                  <p:pic>
                    <p:nvPicPr>
                      <p:cNvPr id="0" name="图片 25"/>
                      <p:cNvPicPr/>
                      <p:nvPr/>
                    </p:nvPicPr>
                    <p:blipFill>
                      <a:blip r:embed="rId8"/>
                      <a:stretch>
                        <a:fillRect/>
                      </a:stretch>
                    </p:blipFill>
                    <p:spPr>
                      <a:xfrm>
                        <a:off x="5896171" y="1223481"/>
                        <a:ext cx="231775" cy="271462"/>
                      </a:xfrm>
                      <a:prstGeom prst="rect">
                        <a:avLst/>
                      </a:prstGeom>
                    </p:spPr>
                  </p:pic>
                </p:oleObj>
              </mc:Fallback>
            </mc:AlternateContent>
          </a:graphicData>
        </a:graphic>
      </p:graphicFrame>
      <p:pic>
        <p:nvPicPr>
          <p:cNvPr id="28" name="内容占位符 33"/>
          <p:cNvPicPr>
            <a:picLocks noChangeAspect="1"/>
          </p:cNvPicPr>
          <p:nvPr/>
        </p:nvPicPr>
        <p:blipFill>
          <a:blip r:embed="rId9"/>
          <a:stretch>
            <a:fillRect/>
          </a:stretch>
        </p:blipFill>
        <p:spPr>
          <a:xfrm>
            <a:off x="708772" y="868836"/>
            <a:ext cx="4487272" cy="1542196"/>
          </a:xfrm>
          <a:prstGeom prst="rect">
            <a:avLst/>
          </a:prstGeom>
        </p:spPr>
      </p:pic>
      <p:sp>
        <p:nvSpPr>
          <p:cNvPr id="29" name="左大括号 28"/>
          <p:cNvSpPr/>
          <p:nvPr/>
        </p:nvSpPr>
        <p:spPr>
          <a:xfrm>
            <a:off x="523346" y="1062091"/>
            <a:ext cx="156523" cy="136489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Rectangle 3"/>
          <p:cNvSpPr>
            <a:spLocks noChangeArrowheads="1"/>
          </p:cNvSpPr>
          <p:nvPr/>
        </p:nvSpPr>
        <p:spPr bwMode="auto">
          <a:xfrm>
            <a:off x="84052" y="1062091"/>
            <a:ext cx="335042" cy="1253978"/>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1600" b="1" dirty="0">
                <a:latin typeface="黑体" panose="02010609060101010101" pitchFamily="49" charset="-122"/>
                <a:ea typeface="黑体" panose="02010609060101010101" pitchFamily="49" charset="-122"/>
              </a:rPr>
              <a:t>验证集</a:t>
            </a:r>
            <a:endParaRPr lang="zh-CN" altLang="en-US" sz="1600" b="1" i="0" dirty="0">
              <a:latin typeface="黑体" panose="02010609060101010101" pitchFamily="49" charset="-122"/>
              <a:ea typeface="黑体" panose="02010609060101010101" pitchFamily="49" charset="-122"/>
            </a:endParaRPr>
          </a:p>
        </p:txBody>
      </p:sp>
      <p:graphicFrame>
        <p:nvGraphicFramePr>
          <p:cNvPr id="27" name="对象 26"/>
          <p:cNvGraphicFramePr>
            <a:graphicFrameLocks noChangeAspect="1"/>
          </p:cNvGraphicFramePr>
          <p:nvPr/>
        </p:nvGraphicFramePr>
        <p:xfrm>
          <a:off x="5491163" y="2070100"/>
          <a:ext cx="1497012" cy="287338"/>
        </p:xfrm>
        <a:graphic>
          <a:graphicData uri="http://schemas.openxmlformats.org/presentationml/2006/ole">
            <mc:AlternateContent xmlns:mc="http://schemas.openxmlformats.org/markup-compatibility/2006">
              <mc:Choice xmlns:v="urn:schemas-microsoft-com:vml" Requires="v">
                <p:oleObj spid="_x0000_s31" name="Formula" r:id="rId10" imgW="6962775" imgH="1333500" progId="Equation.Ribbit">
                  <p:embed/>
                </p:oleObj>
              </mc:Choice>
              <mc:Fallback>
                <p:oleObj name="Formula" r:id="rId10" imgW="6962775" imgH="1333500" progId="Equation.Ribbit">
                  <p:embed/>
                  <p:pic>
                    <p:nvPicPr>
                      <p:cNvPr id="0" name="图片 30"/>
                      <p:cNvPicPr/>
                      <p:nvPr/>
                    </p:nvPicPr>
                    <p:blipFill>
                      <a:blip r:embed="rId11"/>
                      <a:stretch>
                        <a:fillRect/>
                      </a:stretch>
                    </p:blipFill>
                    <p:spPr>
                      <a:xfrm>
                        <a:off x="5491163" y="2070100"/>
                        <a:ext cx="1497012" cy="287338"/>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6902450" y="2332038"/>
          <a:ext cx="1879600" cy="323850"/>
        </p:xfrm>
        <a:graphic>
          <a:graphicData uri="http://schemas.openxmlformats.org/presentationml/2006/ole">
            <mc:AlternateContent xmlns:mc="http://schemas.openxmlformats.org/markup-compatibility/2006">
              <mc:Choice xmlns:v="urn:schemas-microsoft-com:vml" Requires="v">
                <p:oleObj spid="_x0000_s33" name="Formula" r:id="rId12" imgW="8972550" imgH="1524000" progId="Equation.Ribbit">
                  <p:embed/>
                </p:oleObj>
              </mc:Choice>
              <mc:Fallback>
                <p:oleObj name="Formula" r:id="rId12" imgW="8972550" imgH="1524000" progId="Equation.Ribbit">
                  <p:embed/>
                  <p:pic>
                    <p:nvPicPr>
                      <p:cNvPr id="0" name="图片 32"/>
                      <p:cNvPicPr/>
                      <p:nvPr/>
                    </p:nvPicPr>
                    <p:blipFill>
                      <a:blip r:embed="rId13"/>
                      <a:stretch>
                        <a:fillRect/>
                      </a:stretch>
                    </p:blipFill>
                    <p:spPr>
                      <a:xfrm>
                        <a:off x="6902450" y="2332038"/>
                        <a:ext cx="1879600" cy="32385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11" grpId="0"/>
      <p:bldP spid="12" grpId="0"/>
      <p:bldP spid="15" grpId="0" animBg="1"/>
      <p:bldP spid="16" grpId="0" animBg="1"/>
      <p:bldP spid="1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预剪枝</a:t>
            </a:r>
            <a:endParaRPr lang="zh-CN" altLang="en-US" dirty="0">
              <a:latin typeface="黑体" panose="02010609060101010101" pitchFamily="49" charset="-122"/>
              <a:ea typeface="黑体" panose="02010609060101010101" pitchFamily="49" charset="-122"/>
            </a:endParaRPr>
          </a:p>
        </p:txBody>
      </p:sp>
      <p:sp>
        <p:nvSpPr>
          <p:cNvPr id="4" name="椭圆 3"/>
          <p:cNvSpPr/>
          <p:nvPr/>
        </p:nvSpPr>
        <p:spPr>
          <a:xfrm>
            <a:off x="3459409" y="400825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5" name="椭圆 4"/>
          <p:cNvSpPr/>
          <p:nvPr/>
        </p:nvSpPr>
        <p:spPr>
          <a:xfrm>
            <a:off x="5642790" y="400825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6" name="椭圆 5"/>
          <p:cNvSpPr/>
          <p:nvPr/>
        </p:nvSpPr>
        <p:spPr>
          <a:xfrm>
            <a:off x="1531521" y="400825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cxnSp>
        <p:nvCxnSpPr>
          <p:cNvPr id="7" name="直接连接符 6"/>
          <p:cNvCxnSpPr>
            <a:endCxn id="6" idx="0"/>
          </p:cNvCxnSpPr>
          <p:nvPr/>
        </p:nvCxnSpPr>
        <p:spPr>
          <a:xfrm flipH="1">
            <a:off x="2071521" y="3194128"/>
            <a:ext cx="1955683" cy="814131"/>
          </a:xfrm>
          <a:prstGeom prst="line">
            <a:avLst/>
          </a:prstGeom>
          <a:ln w="19050"/>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3971487" y="350401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cxnSp>
        <p:nvCxnSpPr>
          <p:cNvPr id="9" name="直接连接符 8"/>
          <p:cNvCxnSpPr>
            <a:endCxn id="5" idx="0"/>
          </p:cNvCxnSpPr>
          <p:nvPr/>
        </p:nvCxnSpPr>
        <p:spPr>
          <a:xfrm>
            <a:off x="4022100" y="3194128"/>
            <a:ext cx="2160690" cy="814131"/>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4022100" y="3384788"/>
            <a:ext cx="0" cy="607721"/>
          </a:xfrm>
          <a:prstGeom prst="line">
            <a:avLst/>
          </a:prstGeom>
          <a:ln w="19050"/>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5596235" y="350401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12" name="文本框 11"/>
          <p:cNvSpPr txBox="1"/>
          <p:nvPr/>
        </p:nvSpPr>
        <p:spPr>
          <a:xfrm>
            <a:off x="2008131" y="3504018"/>
            <a:ext cx="646331"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13" name="圆角矩形 12"/>
          <p:cNvSpPr/>
          <p:nvPr/>
        </p:nvSpPr>
        <p:spPr>
          <a:xfrm>
            <a:off x="3465503" y="2950438"/>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r>
              <a:rPr lang="en-US" altLang="zh-CN" sz="2200" b="1" dirty="0">
                <a:latin typeface="Times" panose="02020603060405020304" pitchFamily="18" charset="0"/>
              </a:rPr>
              <a:t>=?</a:t>
            </a:r>
            <a:endParaRPr lang="zh-CN" altLang="en-US" sz="2200" b="1" dirty="0">
              <a:latin typeface="Times" panose="02020603060405020304" pitchFamily="18" charset="0"/>
            </a:endParaRPr>
          </a:p>
        </p:txBody>
      </p:sp>
      <p:sp>
        <p:nvSpPr>
          <p:cNvPr id="14" name="椭圆 13"/>
          <p:cNvSpPr/>
          <p:nvPr/>
        </p:nvSpPr>
        <p:spPr>
          <a:xfrm>
            <a:off x="3310765" y="2784283"/>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15" name="椭圆 14"/>
          <p:cNvSpPr/>
          <p:nvPr/>
        </p:nvSpPr>
        <p:spPr>
          <a:xfrm>
            <a:off x="1430541" y="386425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16" name="椭圆 15"/>
          <p:cNvSpPr/>
          <p:nvPr/>
        </p:nvSpPr>
        <p:spPr>
          <a:xfrm>
            <a:off x="3342390" y="384850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17" name="椭圆 16"/>
          <p:cNvSpPr/>
          <p:nvPr/>
        </p:nvSpPr>
        <p:spPr>
          <a:xfrm>
            <a:off x="5459469" y="387933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18" name="文本框 17"/>
          <p:cNvSpPr txBox="1"/>
          <p:nvPr/>
        </p:nvSpPr>
        <p:spPr>
          <a:xfrm>
            <a:off x="5687371" y="2950438"/>
            <a:ext cx="136127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“脐部</a:t>
            </a:r>
            <a:r>
              <a:rPr lang="en-US" altLang="zh-CN" b="1" dirty="0">
                <a:solidFill>
                  <a:srgbClr val="FF0000"/>
                </a:solidFill>
                <a:latin typeface="Times "/>
                <a:ea typeface="楷体" panose="02010609060101010101" pitchFamily="49" charset="-122"/>
              </a:rPr>
              <a:t>=?</a:t>
            </a:r>
            <a:r>
              <a:rPr lang="zh-CN" altLang="en-US" b="1" dirty="0">
                <a:solidFill>
                  <a:srgbClr val="FF0000"/>
                </a:solidFill>
                <a:latin typeface="Times "/>
                <a:ea typeface="楷体" panose="02010609060101010101" pitchFamily="49" charset="-122"/>
              </a:rPr>
              <a:t>”</a:t>
            </a:r>
            <a:endParaRPr lang="zh-CN" altLang="en-US" b="1" dirty="0">
              <a:solidFill>
                <a:srgbClr val="FF0000"/>
              </a:solidFill>
              <a:latin typeface="Times "/>
              <a:ea typeface="楷体" panose="02010609060101010101" pitchFamily="49" charset="-122"/>
            </a:endParaRPr>
          </a:p>
        </p:txBody>
      </p:sp>
      <p:sp>
        <p:nvSpPr>
          <p:cNvPr id="19" name="文本框 19"/>
          <p:cNvSpPr txBox="1"/>
          <p:nvPr/>
        </p:nvSpPr>
        <p:spPr>
          <a:xfrm>
            <a:off x="7557252" y="2599292"/>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20" name="文本框 20"/>
          <p:cNvSpPr txBox="1"/>
          <p:nvPr/>
        </p:nvSpPr>
        <p:spPr>
          <a:xfrm>
            <a:off x="6891223" y="2934370"/>
            <a:ext cx="1685077" cy="646331"/>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划分前</a:t>
            </a:r>
            <a:r>
              <a:rPr lang="en-US" altLang="zh-CN" b="1" dirty="0">
                <a:solidFill>
                  <a:srgbClr val="FF0000"/>
                </a:solidFill>
                <a:latin typeface="Times "/>
                <a:ea typeface="楷体" panose="02010609060101010101" pitchFamily="49" charset="-122"/>
              </a:rPr>
              <a:t>: 42.9%</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划分后</a:t>
            </a:r>
            <a:r>
              <a:rPr lang="en-US" altLang="zh-CN" b="1" dirty="0">
                <a:solidFill>
                  <a:srgbClr val="FF0000"/>
                </a:solidFill>
                <a:latin typeface="Times "/>
                <a:ea typeface="楷体" panose="02010609060101010101" pitchFamily="49" charset="-122"/>
              </a:rPr>
              <a:t>: 71.4%</a:t>
            </a:r>
            <a:endParaRPr lang="zh-CN" altLang="en-US" b="1" dirty="0">
              <a:solidFill>
                <a:srgbClr val="FF0000"/>
              </a:solidFill>
              <a:latin typeface="Times "/>
              <a:ea typeface="楷体" panose="02010609060101010101" pitchFamily="49" charset="-122"/>
            </a:endParaRPr>
          </a:p>
        </p:txBody>
      </p:sp>
      <p:sp>
        <p:nvSpPr>
          <p:cNvPr id="21" name="文本框 21"/>
          <p:cNvSpPr txBox="1"/>
          <p:nvPr/>
        </p:nvSpPr>
        <p:spPr>
          <a:xfrm>
            <a:off x="6445274" y="3479595"/>
            <a:ext cx="1946367"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预剪枝决策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划分</a:t>
            </a:r>
            <a:endParaRPr lang="zh-CN" altLang="en-US" b="1" dirty="0">
              <a:solidFill>
                <a:srgbClr val="FF0000"/>
              </a:solidFill>
              <a:latin typeface="Times "/>
              <a:ea typeface="楷体" panose="02010609060101010101" pitchFamily="49" charset="-122"/>
            </a:endParaRPr>
          </a:p>
        </p:txBody>
      </p:sp>
      <p:cxnSp>
        <p:nvCxnSpPr>
          <p:cNvPr id="22" name="直接箭头连接符 21"/>
          <p:cNvCxnSpPr/>
          <p:nvPr/>
        </p:nvCxnSpPr>
        <p:spPr>
          <a:xfrm flipH="1">
            <a:off x="4693982" y="3166438"/>
            <a:ext cx="1121812" cy="0"/>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903527" y="4708113"/>
            <a:ext cx="136127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“色泽</a:t>
            </a:r>
            <a:r>
              <a:rPr lang="en-US" altLang="zh-CN" b="1" dirty="0">
                <a:solidFill>
                  <a:srgbClr val="FF0000"/>
                </a:solidFill>
                <a:latin typeface="Times "/>
                <a:ea typeface="楷体" panose="02010609060101010101" pitchFamily="49" charset="-122"/>
              </a:rPr>
              <a:t>=?</a:t>
            </a:r>
            <a:r>
              <a:rPr lang="zh-CN" altLang="en-US" b="1" dirty="0">
                <a:solidFill>
                  <a:srgbClr val="FF0000"/>
                </a:solidFill>
                <a:latin typeface="Times "/>
                <a:ea typeface="楷体" panose="02010609060101010101" pitchFamily="49" charset="-122"/>
              </a:rPr>
              <a:t>”</a:t>
            </a:r>
            <a:endParaRPr lang="zh-CN" altLang="en-US" b="1" dirty="0">
              <a:solidFill>
                <a:srgbClr val="FF0000"/>
              </a:solidFill>
              <a:latin typeface="Times "/>
              <a:ea typeface="楷体" panose="02010609060101010101" pitchFamily="49" charset="-122"/>
            </a:endParaRPr>
          </a:p>
        </p:txBody>
      </p:sp>
      <p:sp>
        <p:nvSpPr>
          <p:cNvPr id="24" name="文本框 23"/>
          <p:cNvSpPr txBox="1"/>
          <p:nvPr/>
        </p:nvSpPr>
        <p:spPr>
          <a:xfrm>
            <a:off x="2577028" y="4843012"/>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25" name="文本框 24"/>
          <p:cNvSpPr txBox="1"/>
          <p:nvPr/>
        </p:nvSpPr>
        <p:spPr>
          <a:xfrm>
            <a:off x="1924446" y="5178090"/>
            <a:ext cx="1685077" cy="646331"/>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划分前</a:t>
            </a:r>
            <a:r>
              <a:rPr lang="en-US" altLang="zh-CN" b="1" dirty="0">
                <a:solidFill>
                  <a:srgbClr val="FF0000"/>
                </a:solidFill>
                <a:latin typeface="Times "/>
                <a:ea typeface="楷体" panose="02010609060101010101" pitchFamily="49" charset="-122"/>
              </a:rPr>
              <a:t>: 71.4%</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划分后</a:t>
            </a:r>
            <a:r>
              <a:rPr lang="en-US" altLang="zh-CN" b="1" dirty="0">
                <a:solidFill>
                  <a:srgbClr val="FF0000"/>
                </a:solidFill>
                <a:latin typeface="Times "/>
                <a:ea typeface="楷体" panose="02010609060101010101" pitchFamily="49" charset="-122"/>
              </a:rPr>
              <a:t>: 57.1%</a:t>
            </a:r>
            <a:endParaRPr lang="zh-CN" altLang="en-US" b="1" dirty="0">
              <a:solidFill>
                <a:srgbClr val="FF0000"/>
              </a:solidFill>
              <a:latin typeface="Times "/>
              <a:ea typeface="楷体" panose="02010609060101010101" pitchFamily="49" charset="-122"/>
            </a:endParaRPr>
          </a:p>
        </p:txBody>
      </p:sp>
      <p:sp>
        <p:nvSpPr>
          <p:cNvPr id="26" name="文本框 25"/>
          <p:cNvSpPr txBox="1"/>
          <p:nvPr/>
        </p:nvSpPr>
        <p:spPr>
          <a:xfrm>
            <a:off x="1478497" y="5750209"/>
            <a:ext cx="249299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预剪枝决策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禁止划分</a:t>
            </a:r>
            <a:endParaRPr lang="zh-CN" altLang="en-US" b="1" dirty="0">
              <a:solidFill>
                <a:srgbClr val="FF0000"/>
              </a:solidFill>
              <a:latin typeface="Times "/>
              <a:ea typeface="楷体" panose="02010609060101010101" pitchFamily="49" charset="-122"/>
            </a:endParaRPr>
          </a:p>
        </p:txBody>
      </p:sp>
      <p:cxnSp>
        <p:nvCxnSpPr>
          <p:cNvPr id="27" name="直接箭头连接符 26"/>
          <p:cNvCxnSpPr/>
          <p:nvPr/>
        </p:nvCxnSpPr>
        <p:spPr>
          <a:xfrm flipV="1">
            <a:off x="1924446" y="4525012"/>
            <a:ext cx="0" cy="492813"/>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28" name="文本框 34"/>
          <p:cNvSpPr txBox="1"/>
          <p:nvPr/>
        </p:nvSpPr>
        <p:spPr>
          <a:xfrm>
            <a:off x="4513567" y="5156420"/>
            <a:ext cx="136127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“根蒂</a:t>
            </a:r>
            <a:r>
              <a:rPr lang="en-US" altLang="zh-CN" b="1" dirty="0">
                <a:solidFill>
                  <a:srgbClr val="FF0000"/>
                </a:solidFill>
                <a:latin typeface="Times "/>
                <a:ea typeface="楷体" panose="02010609060101010101" pitchFamily="49" charset="-122"/>
              </a:rPr>
              <a:t>=?</a:t>
            </a:r>
            <a:r>
              <a:rPr lang="zh-CN" altLang="en-US" b="1" dirty="0">
                <a:solidFill>
                  <a:srgbClr val="FF0000"/>
                </a:solidFill>
                <a:latin typeface="Times "/>
                <a:ea typeface="楷体" panose="02010609060101010101" pitchFamily="49" charset="-122"/>
              </a:rPr>
              <a:t>”</a:t>
            </a:r>
            <a:endParaRPr lang="zh-CN" altLang="en-US" b="1" dirty="0">
              <a:solidFill>
                <a:srgbClr val="FF0000"/>
              </a:solidFill>
              <a:latin typeface="Times "/>
              <a:ea typeface="楷体" panose="02010609060101010101" pitchFamily="49" charset="-122"/>
            </a:endParaRPr>
          </a:p>
        </p:txBody>
      </p:sp>
      <p:sp>
        <p:nvSpPr>
          <p:cNvPr id="29" name="文本框 35"/>
          <p:cNvSpPr txBox="1"/>
          <p:nvPr/>
        </p:nvSpPr>
        <p:spPr>
          <a:xfrm>
            <a:off x="6374707" y="4843012"/>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30" name="文本框 36"/>
          <p:cNvSpPr txBox="1"/>
          <p:nvPr/>
        </p:nvSpPr>
        <p:spPr>
          <a:xfrm>
            <a:off x="5722125" y="5178090"/>
            <a:ext cx="1685077" cy="646331"/>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划分前</a:t>
            </a:r>
            <a:r>
              <a:rPr lang="en-US" altLang="zh-CN" b="1" dirty="0">
                <a:solidFill>
                  <a:srgbClr val="FF0000"/>
                </a:solidFill>
                <a:latin typeface="Times "/>
                <a:ea typeface="楷体" panose="02010609060101010101" pitchFamily="49" charset="-122"/>
              </a:rPr>
              <a:t>: 71.4%</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划分后</a:t>
            </a:r>
            <a:r>
              <a:rPr lang="en-US" altLang="zh-CN" b="1" dirty="0">
                <a:solidFill>
                  <a:srgbClr val="FF0000"/>
                </a:solidFill>
                <a:latin typeface="Times "/>
                <a:ea typeface="楷体" panose="02010609060101010101" pitchFamily="49" charset="-122"/>
              </a:rPr>
              <a:t>: 71.4%</a:t>
            </a:r>
            <a:endParaRPr lang="zh-CN" altLang="en-US" b="1" dirty="0">
              <a:solidFill>
                <a:srgbClr val="FF0000"/>
              </a:solidFill>
              <a:latin typeface="Times "/>
              <a:ea typeface="楷体" panose="02010609060101010101" pitchFamily="49" charset="-122"/>
            </a:endParaRPr>
          </a:p>
        </p:txBody>
      </p:sp>
      <p:sp>
        <p:nvSpPr>
          <p:cNvPr id="31" name="文本框 37"/>
          <p:cNvSpPr txBox="1"/>
          <p:nvPr/>
        </p:nvSpPr>
        <p:spPr>
          <a:xfrm>
            <a:off x="5276176" y="5750209"/>
            <a:ext cx="2492990"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预剪枝决策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禁止划分</a:t>
            </a:r>
            <a:endParaRPr lang="zh-CN" altLang="en-US" b="1" dirty="0">
              <a:solidFill>
                <a:srgbClr val="FF0000"/>
              </a:solidFill>
              <a:latin typeface="Times "/>
              <a:ea typeface="楷体" panose="02010609060101010101" pitchFamily="49" charset="-122"/>
            </a:endParaRPr>
          </a:p>
        </p:txBody>
      </p:sp>
      <p:cxnSp>
        <p:nvCxnSpPr>
          <p:cNvPr id="32" name="直接箭头连接符 31"/>
          <p:cNvCxnSpPr/>
          <p:nvPr/>
        </p:nvCxnSpPr>
        <p:spPr>
          <a:xfrm flipH="1" flipV="1">
            <a:off x="4383298" y="4546124"/>
            <a:ext cx="1076171" cy="471701"/>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aphicFrame>
        <p:nvGraphicFramePr>
          <p:cNvPr id="39" name="对象 38"/>
          <p:cNvGraphicFramePr>
            <a:graphicFrameLocks noChangeAspect="1"/>
          </p:cNvGraphicFramePr>
          <p:nvPr/>
        </p:nvGraphicFramePr>
        <p:xfrm>
          <a:off x="6182790" y="976913"/>
          <a:ext cx="234734" cy="257209"/>
        </p:xfrm>
        <a:graphic>
          <a:graphicData uri="http://schemas.openxmlformats.org/presentationml/2006/ole">
            <mc:AlternateContent xmlns:mc="http://schemas.openxmlformats.org/markup-compatibility/2006">
              <mc:Choice xmlns:v="urn:schemas-microsoft-com:vml" Requires="v">
                <p:oleObj spid="_x0000_s27941" name="Formula" r:id="rId1" imgW="1114425" imgH="1228725" progId="Equation.Ribbit">
                  <p:embed/>
                </p:oleObj>
              </mc:Choice>
              <mc:Fallback>
                <p:oleObj name="Formula" r:id="rId1" imgW="1114425" imgH="1228725" progId="Equation.Ribbit">
                  <p:embed/>
                  <p:pic>
                    <p:nvPicPr>
                      <p:cNvPr id="0" name="图片 27940"/>
                      <p:cNvPicPr/>
                      <p:nvPr/>
                    </p:nvPicPr>
                    <p:blipFill>
                      <a:blip r:embed="rId2"/>
                      <a:stretch>
                        <a:fillRect/>
                      </a:stretch>
                    </p:blipFill>
                    <p:spPr>
                      <a:xfrm>
                        <a:off x="6182790" y="976913"/>
                        <a:ext cx="234734" cy="257209"/>
                      </a:xfrm>
                      <a:prstGeom prst="rect">
                        <a:avLst/>
                      </a:prstGeom>
                    </p:spPr>
                  </p:pic>
                </p:oleObj>
              </mc:Fallback>
            </mc:AlternateContent>
          </a:graphicData>
        </a:graphic>
      </p:graphicFrame>
      <p:graphicFrame>
        <p:nvGraphicFramePr>
          <p:cNvPr id="40" name="对象 39"/>
          <p:cNvGraphicFramePr>
            <a:graphicFrameLocks noChangeAspect="1"/>
          </p:cNvGraphicFramePr>
          <p:nvPr/>
        </p:nvGraphicFramePr>
        <p:xfrm>
          <a:off x="6564663" y="978906"/>
          <a:ext cx="234734" cy="257209"/>
        </p:xfrm>
        <a:graphic>
          <a:graphicData uri="http://schemas.openxmlformats.org/presentationml/2006/ole">
            <mc:AlternateContent xmlns:mc="http://schemas.openxmlformats.org/markup-compatibility/2006">
              <mc:Choice xmlns:v="urn:schemas-microsoft-com:vml" Requires="v">
                <p:oleObj spid="_x0000_s3" name="Formula" r:id="rId3" imgW="1114425" imgH="1228725" progId="Equation.Ribbit">
                  <p:embed/>
                </p:oleObj>
              </mc:Choice>
              <mc:Fallback>
                <p:oleObj name="Formula" r:id="rId3" imgW="1114425" imgH="1228725" progId="Equation.Ribbit">
                  <p:embed/>
                  <p:pic>
                    <p:nvPicPr>
                      <p:cNvPr id="0" name="图片 2"/>
                      <p:cNvPicPr/>
                      <p:nvPr/>
                    </p:nvPicPr>
                    <p:blipFill>
                      <a:blip r:embed="rId4"/>
                      <a:stretch>
                        <a:fillRect/>
                      </a:stretch>
                    </p:blipFill>
                    <p:spPr>
                      <a:xfrm>
                        <a:off x="6564663" y="978906"/>
                        <a:ext cx="234734" cy="257209"/>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6904040" y="976912"/>
          <a:ext cx="234734" cy="257209"/>
        </p:xfrm>
        <a:graphic>
          <a:graphicData uri="http://schemas.openxmlformats.org/presentationml/2006/ole">
            <mc:AlternateContent xmlns:mc="http://schemas.openxmlformats.org/markup-compatibility/2006">
              <mc:Choice xmlns:v="urn:schemas-microsoft-com:vml" Requires="v">
                <p:oleObj spid="_x0000_s33" name="Formula" r:id="rId5" imgW="1114425" imgH="1228725" progId="Equation.Ribbit">
                  <p:embed/>
                </p:oleObj>
              </mc:Choice>
              <mc:Fallback>
                <p:oleObj name="Formula" r:id="rId5" imgW="1114425" imgH="1228725" progId="Equation.Ribbit">
                  <p:embed/>
                  <p:pic>
                    <p:nvPicPr>
                      <p:cNvPr id="0" name="图片 32"/>
                      <p:cNvPicPr/>
                      <p:nvPr/>
                    </p:nvPicPr>
                    <p:blipFill>
                      <a:blip r:embed="rId6"/>
                      <a:stretch>
                        <a:fillRect/>
                      </a:stretch>
                    </p:blipFill>
                    <p:spPr>
                      <a:xfrm>
                        <a:off x="6904040" y="976912"/>
                        <a:ext cx="234734" cy="257209"/>
                      </a:xfrm>
                      <a:prstGeom prst="rect">
                        <a:avLst/>
                      </a:prstGeom>
                    </p:spPr>
                  </p:pic>
                </p:oleObj>
              </mc:Fallback>
            </mc:AlternateContent>
          </a:graphicData>
        </a:graphic>
      </p:graphicFrame>
      <p:sp>
        <p:nvSpPr>
          <p:cNvPr id="42" name="文本框 41"/>
          <p:cNvSpPr txBox="1"/>
          <p:nvPr/>
        </p:nvSpPr>
        <p:spPr>
          <a:xfrm>
            <a:off x="5381469" y="901270"/>
            <a:ext cx="3514611" cy="1477328"/>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对结点  ， ，  分别进行剪枝判断，结点   ，  都禁止划分，结点    本身为叶子结点。最终得到仅有一层划分的决策树，称为“决策树桩”</a:t>
            </a:r>
            <a:endParaRPr lang="zh-CN" altLang="en-US" b="1" dirty="0">
              <a:latin typeface="黑体" panose="02010609060101010101" pitchFamily="49" charset="-122"/>
              <a:ea typeface="黑体" panose="02010609060101010101" pitchFamily="49" charset="-122"/>
            </a:endParaRPr>
          </a:p>
        </p:txBody>
      </p:sp>
      <p:graphicFrame>
        <p:nvGraphicFramePr>
          <p:cNvPr id="34" name="对象 33"/>
          <p:cNvGraphicFramePr>
            <a:graphicFrameLocks noChangeAspect="1"/>
          </p:cNvGraphicFramePr>
          <p:nvPr/>
        </p:nvGraphicFramePr>
        <p:xfrm>
          <a:off x="6663170" y="1265046"/>
          <a:ext cx="242888" cy="285750"/>
        </p:xfrm>
        <a:graphic>
          <a:graphicData uri="http://schemas.openxmlformats.org/presentationml/2006/ole">
            <mc:AlternateContent xmlns:mc="http://schemas.openxmlformats.org/markup-compatibility/2006">
              <mc:Choice xmlns:v="urn:schemas-microsoft-com:vml" Requires="v">
                <p:oleObj spid="_x0000_s35" name="Formula" r:id="rId7" imgW="1104900" imgH="1295400" progId="Equation.Ribbit">
                  <p:embed/>
                </p:oleObj>
              </mc:Choice>
              <mc:Fallback>
                <p:oleObj name="Formula" r:id="rId7" imgW="1104900" imgH="1295400" progId="Equation.Ribbit">
                  <p:embed/>
                  <p:pic>
                    <p:nvPicPr>
                      <p:cNvPr id="0" name="图片 34"/>
                      <p:cNvPicPr/>
                      <p:nvPr/>
                    </p:nvPicPr>
                    <p:blipFill>
                      <a:blip r:embed="rId8"/>
                      <a:stretch>
                        <a:fillRect/>
                      </a:stretch>
                    </p:blipFill>
                    <p:spPr>
                      <a:xfrm>
                        <a:off x="6663170" y="1265046"/>
                        <a:ext cx="242888" cy="285750"/>
                      </a:xfrm>
                      <a:prstGeom prst="rect">
                        <a:avLst/>
                      </a:prstGeom>
                    </p:spPr>
                  </p:pic>
                </p:oleObj>
              </mc:Fallback>
            </mc:AlternateContent>
          </a:graphicData>
        </a:graphic>
      </p:graphicFrame>
      <p:graphicFrame>
        <p:nvGraphicFramePr>
          <p:cNvPr id="43" name="对象 42"/>
          <p:cNvGraphicFramePr>
            <a:graphicFrameLocks noChangeAspect="1"/>
          </p:cNvGraphicFramePr>
          <p:nvPr/>
        </p:nvGraphicFramePr>
        <p:xfrm>
          <a:off x="7190446" y="1249982"/>
          <a:ext cx="244475" cy="285750"/>
        </p:xfrm>
        <a:graphic>
          <a:graphicData uri="http://schemas.openxmlformats.org/presentationml/2006/ole">
            <mc:AlternateContent xmlns:mc="http://schemas.openxmlformats.org/markup-compatibility/2006">
              <mc:Choice xmlns:v="urn:schemas-microsoft-com:vml" Requires="v">
                <p:oleObj spid="_x0000_s36" name="Formula" r:id="rId9" imgW="1104900" imgH="1295400" progId="Equation.Ribbit">
                  <p:embed/>
                </p:oleObj>
              </mc:Choice>
              <mc:Fallback>
                <p:oleObj name="Formula" r:id="rId9" imgW="1104900" imgH="1295400" progId="Equation.Ribbit">
                  <p:embed/>
                  <p:pic>
                    <p:nvPicPr>
                      <p:cNvPr id="0" name="图片 35"/>
                      <p:cNvPicPr/>
                      <p:nvPr/>
                    </p:nvPicPr>
                    <p:blipFill>
                      <a:blip r:embed="rId10"/>
                      <a:stretch>
                        <a:fillRect/>
                      </a:stretch>
                    </p:blipFill>
                    <p:spPr>
                      <a:xfrm>
                        <a:off x="7190446" y="1249982"/>
                        <a:ext cx="244475" cy="285750"/>
                      </a:xfrm>
                      <a:prstGeom prst="rect">
                        <a:avLst/>
                      </a:prstGeom>
                    </p:spPr>
                  </p:pic>
                </p:oleObj>
              </mc:Fallback>
            </mc:AlternateContent>
          </a:graphicData>
        </a:graphic>
      </p:graphicFrame>
      <p:graphicFrame>
        <p:nvGraphicFramePr>
          <p:cNvPr id="44" name="对象 43"/>
          <p:cNvGraphicFramePr>
            <a:graphicFrameLocks noChangeAspect="1"/>
          </p:cNvGraphicFramePr>
          <p:nvPr/>
        </p:nvGraphicFramePr>
        <p:xfrm>
          <a:off x="6057269" y="1521800"/>
          <a:ext cx="242888" cy="284162"/>
        </p:xfrm>
        <a:graphic>
          <a:graphicData uri="http://schemas.openxmlformats.org/presentationml/2006/ole">
            <mc:AlternateContent xmlns:mc="http://schemas.openxmlformats.org/markup-compatibility/2006">
              <mc:Choice xmlns:v="urn:schemas-microsoft-com:vml" Requires="v">
                <p:oleObj spid="_x0000_s37" name="Formula" r:id="rId11" imgW="1104900" imgH="1295400" progId="Equation.Ribbit">
                  <p:embed/>
                </p:oleObj>
              </mc:Choice>
              <mc:Fallback>
                <p:oleObj name="Formula" r:id="rId11" imgW="1104900" imgH="1295400" progId="Equation.Ribbit">
                  <p:embed/>
                  <p:pic>
                    <p:nvPicPr>
                      <p:cNvPr id="0" name="图片 36"/>
                      <p:cNvPicPr/>
                      <p:nvPr/>
                    </p:nvPicPr>
                    <p:blipFill>
                      <a:blip r:embed="rId12"/>
                      <a:stretch>
                        <a:fillRect/>
                      </a:stretch>
                    </p:blipFill>
                    <p:spPr>
                      <a:xfrm>
                        <a:off x="6057269" y="1521800"/>
                        <a:ext cx="242888" cy="284162"/>
                      </a:xfrm>
                      <a:prstGeom prst="rect">
                        <a:avLst/>
                      </a:prstGeom>
                    </p:spPr>
                  </p:pic>
                </p:oleObj>
              </mc:Fallback>
            </mc:AlternateContent>
          </a:graphicData>
        </a:graphic>
      </p:graphicFrame>
      <p:pic>
        <p:nvPicPr>
          <p:cNvPr id="45" name="内容占位符 33"/>
          <p:cNvPicPr>
            <a:picLocks noChangeAspect="1"/>
          </p:cNvPicPr>
          <p:nvPr/>
        </p:nvPicPr>
        <p:blipFill>
          <a:blip r:embed="rId13"/>
          <a:stretch>
            <a:fillRect/>
          </a:stretch>
        </p:blipFill>
        <p:spPr>
          <a:xfrm>
            <a:off x="708772" y="868836"/>
            <a:ext cx="4487272" cy="1542196"/>
          </a:xfrm>
          <a:prstGeom prst="rect">
            <a:avLst/>
          </a:prstGeom>
        </p:spPr>
      </p:pic>
      <p:sp>
        <p:nvSpPr>
          <p:cNvPr id="46" name="左大括号 45"/>
          <p:cNvSpPr/>
          <p:nvPr/>
        </p:nvSpPr>
        <p:spPr>
          <a:xfrm>
            <a:off x="484998" y="918219"/>
            <a:ext cx="194872" cy="15087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Rectangle 3"/>
          <p:cNvSpPr>
            <a:spLocks noChangeArrowheads="1"/>
          </p:cNvSpPr>
          <p:nvPr/>
        </p:nvSpPr>
        <p:spPr bwMode="auto">
          <a:xfrm>
            <a:off x="84052" y="1062091"/>
            <a:ext cx="335042" cy="1253978"/>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1600" b="1" dirty="0">
                <a:latin typeface="黑体" panose="02010609060101010101" pitchFamily="49" charset="-122"/>
                <a:ea typeface="黑体" panose="02010609060101010101" pitchFamily="49" charset="-122"/>
              </a:rPr>
              <a:t>验证集</a:t>
            </a:r>
            <a:endParaRPr lang="zh-CN" altLang="en-US" sz="1600" b="1" i="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8" grpId="0"/>
      <p:bldP spid="29" grpId="0"/>
      <p:bldP spid="30" grpId="0"/>
      <p:bldP spid="3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预剪枝</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预剪枝的优缺点</a:t>
            </a:r>
            <a:endParaRPr lang="zh-CN" altLang="en-US" b="1"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4"/>
          </p:nvPr>
        </p:nvSpPr>
        <p:spPr/>
        <p:txBody>
          <a:bodyPr/>
          <a:lstStyle/>
          <a:p>
            <a:pPr>
              <a:lnSpc>
                <a:spcPct val="150000"/>
              </a:lnSpc>
            </a:pPr>
            <a:r>
              <a:rPr lang="zh-CN" altLang="en-US" sz="2000" b="1" dirty="0">
                <a:latin typeface="黑体" panose="02010609060101010101" pitchFamily="49" charset="-122"/>
                <a:ea typeface="黑体" panose="02010609060101010101" pitchFamily="49" charset="-122"/>
              </a:rPr>
              <a:t>优点</a:t>
            </a:r>
            <a:endParaRPr lang="en-US" altLang="zh-CN" sz="2000" b="1" dirty="0">
              <a:latin typeface="黑体" panose="02010609060101010101" pitchFamily="49" charset="-122"/>
              <a:ea typeface="黑体" panose="02010609060101010101" pitchFamily="49" charset="-122"/>
            </a:endParaRPr>
          </a:p>
          <a:p>
            <a:pPr lvl="1">
              <a:lnSpc>
                <a:spcPct val="150000"/>
              </a:lnSpc>
            </a:pPr>
            <a:r>
              <a:rPr lang="zh-CN" altLang="en-US" sz="1800" b="1" dirty="0">
                <a:solidFill>
                  <a:srgbClr val="C00000"/>
                </a:solidFill>
                <a:latin typeface="黑体" panose="02010609060101010101" pitchFamily="49" charset="-122"/>
                <a:ea typeface="黑体" panose="02010609060101010101" pitchFamily="49" charset="-122"/>
              </a:rPr>
              <a:t>降低过拟合风险</a:t>
            </a:r>
            <a:endParaRPr lang="en-US" altLang="zh-CN" sz="1800" b="1" dirty="0">
              <a:solidFill>
                <a:srgbClr val="C00000"/>
              </a:solidFill>
              <a:latin typeface="黑体" panose="02010609060101010101" pitchFamily="49" charset="-122"/>
              <a:ea typeface="黑体" panose="02010609060101010101" pitchFamily="49" charset="-122"/>
            </a:endParaRPr>
          </a:p>
          <a:p>
            <a:pPr lvl="1">
              <a:lnSpc>
                <a:spcPct val="150000"/>
              </a:lnSpc>
            </a:pPr>
            <a:r>
              <a:rPr lang="zh-CN" altLang="en-US" sz="1800" b="1" dirty="0">
                <a:latin typeface="黑体" panose="02010609060101010101" pitchFamily="49" charset="-122"/>
                <a:ea typeface="黑体" panose="02010609060101010101" pitchFamily="49" charset="-122"/>
              </a:rPr>
              <a:t>显著减少训练时间和测试时间开销</a:t>
            </a:r>
            <a:endParaRPr lang="en-US" altLang="zh-CN" sz="1800" b="1" dirty="0">
              <a:latin typeface="黑体" panose="02010609060101010101" pitchFamily="49" charset="-122"/>
              <a:ea typeface="黑体" panose="02010609060101010101" pitchFamily="49" charset="-122"/>
            </a:endParaRPr>
          </a:p>
          <a:p>
            <a:pPr marL="325755" lvl="1" indent="0">
              <a:lnSpc>
                <a:spcPct val="150000"/>
              </a:lnSpc>
              <a:buNone/>
            </a:pPr>
            <a:endParaRPr lang="en-US" altLang="zh-CN" sz="1800" b="1" dirty="0">
              <a:latin typeface="黑体" panose="02010609060101010101" pitchFamily="49" charset="-122"/>
              <a:ea typeface="黑体" panose="02010609060101010101" pitchFamily="49" charset="-122"/>
            </a:endParaRPr>
          </a:p>
          <a:p>
            <a:pPr>
              <a:lnSpc>
                <a:spcPct val="150000"/>
              </a:lnSpc>
            </a:pPr>
            <a:r>
              <a:rPr lang="zh-CN" altLang="en-US" sz="2000" b="1" dirty="0">
                <a:latin typeface="黑体" panose="02010609060101010101" pitchFamily="49" charset="-122"/>
                <a:ea typeface="黑体" panose="02010609060101010101" pitchFamily="49" charset="-122"/>
              </a:rPr>
              <a:t>缺点</a:t>
            </a:r>
            <a:endParaRPr lang="en-US" altLang="zh-CN" sz="2000" b="1" dirty="0">
              <a:latin typeface="黑体" panose="02010609060101010101" pitchFamily="49" charset="-122"/>
              <a:ea typeface="黑体" panose="02010609060101010101" pitchFamily="49" charset="-122"/>
            </a:endParaRPr>
          </a:p>
          <a:p>
            <a:pPr lvl="1">
              <a:lnSpc>
                <a:spcPct val="150000"/>
              </a:lnSpc>
            </a:pPr>
            <a:r>
              <a:rPr lang="zh-CN" altLang="en-US" sz="1800" b="1" dirty="0">
                <a:solidFill>
                  <a:srgbClr val="C00000"/>
                </a:solidFill>
                <a:latin typeface="黑体" panose="02010609060101010101" pitchFamily="49" charset="-122"/>
                <a:ea typeface="黑体" panose="02010609060101010101" pitchFamily="49" charset="-122"/>
              </a:rPr>
              <a:t>欠拟合风险</a:t>
            </a:r>
            <a:r>
              <a:rPr lang="zh-CN" altLang="en-US" sz="1800" b="1" dirty="0">
                <a:latin typeface="黑体" panose="02010609060101010101" pitchFamily="49" charset="-122"/>
                <a:ea typeface="黑体" panose="02010609060101010101" pitchFamily="49" charset="-122"/>
              </a:rPr>
              <a:t>：有些分支的当前划分虽然不能提升泛化性能，但在其基础上进行的后续划分却有可能导致性能显著提高。预剪枝基于“贪心”本质禁止这些分支展开，带来了欠拟合风险</a:t>
            </a:r>
            <a:endParaRPr lang="zh-CN" altLang="en-US" sz="1800" b="1" dirty="0">
              <a:latin typeface="黑体" panose="02010609060101010101" pitchFamily="49" charset="-122"/>
              <a:ea typeface="黑体" panose="02010609060101010101" pitchFamily="49" charset="-122"/>
            </a:endParaRPr>
          </a:p>
          <a:p>
            <a:pPr marL="0" indent="0">
              <a:lnSpc>
                <a:spcPct val="150000"/>
              </a:lnSpc>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先从训练集生成一棵完整的决策树，然后</a:t>
            </a:r>
            <a:r>
              <a:rPr lang="zh-CN" altLang="en-US" b="1" dirty="0">
                <a:solidFill>
                  <a:srgbClr val="FF0000"/>
                </a:solidFill>
                <a:latin typeface="黑体" panose="02010609060101010101" pitchFamily="49" charset="-122"/>
                <a:ea typeface="黑体" panose="02010609060101010101" pitchFamily="49" charset="-122"/>
              </a:rPr>
              <a:t>自底向上</a:t>
            </a:r>
            <a:r>
              <a:rPr lang="zh-CN" altLang="en-US" b="1" dirty="0">
                <a:latin typeface="黑体" panose="02010609060101010101" pitchFamily="49" charset="-122"/>
                <a:ea typeface="黑体" panose="02010609060101010101" pitchFamily="49" charset="-122"/>
              </a:rPr>
              <a:t>地对非叶结点进行考察，若将该结点对应的子树替换为叶结点能带来决策树泛化性能提升，则将该子树替换为叶结点</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2481739" y="2188564"/>
            <a:ext cx="6220051" cy="3954100"/>
            <a:chOff x="1926459" y="2007290"/>
            <a:chExt cx="8479450" cy="4732069"/>
          </a:xfrm>
        </p:grpSpPr>
        <p:grpSp>
          <p:nvGrpSpPr>
            <p:cNvPr id="5" name="组合 4"/>
            <p:cNvGrpSpPr/>
            <p:nvPr/>
          </p:nvGrpSpPr>
          <p:grpSpPr>
            <a:xfrm>
              <a:off x="4423852" y="6307359"/>
              <a:ext cx="3582444" cy="432000"/>
              <a:chOff x="2341355" y="4320514"/>
              <a:chExt cx="3582444" cy="432000"/>
            </a:xfrm>
          </p:grpSpPr>
          <p:sp>
            <p:nvSpPr>
              <p:cNvPr id="55" name="椭圆 54"/>
              <p:cNvSpPr/>
              <p:nvPr/>
            </p:nvSpPr>
            <p:spPr>
              <a:xfrm>
                <a:off x="2341355" y="4320514"/>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56" name="椭圆 55"/>
              <p:cNvSpPr/>
              <p:nvPr/>
            </p:nvSpPr>
            <p:spPr>
              <a:xfrm>
                <a:off x="3592577" y="4320514"/>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57" name="椭圆 56"/>
              <p:cNvSpPr/>
              <p:nvPr/>
            </p:nvSpPr>
            <p:spPr>
              <a:xfrm>
                <a:off x="4843799" y="4320514"/>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grpSp>
        <p:cxnSp>
          <p:nvCxnSpPr>
            <p:cNvPr id="6" name="直接连接符 5"/>
            <p:cNvCxnSpPr>
              <a:endCxn id="55" idx="0"/>
            </p:cNvCxnSpPr>
            <p:nvPr/>
          </p:nvCxnSpPr>
          <p:spPr>
            <a:xfrm flipH="1">
              <a:off x="4963852" y="5508978"/>
              <a:ext cx="1256326" cy="798381"/>
            </a:xfrm>
            <a:prstGeom prst="line">
              <a:avLst/>
            </a:prstGeom>
            <a:ln w="19050"/>
          </p:spPr>
          <p:style>
            <a:lnRef idx="1">
              <a:schemeClr val="dk1"/>
            </a:lnRef>
            <a:fillRef idx="0">
              <a:schemeClr val="dk1"/>
            </a:fillRef>
            <a:effectRef idx="0">
              <a:schemeClr val="dk1"/>
            </a:effectRef>
            <a:fontRef idx="minor">
              <a:schemeClr val="tx1"/>
            </a:fontRef>
          </p:style>
        </p:cxnSp>
        <p:sp>
          <p:nvSpPr>
            <p:cNvPr id="7" name="文本框 11"/>
            <p:cNvSpPr txBox="1"/>
            <p:nvPr/>
          </p:nvSpPr>
          <p:spPr>
            <a:xfrm>
              <a:off x="6164462" y="5818868"/>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清晰</a:t>
              </a:r>
              <a:endParaRPr lang="zh-CN" altLang="en-US" b="1" dirty="0">
                <a:latin typeface="楷体" panose="02010609060101010101" pitchFamily="49" charset="-122"/>
                <a:ea typeface="楷体" panose="02010609060101010101" pitchFamily="49" charset="-122"/>
              </a:endParaRPr>
            </a:p>
          </p:txBody>
        </p:sp>
        <p:cxnSp>
          <p:nvCxnSpPr>
            <p:cNvPr id="8" name="直接连接符 7"/>
            <p:cNvCxnSpPr>
              <a:endCxn id="57" idx="0"/>
            </p:cNvCxnSpPr>
            <p:nvPr/>
          </p:nvCxnSpPr>
          <p:spPr>
            <a:xfrm>
              <a:off x="6215074" y="5508978"/>
              <a:ext cx="1251222" cy="798381"/>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直接连接符 8"/>
            <p:cNvCxnSpPr>
              <a:stCxn id="10" idx="2"/>
              <a:endCxn id="56" idx="0"/>
            </p:cNvCxnSpPr>
            <p:nvPr/>
          </p:nvCxnSpPr>
          <p:spPr>
            <a:xfrm>
              <a:off x="6215074" y="5699638"/>
              <a:ext cx="0" cy="607721"/>
            </a:xfrm>
            <a:prstGeom prst="line">
              <a:avLst/>
            </a:prstGeom>
            <a:ln w="19050"/>
          </p:spPr>
          <p:style>
            <a:lnRef idx="1">
              <a:schemeClr val="dk1"/>
            </a:lnRef>
            <a:fillRef idx="0">
              <a:schemeClr val="dk1"/>
            </a:fillRef>
            <a:effectRef idx="0">
              <a:schemeClr val="dk1"/>
            </a:effectRef>
            <a:fontRef idx="minor">
              <a:schemeClr val="tx1"/>
            </a:fontRef>
          </p:style>
        </p:cxnSp>
        <p:sp>
          <p:nvSpPr>
            <p:cNvPr id="10" name="圆角矩形 9"/>
            <p:cNvSpPr/>
            <p:nvPr/>
          </p:nvSpPr>
          <p:spPr>
            <a:xfrm>
              <a:off x="5675074" y="5267638"/>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纹理</a:t>
              </a:r>
              <a:endParaRPr lang="zh-CN" altLang="en-US" sz="2200" b="1" dirty="0">
                <a:latin typeface="Times" panose="02020603060405020304" pitchFamily="18" charset="0"/>
              </a:endParaRPr>
            </a:p>
          </p:txBody>
        </p:sp>
        <p:sp>
          <p:nvSpPr>
            <p:cNvPr id="11" name="文本框 20"/>
            <p:cNvSpPr txBox="1"/>
            <p:nvPr/>
          </p:nvSpPr>
          <p:spPr>
            <a:xfrm>
              <a:off x="7089965" y="5818868"/>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模糊</a:t>
              </a:r>
              <a:endParaRPr lang="zh-CN" altLang="en-US" b="1" dirty="0">
                <a:latin typeface="楷体" panose="02010609060101010101" pitchFamily="49" charset="-122"/>
                <a:ea typeface="楷体" panose="02010609060101010101" pitchFamily="49" charset="-122"/>
              </a:endParaRPr>
            </a:p>
          </p:txBody>
        </p:sp>
        <p:sp>
          <p:nvSpPr>
            <p:cNvPr id="12" name="文本框 21"/>
            <p:cNvSpPr txBox="1"/>
            <p:nvPr/>
          </p:nvSpPr>
          <p:spPr>
            <a:xfrm>
              <a:off x="4446684" y="5818868"/>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稍糊</a:t>
              </a:r>
              <a:endParaRPr lang="zh-CN" altLang="en-US" b="1" dirty="0">
                <a:latin typeface="楷体" panose="02010609060101010101" pitchFamily="49" charset="-122"/>
                <a:ea typeface="楷体" panose="02010609060101010101" pitchFamily="49" charset="-122"/>
              </a:endParaRPr>
            </a:p>
          </p:txBody>
        </p:sp>
        <p:sp>
          <p:nvSpPr>
            <p:cNvPr id="13" name="椭圆 12"/>
            <p:cNvSpPr/>
            <p:nvPr/>
          </p:nvSpPr>
          <p:spPr>
            <a:xfrm>
              <a:off x="4423852" y="5267638"/>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2"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a:ln w="19050"/>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410378"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22" name="椭圆 21"/>
            <p:cNvSpPr/>
            <p:nvPr/>
          </p:nvSpPr>
          <p:spPr>
            <a:xfrm>
              <a:off x="6923629" y="4222249"/>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a:ln w="19050"/>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a:ln w="19050"/>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771127" y="370621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endParaRPr lang="zh-CN" altLang="en-US" sz="2200" b="1" dirty="0">
                <a:latin typeface="Times" panose="02020603060405020304" pitchFamily="18" charset="0"/>
              </a:endParaRPr>
            </a:p>
          </p:txBody>
        </p:sp>
        <p:sp>
          <p:nvSpPr>
            <p:cNvPr id="31" name="椭圆 30"/>
            <p:cNvSpPr/>
            <p:nvPr/>
          </p:nvSpPr>
          <p:spPr>
            <a:xfrm>
              <a:off x="3155103" y="4234055"/>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32" name="椭圆 31"/>
            <p:cNvSpPr/>
            <p:nvPr/>
          </p:nvSpPr>
          <p:spPr>
            <a:xfrm>
              <a:off x="4383747" y="4234055"/>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33" name="椭圆 32"/>
            <p:cNvSpPr/>
            <p:nvPr/>
          </p:nvSpPr>
          <p:spPr>
            <a:xfrm>
              <a:off x="1926459" y="4234055"/>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34" name="直接连接符 33"/>
            <p:cNvCxnSpPr/>
            <p:nvPr/>
          </p:nvCxnSpPr>
          <p:spPr>
            <a:xfrm flipH="1">
              <a:off x="2466572" y="3419924"/>
              <a:ext cx="1256326" cy="798381"/>
            </a:xfrm>
            <a:prstGeom prst="line">
              <a:avLst/>
            </a:prstGeom>
            <a:ln w="19050"/>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0" y="372981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36" name="直接连接符 35"/>
            <p:cNvCxnSpPr/>
            <p:nvPr/>
          </p:nvCxnSpPr>
          <p:spPr>
            <a:xfrm>
              <a:off x="3717794" y="3419924"/>
              <a:ext cx="1251222" cy="798381"/>
            </a:xfrm>
            <a:prstGeom prst="line">
              <a:avLst/>
            </a:prstGeom>
            <a:ln w="19050"/>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a:ln w="19050"/>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6" y="372981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39" name="文本框 49"/>
            <p:cNvSpPr txBox="1"/>
            <p:nvPr/>
          </p:nvSpPr>
          <p:spPr>
            <a:xfrm>
              <a:off x="2110078" y="3662961"/>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40" name="圆角矩形 39"/>
            <p:cNvSpPr/>
            <p:nvPr/>
          </p:nvSpPr>
          <p:spPr>
            <a:xfrm>
              <a:off x="3161197" y="3176233"/>
              <a:ext cx="1080000"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41" name="椭圆 40"/>
            <p:cNvSpPr/>
            <p:nvPr/>
          </p:nvSpPr>
          <p:spPr>
            <a:xfrm>
              <a:off x="9325909" y="3175860"/>
              <a:ext cx="1080000" cy="432000"/>
            </a:xfrm>
            <a:prstGeom prst="ellipse">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a:ln w="19050"/>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a:ln w="19050"/>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4"/>
              <a:ext cx="1440001" cy="432000"/>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endParaRPr lang="zh-CN" altLang="en-US" sz="2200" b="1" dirty="0">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5856262"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699322"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sp>
          <p:nvSpPr>
            <p:cNvPr id="54" name="椭圆 53"/>
            <p:cNvSpPr/>
            <p:nvPr/>
          </p:nvSpPr>
          <p:spPr>
            <a:xfrm>
              <a:off x="5531825" y="505816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6</a:t>
              </a:r>
              <a:endParaRPr lang="zh-CN" altLang="en-US" b="1" dirty="0">
                <a:solidFill>
                  <a:schemeClr val="tx1"/>
                </a:solidFill>
                <a:latin typeface="Times "/>
              </a:endParaRPr>
            </a:p>
          </p:txBody>
        </p:sp>
      </p:grpSp>
      <p:sp>
        <p:nvSpPr>
          <p:cNvPr id="58" name="文本框 57"/>
          <p:cNvSpPr txBox="1"/>
          <p:nvPr/>
        </p:nvSpPr>
        <p:spPr>
          <a:xfrm>
            <a:off x="447906" y="2512668"/>
            <a:ext cx="2221389" cy="1200329"/>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首先生成一棵完整的决策树，该决策树的验证集精度为</a:t>
            </a:r>
            <a:endParaRPr lang="en-US" altLang="zh-CN"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p:txBody>
      </p:sp>
      <p:graphicFrame>
        <p:nvGraphicFramePr>
          <p:cNvPr id="59" name="对象 58"/>
          <p:cNvGraphicFramePr>
            <a:graphicFrameLocks noChangeAspect="1"/>
          </p:cNvGraphicFramePr>
          <p:nvPr/>
        </p:nvGraphicFramePr>
        <p:xfrm>
          <a:off x="539750" y="3413125"/>
          <a:ext cx="531813" cy="239713"/>
        </p:xfrm>
        <a:graphic>
          <a:graphicData uri="http://schemas.openxmlformats.org/presentationml/2006/ole">
            <mc:AlternateContent xmlns:mc="http://schemas.openxmlformats.org/markup-compatibility/2006">
              <mc:Choice xmlns:v="urn:schemas-microsoft-com:vml" Requires="v">
                <p:oleObj spid="_x0000_s27941" name="Formula" r:id="rId1" imgW="2914650" imgH="1314450" progId="Equation.Ribbit">
                  <p:embed/>
                </p:oleObj>
              </mc:Choice>
              <mc:Fallback>
                <p:oleObj name="Formula" r:id="rId1" imgW="2914650" imgH="1314450" progId="Equation.Ribbit">
                  <p:embed/>
                  <p:pic>
                    <p:nvPicPr>
                      <p:cNvPr id="0" name="图片 27940"/>
                      <p:cNvPicPr/>
                      <p:nvPr/>
                    </p:nvPicPr>
                    <p:blipFill>
                      <a:blip r:embed="rId2"/>
                      <a:stretch>
                        <a:fillRect/>
                      </a:stretch>
                    </p:blipFill>
                    <p:spPr>
                      <a:xfrm>
                        <a:off x="539750" y="3413125"/>
                        <a:ext cx="531813" cy="239713"/>
                      </a:xfrm>
                      <a:prstGeom prst="rect">
                        <a:avLst/>
                      </a:prstGeom>
                    </p:spPr>
                  </p:pic>
                </p:oleObj>
              </mc:Fallback>
            </mc:AlternateContent>
          </a:graphicData>
        </a:graphic>
      </p:graphicFrame>
      <p:pic>
        <p:nvPicPr>
          <p:cNvPr id="61" name="内容占位符 33"/>
          <p:cNvPicPr>
            <a:picLocks noChangeAspect="1"/>
          </p:cNvPicPr>
          <p:nvPr/>
        </p:nvPicPr>
        <p:blipFill>
          <a:blip r:embed="rId3"/>
          <a:stretch>
            <a:fillRect/>
          </a:stretch>
        </p:blipFill>
        <p:spPr>
          <a:xfrm>
            <a:off x="-9851" y="4643302"/>
            <a:ext cx="4140559" cy="14230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首先考虑结点  ，若将其替换为叶结点，根据落在其上的</a:t>
            </a:r>
            <a:r>
              <a:rPr lang="zh-CN" altLang="en-US" b="1" dirty="0">
                <a:solidFill>
                  <a:srgbClr val="FF0000"/>
                </a:solidFill>
                <a:latin typeface="黑体" panose="02010609060101010101" pitchFamily="49" charset="-122"/>
                <a:ea typeface="黑体" panose="02010609060101010101" pitchFamily="49" charset="-122"/>
              </a:rPr>
              <a:t>训练样本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将其标记为“好瓜”，得到</a:t>
            </a:r>
            <a:r>
              <a:rPr lang="zh-CN" altLang="en-US" b="1" dirty="0">
                <a:solidFill>
                  <a:srgbClr val="FF0000"/>
                </a:solidFill>
                <a:latin typeface="黑体" panose="02010609060101010101" pitchFamily="49" charset="-122"/>
                <a:ea typeface="黑体" panose="02010609060101010101" pitchFamily="49" charset="-122"/>
              </a:rPr>
              <a:t>验证集</a:t>
            </a:r>
            <a:r>
              <a:rPr lang="zh-CN" altLang="en-US" b="1" dirty="0">
                <a:latin typeface="黑体" panose="02010609060101010101" pitchFamily="49" charset="-122"/>
                <a:ea typeface="黑体" panose="02010609060101010101" pitchFamily="49" charset="-122"/>
              </a:rPr>
              <a:t>精度提高至</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，则决定剪枝</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353136" y="2146866"/>
            <a:ext cx="6220051" cy="3954100"/>
            <a:chOff x="1926459" y="2007290"/>
            <a:chExt cx="8479450" cy="4732069"/>
          </a:xfrm>
        </p:grpSpPr>
        <p:grpSp>
          <p:nvGrpSpPr>
            <p:cNvPr id="5" name="组合 4"/>
            <p:cNvGrpSpPr/>
            <p:nvPr/>
          </p:nvGrpSpPr>
          <p:grpSpPr>
            <a:xfrm>
              <a:off x="4423852" y="6307359"/>
              <a:ext cx="3582444" cy="432000"/>
              <a:chOff x="2341355" y="4320514"/>
              <a:chExt cx="3582444" cy="432000"/>
            </a:xfrm>
          </p:grpSpPr>
          <p:sp>
            <p:nvSpPr>
              <p:cNvPr id="55" name="椭圆 54"/>
              <p:cNvSpPr/>
              <p:nvPr/>
            </p:nvSpPr>
            <p:spPr>
              <a:xfrm>
                <a:off x="2341355"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56" name="椭圆 55"/>
              <p:cNvSpPr/>
              <p:nvPr/>
            </p:nvSpPr>
            <p:spPr>
              <a:xfrm>
                <a:off x="3592577"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57" name="椭圆 56"/>
              <p:cNvSpPr/>
              <p:nvPr/>
            </p:nvSpPr>
            <p:spPr>
              <a:xfrm>
                <a:off x="4843799" y="4320514"/>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grpSp>
        <p:cxnSp>
          <p:nvCxnSpPr>
            <p:cNvPr id="6" name="直接连接符 5"/>
            <p:cNvCxnSpPr>
              <a:endCxn id="55" idx="0"/>
            </p:cNvCxnSpPr>
            <p:nvPr/>
          </p:nvCxnSpPr>
          <p:spPr>
            <a:xfrm flipH="1">
              <a:off x="4963852" y="5508978"/>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7" name="文本框 11"/>
            <p:cNvSpPr txBox="1"/>
            <p:nvPr/>
          </p:nvSpPr>
          <p:spPr>
            <a:xfrm>
              <a:off x="6164462" y="5818868"/>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清晰</a:t>
              </a:r>
              <a:endParaRPr lang="zh-CN" altLang="en-US" b="1" dirty="0">
                <a:latin typeface="楷体" panose="02010609060101010101" pitchFamily="49" charset="-122"/>
                <a:ea typeface="楷体" panose="02010609060101010101" pitchFamily="49" charset="-122"/>
              </a:endParaRPr>
            </a:p>
          </p:txBody>
        </p:sp>
        <p:cxnSp>
          <p:nvCxnSpPr>
            <p:cNvPr id="8" name="直接连接符 7"/>
            <p:cNvCxnSpPr>
              <a:endCxn id="57" idx="0"/>
            </p:cNvCxnSpPr>
            <p:nvPr/>
          </p:nvCxnSpPr>
          <p:spPr>
            <a:xfrm>
              <a:off x="6215074" y="5508978"/>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9" name="直接连接符 8"/>
            <p:cNvCxnSpPr>
              <a:stCxn id="10" idx="2"/>
              <a:endCxn id="56" idx="0"/>
            </p:cNvCxnSpPr>
            <p:nvPr/>
          </p:nvCxnSpPr>
          <p:spPr>
            <a:xfrm>
              <a:off x="6215074" y="5699638"/>
              <a:ext cx="0" cy="607721"/>
            </a:xfrm>
            <a:prstGeom prst="line">
              <a:avLst/>
            </a:prstGeom>
          </p:spPr>
          <p:style>
            <a:lnRef idx="1">
              <a:schemeClr val="dk1"/>
            </a:lnRef>
            <a:fillRef idx="0">
              <a:schemeClr val="dk1"/>
            </a:fillRef>
            <a:effectRef idx="0">
              <a:schemeClr val="dk1"/>
            </a:effectRef>
            <a:fontRef idx="minor">
              <a:schemeClr val="tx1"/>
            </a:fontRef>
          </p:style>
        </p:cxnSp>
        <p:sp>
          <p:nvSpPr>
            <p:cNvPr id="10" name="圆角矩形 9"/>
            <p:cNvSpPr/>
            <p:nvPr/>
          </p:nvSpPr>
          <p:spPr>
            <a:xfrm>
              <a:off x="5675074" y="5267638"/>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纹理</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11" name="文本框 20"/>
            <p:cNvSpPr txBox="1"/>
            <p:nvPr/>
          </p:nvSpPr>
          <p:spPr>
            <a:xfrm>
              <a:off x="7089965" y="5818868"/>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模糊</a:t>
              </a:r>
              <a:endParaRPr lang="zh-CN" altLang="en-US" b="1" dirty="0">
                <a:latin typeface="楷体" panose="02010609060101010101" pitchFamily="49" charset="-122"/>
                <a:ea typeface="楷体" panose="02010609060101010101" pitchFamily="49" charset="-122"/>
              </a:endParaRPr>
            </a:p>
          </p:txBody>
        </p:sp>
        <p:sp>
          <p:nvSpPr>
            <p:cNvPr id="12" name="文本框 21"/>
            <p:cNvSpPr txBox="1"/>
            <p:nvPr/>
          </p:nvSpPr>
          <p:spPr>
            <a:xfrm>
              <a:off x="4737145" y="5818868"/>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稍糊</a:t>
              </a:r>
              <a:endParaRPr lang="zh-CN" altLang="en-US" b="1" dirty="0">
                <a:latin typeface="楷体" panose="02010609060101010101" pitchFamily="49" charset="-122"/>
                <a:ea typeface="楷体" panose="02010609060101010101" pitchFamily="49" charset="-122"/>
              </a:endParaRPr>
            </a:p>
          </p:txBody>
        </p:sp>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2"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73714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976874"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endParaRPr lang="zh-CN" altLang="en-US" sz="2200" b="1" dirty="0">
                <a:latin typeface="Times" panose="02020603060405020304" pitchFamily="18" charset="0"/>
              </a:endParaRP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0" y="372981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6" y="372981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39" name="文本框 49"/>
            <p:cNvSpPr txBox="1"/>
            <p:nvPr/>
          </p:nvSpPr>
          <p:spPr>
            <a:xfrm>
              <a:off x="2239865" y="372981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endParaRPr lang="zh-CN" altLang="en-US" sz="2200" b="1" dirty="0">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611041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868758"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sp>
          <p:nvSpPr>
            <p:cNvPr id="54" name="椭圆 53"/>
            <p:cNvSpPr/>
            <p:nvPr/>
          </p:nvSpPr>
          <p:spPr>
            <a:xfrm>
              <a:off x="5531825" y="5058169"/>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6</a:t>
              </a:r>
              <a:endParaRPr lang="zh-CN" altLang="en-US" b="1" dirty="0">
                <a:solidFill>
                  <a:schemeClr val="tx1"/>
                </a:solidFill>
                <a:latin typeface="Times "/>
              </a:endParaRPr>
            </a:p>
          </p:txBody>
        </p:sp>
      </p:grpSp>
      <p:graphicFrame>
        <p:nvGraphicFramePr>
          <p:cNvPr id="62" name="对象 61"/>
          <p:cNvGraphicFramePr>
            <a:graphicFrameLocks noChangeAspect="1"/>
          </p:cNvGraphicFramePr>
          <p:nvPr/>
        </p:nvGraphicFramePr>
        <p:xfrm>
          <a:off x="2389188" y="1216025"/>
          <a:ext cx="261937" cy="307975"/>
        </p:xfrm>
        <a:graphic>
          <a:graphicData uri="http://schemas.openxmlformats.org/presentationml/2006/ole">
            <mc:AlternateContent xmlns:mc="http://schemas.openxmlformats.org/markup-compatibility/2006">
              <mc:Choice xmlns:v="urn:schemas-microsoft-com:vml" Requires="v">
                <p:oleObj spid="_x0000_s27941" name="Formula" r:id="rId1" imgW="1104900" imgH="1295400" progId="Equation.Ribbit">
                  <p:embed/>
                </p:oleObj>
              </mc:Choice>
              <mc:Fallback>
                <p:oleObj name="Formula" r:id="rId1" imgW="1104900" imgH="1295400" progId="Equation.Ribbit">
                  <p:embed/>
                  <p:pic>
                    <p:nvPicPr>
                      <p:cNvPr id="0" name="图片 27940"/>
                      <p:cNvPicPr/>
                      <p:nvPr/>
                    </p:nvPicPr>
                    <p:blipFill>
                      <a:blip r:embed="rId2"/>
                      <a:stretch>
                        <a:fillRect/>
                      </a:stretch>
                    </p:blipFill>
                    <p:spPr>
                      <a:xfrm>
                        <a:off x="2389188" y="1216025"/>
                        <a:ext cx="261937" cy="307975"/>
                      </a:xfrm>
                      <a:prstGeom prst="rect">
                        <a:avLst/>
                      </a:prstGeom>
                    </p:spPr>
                  </p:pic>
                </p:oleObj>
              </mc:Fallback>
            </mc:AlternateContent>
          </a:graphicData>
        </a:graphic>
      </p:graphicFrame>
      <p:cxnSp>
        <p:nvCxnSpPr>
          <p:cNvPr id="71" name="直接箭头连接符 70"/>
          <p:cNvCxnSpPr/>
          <p:nvPr/>
        </p:nvCxnSpPr>
        <p:spPr>
          <a:xfrm flipH="1" flipV="1">
            <a:off x="3989129" y="5274182"/>
            <a:ext cx="1660550" cy="296159"/>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72" name="文本框 54"/>
          <p:cNvSpPr txBox="1"/>
          <p:nvPr/>
        </p:nvSpPr>
        <p:spPr>
          <a:xfrm>
            <a:off x="5904195" y="4812983"/>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73" name="文本框 55"/>
          <p:cNvSpPr txBox="1"/>
          <p:nvPr/>
        </p:nvSpPr>
        <p:spPr>
          <a:xfrm>
            <a:off x="5904195" y="5148061"/>
            <a:ext cx="1685077" cy="646331"/>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剪枝前</a:t>
            </a:r>
            <a:r>
              <a:rPr lang="en-US" altLang="zh-CN" b="1" dirty="0">
                <a:solidFill>
                  <a:srgbClr val="FF0000"/>
                </a:solidFill>
                <a:latin typeface="Times "/>
                <a:ea typeface="楷体" panose="02010609060101010101" pitchFamily="49" charset="-122"/>
              </a:rPr>
              <a:t>: 42.9%</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剪枝后</a:t>
            </a:r>
            <a:r>
              <a:rPr lang="en-US" altLang="zh-CN" b="1" dirty="0">
                <a:solidFill>
                  <a:srgbClr val="FF0000"/>
                </a:solidFill>
                <a:latin typeface="Times "/>
                <a:ea typeface="楷体" panose="02010609060101010101" pitchFamily="49" charset="-122"/>
              </a:rPr>
              <a:t>: 57.1%</a:t>
            </a:r>
            <a:endParaRPr lang="zh-CN" altLang="en-US" b="1" dirty="0">
              <a:solidFill>
                <a:srgbClr val="FF0000"/>
              </a:solidFill>
              <a:latin typeface="Times "/>
              <a:ea typeface="楷体" panose="02010609060101010101" pitchFamily="49" charset="-122"/>
            </a:endParaRPr>
          </a:p>
        </p:txBody>
      </p:sp>
      <p:sp>
        <p:nvSpPr>
          <p:cNvPr id="74" name="文本框 56"/>
          <p:cNvSpPr txBox="1"/>
          <p:nvPr/>
        </p:nvSpPr>
        <p:spPr>
          <a:xfrm>
            <a:off x="5458246" y="5720180"/>
            <a:ext cx="1946367"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后剪枝决策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剪枝</a:t>
            </a:r>
            <a:endParaRPr lang="zh-CN" altLang="en-US" b="1" dirty="0">
              <a:solidFill>
                <a:srgbClr val="FF0000"/>
              </a:solidFill>
              <a:latin typeface="Times "/>
              <a:ea typeface="楷体" panose="02010609060101010101" pitchFamily="49" charset="-122"/>
            </a:endParaRPr>
          </a:p>
        </p:txBody>
      </p:sp>
      <p:graphicFrame>
        <p:nvGraphicFramePr>
          <p:cNvPr id="63" name="对象 62"/>
          <p:cNvGraphicFramePr>
            <a:graphicFrameLocks noChangeAspect="1"/>
          </p:cNvGraphicFramePr>
          <p:nvPr/>
        </p:nvGraphicFramePr>
        <p:xfrm>
          <a:off x="866775" y="1492250"/>
          <a:ext cx="776288" cy="320675"/>
        </p:xfrm>
        <a:graphic>
          <a:graphicData uri="http://schemas.openxmlformats.org/presentationml/2006/ole">
            <mc:AlternateContent xmlns:mc="http://schemas.openxmlformats.org/markup-compatibility/2006">
              <mc:Choice xmlns:v="urn:schemas-microsoft-com:vml" Requires="v">
                <p:oleObj spid="_x0000_s58" name="Formula" r:id="rId3" imgW="3238500" imgH="1333500" progId="Equation.Ribbit">
                  <p:embed/>
                </p:oleObj>
              </mc:Choice>
              <mc:Fallback>
                <p:oleObj name="Formula" r:id="rId3" imgW="3238500" imgH="1333500" progId="Equation.Ribbit">
                  <p:embed/>
                  <p:pic>
                    <p:nvPicPr>
                      <p:cNvPr id="0" name="图片 57"/>
                      <p:cNvPicPr/>
                      <p:nvPr/>
                    </p:nvPicPr>
                    <p:blipFill>
                      <a:blip r:embed="rId4"/>
                      <a:stretch>
                        <a:fillRect/>
                      </a:stretch>
                    </p:blipFill>
                    <p:spPr>
                      <a:xfrm>
                        <a:off x="866775" y="1492250"/>
                        <a:ext cx="776288" cy="320675"/>
                      </a:xfrm>
                      <a:prstGeom prst="rect">
                        <a:avLst/>
                      </a:prstGeom>
                    </p:spPr>
                  </p:pic>
                </p:oleObj>
              </mc:Fallback>
            </mc:AlternateContent>
          </a:graphicData>
        </a:graphic>
      </p:graphicFrame>
      <p:graphicFrame>
        <p:nvGraphicFramePr>
          <p:cNvPr id="59" name="对象 58"/>
          <p:cNvGraphicFramePr>
            <a:graphicFrameLocks noChangeAspect="1"/>
          </p:cNvGraphicFramePr>
          <p:nvPr/>
        </p:nvGraphicFramePr>
        <p:xfrm>
          <a:off x="7448550" y="1524000"/>
          <a:ext cx="698500" cy="319088"/>
        </p:xfrm>
        <a:graphic>
          <a:graphicData uri="http://schemas.openxmlformats.org/presentationml/2006/ole">
            <mc:AlternateContent xmlns:mc="http://schemas.openxmlformats.org/markup-compatibility/2006">
              <mc:Choice xmlns:v="urn:schemas-microsoft-com:vml" Requires="v">
                <p:oleObj spid="_x0000_s60" name="Formula" r:id="rId5" imgW="2886075" imgH="1314450" progId="Equation.Ribbit">
                  <p:embed/>
                </p:oleObj>
              </mc:Choice>
              <mc:Fallback>
                <p:oleObj name="Formula" r:id="rId5" imgW="2886075" imgH="1314450" progId="Equation.Ribbit">
                  <p:embed/>
                  <p:pic>
                    <p:nvPicPr>
                      <p:cNvPr id="0" name="图片 59"/>
                      <p:cNvPicPr/>
                      <p:nvPr/>
                    </p:nvPicPr>
                    <p:blipFill>
                      <a:blip r:embed="rId6"/>
                      <a:stretch>
                        <a:fillRect/>
                      </a:stretch>
                    </p:blipFill>
                    <p:spPr>
                      <a:xfrm>
                        <a:off x="7448550" y="1524000"/>
                        <a:ext cx="698500" cy="319088"/>
                      </a:xfrm>
                      <a:prstGeom prst="rect">
                        <a:avLst/>
                      </a:prstGeom>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首先考虑结点  ，若将其替换为叶结点，根据落在其上的训练样本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将其标记为“好瓜”，得到验证集精度提高至         ，则决定剪枝</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353136" y="2146866"/>
            <a:ext cx="6220051" cy="3085312"/>
            <a:chOff x="1926459" y="2007290"/>
            <a:chExt cx="8479450"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2"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73714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976874"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endParaRPr lang="zh-CN" altLang="en-US" sz="2200" b="1" dirty="0">
                <a:latin typeface="Times" panose="02020603060405020304" pitchFamily="18" charset="0"/>
              </a:endParaRP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0"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6"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39" name="文本框 49"/>
            <p:cNvSpPr txBox="1"/>
            <p:nvPr/>
          </p:nvSpPr>
          <p:spPr>
            <a:xfrm>
              <a:off x="2239865"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endParaRPr lang="zh-CN" altLang="en-US" sz="2200" b="1" dirty="0">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611041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868758"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grpSp>
      <p:graphicFrame>
        <p:nvGraphicFramePr>
          <p:cNvPr id="62" name="对象 61"/>
          <p:cNvGraphicFramePr>
            <a:graphicFrameLocks noChangeAspect="1"/>
          </p:cNvGraphicFramePr>
          <p:nvPr/>
        </p:nvGraphicFramePr>
        <p:xfrm>
          <a:off x="2389188" y="1216025"/>
          <a:ext cx="261937" cy="307975"/>
        </p:xfrm>
        <a:graphic>
          <a:graphicData uri="http://schemas.openxmlformats.org/presentationml/2006/ole">
            <mc:AlternateContent xmlns:mc="http://schemas.openxmlformats.org/markup-compatibility/2006">
              <mc:Choice xmlns:v="urn:schemas-microsoft-com:vml" Requires="v">
                <p:oleObj spid="_x0000_s27941" name="Formula" r:id="rId1" imgW="1104900" imgH="1295400" progId="Equation.Ribbit">
                  <p:embed/>
                </p:oleObj>
              </mc:Choice>
              <mc:Fallback>
                <p:oleObj name="Formula" r:id="rId1" imgW="1104900" imgH="1295400" progId="Equation.Ribbit">
                  <p:embed/>
                  <p:pic>
                    <p:nvPicPr>
                      <p:cNvPr id="0" name="图片 27940"/>
                      <p:cNvPicPr/>
                      <p:nvPr/>
                    </p:nvPicPr>
                    <p:blipFill>
                      <a:blip r:embed="rId2"/>
                      <a:stretch>
                        <a:fillRect/>
                      </a:stretch>
                    </p:blipFill>
                    <p:spPr>
                      <a:xfrm>
                        <a:off x="2389188" y="1216025"/>
                        <a:ext cx="261937" cy="307975"/>
                      </a:xfrm>
                      <a:prstGeom prst="rect">
                        <a:avLst/>
                      </a:prstGeom>
                    </p:spPr>
                  </p:pic>
                </p:oleObj>
              </mc:Fallback>
            </mc:AlternateContent>
          </a:graphicData>
        </a:graphic>
      </p:graphicFrame>
      <p:sp>
        <p:nvSpPr>
          <p:cNvPr id="76" name="椭圆 75"/>
          <p:cNvSpPr/>
          <p:nvPr/>
        </p:nvSpPr>
        <p:spPr>
          <a:xfrm>
            <a:off x="3144363" y="4888690"/>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graphicFrame>
        <p:nvGraphicFramePr>
          <p:cNvPr id="56" name="对象 55"/>
          <p:cNvGraphicFramePr>
            <a:graphicFrameLocks noChangeAspect="1"/>
          </p:cNvGraphicFramePr>
          <p:nvPr/>
        </p:nvGraphicFramePr>
        <p:xfrm>
          <a:off x="866775" y="1492250"/>
          <a:ext cx="776288" cy="320675"/>
        </p:xfrm>
        <a:graphic>
          <a:graphicData uri="http://schemas.openxmlformats.org/presentationml/2006/ole">
            <mc:AlternateContent xmlns:mc="http://schemas.openxmlformats.org/markup-compatibility/2006">
              <mc:Choice xmlns:v="urn:schemas-microsoft-com:vml" Requires="v">
                <p:oleObj spid="_x0000_s5" name="Formula" r:id="rId3" imgW="3238500" imgH="1333500" progId="Equation.Ribbit">
                  <p:embed/>
                </p:oleObj>
              </mc:Choice>
              <mc:Fallback>
                <p:oleObj name="Formula" r:id="rId3" imgW="3238500" imgH="1333500" progId="Equation.Ribbit">
                  <p:embed/>
                  <p:pic>
                    <p:nvPicPr>
                      <p:cNvPr id="0" name="图片 4"/>
                      <p:cNvPicPr/>
                      <p:nvPr/>
                    </p:nvPicPr>
                    <p:blipFill>
                      <a:blip r:embed="rId4"/>
                      <a:stretch>
                        <a:fillRect/>
                      </a:stretch>
                    </p:blipFill>
                    <p:spPr>
                      <a:xfrm>
                        <a:off x="866775" y="1492250"/>
                        <a:ext cx="776288" cy="320675"/>
                      </a:xfrm>
                      <a:prstGeom prst="rect">
                        <a:avLst/>
                      </a:prstGeom>
                    </p:spPr>
                  </p:pic>
                </p:oleObj>
              </mc:Fallback>
            </mc:AlternateContent>
          </a:graphicData>
        </a:graphic>
      </p:graphicFrame>
      <p:graphicFrame>
        <p:nvGraphicFramePr>
          <p:cNvPr id="57" name="对象 56"/>
          <p:cNvGraphicFramePr>
            <a:graphicFrameLocks noChangeAspect="1"/>
          </p:cNvGraphicFramePr>
          <p:nvPr/>
        </p:nvGraphicFramePr>
        <p:xfrm>
          <a:off x="7448550" y="1524000"/>
          <a:ext cx="698500" cy="319087"/>
        </p:xfrm>
        <a:graphic>
          <a:graphicData uri="http://schemas.openxmlformats.org/presentationml/2006/ole">
            <mc:AlternateContent xmlns:mc="http://schemas.openxmlformats.org/markup-compatibility/2006">
              <mc:Choice xmlns:v="urn:schemas-microsoft-com:vml" Requires="v">
                <p:oleObj spid="_x0000_s6" name="Formula" r:id="rId5" imgW="2886075" imgH="1314450" progId="Equation.Ribbit">
                  <p:embed/>
                </p:oleObj>
              </mc:Choice>
              <mc:Fallback>
                <p:oleObj name="Formula" r:id="rId5" imgW="2886075" imgH="1314450" progId="Equation.Ribbit">
                  <p:embed/>
                  <p:pic>
                    <p:nvPicPr>
                      <p:cNvPr id="0" name="图片 5"/>
                      <p:cNvPicPr/>
                      <p:nvPr/>
                    </p:nvPicPr>
                    <p:blipFill>
                      <a:blip r:embed="rId6"/>
                      <a:stretch>
                        <a:fillRect/>
                      </a:stretch>
                    </p:blipFill>
                    <p:spPr>
                      <a:xfrm>
                        <a:off x="7448550" y="1524000"/>
                        <a:ext cx="698500" cy="319087"/>
                      </a:xfrm>
                      <a:prstGeom prst="rect">
                        <a:avLst/>
                      </a:prstGeom>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然后考虑结点  ，若将其替换为叶结点，根据落在其上的训练样本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将其标记为“好瓜”，得到验证集精度仍为</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，可以不进行剪枝</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353136" y="2146866"/>
            <a:ext cx="6220051" cy="3085312"/>
            <a:chOff x="1926459" y="2007290"/>
            <a:chExt cx="8479450"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2"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73714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色泽</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976874"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endParaRPr lang="zh-CN" altLang="en-US" sz="2200" b="1" dirty="0">
                <a:latin typeface="Times" panose="02020603060405020304" pitchFamily="18" charset="0"/>
              </a:endParaRP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0"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6"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39" name="文本框 49"/>
            <p:cNvSpPr txBox="1"/>
            <p:nvPr/>
          </p:nvSpPr>
          <p:spPr>
            <a:xfrm>
              <a:off x="2239865"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2200" b="1" dirty="0">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endParaRPr lang="zh-CN" altLang="en-US" sz="2200" b="1" dirty="0">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611041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868758"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grpSp>
      <p:graphicFrame>
        <p:nvGraphicFramePr>
          <p:cNvPr id="62" name="对象 61"/>
          <p:cNvGraphicFramePr>
            <a:graphicFrameLocks noChangeAspect="1"/>
          </p:cNvGraphicFramePr>
          <p:nvPr/>
        </p:nvGraphicFramePr>
        <p:xfrm>
          <a:off x="2389188" y="1216025"/>
          <a:ext cx="261937" cy="307975"/>
        </p:xfrm>
        <a:graphic>
          <a:graphicData uri="http://schemas.openxmlformats.org/presentationml/2006/ole">
            <mc:AlternateContent xmlns:mc="http://schemas.openxmlformats.org/markup-compatibility/2006">
              <mc:Choice xmlns:v="urn:schemas-microsoft-com:vml" Requires="v">
                <p:oleObj spid="_x0000_s27941" name="Formula" r:id="rId1" imgW="1104900" imgH="1295400" progId="Equation.Ribbit">
                  <p:embed/>
                </p:oleObj>
              </mc:Choice>
              <mc:Fallback>
                <p:oleObj name="Formula" r:id="rId1" imgW="1104900" imgH="1295400" progId="Equation.Ribbit">
                  <p:embed/>
                  <p:pic>
                    <p:nvPicPr>
                      <p:cNvPr id="0" name="图片 27940"/>
                      <p:cNvPicPr/>
                      <p:nvPr/>
                    </p:nvPicPr>
                    <p:blipFill>
                      <a:blip r:embed="rId2"/>
                      <a:stretch>
                        <a:fillRect/>
                      </a:stretch>
                    </p:blipFill>
                    <p:spPr>
                      <a:xfrm>
                        <a:off x="2389188" y="1216025"/>
                        <a:ext cx="261937" cy="307975"/>
                      </a:xfrm>
                      <a:prstGeom prst="rect">
                        <a:avLst/>
                      </a:prstGeom>
                    </p:spPr>
                  </p:pic>
                </p:oleObj>
              </mc:Fallback>
            </mc:AlternateContent>
          </a:graphicData>
        </a:graphic>
      </p:graphicFrame>
      <p:cxnSp>
        <p:nvCxnSpPr>
          <p:cNvPr id="55" name="直接箭头连接符 54"/>
          <p:cNvCxnSpPr/>
          <p:nvPr/>
        </p:nvCxnSpPr>
        <p:spPr>
          <a:xfrm flipH="1" flipV="1">
            <a:off x="3973136" y="4330216"/>
            <a:ext cx="1521328" cy="464491"/>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文本框 54"/>
          <p:cNvSpPr txBox="1"/>
          <p:nvPr/>
        </p:nvSpPr>
        <p:spPr>
          <a:xfrm>
            <a:off x="5926680" y="4198382"/>
            <a:ext cx="133882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57" name="文本框 55"/>
          <p:cNvSpPr txBox="1"/>
          <p:nvPr/>
        </p:nvSpPr>
        <p:spPr>
          <a:xfrm>
            <a:off x="5926680" y="4533460"/>
            <a:ext cx="1709122" cy="646331"/>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剪枝前</a:t>
            </a:r>
            <a:r>
              <a:rPr lang="en-US" altLang="zh-CN" b="1" dirty="0">
                <a:solidFill>
                  <a:srgbClr val="FF0000"/>
                </a:solidFill>
                <a:latin typeface="Times "/>
                <a:ea typeface="楷体" panose="02010609060101010101" pitchFamily="49" charset="-122"/>
              </a:rPr>
              <a:t>: 57.1 %</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剪枝后</a:t>
            </a:r>
            <a:r>
              <a:rPr lang="en-US" altLang="zh-CN" b="1" dirty="0">
                <a:solidFill>
                  <a:srgbClr val="FF0000"/>
                </a:solidFill>
                <a:latin typeface="Times "/>
                <a:ea typeface="楷体" panose="02010609060101010101" pitchFamily="49" charset="-122"/>
              </a:rPr>
              <a:t>: 57.1%</a:t>
            </a:r>
            <a:endParaRPr lang="zh-CN" altLang="en-US" b="1" dirty="0">
              <a:solidFill>
                <a:srgbClr val="FF0000"/>
              </a:solidFill>
              <a:latin typeface="Times "/>
              <a:ea typeface="楷体" panose="02010609060101010101" pitchFamily="49" charset="-122"/>
            </a:endParaRPr>
          </a:p>
        </p:txBody>
      </p:sp>
      <p:sp>
        <p:nvSpPr>
          <p:cNvPr id="58" name="文本框 56"/>
          <p:cNvSpPr txBox="1"/>
          <p:nvPr/>
        </p:nvSpPr>
        <p:spPr>
          <a:xfrm>
            <a:off x="5480731" y="5105579"/>
            <a:ext cx="2262158" cy="369332"/>
          </a:xfrm>
          <a:prstGeom prst="rect">
            <a:avLst/>
          </a:prstGeom>
          <a:noFill/>
        </p:spPr>
        <p:txBody>
          <a:bodyPr wrap="none" rtlCol="0">
            <a:spAutoFit/>
          </a:bodyPr>
          <a:lstStyle/>
          <a:p>
            <a:r>
              <a:rPr lang="zh-CN" altLang="en-US" b="1" dirty="0">
                <a:solidFill>
                  <a:srgbClr val="FF0000"/>
                </a:solidFill>
                <a:latin typeface="Times "/>
                <a:ea typeface="楷体" panose="02010609060101010101" pitchFamily="49" charset="-122"/>
              </a:rPr>
              <a:t>后剪枝决策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不剪枝</a:t>
            </a:r>
            <a:endParaRPr lang="zh-CN" altLang="en-US" b="1" dirty="0">
              <a:solidFill>
                <a:srgbClr val="FF0000"/>
              </a:solidFill>
              <a:latin typeface="Times "/>
              <a:ea typeface="楷体" panose="02010609060101010101" pitchFamily="49" charset="-122"/>
            </a:endParaRPr>
          </a:p>
        </p:txBody>
      </p:sp>
      <p:sp>
        <p:nvSpPr>
          <p:cNvPr id="59" name="椭圆 58"/>
          <p:cNvSpPr/>
          <p:nvPr/>
        </p:nvSpPr>
        <p:spPr>
          <a:xfrm>
            <a:off x="3149063" y="4882438"/>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t>好瓜</a:t>
            </a:r>
            <a:endParaRPr lang="zh-CN" altLang="en-US" sz="1400" b="1" dirty="0"/>
          </a:p>
        </p:txBody>
      </p:sp>
      <p:graphicFrame>
        <p:nvGraphicFramePr>
          <p:cNvPr id="64" name="对象 63"/>
          <p:cNvGraphicFramePr>
            <a:graphicFrameLocks noChangeAspect="1"/>
          </p:cNvGraphicFramePr>
          <p:nvPr/>
        </p:nvGraphicFramePr>
        <p:xfrm>
          <a:off x="876300" y="1493838"/>
          <a:ext cx="1030288" cy="320675"/>
        </p:xfrm>
        <a:graphic>
          <a:graphicData uri="http://schemas.openxmlformats.org/presentationml/2006/ole">
            <mc:AlternateContent xmlns:mc="http://schemas.openxmlformats.org/markup-compatibility/2006">
              <mc:Choice xmlns:v="urn:schemas-microsoft-com:vml" Requires="v">
                <p:oleObj spid="_x0000_s5" name="Formula" r:id="rId3" imgW="4295775" imgH="1333500" progId="Equation.Ribbit">
                  <p:embed/>
                </p:oleObj>
              </mc:Choice>
              <mc:Fallback>
                <p:oleObj name="Formula" r:id="rId3" imgW="4295775" imgH="1333500" progId="Equation.Ribbit">
                  <p:embed/>
                  <p:pic>
                    <p:nvPicPr>
                      <p:cNvPr id="0" name="图片 4"/>
                      <p:cNvPicPr/>
                      <p:nvPr/>
                    </p:nvPicPr>
                    <p:blipFill>
                      <a:blip r:embed="rId4"/>
                      <a:stretch>
                        <a:fillRect/>
                      </a:stretch>
                    </p:blipFill>
                    <p:spPr>
                      <a:xfrm>
                        <a:off x="876300" y="1493838"/>
                        <a:ext cx="1030288" cy="320675"/>
                      </a:xfrm>
                      <a:prstGeom prst="rect">
                        <a:avLst/>
                      </a:prstGeom>
                    </p:spPr>
                  </p:pic>
                </p:oleObj>
              </mc:Fallback>
            </mc:AlternateContent>
          </a:graphicData>
        </a:graphic>
      </p:graphicFrame>
      <p:graphicFrame>
        <p:nvGraphicFramePr>
          <p:cNvPr id="65" name="对象 64"/>
          <p:cNvGraphicFramePr>
            <a:graphicFrameLocks noChangeAspect="1"/>
          </p:cNvGraphicFramePr>
          <p:nvPr/>
        </p:nvGraphicFramePr>
        <p:xfrm>
          <a:off x="7445375" y="1523991"/>
          <a:ext cx="701675" cy="319088"/>
        </p:xfrm>
        <a:graphic>
          <a:graphicData uri="http://schemas.openxmlformats.org/presentationml/2006/ole">
            <mc:AlternateContent xmlns:mc="http://schemas.openxmlformats.org/markup-compatibility/2006">
              <mc:Choice xmlns:v="urn:schemas-microsoft-com:vml" Requires="v">
                <p:oleObj spid="_x0000_s6" name="Formula" r:id="rId5" imgW="2886075" imgH="1314450" progId="Equation.Ribbit">
                  <p:embed/>
                </p:oleObj>
              </mc:Choice>
              <mc:Fallback>
                <p:oleObj name="Formula" r:id="rId5" imgW="2886075" imgH="1314450" progId="Equation.Ribbit">
                  <p:embed/>
                  <p:pic>
                    <p:nvPicPr>
                      <p:cNvPr id="0" name="图片 5"/>
                      <p:cNvPicPr/>
                      <p:nvPr/>
                    </p:nvPicPr>
                    <p:blipFill>
                      <a:blip r:embed="rId6"/>
                      <a:stretch>
                        <a:fillRect/>
                      </a:stretch>
                    </p:blipFill>
                    <p:spPr>
                      <a:xfrm>
                        <a:off x="7445375" y="1523991"/>
                        <a:ext cx="701675" cy="319088"/>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对结点  ，若将其替换为叶结点，根据落在其上的训练样本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，将其标记为“好瓜”，得到验证集精度提升至</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，则决定剪枝</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1320802" y="2146866"/>
            <a:ext cx="6220051" cy="3085312"/>
            <a:chOff x="1926459" y="2007290"/>
            <a:chExt cx="8479449"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737146"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2"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97687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endParaRPr lang="zh-CN" altLang="en-US" sz="2200" b="1" dirty="0">
                <a:latin typeface="Times" panose="02020603060405020304" pitchFamily="18" charset="0"/>
              </a:endParaRPr>
            </a:p>
          </p:txBody>
        </p:sp>
        <p:sp>
          <p:nvSpPr>
            <p:cNvPr id="31" name="椭圆 30"/>
            <p:cNvSpPr/>
            <p:nvPr/>
          </p:nvSpPr>
          <p:spPr>
            <a:xfrm>
              <a:off x="3155103"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32" name="椭圆 31"/>
            <p:cNvSpPr/>
            <p:nvPr/>
          </p:nvSpPr>
          <p:spPr>
            <a:xfrm>
              <a:off x="4383747"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33" name="椭圆 32"/>
            <p:cNvSpPr/>
            <p:nvPr/>
          </p:nvSpPr>
          <p:spPr>
            <a:xfrm>
              <a:off x="1926459" y="4234055"/>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34" name="直接连接符 33"/>
            <p:cNvCxnSpPr/>
            <p:nvPr/>
          </p:nvCxnSpPr>
          <p:spPr>
            <a:xfrm flipH="1">
              <a:off x="2466572" y="341992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35" name="文本框 45"/>
            <p:cNvSpPr txBox="1"/>
            <p:nvPr/>
          </p:nvSpPr>
          <p:spPr>
            <a:xfrm>
              <a:off x="3667182"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36" name="直接连接符 35"/>
            <p:cNvCxnSpPr/>
            <p:nvPr/>
          </p:nvCxnSpPr>
          <p:spPr>
            <a:xfrm>
              <a:off x="3717794" y="341992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3717794" y="3610584"/>
              <a:ext cx="0"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48"/>
            <p:cNvSpPr txBox="1"/>
            <p:nvPr/>
          </p:nvSpPr>
          <p:spPr>
            <a:xfrm>
              <a:off x="4592685"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39" name="文本框 49"/>
            <p:cNvSpPr txBox="1"/>
            <p:nvPr/>
          </p:nvSpPr>
          <p:spPr>
            <a:xfrm>
              <a:off x="2239865" y="3729815"/>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40" name="圆角矩形 39"/>
            <p:cNvSpPr/>
            <p:nvPr/>
          </p:nvSpPr>
          <p:spPr>
            <a:xfrm>
              <a:off x="3161197" y="3176234"/>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色泽</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41" name="椭圆 40"/>
            <p:cNvSpPr/>
            <p:nvPr/>
          </p:nvSpPr>
          <p:spPr>
            <a:xfrm>
              <a:off x="9325908" y="3175860"/>
              <a:ext cx="1080000" cy="43200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a:endCxn id="40" idx="0"/>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endParaRPr lang="zh-CN" altLang="en-US" sz="2200" b="1" dirty="0">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611041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868758"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0" name="椭圆 49"/>
            <p:cNvSpPr/>
            <p:nvPr/>
          </p:nvSpPr>
          <p:spPr>
            <a:xfrm>
              <a:off x="3003222" y="302731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grpSp>
      <p:graphicFrame>
        <p:nvGraphicFramePr>
          <p:cNvPr id="62" name="对象 61"/>
          <p:cNvGraphicFramePr>
            <a:graphicFrameLocks noChangeAspect="1"/>
          </p:cNvGraphicFramePr>
          <p:nvPr/>
        </p:nvGraphicFramePr>
        <p:xfrm>
          <a:off x="1560513" y="1208088"/>
          <a:ext cx="261937" cy="306387"/>
        </p:xfrm>
        <a:graphic>
          <a:graphicData uri="http://schemas.openxmlformats.org/presentationml/2006/ole">
            <mc:AlternateContent xmlns:mc="http://schemas.openxmlformats.org/markup-compatibility/2006">
              <mc:Choice xmlns:v="urn:schemas-microsoft-com:vml" Requires="v">
                <p:oleObj spid="_x0000_s27941" name="Formula" r:id="rId1" imgW="1104900" imgH="1295400" progId="Equation.Ribbit">
                  <p:embed/>
                </p:oleObj>
              </mc:Choice>
              <mc:Fallback>
                <p:oleObj name="Formula" r:id="rId1" imgW="1104900" imgH="1295400" progId="Equation.Ribbit">
                  <p:embed/>
                  <p:pic>
                    <p:nvPicPr>
                      <p:cNvPr id="0" name="图片 27940"/>
                      <p:cNvPicPr/>
                      <p:nvPr/>
                    </p:nvPicPr>
                    <p:blipFill>
                      <a:blip r:embed="rId2"/>
                      <a:stretch>
                        <a:fillRect/>
                      </a:stretch>
                    </p:blipFill>
                    <p:spPr>
                      <a:xfrm>
                        <a:off x="1560513" y="1208088"/>
                        <a:ext cx="261937" cy="306387"/>
                      </a:xfrm>
                      <a:prstGeom prst="rect">
                        <a:avLst/>
                      </a:prstGeom>
                    </p:spPr>
                  </p:pic>
                </p:oleObj>
              </mc:Fallback>
            </mc:AlternateContent>
          </a:graphicData>
        </a:graphic>
      </p:graphicFrame>
      <p:sp>
        <p:nvSpPr>
          <p:cNvPr id="55" name="文本框 37"/>
          <p:cNvSpPr txBox="1"/>
          <p:nvPr/>
        </p:nvSpPr>
        <p:spPr>
          <a:xfrm>
            <a:off x="1028813" y="4752155"/>
            <a:ext cx="1338828" cy="369332"/>
          </a:xfrm>
          <a:prstGeom prst="rect">
            <a:avLst/>
          </a:prstGeom>
          <a:noFill/>
        </p:spPr>
        <p:txBody>
          <a:bodyPr wrap="square" rtlCol="0">
            <a:spAutoFit/>
          </a:bodyPr>
          <a:lstStyle/>
          <a:p>
            <a:r>
              <a:rPr lang="zh-CN" altLang="en-US" b="1" dirty="0">
                <a:solidFill>
                  <a:srgbClr val="FF0000"/>
                </a:solidFill>
                <a:latin typeface="Times "/>
                <a:ea typeface="楷体" panose="02010609060101010101" pitchFamily="49" charset="-122"/>
              </a:rPr>
              <a:t>验证集精度</a:t>
            </a:r>
            <a:endParaRPr lang="zh-CN" altLang="en-US" b="1" dirty="0">
              <a:solidFill>
                <a:srgbClr val="FF0000"/>
              </a:solidFill>
              <a:latin typeface="Times "/>
              <a:ea typeface="楷体" panose="02010609060101010101" pitchFamily="49" charset="-122"/>
            </a:endParaRPr>
          </a:p>
        </p:txBody>
      </p:sp>
      <p:sp>
        <p:nvSpPr>
          <p:cNvPr id="56" name="文本框 38"/>
          <p:cNvSpPr txBox="1"/>
          <p:nvPr/>
        </p:nvSpPr>
        <p:spPr>
          <a:xfrm>
            <a:off x="1515669" y="5050935"/>
            <a:ext cx="1685077" cy="646331"/>
          </a:xfrm>
          <a:prstGeom prst="rect">
            <a:avLst/>
          </a:prstGeom>
          <a:noFill/>
        </p:spPr>
        <p:txBody>
          <a:bodyPr wrap="square" rtlCol="0">
            <a:spAutoFit/>
          </a:bodyPr>
          <a:lstStyle/>
          <a:p>
            <a:r>
              <a:rPr lang="zh-CN" altLang="en-US" b="1" dirty="0">
                <a:solidFill>
                  <a:srgbClr val="FF0000"/>
                </a:solidFill>
                <a:latin typeface="Times "/>
                <a:ea typeface="楷体" panose="02010609060101010101" pitchFamily="49" charset="-122"/>
              </a:rPr>
              <a:t>剪枝前</a:t>
            </a:r>
            <a:r>
              <a:rPr lang="en-US" altLang="zh-CN" b="1" dirty="0">
                <a:solidFill>
                  <a:srgbClr val="FF0000"/>
                </a:solidFill>
                <a:latin typeface="Times "/>
                <a:ea typeface="楷体" panose="02010609060101010101" pitchFamily="49" charset="-122"/>
              </a:rPr>
              <a:t>: 57.1%</a:t>
            </a:r>
            <a:endParaRPr lang="en-US" altLang="zh-CN" b="1" dirty="0">
              <a:solidFill>
                <a:srgbClr val="FF0000"/>
              </a:solidFill>
              <a:latin typeface="Times "/>
              <a:ea typeface="楷体" panose="02010609060101010101" pitchFamily="49" charset="-122"/>
            </a:endParaRPr>
          </a:p>
          <a:p>
            <a:r>
              <a:rPr lang="zh-CN" altLang="en-US" b="1" dirty="0">
                <a:solidFill>
                  <a:srgbClr val="FF0000"/>
                </a:solidFill>
                <a:latin typeface="Times "/>
                <a:ea typeface="楷体" panose="02010609060101010101" pitchFamily="49" charset="-122"/>
              </a:rPr>
              <a:t>剪枝后</a:t>
            </a:r>
            <a:r>
              <a:rPr lang="en-US" altLang="zh-CN" b="1" dirty="0">
                <a:solidFill>
                  <a:srgbClr val="FF0000"/>
                </a:solidFill>
                <a:latin typeface="Times "/>
                <a:ea typeface="楷体" panose="02010609060101010101" pitchFamily="49" charset="-122"/>
              </a:rPr>
              <a:t>: 71.4%</a:t>
            </a:r>
            <a:endParaRPr lang="zh-CN" altLang="en-US" b="1" dirty="0">
              <a:solidFill>
                <a:srgbClr val="FF0000"/>
              </a:solidFill>
              <a:latin typeface="Times "/>
              <a:ea typeface="楷体" panose="02010609060101010101" pitchFamily="49" charset="-122"/>
            </a:endParaRPr>
          </a:p>
        </p:txBody>
      </p:sp>
      <p:sp>
        <p:nvSpPr>
          <p:cNvPr id="57" name="文本框 39"/>
          <p:cNvSpPr txBox="1"/>
          <p:nvPr/>
        </p:nvSpPr>
        <p:spPr>
          <a:xfrm>
            <a:off x="1069720" y="5623054"/>
            <a:ext cx="2031325" cy="369332"/>
          </a:xfrm>
          <a:prstGeom prst="rect">
            <a:avLst/>
          </a:prstGeom>
          <a:noFill/>
        </p:spPr>
        <p:txBody>
          <a:bodyPr wrap="square" rtlCol="0">
            <a:spAutoFit/>
          </a:bodyPr>
          <a:lstStyle/>
          <a:p>
            <a:r>
              <a:rPr lang="zh-CN" altLang="en-US" b="1" dirty="0">
                <a:solidFill>
                  <a:srgbClr val="FF0000"/>
                </a:solidFill>
                <a:latin typeface="Times "/>
                <a:ea typeface="楷体" panose="02010609060101010101" pitchFamily="49" charset="-122"/>
              </a:rPr>
              <a:t>后剪枝决策</a:t>
            </a:r>
            <a:r>
              <a:rPr lang="en-US" altLang="zh-CN" b="1" dirty="0">
                <a:solidFill>
                  <a:srgbClr val="FF0000"/>
                </a:solidFill>
                <a:latin typeface="Times "/>
                <a:ea typeface="楷体" panose="02010609060101010101" pitchFamily="49" charset="-122"/>
              </a:rPr>
              <a:t>: </a:t>
            </a:r>
            <a:r>
              <a:rPr lang="zh-CN" altLang="en-US" b="1" dirty="0">
                <a:solidFill>
                  <a:srgbClr val="FF0000"/>
                </a:solidFill>
                <a:latin typeface="Times "/>
                <a:ea typeface="楷体" panose="02010609060101010101" pitchFamily="49" charset="-122"/>
              </a:rPr>
              <a:t>剪枝</a:t>
            </a:r>
            <a:endParaRPr lang="zh-CN" altLang="en-US" b="1" dirty="0">
              <a:solidFill>
                <a:srgbClr val="FF0000"/>
              </a:solidFill>
              <a:latin typeface="Times "/>
              <a:ea typeface="楷体" panose="02010609060101010101" pitchFamily="49" charset="-122"/>
            </a:endParaRPr>
          </a:p>
        </p:txBody>
      </p:sp>
      <p:cxnSp>
        <p:nvCxnSpPr>
          <p:cNvPr id="58" name="直接箭头连接符 57"/>
          <p:cNvCxnSpPr/>
          <p:nvPr/>
        </p:nvCxnSpPr>
        <p:spPr>
          <a:xfrm flipV="1">
            <a:off x="1984671" y="3663578"/>
            <a:ext cx="415679" cy="1132625"/>
          </a:xfrm>
          <a:prstGeom prst="straightConnector1">
            <a:avLst/>
          </a:prstGeom>
          <a:ln w="127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60" name="椭圆 59"/>
          <p:cNvSpPr/>
          <p:nvPr/>
        </p:nvSpPr>
        <p:spPr>
          <a:xfrm>
            <a:off x="4070577" y="4879169"/>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t>好瓜</a:t>
            </a:r>
            <a:endParaRPr lang="zh-CN" altLang="en-US" sz="1400" b="1" dirty="0"/>
          </a:p>
        </p:txBody>
      </p:sp>
      <p:graphicFrame>
        <p:nvGraphicFramePr>
          <p:cNvPr id="54" name="对象 53"/>
          <p:cNvGraphicFramePr>
            <a:graphicFrameLocks noChangeAspect="1"/>
          </p:cNvGraphicFramePr>
          <p:nvPr/>
        </p:nvGraphicFramePr>
        <p:xfrm>
          <a:off x="885825" y="1503363"/>
          <a:ext cx="1285875" cy="320675"/>
        </p:xfrm>
        <a:graphic>
          <a:graphicData uri="http://schemas.openxmlformats.org/presentationml/2006/ole">
            <mc:AlternateContent xmlns:mc="http://schemas.openxmlformats.org/markup-compatibility/2006">
              <mc:Choice xmlns:v="urn:schemas-microsoft-com:vml" Requires="v">
                <p:oleObj spid="_x0000_s5" name="Formula" r:id="rId3" imgW="5353050" imgH="1333500" progId="Equation.Ribbit">
                  <p:embed/>
                </p:oleObj>
              </mc:Choice>
              <mc:Fallback>
                <p:oleObj name="Formula" r:id="rId3" imgW="5353050" imgH="1333500" progId="Equation.Ribbit">
                  <p:embed/>
                  <p:pic>
                    <p:nvPicPr>
                      <p:cNvPr id="0" name="图片 4"/>
                      <p:cNvPicPr/>
                      <p:nvPr/>
                    </p:nvPicPr>
                    <p:blipFill>
                      <a:blip r:embed="rId4"/>
                      <a:stretch>
                        <a:fillRect/>
                      </a:stretch>
                    </p:blipFill>
                    <p:spPr>
                      <a:xfrm>
                        <a:off x="885825" y="1503363"/>
                        <a:ext cx="1285875" cy="320675"/>
                      </a:xfrm>
                      <a:prstGeom prst="rect">
                        <a:avLst/>
                      </a:prstGeom>
                    </p:spPr>
                  </p:pic>
                </p:oleObj>
              </mc:Fallback>
            </mc:AlternateContent>
          </a:graphicData>
        </a:graphic>
      </p:graphicFrame>
      <p:graphicFrame>
        <p:nvGraphicFramePr>
          <p:cNvPr id="59" name="对象 58"/>
          <p:cNvGraphicFramePr>
            <a:graphicFrameLocks noChangeAspect="1"/>
          </p:cNvGraphicFramePr>
          <p:nvPr/>
        </p:nvGraphicFramePr>
        <p:xfrm>
          <a:off x="912813" y="1819275"/>
          <a:ext cx="698500" cy="319088"/>
        </p:xfrm>
        <a:graphic>
          <a:graphicData uri="http://schemas.openxmlformats.org/presentationml/2006/ole">
            <mc:AlternateContent xmlns:mc="http://schemas.openxmlformats.org/markup-compatibility/2006">
              <mc:Choice xmlns:v="urn:schemas-microsoft-com:vml" Requires="v">
                <p:oleObj spid="_x0000_s6" name="Formula" r:id="rId5" imgW="2886075" imgH="1314450" progId="Equation.Ribbit">
                  <p:embed/>
                </p:oleObj>
              </mc:Choice>
              <mc:Fallback>
                <p:oleObj name="Formula" r:id="rId5" imgW="2886075" imgH="1314450" progId="Equation.Ribbit">
                  <p:embed/>
                  <p:pic>
                    <p:nvPicPr>
                      <p:cNvPr id="0" name="图片 5"/>
                      <p:cNvPicPr/>
                      <p:nvPr/>
                    </p:nvPicPr>
                    <p:blipFill>
                      <a:blip r:embed="rId6"/>
                      <a:stretch>
                        <a:fillRect/>
                      </a:stretch>
                    </p:blipFill>
                    <p:spPr>
                      <a:xfrm>
                        <a:off x="912813" y="1819275"/>
                        <a:ext cx="698500" cy="319088"/>
                      </a:xfrm>
                      <a:prstGeom prst="rect">
                        <a:avLst/>
                      </a:prstGeom>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对结点  和   ，先后替换为叶结点，验证集精度均未提升，则分支得到保留</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1654984" y="2146866"/>
            <a:ext cx="4918202" cy="3085312"/>
            <a:chOff x="3701197" y="2007290"/>
            <a:chExt cx="6704712"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737146"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97687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根蒂</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solidFill>
                    <a:schemeClr val="tx2"/>
                  </a:solidFill>
                  <a:latin typeface="Times" panose="02020603060405020304" pitchFamily="18" charset="0"/>
                </a:rPr>
                <a:t>脐部</a:t>
              </a:r>
              <a:r>
                <a:rPr lang="en-US" altLang="zh-CN" sz="2400" b="1" dirty="0">
                  <a:solidFill>
                    <a:schemeClr val="tx2"/>
                  </a:solidFill>
                  <a:latin typeface="Times" panose="02020603060405020304" pitchFamily="18" charset="0"/>
                </a:rPr>
                <a:t>?</a:t>
              </a:r>
              <a:endParaRPr lang="zh-CN" altLang="en-US" sz="4800" b="1" dirty="0">
                <a:solidFill>
                  <a:schemeClr val="tx2"/>
                </a:solidFill>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611041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868757"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grpSp>
      <p:graphicFrame>
        <p:nvGraphicFramePr>
          <p:cNvPr id="62" name="对象 61"/>
          <p:cNvGraphicFramePr>
            <a:graphicFrameLocks noChangeAspect="1"/>
          </p:cNvGraphicFramePr>
          <p:nvPr/>
        </p:nvGraphicFramePr>
        <p:xfrm>
          <a:off x="1560513" y="1208088"/>
          <a:ext cx="261937" cy="306387"/>
        </p:xfrm>
        <a:graphic>
          <a:graphicData uri="http://schemas.openxmlformats.org/presentationml/2006/ole">
            <mc:AlternateContent xmlns:mc="http://schemas.openxmlformats.org/markup-compatibility/2006">
              <mc:Choice xmlns:v="urn:schemas-microsoft-com:vml" Requires="v">
                <p:oleObj spid="_x0000_s27941" name="Formula" r:id="rId1" imgW="1104900" imgH="1295400" progId="Equation.Ribbit">
                  <p:embed/>
                </p:oleObj>
              </mc:Choice>
              <mc:Fallback>
                <p:oleObj name="Formula" r:id="rId1" imgW="1104900" imgH="1295400" progId="Equation.Ribbit">
                  <p:embed/>
                  <p:pic>
                    <p:nvPicPr>
                      <p:cNvPr id="0" name="图片 27940"/>
                      <p:cNvPicPr/>
                      <p:nvPr/>
                    </p:nvPicPr>
                    <p:blipFill>
                      <a:blip r:embed="rId2"/>
                      <a:stretch>
                        <a:fillRect/>
                      </a:stretch>
                    </p:blipFill>
                    <p:spPr>
                      <a:xfrm>
                        <a:off x="1560513" y="1208088"/>
                        <a:ext cx="261937" cy="306387"/>
                      </a:xfrm>
                      <a:prstGeom prst="rect">
                        <a:avLst/>
                      </a:prstGeom>
                    </p:spPr>
                  </p:pic>
                </p:oleObj>
              </mc:Fallback>
            </mc:AlternateContent>
          </a:graphicData>
        </a:graphic>
      </p:graphicFrame>
      <p:graphicFrame>
        <p:nvGraphicFramePr>
          <p:cNvPr id="59" name="对象 58"/>
          <p:cNvGraphicFramePr>
            <a:graphicFrameLocks noChangeAspect="1"/>
          </p:cNvGraphicFramePr>
          <p:nvPr/>
        </p:nvGraphicFramePr>
        <p:xfrm>
          <a:off x="2138363" y="1208088"/>
          <a:ext cx="261937" cy="306387"/>
        </p:xfrm>
        <a:graphic>
          <a:graphicData uri="http://schemas.openxmlformats.org/presentationml/2006/ole">
            <mc:AlternateContent xmlns:mc="http://schemas.openxmlformats.org/markup-compatibility/2006">
              <mc:Choice xmlns:v="urn:schemas-microsoft-com:vml" Requires="v">
                <p:oleObj spid="_x0000_s5" name="Formula" r:id="rId3" imgW="1104900" imgH="1295400" progId="Equation.Ribbit">
                  <p:embed/>
                </p:oleObj>
              </mc:Choice>
              <mc:Fallback>
                <p:oleObj name="Formula" r:id="rId3" imgW="1104900" imgH="1295400" progId="Equation.Ribbit">
                  <p:embed/>
                  <p:pic>
                    <p:nvPicPr>
                      <p:cNvPr id="0" name="图片 4"/>
                      <p:cNvPicPr/>
                      <p:nvPr/>
                    </p:nvPicPr>
                    <p:blipFill>
                      <a:blip r:embed="rId4"/>
                      <a:stretch>
                        <a:fillRect/>
                      </a:stretch>
                    </p:blipFill>
                    <p:spPr>
                      <a:xfrm>
                        <a:off x="2138363" y="1208088"/>
                        <a:ext cx="261937" cy="306387"/>
                      </a:xfrm>
                      <a:prstGeom prst="rect">
                        <a:avLst/>
                      </a:prstGeom>
                    </p:spPr>
                  </p:pic>
                </p:oleObj>
              </mc:Fallback>
            </mc:AlternateContent>
          </a:graphicData>
        </a:graphic>
      </p:graphicFrame>
      <p:sp>
        <p:nvSpPr>
          <p:cNvPr id="61" name="椭圆 60"/>
          <p:cNvSpPr/>
          <p:nvPr/>
        </p:nvSpPr>
        <p:spPr>
          <a:xfrm>
            <a:off x="1288173" y="3121405"/>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63" name="椭圆 62"/>
          <p:cNvSpPr/>
          <p:nvPr/>
        </p:nvSpPr>
        <p:spPr>
          <a:xfrm>
            <a:off x="3123719" y="4879709"/>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40" name="椭圆 39"/>
          <p:cNvSpPr/>
          <p:nvPr/>
        </p:nvSpPr>
        <p:spPr>
          <a:xfrm>
            <a:off x="1258320" y="3081574"/>
            <a:ext cx="211261" cy="240652"/>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2</a:t>
            </a:r>
            <a:endParaRPr lang="zh-CN" altLang="en-US" b="1" dirty="0">
              <a:solidFill>
                <a:schemeClr val="tx1"/>
              </a:solidFill>
              <a:latin typeface="Times "/>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最终基于后剪枝策略得到的决策树如图所示</a:t>
            </a:r>
            <a:endParaRPr lang="zh-CN" altLang="en-US" b="1" dirty="0">
              <a:latin typeface="黑体" panose="02010609060101010101" pitchFamily="49" charset="-122"/>
              <a:ea typeface="黑体" panose="02010609060101010101" pitchFamily="49" charset="-122"/>
            </a:endParaRPr>
          </a:p>
        </p:txBody>
      </p:sp>
      <p:grpSp>
        <p:nvGrpSpPr>
          <p:cNvPr id="4" name="组合 3"/>
          <p:cNvGrpSpPr/>
          <p:nvPr/>
        </p:nvGrpSpPr>
        <p:grpSpPr>
          <a:xfrm>
            <a:off x="1654984" y="2146866"/>
            <a:ext cx="4918202" cy="3085312"/>
            <a:chOff x="3701197" y="2007290"/>
            <a:chExt cx="6704712" cy="3692348"/>
          </a:xfrm>
        </p:grpSpPr>
        <p:sp>
          <p:nvSpPr>
            <p:cNvPr id="13" name="椭圆 12"/>
            <p:cNvSpPr/>
            <p:nvPr/>
          </p:nvSpPr>
          <p:spPr>
            <a:xfrm>
              <a:off x="4423852"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sp>
          <p:nvSpPr>
            <p:cNvPr id="14" name="椭圆 13"/>
            <p:cNvSpPr/>
            <p:nvPr/>
          </p:nvSpPr>
          <p:spPr>
            <a:xfrm>
              <a:off x="6923629" y="5267638"/>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15" name="直接连接符 14"/>
            <p:cNvCxnSpPr/>
            <p:nvPr/>
          </p:nvCxnSpPr>
          <p:spPr>
            <a:xfrm flipH="1">
              <a:off x="4963852" y="446935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16" name="文本框 26"/>
            <p:cNvSpPr txBox="1"/>
            <p:nvPr/>
          </p:nvSpPr>
          <p:spPr>
            <a:xfrm>
              <a:off x="6164461"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乌黑</a:t>
              </a:r>
              <a:endParaRPr lang="zh-CN" altLang="en-US" b="1" dirty="0">
                <a:latin typeface="楷体" panose="02010609060101010101" pitchFamily="49" charset="-122"/>
                <a:ea typeface="楷体" panose="02010609060101010101" pitchFamily="49" charset="-122"/>
              </a:endParaRPr>
            </a:p>
          </p:txBody>
        </p:sp>
        <p:cxnSp>
          <p:nvCxnSpPr>
            <p:cNvPr id="17" name="直接连接符 16"/>
            <p:cNvCxnSpPr/>
            <p:nvPr/>
          </p:nvCxnSpPr>
          <p:spPr>
            <a:xfrm>
              <a:off x="6215074" y="446935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6215074" y="4660014"/>
              <a:ext cx="0" cy="607721"/>
            </a:xfrm>
            <a:prstGeom prst="line">
              <a:avLst/>
            </a:prstGeom>
          </p:spPr>
          <p:style>
            <a:lnRef idx="1">
              <a:schemeClr val="dk1"/>
            </a:lnRef>
            <a:fillRef idx="0">
              <a:schemeClr val="dk1"/>
            </a:fillRef>
            <a:effectRef idx="0">
              <a:schemeClr val="dk1"/>
            </a:effectRef>
            <a:fontRef idx="minor">
              <a:schemeClr val="tx1"/>
            </a:fontRef>
          </p:style>
        </p:cxnSp>
        <p:sp>
          <p:nvSpPr>
            <p:cNvPr id="19" name="文本框 29"/>
            <p:cNvSpPr txBox="1"/>
            <p:nvPr/>
          </p:nvSpPr>
          <p:spPr>
            <a:xfrm>
              <a:off x="7089965"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浅白</a:t>
              </a:r>
              <a:endParaRPr lang="zh-CN" altLang="en-US" b="1" dirty="0">
                <a:latin typeface="楷体" panose="02010609060101010101" pitchFamily="49" charset="-122"/>
                <a:ea typeface="楷体" panose="02010609060101010101" pitchFamily="49" charset="-122"/>
              </a:endParaRPr>
            </a:p>
          </p:txBody>
        </p:sp>
        <p:sp>
          <p:nvSpPr>
            <p:cNvPr id="20" name="文本框 30"/>
            <p:cNvSpPr txBox="1"/>
            <p:nvPr/>
          </p:nvSpPr>
          <p:spPr>
            <a:xfrm>
              <a:off x="4737146" y="477924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青绿</a:t>
              </a:r>
              <a:endParaRPr lang="zh-CN" altLang="en-US" b="1" dirty="0">
                <a:latin typeface="楷体" panose="02010609060101010101" pitchFamily="49" charset="-122"/>
                <a:ea typeface="楷体" panose="02010609060101010101" pitchFamily="49" charset="-122"/>
              </a:endParaRPr>
            </a:p>
          </p:txBody>
        </p:sp>
        <p:sp>
          <p:nvSpPr>
            <p:cNvPr id="21" name="圆角矩形 20"/>
            <p:cNvSpPr/>
            <p:nvPr/>
          </p:nvSpPr>
          <p:spPr>
            <a:xfrm>
              <a:off x="5675074" y="422202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色泽</a:t>
              </a:r>
              <a:endParaRPr lang="zh-CN" altLang="en-US" sz="4800" b="1" dirty="0">
                <a:solidFill>
                  <a:schemeClr val="tx2"/>
                </a:solidFill>
                <a:latin typeface="Times" panose="02020603060405020304" pitchFamily="18" charset="0"/>
              </a:endParaRPr>
            </a:p>
          </p:txBody>
        </p:sp>
        <p:sp>
          <p:nvSpPr>
            <p:cNvPr id="22" name="椭圆 21"/>
            <p:cNvSpPr/>
            <p:nvPr/>
          </p:nvSpPr>
          <p:spPr>
            <a:xfrm>
              <a:off x="6923629" y="4222249"/>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sp>
          <p:nvSpPr>
            <p:cNvPr id="23" name="椭圆 22"/>
            <p:cNvSpPr/>
            <p:nvPr/>
          </p:nvSpPr>
          <p:spPr>
            <a:xfrm>
              <a:off x="8167080" y="422202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好瓜</a:t>
              </a:r>
              <a:endParaRPr lang="zh-CN" altLang="en-US" sz="1400" b="1" dirty="0"/>
            </a:p>
          </p:txBody>
        </p:sp>
        <p:cxnSp>
          <p:nvCxnSpPr>
            <p:cNvPr id="24" name="直接连接符 23"/>
            <p:cNvCxnSpPr/>
            <p:nvPr/>
          </p:nvCxnSpPr>
          <p:spPr>
            <a:xfrm flipH="1">
              <a:off x="6203580" y="3417574"/>
              <a:ext cx="1256326" cy="798381"/>
            </a:xfrm>
            <a:prstGeom prst="line">
              <a:avLst/>
            </a:prstGeom>
          </p:spPr>
          <p:style>
            <a:lnRef idx="1">
              <a:schemeClr val="dk1"/>
            </a:lnRef>
            <a:fillRef idx="0">
              <a:schemeClr val="dk1"/>
            </a:fillRef>
            <a:effectRef idx="0">
              <a:schemeClr val="dk1"/>
            </a:effectRef>
            <a:fontRef idx="minor">
              <a:schemeClr val="tx1"/>
            </a:fontRef>
          </p:style>
        </p:cxnSp>
        <p:sp>
          <p:nvSpPr>
            <p:cNvPr id="25" name="文本框 35"/>
            <p:cNvSpPr txBox="1"/>
            <p:nvPr/>
          </p:nvSpPr>
          <p:spPr>
            <a:xfrm>
              <a:off x="7404189"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蜷缩</a:t>
              </a:r>
              <a:endParaRPr lang="zh-CN" altLang="en-US" b="1" dirty="0">
                <a:latin typeface="楷体" panose="02010609060101010101" pitchFamily="49" charset="-122"/>
                <a:ea typeface="楷体" panose="02010609060101010101" pitchFamily="49" charset="-122"/>
              </a:endParaRPr>
            </a:p>
          </p:txBody>
        </p:sp>
        <p:cxnSp>
          <p:nvCxnSpPr>
            <p:cNvPr id="26" name="直接连接符 25"/>
            <p:cNvCxnSpPr/>
            <p:nvPr/>
          </p:nvCxnSpPr>
          <p:spPr>
            <a:xfrm>
              <a:off x="7454802" y="3417574"/>
              <a:ext cx="1251222" cy="798381"/>
            </a:xfrm>
            <a:prstGeom prst="line">
              <a:avLst/>
            </a:prstGeom>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a:off x="7454802" y="3608234"/>
              <a:ext cx="0" cy="607721"/>
            </a:xfrm>
            <a:prstGeom prst="line">
              <a:avLst/>
            </a:prstGeom>
          </p:spPr>
          <p:style>
            <a:lnRef idx="1">
              <a:schemeClr val="dk1"/>
            </a:lnRef>
            <a:fillRef idx="0">
              <a:schemeClr val="dk1"/>
            </a:fillRef>
            <a:effectRef idx="0">
              <a:schemeClr val="dk1"/>
            </a:effectRef>
            <a:fontRef idx="minor">
              <a:schemeClr val="tx1"/>
            </a:fontRef>
          </p:style>
        </p:cxnSp>
        <p:sp>
          <p:nvSpPr>
            <p:cNvPr id="28" name="文本框 38"/>
            <p:cNvSpPr txBox="1"/>
            <p:nvPr/>
          </p:nvSpPr>
          <p:spPr>
            <a:xfrm>
              <a:off x="832969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硬挺</a:t>
              </a:r>
              <a:endParaRPr lang="zh-CN" altLang="en-US" b="1" dirty="0">
                <a:latin typeface="楷体" panose="02010609060101010101" pitchFamily="49" charset="-122"/>
                <a:ea typeface="楷体" panose="02010609060101010101" pitchFamily="49" charset="-122"/>
              </a:endParaRPr>
            </a:p>
          </p:txBody>
        </p:sp>
        <p:sp>
          <p:nvSpPr>
            <p:cNvPr id="29" name="文本框 39"/>
            <p:cNvSpPr txBox="1"/>
            <p:nvPr/>
          </p:nvSpPr>
          <p:spPr>
            <a:xfrm>
              <a:off x="5976873" y="372746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稍蜷</a:t>
              </a:r>
              <a:endParaRPr lang="zh-CN" altLang="en-US" b="1" dirty="0">
                <a:latin typeface="楷体" panose="02010609060101010101" pitchFamily="49" charset="-122"/>
                <a:ea typeface="楷体" panose="02010609060101010101" pitchFamily="49" charset="-122"/>
              </a:endParaRPr>
            </a:p>
          </p:txBody>
        </p:sp>
        <p:sp>
          <p:nvSpPr>
            <p:cNvPr id="30" name="圆角矩形 29"/>
            <p:cNvSpPr/>
            <p:nvPr/>
          </p:nvSpPr>
          <p:spPr>
            <a:xfrm>
              <a:off x="6935074" y="3176860"/>
              <a:ext cx="108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根蒂</a:t>
              </a:r>
              <a:endParaRPr lang="zh-CN" altLang="en-US" sz="4800" b="1" dirty="0">
                <a:solidFill>
                  <a:schemeClr val="tx2"/>
                </a:solidFill>
                <a:latin typeface="Times" panose="02020603060405020304" pitchFamily="18" charset="0"/>
              </a:endParaRPr>
            </a:p>
          </p:txBody>
        </p:sp>
        <p:sp>
          <p:nvSpPr>
            <p:cNvPr id="41" name="椭圆 40"/>
            <p:cNvSpPr/>
            <p:nvPr/>
          </p:nvSpPr>
          <p:spPr>
            <a:xfrm>
              <a:off x="9325909" y="31758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b="1" dirty="0"/>
                <a:t>坏瓜</a:t>
              </a:r>
              <a:endParaRPr lang="zh-CN" altLang="en-US" sz="1400" b="1" dirty="0"/>
            </a:p>
          </p:txBody>
        </p:sp>
        <p:cxnSp>
          <p:nvCxnSpPr>
            <p:cNvPr id="42" name="直接连接符 41"/>
            <p:cNvCxnSpPr>
              <a:stCxn id="45" idx="2"/>
              <a:endCxn id="30" idx="0"/>
            </p:cNvCxnSpPr>
            <p:nvPr/>
          </p:nvCxnSpPr>
          <p:spPr>
            <a:xfrm>
              <a:off x="6251825" y="2573165"/>
              <a:ext cx="1223249" cy="603695"/>
            </a:xfrm>
            <a:prstGeom prst="line">
              <a:avLst/>
            </a:prstGeom>
          </p:spPr>
          <p:style>
            <a:lnRef idx="1">
              <a:schemeClr val="dk1"/>
            </a:lnRef>
            <a:fillRef idx="0">
              <a:schemeClr val="dk1"/>
            </a:fillRef>
            <a:effectRef idx="0">
              <a:schemeClr val="dk1"/>
            </a:effectRef>
            <a:fontRef idx="minor">
              <a:schemeClr val="tx1"/>
            </a:fontRef>
          </p:style>
        </p:cxnSp>
        <p:cxnSp>
          <p:nvCxnSpPr>
            <p:cNvPr id="43" name="直接连接符 42"/>
            <p:cNvCxnSpPr>
              <a:endCxn id="41" idx="0"/>
            </p:cNvCxnSpPr>
            <p:nvPr/>
          </p:nvCxnSpPr>
          <p:spPr>
            <a:xfrm>
              <a:off x="6596758" y="2579230"/>
              <a:ext cx="3269151" cy="596630"/>
            </a:xfrm>
            <a:prstGeom prst="line">
              <a:avLst/>
            </a:prstGeom>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flipH="1">
              <a:off x="3701197" y="2566871"/>
              <a:ext cx="2275676" cy="609363"/>
            </a:xfrm>
            <a:prstGeom prst="line">
              <a:avLst/>
            </a:prstGeom>
          </p:spPr>
          <p:style>
            <a:lnRef idx="1">
              <a:schemeClr val="dk1"/>
            </a:lnRef>
            <a:fillRef idx="0">
              <a:schemeClr val="dk1"/>
            </a:fillRef>
            <a:effectRef idx="0">
              <a:schemeClr val="dk1"/>
            </a:effectRef>
            <a:fontRef idx="minor">
              <a:schemeClr val="tx1"/>
            </a:fontRef>
          </p:style>
        </p:cxnSp>
        <p:sp>
          <p:nvSpPr>
            <p:cNvPr id="45" name="圆角矩形 44"/>
            <p:cNvSpPr/>
            <p:nvPr/>
          </p:nvSpPr>
          <p:spPr>
            <a:xfrm>
              <a:off x="5531825" y="2141165"/>
              <a:ext cx="144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脐部</a:t>
              </a:r>
              <a:endParaRPr lang="zh-CN" altLang="en-US" sz="4800" b="1" dirty="0">
                <a:solidFill>
                  <a:schemeClr val="tx2"/>
                </a:solidFill>
                <a:latin typeface="Times" panose="02020603060405020304" pitchFamily="18" charset="0"/>
              </a:endParaRPr>
            </a:p>
          </p:txBody>
        </p:sp>
        <p:sp>
          <p:nvSpPr>
            <p:cNvPr id="46" name="文本框 63"/>
            <p:cNvSpPr txBox="1"/>
            <p:nvPr/>
          </p:nvSpPr>
          <p:spPr>
            <a:xfrm>
              <a:off x="874589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平坦</a:t>
              </a:r>
              <a:endParaRPr lang="zh-CN" altLang="en-US" b="1" dirty="0">
                <a:latin typeface="楷体" panose="02010609060101010101" pitchFamily="49" charset="-122"/>
                <a:ea typeface="楷体" panose="02010609060101010101" pitchFamily="49" charset="-122"/>
              </a:endParaRPr>
            </a:p>
          </p:txBody>
        </p:sp>
        <p:sp>
          <p:nvSpPr>
            <p:cNvPr id="47" name="文本框 64"/>
            <p:cNvSpPr txBox="1"/>
            <p:nvPr/>
          </p:nvSpPr>
          <p:spPr>
            <a:xfrm>
              <a:off x="6110414"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稍凹</a:t>
              </a:r>
              <a:endParaRPr lang="zh-CN" altLang="en-US" b="1" dirty="0">
                <a:latin typeface="楷体" panose="02010609060101010101" pitchFamily="49" charset="-122"/>
                <a:ea typeface="楷体" panose="02010609060101010101" pitchFamily="49" charset="-122"/>
              </a:endParaRPr>
            </a:p>
          </p:txBody>
        </p:sp>
        <p:sp>
          <p:nvSpPr>
            <p:cNvPr id="48" name="文本框 65"/>
            <p:cNvSpPr txBox="1"/>
            <p:nvPr/>
          </p:nvSpPr>
          <p:spPr>
            <a:xfrm>
              <a:off x="3868757" y="2652494"/>
              <a:ext cx="885478" cy="441998"/>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凹陷</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354660" y="20072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1</a:t>
              </a:r>
              <a:endParaRPr lang="zh-CN" altLang="en-US" b="1" dirty="0">
                <a:solidFill>
                  <a:schemeClr val="tx1"/>
                </a:solidFill>
                <a:latin typeface="Times "/>
              </a:endParaRPr>
            </a:p>
          </p:txBody>
        </p:sp>
        <p:sp>
          <p:nvSpPr>
            <p:cNvPr id="51" name="椭圆 50"/>
            <p:cNvSpPr/>
            <p:nvPr/>
          </p:nvSpPr>
          <p:spPr>
            <a:xfrm>
              <a:off x="6758430" y="3038868"/>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3</a:t>
              </a:r>
              <a:endParaRPr lang="zh-CN" altLang="en-US" b="1" dirty="0">
                <a:solidFill>
                  <a:schemeClr val="tx1"/>
                </a:solidFill>
                <a:latin typeface="Times "/>
              </a:endParaRPr>
            </a:p>
          </p:txBody>
        </p:sp>
        <p:sp>
          <p:nvSpPr>
            <p:cNvPr id="52" name="椭圆 51"/>
            <p:cNvSpPr/>
            <p:nvPr/>
          </p:nvSpPr>
          <p:spPr>
            <a:xfrm>
              <a:off x="9153132" y="3095090"/>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4</a:t>
              </a:r>
              <a:endParaRPr lang="zh-CN" altLang="en-US" b="1" dirty="0">
                <a:solidFill>
                  <a:schemeClr val="tx1"/>
                </a:solidFill>
                <a:latin typeface="Times "/>
              </a:endParaRPr>
            </a:p>
          </p:txBody>
        </p:sp>
        <p:sp>
          <p:nvSpPr>
            <p:cNvPr id="53" name="椭圆 52"/>
            <p:cNvSpPr/>
            <p:nvPr/>
          </p:nvSpPr>
          <p:spPr>
            <a:xfrm>
              <a:off x="5512614" y="4037354"/>
              <a:ext cx="288000" cy="288000"/>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p>
              <a:pPr algn="ctr"/>
              <a:r>
                <a:rPr lang="en-US" altLang="zh-CN" b="1" dirty="0">
                  <a:solidFill>
                    <a:schemeClr val="tx1"/>
                  </a:solidFill>
                  <a:latin typeface="Times "/>
                </a:rPr>
                <a:t>5</a:t>
              </a:r>
              <a:endParaRPr lang="zh-CN" altLang="en-US" b="1" dirty="0">
                <a:solidFill>
                  <a:schemeClr val="tx1"/>
                </a:solidFill>
                <a:latin typeface="Times "/>
              </a:endParaRPr>
            </a:p>
          </p:txBody>
        </p:sp>
      </p:grpSp>
      <p:sp>
        <p:nvSpPr>
          <p:cNvPr id="66" name="椭圆 65"/>
          <p:cNvSpPr/>
          <p:nvPr/>
        </p:nvSpPr>
        <p:spPr>
          <a:xfrm>
            <a:off x="3126583" y="4875684"/>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t>好瓜</a:t>
            </a:r>
            <a:endParaRPr lang="zh-CN" altLang="en-US" sz="1400" b="1" dirty="0"/>
          </a:p>
        </p:txBody>
      </p:sp>
      <p:sp>
        <p:nvSpPr>
          <p:cNvPr id="67" name="椭圆 66"/>
          <p:cNvSpPr/>
          <p:nvPr/>
        </p:nvSpPr>
        <p:spPr>
          <a:xfrm>
            <a:off x="1275290" y="3132371"/>
            <a:ext cx="792228" cy="36097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t>好瓜</a:t>
            </a:r>
            <a:endParaRPr lang="zh-CN" altLang="en-US" sz="1400" b="1" dirty="0"/>
          </a:p>
        </p:txBody>
      </p:sp>
      <p:sp>
        <p:nvSpPr>
          <p:cNvPr id="37" name="椭圆 36"/>
          <p:cNvSpPr/>
          <p:nvPr/>
        </p:nvSpPr>
        <p:spPr>
          <a:xfrm>
            <a:off x="1186478" y="3085987"/>
            <a:ext cx="211261" cy="240652"/>
          </a:xfrm>
          <a:prstGeom prst="ellipse">
            <a:avLst/>
          </a:prstGeom>
          <a:solidFill>
            <a:schemeClr val="accent3">
              <a:lumMod val="40000"/>
              <a:lumOff val="60000"/>
            </a:schemeClr>
          </a:solidFill>
        </p:spPr>
        <p:style>
          <a:lnRef idx="2">
            <a:schemeClr val="accent3">
              <a:shade val="50000"/>
            </a:schemeClr>
          </a:lnRef>
          <a:fillRef idx="1">
            <a:schemeClr val="accent3"/>
          </a:fillRef>
          <a:effectRef idx="0">
            <a:schemeClr val="accent3"/>
          </a:effectRef>
          <a:fontRef idx="minor">
            <a:schemeClr val="lt1"/>
          </a:fontRef>
        </p:style>
        <p:txBody>
          <a:bodyPr tIns="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b="1" dirty="0">
                <a:solidFill>
                  <a:schemeClr val="tx1"/>
                </a:solidFill>
                <a:latin typeface="Times "/>
              </a:rPr>
              <a:t>2</a:t>
            </a:r>
            <a:endParaRPr lang="zh-CN" altLang="en-US" b="1" dirty="0">
              <a:solidFill>
                <a:schemeClr val="tx1"/>
              </a:solidFill>
              <a:latin typeface="Times "/>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剪枝处理</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后剪枝</a:t>
            </a:r>
            <a:endParaRPr lang="zh-CN" altLang="en-US" dirty="0">
              <a:latin typeface="黑体" panose="02010609060101010101" pitchFamily="49" charset="-122"/>
              <a:ea typeface="黑体" panose="02010609060101010101" pitchFamily="49" charset="-122"/>
            </a:endParaRPr>
          </a:p>
        </p:txBody>
      </p:sp>
      <p:sp>
        <p:nvSpPr>
          <p:cNvPr id="3" name="文本占位符 2"/>
          <p:cNvSpPr>
            <a:spLocks noGrp="1"/>
          </p:cNvSpPr>
          <p:nvPr>
            <p:ph type="body" sz="quarter" idx="13"/>
          </p:nvPr>
        </p:nvSpPr>
        <p:spPr/>
        <p:txBody>
          <a:bodyPr>
            <a:normAutofit lnSpcReduction="10000"/>
          </a:bodyPr>
          <a:lstStyle/>
          <a:p>
            <a:r>
              <a:rPr lang="zh-CN" altLang="en-US" b="1" dirty="0">
                <a:latin typeface="黑体" panose="02010609060101010101" pitchFamily="49" charset="-122"/>
                <a:ea typeface="黑体" panose="02010609060101010101" pitchFamily="49" charset="-122"/>
              </a:rPr>
              <a:t>后剪枝的优缺点</a:t>
            </a:r>
            <a:endParaRPr lang="zh-CN" altLang="en-US" b="1"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4"/>
          </p:nvPr>
        </p:nvSpPr>
        <p:spPr/>
        <p:txBody>
          <a:bodyPr/>
          <a:lstStyle/>
          <a:p>
            <a:pPr>
              <a:lnSpc>
                <a:spcPct val="150000"/>
              </a:lnSpc>
            </a:pPr>
            <a:r>
              <a:rPr lang="zh-CN" altLang="en-US" sz="2000" b="1" dirty="0">
                <a:latin typeface="黑体" panose="02010609060101010101" pitchFamily="49" charset="-122"/>
                <a:ea typeface="黑体" panose="02010609060101010101" pitchFamily="49" charset="-122"/>
              </a:rPr>
              <a:t>优点</a:t>
            </a:r>
            <a:endParaRPr lang="en-US" altLang="zh-CN" sz="2000" b="1" dirty="0">
              <a:latin typeface="黑体" panose="02010609060101010101" pitchFamily="49" charset="-122"/>
              <a:ea typeface="黑体" panose="02010609060101010101" pitchFamily="49" charset="-122"/>
            </a:endParaRPr>
          </a:p>
          <a:p>
            <a:pPr lvl="1">
              <a:lnSpc>
                <a:spcPct val="150000"/>
              </a:lnSpc>
            </a:pPr>
            <a:r>
              <a:rPr lang="zh-CN" altLang="en-US" sz="1800" b="1" dirty="0">
                <a:latin typeface="黑体" panose="02010609060101010101" pitchFamily="49" charset="-122"/>
                <a:ea typeface="黑体" panose="02010609060101010101" pitchFamily="49" charset="-122"/>
              </a:rPr>
              <a:t>后剪枝比预剪枝保留了更多的分支，</a:t>
            </a:r>
            <a:r>
              <a:rPr lang="zh-CN" altLang="en-US" sz="1800" b="1" dirty="0">
                <a:solidFill>
                  <a:srgbClr val="C00000"/>
                </a:solidFill>
                <a:latin typeface="黑体" panose="02010609060101010101" pitchFamily="49" charset="-122"/>
                <a:ea typeface="黑体" panose="02010609060101010101" pitchFamily="49" charset="-122"/>
              </a:rPr>
              <a:t>欠拟合风险小</a:t>
            </a:r>
            <a:r>
              <a:rPr lang="zh-CN" altLang="en-US" sz="1800" b="1" dirty="0">
                <a:latin typeface="黑体" panose="02010609060101010101" pitchFamily="49" charset="-122"/>
                <a:ea typeface="黑体" panose="02010609060101010101" pitchFamily="49" charset="-122"/>
              </a:rPr>
              <a:t>，</a:t>
            </a:r>
            <a:r>
              <a:rPr lang="zh-CN" altLang="en-US" sz="1800" b="1" dirty="0">
                <a:solidFill>
                  <a:srgbClr val="C00000"/>
                </a:solidFill>
                <a:latin typeface="黑体" panose="02010609060101010101" pitchFamily="49" charset="-122"/>
                <a:ea typeface="黑体" panose="02010609060101010101" pitchFamily="49" charset="-122"/>
              </a:rPr>
              <a:t>泛化性能往往优于预剪枝决策树</a:t>
            </a:r>
            <a:endParaRPr lang="en-US" altLang="zh-CN" sz="1800" b="1" dirty="0">
              <a:solidFill>
                <a:srgbClr val="C00000"/>
              </a:solidFill>
              <a:latin typeface="黑体" panose="02010609060101010101" pitchFamily="49" charset="-122"/>
              <a:ea typeface="黑体" panose="02010609060101010101" pitchFamily="49" charset="-122"/>
            </a:endParaRPr>
          </a:p>
          <a:p>
            <a:pPr lvl="1">
              <a:lnSpc>
                <a:spcPct val="150000"/>
              </a:lnSpc>
            </a:pPr>
            <a:endParaRPr lang="en-US" altLang="zh-CN" sz="1800" b="1" dirty="0">
              <a:latin typeface="黑体" panose="02010609060101010101" pitchFamily="49" charset="-122"/>
              <a:ea typeface="黑体" panose="02010609060101010101" pitchFamily="49" charset="-122"/>
            </a:endParaRPr>
          </a:p>
          <a:p>
            <a:pPr>
              <a:lnSpc>
                <a:spcPct val="150000"/>
              </a:lnSpc>
            </a:pPr>
            <a:r>
              <a:rPr lang="zh-CN" altLang="en-US" sz="2000" b="1" dirty="0">
                <a:latin typeface="黑体" panose="02010609060101010101" pitchFamily="49" charset="-122"/>
                <a:ea typeface="黑体" panose="02010609060101010101" pitchFamily="49" charset="-122"/>
              </a:rPr>
              <a:t>缺点</a:t>
            </a:r>
            <a:endParaRPr lang="en-US" altLang="zh-CN" sz="2000" b="1" dirty="0">
              <a:latin typeface="黑体" panose="02010609060101010101" pitchFamily="49" charset="-122"/>
              <a:ea typeface="黑体" panose="02010609060101010101" pitchFamily="49" charset="-122"/>
            </a:endParaRPr>
          </a:p>
          <a:p>
            <a:pPr lvl="1">
              <a:lnSpc>
                <a:spcPct val="150000"/>
              </a:lnSpc>
            </a:pPr>
            <a:r>
              <a:rPr lang="zh-CN" altLang="en-US" sz="1800" b="1" dirty="0">
                <a:solidFill>
                  <a:srgbClr val="C00000"/>
                </a:solidFill>
                <a:latin typeface="黑体" panose="02010609060101010101" pitchFamily="49" charset="-122"/>
                <a:ea typeface="黑体" panose="02010609060101010101" pitchFamily="49" charset="-122"/>
              </a:rPr>
              <a:t>训练时间开销大</a:t>
            </a:r>
            <a:r>
              <a:rPr lang="zh-CN" altLang="en-US" sz="1800" b="1" dirty="0">
                <a:latin typeface="黑体" panose="02010609060101010101" pitchFamily="49" charset="-122"/>
                <a:ea typeface="黑体" panose="02010609060101010101" pitchFamily="49" charset="-122"/>
              </a:rPr>
              <a:t>：后剪枝过程是在生成完全决策树之后进行的，需要自底向上对所有非叶结点逐一考察</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a:spLocks noGrp="1"/>
          </p:cNvSpPr>
          <p:nvPr>
            <p:ph type="title"/>
          </p:nvPr>
        </p:nvSpPr>
        <p:spPr>
          <a:xfrm>
            <a:off x="260350" y="42864"/>
            <a:ext cx="7886700" cy="777874"/>
          </a:xfrm>
        </p:spPr>
        <p:txBody>
          <a:bodyPr/>
          <a:lstStyle/>
          <a:p>
            <a:r>
              <a:rPr lang="zh-CN" altLang="en-US" dirty="0">
                <a:latin typeface="黑体" panose="02010609060101010101" pitchFamily="49" charset="-122"/>
                <a:ea typeface="黑体" panose="02010609060101010101" pitchFamily="49" charset="-122"/>
              </a:rPr>
              <a:t>小结</a:t>
            </a:r>
            <a:endParaRPr lang="zh-CN" altLang="en-US" dirty="0">
              <a:latin typeface="黑体" panose="02010609060101010101" pitchFamily="49" charset="-122"/>
              <a:ea typeface="黑体" panose="02010609060101010101" pitchFamily="49" charset="-122"/>
            </a:endParaRPr>
          </a:p>
        </p:txBody>
      </p:sp>
      <p:graphicFrame>
        <p:nvGraphicFramePr>
          <p:cNvPr id="7" name="Table 7"/>
          <p:cNvGraphicFramePr>
            <a:graphicFrameLocks noGrp="1"/>
          </p:cNvGraphicFramePr>
          <p:nvPr/>
        </p:nvGraphicFramePr>
        <p:xfrm>
          <a:off x="444499" y="3631517"/>
          <a:ext cx="8255001" cy="2296160"/>
        </p:xfrm>
        <a:graphic>
          <a:graphicData uri="http://schemas.openxmlformats.org/drawingml/2006/table">
            <a:tbl>
              <a:tblPr firstRow="1" bandRow="1">
                <a:tableStyleId>{5C22544A-7EE6-4342-B048-85BDC9FD1C3A}</a:tableStyleId>
              </a:tblPr>
              <a:tblGrid>
                <a:gridCol w="860194"/>
                <a:gridCol w="1159727"/>
                <a:gridCol w="970156"/>
                <a:gridCol w="1338146"/>
                <a:gridCol w="880946"/>
                <a:gridCol w="869795"/>
                <a:gridCol w="970157"/>
                <a:gridCol w="1205880"/>
              </a:tblGrid>
              <a:tr h="370840">
                <a:tc>
                  <a:txBody>
                    <a:bodyPr/>
                    <a:lstStyle/>
                    <a:p>
                      <a:pPr algn="ctr"/>
                      <a:r>
                        <a:rPr lang="en-US" dirty="0" err="1">
                          <a:latin typeface="黑体" panose="02010609060101010101" pitchFamily="49" charset="-122"/>
                          <a:ea typeface="黑体" panose="02010609060101010101" pitchFamily="49" charset="-122"/>
                        </a:rPr>
                        <a:t>算法</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支持任务</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树结构</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划分方法</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连续值处理</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缺失值处理</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剪枝</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特征属性多次使用</a:t>
                      </a:r>
                      <a:endParaRPr lang="en-US" dirty="0">
                        <a:latin typeface="黑体" panose="02010609060101010101" pitchFamily="49" charset="-122"/>
                        <a:ea typeface="黑体" panose="02010609060101010101" pitchFamily="49" charset="-122"/>
                      </a:endParaRPr>
                    </a:p>
                  </a:txBody>
                  <a:tcPr anchor="ctr"/>
                </a:tc>
              </a:tr>
              <a:tr h="370840">
                <a:tc>
                  <a:txBody>
                    <a:bodyPr/>
                    <a:lstStyle/>
                    <a:p>
                      <a:pPr algn="ctr"/>
                      <a:r>
                        <a:rPr lang="en-US" dirty="0">
                          <a:latin typeface="黑体" panose="02010609060101010101" pitchFamily="49" charset="-122"/>
                          <a:ea typeface="黑体" panose="02010609060101010101" pitchFamily="49" charset="-122"/>
                        </a:rPr>
                        <a:t>ID</a:t>
                      </a:r>
                      <a:r>
                        <a:rPr lang="en-US" altLang="zh-CN" dirty="0">
                          <a:latin typeface="黑体" panose="02010609060101010101" pitchFamily="49" charset="-122"/>
                          <a:ea typeface="黑体" panose="02010609060101010101" pitchFamily="49" charset="-122"/>
                        </a:rPr>
                        <a:t>3</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分类</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多叉树</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信息增益</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不支持</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不支持</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不支持</a:t>
                      </a:r>
                      <a:endParaRPr lang="en-US" dirty="0">
                        <a:latin typeface="黑体" panose="02010609060101010101" pitchFamily="49" charset="-122"/>
                        <a:ea typeface="黑体" panose="02010609060101010101" pitchFamily="49"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dirty="0">
                          <a:latin typeface="黑体" panose="02010609060101010101" pitchFamily="49" charset="-122"/>
                          <a:ea typeface="黑体" panose="02010609060101010101" pitchFamily="49" charset="-122"/>
                        </a:rPr>
                        <a:t>不支持</a:t>
                      </a:r>
                      <a:endParaRPr lang="en-US" dirty="0">
                        <a:latin typeface="黑体" panose="02010609060101010101" pitchFamily="49" charset="-122"/>
                        <a:ea typeface="黑体" panose="02010609060101010101" pitchFamily="49" charset="-122"/>
                      </a:endParaRPr>
                    </a:p>
                  </a:txBody>
                  <a:tcPr anchor="ctr"/>
                </a:tc>
              </a:tr>
              <a:tr h="370840">
                <a:tc>
                  <a:txBody>
                    <a:bodyPr/>
                    <a:lstStyle/>
                    <a:p>
                      <a:pPr algn="ctr"/>
                      <a:r>
                        <a:rPr lang="en-US" dirty="0">
                          <a:latin typeface="黑体" panose="02010609060101010101" pitchFamily="49" charset="-122"/>
                          <a:ea typeface="黑体" panose="02010609060101010101" pitchFamily="49" charset="-122"/>
                        </a:rPr>
                        <a:t>C</a:t>
                      </a:r>
                      <a:r>
                        <a:rPr lang="en-US" altLang="zh-CN" dirty="0">
                          <a:latin typeface="黑体" panose="02010609060101010101" pitchFamily="49" charset="-122"/>
                          <a:ea typeface="黑体" panose="02010609060101010101" pitchFamily="49" charset="-122"/>
                        </a:rPr>
                        <a:t>4.5</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分类</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多叉树</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信息增益率</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r>
              <a:tr h="370840">
                <a:tc>
                  <a:txBody>
                    <a:bodyPr/>
                    <a:lstStyle/>
                    <a:p>
                      <a:pPr algn="ctr"/>
                      <a:r>
                        <a:rPr lang="en-US" dirty="0">
                          <a:latin typeface="黑体" panose="02010609060101010101" pitchFamily="49" charset="-122"/>
                          <a:ea typeface="黑体" panose="02010609060101010101" pitchFamily="49" charset="-122"/>
                        </a:rPr>
                        <a:t>CART</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分类</a:t>
                      </a:r>
                      <a:endParaRPr lang="en-US" dirty="0">
                        <a:latin typeface="黑体" panose="02010609060101010101" pitchFamily="49" charset="-122"/>
                        <a:ea typeface="黑体" panose="02010609060101010101" pitchFamily="49" charset="-122"/>
                      </a:endParaRPr>
                    </a:p>
                    <a:p>
                      <a:pPr algn="ctr"/>
                      <a:r>
                        <a:rPr lang="en-US" dirty="0" err="1">
                          <a:latin typeface="黑体" panose="02010609060101010101" pitchFamily="49" charset="-122"/>
                          <a:ea typeface="黑体" panose="02010609060101010101" pitchFamily="49" charset="-122"/>
                        </a:rPr>
                        <a:t>回归</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二叉树</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基尼系数</a:t>
                      </a:r>
                      <a:endParaRPr lang="en-US" dirty="0">
                        <a:latin typeface="黑体" panose="02010609060101010101" pitchFamily="49" charset="-122"/>
                        <a:ea typeface="黑体" panose="02010609060101010101" pitchFamily="49" charset="-122"/>
                      </a:endParaRPr>
                    </a:p>
                    <a:p>
                      <a:pPr algn="ctr"/>
                      <a:r>
                        <a:rPr lang="en-US" dirty="0">
                          <a:latin typeface="黑体" panose="02010609060101010101" pitchFamily="49" charset="-122"/>
                          <a:ea typeface="黑体" panose="02010609060101010101" pitchFamily="49" charset="-122"/>
                        </a:rPr>
                        <a:t>均方差</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c>
                  <a:txBody>
                    <a:bodyPr/>
                    <a:lstStyle/>
                    <a:p>
                      <a:pPr algn="ct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dirty="0">
                          <a:latin typeface="黑体" panose="02010609060101010101" pitchFamily="49" charset="-122"/>
                          <a:ea typeface="黑体" panose="02010609060101010101" pitchFamily="49" charset="-122"/>
                        </a:rPr>
                        <a:t>支持</a:t>
                      </a:r>
                      <a:endParaRPr lang="en-US" dirty="0">
                        <a:latin typeface="黑体" panose="02010609060101010101" pitchFamily="49" charset="-122"/>
                        <a:ea typeface="黑体" panose="02010609060101010101" pitchFamily="49" charset="-122"/>
                      </a:endParaRPr>
                    </a:p>
                  </a:txBody>
                  <a:tcPr anchor="ctr"/>
                </a:tc>
              </a:tr>
            </a:tbl>
          </a:graphicData>
        </a:graphic>
      </p:graphicFrame>
      <p:sp>
        <p:nvSpPr>
          <p:cNvPr id="9" name="内容占位符 3"/>
          <p:cNvSpPr txBox="1"/>
          <p:nvPr/>
        </p:nvSpPr>
        <p:spPr>
          <a:xfrm>
            <a:off x="257174" y="1069085"/>
            <a:ext cx="8629650" cy="1485580"/>
          </a:xfrm>
          <a:prstGeom prst="rect">
            <a:avLst/>
          </a:prstGeom>
        </p:spPr>
        <p:txBody>
          <a:bodyPr/>
          <a:lst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1" dirty="0">
                <a:latin typeface="黑体" panose="02010609060101010101" pitchFamily="49" charset="-122"/>
                <a:ea typeface="黑体" panose="02010609060101010101" pitchFamily="49" charset="-122"/>
              </a:rPr>
              <a:t>几种划分方法差异</a:t>
            </a:r>
            <a:endParaRPr lang="en-US" altLang="zh-CN" sz="2000" b="1" dirty="0">
              <a:latin typeface="黑体" panose="02010609060101010101" pitchFamily="49" charset="-122"/>
              <a:ea typeface="黑体" panose="02010609060101010101" pitchFamily="49" charset="-122"/>
            </a:endParaRPr>
          </a:p>
          <a:p>
            <a:pPr lvl="1">
              <a:buFont typeface="Wingdings" panose="05000000000000000000" pitchFamily="2" charset="2"/>
              <a:buChar char="q"/>
            </a:pPr>
            <a:r>
              <a:rPr lang="en-US" sz="1800" dirty="0">
                <a:solidFill>
                  <a:srgbClr val="000000"/>
                </a:solidFill>
                <a:effectLst/>
                <a:latin typeface="黑体" panose="02010609060101010101" pitchFamily="49" charset="-122"/>
                <a:ea typeface="黑体" panose="02010609060101010101" pitchFamily="49" charset="-122"/>
              </a:rPr>
              <a:t>ID3 </a:t>
            </a:r>
            <a:r>
              <a:rPr lang="zh-CN" altLang="en-US" sz="1800" dirty="0">
                <a:solidFill>
                  <a:srgbClr val="000000"/>
                </a:solidFill>
                <a:effectLst/>
                <a:latin typeface="黑体" panose="02010609060101010101" pitchFamily="49" charset="-122"/>
                <a:ea typeface="黑体" panose="02010609060101010101" pitchFamily="49" charset="-122"/>
              </a:rPr>
              <a:t>使用信息增益偏向特征值多的特征</a:t>
            </a:r>
            <a:endParaRPr lang="en-US" altLang="zh-CN" sz="1800" dirty="0">
              <a:solidFill>
                <a:srgbClr val="000000"/>
              </a:solidFill>
              <a:effectLst/>
              <a:latin typeface="黑体" panose="02010609060101010101" pitchFamily="49" charset="-122"/>
              <a:ea typeface="黑体" panose="02010609060101010101" pitchFamily="49" charset="-122"/>
            </a:endParaRPr>
          </a:p>
          <a:p>
            <a:pPr lvl="1">
              <a:buFont typeface="Wingdings" panose="05000000000000000000" pitchFamily="2" charset="2"/>
              <a:buChar char="q"/>
            </a:pPr>
            <a:r>
              <a:rPr lang="en-US" sz="1800" dirty="0">
                <a:solidFill>
                  <a:srgbClr val="000000"/>
                </a:solidFill>
                <a:effectLst/>
                <a:latin typeface="黑体" panose="02010609060101010101" pitchFamily="49" charset="-122"/>
                <a:ea typeface="黑体" panose="02010609060101010101" pitchFamily="49" charset="-122"/>
              </a:rPr>
              <a:t>C4.5 </a:t>
            </a:r>
            <a:r>
              <a:rPr lang="zh-CN" altLang="en-US" sz="1800" dirty="0">
                <a:solidFill>
                  <a:srgbClr val="000000"/>
                </a:solidFill>
                <a:effectLst/>
                <a:latin typeface="黑体" panose="02010609060101010101" pitchFamily="49" charset="-122"/>
                <a:ea typeface="黑体" panose="02010609060101010101" pitchFamily="49" charset="-122"/>
              </a:rPr>
              <a:t>使用信息增益率克服信息增益的缺点，偏向于特征值小的特征</a:t>
            </a:r>
            <a:endParaRPr lang="en-US" altLang="zh-CN" sz="1800" dirty="0">
              <a:solidFill>
                <a:srgbClr val="000000"/>
              </a:solidFill>
              <a:effectLst/>
              <a:latin typeface="黑体" panose="02010609060101010101" pitchFamily="49" charset="-122"/>
              <a:ea typeface="黑体" panose="02010609060101010101" pitchFamily="49" charset="-122"/>
            </a:endParaRPr>
          </a:p>
          <a:p>
            <a:pPr lvl="1">
              <a:buFont typeface="Wingdings" panose="05000000000000000000" pitchFamily="2" charset="2"/>
              <a:buChar char="q"/>
            </a:pPr>
            <a:r>
              <a:rPr lang="en-US" sz="1800" dirty="0">
                <a:solidFill>
                  <a:srgbClr val="000000"/>
                </a:solidFill>
                <a:effectLst/>
                <a:latin typeface="黑体" panose="02010609060101010101" pitchFamily="49" charset="-122"/>
                <a:ea typeface="黑体" panose="02010609060101010101" pitchFamily="49" charset="-122"/>
              </a:rPr>
              <a:t>CART </a:t>
            </a:r>
            <a:r>
              <a:rPr lang="zh-CN" altLang="en-US" sz="1800" dirty="0">
                <a:solidFill>
                  <a:srgbClr val="000000"/>
                </a:solidFill>
                <a:effectLst/>
                <a:latin typeface="黑体" panose="02010609060101010101" pitchFamily="49" charset="-122"/>
                <a:ea typeface="黑体" panose="02010609060101010101" pitchFamily="49" charset="-122"/>
              </a:rPr>
              <a:t>使用基尼指数克服</a:t>
            </a:r>
            <a:r>
              <a:rPr lang="en-US" sz="1800" dirty="0">
                <a:solidFill>
                  <a:srgbClr val="000000"/>
                </a:solidFill>
                <a:effectLst/>
                <a:latin typeface="黑体" panose="02010609060101010101" pitchFamily="49" charset="-122"/>
                <a:ea typeface="黑体" panose="02010609060101010101" pitchFamily="49" charset="-122"/>
              </a:rPr>
              <a:t>C4.5 </a:t>
            </a:r>
            <a:r>
              <a:rPr lang="zh-CN" altLang="en-US" sz="1800" dirty="0">
                <a:solidFill>
                  <a:srgbClr val="000000"/>
                </a:solidFill>
                <a:effectLst/>
                <a:latin typeface="黑体" panose="02010609060101010101" pitchFamily="49" charset="-122"/>
                <a:ea typeface="黑体" panose="02010609060101010101" pitchFamily="49" charset="-122"/>
              </a:rPr>
              <a:t>需要求 </a:t>
            </a:r>
            <a:r>
              <a:rPr lang="en-US" sz="1800" dirty="0">
                <a:solidFill>
                  <a:srgbClr val="000000"/>
                </a:solidFill>
                <a:effectLst/>
                <a:latin typeface="黑体" panose="02010609060101010101" pitchFamily="49" charset="-122"/>
                <a:ea typeface="黑体" panose="02010609060101010101" pitchFamily="49" charset="-122"/>
              </a:rPr>
              <a:t>log </a:t>
            </a:r>
            <a:r>
              <a:rPr lang="zh-CN" altLang="en-US" sz="1800" dirty="0">
                <a:solidFill>
                  <a:srgbClr val="000000"/>
                </a:solidFill>
                <a:effectLst/>
                <a:latin typeface="黑体" panose="02010609060101010101" pitchFamily="49" charset="-122"/>
                <a:ea typeface="黑体" panose="02010609060101010101" pitchFamily="49" charset="-122"/>
              </a:rPr>
              <a:t>的巨大计算量，偏向于特征值较多的特征。</a:t>
            </a:r>
            <a:endParaRPr lang="en-US" sz="1600" dirty="0">
              <a:latin typeface="黑体" panose="02010609060101010101" pitchFamily="49" charset="-122"/>
              <a:ea typeface="黑体" panose="02010609060101010101" pitchFamily="49" charset="-122"/>
            </a:endParaRPr>
          </a:p>
        </p:txBody>
      </p:sp>
      <p:sp>
        <p:nvSpPr>
          <p:cNvPr id="11" name="内容占位符 3"/>
          <p:cNvSpPr txBox="1"/>
          <p:nvPr/>
        </p:nvSpPr>
        <p:spPr>
          <a:xfrm>
            <a:off x="257174" y="3204380"/>
            <a:ext cx="8629650" cy="449239"/>
          </a:xfrm>
          <a:prstGeom prst="rect">
            <a:avLst/>
          </a:prstGeom>
        </p:spPr>
        <p:txBody>
          <a:bodyPr/>
          <a:lst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b="1" dirty="0">
                <a:latin typeface="黑体" panose="02010609060101010101" pitchFamily="49" charset="-122"/>
                <a:ea typeface="黑体" panose="02010609060101010101" pitchFamily="49" charset="-122"/>
              </a:rPr>
              <a:t>决策树算法总结</a:t>
            </a:r>
            <a:endParaRPr lang="en-US" altLang="zh-CN" sz="2000" b="1" dirty="0">
              <a:latin typeface="黑体" panose="02010609060101010101" pitchFamily="49" charset="-122"/>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b="1" dirty="0">
                <a:latin typeface="黑体" panose="02010609060101010101" pitchFamily="49" charset="-122"/>
                <a:ea typeface="黑体" panose="02010609060101010101" pitchFamily="49" charset="-122"/>
              </a:rPr>
              <a:t>连续与缺失值</a:t>
            </a:r>
            <a:endParaRPr lang="en-US" altLang="zh-CN" b="1" dirty="0">
              <a:latin typeface="黑体" panose="02010609060101010101" pitchFamily="49" charset="-122"/>
              <a:ea typeface="黑体" panose="02010609060101010101" pitchFamily="49" charset="-122"/>
            </a:endParaRPr>
          </a:p>
          <a:p>
            <a:endParaRPr lang="en-US" altLang="zh-CN" dirty="0">
              <a:solidFill>
                <a:schemeClr val="bg1">
                  <a:lumMod val="85000"/>
                </a:schemeClr>
              </a:solidFill>
            </a:endParaRPr>
          </a:p>
          <a:p>
            <a:r>
              <a:rPr lang="zh-CN" altLang="en-US" dirty="0">
                <a:solidFill>
                  <a:schemeClr val="bg1">
                    <a:lumMod val="85000"/>
                  </a:schemeClr>
                </a:solidFill>
              </a:rPr>
              <a:t>多变量决策树</a:t>
            </a:r>
            <a:endParaRPr lang="en-US" altLang="zh-CN" dirty="0">
              <a:solidFill>
                <a:schemeClr val="bg1">
                  <a:lumMod val="85000"/>
                </a:schemeClr>
              </a:solidFill>
            </a:endParaRPr>
          </a:p>
          <a:p>
            <a:pPr marL="0" indent="0">
              <a:buNone/>
            </a:pPr>
            <a:endParaRPr lang="en-US" altLang="zh-CN" dirty="0">
              <a:solidFill>
                <a:schemeClr val="bg1">
                  <a:lumMod val="85000"/>
                </a:scheme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连续值处理</a:t>
            </a:r>
            <a:endParaRPr lang="zh-CN" altLang="en-US" dirty="0">
              <a:latin typeface="黑体" panose="02010609060101010101" pitchFamily="49" charset="-122"/>
              <a:ea typeface="黑体" panose="02010609060101010101" pitchFamily="49" charset="-122"/>
            </a:endParaRPr>
          </a:p>
        </p:txBody>
      </p:sp>
      <p:sp>
        <p:nvSpPr>
          <p:cNvPr id="6" name="内容占位符 2"/>
          <p:cNvSpPr>
            <a:spLocks noGrp="1"/>
          </p:cNvSpPr>
          <p:nvPr>
            <p:ph idx="1"/>
          </p:nvPr>
        </p:nvSpPr>
        <p:spPr/>
        <p:txBody>
          <a:bodyPr>
            <a:normAutofit/>
          </a:bodyPr>
          <a:lstStyle/>
          <a:p>
            <a:r>
              <a:rPr lang="zh-CN" altLang="en-US" b="1" dirty="0">
                <a:latin typeface="黑体" panose="02010609060101010101" pitchFamily="49" charset="-122"/>
                <a:ea typeface="黑体" panose="02010609060101010101" pitchFamily="49" charset="-122"/>
              </a:rPr>
              <a:t>连续属性离散化</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二分法</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第一步：假定连续属性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在样本集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上出现</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个不同的取值，</a:t>
            </a:r>
            <a:r>
              <a:rPr lang="zh-CN" altLang="en-US" b="1" dirty="0">
                <a:solidFill>
                  <a:srgbClr val="FF0000"/>
                </a:solidFill>
                <a:latin typeface="黑体" panose="02010609060101010101" pitchFamily="49" charset="-122"/>
                <a:ea typeface="黑体" panose="02010609060101010101" pitchFamily="49" charset="-122"/>
              </a:rPr>
              <a:t>从小到大排列</a:t>
            </a:r>
            <a:r>
              <a:rPr lang="zh-CN" altLang="en-US" b="1" dirty="0">
                <a:latin typeface="黑体" panose="02010609060101010101" pitchFamily="49" charset="-122"/>
                <a:ea typeface="黑体" panose="02010609060101010101" pitchFamily="49" charset="-122"/>
              </a:rPr>
              <a:t>，记为          ，基于划分点</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，可将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分为子集    和    ，其中    包含那些在属性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上取值不大于</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的样本，    包含那些在属性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上取值大于</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的样本。考虑包含      个元素的候选划分点集合</a:t>
            </a:r>
            <a:endParaRPr lang="en-US" altLang="zh-CN" b="1" dirty="0">
              <a:latin typeface="黑体" panose="02010609060101010101" pitchFamily="49" charset="-122"/>
              <a:ea typeface="黑体" panose="02010609060101010101" pitchFamily="49" charset="-122"/>
            </a:endParaRPr>
          </a:p>
          <a:p>
            <a:pPr marL="325755" lvl="1" indent="0">
              <a:buNone/>
            </a:pPr>
            <a:endParaRPr lang="en-US" altLang="zh-CN" b="1" dirty="0">
              <a:latin typeface="黑体" panose="02010609060101010101" pitchFamily="49" charset="-122"/>
              <a:ea typeface="黑体" panose="02010609060101010101" pitchFamily="49" charset="-122"/>
            </a:endParaRPr>
          </a:p>
          <a:p>
            <a:pPr marL="325755" lvl="1" indent="0">
              <a:buNone/>
            </a:pPr>
            <a:endParaRPr lang="en-US" altLang="zh-CN" b="1" dirty="0">
              <a:latin typeface="黑体" panose="02010609060101010101" pitchFamily="49" charset="-122"/>
              <a:ea typeface="黑体" panose="02010609060101010101" pitchFamily="49" charset="-122"/>
            </a:endParaRPr>
          </a:p>
          <a:p>
            <a:pPr marL="325755" lvl="1" indent="0">
              <a:buNone/>
            </a:pPr>
            <a:endParaRPr lang="en-US" altLang="zh-CN" b="1" dirty="0">
              <a:latin typeface="黑体" panose="02010609060101010101" pitchFamily="49" charset="-122"/>
              <a:ea typeface="黑体" panose="02010609060101010101" pitchFamily="49" charset="-122"/>
            </a:endParaRPr>
          </a:p>
          <a:p>
            <a:pPr marL="325755" lvl="1"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即把区间          的中位点        作为候选划分点</a:t>
            </a:r>
            <a:endParaRPr lang="en-US" altLang="zh-CN" b="1" dirty="0">
              <a:latin typeface="黑体" panose="02010609060101010101" pitchFamily="49" charset="-122"/>
              <a:ea typeface="黑体" panose="02010609060101010101" pitchFamily="49" charset="-122"/>
            </a:endParaRPr>
          </a:p>
          <a:p>
            <a:pPr lvl="1"/>
            <a:endParaRPr lang="en-US" altLang="zh-CN" dirty="0"/>
          </a:p>
          <a:p>
            <a:pPr lvl="1"/>
            <a:endParaRPr lang="en-US" altLang="zh-CN" dirty="0"/>
          </a:p>
          <a:p>
            <a:pPr marL="325755" lvl="1" indent="0">
              <a:buNone/>
            </a:pPr>
            <a:endParaRPr lang="en-US" altLang="zh-CN" dirty="0"/>
          </a:p>
          <a:p>
            <a:pPr lvl="1"/>
            <a:endParaRPr lang="en-US" altLang="zh-CN" dirty="0"/>
          </a:p>
          <a:p>
            <a:pPr marL="325755" lvl="1" indent="0">
              <a:buNone/>
            </a:pPr>
            <a:endParaRPr lang="zh-CN" altLang="en-US" dirty="0"/>
          </a:p>
        </p:txBody>
      </p:sp>
      <p:graphicFrame>
        <p:nvGraphicFramePr>
          <p:cNvPr id="3" name="对象 2"/>
          <p:cNvGraphicFramePr>
            <a:graphicFrameLocks noChangeAspect="1"/>
          </p:cNvGraphicFramePr>
          <p:nvPr/>
        </p:nvGraphicFramePr>
        <p:xfrm>
          <a:off x="2704600" y="1843088"/>
          <a:ext cx="1106487" cy="306387"/>
        </p:xfrm>
        <a:graphic>
          <a:graphicData uri="http://schemas.openxmlformats.org/presentationml/2006/ole">
            <mc:AlternateContent xmlns:mc="http://schemas.openxmlformats.org/markup-compatibility/2006">
              <mc:Choice xmlns:v="urn:schemas-microsoft-com:vml" Requires="v">
                <p:oleObj spid="_x0000_s27941" name="Formula" r:id="rId1" imgW="5095875" imgH="1400175" progId="Equation.Ribbit">
                  <p:embed/>
                </p:oleObj>
              </mc:Choice>
              <mc:Fallback>
                <p:oleObj name="Formula" r:id="rId1" imgW="5095875" imgH="1400175" progId="Equation.Ribbit">
                  <p:embed/>
                  <p:pic>
                    <p:nvPicPr>
                      <p:cNvPr id="0" name="图片 27940"/>
                      <p:cNvPicPr/>
                      <p:nvPr/>
                    </p:nvPicPr>
                    <p:blipFill>
                      <a:blip r:embed="rId2"/>
                      <a:stretch>
                        <a:fillRect/>
                      </a:stretch>
                    </p:blipFill>
                    <p:spPr>
                      <a:xfrm>
                        <a:off x="2704600" y="1843088"/>
                        <a:ext cx="1106487" cy="306387"/>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7840663" y="1878491"/>
          <a:ext cx="306387" cy="247650"/>
        </p:xfrm>
        <a:graphic>
          <a:graphicData uri="http://schemas.openxmlformats.org/presentationml/2006/ole">
            <mc:AlternateContent xmlns:mc="http://schemas.openxmlformats.org/markup-compatibility/2006">
              <mc:Choice xmlns:v="urn:schemas-microsoft-com:vml" Requires="v">
                <p:oleObj spid="_x0000_s5" name="Formula" r:id="rId3" imgW="1552575" imgH="1257300" progId="Equation.Ribbit">
                  <p:embed/>
                </p:oleObj>
              </mc:Choice>
              <mc:Fallback>
                <p:oleObj name="Formula" r:id="rId3" imgW="1552575" imgH="1257300" progId="Equation.Ribbit">
                  <p:embed/>
                  <p:pic>
                    <p:nvPicPr>
                      <p:cNvPr id="0" name="图片 4"/>
                      <p:cNvPicPr/>
                      <p:nvPr/>
                    </p:nvPicPr>
                    <p:blipFill>
                      <a:blip r:embed="rId4"/>
                      <a:stretch>
                        <a:fillRect/>
                      </a:stretch>
                    </p:blipFill>
                    <p:spPr>
                      <a:xfrm>
                        <a:off x="7840663" y="1878491"/>
                        <a:ext cx="306387" cy="24765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471863" y="2103984"/>
          <a:ext cx="309563" cy="280988"/>
        </p:xfrm>
        <a:graphic>
          <a:graphicData uri="http://schemas.openxmlformats.org/presentationml/2006/ole">
            <mc:AlternateContent xmlns:mc="http://schemas.openxmlformats.org/markup-compatibility/2006">
              <mc:Choice xmlns:v="urn:schemas-microsoft-com:vml" Requires="v">
                <p:oleObj spid="_x0000_s7" name="Formula" r:id="rId5" imgW="1571625" imgH="1409700" progId="Equation.Ribbit">
                  <p:embed/>
                </p:oleObj>
              </mc:Choice>
              <mc:Fallback>
                <p:oleObj name="Formula" r:id="rId5" imgW="1571625" imgH="1409700" progId="Equation.Ribbit">
                  <p:embed/>
                  <p:pic>
                    <p:nvPicPr>
                      <p:cNvPr id="0" name="图片 6"/>
                      <p:cNvPicPr/>
                      <p:nvPr/>
                    </p:nvPicPr>
                    <p:blipFill>
                      <a:blip r:embed="rId6"/>
                      <a:stretch>
                        <a:fillRect/>
                      </a:stretch>
                    </p:blipFill>
                    <p:spPr>
                      <a:xfrm>
                        <a:off x="1471863" y="2103984"/>
                        <a:ext cx="309563" cy="280988"/>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667601" y="2151856"/>
          <a:ext cx="306388" cy="249237"/>
        </p:xfrm>
        <a:graphic>
          <a:graphicData uri="http://schemas.openxmlformats.org/presentationml/2006/ole">
            <mc:AlternateContent xmlns:mc="http://schemas.openxmlformats.org/markup-compatibility/2006">
              <mc:Choice xmlns:v="urn:schemas-microsoft-com:vml" Requires="v">
                <p:oleObj spid="_x0000_s8" name="Formula" r:id="rId7" imgW="1552575" imgH="1257300" progId="Equation.Ribbit">
                  <p:embed/>
                </p:oleObj>
              </mc:Choice>
              <mc:Fallback>
                <p:oleObj name="Formula" r:id="rId7" imgW="1552575" imgH="1257300" progId="Equation.Ribbit">
                  <p:embed/>
                  <p:pic>
                    <p:nvPicPr>
                      <p:cNvPr id="0" name="图片 7"/>
                      <p:cNvPicPr/>
                      <p:nvPr/>
                    </p:nvPicPr>
                    <p:blipFill>
                      <a:blip r:embed="rId4"/>
                      <a:stretch>
                        <a:fillRect/>
                      </a:stretch>
                    </p:blipFill>
                    <p:spPr>
                      <a:xfrm>
                        <a:off x="2667601" y="2151856"/>
                        <a:ext cx="306388" cy="24923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7837488" y="2135188"/>
          <a:ext cx="309562" cy="279400"/>
        </p:xfrm>
        <a:graphic>
          <a:graphicData uri="http://schemas.openxmlformats.org/presentationml/2006/ole">
            <mc:AlternateContent xmlns:mc="http://schemas.openxmlformats.org/markup-compatibility/2006">
              <mc:Choice xmlns:v="urn:schemas-microsoft-com:vml" Requires="v">
                <p:oleObj spid="_x0000_s9" name="Formula" r:id="rId8" imgW="1571625" imgH="1409700" progId="Equation.Ribbit">
                  <p:embed/>
                </p:oleObj>
              </mc:Choice>
              <mc:Fallback>
                <p:oleObj name="Formula" r:id="rId8" imgW="1571625" imgH="1409700" progId="Equation.Ribbit">
                  <p:embed/>
                  <p:pic>
                    <p:nvPicPr>
                      <p:cNvPr id="0" name="图片 8"/>
                      <p:cNvPicPr/>
                      <p:nvPr/>
                    </p:nvPicPr>
                    <p:blipFill>
                      <a:blip r:embed="rId6"/>
                      <a:stretch>
                        <a:fillRect/>
                      </a:stretch>
                    </p:blipFill>
                    <p:spPr>
                      <a:xfrm>
                        <a:off x="7837488" y="2135188"/>
                        <a:ext cx="309562" cy="2794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484438" y="3026422"/>
          <a:ext cx="4433887" cy="679450"/>
        </p:xfrm>
        <a:graphic>
          <a:graphicData uri="http://schemas.openxmlformats.org/presentationml/2006/ole">
            <mc:AlternateContent xmlns:mc="http://schemas.openxmlformats.org/markup-compatibility/2006">
              <mc:Choice xmlns:v="urn:schemas-microsoft-com:vml" Requires="v">
                <p:oleObj spid="_x0000_s13" name="Formula" r:id="rId9" imgW="14811375" imgH="2257425" progId="Equation.Ribbit">
                  <p:embed/>
                </p:oleObj>
              </mc:Choice>
              <mc:Fallback>
                <p:oleObj name="Formula" r:id="rId9" imgW="14811375" imgH="2257425" progId="Equation.Ribbit">
                  <p:embed/>
                  <p:pic>
                    <p:nvPicPr>
                      <p:cNvPr id="0" name="图片 12"/>
                      <p:cNvPicPr/>
                      <p:nvPr/>
                    </p:nvPicPr>
                    <p:blipFill>
                      <a:blip r:embed="rId10"/>
                      <a:stretch>
                        <a:fillRect/>
                      </a:stretch>
                    </p:blipFill>
                    <p:spPr>
                      <a:xfrm>
                        <a:off x="2484438" y="3026422"/>
                        <a:ext cx="4433887" cy="67945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4564465" y="3897852"/>
          <a:ext cx="972438" cy="522324"/>
        </p:xfrm>
        <a:graphic>
          <a:graphicData uri="http://schemas.openxmlformats.org/presentationml/2006/ole">
            <mc:AlternateContent xmlns:mc="http://schemas.openxmlformats.org/markup-compatibility/2006">
              <mc:Choice xmlns:v="urn:schemas-microsoft-com:vml" Requires="v">
                <p:oleObj spid="_x0000_s15" name="Formula" r:id="rId11" imgW="3105150" imgH="1666875" progId="Equation.Ribbit">
                  <p:embed/>
                </p:oleObj>
              </mc:Choice>
              <mc:Fallback>
                <p:oleObj name="Formula" r:id="rId11" imgW="3105150" imgH="1666875" progId="Equation.Ribbit">
                  <p:embed/>
                  <p:pic>
                    <p:nvPicPr>
                      <p:cNvPr id="0" name="图片 14"/>
                      <p:cNvPicPr/>
                      <p:nvPr/>
                    </p:nvPicPr>
                    <p:blipFill>
                      <a:blip r:embed="rId12"/>
                      <a:stretch>
                        <a:fillRect/>
                      </a:stretch>
                    </p:blipFill>
                    <p:spPr>
                      <a:xfrm>
                        <a:off x="4564465" y="3897852"/>
                        <a:ext cx="972438" cy="522324"/>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615618" y="1590675"/>
          <a:ext cx="188913" cy="306388"/>
        </p:xfrm>
        <a:graphic>
          <a:graphicData uri="http://schemas.openxmlformats.org/presentationml/2006/ole">
            <mc:AlternateContent xmlns:mc="http://schemas.openxmlformats.org/markup-compatibility/2006">
              <mc:Choice xmlns:v="urn:schemas-microsoft-com:vml" Requires="v">
                <p:oleObj spid="_x0000_s18" name="Formula" r:id="rId13" imgW="600075" imgH="971550" progId="Equation.Ribbit">
                  <p:embed/>
                </p:oleObj>
              </mc:Choice>
              <mc:Fallback>
                <p:oleObj name="Formula" r:id="rId13" imgW="600075" imgH="971550" progId="Equation.Ribbit">
                  <p:embed/>
                  <p:pic>
                    <p:nvPicPr>
                      <p:cNvPr id="0" name="图片 17"/>
                      <p:cNvPicPr/>
                      <p:nvPr/>
                    </p:nvPicPr>
                    <p:blipFill>
                      <a:blip r:embed="rId14"/>
                      <a:stretch>
                        <a:fillRect/>
                      </a:stretch>
                    </p:blipFill>
                    <p:spPr>
                      <a:xfrm>
                        <a:off x="3615618" y="1590675"/>
                        <a:ext cx="188913" cy="306388"/>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864918" y="1595438"/>
          <a:ext cx="200025" cy="268287"/>
        </p:xfrm>
        <a:graphic>
          <a:graphicData uri="http://schemas.openxmlformats.org/presentationml/2006/ole">
            <mc:AlternateContent xmlns:mc="http://schemas.openxmlformats.org/markup-compatibility/2006">
              <mc:Choice xmlns:v="urn:schemas-microsoft-com:vml" Requires="v">
                <p:oleObj spid="_x0000_s20" name="Formula" r:id="rId15" imgW="933450" imgH="1247775" progId="Equation.Ribbit">
                  <p:embed/>
                </p:oleObj>
              </mc:Choice>
              <mc:Fallback>
                <p:oleObj name="Formula" r:id="rId15" imgW="933450" imgH="1247775" progId="Equation.Ribbit">
                  <p:embed/>
                  <p:pic>
                    <p:nvPicPr>
                      <p:cNvPr id="0" name="图片 19"/>
                      <p:cNvPicPr/>
                      <p:nvPr/>
                    </p:nvPicPr>
                    <p:blipFill>
                      <a:blip r:embed="rId16"/>
                      <a:stretch>
                        <a:fillRect/>
                      </a:stretch>
                    </p:blipFill>
                    <p:spPr>
                      <a:xfrm>
                        <a:off x="4864918" y="1595438"/>
                        <a:ext cx="200025" cy="268287"/>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5804079" y="1571626"/>
          <a:ext cx="209550" cy="290512"/>
        </p:xfrm>
        <a:graphic>
          <a:graphicData uri="http://schemas.openxmlformats.org/presentationml/2006/ole">
            <mc:AlternateContent xmlns:mc="http://schemas.openxmlformats.org/markup-compatibility/2006">
              <mc:Choice xmlns:v="urn:schemas-microsoft-com:vml" Requires="v">
                <p:oleObj spid="_x0000_s22" name="Formula" r:id="rId17" imgW="695325" imgH="971550" progId="Equation.Ribbit">
                  <p:embed/>
                </p:oleObj>
              </mc:Choice>
              <mc:Fallback>
                <p:oleObj name="Formula" r:id="rId17" imgW="695325" imgH="971550" progId="Equation.Ribbit">
                  <p:embed/>
                  <p:pic>
                    <p:nvPicPr>
                      <p:cNvPr id="0" name="图片 21"/>
                      <p:cNvPicPr/>
                      <p:nvPr/>
                    </p:nvPicPr>
                    <p:blipFill>
                      <a:blip r:embed="rId18"/>
                      <a:stretch>
                        <a:fillRect/>
                      </a:stretch>
                    </p:blipFill>
                    <p:spPr>
                      <a:xfrm>
                        <a:off x="5804079" y="1571626"/>
                        <a:ext cx="209550" cy="290512"/>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5486848" y="1862138"/>
          <a:ext cx="112712" cy="311150"/>
        </p:xfrm>
        <a:graphic>
          <a:graphicData uri="http://schemas.openxmlformats.org/presentationml/2006/ole">
            <mc:AlternateContent xmlns:mc="http://schemas.openxmlformats.org/markup-compatibility/2006">
              <mc:Choice xmlns:v="urn:schemas-microsoft-com:vml" Requires="v">
                <p:oleObj spid="_x0000_s24" name="Formula" r:id="rId19" imgW="428625" imgH="1181100" progId="Equation.Ribbit">
                  <p:embed/>
                </p:oleObj>
              </mc:Choice>
              <mc:Fallback>
                <p:oleObj name="Formula" r:id="rId19" imgW="428625" imgH="1181100" progId="Equation.Ribbit">
                  <p:embed/>
                  <p:pic>
                    <p:nvPicPr>
                      <p:cNvPr id="0" name="图片 23"/>
                      <p:cNvPicPr/>
                      <p:nvPr/>
                    </p:nvPicPr>
                    <p:blipFill>
                      <a:blip r:embed="rId20"/>
                      <a:stretch>
                        <a:fillRect/>
                      </a:stretch>
                    </p:blipFill>
                    <p:spPr>
                      <a:xfrm>
                        <a:off x="5486848" y="1862138"/>
                        <a:ext cx="112712" cy="311150"/>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6467396" y="1870869"/>
          <a:ext cx="198438" cy="268287"/>
        </p:xfrm>
        <a:graphic>
          <a:graphicData uri="http://schemas.openxmlformats.org/presentationml/2006/ole">
            <mc:AlternateContent xmlns:mc="http://schemas.openxmlformats.org/markup-compatibility/2006">
              <mc:Choice xmlns:v="urn:schemas-microsoft-com:vml" Requires="v">
                <p:oleObj spid="_x0000_s26" name="Formula" r:id="rId21" imgW="933450" imgH="1247775" progId="Equation.Ribbit">
                  <p:embed/>
                </p:oleObj>
              </mc:Choice>
              <mc:Fallback>
                <p:oleObj name="Formula" r:id="rId21" imgW="933450" imgH="1247775" progId="Equation.Ribbit">
                  <p:embed/>
                  <p:pic>
                    <p:nvPicPr>
                      <p:cNvPr id="0" name="图片 25"/>
                      <p:cNvPicPr/>
                      <p:nvPr/>
                    </p:nvPicPr>
                    <p:blipFill>
                      <a:blip r:embed="rId16"/>
                      <a:stretch>
                        <a:fillRect/>
                      </a:stretch>
                    </p:blipFill>
                    <p:spPr>
                      <a:xfrm>
                        <a:off x="6467396" y="1870869"/>
                        <a:ext cx="198438" cy="268287"/>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4944780" y="2149475"/>
          <a:ext cx="190500" cy="304800"/>
        </p:xfrm>
        <a:graphic>
          <a:graphicData uri="http://schemas.openxmlformats.org/presentationml/2006/ole">
            <mc:AlternateContent xmlns:mc="http://schemas.openxmlformats.org/markup-compatibility/2006">
              <mc:Choice xmlns:v="urn:schemas-microsoft-com:vml" Requires="v">
                <p:oleObj spid="_x0000_s28" name="Formula" r:id="rId22" imgW="600075" imgH="971550" progId="Equation.Ribbit">
                  <p:embed/>
                </p:oleObj>
              </mc:Choice>
              <mc:Fallback>
                <p:oleObj name="Formula" r:id="rId22" imgW="600075" imgH="971550" progId="Equation.Ribbit">
                  <p:embed/>
                  <p:pic>
                    <p:nvPicPr>
                      <p:cNvPr id="0" name="图片 27"/>
                      <p:cNvPicPr/>
                      <p:nvPr/>
                    </p:nvPicPr>
                    <p:blipFill>
                      <a:blip r:embed="rId14"/>
                      <a:stretch>
                        <a:fillRect/>
                      </a:stretch>
                    </p:blipFill>
                    <p:spPr>
                      <a:xfrm>
                        <a:off x="4944780" y="2149475"/>
                        <a:ext cx="190500" cy="304800"/>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6677974" y="2128838"/>
          <a:ext cx="112713" cy="311150"/>
        </p:xfrm>
        <a:graphic>
          <a:graphicData uri="http://schemas.openxmlformats.org/presentationml/2006/ole">
            <mc:AlternateContent xmlns:mc="http://schemas.openxmlformats.org/markup-compatibility/2006">
              <mc:Choice xmlns:v="urn:schemas-microsoft-com:vml" Requires="v">
                <p:oleObj spid="_x0000_s30" name="Formula" r:id="rId23" imgW="428625" imgH="1181100" progId="Equation.Ribbit">
                  <p:embed/>
                </p:oleObj>
              </mc:Choice>
              <mc:Fallback>
                <p:oleObj name="Formula" r:id="rId23" imgW="428625" imgH="1181100" progId="Equation.Ribbit">
                  <p:embed/>
                  <p:pic>
                    <p:nvPicPr>
                      <p:cNvPr id="0" name="图片 29"/>
                      <p:cNvPicPr/>
                      <p:nvPr/>
                    </p:nvPicPr>
                    <p:blipFill>
                      <a:blip r:embed="rId20"/>
                      <a:stretch>
                        <a:fillRect/>
                      </a:stretch>
                    </p:blipFill>
                    <p:spPr>
                      <a:xfrm>
                        <a:off x="6677974" y="2128838"/>
                        <a:ext cx="112713" cy="311150"/>
                      </a:xfrm>
                      <a:prstGeom prst="rect">
                        <a:avLst/>
                      </a:prstGeom>
                    </p:spPr>
                  </p:pic>
                </p:oleObj>
              </mc:Fallback>
            </mc:AlternateContent>
          </a:graphicData>
        </a:graphic>
      </p:graphicFrame>
      <p:graphicFrame>
        <p:nvGraphicFramePr>
          <p:cNvPr id="31" name="对象 30"/>
          <p:cNvGraphicFramePr>
            <a:graphicFrameLocks noChangeAspect="1"/>
          </p:cNvGraphicFramePr>
          <p:nvPr/>
        </p:nvGraphicFramePr>
        <p:xfrm>
          <a:off x="2610144" y="2409031"/>
          <a:ext cx="188912" cy="303213"/>
        </p:xfrm>
        <a:graphic>
          <a:graphicData uri="http://schemas.openxmlformats.org/presentationml/2006/ole">
            <mc:AlternateContent xmlns:mc="http://schemas.openxmlformats.org/markup-compatibility/2006">
              <mc:Choice xmlns:v="urn:schemas-microsoft-com:vml" Requires="v">
                <p:oleObj spid="_x0000_s32" name="Formula" r:id="rId24" imgW="600075" imgH="971550" progId="Equation.Ribbit">
                  <p:embed/>
                </p:oleObj>
              </mc:Choice>
              <mc:Fallback>
                <p:oleObj name="Formula" r:id="rId24" imgW="600075" imgH="971550" progId="Equation.Ribbit">
                  <p:embed/>
                  <p:pic>
                    <p:nvPicPr>
                      <p:cNvPr id="0" name="图片 31"/>
                      <p:cNvPicPr/>
                      <p:nvPr/>
                    </p:nvPicPr>
                    <p:blipFill>
                      <a:blip r:embed="rId14"/>
                      <a:stretch>
                        <a:fillRect/>
                      </a:stretch>
                    </p:blipFill>
                    <p:spPr>
                      <a:xfrm>
                        <a:off x="2610144" y="2409031"/>
                        <a:ext cx="188912" cy="303213"/>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4117077" y="2407577"/>
          <a:ext cx="112713" cy="311150"/>
        </p:xfrm>
        <a:graphic>
          <a:graphicData uri="http://schemas.openxmlformats.org/presentationml/2006/ole">
            <mc:AlternateContent xmlns:mc="http://schemas.openxmlformats.org/markup-compatibility/2006">
              <mc:Choice xmlns:v="urn:schemas-microsoft-com:vml" Requires="v">
                <p:oleObj spid="_x0000_s34" name="Formula" r:id="rId25" imgW="428625" imgH="1181100" progId="Equation.Ribbit">
                  <p:embed/>
                </p:oleObj>
              </mc:Choice>
              <mc:Fallback>
                <p:oleObj name="Formula" r:id="rId25" imgW="428625" imgH="1181100" progId="Equation.Ribbit">
                  <p:embed/>
                  <p:pic>
                    <p:nvPicPr>
                      <p:cNvPr id="0" name="图片 33"/>
                      <p:cNvPicPr/>
                      <p:nvPr/>
                    </p:nvPicPr>
                    <p:blipFill>
                      <a:blip r:embed="rId20"/>
                      <a:stretch>
                        <a:fillRect/>
                      </a:stretch>
                    </p:blipFill>
                    <p:spPr>
                      <a:xfrm>
                        <a:off x="4117077" y="2407577"/>
                        <a:ext cx="112713" cy="311150"/>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6378575" y="2433036"/>
          <a:ext cx="539750" cy="255588"/>
        </p:xfrm>
        <a:graphic>
          <a:graphicData uri="http://schemas.openxmlformats.org/presentationml/2006/ole">
            <mc:AlternateContent xmlns:mc="http://schemas.openxmlformats.org/markup-compatibility/2006">
              <mc:Choice xmlns:v="urn:schemas-microsoft-com:vml" Requires="v">
                <p:oleObj spid="_x0000_s36" name="Formula" r:id="rId26" imgW="2590800" imgH="1219200" progId="Equation.Ribbit">
                  <p:embed/>
                </p:oleObj>
              </mc:Choice>
              <mc:Fallback>
                <p:oleObj name="Formula" r:id="rId26" imgW="2590800" imgH="1219200" progId="Equation.Ribbit">
                  <p:embed/>
                  <p:pic>
                    <p:nvPicPr>
                      <p:cNvPr id="0" name="图片 35"/>
                      <p:cNvPicPr/>
                      <p:nvPr/>
                    </p:nvPicPr>
                    <p:blipFill>
                      <a:blip r:embed="rId27"/>
                      <a:stretch>
                        <a:fillRect/>
                      </a:stretch>
                    </p:blipFill>
                    <p:spPr>
                      <a:xfrm>
                        <a:off x="6378575" y="2433036"/>
                        <a:ext cx="539750" cy="255588"/>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2278662" y="3962738"/>
          <a:ext cx="1222881" cy="457437"/>
        </p:xfrm>
        <a:graphic>
          <a:graphicData uri="http://schemas.openxmlformats.org/presentationml/2006/ole">
            <mc:AlternateContent xmlns:mc="http://schemas.openxmlformats.org/markup-compatibility/2006">
              <mc:Choice xmlns:v="urn:schemas-microsoft-com:vml" Requires="v">
                <p:oleObj spid="_x0000_s38" name="AxMath" r:id="rId28" imgW="1143000" imgH="1143000" progId="Equation.AxMath">
                  <p:embed/>
                </p:oleObj>
              </mc:Choice>
              <mc:Fallback>
                <p:oleObj name="AxMath" r:id="rId28" imgW="1143000" imgH="1143000" progId="Equation.AxMath">
                  <p:embed/>
                  <p:pic>
                    <p:nvPicPr>
                      <p:cNvPr id="0" name="图片 37"/>
                      <p:cNvPicPr/>
                      <p:nvPr/>
                    </p:nvPicPr>
                    <p:blipFill>
                      <a:blip r:embed="rId29"/>
                      <a:stretch>
                        <a:fillRect/>
                      </a:stretch>
                    </p:blipFill>
                    <p:spPr>
                      <a:xfrm>
                        <a:off x="2278662" y="3962738"/>
                        <a:ext cx="1222881" cy="457437"/>
                      </a:xfrm>
                      <a:prstGeom prst="rect">
                        <a:avLst/>
                      </a:prstGeom>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连续值处理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连续属性离散化</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二分法</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第二步：采用离散属性值方法，考察这些划分点，</a:t>
            </a:r>
            <a:r>
              <a:rPr lang="zh-CN" altLang="en-US" b="1" dirty="0">
                <a:solidFill>
                  <a:srgbClr val="FF0000"/>
                </a:solidFill>
                <a:latin typeface="黑体" panose="02010609060101010101" pitchFamily="49" charset="-122"/>
                <a:ea typeface="黑体" panose="02010609060101010101" pitchFamily="49" charset="-122"/>
              </a:rPr>
              <a:t>选取最优的划分点</a:t>
            </a:r>
            <a:r>
              <a:rPr lang="zh-CN" altLang="en-US" b="1" dirty="0">
                <a:latin typeface="黑体" panose="02010609060101010101" pitchFamily="49" charset="-122"/>
                <a:ea typeface="黑体" panose="02010609060101010101" pitchFamily="49" charset="-122"/>
              </a:rPr>
              <a:t>进行样本集合的划分</a:t>
            </a:r>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marL="325755" lvl="1" indent="0">
              <a:buNone/>
            </a:pPr>
            <a:endParaRPr lang="en-US" altLang="zh-CN" b="1" dirty="0">
              <a:latin typeface="黑体" panose="02010609060101010101" pitchFamily="49" charset="-122"/>
              <a:ea typeface="黑体" panose="02010609060101010101" pitchFamily="49" charset="-122"/>
            </a:endParaRPr>
          </a:p>
          <a:p>
            <a:pPr marL="325755" lvl="1"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其中            是样本集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基于划分点</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二分后的信息增益，于是，就可</a:t>
            </a:r>
            <a:r>
              <a:rPr lang="zh-CN" altLang="en-US" b="1" dirty="0">
                <a:solidFill>
                  <a:srgbClr val="FF0000"/>
                </a:solidFill>
                <a:latin typeface="黑体" panose="02010609060101010101" pitchFamily="49" charset="-122"/>
                <a:ea typeface="黑体" panose="02010609060101010101" pitchFamily="49" charset="-122"/>
              </a:rPr>
              <a:t>选择使            最大化的划分点</a:t>
            </a:r>
            <a:endParaRPr lang="en-US" altLang="zh-CN" b="1" dirty="0">
              <a:solidFill>
                <a:srgbClr val="FF0000"/>
              </a:solidFill>
              <a:latin typeface="黑体" panose="02010609060101010101" pitchFamily="49" charset="-122"/>
              <a:ea typeface="黑体" panose="02010609060101010101" pitchFamily="49" charset="-122"/>
            </a:endParaRPr>
          </a:p>
          <a:p>
            <a:pPr marL="782955" lvl="2" indent="0">
              <a:buNone/>
            </a:pPr>
            <a:endParaRPr lang="zh-CN" altLang="en-US" dirty="0"/>
          </a:p>
        </p:txBody>
      </p:sp>
      <p:graphicFrame>
        <p:nvGraphicFramePr>
          <p:cNvPr id="4" name="对象 3"/>
          <p:cNvGraphicFramePr>
            <a:graphicFrameLocks noChangeAspect="1"/>
          </p:cNvGraphicFramePr>
          <p:nvPr/>
        </p:nvGraphicFramePr>
        <p:xfrm>
          <a:off x="3278188" y="2943225"/>
          <a:ext cx="4219575" cy="782638"/>
        </p:xfrm>
        <a:graphic>
          <a:graphicData uri="http://schemas.openxmlformats.org/presentationml/2006/ole">
            <mc:AlternateContent xmlns:mc="http://schemas.openxmlformats.org/markup-compatibility/2006">
              <mc:Choice xmlns:v="urn:schemas-microsoft-com:vml" Requires="v">
                <p:oleObj spid="_x0000_s27941" name="Formula" r:id="rId1" imgW="18507075" imgH="3429000" progId="Equation.Ribbit">
                  <p:embed/>
                </p:oleObj>
              </mc:Choice>
              <mc:Fallback>
                <p:oleObj name="Formula" r:id="rId1" imgW="18507075" imgH="3429000" progId="Equation.Ribbit">
                  <p:embed/>
                  <p:pic>
                    <p:nvPicPr>
                      <p:cNvPr id="0" name="图片 27940"/>
                      <p:cNvPicPr/>
                      <p:nvPr/>
                    </p:nvPicPr>
                    <p:blipFill>
                      <a:blip r:embed="rId2"/>
                      <a:stretch>
                        <a:fillRect/>
                      </a:stretch>
                    </p:blipFill>
                    <p:spPr>
                      <a:xfrm>
                        <a:off x="3278188" y="2943225"/>
                        <a:ext cx="4219575" cy="782638"/>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906588" y="2473325"/>
          <a:ext cx="3571875" cy="419100"/>
        </p:xfrm>
        <a:graphic>
          <a:graphicData uri="http://schemas.openxmlformats.org/presentationml/2006/ole">
            <mc:AlternateContent xmlns:mc="http://schemas.openxmlformats.org/markup-compatibility/2006">
              <mc:Choice xmlns:v="urn:schemas-microsoft-com:vml" Requires="v">
                <p:oleObj spid="_x0000_s6" name="Formula" r:id="rId3" imgW="15325725" imgH="1800225" progId="Equation.Ribbit">
                  <p:embed/>
                </p:oleObj>
              </mc:Choice>
              <mc:Fallback>
                <p:oleObj name="Formula" r:id="rId3" imgW="15325725" imgH="1800225" progId="Equation.Ribbit">
                  <p:embed/>
                  <p:pic>
                    <p:nvPicPr>
                      <p:cNvPr id="0" name="图片 5"/>
                      <p:cNvPicPr/>
                      <p:nvPr/>
                    </p:nvPicPr>
                    <p:blipFill>
                      <a:blip r:embed="rId4"/>
                      <a:stretch>
                        <a:fillRect/>
                      </a:stretch>
                    </p:blipFill>
                    <p:spPr>
                      <a:xfrm>
                        <a:off x="1906588" y="2473325"/>
                        <a:ext cx="3571875" cy="4191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803446" y="4203815"/>
          <a:ext cx="1306512" cy="285750"/>
        </p:xfrm>
        <a:graphic>
          <a:graphicData uri="http://schemas.openxmlformats.org/presentationml/2006/ole">
            <mc:AlternateContent xmlns:mc="http://schemas.openxmlformats.org/markup-compatibility/2006">
              <mc:Choice xmlns:v="urn:schemas-microsoft-com:vml" Requires="v">
                <p:oleObj spid="_x0000_s8" name="Formula" r:id="rId5" imgW="6096000" imgH="1333500" progId="Equation.Ribbit">
                  <p:embed/>
                </p:oleObj>
              </mc:Choice>
              <mc:Fallback>
                <p:oleObj name="Formula" r:id="rId5" imgW="6096000" imgH="1333500" progId="Equation.Ribbit">
                  <p:embed/>
                  <p:pic>
                    <p:nvPicPr>
                      <p:cNvPr id="0" name="图片 7"/>
                      <p:cNvPicPr/>
                      <p:nvPr/>
                    </p:nvPicPr>
                    <p:blipFill>
                      <a:blip r:embed="rId6"/>
                      <a:stretch>
                        <a:fillRect/>
                      </a:stretch>
                    </p:blipFill>
                    <p:spPr>
                      <a:xfrm>
                        <a:off x="1803446" y="4203815"/>
                        <a:ext cx="1306512" cy="2857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624932" y="4514965"/>
          <a:ext cx="1306512" cy="285750"/>
        </p:xfrm>
        <a:graphic>
          <a:graphicData uri="http://schemas.openxmlformats.org/presentationml/2006/ole">
            <mc:AlternateContent xmlns:mc="http://schemas.openxmlformats.org/markup-compatibility/2006">
              <mc:Choice xmlns:v="urn:schemas-microsoft-com:vml" Requires="v">
                <p:oleObj spid="_x0000_s10" name="Formula" r:id="rId7" imgW="6096000" imgH="1333500" progId="Equation.Ribbit">
                  <p:embed/>
                </p:oleObj>
              </mc:Choice>
              <mc:Fallback>
                <p:oleObj name="Formula" r:id="rId7" imgW="6096000" imgH="1333500" progId="Equation.Ribbit">
                  <p:embed/>
                  <p:pic>
                    <p:nvPicPr>
                      <p:cNvPr id="0" name="图片 9"/>
                      <p:cNvPicPr/>
                      <p:nvPr/>
                    </p:nvPicPr>
                    <p:blipFill>
                      <a:blip r:embed="rId6"/>
                      <a:stretch>
                        <a:fillRect/>
                      </a:stretch>
                    </p:blipFill>
                    <p:spPr>
                      <a:xfrm>
                        <a:off x="2624932" y="4514965"/>
                        <a:ext cx="1306512" cy="28575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274726" y="4238281"/>
          <a:ext cx="205130" cy="251284"/>
        </p:xfrm>
        <a:graphic>
          <a:graphicData uri="http://schemas.openxmlformats.org/presentationml/2006/ole">
            <mc:AlternateContent xmlns:mc="http://schemas.openxmlformats.org/markup-compatibility/2006">
              <mc:Choice xmlns:v="urn:schemas-microsoft-com:vml" Requires="v">
                <p:oleObj spid="_x0000_s12" name="Formula" r:id="rId8" imgW="952500" imgH="1162050" progId="Equation.Ribbit">
                  <p:embed/>
                </p:oleObj>
              </mc:Choice>
              <mc:Fallback>
                <p:oleObj name="Formula" r:id="rId8" imgW="952500" imgH="1162050" progId="Equation.Ribbit">
                  <p:embed/>
                  <p:pic>
                    <p:nvPicPr>
                      <p:cNvPr id="0" name="图片 11"/>
                      <p:cNvPicPr/>
                      <p:nvPr/>
                    </p:nvPicPr>
                    <p:blipFill>
                      <a:blip r:embed="rId9"/>
                      <a:stretch>
                        <a:fillRect/>
                      </a:stretch>
                    </p:blipFill>
                    <p:spPr>
                      <a:xfrm>
                        <a:off x="4274726" y="4238281"/>
                        <a:ext cx="205130" cy="251284"/>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858496" y="4203815"/>
          <a:ext cx="112713" cy="311150"/>
        </p:xfrm>
        <a:graphic>
          <a:graphicData uri="http://schemas.openxmlformats.org/presentationml/2006/ole">
            <mc:AlternateContent xmlns:mc="http://schemas.openxmlformats.org/markup-compatibility/2006">
              <mc:Choice xmlns:v="urn:schemas-microsoft-com:vml" Requires="v">
                <p:oleObj spid="_x0000_s14" name="Formula" r:id="rId10" imgW="428625" imgH="1181100" progId="Equation.Ribbit">
                  <p:embed/>
                </p:oleObj>
              </mc:Choice>
              <mc:Fallback>
                <p:oleObj name="Formula" r:id="rId10" imgW="428625" imgH="1181100" progId="Equation.Ribbit">
                  <p:embed/>
                  <p:pic>
                    <p:nvPicPr>
                      <p:cNvPr id="0" name="图片 13"/>
                      <p:cNvPicPr/>
                      <p:nvPr/>
                    </p:nvPicPr>
                    <p:blipFill>
                      <a:blip r:embed="rId11"/>
                      <a:stretch>
                        <a:fillRect/>
                      </a:stretch>
                    </p:blipFill>
                    <p:spPr>
                      <a:xfrm>
                        <a:off x="5858496" y="4203815"/>
                        <a:ext cx="112713" cy="311150"/>
                      </a:xfrm>
                      <a:prstGeom prst="rect">
                        <a:avLst/>
                      </a:prstGeom>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连续值处理</a:t>
            </a:r>
            <a:endParaRPr lang="zh-CN" altLang="en-US" dirty="0">
              <a:latin typeface="黑体" panose="02010609060101010101" pitchFamily="49" charset="-122"/>
              <a:ea typeface="黑体" panose="02010609060101010101" pitchFamily="49" charset="-122"/>
            </a:endParaRPr>
          </a:p>
        </p:txBody>
      </p:sp>
      <p:pic>
        <p:nvPicPr>
          <p:cNvPr id="4" name="内容占位符 3"/>
          <p:cNvPicPr>
            <a:picLocks noGrp="1" noChangeAspect="1"/>
          </p:cNvPicPr>
          <p:nvPr>
            <p:ph idx="1"/>
          </p:nvPr>
        </p:nvPicPr>
        <p:blipFill>
          <a:blip r:embed="rId1"/>
          <a:stretch>
            <a:fillRect/>
          </a:stretch>
        </p:blipFill>
        <p:spPr>
          <a:xfrm>
            <a:off x="287686" y="1588716"/>
            <a:ext cx="5396325" cy="3399957"/>
          </a:xfrm>
          <a:prstGeom prst="rect">
            <a:avLst/>
          </a:prstGeom>
        </p:spPr>
      </p:pic>
      <p:sp>
        <p:nvSpPr>
          <p:cNvPr id="5" name="文本框 4"/>
          <p:cNvSpPr txBox="1"/>
          <p:nvPr/>
        </p:nvSpPr>
        <p:spPr>
          <a:xfrm>
            <a:off x="5977476" y="1498098"/>
            <a:ext cx="3166524" cy="2585323"/>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对属性“密度”，其候选划分点集合包含</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个候选值：</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可计算其信息增益为     ，对应划分点为</a:t>
            </a: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      </a:t>
            </a:r>
            <a:endParaRPr lang="zh-CN" altLang="en-US" b="1" dirty="0">
              <a:latin typeface="黑体" panose="02010609060101010101" pitchFamily="49" charset="-122"/>
              <a:ea typeface="黑体" panose="02010609060101010101" pitchFamily="49" charset="-122"/>
            </a:endParaRPr>
          </a:p>
        </p:txBody>
      </p:sp>
      <p:graphicFrame>
        <p:nvGraphicFramePr>
          <p:cNvPr id="6" name="对象 5"/>
          <p:cNvGraphicFramePr>
            <a:graphicFrameLocks noChangeAspect="1"/>
          </p:cNvGraphicFramePr>
          <p:nvPr/>
        </p:nvGraphicFramePr>
        <p:xfrm>
          <a:off x="6109445" y="2112858"/>
          <a:ext cx="2820988" cy="1004887"/>
        </p:xfrm>
        <a:graphic>
          <a:graphicData uri="http://schemas.openxmlformats.org/presentationml/2006/ole">
            <mc:AlternateContent xmlns:mc="http://schemas.openxmlformats.org/markup-compatibility/2006">
              <mc:Choice xmlns:v="urn:schemas-microsoft-com:vml" Requires="v">
                <p:oleObj spid="_x0000_s27941" name="Formula" r:id="rId2" imgW="14982825" imgH="5457825" progId="Equation.Ribbit">
                  <p:embed/>
                </p:oleObj>
              </mc:Choice>
              <mc:Fallback>
                <p:oleObj name="Formula" r:id="rId2" imgW="14982825" imgH="5457825" progId="Equation.Ribbit">
                  <p:embed/>
                  <p:pic>
                    <p:nvPicPr>
                      <p:cNvPr id="0" name="图片 27940"/>
                      <p:cNvPicPr/>
                      <p:nvPr/>
                    </p:nvPicPr>
                    <p:blipFill>
                      <a:blip r:embed="rId3"/>
                      <a:stretch>
                        <a:fillRect/>
                      </a:stretch>
                    </p:blipFill>
                    <p:spPr>
                      <a:xfrm>
                        <a:off x="6109445" y="2112858"/>
                        <a:ext cx="2820988" cy="1004887"/>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8210784" y="3228975"/>
          <a:ext cx="519112" cy="252413"/>
        </p:xfrm>
        <a:graphic>
          <a:graphicData uri="http://schemas.openxmlformats.org/presentationml/2006/ole">
            <mc:AlternateContent xmlns:mc="http://schemas.openxmlformats.org/markup-compatibility/2006">
              <mc:Choice xmlns:v="urn:schemas-microsoft-com:vml" Requires="v">
                <p:oleObj spid="_x0000_s3" name="Formula" r:id="rId4" imgW="2533650" imgH="1219200" progId="Equation.Ribbit">
                  <p:embed/>
                </p:oleObj>
              </mc:Choice>
              <mc:Fallback>
                <p:oleObj name="Formula" r:id="rId4" imgW="2533650" imgH="1219200" progId="Equation.Ribbit">
                  <p:embed/>
                  <p:pic>
                    <p:nvPicPr>
                      <p:cNvPr id="0" name="图片 2"/>
                      <p:cNvPicPr/>
                      <p:nvPr/>
                    </p:nvPicPr>
                    <p:blipFill>
                      <a:blip r:embed="rId5"/>
                      <a:stretch>
                        <a:fillRect/>
                      </a:stretch>
                    </p:blipFill>
                    <p:spPr>
                      <a:xfrm>
                        <a:off x="8210784" y="3228975"/>
                        <a:ext cx="519112" cy="25241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495822" y="3523897"/>
          <a:ext cx="511175" cy="250825"/>
        </p:xfrm>
        <a:graphic>
          <a:graphicData uri="http://schemas.openxmlformats.org/presentationml/2006/ole">
            <mc:AlternateContent xmlns:mc="http://schemas.openxmlformats.org/markup-compatibility/2006">
              <mc:Choice xmlns:v="urn:schemas-microsoft-com:vml" Requires="v">
                <p:oleObj spid="_x0000_s7" name="Formula" r:id="rId6" imgW="2495550" imgH="1219200" progId="Equation.Ribbit">
                  <p:embed/>
                </p:oleObj>
              </mc:Choice>
              <mc:Fallback>
                <p:oleObj name="Formula" r:id="rId6" imgW="2495550" imgH="1219200" progId="Equation.Ribbit">
                  <p:embed/>
                  <p:pic>
                    <p:nvPicPr>
                      <p:cNvPr id="0" name="图片 6"/>
                      <p:cNvPicPr/>
                      <p:nvPr/>
                    </p:nvPicPr>
                    <p:blipFill>
                      <a:blip r:embed="rId7"/>
                      <a:stretch>
                        <a:fillRect/>
                      </a:stretch>
                    </p:blipFill>
                    <p:spPr>
                      <a:xfrm>
                        <a:off x="7495822" y="3523897"/>
                        <a:ext cx="511175" cy="250825"/>
                      </a:xfrm>
                      <a:prstGeom prst="rect">
                        <a:avLst/>
                      </a:prstGeom>
                    </p:spPr>
                  </p:pic>
                </p:oleObj>
              </mc:Fallback>
            </mc:AlternateContent>
          </a:graphicData>
        </a:graphic>
      </p:graphicFrame>
      <p:sp>
        <p:nvSpPr>
          <p:cNvPr id="10" name="文本框 9"/>
          <p:cNvSpPr txBox="1"/>
          <p:nvPr/>
        </p:nvSpPr>
        <p:spPr>
          <a:xfrm>
            <a:off x="5977476" y="3975305"/>
            <a:ext cx="2980623" cy="646331"/>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对属性“含糖量”进行同样处理</a:t>
            </a:r>
            <a:endParaRPr lang="zh-CN" altLang="en-US" b="1" dirty="0">
              <a:latin typeface="黑体" panose="02010609060101010101" pitchFamily="49" charset="-122"/>
              <a:ea typeface="黑体" panose="02010609060101010101" pitchFamily="49" charset="-122"/>
            </a:endParaRPr>
          </a:p>
        </p:txBody>
      </p:sp>
      <p:sp>
        <p:nvSpPr>
          <p:cNvPr id="11" name="Rectangle 3"/>
          <p:cNvSpPr>
            <a:spLocks noChangeArrowheads="1"/>
          </p:cNvSpPr>
          <p:nvPr/>
        </p:nvSpPr>
        <p:spPr bwMode="auto">
          <a:xfrm>
            <a:off x="1832172" y="5104215"/>
            <a:ext cx="5881491" cy="1024736"/>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lgn="ctr">
              <a:lnSpc>
                <a:spcPts val="3200"/>
              </a:lnSpc>
              <a:buNone/>
            </a:pPr>
            <a:r>
              <a:rPr lang="zh-CN" altLang="en-US" sz="2200" b="1" dirty="0">
                <a:latin typeface="黑体" panose="02010609060101010101" pitchFamily="49" charset="-122"/>
                <a:ea typeface="黑体" panose="02010609060101010101" pitchFamily="49" charset="-122"/>
              </a:rPr>
              <a:t>与离散属性不同，若当前结点划分属性为连续属性，</a:t>
            </a:r>
            <a:r>
              <a:rPr lang="zh-CN" altLang="en-US" sz="2200" b="1" dirty="0">
                <a:solidFill>
                  <a:srgbClr val="C00000"/>
                </a:solidFill>
                <a:latin typeface="黑体" panose="02010609060101010101" pitchFamily="49" charset="-122"/>
                <a:ea typeface="黑体" panose="02010609060101010101" pitchFamily="49" charset="-122"/>
              </a:rPr>
              <a:t>该属性还可作为其后代结点的划分属性</a:t>
            </a:r>
            <a:endParaRPr lang="zh-CN" altLang="en-US" sz="2200" b="1" i="0" dirty="0">
              <a:solidFill>
                <a:srgbClr val="C00000"/>
              </a:solidFill>
              <a:latin typeface="黑体" panose="02010609060101010101" pitchFamily="49" charset="-122"/>
              <a:ea typeface="黑体" panose="02010609060101010101" pitchFamily="49" charset="-122"/>
            </a:endParaRPr>
          </a:p>
        </p:txBody>
      </p:sp>
      <p:graphicFrame>
        <p:nvGraphicFramePr>
          <p:cNvPr id="12" name="对象 11"/>
          <p:cNvGraphicFramePr>
            <a:graphicFrameLocks noChangeAspect="1"/>
          </p:cNvGraphicFramePr>
          <p:nvPr/>
        </p:nvGraphicFramePr>
        <p:xfrm>
          <a:off x="7488898" y="1834857"/>
          <a:ext cx="242888" cy="282575"/>
        </p:xfrm>
        <a:graphic>
          <a:graphicData uri="http://schemas.openxmlformats.org/presentationml/2006/ole">
            <mc:AlternateContent xmlns:mc="http://schemas.openxmlformats.org/markup-compatibility/2006">
              <mc:Choice xmlns:v="urn:schemas-microsoft-com:vml" Requires="v">
                <p:oleObj spid="_x0000_s13" name="Formula" r:id="rId8" imgW="1057275" imgH="1219200" progId="Equation.Ribbit">
                  <p:embed/>
                </p:oleObj>
              </mc:Choice>
              <mc:Fallback>
                <p:oleObj name="Formula" r:id="rId8" imgW="1057275" imgH="1219200" progId="Equation.Ribbit">
                  <p:embed/>
                  <p:pic>
                    <p:nvPicPr>
                      <p:cNvPr id="0" name="图片 12"/>
                      <p:cNvPicPr/>
                      <p:nvPr/>
                    </p:nvPicPr>
                    <p:blipFill>
                      <a:blip r:embed="rId9"/>
                      <a:stretch>
                        <a:fillRect/>
                      </a:stretch>
                    </p:blipFill>
                    <p:spPr>
                      <a:xfrm>
                        <a:off x="7488898" y="1834857"/>
                        <a:ext cx="242888" cy="282575"/>
                      </a:xfrm>
                      <a:prstGeom prst="rect">
                        <a:avLst/>
                      </a:prstGeom>
                    </p:spPr>
                  </p:pic>
                </p:oleObj>
              </mc:Fallback>
            </mc:AlternateContent>
          </a:graphicData>
        </a:graphic>
      </p:graphicFrame>
      <p:sp>
        <p:nvSpPr>
          <p:cNvPr id="14" name="文本占位符 2"/>
          <p:cNvSpPr txBox="1"/>
          <p:nvPr/>
        </p:nvSpPr>
        <p:spPr>
          <a:xfrm>
            <a:off x="260350" y="1149013"/>
            <a:ext cx="8629650" cy="457200"/>
          </a:xfrm>
          <a:prstGeom prst="rect">
            <a:avLst/>
          </a:prstGeom>
        </p:spPr>
        <p:txBody>
          <a:bodyPr>
            <a:noAutofit/>
          </a:bodyPr>
          <a:lst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000" b="1" dirty="0">
                <a:solidFill>
                  <a:schemeClr val="tx2"/>
                </a:solidFill>
                <a:latin typeface="黑体" panose="02010609060101010101" pitchFamily="49" charset="-122"/>
                <a:ea typeface="黑体" panose="02010609060101010101" pitchFamily="49" charset="-122"/>
              </a:rPr>
              <a:t>连续值处理实例</a:t>
            </a:r>
            <a:endParaRPr lang="zh-CN" altLang="en-US" sz="3000" b="1" dirty="0">
              <a:solidFill>
                <a:schemeClr val="tx2"/>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2244" y="1129280"/>
            <a:ext cx="7886700" cy="654253"/>
          </a:xfrm>
        </p:spPr>
        <p:txBody>
          <a:bodyPr>
            <a:noAutofit/>
          </a:bodyPr>
          <a:lstStyle/>
          <a:p>
            <a:r>
              <a:rPr lang="zh-CN" altLang="en-US" sz="2400" dirty="0">
                <a:latin typeface="黑体" panose="02010609060101010101" pitchFamily="49" charset="-122"/>
                <a:ea typeface="黑体" panose="02010609060101010101" pitchFamily="49" charset="-122"/>
              </a:rPr>
              <a:t>属性“密度”</a:t>
            </a:r>
            <a:br>
              <a:rPr lang="en-US" altLang="zh-CN" sz="2400" dirty="0">
                <a:latin typeface="黑体" panose="02010609060101010101" pitchFamily="49" charset="-122"/>
                <a:ea typeface="黑体" panose="02010609060101010101" pitchFamily="49" charset="-122"/>
              </a:rPr>
            </a:br>
            <a:r>
              <a:rPr lang="zh-CN" altLang="en-US" sz="2400" dirty="0">
                <a:latin typeface="黑体" panose="02010609060101010101" pitchFamily="49" charset="-122"/>
                <a:ea typeface="黑体" panose="02010609060101010101" pitchFamily="49" charset="-122"/>
              </a:rPr>
              <a:t>信息增益计算</a:t>
            </a:r>
            <a:endParaRPr lang="zh-CN" altLang="en-US" sz="2400" dirty="0">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1"/>
          <a:stretch>
            <a:fillRect/>
          </a:stretch>
        </p:blipFill>
        <p:spPr>
          <a:xfrm>
            <a:off x="126748" y="3804639"/>
            <a:ext cx="9144000" cy="2689037"/>
          </a:xfrm>
          <a:prstGeom prst="rect">
            <a:avLst/>
          </a:prstGeom>
        </p:spPr>
      </p:pic>
      <p:pic>
        <p:nvPicPr>
          <p:cNvPr id="4" name="图片 3"/>
          <p:cNvPicPr>
            <a:picLocks noChangeAspect="1"/>
          </p:cNvPicPr>
          <p:nvPr/>
        </p:nvPicPr>
        <p:blipFill>
          <a:blip r:embed="rId2"/>
          <a:stretch>
            <a:fillRect/>
          </a:stretch>
        </p:blipFill>
        <p:spPr>
          <a:xfrm>
            <a:off x="5911912" y="0"/>
            <a:ext cx="3358836" cy="4079845"/>
          </a:xfrm>
          <a:prstGeom prst="rect">
            <a:avLst/>
          </a:prstGeom>
        </p:spPr>
      </p:pic>
      <p:sp>
        <p:nvSpPr>
          <p:cNvPr id="6" name="标题 1"/>
          <p:cNvSpPr txBox="1"/>
          <p:nvPr/>
        </p:nvSpPr>
        <p:spPr>
          <a:xfrm>
            <a:off x="242244" y="2258560"/>
            <a:ext cx="7886700" cy="6542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sz="2400" dirty="0">
                <a:latin typeface="黑体" panose="02010609060101010101" pitchFamily="49" charset="-122"/>
                <a:ea typeface="黑体" panose="02010609060101010101" pitchFamily="49" charset="-122"/>
              </a:rPr>
              <a:t>对应划分点：</a:t>
            </a:r>
            <a:r>
              <a:rPr lang="en-US" altLang="zh-CN" sz="2400" dirty="0">
                <a:latin typeface="黑体" panose="02010609060101010101" pitchFamily="49" charset="-122"/>
                <a:ea typeface="黑体" panose="02010609060101010101" pitchFamily="49" charset="-122"/>
              </a:rPr>
              <a:t>0.381</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缺失值处理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normAutofit/>
          </a:bodyPr>
          <a:lstStyle/>
          <a:p>
            <a:r>
              <a:rPr lang="zh-CN" altLang="en-US" b="1" dirty="0">
                <a:latin typeface="黑体" panose="02010609060101010101" pitchFamily="49" charset="-122"/>
                <a:ea typeface="黑体" panose="02010609060101010101" pitchFamily="49" charset="-122"/>
              </a:rPr>
              <a:t>不完整样本，即样本的属性值缺失</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仅使用无缺失的样本进行学习</a:t>
            </a:r>
            <a:r>
              <a:rPr lang="en-US" altLang="zh-CN" b="1" dirty="0">
                <a:latin typeface="黑体" panose="02010609060101010101" pitchFamily="49" charset="-122"/>
                <a:ea typeface="黑体" panose="02010609060101010101" pitchFamily="49" charset="-122"/>
              </a:rPr>
              <a:t>? </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pPr marL="0" indent="0">
              <a:buNone/>
            </a:pPr>
            <a:endParaRPr lang="en-US" altLang="zh-CN" dirty="0"/>
          </a:p>
          <a:p>
            <a:pPr marL="0" indent="0">
              <a:buNone/>
            </a:pPr>
            <a:endParaRPr lang="en-US" altLang="zh-CN" dirty="0"/>
          </a:p>
          <a:p>
            <a:r>
              <a:rPr lang="en-US" altLang="zh-CN" dirty="0"/>
              <a:t> </a:t>
            </a:r>
            <a:r>
              <a:rPr lang="zh-CN" altLang="en-US" b="1" dirty="0">
                <a:latin typeface="黑体" panose="02010609060101010101" pitchFamily="49" charset="-122"/>
                <a:ea typeface="黑体" panose="02010609060101010101" pitchFamily="49" charset="-122"/>
              </a:rPr>
              <a:t>使用有缺失值的样本，需要解决哪些问题？</a:t>
            </a:r>
            <a:endParaRPr lang="en-US" altLang="zh-CN" b="1" dirty="0">
              <a:latin typeface="黑体" panose="02010609060101010101" pitchFamily="49" charset="-122"/>
              <a:ea typeface="黑体" panose="02010609060101010101" pitchFamily="49" charset="-122"/>
            </a:endParaRPr>
          </a:p>
          <a:p>
            <a:endParaRPr lang="en-US" altLang="zh-CN" dirty="0"/>
          </a:p>
          <a:p>
            <a:pPr marL="0" indent="0">
              <a:buNone/>
            </a:pPr>
            <a:endParaRPr lang="en-US" altLang="zh-CN" dirty="0"/>
          </a:p>
          <a:p>
            <a:pPr marL="325755" lvl="1" indent="0">
              <a:buNone/>
            </a:pPr>
            <a:endParaRPr lang="en-US" altLang="zh-CN" dirty="0"/>
          </a:p>
        </p:txBody>
      </p:sp>
      <p:sp>
        <p:nvSpPr>
          <p:cNvPr id="4" name="Rectangle 3"/>
          <p:cNvSpPr>
            <a:spLocks noChangeArrowheads="1"/>
          </p:cNvSpPr>
          <p:nvPr/>
        </p:nvSpPr>
        <p:spPr bwMode="auto">
          <a:xfrm>
            <a:off x="1388737" y="2289194"/>
            <a:ext cx="3558017" cy="628677"/>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400" b="1" dirty="0">
                <a:latin typeface="黑体" panose="02010609060101010101" pitchFamily="49" charset="-122"/>
                <a:ea typeface="黑体" panose="02010609060101010101" pitchFamily="49" charset="-122"/>
              </a:rPr>
              <a:t>  </a:t>
            </a:r>
            <a:r>
              <a:rPr lang="zh-CN" altLang="en-US" sz="2200" b="1" dirty="0">
                <a:latin typeface="黑体" panose="02010609060101010101" pitchFamily="49" charset="-122"/>
                <a:ea typeface="黑体" panose="02010609060101010101" pitchFamily="49" charset="-122"/>
              </a:rPr>
              <a:t>对数据信息极大的浪费</a:t>
            </a:r>
            <a:endParaRPr lang="en-US" altLang="zh-CN" sz="2200" b="1" dirty="0">
              <a:latin typeface="黑体" panose="02010609060101010101" pitchFamily="49" charset="-122"/>
              <a:ea typeface="黑体" panose="02010609060101010101" pitchFamily="49" charset="-122"/>
            </a:endParaRPr>
          </a:p>
        </p:txBody>
      </p:sp>
      <p:sp>
        <p:nvSpPr>
          <p:cNvPr id="6" name="Rectangle 3"/>
          <p:cNvSpPr>
            <a:spLocks noChangeArrowheads="1"/>
          </p:cNvSpPr>
          <p:nvPr/>
        </p:nvSpPr>
        <p:spPr bwMode="auto">
          <a:xfrm>
            <a:off x="1388737" y="3939029"/>
            <a:ext cx="6338355" cy="606192"/>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indent="0">
              <a:buNone/>
            </a:pPr>
            <a:r>
              <a:rPr lang="en-US" altLang="zh-CN" sz="2200" b="1" dirty="0">
                <a:latin typeface="黑体" panose="02010609060101010101" pitchFamily="49" charset="-122"/>
                <a:ea typeface="黑体" panose="02010609060101010101" pitchFamily="49" charset="-122"/>
              </a:rPr>
              <a:t>Q1</a:t>
            </a:r>
            <a:r>
              <a:rPr lang="zh-CN" altLang="en-US" sz="2200" b="1" dirty="0">
                <a:latin typeface="黑体" panose="02010609060101010101" pitchFamily="49" charset="-122"/>
                <a:ea typeface="黑体" panose="02010609060101010101" pitchFamily="49" charset="-122"/>
              </a:rPr>
              <a:t>：如何在属性缺失的情况下进行划分属性选择？</a:t>
            </a:r>
            <a:endParaRPr lang="en-US" altLang="zh-CN" sz="2200" b="1" dirty="0">
              <a:latin typeface="黑体" panose="02010609060101010101" pitchFamily="49" charset="-122"/>
              <a:ea typeface="黑体" panose="02010609060101010101" pitchFamily="49" charset="-122"/>
            </a:endParaRPr>
          </a:p>
        </p:txBody>
      </p:sp>
      <p:sp>
        <p:nvSpPr>
          <p:cNvPr id="7" name="Rectangle 3"/>
          <p:cNvSpPr>
            <a:spLocks noChangeArrowheads="1"/>
          </p:cNvSpPr>
          <p:nvPr/>
        </p:nvSpPr>
        <p:spPr bwMode="auto">
          <a:xfrm>
            <a:off x="1388737" y="4677206"/>
            <a:ext cx="6338356" cy="831680"/>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lvl="1" indent="0">
              <a:buNone/>
            </a:pPr>
            <a:r>
              <a:rPr lang="en-US" altLang="zh-CN" sz="2200" b="1" dirty="0">
                <a:latin typeface="黑体" panose="02010609060101010101" pitchFamily="49" charset="-122"/>
                <a:ea typeface="黑体" panose="02010609060101010101" pitchFamily="49" charset="-122"/>
              </a:rPr>
              <a:t>Q2</a:t>
            </a:r>
            <a:r>
              <a:rPr lang="zh-CN" altLang="en-US" sz="2200" b="1" dirty="0">
                <a:latin typeface="黑体" panose="02010609060101010101" pitchFamily="49" charset="-122"/>
                <a:ea typeface="黑体" panose="02010609060101010101" pitchFamily="49" charset="-122"/>
              </a:rPr>
              <a:t>：给定划分属性</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若样本在该属性上的值缺失，如何对样本进行划分？</a:t>
            </a:r>
            <a:endParaRPr lang="en-US" altLang="zh-CN" sz="22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fltVal val="0"/>
                                          </p:val>
                                        </p:tav>
                                        <p:tav tm="100000">
                                          <p:val>
                                            <p:strVal val="#ppt_w"/>
                                          </p:val>
                                        </p:tav>
                                      </p:tavLst>
                                    </p:anim>
                                    <p:anim calcmode="lin" valueType="num">
                                      <p:cBhvr>
                                        <p:cTn id="36" dur="500" fill="hold"/>
                                        <p:tgtEl>
                                          <p:spTgt spid="7"/>
                                        </p:tgtEl>
                                        <p:attrNameLst>
                                          <p:attrName>ppt_h</p:attrName>
                                        </p:attrNameLst>
                                      </p:cBhvr>
                                      <p:tavLst>
                                        <p:tav tm="0">
                                          <p:val>
                                            <p:fltVal val="0"/>
                                          </p:val>
                                        </p:tav>
                                        <p:tav tm="100000">
                                          <p:val>
                                            <p:strVal val="#ppt_h"/>
                                          </p:val>
                                        </p:tav>
                                      </p:tavLst>
                                    </p:anim>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6" grpId="0"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缺失值处理</a:t>
            </a:r>
            <a:endParaRPr lang="zh-CN" altLang="en-US" dirty="0">
              <a:latin typeface="黑体" panose="02010609060101010101" pitchFamily="49" charset="-122"/>
              <a:ea typeface="黑体" panose="02010609060101010101" pitchFamily="49" charset="-122"/>
            </a:endParaRPr>
          </a:p>
        </p:txBody>
      </p:sp>
      <p:sp>
        <p:nvSpPr>
          <p:cNvPr id="5" name="内容占位符 2"/>
          <p:cNvSpPr>
            <a:spLocks noGrp="1"/>
          </p:cNvSpPr>
          <p:nvPr>
            <p:ph idx="1"/>
          </p:nvPr>
        </p:nvSpPr>
        <p:spPr>
          <a:xfrm>
            <a:off x="260350" y="1158536"/>
            <a:ext cx="8785996" cy="4930775"/>
          </a:xfrm>
        </p:spPr>
        <p:txBody>
          <a:bodyPr/>
          <a:lstStyle/>
          <a:p>
            <a:pPr marL="342900" indent="-342900"/>
            <a:r>
              <a:rPr lang="zh-CN" altLang="en-US" dirty="0"/>
              <a:t>  </a:t>
            </a:r>
            <a:r>
              <a:rPr lang="zh-CN" altLang="en-US" b="1" dirty="0">
                <a:latin typeface="黑体" panose="02010609060101010101" pitchFamily="49" charset="-122"/>
                <a:ea typeface="黑体" panose="02010609060101010101" pitchFamily="49" charset="-122"/>
              </a:rPr>
              <a:t>表示</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中在属性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上没有缺失值的样本子集，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表示  中在属性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上取值为  的样本子集，  表示   中属于第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类的样本子集</a:t>
            </a:r>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   为每个样本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赋予一个权重   ，并定义：</a:t>
            </a:r>
            <a:endParaRPr lang="en-US" altLang="zh-CN" b="1" dirty="0">
              <a:latin typeface="黑体" panose="02010609060101010101" pitchFamily="49" charset="-122"/>
              <a:ea typeface="黑体" panose="02010609060101010101" pitchFamily="49" charset="-122"/>
            </a:endParaRPr>
          </a:p>
          <a:p>
            <a:pPr marL="800100" lvl="1" indent="-342900"/>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无缺失值样本所占的比例</a:t>
            </a:r>
            <a:endParaRPr lang="zh-CN" altLang="en-US" b="1" dirty="0">
              <a:latin typeface="黑体" panose="02010609060101010101" pitchFamily="49" charset="-122"/>
              <a:ea typeface="黑体" panose="02010609060101010101" pitchFamily="49" charset="-122"/>
            </a:endParaRPr>
          </a:p>
          <a:p>
            <a:pPr marL="800100" lvl="1" indent="-342900"/>
            <a:endParaRPr lang="en-US" altLang="zh-CN" b="1" dirty="0">
              <a:latin typeface="黑体" panose="02010609060101010101" pitchFamily="49" charset="-122"/>
              <a:ea typeface="黑体" panose="02010609060101010101" pitchFamily="49" charset="-122"/>
            </a:endParaRPr>
          </a:p>
          <a:p>
            <a:pPr marL="800100" lvl="1" indent="-342900"/>
            <a:endParaRPr lang="en-US" altLang="zh-CN" b="1" dirty="0">
              <a:latin typeface="黑体" panose="02010609060101010101" pitchFamily="49" charset="-122"/>
              <a:ea typeface="黑体" panose="02010609060101010101" pitchFamily="49" charset="-122"/>
            </a:endParaRPr>
          </a:p>
          <a:p>
            <a:pPr marL="800100" lvl="1" indent="-342900"/>
            <a:endParaRPr lang="en-US" altLang="zh-CN" b="1" dirty="0">
              <a:latin typeface="黑体" panose="02010609060101010101" pitchFamily="49" charset="-122"/>
              <a:ea typeface="黑体" panose="02010609060101010101" pitchFamily="49" charset="-122"/>
            </a:endParaRPr>
          </a:p>
          <a:p>
            <a:pPr marL="800100" lvl="1" indent="-342900"/>
            <a:r>
              <a:rPr lang="zh-CN" altLang="en-US" b="1" dirty="0">
                <a:latin typeface="黑体" panose="02010609060101010101" pitchFamily="49" charset="-122"/>
                <a:ea typeface="黑体" panose="02010609060101010101" pitchFamily="49" charset="-122"/>
              </a:rPr>
              <a:t>无缺失值样本中第</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类所占比例</a:t>
            </a:r>
            <a:endParaRPr lang="en-US" altLang="zh-CN" b="1" dirty="0">
              <a:latin typeface="黑体" panose="02010609060101010101" pitchFamily="49" charset="-122"/>
              <a:ea typeface="黑体" panose="02010609060101010101" pitchFamily="49" charset="-122"/>
            </a:endParaRPr>
          </a:p>
          <a:p>
            <a:pPr marL="800100" lvl="1" indent="-342900"/>
            <a:endParaRPr lang="zh-CN" altLang="en-US" b="1" dirty="0">
              <a:latin typeface="黑体" panose="02010609060101010101" pitchFamily="49" charset="-122"/>
              <a:ea typeface="黑体" panose="02010609060101010101" pitchFamily="49" charset="-122"/>
            </a:endParaRPr>
          </a:p>
          <a:p>
            <a:pPr marL="800100" lvl="1" indent="-342900"/>
            <a:endParaRPr lang="en-US" altLang="zh-CN" b="1" dirty="0">
              <a:latin typeface="黑体" panose="02010609060101010101" pitchFamily="49" charset="-122"/>
              <a:ea typeface="黑体" panose="02010609060101010101" pitchFamily="49" charset="-122"/>
            </a:endParaRPr>
          </a:p>
          <a:p>
            <a:pPr marL="800100" lvl="1" indent="-342900"/>
            <a:endParaRPr lang="en-US" altLang="zh-CN" b="1" dirty="0">
              <a:latin typeface="黑体" panose="02010609060101010101" pitchFamily="49" charset="-122"/>
              <a:ea typeface="黑体" panose="02010609060101010101" pitchFamily="49" charset="-122"/>
            </a:endParaRPr>
          </a:p>
          <a:p>
            <a:pPr marL="800100" lvl="1" indent="-342900"/>
            <a:r>
              <a:rPr lang="zh-CN" altLang="en-US" b="1" dirty="0">
                <a:latin typeface="黑体" panose="02010609060101010101" pitchFamily="49" charset="-122"/>
                <a:ea typeface="黑体" panose="02010609060101010101" pitchFamily="49" charset="-122"/>
              </a:rPr>
              <a:t>无缺失值样本中在属性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上取值    的样本所占比例</a:t>
            </a:r>
            <a:endParaRPr lang="zh-CN" altLang="en-US" b="1" dirty="0">
              <a:latin typeface="黑体" panose="02010609060101010101" pitchFamily="49" charset="-122"/>
              <a:ea typeface="黑体" panose="02010609060101010101" pitchFamily="49" charset="-122"/>
            </a:endParaRPr>
          </a:p>
          <a:p>
            <a:pPr marL="800100" lvl="1" indent="-342900"/>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pPr lvl="1">
              <a:buFont typeface="Wingdings" panose="05000000000000000000" pitchFamily="2" charset="2"/>
              <a:buChar char="p"/>
            </a:pPr>
            <a:endParaRPr lang="en-US" altLang="zh-CN" dirty="0"/>
          </a:p>
          <a:p>
            <a:pPr marL="0" indent="0">
              <a:buNone/>
            </a:pPr>
            <a:endParaRPr lang="en-US" altLang="zh-CN" dirty="0"/>
          </a:p>
          <a:p>
            <a:pPr lvl="1"/>
            <a:endParaRPr lang="en-US" altLang="zh-CN" dirty="0"/>
          </a:p>
          <a:p>
            <a:pPr marL="325755" lvl="1" indent="0">
              <a:buNone/>
            </a:pPr>
            <a:endParaRPr lang="en-US" altLang="zh-CN" dirty="0"/>
          </a:p>
          <a:p>
            <a:pPr marL="325755" lvl="1" indent="0">
              <a:buNone/>
            </a:pPr>
            <a:endParaRPr lang="en-US" altLang="zh-CN" dirty="0"/>
          </a:p>
        </p:txBody>
      </p:sp>
      <p:graphicFrame>
        <p:nvGraphicFramePr>
          <p:cNvPr id="4" name="对象 3"/>
          <p:cNvGraphicFramePr>
            <a:graphicFrameLocks noChangeAspect="1"/>
          </p:cNvGraphicFramePr>
          <p:nvPr/>
        </p:nvGraphicFramePr>
        <p:xfrm>
          <a:off x="625475" y="1179513"/>
          <a:ext cx="222250" cy="360362"/>
        </p:xfrm>
        <a:graphic>
          <a:graphicData uri="http://schemas.openxmlformats.org/presentationml/2006/ole">
            <mc:AlternateContent xmlns:mc="http://schemas.openxmlformats.org/markup-compatibility/2006">
              <mc:Choice xmlns:v="urn:schemas-microsoft-com:vml" Requires="v">
                <p:oleObj spid="_x0000_s27941" name="Formula" r:id="rId1" imgW="933450" imgH="1514475" progId="Equation.Ribbit">
                  <p:embed/>
                </p:oleObj>
              </mc:Choice>
              <mc:Fallback>
                <p:oleObj name="Formula" r:id="rId1" imgW="933450" imgH="1514475" progId="Equation.Ribbit">
                  <p:embed/>
                  <p:pic>
                    <p:nvPicPr>
                      <p:cNvPr id="0" name="图片 27940"/>
                      <p:cNvPicPr/>
                      <p:nvPr/>
                    </p:nvPicPr>
                    <p:blipFill>
                      <a:blip r:embed="rId2"/>
                      <a:stretch>
                        <a:fillRect/>
                      </a:stretch>
                    </p:blipFill>
                    <p:spPr>
                      <a:xfrm>
                        <a:off x="625475" y="1179513"/>
                        <a:ext cx="222250" cy="36036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476375" y="1241425"/>
          <a:ext cx="219075" cy="296863"/>
        </p:xfrm>
        <a:graphic>
          <a:graphicData uri="http://schemas.openxmlformats.org/presentationml/2006/ole">
            <mc:AlternateContent xmlns:mc="http://schemas.openxmlformats.org/markup-compatibility/2006">
              <mc:Choice xmlns:v="urn:schemas-microsoft-com:vml" Requires="v">
                <p:oleObj spid="_x0000_s3" name="Formula" r:id="rId3" imgW="933450" imgH="1247775" progId="Equation.Ribbit">
                  <p:embed/>
                </p:oleObj>
              </mc:Choice>
              <mc:Fallback>
                <p:oleObj name="Formula" r:id="rId3" imgW="933450" imgH="1247775" progId="Equation.Ribbit">
                  <p:embed/>
                  <p:pic>
                    <p:nvPicPr>
                      <p:cNvPr id="0" name="图片 2"/>
                      <p:cNvPicPr/>
                      <p:nvPr/>
                    </p:nvPicPr>
                    <p:blipFill>
                      <a:blip r:embed="rId4"/>
                      <a:stretch>
                        <a:fillRect/>
                      </a:stretch>
                    </p:blipFill>
                    <p:spPr>
                      <a:xfrm>
                        <a:off x="1476375" y="1241425"/>
                        <a:ext cx="219075" cy="296863"/>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461125" y="1176939"/>
          <a:ext cx="323850" cy="360362"/>
        </p:xfrm>
        <a:graphic>
          <a:graphicData uri="http://schemas.openxmlformats.org/presentationml/2006/ole">
            <mc:AlternateContent xmlns:mc="http://schemas.openxmlformats.org/markup-compatibility/2006">
              <mc:Choice xmlns:v="urn:schemas-microsoft-com:vml" Requires="v">
                <p:oleObj spid="_x0000_s7" name="Formula" r:id="rId5" imgW="1371600" imgH="1514475" progId="Equation.Ribbit">
                  <p:embed/>
                </p:oleObj>
              </mc:Choice>
              <mc:Fallback>
                <p:oleObj name="Formula" r:id="rId5" imgW="1371600" imgH="1514475" progId="Equation.Ribbit">
                  <p:embed/>
                  <p:pic>
                    <p:nvPicPr>
                      <p:cNvPr id="0" name="图片 6"/>
                      <p:cNvPicPr/>
                      <p:nvPr/>
                    </p:nvPicPr>
                    <p:blipFill>
                      <a:blip r:embed="rId6"/>
                      <a:stretch>
                        <a:fillRect/>
                      </a:stretch>
                    </p:blipFill>
                    <p:spPr>
                      <a:xfrm>
                        <a:off x="6461125" y="1176939"/>
                        <a:ext cx="323850" cy="360362"/>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7401132" y="1167176"/>
          <a:ext cx="220663" cy="360362"/>
        </p:xfrm>
        <a:graphic>
          <a:graphicData uri="http://schemas.openxmlformats.org/presentationml/2006/ole">
            <mc:AlternateContent xmlns:mc="http://schemas.openxmlformats.org/markup-compatibility/2006">
              <mc:Choice xmlns:v="urn:schemas-microsoft-com:vml" Requires="v">
                <p:oleObj spid="_x0000_s8" name="Formula" r:id="rId7" imgW="933450" imgH="1514475" progId="Equation.Ribbit">
                  <p:embed/>
                </p:oleObj>
              </mc:Choice>
              <mc:Fallback>
                <p:oleObj name="Formula" r:id="rId7" imgW="933450" imgH="1514475" progId="Equation.Ribbit">
                  <p:embed/>
                  <p:pic>
                    <p:nvPicPr>
                      <p:cNvPr id="0" name="图片 7"/>
                      <p:cNvPicPr/>
                      <p:nvPr/>
                    </p:nvPicPr>
                    <p:blipFill>
                      <a:blip r:embed="rId2"/>
                      <a:stretch>
                        <a:fillRect/>
                      </a:stretch>
                    </p:blipFill>
                    <p:spPr>
                      <a:xfrm>
                        <a:off x="7401132" y="1167176"/>
                        <a:ext cx="220663" cy="360362"/>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809750" y="1497013"/>
          <a:ext cx="288925" cy="349250"/>
        </p:xfrm>
        <a:graphic>
          <a:graphicData uri="http://schemas.openxmlformats.org/presentationml/2006/ole">
            <mc:AlternateContent xmlns:mc="http://schemas.openxmlformats.org/markup-compatibility/2006">
              <mc:Choice xmlns:v="urn:schemas-microsoft-com:vml" Requires="v">
                <p:oleObj spid="_x0000_s9" name="Formula" r:id="rId8" imgW="1009650" imgH="1219200" progId="Equation.Ribbit">
                  <p:embed/>
                </p:oleObj>
              </mc:Choice>
              <mc:Fallback>
                <p:oleObj name="Formula" r:id="rId8" imgW="1009650" imgH="1219200" progId="Equation.Ribbit">
                  <p:embed/>
                  <p:pic>
                    <p:nvPicPr>
                      <p:cNvPr id="0" name="图片 8"/>
                      <p:cNvPicPr/>
                      <p:nvPr/>
                    </p:nvPicPr>
                    <p:blipFill>
                      <a:blip r:embed="rId9"/>
                      <a:stretch>
                        <a:fillRect/>
                      </a:stretch>
                    </p:blipFill>
                    <p:spPr>
                      <a:xfrm>
                        <a:off x="1809750" y="1497013"/>
                        <a:ext cx="288925" cy="349250"/>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3653131" y="1479550"/>
          <a:ext cx="325438" cy="360363"/>
        </p:xfrm>
        <a:graphic>
          <a:graphicData uri="http://schemas.openxmlformats.org/presentationml/2006/ole">
            <mc:AlternateContent xmlns:mc="http://schemas.openxmlformats.org/markup-compatibility/2006">
              <mc:Choice xmlns:v="urn:schemas-microsoft-com:vml" Requires="v">
                <p:oleObj spid="_x0000_s10" name="Formula" r:id="rId10" imgW="1371600" imgH="1524000" progId="Equation.Ribbit">
                  <p:embed/>
                </p:oleObj>
              </mc:Choice>
              <mc:Fallback>
                <p:oleObj name="Formula" r:id="rId10" imgW="1371600" imgH="1524000" progId="Equation.Ribbit">
                  <p:embed/>
                  <p:pic>
                    <p:nvPicPr>
                      <p:cNvPr id="0" name="图片 9"/>
                      <p:cNvPicPr/>
                      <p:nvPr/>
                    </p:nvPicPr>
                    <p:blipFill>
                      <a:blip r:embed="rId11"/>
                      <a:stretch>
                        <a:fillRect/>
                      </a:stretch>
                    </p:blipFill>
                    <p:spPr>
                      <a:xfrm>
                        <a:off x="3653131" y="1479550"/>
                        <a:ext cx="325438" cy="360363"/>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4694697" y="1486841"/>
          <a:ext cx="220662" cy="358775"/>
        </p:xfrm>
        <a:graphic>
          <a:graphicData uri="http://schemas.openxmlformats.org/presentationml/2006/ole">
            <mc:AlternateContent xmlns:mc="http://schemas.openxmlformats.org/markup-compatibility/2006">
              <mc:Choice xmlns:v="urn:schemas-microsoft-com:vml" Requires="v">
                <p:oleObj spid="_x0000_s11" name="Formula" r:id="rId12" imgW="933450" imgH="1514475" progId="Equation.Ribbit">
                  <p:embed/>
                </p:oleObj>
              </mc:Choice>
              <mc:Fallback>
                <p:oleObj name="Formula" r:id="rId12" imgW="933450" imgH="1514475" progId="Equation.Ribbit">
                  <p:embed/>
                  <p:pic>
                    <p:nvPicPr>
                      <p:cNvPr id="0" name="图片 10"/>
                      <p:cNvPicPr/>
                      <p:nvPr/>
                    </p:nvPicPr>
                    <p:blipFill>
                      <a:blip r:embed="rId2"/>
                      <a:stretch>
                        <a:fillRect/>
                      </a:stretch>
                    </p:blipFill>
                    <p:spPr>
                      <a:xfrm>
                        <a:off x="4694697" y="1486841"/>
                        <a:ext cx="220662" cy="358775"/>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4203700" y="1996875"/>
          <a:ext cx="334962" cy="257175"/>
        </p:xfrm>
        <a:graphic>
          <a:graphicData uri="http://schemas.openxmlformats.org/presentationml/2006/ole">
            <mc:AlternateContent xmlns:mc="http://schemas.openxmlformats.org/markup-compatibility/2006">
              <mc:Choice xmlns:v="urn:schemas-microsoft-com:vml" Requires="v">
                <p:oleObj spid="_x0000_s12" name="Formula" r:id="rId13" imgW="1285875" imgH="981075" progId="Equation.Ribbit">
                  <p:embed/>
                </p:oleObj>
              </mc:Choice>
              <mc:Fallback>
                <p:oleObj name="Formula" r:id="rId13" imgW="1285875" imgH="981075" progId="Equation.Ribbit">
                  <p:embed/>
                  <p:pic>
                    <p:nvPicPr>
                      <p:cNvPr id="0" name="图片 11"/>
                      <p:cNvPicPr/>
                      <p:nvPr/>
                    </p:nvPicPr>
                    <p:blipFill>
                      <a:blip r:embed="rId14"/>
                      <a:stretch>
                        <a:fillRect/>
                      </a:stretch>
                    </p:blipFill>
                    <p:spPr>
                      <a:xfrm>
                        <a:off x="4203700" y="1996875"/>
                        <a:ext cx="334962" cy="257175"/>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2471738" y="2786063"/>
          <a:ext cx="1655762" cy="601662"/>
        </p:xfrm>
        <a:graphic>
          <a:graphicData uri="http://schemas.openxmlformats.org/presentationml/2006/ole">
            <mc:AlternateContent xmlns:mc="http://schemas.openxmlformats.org/markup-compatibility/2006">
              <mc:Choice xmlns:v="urn:schemas-microsoft-com:vml" Requires="v">
                <p:oleObj spid="_x0000_s15" name="Formula" r:id="rId15" imgW="5800725" imgH="2105025" progId="Equation.Ribbit">
                  <p:embed/>
                </p:oleObj>
              </mc:Choice>
              <mc:Fallback>
                <p:oleObj name="Formula" r:id="rId15" imgW="5800725" imgH="2105025" progId="Equation.Ribbit">
                  <p:embed/>
                  <p:pic>
                    <p:nvPicPr>
                      <p:cNvPr id="0" name="图片 14"/>
                      <p:cNvPicPr/>
                      <p:nvPr/>
                    </p:nvPicPr>
                    <p:blipFill>
                      <a:blip r:embed="rId16"/>
                      <a:stretch>
                        <a:fillRect/>
                      </a:stretch>
                    </p:blipFill>
                    <p:spPr>
                      <a:xfrm>
                        <a:off x="2471738" y="2786063"/>
                        <a:ext cx="1655762" cy="601662"/>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2465388" y="4117975"/>
          <a:ext cx="3819525" cy="592138"/>
        </p:xfrm>
        <a:graphic>
          <a:graphicData uri="http://schemas.openxmlformats.org/presentationml/2006/ole">
            <mc:AlternateContent xmlns:mc="http://schemas.openxmlformats.org/markup-compatibility/2006">
              <mc:Choice xmlns:v="urn:schemas-microsoft-com:vml" Requires="v">
                <p:oleObj spid="_x0000_s16" name="Formula" r:id="rId17" imgW="14411325" imgH="2238375" progId="Equation.Ribbit">
                  <p:embed/>
                </p:oleObj>
              </mc:Choice>
              <mc:Fallback>
                <p:oleObj name="Formula" r:id="rId17" imgW="14411325" imgH="2238375" progId="Equation.Ribbit">
                  <p:embed/>
                  <p:pic>
                    <p:nvPicPr>
                      <p:cNvPr id="0" name="图片 15"/>
                      <p:cNvPicPr/>
                      <p:nvPr/>
                    </p:nvPicPr>
                    <p:blipFill>
                      <a:blip r:embed="rId18"/>
                      <a:stretch>
                        <a:fillRect/>
                      </a:stretch>
                    </p:blipFill>
                    <p:spPr>
                      <a:xfrm>
                        <a:off x="2465388" y="4117975"/>
                        <a:ext cx="3819525" cy="592138"/>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2470150" y="5427663"/>
          <a:ext cx="3900488" cy="596900"/>
        </p:xfrm>
        <a:graphic>
          <a:graphicData uri="http://schemas.openxmlformats.org/presentationml/2006/ole">
            <mc:AlternateContent xmlns:mc="http://schemas.openxmlformats.org/markup-compatibility/2006">
              <mc:Choice xmlns:v="urn:schemas-microsoft-com:vml" Requires="v">
                <p:oleObj spid="_x0000_s17" name="Formula" r:id="rId19" imgW="13649325" imgH="2095500" progId="Equation.Ribbit">
                  <p:embed/>
                </p:oleObj>
              </mc:Choice>
              <mc:Fallback>
                <p:oleObj name="Formula" r:id="rId19" imgW="13649325" imgH="2095500" progId="Equation.Ribbit">
                  <p:embed/>
                  <p:pic>
                    <p:nvPicPr>
                      <p:cNvPr id="0" name="图片 16"/>
                      <p:cNvPicPr/>
                      <p:nvPr/>
                    </p:nvPicPr>
                    <p:blipFill>
                      <a:blip r:embed="rId20"/>
                      <a:stretch>
                        <a:fillRect/>
                      </a:stretch>
                    </p:blipFill>
                    <p:spPr>
                      <a:xfrm>
                        <a:off x="2470150" y="5427663"/>
                        <a:ext cx="3900488" cy="59690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4851448" y="5000625"/>
          <a:ext cx="231775" cy="282575"/>
        </p:xfrm>
        <a:graphic>
          <a:graphicData uri="http://schemas.openxmlformats.org/presentationml/2006/ole">
            <mc:AlternateContent xmlns:mc="http://schemas.openxmlformats.org/markup-compatibility/2006">
              <mc:Choice xmlns:v="urn:schemas-microsoft-com:vml" Requires="v">
                <p:oleObj spid="_x0000_s19" name="Formula" r:id="rId21" imgW="1009650" imgH="1219200" progId="Equation.Ribbit">
                  <p:embed/>
                </p:oleObj>
              </mc:Choice>
              <mc:Fallback>
                <p:oleObj name="Formula" r:id="rId21" imgW="1009650" imgH="1219200" progId="Equation.Ribbit">
                  <p:embed/>
                  <p:pic>
                    <p:nvPicPr>
                      <p:cNvPr id="0" name="图片 18"/>
                      <p:cNvPicPr/>
                      <p:nvPr/>
                    </p:nvPicPr>
                    <p:blipFill>
                      <a:blip r:embed="rId9"/>
                      <a:stretch>
                        <a:fillRect/>
                      </a:stretch>
                    </p:blipFill>
                    <p:spPr>
                      <a:xfrm>
                        <a:off x="4851448" y="5000625"/>
                        <a:ext cx="231775" cy="282575"/>
                      </a:xfrm>
                      <a:prstGeom prst="rect">
                        <a:avLst/>
                      </a:prstGeom>
                    </p:spPr>
                  </p:pic>
                </p:oleObj>
              </mc:Fallback>
            </mc:AlternateContent>
          </a:graphicData>
        </a:graphic>
      </p:graphicFrame>
      <p:sp>
        <p:nvSpPr>
          <p:cNvPr id="31" name="Rectangle 3"/>
          <p:cNvSpPr>
            <a:spLocks noChangeArrowheads="1"/>
          </p:cNvSpPr>
          <p:nvPr/>
        </p:nvSpPr>
        <p:spPr bwMode="auto">
          <a:xfrm>
            <a:off x="5171318" y="2533889"/>
            <a:ext cx="3502448" cy="1259324"/>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457200" lvl="1" indent="0">
              <a:buNone/>
            </a:pPr>
            <a:r>
              <a:rPr lang="en-US" altLang="zh-CN" sz="2400" b="1" dirty="0">
                <a:latin typeface="黑体" panose="02010609060101010101" pitchFamily="49" charset="-122"/>
                <a:ea typeface="黑体" panose="02010609060101010101" pitchFamily="49" charset="-122"/>
              </a:rPr>
              <a:t>Q1</a:t>
            </a:r>
            <a:r>
              <a:rPr lang="zh-CN" altLang="en-US" sz="2400" b="1" dirty="0">
                <a:latin typeface="黑体" panose="02010609060101010101" pitchFamily="49" charset="-122"/>
                <a:ea typeface="黑体" panose="02010609060101010101" pitchFamily="49" charset="-122"/>
              </a:rPr>
              <a:t>：如何在属性缺失的情况下进行划分属性选择？</a:t>
            </a:r>
            <a:endParaRPr lang="en-US" altLang="zh-CN" sz="2400" b="1" dirty="0">
              <a:latin typeface="黑体" panose="02010609060101010101" pitchFamily="49" charset="-122"/>
              <a:ea typeface="黑体" panose="02010609060101010101" pitchFamily="49" charset="-122"/>
            </a:endParaRPr>
          </a:p>
        </p:txBody>
      </p:sp>
      <p:cxnSp>
        <p:nvCxnSpPr>
          <p:cNvPr id="33" name="直接连接符 32"/>
          <p:cNvCxnSpPr/>
          <p:nvPr/>
        </p:nvCxnSpPr>
        <p:spPr>
          <a:xfrm>
            <a:off x="6520715" y="3168690"/>
            <a:ext cx="401827" cy="511395"/>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6893718" y="2668249"/>
            <a:ext cx="1543987" cy="1011836"/>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24" name="对象 23"/>
          <p:cNvGraphicFramePr>
            <a:graphicFrameLocks noChangeAspect="1"/>
          </p:cNvGraphicFramePr>
          <p:nvPr/>
        </p:nvGraphicFramePr>
        <p:xfrm>
          <a:off x="2882900" y="1230914"/>
          <a:ext cx="188913" cy="306387"/>
        </p:xfrm>
        <a:graphic>
          <a:graphicData uri="http://schemas.openxmlformats.org/presentationml/2006/ole">
            <mc:AlternateContent xmlns:mc="http://schemas.openxmlformats.org/markup-compatibility/2006">
              <mc:Choice xmlns:v="urn:schemas-microsoft-com:vml" Requires="v">
                <p:oleObj spid="_x0000_s28" name="Formula" r:id="rId22" imgW="600075" imgH="971550" progId="Equation.Ribbit">
                  <p:embed/>
                </p:oleObj>
              </mc:Choice>
              <mc:Fallback>
                <p:oleObj name="Formula" r:id="rId22" imgW="600075" imgH="971550" progId="Equation.Ribbit">
                  <p:embed/>
                  <p:pic>
                    <p:nvPicPr>
                      <p:cNvPr id="0" name="图片 27"/>
                      <p:cNvPicPr/>
                      <p:nvPr/>
                    </p:nvPicPr>
                    <p:blipFill>
                      <a:blip r:embed="rId23"/>
                      <a:stretch>
                        <a:fillRect/>
                      </a:stretch>
                    </p:blipFill>
                    <p:spPr>
                      <a:xfrm>
                        <a:off x="2882900" y="1230914"/>
                        <a:ext cx="188913" cy="306387"/>
                      </a:xfrm>
                      <a:prstGeom prst="rect">
                        <a:avLst/>
                      </a:prstGeom>
                    </p:spPr>
                  </p:pic>
                </p:oleObj>
              </mc:Fallback>
            </mc:AlternateContent>
          </a:graphicData>
        </a:graphic>
      </p:graphicFrame>
      <p:graphicFrame>
        <p:nvGraphicFramePr>
          <p:cNvPr id="29" name="对象 28"/>
          <p:cNvGraphicFramePr>
            <a:graphicFrameLocks noChangeAspect="1"/>
          </p:cNvGraphicFramePr>
          <p:nvPr/>
        </p:nvGraphicFramePr>
        <p:xfrm>
          <a:off x="8761353" y="1238250"/>
          <a:ext cx="190500" cy="303213"/>
        </p:xfrm>
        <a:graphic>
          <a:graphicData uri="http://schemas.openxmlformats.org/presentationml/2006/ole">
            <mc:AlternateContent xmlns:mc="http://schemas.openxmlformats.org/markup-compatibility/2006">
              <mc:Choice xmlns:v="urn:schemas-microsoft-com:vml" Requires="v">
                <p:oleObj spid="_x0000_s30" name="Formula" r:id="rId24" imgW="600075" imgH="971550" progId="Equation.Ribbit">
                  <p:embed/>
                </p:oleObj>
              </mc:Choice>
              <mc:Fallback>
                <p:oleObj name="Formula" r:id="rId24" imgW="600075" imgH="971550" progId="Equation.Ribbit">
                  <p:embed/>
                  <p:pic>
                    <p:nvPicPr>
                      <p:cNvPr id="0" name="图片 29"/>
                      <p:cNvPicPr/>
                      <p:nvPr/>
                    </p:nvPicPr>
                    <p:blipFill>
                      <a:blip r:embed="rId23"/>
                      <a:stretch>
                        <a:fillRect/>
                      </a:stretch>
                    </p:blipFill>
                    <p:spPr>
                      <a:xfrm>
                        <a:off x="8761353" y="1238250"/>
                        <a:ext cx="190500" cy="303213"/>
                      </a:xfrm>
                      <a:prstGeom prst="rect">
                        <a:avLst/>
                      </a:prstGeom>
                    </p:spPr>
                  </p:pic>
                </p:oleObj>
              </mc:Fallback>
            </mc:AlternateContent>
          </a:graphicData>
        </a:graphic>
      </p:graphicFrame>
      <p:graphicFrame>
        <p:nvGraphicFramePr>
          <p:cNvPr id="32" name="对象 31"/>
          <p:cNvGraphicFramePr>
            <a:graphicFrameLocks noChangeAspect="1"/>
          </p:cNvGraphicFramePr>
          <p:nvPr/>
        </p:nvGraphicFramePr>
        <p:xfrm>
          <a:off x="6197600" y="1512357"/>
          <a:ext cx="174625" cy="360362"/>
        </p:xfrm>
        <a:graphic>
          <a:graphicData uri="http://schemas.openxmlformats.org/presentationml/2006/ole">
            <mc:AlternateContent xmlns:mc="http://schemas.openxmlformats.org/markup-compatibility/2006">
              <mc:Choice xmlns:v="urn:schemas-microsoft-com:vml" Requires="v">
                <p:oleObj spid="_x0000_s34" name="Formula" r:id="rId25" imgW="600075" imgH="1257300" progId="Equation.Ribbit">
                  <p:embed/>
                </p:oleObj>
              </mc:Choice>
              <mc:Fallback>
                <p:oleObj name="Formula" r:id="rId25" imgW="600075" imgH="1257300" progId="Equation.Ribbit">
                  <p:embed/>
                  <p:pic>
                    <p:nvPicPr>
                      <p:cNvPr id="0" name="图片 33"/>
                      <p:cNvPicPr/>
                      <p:nvPr/>
                    </p:nvPicPr>
                    <p:blipFill>
                      <a:blip r:embed="rId26"/>
                      <a:stretch>
                        <a:fillRect/>
                      </a:stretch>
                    </p:blipFill>
                    <p:spPr>
                      <a:xfrm>
                        <a:off x="6197600" y="1512357"/>
                        <a:ext cx="174625" cy="360362"/>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3730272" y="5016500"/>
          <a:ext cx="190500" cy="303213"/>
        </p:xfrm>
        <a:graphic>
          <a:graphicData uri="http://schemas.openxmlformats.org/presentationml/2006/ole">
            <mc:AlternateContent xmlns:mc="http://schemas.openxmlformats.org/markup-compatibility/2006">
              <mc:Choice xmlns:v="urn:schemas-microsoft-com:vml" Requires="v">
                <p:oleObj spid="_x0000_s37" name="Formula" r:id="rId27" imgW="600075" imgH="971550" progId="Equation.Ribbit">
                  <p:embed/>
                </p:oleObj>
              </mc:Choice>
              <mc:Fallback>
                <p:oleObj name="Formula" r:id="rId27" imgW="600075" imgH="971550" progId="Equation.Ribbit">
                  <p:embed/>
                  <p:pic>
                    <p:nvPicPr>
                      <p:cNvPr id="0" name="图片 36"/>
                      <p:cNvPicPr/>
                      <p:nvPr/>
                    </p:nvPicPr>
                    <p:blipFill>
                      <a:blip r:embed="rId23"/>
                      <a:stretch>
                        <a:fillRect/>
                      </a:stretch>
                    </p:blipFill>
                    <p:spPr>
                      <a:xfrm>
                        <a:off x="3730272" y="5016500"/>
                        <a:ext cx="190500" cy="303213"/>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3230811" y="3655371"/>
          <a:ext cx="151318" cy="310890"/>
        </p:xfrm>
        <a:graphic>
          <a:graphicData uri="http://schemas.openxmlformats.org/presentationml/2006/ole">
            <mc:AlternateContent xmlns:mc="http://schemas.openxmlformats.org/markup-compatibility/2006">
              <mc:Choice xmlns:v="urn:schemas-microsoft-com:vml" Requires="v">
                <p:oleObj spid="_x0000_s39" name="Formula" r:id="rId28" imgW="600075" imgH="1257300" progId="Equation.Ribbit">
                  <p:embed/>
                </p:oleObj>
              </mc:Choice>
              <mc:Fallback>
                <p:oleObj name="Formula" r:id="rId28" imgW="600075" imgH="1257300" progId="Equation.Ribbit">
                  <p:embed/>
                  <p:pic>
                    <p:nvPicPr>
                      <p:cNvPr id="0" name="图片 38"/>
                      <p:cNvPicPr/>
                      <p:nvPr/>
                    </p:nvPicPr>
                    <p:blipFill>
                      <a:blip r:embed="rId26"/>
                      <a:stretch>
                        <a:fillRect/>
                      </a:stretch>
                    </p:blipFill>
                    <p:spPr>
                      <a:xfrm>
                        <a:off x="3230811" y="3655371"/>
                        <a:ext cx="151318" cy="310890"/>
                      </a:xfrm>
                      <a:prstGeom prst="rect">
                        <a:avLst/>
                      </a:prstGeom>
                    </p:spPr>
                  </p:pic>
                </p:oleObj>
              </mc:Fallback>
            </mc:AlternateContent>
          </a:graphicData>
        </a:graphic>
      </p:graphicFrame>
      <p:graphicFrame>
        <p:nvGraphicFramePr>
          <p:cNvPr id="40" name="对象 39"/>
          <p:cNvGraphicFramePr>
            <a:graphicFrameLocks noChangeAspect="1"/>
          </p:cNvGraphicFramePr>
          <p:nvPr/>
        </p:nvGraphicFramePr>
        <p:xfrm>
          <a:off x="2222933" y="1997800"/>
          <a:ext cx="201612" cy="268288"/>
        </p:xfrm>
        <a:graphic>
          <a:graphicData uri="http://schemas.openxmlformats.org/presentationml/2006/ole">
            <mc:AlternateContent xmlns:mc="http://schemas.openxmlformats.org/markup-compatibility/2006">
              <mc:Choice xmlns:v="urn:schemas-microsoft-com:vml" Requires="v">
                <p:oleObj spid="_x0000_s41" name="Formula" r:id="rId29" imgW="733425" imgH="981075" progId="Equation.Ribbit">
                  <p:embed/>
                </p:oleObj>
              </mc:Choice>
              <mc:Fallback>
                <p:oleObj name="Formula" r:id="rId29" imgW="733425" imgH="981075" progId="Equation.Ribbit">
                  <p:embed/>
                  <p:pic>
                    <p:nvPicPr>
                      <p:cNvPr id="0" name="图片 40"/>
                      <p:cNvPicPr/>
                      <p:nvPr/>
                    </p:nvPicPr>
                    <p:blipFill>
                      <a:blip r:embed="rId30"/>
                      <a:stretch>
                        <a:fillRect/>
                      </a:stretch>
                    </p:blipFill>
                    <p:spPr>
                      <a:xfrm>
                        <a:off x="2222933" y="1997800"/>
                        <a:ext cx="201612" cy="268288"/>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500" fill="hold"/>
                                        <p:tgtEl>
                                          <p:spTgt spid="31"/>
                                        </p:tgtEl>
                                        <p:attrNameLst>
                                          <p:attrName>ppt_w</p:attrName>
                                        </p:attrNameLst>
                                      </p:cBhvr>
                                      <p:tavLst>
                                        <p:tav tm="0">
                                          <p:val>
                                            <p:fltVal val="0"/>
                                          </p:val>
                                        </p:tav>
                                        <p:tav tm="100000">
                                          <p:val>
                                            <p:strVal val="#ppt_w"/>
                                          </p:val>
                                        </p:tav>
                                      </p:tavLst>
                                    </p:anim>
                                    <p:anim calcmode="lin" valueType="num">
                                      <p:cBhvr>
                                        <p:cTn id="30" dur="500" fill="hold"/>
                                        <p:tgtEl>
                                          <p:spTgt spid="31"/>
                                        </p:tgtEl>
                                        <p:attrNameLst>
                                          <p:attrName>ppt_h</p:attrName>
                                        </p:attrNameLst>
                                      </p:cBhvr>
                                      <p:tavLst>
                                        <p:tav tm="0">
                                          <p:val>
                                            <p:fltVal val="0"/>
                                          </p:val>
                                        </p:tav>
                                        <p:tav tm="100000">
                                          <p:val>
                                            <p:strVal val="#ppt_h"/>
                                          </p:val>
                                        </p:tav>
                                      </p:tavLst>
                                    </p:anim>
                                    <p:animEffect transition="in" filter="fade">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缺失值处理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基于上述定义，可得</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pPr marL="0"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其中</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r>
              <a:rPr lang="en-US" altLang="zh-CN" dirty="0"/>
              <a:t> </a:t>
            </a:r>
            <a:r>
              <a:rPr lang="zh-CN" altLang="en-US" b="1" dirty="0">
                <a:latin typeface="黑体" panose="02010609060101010101" pitchFamily="49" charset="-122"/>
                <a:ea typeface="黑体" panose="02010609060101010101" pitchFamily="49" charset="-122"/>
              </a:rPr>
              <a:t>对于</a:t>
            </a:r>
            <a:r>
              <a:rPr lang="en-US" altLang="zh-CN" b="1" dirty="0">
                <a:latin typeface="黑体" panose="02010609060101010101" pitchFamily="49" charset="-122"/>
                <a:ea typeface="黑体" panose="02010609060101010101" pitchFamily="49" charset="-122"/>
              </a:rPr>
              <a:t>Q2</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若样本  在划分属性</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上的取值已知，则将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划入与其取值对应的子结点，且样本权值在子结点中保持为</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若样本  在划分属性  上的取值未知，则将</a:t>
            </a:r>
            <a:r>
              <a:rPr lang="en-US" altLang="zh-CN" b="1" dirty="0">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同时划入所有子结点</a:t>
            </a:r>
            <a:r>
              <a:rPr lang="zh-CN" altLang="en-US" b="1" dirty="0">
                <a:latin typeface="黑体" panose="02010609060101010101" pitchFamily="49" charset="-122"/>
                <a:ea typeface="黑体" panose="02010609060101010101" pitchFamily="49" charset="-122"/>
              </a:rPr>
              <a:t>，且</a:t>
            </a:r>
            <a:r>
              <a:rPr lang="zh-CN" altLang="en-US" b="1" dirty="0">
                <a:solidFill>
                  <a:srgbClr val="FF0000"/>
                </a:solidFill>
                <a:latin typeface="黑体" panose="02010609060101010101" pitchFamily="49" charset="-122"/>
                <a:ea typeface="黑体" panose="02010609060101010101" pitchFamily="49" charset="-122"/>
              </a:rPr>
              <a:t>样本权值</a:t>
            </a:r>
            <a:r>
              <a:rPr lang="zh-CN" altLang="en-US" b="1" dirty="0">
                <a:latin typeface="黑体" panose="02010609060101010101" pitchFamily="49" charset="-122"/>
                <a:ea typeface="黑体" panose="02010609060101010101" pitchFamily="49" charset="-122"/>
              </a:rPr>
              <a:t>在与属性值   对应的子结点中</a:t>
            </a:r>
            <a:r>
              <a:rPr lang="zh-CN" altLang="en-US" b="1" dirty="0">
                <a:solidFill>
                  <a:srgbClr val="FF0000"/>
                </a:solidFill>
                <a:latin typeface="黑体" panose="02010609060101010101" pitchFamily="49" charset="-122"/>
                <a:ea typeface="黑体" panose="02010609060101010101" pitchFamily="49" charset="-122"/>
              </a:rPr>
              <a:t>调整为</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直观来看，相当于让同一个样本以不同概率划入不同的子结点中去</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2557463" y="1708150"/>
          <a:ext cx="2754312" cy="300038"/>
        </p:xfrm>
        <a:graphic>
          <a:graphicData uri="http://schemas.openxmlformats.org/presentationml/2006/ole">
            <mc:AlternateContent xmlns:mc="http://schemas.openxmlformats.org/markup-compatibility/2006">
              <mc:Choice xmlns:v="urn:schemas-microsoft-com:vml" Requires="v">
                <p:oleObj spid="_x0000_s27941" name="Formula" r:id="rId1" imgW="13935075" imgH="1514475" progId="Equation.Ribbit">
                  <p:embed/>
                </p:oleObj>
              </mc:Choice>
              <mc:Fallback>
                <p:oleObj name="Formula" r:id="rId1" imgW="13935075" imgH="1514475" progId="Equation.Ribbit">
                  <p:embed/>
                  <p:pic>
                    <p:nvPicPr>
                      <p:cNvPr id="0" name="图片 27940"/>
                      <p:cNvPicPr/>
                      <p:nvPr/>
                    </p:nvPicPr>
                    <p:blipFill>
                      <a:blip r:embed="rId2"/>
                      <a:stretch>
                        <a:fillRect/>
                      </a:stretch>
                    </p:blipFill>
                    <p:spPr>
                      <a:xfrm>
                        <a:off x="2557463" y="1708150"/>
                        <a:ext cx="2754312" cy="300038"/>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600450" y="1993900"/>
          <a:ext cx="3154363" cy="660400"/>
        </p:xfrm>
        <a:graphic>
          <a:graphicData uri="http://schemas.openxmlformats.org/presentationml/2006/ole">
            <mc:AlternateContent xmlns:mc="http://schemas.openxmlformats.org/markup-compatibility/2006">
              <mc:Choice xmlns:v="urn:schemas-microsoft-com:vml" Requires="v">
                <p:oleObj spid="_x0000_s6" name="Formula" r:id="rId3" imgW="16497300" imgH="3467100" progId="Equation.Ribbit">
                  <p:embed/>
                </p:oleObj>
              </mc:Choice>
              <mc:Fallback>
                <p:oleObj name="Formula" r:id="rId3" imgW="16497300" imgH="3467100" progId="Equation.Ribbit">
                  <p:embed/>
                  <p:pic>
                    <p:nvPicPr>
                      <p:cNvPr id="0" name="图片 5"/>
                      <p:cNvPicPr/>
                      <p:nvPr/>
                    </p:nvPicPr>
                    <p:blipFill>
                      <a:blip r:embed="rId4"/>
                      <a:stretch>
                        <a:fillRect/>
                      </a:stretch>
                    </p:blipFill>
                    <p:spPr>
                      <a:xfrm>
                        <a:off x="3600450" y="1993900"/>
                        <a:ext cx="3154363" cy="6604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932113" y="2932113"/>
          <a:ext cx="2541587" cy="744537"/>
        </p:xfrm>
        <a:graphic>
          <a:graphicData uri="http://schemas.openxmlformats.org/presentationml/2006/ole">
            <mc:AlternateContent xmlns:mc="http://schemas.openxmlformats.org/markup-compatibility/2006">
              <mc:Choice xmlns:v="urn:schemas-microsoft-com:vml" Requires="v">
                <p:oleObj spid="_x0000_s8" name="Formula" r:id="rId5" imgW="12334875" imgH="3600450" progId="Equation.Ribbit">
                  <p:embed/>
                </p:oleObj>
              </mc:Choice>
              <mc:Fallback>
                <p:oleObj name="Formula" r:id="rId5" imgW="12334875" imgH="3600450" progId="Equation.Ribbit">
                  <p:embed/>
                  <p:pic>
                    <p:nvPicPr>
                      <p:cNvPr id="0" name="图片 7"/>
                      <p:cNvPicPr/>
                      <p:nvPr/>
                    </p:nvPicPr>
                    <p:blipFill>
                      <a:blip r:embed="rId6"/>
                      <a:stretch>
                        <a:fillRect/>
                      </a:stretch>
                    </p:blipFill>
                    <p:spPr>
                      <a:xfrm>
                        <a:off x="2932113" y="2932113"/>
                        <a:ext cx="2541587" cy="74453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5426510" y="4446588"/>
          <a:ext cx="355600" cy="271462"/>
        </p:xfrm>
        <a:graphic>
          <a:graphicData uri="http://schemas.openxmlformats.org/presentationml/2006/ole">
            <mc:AlternateContent xmlns:mc="http://schemas.openxmlformats.org/markup-compatibility/2006">
              <mc:Choice xmlns:v="urn:schemas-microsoft-com:vml" Requires="v">
                <p:oleObj spid="_x0000_s10" name="Formula" r:id="rId7" imgW="1285875" imgH="981075" progId="Equation.Ribbit">
                  <p:embed/>
                </p:oleObj>
              </mc:Choice>
              <mc:Fallback>
                <p:oleObj name="Formula" r:id="rId7" imgW="1285875" imgH="981075" progId="Equation.Ribbit">
                  <p:embed/>
                  <p:pic>
                    <p:nvPicPr>
                      <p:cNvPr id="0" name="图片 9"/>
                      <p:cNvPicPr/>
                      <p:nvPr/>
                    </p:nvPicPr>
                    <p:blipFill>
                      <a:blip r:embed="rId8"/>
                      <a:stretch>
                        <a:fillRect/>
                      </a:stretch>
                    </p:blipFill>
                    <p:spPr>
                      <a:xfrm>
                        <a:off x="5426510" y="4446588"/>
                        <a:ext cx="355600" cy="271462"/>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664813" y="5030141"/>
          <a:ext cx="268288" cy="325437"/>
        </p:xfrm>
        <a:graphic>
          <a:graphicData uri="http://schemas.openxmlformats.org/presentationml/2006/ole">
            <mc:AlternateContent xmlns:mc="http://schemas.openxmlformats.org/markup-compatibility/2006">
              <mc:Choice xmlns:v="urn:schemas-microsoft-com:vml" Requires="v">
                <p:oleObj spid="_x0000_s12" name="Formula" r:id="rId9" imgW="1009650" imgH="1219200" progId="Equation.Ribbit">
                  <p:embed/>
                </p:oleObj>
              </mc:Choice>
              <mc:Fallback>
                <p:oleObj name="Formula" r:id="rId9" imgW="1009650" imgH="1219200" progId="Equation.Ribbit">
                  <p:embed/>
                  <p:pic>
                    <p:nvPicPr>
                      <p:cNvPr id="0" name="图片 11"/>
                      <p:cNvPicPr/>
                      <p:nvPr/>
                    </p:nvPicPr>
                    <p:blipFill>
                      <a:blip r:embed="rId10"/>
                      <a:stretch>
                        <a:fillRect/>
                      </a:stretch>
                    </p:blipFill>
                    <p:spPr>
                      <a:xfrm>
                        <a:off x="3664813" y="5030141"/>
                        <a:ext cx="268288" cy="32543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662078" y="5030141"/>
          <a:ext cx="812800" cy="323850"/>
        </p:xfrm>
        <a:graphic>
          <a:graphicData uri="http://schemas.openxmlformats.org/presentationml/2006/ole">
            <mc:AlternateContent xmlns:mc="http://schemas.openxmlformats.org/markup-compatibility/2006">
              <mc:Choice xmlns:v="urn:schemas-microsoft-com:vml" Requires="v">
                <p:oleObj spid="_x0000_s14" name="Formula" r:id="rId11" imgW="3076575" imgH="1228725" progId="Equation.Ribbit">
                  <p:embed/>
                </p:oleObj>
              </mc:Choice>
              <mc:Fallback>
                <p:oleObj name="Formula" r:id="rId11" imgW="3076575" imgH="1228725" progId="Equation.Ribbit">
                  <p:embed/>
                  <p:pic>
                    <p:nvPicPr>
                      <p:cNvPr id="0" name="图片 13"/>
                      <p:cNvPicPr/>
                      <p:nvPr/>
                    </p:nvPicPr>
                    <p:blipFill>
                      <a:blip r:embed="rId12"/>
                      <a:stretch>
                        <a:fillRect/>
                      </a:stretch>
                    </p:blipFill>
                    <p:spPr>
                      <a:xfrm>
                        <a:off x="6662078" y="5030141"/>
                        <a:ext cx="812800" cy="32385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5982333" y="4184650"/>
          <a:ext cx="200025" cy="271463"/>
        </p:xfrm>
        <a:graphic>
          <a:graphicData uri="http://schemas.openxmlformats.org/presentationml/2006/ole">
            <mc:AlternateContent xmlns:mc="http://schemas.openxmlformats.org/markup-compatibility/2006">
              <mc:Choice xmlns:v="urn:schemas-microsoft-com:vml" Requires="v">
                <p:oleObj spid="_x0000_s16" name="Formula" r:id="rId13" imgW="733425" imgH="981075" progId="Equation.Ribbit">
                  <p:embed/>
                </p:oleObj>
              </mc:Choice>
              <mc:Fallback>
                <p:oleObj name="Formula" r:id="rId13" imgW="733425" imgH="981075" progId="Equation.Ribbit">
                  <p:embed/>
                  <p:pic>
                    <p:nvPicPr>
                      <p:cNvPr id="0" name="图片 15"/>
                      <p:cNvPicPr/>
                      <p:nvPr/>
                    </p:nvPicPr>
                    <p:blipFill>
                      <a:blip r:embed="rId14"/>
                      <a:stretch>
                        <a:fillRect/>
                      </a:stretch>
                    </p:blipFill>
                    <p:spPr>
                      <a:xfrm>
                        <a:off x="5982333" y="4184650"/>
                        <a:ext cx="200025" cy="271463"/>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955699" y="4777728"/>
          <a:ext cx="200025" cy="271463"/>
        </p:xfrm>
        <a:graphic>
          <a:graphicData uri="http://schemas.openxmlformats.org/presentationml/2006/ole">
            <mc:AlternateContent xmlns:mc="http://schemas.openxmlformats.org/markup-compatibility/2006">
              <mc:Choice xmlns:v="urn:schemas-microsoft-com:vml" Requires="v">
                <p:oleObj spid="_x0000_s18" name="Formula" r:id="rId15" imgW="733425" imgH="981075" progId="Equation.Ribbit">
                  <p:embed/>
                </p:oleObj>
              </mc:Choice>
              <mc:Fallback>
                <p:oleObj name="Formula" r:id="rId15" imgW="733425" imgH="981075" progId="Equation.Ribbit">
                  <p:embed/>
                  <p:pic>
                    <p:nvPicPr>
                      <p:cNvPr id="0" name="图片 17"/>
                      <p:cNvPicPr/>
                      <p:nvPr/>
                    </p:nvPicPr>
                    <p:blipFill>
                      <a:blip r:embed="rId14"/>
                      <a:stretch>
                        <a:fillRect/>
                      </a:stretch>
                    </p:blipFill>
                    <p:spPr>
                      <a:xfrm>
                        <a:off x="5955699" y="4777728"/>
                        <a:ext cx="200025" cy="271463"/>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3390068" y="4167188"/>
          <a:ext cx="190500" cy="304800"/>
        </p:xfrm>
        <a:graphic>
          <a:graphicData uri="http://schemas.openxmlformats.org/presentationml/2006/ole">
            <mc:AlternateContent xmlns:mc="http://schemas.openxmlformats.org/markup-compatibility/2006">
              <mc:Choice xmlns:v="urn:schemas-microsoft-com:vml" Requires="v">
                <p:oleObj spid="_x0000_s20" name="Formula" r:id="rId16" imgW="600075" imgH="971550" progId="Equation.Ribbit">
                  <p:embed/>
                </p:oleObj>
              </mc:Choice>
              <mc:Fallback>
                <p:oleObj name="Formula" r:id="rId16" imgW="600075" imgH="971550" progId="Equation.Ribbit">
                  <p:embed/>
                  <p:pic>
                    <p:nvPicPr>
                      <p:cNvPr id="0" name="图片 19"/>
                      <p:cNvPicPr/>
                      <p:nvPr/>
                    </p:nvPicPr>
                    <p:blipFill>
                      <a:blip r:embed="rId17"/>
                      <a:stretch>
                        <a:fillRect/>
                      </a:stretch>
                    </p:blipFill>
                    <p:spPr>
                      <a:xfrm>
                        <a:off x="3390068" y="4167188"/>
                        <a:ext cx="190500" cy="304800"/>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3365964" y="4759325"/>
          <a:ext cx="190500" cy="303213"/>
        </p:xfrm>
        <a:graphic>
          <a:graphicData uri="http://schemas.openxmlformats.org/presentationml/2006/ole">
            <mc:AlternateContent xmlns:mc="http://schemas.openxmlformats.org/markup-compatibility/2006">
              <mc:Choice xmlns:v="urn:schemas-microsoft-com:vml" Requires="v">
                <p:oleObj spid="_x0000_s22" name="Formula" r:id="rId18" imgW="600075" imgH="971550" progId="Equation.Ribbit">
                  <p:embed/>
                </p:oleObj>
              </mc:Choice>
              <mc:Fallback>
                <p:oleObj name="Formula" r:id="rId18" imgW="600075" imgH="971550" progId="Equation.Ribbit">
                  <p:embed/>
                  <p:pic>
                    <p:nvPicPr>
                      <p:cNvPr id="0" name="图片 21"/>
                      <p:cNvPicPr/>
                      <p:nvPr/>
                    </p:nvPicPr>
                    <p:blipFill>
                      <a:blip r:embed="rId17"/>
                      <a:stretch>
                        <a:fillRect/>
                      </a:stretch>
                    </p:blipFill>
                    <p:spPr>
                      <a:xfrm>
                        <a:off x="3365964" y="4759325"/>
                        <a:ext cx="190500" cy="303213"/>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1840833" y="4175125"/>
          <a:ext cx="200025" cy="271463"/>
        </p:xfrm>
        <a:graphic>
          <a:graphicData uri="http://schemas.openxmlformats.org/presentationml/2006/ole">
            <mc:AlternateContent xmlns:mc="http://schemas.openxmlformats.org/markup-compatibility/2006">
              <mc:Choice xmlns:v="urn:schemas-microsoft-com:vml" Requires="v">
                <p:oleObj spid="_x0000_s24" name="Formula" r:id="rId19" imgW="733425" imgH="981075" progId="Equation.Ribbit">
                  <p:embed/>
                </p:oleObj>
              </mc:Choice>
              <mc:Fallback>
                <p:oleObj name="Formula" r:id="rId19" imgW="733425" imgH="981075" progId="Equation.Ribbit">
                  <p:embed/>
                  <p:pic>
                    <p:nvPicPr>
                      <p:cNvPr id="0" name="图片 23"/>
                      <p:cNvPicPr/>
                      <p:nvPr/>
                    </p:nvPicPr>
                    <p:blipFill>
                      <a:blip r:embed="rId14"/>
                      <a:stretch>
                        <a:fillRect/>
                      </a:stretch>
                    </p:blipFill>
                    <p:spPr>
                      <a:xfrm>
                        <a:off x="1840833" y="4175125"/>
                        <a:ext cx="200025" cy="271463"/>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1801737" y="4780693"/>
          <a:ext cx="200025" cy="271463"/>
        </p:xfrm>
        <a:graphic>
          <a:graphicData uri="http://schemas.openxmlformats.org/presentationml/2006/ole">
            <mc:AlternateContent xmlns:mc="http://schemas.openxmlformats.org/markup-compatibility/2006">
              <mc:Choice xmlns:v="urn:schemas-microsoft-com:vml" Requires="v">
                <p:oleObj spid="_x0000_s26" name="Formula" r:id="rId20" imgW="733425" imgH="981075" progId="Equation.Ribbit">
                  <p:embed/>
                </p:oleObj>
              </mc:Choice>
              <mc:Fallback>
                <p:oleObj name="Formula" r:id="rId20" imgW="733425" imgH="981075" progId="Equation.Ribbit">
                  <p:embed/>
                  <p:pic>
                    <p:nvPicPr>
                      <p:cNvPr id="0" name="图片 25"/>
                      <p:cNvPicPr/>
                      <p:nvPr/>
                    </p:nvPicPr>
                    <p:blipFill>
                      <a:blip r:embed="rId14"/>
                      <a:stretch>
                        <a:fillRect/>
                      </a:stretch>
                    </p:blipFill>
                    <p:spPr>
                      <a:xfrm>
                        <a:off x="1801737" y="4780693"/>
                        <a:ext cx="200025" cy="271463"/>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缺失值处理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5445212" y="1158536"/>
            <a:ext cx="3618889" cy="4930775"/>
          </a:xfrm>
        </p:spPr>
        <p:txBody>
          <a:bodyPr>
            <a:normAutofit/>
          </a:bodyPr>
          <a:lstStyle/>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endParaRPr lang="en-US" altLang="zh-CN" dirty="0"/>
          </a:p>
          <a:p>
            <a:pPr marL="342900" indent="-342900">
              <a:buFont typeface="Wingdings" panose="05000000000000000000" pitchFamily="2" charset="2"/>
              <a:buChar char="l"/>
            </a:pPr>
            <a:r>
              <a:rPr lang="zh-CN" altLang="en-US" b="1" dirty="0">
                <a:latin typeface="黑体" panose="02010609060101010101" pitchFamily="49" charset="-122"/>
                <a:ea typeface="黑体" panose="02010609060101010101" pitchFamily="49" charset="-122"/>
              </a:rPr>
              <a:t>学习开始时，根结点包含样本集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中全部</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个样例，各样例的权值均为</a:t>
            </a:r>
            <a:endParaRPr lang="zh-CN" altLang="en-US" b="1" dirty="0">
              <a:latin typeface="黑体" panose="02010609060101010101" pitchFamily="49" charset="-122"/>
              <a:ea typeface="黑体" panose="02010609060101010101" pitchFamily="49" charset="-122"/>
            </a:endParaRPr>
          </a:p>
          <a:p>
            <a:pPr marL="342900" indent="-342900">
              <a:buFont typeface="Wingdings" panose="05000000000000000000" pitchFamily="2" charset="2"/>
              <a:buChar char="l"/>
            </a:pPr>
            <a:r>
              <a:rPr lang="zh-CN" altLang="en-US" b="1" dirty="0">
                <a:latin typeface="黑体" panose="02010609060101010101" pitchFamily="49" charset="-122"/>
                <a:ea typeface="黑体" panose="02010609060101010101" pitchFamily="49" charset="-122"/>
              </a:rPr>
              <a:t>以属性“色泽”为例，该属性上无缺失值的样例子集   包含</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个样例，         的信息熵为</a:t>
            </a:r>
            <a:endParaRPr lang="en-US" altLang="zh-CN" b="1" dirty="0">
              <a:latin typeface="黑体" panose="02010609060101010101" pitchFamily="49" charset="-122"/>
              <a:ea typeface="黑体" panose="02010609060101010101" pitchFamily="49" charset="-122"/>
            </a:endParaRPr>
          </a:p>
          <a:p>
            <a:pPr marL="342900" indent="-342900">
              <a:buFont typeface="Wingdings" panose="05000000000000000000" pitchFamily="2" charset="2"/>
              <a:buChar char="l"/>
            </a:pPr>
            <a:endParaRPr lang="en-US" altLang="zh-CN" dirty="0"/>
          </a:p>
          <a:p>
            <a:pPr marL="0" indent="0">
              <a:buNone/>
            </a:pPr>
            <a:endParaRPr lang="en-US" altLang="zh-CN" dirty="0"/>
          </a:p>
          <a:p>
            <a:pPr marL="0" indent="0">
              <a:buNone/>
            </a:pPr>
            <a:r>
              <a:rPr lang="en-US" altLang="zh-CN" dirty="0"/>
              <a:t>    </a:t>
            </a:r>
            <a:endParaRPr lang="en-US" altLang="zh-CN" dirty="0"/>
          </a:p>
          <a:p>
            <a:pPr marL="0" indent="0">
              <a:buNone/>
            </a:pPr>
            <a:r>
              <a:rPr lang="en-US" altLang="zh-CN" dirty="0"/>
              <a:t>                                           </a:t>
            </a:r>
            <a:endParaRPr lang="zh-CN" altLang="en-US" dirty="0"/>
          </a:p>
        </p:txBody>
      </p:sp>
      <p:pic>
        <p:nvPicPr>
          <p:cNvPr id="4" name="内容占位符 3"/>
          <p:cNvPicPr>
            <a:picLocks noChangeAspect="1"/>
          </p:cNvPicPr>
          <p:nvPr/>
        </p:nvPicPr>
        <p:blipFill>
          <a:blip r:embed="rId1"/>
          <a:stretch>
            <a:fillRect/>
          </a:stretch>
        </p:blipFill>
        <p:spPr>
          <a:xfrm>
            <a:off x="303262" y="1705593"/>
            <a:ext cx="5198897" cy="3672063"/>
          </a:xfrm>
          <a:prstGeom prst="rect">
            <a:avLst/>
          </a:prstGeom>
        </p:spPr>
      </p:pic>
      <p:graphicFrame>
        <p:nvGraphicFramePr>
          <p:cNvPr id="5" name="对象 4"/>
          <p:cNvGraphicFramePr>
            <a:graphicFrameLocks noChangeAspect="1"/>
          </p:cNvGraphicFramePr>
          <p:nvPr/>
        </p:nvGraphicFramePr>
        <p:xfrm>
          <a:off x="6801516" y="2405150"/>
          <a:ext cx="211137" cy="282575"/>
        </p:xfrm>
        <a:graphic>
          <a:graphicData uri="http://schemas.openxmlformats.org/presentationml/2006/ole">
            <mc:AlternateContent xmlns:mc="http://schemas.openxmlformats.org/markup-compatibility/2006">
              <mc:Choice xmlns:v="urn:schemas-microsoft-com:vml" Requires="v">
                <p:oleObj spid="_x0000_s27941" name="Formula" r:id="rId2" imgW="933450" imgH="1247775" progId="Equation.Ribbit">
                  <p:embed/>
                </p:oleObj>
              </mc:Choice>
              <mc:Fallback>
                <p:oleObj name="Formula" r:id="rId2" imgW="933450" imgH="1247775" progId="Equation.Ribbit">
                  <p:embed/>
                  <p:pic>
                    <p:nvPicPr>
                      <p:cNvPr id="0" name="图片 27940"/>
                      <p:cNvPicPr/>
                      <p:nvPr/>
                    </p:nvPicPr>
                    <p:blipFill>
                      <a:blip r:embed="rId3"/>
                      <a:stretch>
                        <a:fillRect/>
                      </a:stretch>
                    </p:blipFill>
                    <p:spPr>
                      <a:xfrm>
                        <a:off x="6801516" y="2405150"/>
                        <a:ext cx="211137" cy="28257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309698" y="3696946"/>
          <a:ext cx="187767" cy="304800"/>
        </p:xfrm>
        <a:graphic>
          <a:graphicData uri="http://schemas.openxmlformats.org/presentationml/2006/ole">
            <mc:AlternateContent xmlns:mc="http://schemas.openxmlformats.org/markup-compatibility/2006">
              <mc:Choice xmlns:v="urn:schemas-microsoft-com:vml" Requires="v">
                <p:oleObj spid="_x0000_s6" name="Formula" r:id="rId4" imgW="933450" imgH="1514475" progId="Equation.Ribbit">
                  <p:embed/>
                </p:oleObj>
              </mc:Choice>
              <mc:Fallback>
                <p:oleObj name="Formula" r:id="rId4" imgW="933450" imgH="1514475" progId="Equation.Ribbit">
                  <p:embed/>
                  <p:pic>
                    <p:nvPicPr>
                      <p:cNvPr id="0" name="图片 5"/>
                      <p:cNvPicPr/>
                      <p:nvPr/>
                    </p:nvPicPr>
                    <p:blipFill>
                      <a:blip r:embed="rId5"/>
                      <a:stretch>
                        <a:fillRect/>
                      </a:stretch>
                    </p:blipFill>
                    <p:spPr>
                      <a:xfrm>
                        <a:off x="6309698" y="3696946"/>
                        <a:ext cx="187767" cy="3048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899765" y="4613056"/>
          <a:ext cx="2671762" cy="747712"/>
        </p:xfrm>
        <a:graphic>
          <a:graphicData uri="http://schemas.openxmlformats.org/presentationml/2006/ole">
            <mc:AlternateContent xmlns:mc="http://schemas.openxmlformats.org/markup-compatibility/2006">
              <mc:Choice xmlns:v="urn:schemas-microsoft-com:vml" Requires="v">
                <p:oleObj spid="_x0000_s9" name="Formula" r:id="rId6" imgW="12334875" imgH="3448050" progId="Equation.Ribbit">
                  <p:embed/>
                </p:oleObj>
              </mc:Choice>
              <mc:Fallback>
                <p:oleObj name="Formula" r:id="rId6" imgW="12334875" imgH="3448050" progId="Equation.Ribbit">
                  <p:embed/>
                  <p:pic>
                    <p:nvPicPr>
                      <p:cNvPr id="0" name="图片 8"/>
                      <p:cNvPicPr/>
                      <p:nvPr/>
                    </p:nvPicPr>
                    <p:blipFill>
                      <a:blip r:embed="rId7"/>
                      <a:stretch>
                        <a:fillRect/>
                      </a:stretch>
                    </p:blipFill>
                    <p:spPr>
                      <a:xfrm>
                        <a:off x="5899765" y="4613056"/>
                        <a:ext cx="2671762" cy="74771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931568" y="5546445"/>
          <a:ext cx="3992563" cy="357188"/>
        </p:xfrm>
        <a:graphic>
          <a:graphicData uri="http://schemas.openxmlformats.org/presentationml/2006/ole">
            <mc:AlternateContent xmlns:mc="http://schemas.openxmlformats.org/markup-compatibility/2006">
              <mc:Choice xmlns:v="urn:schemas-microsoft-com:vml" Requires="v">
                <p:oleObj spid="_x0000_s11" name="Formula" r:id="rId8" imgW="16973550" imgH="1524000" progId="Equation.Ribbit">
                  <p:embed/>
                </p:oleObj>
              </mc:Choice>
              <mc:Fallback>
                <p:oleObj name="Formula" r:id="rId8" imgW="16973550" imgH="1524000" progId="Equation.Ribbit">
                  <p:embed/>
                  <p:pic>
                    <p:nvPicPr>
                      <p:cNvPr id="0" name="图片 10"/>
                      <p:cNvPicPr/>
                      <p:nvPr/>
                    </p:nvPicPr>
                    <p:blipFill>
                      <a:blip r:embed="rId9"/>
                      <a:stretch>
                        <a:fillRect/>
                      </a:stretch>
                    </p:blipFill>
                    <p:spPr>
                      <a:xfrm>
                        <a:off x="4931568" y="5546445"/>
                        <a:ext cx="3992563" cy="357188"/>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7891492" y="2411853"/>
          <a:ext cx="219075" cy="249238"/>
        </p:xfrm>
        <a:graphic>
          <a:graphicData uri="http://schemas.openxmlformats.org/presentationml/2006/ole">
            <mc:AlternateContent xmlns:mc="http://schemas.openxmlformats.org/markup-compatibility/2006">
              <mc:Choice xmlns:v="urn:schemas-microsoft-com:vml" Requires="v">
                <p:oleObj spid="_x0000_s13" name="Formula" r:id="rId10" imgW="1085850" imgH="1238250" progId="Equation.Ribbit">
                  <p:embed/>
                </p:oleObj>
              </mc:Choice>
              <mc:Fallback>
                <p:oleObj name="Formula" r:id="rId10" imgW="1085850" imgH="1238250" progId="Equation.Ribbit">
                  <p:embed/>
                  <p:pic>
                    <p:nvPicPr>
                      <p:cNvPr id="0" name="图片 12"/>
                      <p:cNvPicPr/>
                      <p:nvPr/>
                    </p:nvPicPr>
                    <p:blipFill>
                      <a:blip r:embed="rId11"/>
                      <a:stretch>
                        <a:fillRect/>
                      </a:stretch>
                    </p:blipFill>
                    <p:spPr>
                      <a:xfrm>
                        <a:off x="7891492" y="2411853"/>
                        <a:ext cx="219075" cy="249238"/>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8747075" y="2689843"/>
          <a:ext cx="93663" cy="249238"/>
        </p:xfrm>
        <a:graphic>
          <a:graphicData uri="http://schemas.openxmlformats.org/presentationml/2006/ole">
            <mc:AlternateContent xmlns:mc="http://schemas.openxmlformats.org/markup-compatibility/2006">
              <mc:Choice xmlns:v="urn:schemas-microsoft-com:vml" Requires="v">
                <p:oleObj spid="_x0000_s15" name="Formula" r:id="rId12" imgW="457200" imgH="1219200" progId="Equation.Ribbit">
                  <p:embed/>
                </p:oleObj>
              </mc:Choice>
              <mc:Fallback>
                <p:oleObj name="Formula" r:id="rId12" imgW="457200" imgH="1219200" progId="Equation.Ribbit">
                  <p:embed/>
                  <p:pic>
                    <p:nvPicPr>
                      <p:cNvPr id="0" name="图片 14"/>
                      <p:cNvPicPr/>
                      <p:nvPr/>
                    </p:nvPicPr>
                    <p:blipFill>
                      <a:blip r:embed="rId13"/>
                      <a:stretch>
                        <a:fillRect/>
                      </a:stretch>
                    </p:blipFill>
                    <p:spPr>
                      <a:xfrm>
                        <a:off x="8747075" y="2689843"/>
                        <a:ext cx="93663" cy="249238"/>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7184076" y="3740384"/>
          <a:ext cx="217487" cy="250825"/>
        </p:xfrm>
        <a:graphic>
          <a:graphicData uri="http://schemas.openxmlformats.org/presentationml/2006/ole">
            <mc:AlternateContent xmlns:mc="http://schemas.openxmlformats.org/markup-compatibility/2006">
              <mc:Choice xmlns:v="urn:schemas-microsoft-com:vml" Requires="v">
                <p:oleObj spid="_x0000_s17" name="Formula" r:id="rId14" imgW="1076325" imgH="1238250" progId="Equation.Ribbit">
                  <p:embed/>
                </p:oleObj>
              </mc:Choice>
              <mc:Fallback>
                <p:oleObj name="Formula" r:id="rId14" imgW="1076325" imgH="1238250" progId="Equation.Ribbit">
                  <p:embed/>
                  <p:pic>
                    <p:nvPicPr>
                      <p:cNvPr id="0" name="图片 16"/>
                      <p:cNvPicPr/>
                      <p:nvPr/>
                    </p:nvPicPr>
                    <p:blipFill>
                      <a:blip r:embed="rId15"/>
                      <a:stretch>
                        <a:fillRect/>
                      </a:stretch>
                    </p:blipFill>
                    <p:spPr>
                      <a:xfrm>
                        <a:off x="7184076" y="3740384"/>
                        <a:ext cx="217487" cy="250825"/>
                      </a:xfrm>
                      <a:prstGeom prst="rect">
                        <a:avLst/>
                      </a:prstGeom>
                    </p:spPr>
                  </p:pic>
                </p:oleObj>
              </mc:Fallback>
            </mc:AlternateContent>
          </a:graphicData>
        </a:graphic>
      </p:graphicFrame>
      <p:sp>
        <p:nvSpPr>
          <p:cNvPr id="18" name="文本占位符 2"/>
          <p:cNvSpPr txBox="1"/>
          <p:nvPr/>
        </p:nvSpPr>
        <p:spPr>
          <a:xfrm>
            <a:off x="260350" y="1149013"/>
            <a:ext cx="8629650" cy="457200"/>
          </a:xfrm>
          <a:prstGeom prst="rect">
            <a:avLst/>
          </a:prstGeom>
        </p:spPr>
        <p:txBody>
          <a:bodyPr>
            <a:noAutofit/>
          </a:bodyPr>
          <a:lst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000" b="1" dirty="0">
                <a:solidFill>
                  <a:schemeClr val="tx2"/>
                </a:solidFill>
                <a:latin typeface="黑体" panose="02010609060101010101" pitchFamily="49" charset="-122"/>
                <a:ea typeface="黑体" panose="02010609060101010101" pitchFamily="49" charset="-122"/>
              </a:rPr>
              <a:t>缺失值处理实例</a:t>
            </a:r>
            <a:endParaRPr lang="zh-CN" altLang="en-US" sz="3000" b="1" dirty="0">
              <a:solidFill>
                <a:schemeClr val="tx2"/>
              </a:solidFill>
              <a:latin typeface="黑体" panose="02010609060101010101" pitchFamily="49" charset="-122"/>
              <a:ea typeface="黑体" panose="02010609060101010101" pitchFamily="49" charset="-122"/>
            </a:endParaRPr>
          </a:p>
        </p:txBody>
      </p:sp>
      <p:graphicFrame>
        <p:nvGraphicFramePr>
          <p:cNvPr id="19" name="对象 18"/>
          <p:cNvGraphicFramePr>
            <a:graphicFrameLocks noChangeAspect="1"/>
          </p:cNvGraphicFramePr>
          <p:nvPr/>
        </p:nvGraphicFramePr>
        <p:xfrm>
          <a:off x="8523149" y="3747125"/>
          <a:ext cx="187767" cy="304800"/>
        </p:xfrm>
        <a:graphic>
          <a:graphicData uri="http://schemas.openxmlformats.org/presentationml/2006/ole">
            <mc:AlternateContent xmlns:mc="http://schemas.openxmlformats.org/markup-compatibility/2006">
              <mc:Choice xmlns:v="urn:schemas-microsoft-com:vml" Requires="v">
                <p:oleObj spid="_x0000_s20" name="Formula" r:id="rId16" imgW="933450" imgH="1514475" progId="Equation.Ribbit">
                  <p:embed/>
                </p:oleObj>
              </mc:Choice>
              <mc:Fallback>
                <p:oleObj name="Formula" r:id="rId16" imgW="933450" imgH="1514475" progId="Equation.Ribbit">
                  <p:embed/>
                  <p:pic>
                    <p:nvPicPr>
                      <p:cNvPr id="0" name="图片 19"/>
                      <p:cNvPicPr/>
                      <p:nvPr/>
                    </p:nvPicPr>
                    <p:blipFill>
                      <a:blip r:embed="rId5"/>
                      <a:stretch>
                        <a:fillRect/>
                      </a:stretch>
                    </p:blipFill>
                    <p:spPr>
                      <a:xfrm>
                        <a:off x="8523149" y="3747125"/>
                        <a:ext cx="187767" cy="3048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p:cNvSpPr>
            <a:spLocks noChangeArrowheads="1"/>
          </p:cNvSpPr>
          <p:nvPr/>
        </p:nvSpPr>
        <p:spPr bwMode="auto">
          <a:xfrm>
            <a:off x="5524238" y="5480049"/>
            <a:ext cx="2106272" cy="409947"/>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457200" lvl="1" indent="0">
              <a:buNone/>
            </a:pPr>
            <a:endParaRPr lang="en-US" altLang="zh-CN" sz="2400" dirty="0"/>
          </a:p>
        </p:txBody>
      </p:sp>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缺失值处理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1191488"/>
            <a:ext cx="8616950" cy="4930775"/>
          </a:xfrm>
        </p:spPr>
        <p:txBody>
          <a:bodyPr>
            <a:normAutofit/>
          </a:bodyPr>
          <a:lstStyle/>
          <a:p>
            <a:r>
              <a:rPr lang="zh-CN" altLang="en-US" b="1" dirty="0">
                <a:latin typeface="黑体" panose="02010609060101010101" pitchFamily="49" charset="-122"/>
                <a:ea typeface="黑体" panose="02010609060101010101" pitchFamily="49" charset="-122"/>
              </a:rPr>
              <a:t>令  ，  ，   分别表示在属性“色泽”上取值为“青绿”“乌黑”以及“浅白”的样本子集，有</a:t>
            </a:r>
            <a:endParaRPr lang="en-US" altLang="zh-CN" b="1" dirty="0">
              <a:latin typeface="黑体" panose="02010609060101010101" pitchFamily="49" charset="-122"/>
              <a:ea typeface="黑体" panose="02010609060101010101" pitchFamily="49" charset="-122"/>
            </a:endParaRPr>
          </a:p>
          <a:p>
            <a:endParaRPr lang="en-US" altLang="zh-CN" dirty="0"/>
          </a:p>
          <a:p>
            <a:pPr marL="0" indent="0">
              <a:buNone/>
            </a:pPr>
            <a:endParaRPr lang="en-US" altLang="zh-CN" dirty="0"/>
          </a:p>
          <a:p>
            <a:pPr marL="0" indent="0">
              <a:buNone/>
            </a:pPr>
            <a:endParaRPr lang="en-US" altLang="zh-CN" dirty="0"/>
          </a:p>
          <a:p>
            <a:r>
              <a:rPr lang="zh-CN" altLang="en-US" b="1" dirty="0">
                <a:latin typeface="黑体" panose="02010609060101010101" pitchFamily="49" charset="-122"/>
                <a:ea typeface="黑体" panose="02010609060101010101" pitchFamily="49" charset="-122"/>
              </a:rPr>
              <a:t>因此，</a:t>
            </a:r>
            <a:r>
              <a:rPr lang="zh-CN" altLang="en-US" b="1" dirty="0">
                <a:solidFill>
                  <a:srgbClr val="FF0000"/>
                </a:solidFill>
                <a:latin typeface="黑体" panose="02010609060101010101" pitchFamily="49" charset="-122"/>
                <a:ea typeface="黑体" panose="02010609060101010101" pitchFamily="49" charset="-122"/>
              </a:rPr>
              <a:t>样本子集   </a:t>
            </a:r>
            <a:r>
              <a:rPr lang="zh-CN" altLang="en-US" b="1" dirty="0">
                <a:latin typeface="黑体" panose="02010609060101010101" pitchFamily="49" charset="-122"/>
                <a:ea typeface="黑体" panose="02010609060101010101" pitchFamily="49" charset="-122"/>
              </a:rPr>
              <a:t>上属性“色泽”的信息增益为</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a:p>
            <a:pPr marL="0" indent="0">
              <a:buNone/>
            </a:pPr>
            <a:endParaRPr lang="en-US" altLang="zh-CN" dirty="0"/>
          </a:p>
          <a:p>
            <a:pPr marL="0" indent="0">
              <a:buNone/>
            </a:pPr>
            <a:endParaRPr lang="en-US" altLang="zh-CN" dirty="0"/>
          </a:p>
          <a:p>
            <a:r>
              <a:rPr lang="zh-CN" altLang="en-US" b="1" dirty="0">
                <a:latin typeface="黑体" panose="02010609060101010101" pitchFamily="49" charset="-122"/>
                <a:ea typeface="黑体" panose="02010609060101010101" pitchFamily="49" charset="-122"/>
              </a:rPr>
              <a:t>于是，</a:t>
            </a:r>
            <a:r>
              <a:rPr lang="zh-CN" altLang="en-US" b="1" dirty="0">
                <a:solidFill>
                  <a:srgbClr val="FF0000"/>
                </a:solidFill>
                <a:latin typeface="黑体" panose="02010609060101010101" pitchFamily="49" charset="-122"/>
                <a:ea typeface="黑体" panose="02010609060101010101" pitchFamily="49" charset="-122"/>
              </a:rPr>
              <a:t>样本集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上属性“色泽”的信息增益为</a:t>
            </a:r>
            <a:endParaRPr lang="en-US" altLang="zh-CN" b="1" dirty="0">
              <a:latin typeface="黑体" panose="02010609060101010101" pitchFamily="49" charset="-122"/>
              <a:ea typeface="黑体" panose="02010609060101010101" pitchFamily="49" charset="-122"/>
            </a:endParaRPr>
          </a:p>
          <a:p>
            <a:pPr marL="0" indent="0">
              <a:buNone/>
            </a:pPr>
            <a:endParaRPr lang="zh-CN" altLang="en-US" dirty="0"/>
          </a:p>
        </p:txBody>
      </p:sp>
      <p:graphicFrame>
        <p:nvGraphicFramePr>
          <p:cNvPr id="4" name="对象 3"/>
          <p:cNvGraphicFramePr>
            <a:graphicFrameLocks noChangeAspect="1"/>
          </p:cNvGraphicFramePr>
          <p:nvPr/>
        </p:nvGraphicFramePr>
        <p:xfrm>
          <a:off x="1012825" y="1204913"/>
          <a:ext cx="311150" cy="352425"/>
        </p:xfrm>
        <a:graphic>
          <a:graphicData uri="http://schemas.openxmlformats.org/presentationml/2006/ole">
            <mc:AlternateContent xmlns:mc="http://schemas.openxmlformats.org/markup-compatibility/2006">
              <mc:Choice xmlns:v="urn:schemas-microsoft-com:vml" Requires="v">
                <p:oleObj spid="_x0000_s27941" name="Formula" r:id="rId1" imgW="1333500" imgH="1514475" progId="Equation.Ribbit">
                  <p:embed/>
                </p:oleObj>
              </mc:Choice>
              <mc:Fallback>
                <p:oleObj name="Formula" r:id="rId1" imgW="1333500" imgH="1514475" progId="Equation.Ribbit">
                  <p:embed/>
                  <p:pic>
                    <p:nvPicPr>
                      <p:cNvPr id="0" name="图片 27940"/>
                      <p:cNvPicPr/>
                      <p:nvPr/>
                    </p:nvPicPr>
                    <p:blipFill>
                      <a:blip r:embed="rId2"/>
                      <a:stretch>
                        <a:fillRect/>
                      </a:stretch>
                    </p:blipFill>
                    <p:spPr>
                      <a:xfrm>
                        <a:off x="1012825" y="1204913"/>
                        <a:ext cx="311150" cy="35242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543050" y="1227138"/>
          <a:ext cx="315913" cy="350837"/>
        </p:xfrm>
        <a:graphic>
          <a:graphicData uri="http://schemas.openxmlformats.org/presentationml/2006/ole">
            <mc:AlternateContent xmlns:mc="http://schemas.openxmlformats.org/markup-compatibility/2006">
              <mc:Choice xmlns:v="urn:schemas-microsoft-com:vml" Requires="v">
                <p:oleObj spid="_x0000_s5" name="Formula" r:id="rId3" imgW="1352550" imgH="1514475" progId="Equation.Ribbit">
                  <p:embed/>
                </p:oleObj>
              </mc:Choice>
              <mc:Fallback>
                <p:oleObj name="Formula" r:id="rId3" imgW="1352550" imgH="1514475" progId="Equation.Ribbit">
                  <p:embed/>
                  <p:pic>
                    <p:nvPicPr>
                      <p:cNvPr id="0" name="图片 4"/>
                      <p:cNvPicPr/>
                      <p:nvPr/>
                    </p:nvPicPr>
                    <p:blipFill>
                      <a:blip r:embed="rId4"/>
                      <a:stretch>
                        <a:fillRect/>
                      </a:stretch>
                    </p:blipFill>
                    <p:spPr>
                      <a:xfrm>
                        <a:off x="1543050" y="1227138"/>
                        <a:ext cx="315913" cy="35083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116138" y="1230313"/>
          <a:ext cx="319087" cy="349250"/>
        </p:xfrm>
        <a:graphic>
          <a:graphicData uri="http://schemas.openxmlformats.org/presentationml/2006/ole">
            <mc:AlternateContent xmlns:mc="http://schemas.openxmlformats.org/markup-compatibility/2006">
              <mc:Choice xmlns:v="urn:schemas-microsoft-com:vml" Requires="v">
                <p:oleObj spid="_x0000_s8" name="Formula" r:id="rId5" imgW="1362075" imgH="1514475" progId="Equation.Ribbit">
                  <p:embed/>
                </p:oleObj>
              </mc:Choice>
              <mc:Fallback>
                <p:oleObj name="Formula" r:id="rId5" imgW="1362075" imgH="1514475" progId="Equation.Ribbit">
                  <p:embed/>
                  <p:pic>
                    <p:nvPicPr>
                      <p:cNvPr id="0" name="图片 7"/>
                      <p:cNvPicPr/>
                      <p:nvPr/>
                    </p:nvPicPr>
                    <p:blipFill>
                      <a:blip r:embed="rId6"/>
                      <a:stretch>
                        <a:fillRect/>
                      </a:stretch>
                    </p:blipFill>
                    <p:spPr>
                      <a:xfrm>
                        <a:off x="2116138" y="1230313"/>
                        <a:ext cx="319087" cy="34925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65175" y="1955800"/>
          <a:ext cx="3844925" cy="436563"/>
        </p:xfrm>
        <a:graphic>
          <a:graphicData uri="http://schemas.openxmlformats.org/presentationml/2006/ole">
            <mc:AlternateContent xmlns:mc="http://schemas.openxmlformats.org/markup-compatibility/2006">
              <mc:Choice xmlns:v="urn:schemas-microsoft-com:vml" Requires="v">
                <p:oleObj spid="_x0000_s10" name="Formula" r:id="rId7" imgW="19869150" imgH="2257425" progId="Equation.Ribbit">
                  <p:embed/>
                </p:oleObj>
              </mc:Choice>
              <mc:Fallback>
                <p:oleObj name="Formula" r:id="rId7" imgW="19869150" imgH="2257425" progId="Equation.Ribbit">
                  <p:embed/>
                  <p:pic>
                    <p:nvPicPr>
                      <p:cNvPr id="0" name="图片 9"/>
                      <p:cNvPicPr/>
                      <p:nvPr/>
                    </p:nvPicPr>
                    <p:blipFill>
                      <a:blip r:embed="rId8"/>
                      <a:stretch>
                        <a:fillRect/>
                      </a:stretch>
                    </p:blipFill>
                    <p:spPr>
                      <a:xfrm>
                        <a:off x="765175" y="1955800"/>
                        <a:ext cx="3844925" cy="436563"/>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867275" y="1946275"/>
          <a:ext cx="3843338" cy="438150"/>
        </p:xfrm>
        <a:graphic>
          <a:graphicData uri="http://schemas.openxmlformats.org/presentationml/2006/ole">
            <mc:AlternateContent xmlns:mc="http://schemas.openxmlformats.org/markup-compatibility/2006">
              <mc:Choice xmlns:v="urn:schemas-microsoft-com:vml" Requires="v">
                <p:oleObj spid="_x0000_s12" name="Formula" r:id="rId9" imgW="19869150" imgH="2257425" progId="Equation.Ribbit">
                  <p:embed/>
                </p:oleObj>
              </mc:Choice>
              <mc:Fallback>
                <p:oleObj name="Formula" r:id="rId9" imgW="19869150" imgH="2257425" progId="Equation.Ribbit">
                  <p:embed/>
                  <p:pic>
                    <p:nvPicPr>
                      <p:cNvPr id="0" name="图片 11"/>
                      <p:cNvPicPr/>
                      <p:nvPr/>
                    </p:nvPicPr>
                    <p:blipFill>
                      <a:blip r:embed="rId10"/>
                      <a:stretch>
                        <a:fillRect/>
                      </a:stretch>
                    </p:blipFill>
                    <p:spPr>
                      <a:xfrm>
                        <a:off x="4867275" y="1946275"/>
                        <a:ext cx="3843338" cy="43815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765175" y="2414588"/>
          <a:ext cx="3833813" cy="436562"/>
        </p:xfrm>
        <a:graphic>
          <a:graphicData uri="http://schemas.openxmlformats.org/presentationml/2006/ole">
            <mc:AlternateContent xmlns:mc="http://schemas.openxmlformats.org/markup-compatibility/2006">
              <mc:Choice xmlns:v="urn:schemas-microsoft-com:vml" Requires="v">
                <p:oleObj spid="_x0000_s14" name="Formula" r:id="rId11" imgW="19869150" imgH="2257425" progId="Equation.Ribbit">
                  <p:embed/>
                </p:oleObj>
              </mc:Choice>
              <mc:Fallback>
                <p:oleObj name="Formula" r:id="rId11" imgW="19869150" imgH="2257425" progId="Equation.Ribbit">
                  <p:embed/>
                  <p:pic>
                    <p:nvPicPr>
                      <p:cNvPr id="0" name="图片 13"/>
                      <p:cNvPicPr/>
                      <p:nvPr/>
                    </p:nvPicPr>
                    <p:blipFill>
                      <a:blip r:embed="rId12"/>
                      <a:stretch>
                        <a:fillRect/>
                      </a:stretch>
                    </p:blipFill>
                    <p:spPr>
                      <a:xfrm>
                        <a:off x="765175" y="2414588"/>
                        <a:ext cx="3833813" cy="436562"/>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374775" y="3576638"/>
          <a:ext cx="3773488" cy="644525"/>
        </p:xfrm>
        <a:graphic>
          <a:graphicData uri="http://schemas.openxmlformats.org/presentationml/2006/ole">
            <mc:AlternateContent xmlns:mc="http://schemas.openxmlformats.org/markup-compatibility/2006">
              <mc:Choice xmlns:v="urn:schemas-microsoft-com:vml" Requires="v">
                <p:oleObj spid="_x0000_s16" name="Formula" r:id="rId13" imgW="20259675" imgH="3467100" progId="Equation.Ribbit">
                  <p:embed/>
                </p:oleObj>
              </mc:Choice>
              <mc:Fallback>
                <p:oleObj name="Formula" r:id="rId13" imgW="20259675" imgH="3467100" progId="Equation.Ribbit">
                  <p:embed/>
                  <p:pic>
                    <p:nvPicPr>
                      <p:cNvPr id="0" name="图片 15"/>
                      <p:cNvPicPr/>
                      <p:nvPr/>
                    </p:nvPicPr>
                    <p:blipFill>
                      <a:blip r:embed="rId14"/>
                      <a:stretch>
                        <a:fillRect/>
                      </a:stretch>
                    </p:blipFill>
                    <p:spPr>
                      <a:xfrm>
                        <a:off x="1374775" y="3576638"/>
                        <a:ext cx="3773488" cy="644525"/>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2708275" y="4241800"/>
          <a:ext cx="4843463" cy="314325"/>
        </p:xfrm>
        <a:graphic>
          <a:graphicData uri="http://schemas.openxmlformats.org/presentationml/2006/ole">
            <mc:AlternateContent xmlns:mc="http://schemas.openxmlformats.org/markup-compatibility/2006">
              <mc:Choice xmlns:v="urn:schemas-microsoft-com:vml" Requires="v">
                <p:oleObj spid="_x0000_s19" name="Formula" r:id="rId15" imgW="23669625" imgH="1533525" progId="Equation.Ribbit">
                  <p:embed/>
                </p:oleObj>
              </mc:Choice>
              <mc:Fallback>
                <p:oleObj name="Formula" r:id="rId15" imgW="23669625" imgH="1533525" progId="Equation.Ribbit">
                  <p:embed/>
                  <p:pic>
                    <p:nvPicPr>
                      <p:cNvPr id="0" name="图片 18"/>
                      <p:cNvPicPr/>
                      <p:nvPr/>
                    </p:nvPicPr>
                    <p:blipFill>
                      <a:blip r:embed="rId16"/>
                      <a:stretch>
                        <a:fillRect/>
                      </a:stretch>
                    </p:blipFill>
                    <p:spPr>
                      <a:xfrm>
                        <a:off x="2708275" y="4241800"/>
                        <a:ext cx="4843463" cy="314325"/>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714625" y="4633913"/>
          <a:ext cx="754063" cy="249237"/>
        </p:xfrm>
        <a:graphic>
          <a:graphicData uri="http://schemas.openxmlformats.org/presentationml/2006/ole">
            <mc:AlternateContent xmlns:mc="http://schemas.openxmlformats.org/markup-compatibility/2006">
              <mc:Choice xmlns:v="urn:schemas-microsoft-com:vml" Requires="v">
                <p:oleObj spid="_x0000_s21" name="Formula" r:id="rId17" imgW="3714750" imgH="1219200" progId="Equation.Ribbit">
                  <p:embed/>
                </p:oleObj>
              </mc:Choice>
              <mc:Fallback>
                <p:oleObj name="Formula" r:id="rId17" imgW="3714750" imgH="1219200" progId="Equation.Ribbit">
                  <p:embed/>
                  <p:pic>
                    <p:nvPicPr>
                      <p:cNvPr id="0" name="图片 20"/>
                      <p:cNvPicPr/>
                      <p:nvPr/>
                    </p:nvPicPr>
                    <p:blipFill>
                      <a:blip r:embed="rId18"/>
                      <a:stretch>
                        <a:fillRect/>
                      </a:stretch>
                    </p:blipFill>
                    <p:spPr>
                      <a:xfrm>
                        <a:off x="2714625" y="4633913"/>
                        <a:ext cx="754063" cy="249237"/>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2745375" y="3232150"/>
          <a:ext cx="222250" cy="360363"/>
        </p:xfrm>
        <a:graphic>
          <a:graphicData uri="http://schemas.openxmlformats.org/presentationml/2006/ole">
            <mc:AlternateContent xmlns:mc="http://schemas.openxmlformats.org/markup-compatibility/2006">
              <mc:Choice xmlns:v="urn:schemas-microsoft-com:vml" Requires="v">
                <p:oleObj spid="_x0000_s23" name="Formula" r:id="rId19" imgW="933450" imgH="1514475" progId="Equation.Ribbit">
                  <p:embed/>
                </p:oleObj>
              </mc:Choice>
              <mc:Fallback>
                <p:oleObj name="Formula" r:id="rId19" imgW="933450" imgH="1514475" progId="Equation.Ribbit">
                  <p:embed/>
                  <p:pic>
                    <p:nvPicPr>
                      <p:cNvPr id="0" name="图片 22"/>
                      <p:cNvPicPr/>
                      <p:nvPr/>
                    </p:nvPicPr>
                    <p:blipFill>
                      <a:blip r:embed="rId20"/>
                      <a:stretch>
                        <a:fillRect/>
                      </a:stretch>
                    </p:blipFill>
                    <p:spPr>
                      <a:xfrm>
                        <a:off x="2745375" y="3232150"/>
                        <a:ext cx="222250" cy="360363"/>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1357313" y="5480050"/>
          <a:ext cx="6227762" cy="363538"/>
        </p:xfrm>
        <a:graphic>
          <a:graphicData uri="http://schemas.openxmlformats.org/presentationml/2006/ole">
            <mc:AlternateContent xmlns:mc="http://schemas.openxmlformats.org/markup-compatibility/2006">
              <mc:Choice xmlns:v="urn:schemas-microsoft-com:vml" Requires="v">
                <p:oleObj spid="_x0000_s25" name="Formula" r:id="rId21" imgW="27889200" imgH="1628775" progId="Equation.Ribbit">
                  <p:embed/>
                </p:oleObj>
              </mc:Choice>
              <mc:Fallback>
                <p:oleObj name="Formula" r:id="rId21" imgW="27889200" imgH="1628775" progId="Equation.Ribbit">
                  <p:embed/>
                  <p:pic>
                    <p:nvPicPr>
                      <p:cNvPr id="0" name="图片 24"/>
                      <p:cNvPicPr/>
                      <p:nvPr/>
                    </p:nvPicPr>
                    <p:blipFill>
                      <a:blip r:embed="rId22"/>
                      <a:stretch>
                        <a:fillRect/>
                      </a:stretch>
                    </p:blipFill>
                    <p:spPr>
                      <a:xfrm>
                        <a:off x="1357313" y="5480050"/>
                        <a:ext cx="6227762" cy="363538"/>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2411413" y="5005388"/>
          <a:ext cx="211137" cy="280987"/>
        </p:xfrm>
        <a:graphic>
          <a:graphicData uri="http://schemas.openxmlformats.org/presentationml/2006/ole">
            <mc:AlternateContent xmlns:mc="http://schemas.openxmlformats.org/markup-compatibility/2006">
              <mc:Choice xmlns:v="urn:schemas-microsoft-com:vml" Requires="v">
                <p:oleObj spid="_x0000_s27" name="Formula" r:id="rId23" imgW="933450" imgH="1247775" progId="Equation.Ribbit">
                  <p:embed/>
                </p:oleObj>
              </mc:Choice>
              <mc:Fallback>
                <p:oleObj name="Formula" r:id="rId23" imgW="933450" imgH="1247775" progId="Equation.Ribbit">
                  <p:embed/>
                  <p:pic>
                    <p:nvPicPr>
                      <p:cNvPr id="0" name="图片 26"/>
                      <p:cNvPicPr/>
                      <p:nvPr/>
                    </p:nvPicPr>
                    <p:blipFill>
                      <a:blip r:embed="rId24"/>
                      <a:stretch>
                        <a:fillRect/>
                      </a:stretch>
                    </p:blipFill>
                    <p:spPr>
                      <a:xfrm>
                        <a:off x="2411413" y="5005388"/>
                        <a:ext cx="211137" cy="280987"/>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p:cTn id="21" dur="500" fill="hold"/>
                                        <p:tgtEl>
                                          <p:spTgt spid="17"/>
                                        </p:tgtEl>
                                        <p:attrNameLst>
                                          <p:attrName>ppt_w</p:attrName>
                                        </p:attrNameLst>
                                      </p:cBhvr>
                                      <p:tavLst>
                                        <p:tav tm="0">
                                          <p:val>
                                            <p:fltVal val="0"/>
                                          </p:val>
                                        </p:tav>
                                        <p:tav tm="100000">
                                          <p:val>
                                            <p:strVal val="#ppt_w"/>
                                          </p:val>
                                        </p:tav>
                                      </p:tavLst>
                                    </p:anim>
                                    <p:anim calcmode="lin" valueType="num">
                                      <p:cBhvr>
                                        <p:cTn id="22" dur="500" fill="hold"/>
                                        <p:tgtEl>
                                          <p:spTgt spid="17"/>
                                        </p:tgtEl>
                                        <p:attrNameLst>
                                          <p:attrName>ppt_h</p:attrName>
                                        </p:attrNameLst>
                                      </p:cBhvr>
                                      <p:tavLst>
                                        <p:tav tm="0">
                                          <p:val>
                                            <p:fltVal val="0"/>
                                          </p:val>
                                        </p:tav>
                                        <p:tav tm="100000">
                                          <p:val>
                                            <p:strVal val="#ppt_h"/>
                                          </p:val>
                                        </p:tav>
                                      </p:tavLst>
                                    </p:anim>
                                    <p:animEffect transition="in" filter="fade">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a:spLocks noChangeArrowheads="1"/>
          </p:cNvSpPr>
          <p:nvPr/>
        </p:nvSpPr>
        <p:spPr bwMode="auto">
          <a:xfrm>
            <a:off x="4258962" y="1995220"/>
            <a:ext cx="3039762" cy="390182"/>
          </a:xfrm>
          <a:prstGeom prst="rect">
            <a:avLst/>
          </a:prstGeom>
          <a:ln w="38100">
            <a:solidFill>
              <a:srgbClr val="C00000"/>
            </a:solidFill>
          </a:ln>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457200" lvl="1" indent="0">
              <a:buNone/>
            </a:pPr>
            <a:endParaRPr lang="en-US" altLang="zh-CN" sz="2400" dirty="0"/>
          </a:p>
        </p:txBody>
      </p:sp>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连续与缺失值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缺失值处理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类似地可计算出所有属性在数据集上的信息增益</a:t>
            </a:r>
            <a:endParaRPr lang="en-US" altLang="zh-CN" b="1" dirty="0">
              <a:latin typeface="黑体" panose="02010609060101010101" pitchFamily="49" charset="-122"/>
              <a:ea typeface="黑体" panose="02010609060101010101" pitchFamily="49" charset="-122"/>
            </a:endParaRPr>
          </a:p>
          <a:p>
            <a:endParaRPr lang="en-US" altLang="zh-CN" dirty="0"/>
          </a:p>
          <a:p>
            <a:endParaRPr lang="en-US" altLang="zh-CN" dirty="0"/>
          </a:p>
          <a:p>
            <a:endParaRPr lang="en-US" altLang="zh-CN" dirty="0"/>
          </a:p>
          <a:p>
            <a:pPr marL="0" indent="0">
              <a:buNone/>
            </a:pPr>
            <a:r>
              <a:rPr lang="en-US" altLang="zh-CN" dirty="0"/>
              <a:t> </a:t>
            </a:r>
            <a:endParaRPr lang="zh-CN" altLang="en-US" dirty="0"/>
          </a:p>
        </p:txBody>
      </p:sp>
      <p:graphicFrame>
        <p:nvGraphicFramePr>
          <p:cNvPr id="4" name="对象 3"/>
          <p:cNvGraphicFramePr>
            <a:graphicFrameLocks noChangeAspect="1"/>
          </p:cNvGraphicFramePr>
          <p:nvPr/>
        </p:nvGraphicFramePr>
        <p:xfrm>
          <a:off x="1212850" y="1619250"/>
          <a:ext cx="2801938" cy="361950"/>
        </p:xfrm>
        <a:graphic>
          <a:graphicData uri="http://schemas.openxmlformats.org/presentationml/2006/ole">
            <mc:AlternateContent xmlns:mc="http://schemas.openxmlformats.org/markup-compatibility/2006">
              <mc:Choice xmlns:v="urn:schemas-microsoft-com:vml" Requires="v">
                <p:oleObj spid="_x0000_s27941" name="Formula" r:id="rId1" imgW="10982325" imgH="1419225" progId="Equation.Ribbit">
                  <p:embed/>
                </p:oleObj>
              </mc:Choice>
              <mc:Fallback>
                <p:oleObj name="Formula" r:id="rId1" imgW="10982325" imgH="1419225" progId="Equation.Ribbit">
                  <p:embed/>
                  <p:pic>
                    <p:nvPicPr>
                      <p:cNvPr id="0" name="图片 27940"/>
                      <p:cNvPicPr/>
                      <p:nvPr/>
                    </p:nvPicPr>
                    <p:blipFill>
                      <a:blip r:embed="rId2"/>
                      <a:stretch>
                        <a:fillRect/>
                      </a:stretch>
                    </p:blipFill>
                    <p:spPr>
                      <a:xfrm>
                        <a:off x="1212850" y="1619250"/>
                        <a:ext cx="2801938" cy="36195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430713" y="1604963"/>
          <a:ext cx="2609850" cy="336550"/>
        </p:xfrm>
        <a:graphic>
          <a:graphicData uri="http://schemas.openxmlformats.org/presentationml/2006/ole">
            <mc:AlternateContent xmlns:mc="http://schemas.openxmlformats.org/markup-compatibility/2006">
              <mc:Choice xmlns:v="urn:schemas-microsoft-com:vml" Requires="v">
                <p:oleObj spid="_x0000_s6" name="Formula" r:id="rId3" imgW="10944225" imgH="1409700" progId="Equation.Ribbit">
                  <p:embed/>
                </p:oleObj>
              </mc:Choice>
              <mc:Fallback>
                <p:oleObj name="Formula" r:id="rId3" imgW="10944225" imgH="1409700" progId="Equation.Ribbit">
                  <p:embed/>
                  <p:pic>
                    <p:nvPicPr>
                      <p:cNvPr id="0" name="图片 5"/>
                      <p:cNvPicPr/>
                      <p:nvPr/>
                    </p:nvPicPr>
                    <p:blipFill>
                      <a:blip r:embed="rId4"/>
                      <a:stretch>
                        <a:fillRect/>
                      </a:stretch>
                    </p:blipFill>
                    <p:spPr>
                      <a:xfrm>
                        <a:off x="4430713" y="1604963"/>
                        <a:ext cx="2609850" cy="33655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212850" y="2032000"/>
          <a:ext cx="2801938" cy="360363"/>
        </p:xfrm>
        <a:graphic>
          <a:graphicData uri="http://schemas.openxmlformats.org/presentationml/2006/ole">
            <mc:AlternateContent xmlns:mc="http://schemas.openxmlformats.org/markup-compatibility/2006">
              <mc:Choice xmlns:v="urn:schemas-microsoft-com:vml" Requires="v">
                <p:oleObj spid="_x0000_s8" name="Formula" r:id="rId5" imgW="10982325" imgH="1409700" progId="Equation.Ribbit">
                  <p:embed/>
                </p:oleObj>
              </mc:Choice>
              <mc:Fallback>
                <p:oleObj name="Formula" r:id="rId5" imgW="10982325" imgH="1409700" progId="Equation.Ribbit">
                  <p:embed/>
                  <p:pic>
                    <p:nvPicPr>
                      <p:cNvPr id="0" name="图片 7"/>
                      <p:cNvPicPr/>
                      <p:nvPr/>
                    </p:nvPicPr>
                    <p:blipFill>
                      <a:blip r:embed="rId6"/>
                      <a:stretch>
                        <a:fillRect/>
                      </a:stretch>
                    </p:blipFill>
                    <p:spPr>
                      <a:xfrm>
                        <a:off x="1212850" y="2032000"/>
                        <a:ext cx="2801938" cy="360363"/>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4427538" y="2030413"/>
          <a:ext cx="2614612" cy="331787"/>
        </p:xfrm>
        <a:graphic>
          <a:graphicData uri="http://schemas.openxmlformats.org/presentationml/2006/ole">
            <mc:AlternateContent xmlns:mc="http://schemas.openxmlformats.org/markup-compatibility/2006">
              <mc:Choice xmlns:v="urn:schemas-microsoft-com:vml" Requires="v">
                <p:oleObj spid="_x0000_s10" name="Formula" r:id="rId7" imgW="11010900" imgH="1390650" progId="Equation.Ribbit">
                  <p:embed/>
                </p:oleObj>
              </mc:Choice>
              <mc:Fallback>
                <p:oleObj name="Formula" r:id="rId7" imgW="11010900" imgH="1390650" progId="Equation.Ribbit">
                  <p:embed/>
                  <p:pic>
                    <p:nvPicPr>
                      <p:cNvPr id="0" name="图片 9"/>
                      <p:cNvPicPr/>
                      <p:nvPr/>
                    </p:nvPicPr>
                    <p:blipFill>
                      <a:blip r:embed="rId8"/>
                      <a:stretch>
                        <a:fillRect/>
                      </a:stretch>
                    </p:blipFill>
                    <p:spPr>
                      <a:xfrm>
                        <a:off x="4427538" y="2030413"/>
                        <a:ext cx="2614612" cy="33178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233488" y="2424113"/>
          <a:ext cx="2781300" cy="354012"/>
        </p:xfrm>
        <a:graphic>
          <a:graphicData uri="http://schemas.openxmlformats.org/presentationml/2006/ole">
            <mc:AlternateContent xmlns:mc="http://schemas.openxmlformats.org/markup-compatibility/2006">
              <mc:Choice xmlns:v="urn:schemas-microsoft-com:vml" Requires="v">
                <p:oleObj spid="_x0000_s13" name="Formula" r:id="rId9" imgW="10991850" imgH="1400175" progId="Equation.Ribbit">
                  <p:embed/>
                </p:oleObj>
              </mc:Choice>
              <mc:Fallback>
                <p:oleObj name="Formula" r:id="rId9" imgW="10991850" imgH="1400175" progId="Equation.Ribbit">
                  <p:embed/>
                  <p:pic>
                    <p:nvPicPr>
                      <p:cNvPr id="0" name="图片 12"/>
                      <p:cNvPicPr/>
                      <p:nvPr/>
                    </p:nvPicPr>
                    <p:blipFill>
                      <a:blip r:embed="rId10"/>
                      <a:stretch>
                        <a:fillRect/>
                      </a:stretch>
                    </p:blipFill>
                    <p:spPr>
                      <a:xfrm>
                        <a:off x="1233488" y="2424113"/>
                        <a:ext cx="2781300" cy="354012"/>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4430713" y="2439988"/>
          <a:ext cx="2638425" cy="339725"/>
        </p:xfrm>
        <a:graphic>
          <a:graphicData uri="http://schemas.openxmlformats.org/presentationml/2006/ole">
            <mc:AlternateContent xmlns:mc="http://schemas.openxmlformats.org/markup-compatibility/2006">
              <mc:Choice xmlns:v="urn:schemas-microsoft-com:vml" Requires="v">
                <p:oleObj spid="_x0000_s15" name="Formula" r:id="rId11" imgW="10991850" imgH="1409700" progId="Equation.Ribbit">
                  <p:embed/>
                </p:oleObj>
              </mc:Choice>
              <mc:Fallback>
                <p:oleObj name="Formula" r:id="rId11" imgW="10991850" imgH="1409700" progId="Equation.Ribbit">
                  <p:embed/>
                  <p:pic>
                    <p:nvPicPr>
                      <p:cNvPr id="0" name="图片 14"/>
                      <p:cNvPicPr/>
                      <p:nvPr/>
                    </p:nvPicPr>
                    <p:blipFill>
                      <a:blip r:embed="rId12"/>
                      <a:stretch>
                        <a:fillRect/>
                      </a:stretch>
                    </p:blipFill>
                    <p:spPr>
                      <a:xfrm>
                        <a:off x="4430713" y="2439988"/>
                        <a:ext cx="2638425" cy="339725"/>
                      </a:xfrm>
                      <a:prstGeom prst="rect">
                        <a:avLst/>
                      </a:prstGeom>
                    </p:spPr>
                  </p:pic>
                </p:oleObj>
              </mc:Fallback>
            </mc:AlternateContent>
          </a:graphicData>
        </a:graphic>
      </p:graphicFrame>
      <p:pic>
        <p:nvPicPr>
          <p:cNvPr id="16" name="内容占位符 3"/>
          <p:cNvPicPr>
            <a:picLocks noChangeAspect="1"/>
          </p:cNvPicPr>
          <p:nvPr/>
        </p:nvPicPr>
        <p:blipFill>
          <a:blip r:embed="rId13"/>
          <a:stretch>
            <a:fillRect/>
          </a:stretch>
        </p:blipFill>
        <p:spPr>
          <a:xfrm>
            <a:off x="3822184" y="2834493"/>
            <a:ext cx="4567023" cy="3225760"/>
          </a:xfrm>
          <a:prstGeom prst="rect">
            <a:avLst/>
          </a:prstGeom>
        </p:spPr>
      </p:pic>
      <p:sp>
        <p:nvSpPr>
          <p:cNvPr id="18" name="矩形 17"/>
          <p:cNvSpPr/>
          <p:nvPr/>
        </p:nvSpPr>
        <p:spPr>
          <a:xfrm>
            <a:off x="3871785" y="3141212"/>
            <a:ext cx="4448432" cy="985944"/>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880017" y="5503472"/>
            <a:ext cx="4423724" cy="161614"/>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6194854" y="2891481"/>
            <a:ext cx="411892" cy="311390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398936" y="3039514"/>
            <a:ext cx="439693" cy="203396"/>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875901" y="4123034"/>
            <a:ext cx="4448432" cy="160642"/>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871779" y="4460790"/>
            <a:ext cx="4448432" cy="205950"/>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884139" y="5181600"/>
            <a:ext cx="4448432" cy="305396"/>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p:cNvSpPr/>
          <p:nvPr/>
        </p:nvSpPr>
        <p:spPr>
          <a:xfrm>
            <a:off x="3884133" y="5811796"/>
            <a:ext cx="4448432" cy="160642"/>
          </a:xfrm>
          <a:prstGeom prst="rect">
            <a:avLst/>
          </a:prstGeom>
          <a:solidFill>
            <a:srgbClr val="E5E17D">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3875901" y="4843848"/>
            <a:ext cx="4448432" cy="321275"/>
          </a:xfrm>
          <a:prstGeom prst="rect">
            <a:avLst/>
          </a:prstGeom>
          <a:solidFill>
            <a:schemeClr val="accent5">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884133" y="5684755"/>
            <a:ext cx="4448432" cy="135924"/>
          </a:xfrm>
          <a:prstGeom prst="rect">
            <a:avLst/>
          </a:prstGeom>
          <a:solidFill>
            <a:schemeClr val="accent5">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888230" y="2943751"/>
            <a:ext cx="2864964" cy="369332"/>
          </a:xfrm>
          <a:prstGeom prst="rect">
            <a:avLst/>
          </a:prstGeom>
          <a:noFill/>
        </p:spPr>
        <p:txBody>
          <a:bodyPr wrap="square" rtlCol="0">
            <a:spAutoFit/>
          </a:bodyPr>
          <a:lstStyle/>
          <a:p>
            <a:r>
              <a:rPr lang="zh-CN" altLang="en-US" b="1" dirty="0">
                <a:solidFill>
                  <a:schemeClr val="accent1"/>
                </a:solidFill>
                <a:latin typeface="黑体" panose="02010609060101010101" pitchFamily="49" charset="-122"/>
                <a:ea typeface="黑体" panose="02010609060101010101" pitchFamily="49" charset="-122"/>
              </a:rPr>
              <a:t>进入“纹理</a:t>
            </a:r>
            <a:r>
              <a:rPr lang="en-US" altLang="zh-CN" b="1" dirty="0">
                <a:solidFill>
                  <a:schemeClr val="accent1"/>
                </a:solidFill>
                <a:latin typeface="黑体" panose="02010609060101010101" pitchFamily="49" charset="-122"/>
                <a:ea typeface="黑体" panose="02010609060101010101" pitchFamily="49" charset="-122"/>
              </a:rPr>
              <a:t>=</a:t>
            </a:r>
            <a:r>
              <a:rPr lang="zh-CN" altLang="en-US" b="1" dirty="0">
                <a:solidFill>
                  <a:schemeClr val="accent1"/>
                </a:solidFill>
                <a:latin typeface="黑体" panose="02010609060101010101" pitchFamily="49" charset="-122"/>
                <a:ea typeface="黑体" panose="02010609060101010101" pitchFamily="49" charset="-122"/>
              </a:rPr>
              <a:t>清晰”分支</a:t>
            </a:r>
            <a:endParaRPr lang="zh-CN" altLang="en-US" b="1" dirty="0">
              <a:solidFill>
                <a:schemeClr val="accent1"/>
              </a:solidFill>
              <a:latin typeface="黑体" panose="02010609060101010101" pitchFamily="49" charset="-122"/>
              <a:ea typeface="黑体" panose="02010609060101010101" pitchFamily="49" charset="-122"/>
            </a:endParaRPr>
          </a:p>
        </p:txBody>
      </p:sp>
      <p:sp>
        <p:nvSpPr>
          <p:cNvPr id="31" name="矩形 30"/>
          <p:cNvSpPr/>
          <p:nvPr/>
        </p:nvSpPr>
        <p:spPr>
          <a:xfrm>
            <a:off x="386576" y="3381388"/>
            <a:ext cx="439693" cy="203396"/>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884108" y="3285624"/>
            <a:ext cx="2864964" cy="369332"/>
          </a:xfrm>
          <a:prstGeom prst="rect">
            <a:avLst/>
          </a:prstGeom>
          <a:noFill/>
        </p:spPr>
        <p:txBody>
          <a:bodyPr wrap="square" rtlCol="0">
            <a:spAutoFit/>
          </a:bodyPr>
          <a:lstStyle/>
          <a:p>
            <a:r>
              <a:rPr lang="zh-CN" altLang="en-US" b="1" dirty="0">
                <a:solidFill>
                  <a:schemeClr val="accent3"/>
                </a:solidFill>
                <a:latin typeface="黑体" panose="02010609060101010101" pitchFamily="49" charset="-122"/>
                <a:ea typeface="黑体" panose="02010609060101010101" pitchFamily="49" charset="-122"/>
              </a:rPr>
              <a:t>进入“纹理</a:t>
            </a:r>
            <a:r>
              <a:rPr lang="en-US" altLang="zh-CN" b="1" dirty="0">
                <a:solidFill>
                  <a:schemeClr val="accent3"/>
                </a:solidFill>
                <a:latin typeface="黑体" panose="02010609060101010101" pitchFamily="49" charset="-122"/>
                <a:ea typeface="黑体" panose="02010609060101010101" pitchFamily="49" charset="-122"/>
              </a:rPr>
              <a:t>=</a:t>
            </a:r>
            <a:r>
              <a:rPr lang="zh-CN" altLang="en-US" b="1" dirty="0">
                <a:solidFill>
                  <a:schemeClr val="accent3"/>
                </a:solidFill>
                <a:latin typeface="黑体" panose="02010609060101010101" pitchFamily="49" charset="-122"/>
                <a:ea typeface="黑体" panose="02010609060101010101" pitchFamily="49" charset="-122"/>
              </a:rPr>
              <a:t>稍糊”分支</a:t>
            </a:r>
            <a:endParaRPr lang="zh-CN" altLang="en-US" b="1" dirty="0">
              <a:solidFill>
                <a:schemeClr val="accent3"/>
              </a:solidFill>
              <a:latin typeface="黑体" panose="02010609060101010101" pitchFamily="49" charset="-122"/>
              <a:ea typeface="黑体" panose="02010609060101010101" pitchFamily="49" charset="-122"/>
            </a:endParaRPr>
          </a:p>
        </p:txBody>
      </p:sp>
      <p:sp>
        <p:nvSpPr>
          <p:cNvPr id="33" name="矩形 32"/>
          <p:cNvSpPr/>
          <p:nvPr/>
        </p:nvSpPr>
        <p:spPr>
          <a:xfrm>
            <a:off x="382454" y="3731499"/>
            <a:ext cx="439693" cy="203396"/>
          </a:xfrm>
          <a:prstGeom prst="rect">
            <a:avLst/>
          </a:prstGeom>
          <a:solidFill>
            <a:schemeClr val="accent5">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79986" y="3643972"/>
            <a:ext cx="2864964" cy="369332"/>
          </a:xfrm>
          <a:prstGeom prst="rect">
            <a:avLst/>
          </a:prstGeom>
          <a:noFill/>
        </p:spPr>
        <p:txBody>
          <a:bodyPr wrap="square" rtlCol="0">
            <a:spAutoFit/>
          </a:bodyPr>
          <a:lstStyle/>
          <a:p>
            <a:r>
              <a:rPr lang="zh-CN" altLang="en-US" b="1" dirty="0">
                <a:solidFill>
                  <a:schemeClr val="accent5"/>
                </a:solidFill>
                <a:latin typeface="黑体" panose="02010609060101010101" pitchFamily="49" charset="-122"/>
                <a:ea typeface="黑体" panose="02010609060101010101" pitchFamily="49" charset="-122"/>
              </a:rPr>
              <a:t>进入“纹理</a:t>
            </a:r>
            <a:r>
              <a:rPr lang="en-US" altLang="zh-CN" b="1" dirty="0">
                <a:solidFill>
                  <a:schemeClr val="accent5"/>
                </a:solidFill>
                <a:latin typeface="黑体" panose="02010609060101010101" pitchFamily="49" charset="-122"/>
                <a:ea typeface="黑体" panose="02010609060101010101" pitchFamily="49" charset="-122"/>
              </a:rPr>
              <a:t>=</a:t>
            </a:r>
            <a:r>
              <a:rPr lang="zh-CN" altLang="en-US" b="1" dirty="0">
                <a:solidFill>
                  <a:schemeClr val="accent5"/>
                </a:solidFill>
                <a:latin typeface="黑体" panose="02010609060101010101" pitchFamily="49" charset="-122"/>
                <a:ea typeface="黑体" panose="02010609060101010101" pitchFamily="49" charset="-122"/>
              </a:rPr>
              <a:t>模糊”分支</a:t>
            </a:r>
            <a:endParaRPr lang="zh-CN" altLang="en-US" b="1" dirty="0">
              <a:solidFill>
                <a:schemeClr val="accent5"/>
              </a:solidFill>
              <a:latin typeface="黑体" panose="02010609060101010101" pitchFamily="49" charset="-122"/>
              <a:ea typeface="黑体" panose="02010609060101010101" pitchFamily="49" charset="-122"/>
            </a:endParaRPr>
          </a:p>
        </p:txBody>
      </p:sp>
      <p:sp>
        <p:nvSpPr>
          <p:cNvPr id="35" name="矩形 34"/>
          <p:cNvSpPr/>
          <p:nvPr/>
        </p:nvSpPr>
        <p:spPr>
          <a:xfrm>
            <a:off x="358683" y="4755295"/>
            <a:ext cx="439693" cy="203396"/>
          </a:xfrm>
          <a:prstGeom prst="rect">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850556" y="4652718"/>
            <a:ext cx="2976947" cy="1200329"/>
          </a:xfrm>
          <a:prstGeom prst="rect">
            <a:avLst/>
          </a:prstGeom>
          <a:noFill/>
        </p:spPr>
        <p:txBody>
          <a:bodyPr wrap="square" rtlCol="0">
            <a:spAutoFit/>
          </a:bodyPr>
          <a:lstStyle/>
          <a:p>
            <a:r>
              <a:rPr lang="zh-CN" altLang="en-US" b="1" dirty="0">
                <a:solidFill>
                  <a:srgbClr val="C00000"/>
                </a:solidFill>
                <a:latin typeface="黑体" panose="02010609060101010101" pitchFamily="49" charset="-122"/>
                <a:ea typeface="黑体" panose="02010609060101010101" pitchFamily="49" charset="-122"/>
              </a:rPr>
              <a:t>在属性“纹理”上出现缺失值，样本</a:t>
            </a:r>
            <a:r>
              <a:rPr lang="en-US" altLang="zh-CN" b="1" dirty="0">
                <a:solidFill>
                  <a:srgbClr val="C00000"/>
                </a:solidFill>
                <a:latin typeface="黑体" panose="02010609060101010101" pitchFamily="49" charset="-122"/>
                <a:ea typeface="黑体" panose="02010609060101010101" pitchFamily="49" charset="-122"/>
              </a:rPr>
              <a:t>8</a:t>
            </a:r>
            <a:r>
              <a:rPr lang="zh-CN" altLang="en-US" b="1" dirty="0">
                <a:solidFill>
                  <a:srgbClr val="C00000"/>
                </a:solidFill>
                <a:latin typeface="黑体" panose="02010609060101010101" pitchFamily="49" charset="-122"/>
                <a:ea typeface="黑体" panose="02010609060101010101" pitchFamily="49" charset="-122"/>
              </a:rPr>
              <a:t>和</a:t>
            </a:r>
            <a:r>
              <a:rPr lang="en-US" altLang="zh-CN" b="1" dirty="0">
                <a:solidFill>
                  <a:srgbClr val="C00000"/>
                </a:solidFill>
                <a:latin typeface="黑体" panose="02010609060101010101" pitchFamily="49" charset="-122"/>
                <a:ea typeface="黑体" panose="02010609060101010101" pitchFamily="49" charset="-122"/>
              </a:rPr>
              <a:t>10</a:t>
            </a:r>
            <a:r>
              <a:rPr lang="zh-CN" altLang="en-US" b="1" dirty="0">
                <a:solidFill>
                  <a:srgbClr val="C00000"/>
                </a:solidFill>
                <a:latin typeface="黑体" panose="02010609060101010101" pitchFamily="49" charset="-122"/>
                <a:ea typeface="黑体" panose="02010609060101010101" pitchFamily="49" charset="-122"/>
              </a:rPr>
              <a:t>同时进入</a:t>
            </a: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个分支，调整</a:t>
            </a:r>
            <a:r>
              <a:rPr lang="en-US" altLang="zh-CN" b="1" dirty="0">
                <a:solidFill>
                  <a:srgbClr val="C00000"/>
                </a:solidFill>
                <a:latin typeface="黑体" panose="02010609060101010101" pitchFamily="49" charset="-122"/>
                <a:ea typeface="黑体" panose="02010609060101010101" pitchFamily="49" charset="-122"/>
              </a:rPr>
              <a:t>8</a:t>
            </a:r>
            <a:r>
              <a:rPr lang="zh-CN" altLang="en-US" b="1" dirty="0">
                <a:solidFill>
                  <a:srgbClr val="C00000"/>
                </a:solidFill>
                <a:latin typeface="黑体" panose="02010609060101010101" pitchFamily="49" charset="-122"/>
                <a:ea typeface="黑体" panose="02010609060101010101" pitchFamily="49" charset="-122"/>
              </a:rPr>
              <a:t>和</a:t>
            </a:r>
            <a:r>
              <a:rPr lang="en-US" altLang="zh-CN" b="1" dirty="0">
                <a:solidFill>
                  <a:srgbClr val="C00000"/>
                </a:solidFill>
                <a:latin typeface="黑体" panose="02010609060101010101" pitchFamily="49" charset="-122"/>
                <a:ea typeface="黑体" panose="02010609060101010101" pitchFamily="49" charset="-122"/>
              </a:rPr>
              <a:t>10</a:t>
            </a:r>
            <a:r>
              <a:rPr lang="zh-CN" altLang="en-US" b="1" dirty="0">
                <a:solidFill>
                  <a:srgbClr val="C00000"/>
                </a:solidFill>
                <a:latin typeface="黑体" panose="02010609060101010101" pitchFamily="49" charset="-122"/>
                <a:ea typeface="黑体" panose="02010609060101010101" pitchFamily="49" charset="-122"/>
              </a:rPr>
              <a:t>在</a:t>
            </a: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分支权值分别为</a:t>
            </a:r>
            <a:r>
              <a:rPr lang="en-US" altLang="zh-CN" b="1" dirty="0">
                <a:solidFill>
                  <a:srgbClr val="C00000"/>
                </a:solidFill>
                <a:latin typeface="黑体" panose="02010609060101010101" pitchFamily="49" charset="-122"/>
                <a:ea typeface="黑体" panose="02010609060101010101" pitchFamily="49" charset="-122"/>
              </a:rPr>
              <a:t>7/15</a:t>
            </a:r>
            <a:r>
              <a:rPr lang="zh-CN" altLang="en-US" b="1" dirty="0">
                <a:solidFill>
                  <a:srgbClr val="C00000"/>
                </a:solidFill>
                <a:latin typeface="黑体" panose="02010609060101010101" pitchFamily="49" charset="-122"/>
                <a:ea typeface="黑体" panose="02010609060101010101" pitchFamily="49" charset="-122"/>
              </a:rPr>
              <a:t>，</a:t>
            </a:r>
            <a:r>
              <a:rPr lang="en-US" altLang="zh-CN" b="1" dirty="0">
                <a:solidFill>
                  <a:srgbClr val="C00000"/>
                </a:solidFill>
                <a:latin typeface="黑体" panose="02010609060101010101" pitchFamily="49" charset="-122"/>
                <a:ea typeface="黑体" panose="02010609060101010101" pitchFamily="49" charset="-122"/>
              </a:rPr>
              <a:t>5/15</a:t>
            </a:r>
            <a:r>
              <a:rPr lang="zh-CN" altLang="en-US" b="1" dirty="0">
                <a:solidFill>
                  <a:srgbClr val="C00000"/>
                </a:solidFill>
                <a:latin typeface="黑体" panose="02010609060101010101" pitchFamily="49" charset="-122"/>
                <a:ea typeface="黑体" panose="02010609060101010101" pitchFamily="49" charset="-122"/>
              </a:rPr>
              <a:t>，</a:t>
            </a:r>
            <a:r>
              <a:rPr lang="en-US" altLang="zh-CN" b="1" dirty="0">
                <a:solidFill>
                  <a:srgbClr val="C00000"/>
                </a:solidFill>
                <a:latin typeface="黑体" panose="02010609060101010101" pitchFamily="49" charset="-122"/>
                <a:ea typeface="黑体" panose="02010609060101010101" pitchFamily="49" charset="-122"/>
              </a:rPr>
              <a:t>3/15</a:t>
            </a:r>
            <a:endParaRPr lang="zh-CN" altLang="en-US" b="1" dirty="0">
              <a:solidFill>
                <a:srgbClr val="C00000"/>
              </a:solidFill>
              <a:latin typeface="黑体" panose="02010609060101010101" pitchFamily="49" charset="-122"/>
              <a:ea typeface="黑体" panose="02010609060101010101" pitchFamily="49" charset="-122"/>
            </a:endParaRPr>
          </a:p>
        </p:txBody>
      </p:sp>
      <p:sp>
        <p:nvSpPr>
          <p:cNvPr id="37" name="矩形 36"/>
          <p:cNvSpPr/>
          <p:nvPr/>
        </p:nvSpPr>
        <p:spPr>
          <a:xfrm>
            <a:off x="3875895" y="4674974"/>
            <a:ext cx="4448432" cy="160642"/>
          </a:xfrm>
          <a:prstGeom prst="rect">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3871773" y="4300148"/>
            <a:ext cx="4448432" cy="160642"/>
          </a:xfrm>
          <a:prstGeom prst="rect">
            <a:avLst/>
          </a:prstGeom>
          <a:solidFill>
            <a:srgbClr val="C000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260350" y="2891481"/>
            <a:ext cx="3484600" cy="16688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531853" y="4081610"/>
            <a:ext cx="3018829" cy="369332"/>
          </a:xfrm>
          <a:prstGeom prst="rect">
            <a:avLst/>
          </a:prstGeom>
          <a:noFill/>
        </p:spPr>
        <p:txBody>
          <a:bodyPr wrap="square" rtlCol="0">
            <a:spAutoFit/>
          </a:bodyPr>
          <a:lstStyle/>
          <a:p>
            <a:r>
              <a:rPr lang="zh-CN" altLang="en-US" b="1" dirty="0">
                <a:latin typeface="黑体" panose="02010609060101010101" pitchFamily="49" charset="-122"/>
                <a:ea typeface="黑体" panose="02010609060101010101" pitchFamily="49" charset="-122"/>
              </a:rPr>
              <a:t>样本权重在各子结点仍为</a:t>
            </a:r>
            <a:r>
              <a:rPr lang="en-US" altLang="zh-CN" b="1" dirty="0">
                <a:latin typeface="黑体" panose="02010609060101010101" pitchFamily="49" charset="-122"/>
                <a:ea typeface="黑体" panose="02010609060101010101" pitchFamily="49" charset="-122"/>
              </a:rPr>
              <a:t>1</a:t>
            </a:r>
            <a:endParaRPr lang="zh-CN" altLang="en-US" b="1" dirty="0">
              <a:latin typeface="黑体" panose="02010609060101010101" pitchFamily="49" charset="-122"/>
              <a:ea typeface="黑体" panose="02010609060101010101" pitchFamily="49" charset="-122"/>
            </a:endParaRPr>
          </a:p>
        </p:txBody>
      </p:sp>
      <p:sp>
        <p:nvSpPr>
          <p:cNvPr id="45" name="矩形 44"/>
          <p:cNvSpPr/>
          <p:nvPr/>
        </p:nvSpPr>
        <p:spPr>
          <a:xfrm>
            <a:off x="264466" y="4617312"/>
            <a:ext cx="3480484" cy="15346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8" grpId="0" animBg="1"/>
      <p:bldP spid="19" grpId="0" animBg="1"/>
      <p:bldP spid="21" grpId="0" animBg="1"/>
      <p:bldP spid="22" grpId="0" animBg="1"/>
      <p:bldP spid="23" grpId="0" animBg="1"/>
      <p:bldP spid="25" grpId="0" animBg="1"/>
      <p:bldP spid="26" grpId="0" animBg="1"/>
      <p:bldP spid="27" grpId="0" animBg="1"/>
      <p:bldP spid="28" grpId="0" animBg="1"/>
      <p:bldP spid="29" grpId="0" animBg="1"/>
      <p:bldP spid="30" grpId="0"/>
      <p:bldP spid="31" grpId="0" animBg="1"/>
      <p:bldP spid="32" grpId="0"/>
      <p:bldP spid="33" grpId="0" animBg="1"/>
      <p:bldP spid="34" grpId="0"/>
      <p:bldP spid="35" grpId="0" animBg="1"/>
      <p:bldP spid="36" grpId="0"/>
      <p:bldP spid="37" grpId="0" animBg="1"/>
      <p:bldP spid="38" grpId="0" animBg="1"/>
      <p:bldP spid="39" grpId="0" animBg="1"/>
      <p:bldP spid="42" grpId="0"/>
      <p:bldP spid="4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a:xfrm>
            <a:off x="1800045" y="5546509"/>
            <a:ext cx="6044876" cy="42634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西瓜数据集</a:t>
            </a:r>
            <a:r>
              <a:rPr lang="en-US" altLang="zh-CN" b="1" dirty="0">
                <a:latin typeface="黑体" panose="02010609060101010101" pitchFamily="49" charset="-122"/>
                <a:ea typeface="黑体" panose="02010609060101010101" pitchFamily="49" charset="-122"/>
              </a:rPr>
              <a:t>2.0a</a:t>
            </a:r>
            <a:r>
              <a:rPr lang="zh-CN" altLang="en-US" b="1" dirty="0">
                <a:latin typeface="黑体" panose="02010609060101010101" pitchFamily="49" charset="-122"/>
                <a:ea typeface="黑体" panose="02010609060101010101" pitchFamily="49" charset="-122"/>
              </a:rPr>
              <a:t>上基于信息增益生成的决策树</a:t>
            </a:r>
            <a:endParaRPr lang="zh-CN" altLang="en-US" b="1" dirty="0">
              <a:latin typeface="黑体" panose="02010609060101010101" pitchFamily="49" charset="-122"/>
              <a:ea typeface="黑体" panose="02010609060101010101" pitchFamily="49" charset="-122"/>
            </a:endParaRPr>
          </a:p>
        </p:txBody>
      </p:sp>
      <p:pic>
        <p:nvPicPr>
          <p:cNvPr id="2" name="Picture 1"/>
          <p:cNvPicPr>
            <a:picLocks noChangeAspect="1"/>
          </p:cNvPicPr>
          <p:nvPr/>
        </p:nvPicPr>
        <p:blipFill>
          <a:blip r:embed="rId1"/>
          <a:stretch>
            <a:fillRect/>
          </a:stretch>
        </p:blipFill>
        <p:spPr>
          <a:xfrm>
            <a:off x="902785" y="1357847"/>
            <a:ext cx="7338429" cy="317515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基本流程</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划分选择</a:t>
            </a:r>
            <a:endParaRPr lang="en-US" altLang="zh-CN" dirty="0">
              <a:solidFill>
                <a:schemeClr val="bg1">
                  <a:lumMod val="85000"/>
                </a:schemeClr>
              </a:solidFill>
            </a:endParaRPr>
          </a:p>
          <a:p>
            <a:pPr marL="0" indent="0">
              <a:buNone/>
            </a:pPr>
            <a:endParaRPr lang="en-US" altLang="zh-CN" dirty="0"/>
          </a:p>
          <a:p>
            <a:r>
              <a:rPr lang="zh-CN" altLang="en-US" dirty="0">
                <a:solidFill>
                  <a:schemeClr val="bg1">
                    <a:lumMod val="85000"/>
                  </a:schemeClr>
                </a:solidFill>
              </a:rPr>
              <a:t>剪枝处理</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连续与缺失值</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b="1" dirty="0">
                <a:latin typeface="黑体" panose="02010609060101010101" pitchFamily="49" charset="-122"/>
                <a:ea typeface="黑体" panose="02010609060101010101" pitchFamily="49" charset="-122"/>
              </a:rPr>
              <a:t>多变量决策树</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solidFill>
                <a:schemeClr val="bg1">
                  <a:lumMod val="85000"/>
                </a:schemeClr>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多变量决策树</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单变量决策树分类边界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轴平行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即分类边界由若干个与坐标轴平行的分段组成。这样的分类边界使得学习结果具有较好的解释性。因为每个分段都对应了属性的某个取值。</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当真实的学习任务比较复杂时，必须使用很多段划分才能获得较好的近似。决策树相当复杂，需要进行大量的属性测试，预测时间开销会很大。</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若能使用斜的划分边界，则决策树</a:t>
            </a:r>
            <a:endParaRPr lang="en-US" altLang="zh-CN" b="1" dirty="0">
              <a:latin typeface="黑体" panose="02010609060101010101" pitchFamily="49" charset="-122"/>
              <a:ea typeface="黑体" panose="02010609060101010101" pitchFamily="49" charset="-122"/>
            </a:endParaRPr>
          </a:p>
          <a:p>
            <a:pPr marL="0"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模型将大为简化。多变量决策树</a:t>
            </a:r>
            <a:endParaRPr lang="en-US" altLang="zh-CN" b="1" dirty="0">
              <a:latin typeface="黑体" panose="02010609060101010101" pitchFamily="49" charset="-122"/>
              <a:ea typeface="黑体" panose="02010609060101010101" pitchFamily="49" charset="-122"/>
            </a:endParaRPr>
          </a:p>
          <a:p>
            <a:pPr marL="0"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能够实现复杂的划分。</a:t>
            </a:r>
            <a:endParaRPr lang="en-US" altLang="zh-CN" b="1" dirty="0">
              <a:latin typeface="黑体" panose="02010609060101010101" pitchFamily="49" charset="-122"/>
              <a:ea typeface="黑体" panose="02010609060101010101" pitchFamily="49" charset="-122"/>
            </a:endParaRPr>
          </a:p>
        </p:txBody>
      </p:sp>
      <p:grpSp>
        <p:nvGrpSpPr>
          <p:cNvPr id="110" name="组合 109"/>
          <p:cNvGrpSpPr/>
          <p:nvPr/>
        </p:nvGrpSpPr>
        <p:grpSpPr>
          <a:xfrm>
            <a:off x="4568825" y="2975210"/>
            <a:ext cx="4338124" cy="3009987"/>
            <a:chOff x="4639516" y="2079729"/>
            <a:chExt cx="4338124" cy="3009987"/>
          </a:xfrm>
        </p:grpSpPr>
        <p:sp>
          <p:nvSpPr>
            <p:cNvPr id="111" name="右箭头 110"/>
            <p:cNvSpPr/>
            <p:nvPr/>
          </p:nvSpPr>
          <p:spPr>
            <a:xfrm>
              <a:off x="4639516" y="3287813"/>
              <a:ext cx="443884" cy="3334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2" name="直接箭头连接符 111"/>
            <p:cNvCxnSpPr/>
            <p:nvPr/>
          </p:nvCxnSpPr>
          <p:spPr>
            <a:xfrm flipH="1" flipV="1">
              <a:off x="5925837" y="2079729"/>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13" name="直接箭头连接符 112"/>
            <p:cNvCxnSpPr/>
            <p:nvPr/>
          </p:nvCxnSpPr>
          <p:spPr>
            <a:xfrm>
              <a:off x="5917640" y="4599789"/>
              <a:ext cx="30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114" name="文本框 11"/>
            <p:cNvSpPr txBox="1"/>
            <p:nvPr/>
          </p:nvSpPr>
          <p:spPr>
            <a:xfrm>
              <a:off x="5735741" y="4518262"/>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cxnSp>
          <p:nvCxnSpPr>
            <p:cNvPr id="115" name="直接连接符 114"/>
            <p:cNvCxnSpPr/>
            <p:nvPr/>
          </p:nvCxnSpPr>
          <p:spPr>
            <a:xfrm>
              <a:off x="655564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16" name="直接连接符 115"/>
            <p:cNvCxnSpPr/>
            <p:nvPr/>
          </p:nvCxnSpPr>
          <p:spPr>
            <a:xfrm>
              <a:off x="717783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17" name="直接连接符 116"/>
            <p:cNvCxnSpPr/>
            <p:nvPr/>
          </p:nvCxnSpPr>
          <p:spPr>
            <a:xfrm>
              <a:off x="780002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a:off x="8422217" y="4528229"/>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119" name="文本框 40"/>
            <p:cNvSpPr txBox="1"/>
            <p:nvPr/>
          </p:nvSpPr>
          <p:spPr>
            <a:xfrm>
              <a:off x="6327050" y="4556804"/>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120" name="文本框 41"/>
            <p:cNvSpPr txBox="1"/>
            <p:nvPr/>
          </p:nvSpPr>
          <p:spPr>
            <a:xfrm>
              <a:off x="6949471" y="4556804"/>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121" name="文本框 42"/>
            <p:cNvSpPr txBox="1"/>
            <p:nvPr/>
          </p:nvSpPr>
          <p:spPr>
            <a:xfrm>
              <a:off x="7571892" y="4556804"/>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sp>
          <p:nvSpPr>
            <p:cNvPr id="122" name="文本框 43"/>
            <p:cNvSpPr txBox="1"/>
            <p:nvPr/>
          </p:nvSpPr>
          <p:spPr>
            <a:xfrm>
              <a:off x="8194313" y="4556804"/>
              <a:ext cx="453970" cy="307777"/>
            </a:xfrm>
            <a:prstGeom prst="rect">
              <a:avLst/>
            </a:prstGeom>
            <a:noFill/>
          </p:spPr>
          <p:txBody>
            <a:bodyPr wrap="none" rtlCol="0">
              <a:spAutoFit/>
            </a:bodyPr>
            <a:lstStyle/>
            <a:p>
              <a:r>
                <a:rPr lang="en-US" altLang="zh-CN" sz="1400" dirty="0">
                  <a:latin typeface="Times "/>
                </a:rPr>
                <a:t>0.8</a:t>
              </a:r>
              <a:endParaRPr lang="zh-CN" altLang="en-US" sz="1400" dirty="0">
                <a:latin typeface="Times "/>
              </a:endParaRPr>
            </a:p>
          </p:txBody>
        </p:sp>
        <p:cxnSp>
          <p:nvCxnSpPr>
            <p:cNvPr id="123" name="直接连接符 122"/>
            <p:cNvCxnSpPr/>
            <p:nvPr/>
          </p:nvCxnSpPr>
          <p:spPr>
            <a:xfrm rot="5400000">
              <a:off x="5962197" y="2693060"/>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24" name="直接连接符 123"/>
            <p:cNvCxnSpPr/>
            <p:nvPr/>
          </p:nvCxnSpPr>
          <p:spPr>
            <a:xfrm rot="5400000">
              <a:off x="5962197" y="3316636"/>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25" name="直接连接符 124"/>
            <p:cNvCxnSpPr/>
            <p:nvPr/>
          </p:nvCxnSpPr>
          <p:spPr>
            <a:xfrm rot="5400000">
              <a:off x="5962197" y="3940212"/>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126" name="文本框 52"/>
            <p:cNvSpPr txBox="1"/>
            <p:nvPr/>
          </p:nvSpPr>
          <p:spPr>
            <a:xfrm>
              <a:off x="5505240" y="3822323"/>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127" name="文本框 53"/>
            <p:cNvSpPr txBox="1"/>
            <p:nvPr/>
          </p:nvSpPr>
          <p:spPr>
            <a:xfrm>
              <a:off x="5505240" y="3198747"/>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128" name="文本框 54"/>
            <p:cNvSpPr txBox="1"/>
            <p:nvPr/>
          </p:nvSpPr>
          <p:spPr>
            <a:xfrm>
              <a:off x="5505240" y="2575171"/>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grpSp>
          <p:nvGrpSpPr>
            <p:cNvPr id="129" name="组合 128"/>
            <p:cNvGrpSpPr/>
            <p:nvPr/>
          </p:nvGrpSpPr>
          <p:grpSpPr>
            <a:xfrm>
              <a:off x="6026986" y="2316117"/>
              <a:ext cx="953322" cy="597182"/>
              <a:chOff x="2902949" y="2313167"/>
              <a:chExt cx="953322" cy="597182"/>
            </a:xfrm>
          </p:grpSpPr>
          <p:grpSp>
            <p:nvGrpSpPr>
              <p:cNvPr id="169" name="组合 168"/>
              <p:cNvGrpSpPr/>
              <p:nvPr/>
            </p:nvGrpSpPr>
            <p:grpSpPr>
              <a:xfrm>
                <a:off x="2902949" y="2313167"/>
                <a:ext cx="953322" cy="597182"/>
                <a:chOff x="5860991" y="1513622"/>
                <a:chExt cx="953322" cy="597182"/>
              </a:xfrm>
            </p:grpSpPr>
            <p:sp>
              <p:nvSpPr>
                <p:cNvPr id="173" name="矩形 172"/>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74" name="文本框 59"/>
                <p:cNvSpPr txBox="1"/>
                <p:nvPr/>
              </p:nvSpPr>
              <p:spPr>
                <a:xfrm>
                  <a:off x="6219278" y="151362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好瓜</a:t>
                  </a:r>
                  <a:endParaRPr lang="zh-CN" altLang="en-US" sz="1600" dirty="0">
                    <a:latin typeface="楷体" panose="02010609060101010101" pitchFamily="49" charset="-122"/>
                    <a:ea typeface="楷体" panose="02010609060101010101" pitchFamily="49" charset="-122"/>
                  </a:endParaRPr>
                </a:p>
              </p:txBody>
            </p:sp>
            <p:sp>
              <p:nvSpPr>
                <p:cNvPr id="175" name="文本框 60"/>
                <p:cNvSpPr txBox="1"/>
                <p:nvPr/>
              </p:nvSpPr>
              <p:spPr>
                <a:xfrm>
                  <a:off x="6219278" y="177225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坏瓜</a:t>
                  </a:r>
                  <a:endParaRPr lang="zh-CN" altLang="en-US" sz="1600" dirty="0">
                    <a:latin typeface="楷体" panose="02010609060101010101" pitchFamily="49" charset="-122"/>
                    <a:ea typeface="楷体" panose="02010609060101010101" pitchFamily="49" charset="-122"/>
                  </a:endParaRPr>
                </a:p>
              </p:txBody>
            </p:sp>
            <p:cxnSp>
              <p:nvCxnSpPr>
                <p:cNvPr id="176" name="直接连接符 175"/>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70" name="组合 169"/>
              <p:cNvGrpSpPr/>
              <p:nvPr/>
            </p:nvGrpSpPr>
            <p:grpSpPr>
              <a:xfrm>
                <a:off x="3043927" y="2444745"/>
                <a:ext cx="108000" cy="108000"/>
                <a:chOff x="5476803" y="2392530"/>
                <a:chExt cx="108000" cy="108000"/>
              </a:xfrm>
            </p:grpSpPr>
            <p:cxnSp>
              <p:nvCxnSpPr>
                <p:cNvPr id="171" name="直接连接符 17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2" name="直接连接符 17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130" name="组合 129"/>
            <p:cNvGrpSpPr/>
            <p:nvPr/>
          </p:nvGrpSpPr>
          <p:grpSpPr>
            <a:xfrm>
              <a:off x="8074715" y="3092607"/>
              <a:ext cx="108000" cy="108000"/>
              <a:chOff x="5476803" y="2392530"/>
              <a:chExt cx="108000" cy="108000"/>
            </a:xfrm>
          </p:grpSpPr>
          <p:cxnSp>
            <p:nvCxnSpPr>
              <p:cNvPr id="167" name="直接连接符 16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8" name="直接连接符 16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1" name="组合 130"/>
            <p:cNvGrpSpPr/>
            <p:nvPr/>
          </p:nvGrpSpPr>
          <p:grpSpPr>
            <a:xfrm>
              <a:off x="8265215" y="3454557"/>
              <a:ext cx="108000" cy="108000"/>
              <a:chOff x="5476803" y="2392530"/>
              <a:chExt cx="108000" cy="108000"/>
            </a:xfrm>
          </p:grpSpPr>
          <p:cxnSp>
            <p:nvCxnSpPr>
              <p:cNvPr id="165" name="直接连接符 16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6" name="直接连接符 16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2" name="组合 131"/>
            <p:cNvGrpSpPr/>
            <p:nvPr/>
          </p:nvGrpSpPr>
          <p:grpSpPr>
            <a:xfrm>
              <a:off x="7947915" y="3742456"/>
              <a:ext cx="108000" cy="108000"/>
              <a:chOff x="5476803" y="2392530"/>
              <a:chExt cx="108000" cy="108000"/>
            </a:xfrm>
          </p:grpSpPr>
          <p:cxnSp>
            <p:nvCxnSpPr>
              <p:cNvPr id="163" name="直接连接符 16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3" name="组合 132"/>
            <p:cNvGrpSpPr/>
            <p:nvPr/>
          </p:nvGrpSpPr>
          <p:grpSpPr>
            <a:xfrm>
              <a:off x="7773341" y="3584552"/>
              <a:ext cx="108000" cy="108000"/>
              <a:chOff x="5476803" y="2392530"/>
              <a:chExt cx="108000" cy="108000"/>
            </a:xfrm>
          </p:grpSpPr>
          <p:cxnSp>
            <p:nvCxnSpPr>
              <p:cNvPr id="161" name="直接连接符 16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2" name="直接连接符 16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4" name="组合 133"/>
            <p:cNvGrpSpPr/>
            <p:nvPr/>
          </p:nvGrpSpPr>
          <p:grpSpPr>
            <a:xfrm>
              <a:off x="7412414" y="3826901"/>
              <a:ext cx="108000" cy="108000"/>
              <a:chOff x="5476803" y="2392530"/>
              <a:chExt cx="108000" cy="108000"/>
            </a:xfrm>
          </p:grpSpPr>
          <p:cxnSp>
            <p:nvCxnSpPr>
              <p:cNvPr id="159" name="直接连接符 15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0" name="直接连接符 15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5" name="组合 134"/>
            <p:cNvGrpSpPr/>
            <p:nvPr/>
          </p:nvGrpSpPr>
          <p:grpSpPr>
            <a:xfrm>
              <a:off x="7131726" y="3744230"/>
              <a:ext cx="108000" cy="108000"/>
              <a:chOff x="5476803" y="2392530"/>
              <a:chExt cx="108000" cy="108000"/>
            </a:xfrm>
          </p:grpSpPr>
          <p:cxnSp>
            <p:nvCxnSpPr>
              <p:cNvPr id="157" name="直接连接符 15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8" name="直接连接符 15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6" name="组合 135"/>
            <p:cNvGrpSpPr/>
            <p:nvPr/>
          </p:nvGrpSpPr>
          <p:grpSpPr>
            <a:xfrm>
              <a:off x="7382519" y="4092869"/>
              <a:ext cx="108000" cy="108000"/>
              <a:chOff x="5476803" y="2392530"/>
              <a:chExt cx="108000" cy="108000"/>
            </a:xfrm>
          </p:grpSpPr>
          <p:cxnSp>
            <p:nvCxnSpPr>
              <p:cNvPr id="155" name="直接连接符 15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6" name="直接连接符 15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37" name="组合 136"/>
            <p:cNvGrpSpPr/>
            <p:nvPr/>
          </p:nvGrpSpPr>
          <p:grpSpPr>
            <a:xfrm>
              <a:off x="7239644" y="3837599"/>
              <a:ext cx="108000" cy="108000"/>
              <a:chOff x="5476803" y="2392530"/>
              <a:chExt cx="108000" cy="108000"/>
            </a:xfrm>
          </p:grpSpPr>
          <p:cxnSp>
            <p:nvCxnSpPr>
              <p:cNvPr id="153" name="直接连接符 15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54" name="直接连接符 15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38" name="直接连接符 137"/>
            <p:cNvCxnSpPr/>
            <p:nvPr/>
          </p:nvCxnSpPr>
          <p:spPr>
            <a:xfrm>
              <a:off x="8001915" y="430746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a:xfrm>
              <a:off x="6727020" y="377704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0" name="直接连接符 139"/>
            <p:cNvCxnSpPr/>
            <p:nvPr/>
          </p:nvCxnSpPr>
          <p:spPr>
            <a:xfrm>
              <a:off x="6752445" y="443427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1" name="直接连接符 140"/>
            <p:cNvCxnSpPr/>
            <p:nvPr/>
          </p:nvCxnSpPr>
          <p:spPr>
            <a:xfrm>
              <a:off x="6924706" y="427073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2" name="直接连接符 141"/>
            <p:cNvCxnSpPr/>
            <p:nvPr/>
          </p:nvCxnSpPr>
          <p:spPr>
            <a:xfrm>
              <a:off x="7917862" y="411867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3" name="直接连接符 142"/>
            <p:cNvCxnSpPr/>
            <p:nvPr/>
          </p:nvCxnSpPr>
          <p:spPr>
            <a:xfrm>
              <a:off x="7963565" y="3988241"/>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4" name="直接连接符 143"/>
            <p:cNvCxnSpPr/>
            <p:nvPr/>
          </p:nvCxnSpPr>
          <p:spPr>
            <a:xfrm>
              <a:off x="6920896" y="359255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5" name="直接连接符 144"/>
            <p:cNvCxnSpPr/>
            <p:nvPr/>
          </p:nvCxnSpPr>
          <p:spPr>
            <a:xfrm>
              <a:off x="7736690" y="448189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6" name="直接连接符 145"/>
            <p:cNvCxnSpPr/>
            <p:nvPr/>
          </p:nvCxnSpPr>
          <p:spPr>
            <a:xfrm>
              <a:off x="8084124" y="4262587"/>
              <a:ext cx="108000" cy="0"/>
            </a:xfrm>
            <a:prstGeom prst="line">
              <a:avLst/>
            </a:prstGeom>
            <a:ln w="19050"/>
          </p:spPr>
          <p:style>
            <a:lnRef idx="1">
              <a:schemeClr val="dk1"/>
            </a:lnRef>
            <a:fillRef idx="0">
              <a:schemeClr val="dk1"/>
            </a:fillRef>
            <a:effectRef idx="0">
              <a:schemeClr val="dk1"/>
            </a:effectRef>
            <a:fontRef idx="minor">
              <a:schemeClr val="tx1"/>
            </a:fontRef>
          </p:style>
        </p:cxnSp>
        <p:sp>
          <p:nvSpPr>
            <p:cNvPr id="147" name="文本框 104"/>
            <p:cNvSpPr txBox="1"/>
            <p:nvPr/>
          </p:nvSpPr>
          <p:spPr>
            <a:xfrm>
              <a:off x="7154901" y="475116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密度</a:t>
              </a:r>
              <a:endParaRPr lang="zh-CN" altLang="en-US" sz="1600" dirty="0">
                <a:latin typeface="楷体" panose="02010609060101010101" pitchFamily="49" charset="-122"/>
                <a:ea typeface="楷体" panose="02010609060101010101" pitchFamily="49" charset="-122"/>
              </a:endParaRPr>
            </a:p>
          </p:txBody>
        </p:sp>
        <p:sp>
          <p:nvSpPr>
            <p:cNvPr id="148" name="文本框 105"/>
            <p:cNvSpPr txBox="1"/>
            <p:nvPr/>
          </p:nvSpPr>
          <p:spPr>
            <a:xfrm>
              <a:off x="5249495" y="2765238"/>
              <a:ext cx="430887" cy="707886"/>
            </a:xfrm>
            <a:prstGeom prst="rect">
              <a:avLst/>
            </a:prstGeom>
            <a:noFill/>
          </p:spPr>
          <p:txBody>
            <a:bodyPr vert="eaVert" wrap="none" rtlCol="0">
              <a:spAutoFit/>
            </a:bodyPr>
            <a:lstStyle/>
            <a:p>
              <a:r>
                <a:rPr lang="zh-CN" altLang="en-US" sz="1600" dirty="0">
                  <a:latin typeface="楷体" panose="02010609060101010101" pitchFamily="49" charset="-122"/>
                  <a:ea typeface="楷体" panose="02010609060101010101" pitchFamily="49" charset="-122"/>
                </a:rPr>
                <a:t>含糖率</a:t>
              </a:r>
              <a:endParaRPr lang="zh-CN" altLang="en-US" sz="1600" dirty="0">
                <a:latin typeface="楷体" panose="02010609060101010101" pitchFamily="49" charset="-122"/>
                <a:ea typeface="楷体" panose="02010609060101010101" pitchFamily="49" charset="-122"/>
              </a:endParaRPr>
            </a:p>
          </p:txBody>
        </p:sp>
        <p:cxnSp>
          <p:nvCxnSpPr>
            <p:cNvPr id="149" name="直接连接符 148"/>
            <p:cNvCxnSpPr/>
            <p:nvPr/>
          </p:nvCxnSpPr>
          <p:spPr>
            <a:xfrm>
              <a:off x="7055091" y="4209221"/>
              <a:ext cx="468000" cy="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7057797" y="2746136"/>
              <a:ext cx="2194" cy="1476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7504671" y="3927226"/>
              <a:ext cx="1152000" cy="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7514616" y="3929007"/>
              <a:ext cx="2194" cy="288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多变量决策树</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多变量决策树</a:t>
            </a:r>
            <a:endParaRPr lang="en-US" altLang="zh-CN" b="1" dirty="0">
              <a:latin typeface="黑体" panose="02010609060101010101" pitchFamily="49" charset="-122"/>
              <a:ea typeface="黑体" panose="02010609060101010101" pitchFamily="49" charset="-122"/>
            </a:endParaRPr>
          </a:p>
        </p:txBody>
      </p:sp>
      <p:sp>
        <p:nvSpPr>
          <p:cNvPr id="6" name="任意多边形 5"/>
          <p:cNvSpPr/>
          <p:nvPr/>
        </p:nvSpPr>
        <p:spPr>
          <a:xfrm>
            <a:off x="1032939" y="3017002"/>
            <a:ext cx="2757388" cy="1875934"/>
          </a:xfrm>
          <a:custGeom>
            <a:avLst/>
            <a:gdLst>
              <a:gd name="connsiteX0" fmla="*/ 0 w 2181225"/>
              <a:gd name="connsiteY0" fmla="*/ 1514475 h 1514475"/>
              <a:gd name="connsiteX1" fmla="*/ 904875 w 2181225"/>
              <a:gd name="connsiteY1" fmla="*/ 1257300 h 1514475"/>
              <a:gd name="connsiteX2" fmla="*/ 1581150 w 2181225"/>
              <a:gd name="connsiteY2" fmla="*/ 266700 h 1514475"/>
              <a:gd name="connsiteX3" fmla="*/ 2181225 w 2181225"/>
              <a:gd name="connsiteY3" fmla="*/ 0 h 1514475"/>
              <a:gd name="connsiteX0-1" fmla="*/ 0 w 2355393"/>
              <a:gd name="connsiteY0-2" fmla="*/ 1519781 h 1519781"/>
              <a:gd name="connsiteX1-3" fmla="*/ 904875 w 2355393"/>
              <a:gd name="connsiteY1-4" fmla="*/ 1262606 h 1519781"/>
              <a:gd name="connsiteX2-5" fmla="*/ 1581150 w 2355393"/>
              <a:gd name="connsiteY2-6" fmla="*/ 272006 h 1519781"/>
              <a:gd name="connsiteX3-7" fmla="*/ 2355393 w 2355393"/>
              <a:gd name="connsiteY3-8" fmla="*/ 0 h 1519781"/>
              <a:gd name="connsiteX0-9" fmla="*/ 0 w 2355393"/>
              <a:gd name="connsiteY0-10" fmla="*/ 1519781 h 1519781"/>
              <a:gd name="connsiteX1-11" fmla="*/ 904875 w 2355393"/>
              <a:gd name="connsiteY1-12" fmla="*/ 1262606 h 1519781"/>
              <a:gd name="connsiteX2-13" fmla="*/ 1581150 w 2355393"/>
              <a:gd name="connsiteY2-14" fmla="*/ 272006 h 1519781"/>
              <a:gd name="connsiteX3-15" fmla="*/ 2355393 w 2355393"/>
              <a:gd name="connsiteY3-16" fmla="*/ 0 h 1519781"/>
              <a:gd name="connsiteX0-17" fmla="*/ 0 w 2422813"/>
              <a:gd name="connsiteY0-18" fmla="*/ 1519781 h 1519781"/>
              <a:gd name="connsiteX1-19" fmla="*/ 972295 w 2422813"/>
              <a:gd name="connsiteY1-20" fmla="*/ 1262606 h 1519781"/>
              <a:gd name="connsiteX2-21" fmla="*/ 1648570 w 2422813"/>
              <a:gd name="connsiteY2-22" fmla="*/ 272006 h 1519781"/>
              <a:gd name="connsiteX3-23" fmla="*/ 2422813 w 2422813"/>
              <a:gd name="connsiteY3-24" fmla="*/ 0 h 1519781"/>
              <a:gd name="connsiteX0-25" fmla="*/ 0 w 2422813"/>
              <a:gd name="connsiteY0-26" fmla="*/ 1519781 h 1519781"/>
              <a:gd name="connsiteX1-27" fmla="*/ 972295 w 2422813"/>
              <a:gd name="connsiteY1-28" fmla="*/ 1262606 h 1519781"/>
              <a:gd name="connsiteX2-29" fmla="*/ 1648570 w 2422813"/>
              <a:gd name="connsiteY2-30" fmla="*/ 272006 h 1519781"/>
              <a:gd name="connsiteX3-31" fmla="*/ 2422813 w 2422813"/>
              <a:gd name="connsiteY3-32" fmla="*/ 0 h 1519781"/>
              <a:gd name="connsiteX0-33" fmla="*/ 0 w 2532370"/>
              <a:gd name="connsiteY0-34" fmla="*/ 1479985 h 1479985"/>
              <a:gd name="connsiteX1-35" fmla="*/ 972295 w 2532370"/>
              <a:gd name="connsiteY1-36" fmla="*/ 1222810 h 1479985"/>
              <a:gd name="connsiteX2-37" fmla="*/ 1648570 w 2532370"/>
              <a:gd name="connsiteY2-38" fmla="*/ 232210 h 1479985"/>
              <a:gd name="connsiteX3-39" fmla="*/ 2532370 w 2532370"/>
              <a:gd name="connsiteY3-40" fmla="*/ 0 h 1479985"/>
              <a:gd name="connsiteX0-41" fmla="*/ 0 w 2532370"/>
              <a:gd name="connsiteY0-42" fmla="*/ 1480593 h 1480593"/>
              <a:gd name="connsiteX1-43" fmla="*/ 972295 w 2532370"/>
              <a:gd name="connsiteY1-44" fmla="*/ 1223418 h 1480593"/>
              <a:gd name="connsiteX2-45" fmla="*/ 1648570 w 2532370"/>
              <a:gd name="connsiteY2-46" fmla="*/ 232818 h 1480593"/>
              <a:gd name="connsiteX3-47" fmla="*/ 2532370 w 2532370"/>
              <a:gd name="connsiteY3-48" fmla="*/ 608 h 1480593"/>
              <a:gd name="connsiteX0-49" fmla="*/ 0 w 2431240"/>
              <a:gd name="connsiteY0-50" fmla="*/ 1496376 h 1496376"/>
              <a:gd name="connsiteX1-51" fmla="*/ 972295 w 2431240"/>
              <a:gd name="connsiteY1-52" fmla="*/ 1239201 h 1496376"/>
              <a:gd name="connsiteX2-53" fmla="*/ 1648570 w 2431240"/>
              <a:gd name="connsiteY2-54" fmla="*/ 248601 h 1496376"/>
              <a:gd name="connsiteX3-55" fmla="*/ 2431240 w 2431240"/>
              <a:gd name="connsiteY3-56" fmla="*/ 473 h 1496376"/>
              <a:gd name="connsiteX0-57" fmla="*/ 0 w 2431240"/>
              <a:gd name="connsiteY0-58" fmla="*/ 1496376 h 1496376"/>
              <a:gd name="connsiteX1-59" fmla="*/ 972295 w 2431240"/>
              <a:gd name="connsiteY1-60" fmla="*/ 1239201 h 1496376"/>
              <a:gd name="connsiteX2-61" fmla="*/ 1648570 w 2431240"/>
              <a:gd name="connsiteY2-62" fmla="*/ 248601 h 1496376"/>
              <a:gd name="connsiteX3-63" fmla="*/ 2431240 w 2431240"/>
              <a:gd name="connsiteY3-64" fmla="*/ 473 h 1496376"/>
              <a:gd name="connsiteX0-65" fmla="*/ 0 w 2431240"/>
              <a:gd name="connsiteY0-66" fmla="*/ 1535999 h 1535999"/>
              <a:gd name="connsiteX1-67" fmla="*/ 972295 w 2431240"/>
              <a:gd name="connsiteY1-68" fmla="*/ 1278824 h 1535999"/>
              <a:gd name="connsiteX2-69" fmla="*/ 1648570 w 2431240"/>
              <a:gd name="connsiteY2-70" fmla="*/ 288224 h 1535999"/>
              <a:gd name="connsiteX3-71" fmla="*/ 2431240 w 2431240"/>
              <a:gd name="connsiteY3-72" fmla="*/ 300 h 1535999"/>
              <a:gd name="connsiteX0-73" fmla="*/ 0 w 2431240"/>
              <a:gd name="connsiteY0-74" fmla="*/ 1535699 h 1535699"/>
              <a:gd name="connsiteX1-75" fmla="*/ 972295 w 2431240"/>
              <a:gd name="connsiteY1-76" fmla="*/ 1278524 h 1535699"/>
              <a:gd name="connsiteX2-77" fmla="*/ 1648570 w 2431240"/>
              <a:gd name="connsiteY2-78" fmla="*/ 287924 h 1535699"/>
              <a:gd name="connsiteX3-79" fmla="*/ 2431240 w 2431240"/>
              <a:gd name="connsiteY3-80" fmla="*/ 0 h 1535699"/>
              <a:gd name="connsiteX0-81" fmla="*/ 0 w 2464950"/>
              <a:gd name="connsiteY0-82" fmla="*/ 1559576 h 1559576"/>
              <a:gd name="connsiteX1-83" fmla="*/ 972295 w 2464950"/>
              <a:gd name="connsiteY1-84" fmla="*/ 1302401 h 1559576"/>
              <a:gd name="connsiteX2-85" fmla="*/ 1648570 w 2464950"/>
              <a:gd name="connsiteY2-86" fmla="*/ 311801 h 1559576"/>
              <a:gd name="connsiteX3-87" fmla="*/ 2464950 w 2464950"/>
              <a:gd name="connsiteY3-88" fmla="*/ 0 h 1559576"/>
              <a:gd name="connsiteX0-89" fmla="*/ 0 w 2439668"/>
              <a:gd name="connsiteY0-90" fmla="*/ 1567535 h 1567535"/>
              <a:gd name="connsiteX1-91" fmla="*/ 972295 w 2439668"/>
              <a:gd name="connsiteY1-92" fmla="*/ 1310360 h 1567535"/>
              <a:gd name="connsiteX2-93" fmla="*/ 1648570 w 2439668"/>
              <a:gd name="connsiteY2-94" fmla="*/ 319760 h 1567535"/>
              <a:gd name="connsiteX3-95" fmla="*/ 2439668 w 2439668"/>
              <a:gd name="connsiteY3-96" fmla="*/ 0 h 1567535"/>
            </a:gdLst>
            <a:ahLst/>
            <a:cxnLst>
              <a:cxn ang="0">
                <a:pos x="connsiteX0-1" y="connsiteY0-2"/>
              </a:cxn>
              <a:cxn ang="0">
                <a:pos x="connsiteX1-3" y="connsiteY1-4"/>
              </a:cxn>
              <a:cxn ang="0">
                <a:pos x="connsiteX2-5" y="connsiteY2-6"/>
              </a:cxn>
              <a:cxn ang="0">
                <a:pos x="connsiteX3-7" y="connsiteY3-8"/>
              </a:cxn>
            </a:cxnLst>
            <a:rect l="l" t="t" r="r" b="b"/>
            <a:pathLst>
              <a:path w="2439668" h="1567535">
                <a:moveTo>
                  <a:pt x="0" y="1567535"/>
                </a:moveTo>
                <a:cubicBezTo>
                  <a:pt x="331912" y="1564152"/>
                  <a:pt x="697533" y="1518323"/>
                  <a:pt x="972295" y="1310360"/>
                </a:cubicBezTo>
                <a:cubicBezTo>
                  <a:pt x="1247057" y="1102397"/>
                  <a:pt x="1404008" y="538153"/>
                  <a:pt x="1648570" y="319760"/>
                </a:cubicBezTo>
                <a:cubicBezTo>
                  <a:pt x="1893132" y="101367"/>
                  <a:pt x="1936986" y="73677"/>
                  <a:pt x="2439668" y="0"/>
                </a:cubicBezTo>
              </a:path>
            </a:pathLst>
          </a:cu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flipH="1" flipV="1">
            <a:off x="966000" y="2541985"/>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9" name="直接箭头连接符 8"/>
          <p:cNvCxnSpPr/>
          <p:nvPr/>
        </p:nvCxnSpPr>
        <p:spPr>
          <a:xfrm>
            <a:off x="957803" y="5062045"/>
            <a:ext cx="30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10" name="文本框 11"/>
          <p:cNvSpPr txBox="1"/>
          <p:nvPr/>
        </p:nvSpPr>
        <p:spPr>
          <a:xfrm>
            <a:off x="775904" y="4999568"/>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cxnSp>
        <p:nvCxnSpPr>
          <p:cNvPr id="11" name="直接连接符 10"/>
          <p:cNvCxnSpPr/>
          <p:nvPr/>
        </p:nvCxnSpPr>
        <p:spPr>
          <a:xfrm>
            <a:off x="1595810" y="4990485"/>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2218000" y="4990485"/>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a:off x="2840190" y="4990485"/>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3462380" y="4990485"/>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rot="5400000">
            <a:off x="1002360" y="3155316"/>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rot="5400000">
            <a:off x="1002360" y="3778892"/>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rot="5400000">
            <a:off x="1002360" y="4402468"/>
            <a:ext cx="0" cy="72000"/>
          </a:xfrm>
          <a:prstGeom prst="line">
            <a:avLst/>
          </a:prstGeom>
          <a:ln w="12700"/>
        </p:spPr>
        <p:style>
          <a:lnRef idx="1">
            <a:schemeClr val="dk1"/>
          </a:lnRef>
          <a:fillRef idx="0">
            <a:schemeClr val="dk1"/>
          </a:fillRef>
          <a:effectRef idx="0">
            <a:schemeClr val="dk1"/>
          </a:effectRef>
          <a:fontRef idx="minor">
            <a:schemeClr val="tx1"/>
          </a:fontRef>
        </p:style>
      </p:cxnSp>
      <p:grpSp>
        <p:nvGrpSpPr>
          <p:cNvPr id="18" name="组合 17"/>
          <p:cNvGrpSpPr/>
          <p:nvPr/>
        </p:nvGrpSpPr>
        <p:grpSpPr>
          <a:xfrm>
            <a:off x="1753845" y="3976955"/>
            <a:ext cx="108000" cy="108000"/>
            <a:chOff x="5476803" y="2392530"/>
            <a:chExt cx="108000" cy="108000"/>
          </a:xfrm>
        </p:grpSpPr>
        <p:cxnSp>
          <p:nvCxnSpPr>
            <p:cNvPr id="19" name="直接连接符 1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1" name="组合 20"/>
          <p:cNvGrpSpPr/>
          <p:nvPr/>
        </p:nvGrpSpPr>
        <p:grpSpPr>
          <a:xfrm>
            <a:off x="1271304" y="4328782"/>
            <a:ext cx="108000" cy="108000"/>
            <a:chOff x="5476803" y="2392530"/>
            <a:chExt cx="108000" cy="108000"/>
          </a:xfrm>
        </p:grpSpPr>
        <p:cxnSp>
          <p:nvCxnSpPr>
            <p:cNvPr id="22" name="直接连接符 2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4" name="组合 23"/>
          <p:cNvGrpSpPr/>
          <p:nvPr/>
        </p:nvGrpSpPr>
        <p:grpSpPr>
          <a:xfrm>
            <a:off x="2365783" y="3700266"/>
            <a:ext cx="108000" cy="108000"/>
            <a:chOff x="5476803" y="2392530"/>
            <a:chExt cx="108000" cy="108000"/>
          </a:xfrm>
        </p:grpSpPr>
        <p:cxnSp>
          <p:nvCxnSpPr>
            <p:cNvPr id="25" name="直接连接符 2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7" name="组合 26"/>
          <p:cNvGrpSpPr/>
          <p:nvPr/>
        </p:nvGrpSpPr>
        <p:grpSpPr>
          <a:xfrm>
            <a:off x="2076525" y="3744997"/>
            <a:ext cx="108000" cy="108000"/>
            <a:chOff x="5476803" y="2392530"/>
            <a:chExt cx="108000" cy="108000"/>
          </a:xfrm>
        </p:grpSpPr>
        <p:cxnSp>
          <p:nvCxnSpPr>
            <p:cNvPr id="28" name="直接连接符 2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0" name="组合 29"/>
          <p:cNvGrpSpPr/>
          <p:nvPr/>
        </p:nvGrpSpPr>
        <p:grpSpPr>
          <a:xfrm>
            <a:off x="1995683" y="4469842"/>
            <a:ext cx="108000" cy="108000"/>
            <a:chOff x="5476803" y="2392530"/>
            <a:chExt cx="108000" cy="108000"/>
          </a:xfrm>
        </p:grpSpPr>
        <p:cxnSp>
          <p:nvCxnSpPr>
            <p:cNvPr id="31" name="直接连接符 3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3" name="组合 32"/>
          <p:cNvGrpSpPr/>
          <p:nvPr/>
        </p:nvGrpSpPr>
        <p:grpSpPr>
          <a:xfrm>
            <a:off x="1259493" y="3756518"/>
            <a:ext cx="108000" cy="108000"/>
            <a:chOff x="5476803" y="2392530"/>
            <a:chExt cx="108000" cy="108000"/>
          </a:xfrm>
        </p:grpSpPr>
        <p:cxnSp>
          <p:nvCxnSpPr>
            <p:cNvPr id="34" name="直接连接符 3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6" name="组合 35"/>
          <p:cNvGrpSpPr/>
          <p:nvPr/>
        </p:nvGrpSpPr>
        <p:grpSpPr>
          <a:xfrm>
            <a:off x="1510286" y="4105157"/>
            <a:ext cx="108000" cy="108000"/>
            <a:chOff x="5476803" y="2392530"/>
            <a:chExt cx="108000" cy="108000"/>
          </a:xfrm>
        </p:grpSpPr>
        <p:cxnSp>
          <p:nvCxnSpPr>
            <p:cNvPr id="37" name="直接连接符 3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9" name="组合 38"/>
          <p:cNvGrpSpPr/>
          <p:nvPr/>
        </p:nvGrpSpPr>
        <p:grpSpPr>
          <a:xfrm>
            <a:off x="1430018" y="4670843"/>
            <a:ext cx="108000" cy="108000"/>
            <a:chOff x="5476803" y="2392530"/>
            <a:chExt cx="108000" cy="108000"/>
          </a:xfrm>
        </p:grpSpPr>
        <p:cxnSp>
          <p:nvCxnSpPr>
            <p:cNvPr id="40" name="直接连接符 3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42" name="直接连接符 41"/>
          <p:cNvCxnSpPr/>
          <p:nvPr/>
        </p:nvCxnSpPr>
        <p:spPr>
          <a:xfrm>
            <a:off x="2402208" y="4565571"/>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3" name="直接连接符 42"/>
          <p:cNvCxnSpPr/>
          <p:nvPr/>
        </p:nvCxnSpPr>
        <p:spPr>
          <a:xfrm>
            <a:off x="1887683" y="489293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a:off x="2163877" y="4747377"/>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5" name="直接连接符 44"/>
          <p:cNvCxnSpPr/>
          <p:nvPr/>
        </p:nvCxnSpPr>
        <p:spPr>
          <a:xfrm>
            <a:off x="2958025" y="458092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6" name="直接连接符 45"/>
          <p:cNvCxnSpPr/>
          <p:nvPr/>
        </p:nvCxnSpPr>
        <p:spPr>
          <a:xfrm>
            <a:off x="2596084" y="438108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776853" y="4944151"/>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3124287" y="4724843"/>
            <a:ext cx="108000"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49" name="对象 48"/>
          <p:cNvGraphicFramePr>
            <a:graphicFrameLocks noChangeAspect="1"/>
          </p:cNvGraphicFramePr>
          <p:nvPr/>
        </p:nvGraphicFramePr>
        <p:xfrm>
          <a:off x="3688909" y="5119564"/>
          <a:ext cx="141791" cy="216000"/>
        </p:xfrm>
        <a:graphic>
          <a:graphicData uri="http://schemas.openxmlformats.org/presentationml/2006/ole">
            <mc:AlternateContent xmlns:mc="http://schemas.openxmlformats.org/markup-compatibility/2006">
              <mc:Choice xmlns:v="urn:schemas-microsoft-com:vml" Requires="v">
                <p:oleObj spid="_x0000_s27941" name="Formula" r:id="rId1" imgW="647700" imgH="971550" progId="Equation.Ribbit">
                  <p:embed/>
                </p:oleObj>
              </mc:Choice>
              <mc:Fallback>
                <p:oleObj name="Formula" r:id="rId1" imgW="647700" imgH="971550" progId="Equation.Ribbit">
                  <p:embed/>
                  <p:pic>
                    <p:nvPicPr>
                      <p:cNvPr id="0" name="图片 27940"/>
                      <p:cNvPicPr/>
                      <p:nvPr/>
                    </p:nvPicPr>
                    <p:blipFill>
                      <a:blip r:embed="rId2"/>
                      <a:stretch>
                        <a:fillRect/>
                      </a:stretch>
                    </p:blipFill>
                    <p:spPr>
                      <a:xfrm>
                        <a:off x="3688909" y="5119564"/>
                        <a:ext cx="141791" cy="216000"/>
                      </a:xfrm>
                      <a:prstGeom prst="rect">
                        <a:avLst/>
                      </a:prstGeom>
                    </p:spPr>
                  </p:pic>
                </p:oleObj>
              </mc:Fallback>
            </mc:AlternateContent>
          </a:graphicData>
        </a:graphic>
      </p:graphicFrame>
      <p:graphicFrame>
        <p:nvGraphicFramePr>
          <p:cNvPr id="50" name="对象 49"/>
          <p:cNvGraphicFramePr>
            <a:graphicFrameLocks noChangeAspect="1"/>
          </p:cNvGraphicFramePr>
          <p:nvPr/>
        </p:nvGraphicFramePr>
        <p:xfrm>
          <a:off x="753529" y="2634536"/>
          <a:ext cx="133350" cy="219075"/>
        </p:xfrm>
        <a:graphic>
          <a:graphicData uri="http://schemas.openxmlformats.org/presentationml/2006/ole">
            <mc:AlternateContent xmlns:mc="http://schemas.openxmlformats.org/markup-compatibility/2006">
              <mc:Choice xmlns:v="urn:schemas-microsoft-com:vml" Requires="v">
                <p:oleObj spid="_x0000_s4" name="Formula" r:id="rId3" imgW="609600" imgH="981075" progId="Equation.Ribbit">
                  <p:embed/>
                </p:oleObj>
              </mc:Choice>
              <mc:Fallback>
                <p:oleObj name="Formula" r:id="rId3" imgW="609600" imgH="981075" progId="Equation.Ribbit">
                  <p:embed/>
                  <p:pic>
                    <p:nvPicPr>
                      <p:cNvPr id="0" name="图片 3"/>
                      <p:cNvPicPr/>
                      <p:nvPr/>
                    </p:nvPicPr>
                    <p:blipFill>
                      <a:blip r:embed="rId4"/>
                      <a:stretch>
                        <a:fillRect/>
                      </a:stretch>
                    </p:blipFill>
                    <p:spPr>
                      <a:xfrm>
                        <a:off x="753529" y="2634536"/>
                        <a:ext cx="133350" cy="219075"/>
                      </a:xfrm>
                      <a:prstGeom prst="rect">
                        <a:avLst/>
                      </a:prstGeom>
                    </p:spPr>
                  </p:pic>
                </p:oleObj>
              </mc:Fallback>
            </mc:AlternateContent>
          </a:graphicData>
        </a:graphic>
      </p:graphicFrame>
      <p:grpSp>
        <p:nvGrpSpPr>
          <p:cNvPr id="51" name="组合 50"/>
          <p:cNvGrpSpPr/>
          <p:nvPr/>
        </p:nvGrpSpPr>
        <p:grpSpPr>
          <a:xfrm>
            <a:off x="2069377" y="4142223"/>
            <a:ext cx="108000" cy="108000"/>
            <a:chOff x="5476803" y="2392530"/>
            <a:chExt cx="108000" cy="108000"/>
          </a:xfrm>
        </p:grpSpPr>
        <p:cxnSp>
          <p:nvCxnSpPr>
            <p:cNvPr id="52" name="直接连接符 5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54" name="组合 53"/>
          <p:cNvGrpSpPr/>
          <p:nvPr/>
        </p:nvGrpSpPr>
        <p:grpSpPr>
          <a:xfrm>
            <a:off x="1700534" y="4472926"/>
            <a:ext cx="108000" cy="108000"/>
            <a:chOff x="5476803" y="2392530"/>
            <a:chExt cx="108000" cy="108000"/>
          </a:xfrm>
        </p:grpSpPr>
        <p:cxnSp>
          <p:nvCxnSpPr>
            <p:cNvPr id="55" name="直接连接符 5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6" name="直接连接符 5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57" name="组合 56"/>
          <p:cNvGrpSpPr/>
          <p:nvPr/>
        </p:nvGrpSpPr>
        <p:grpSpPr>
          <a:xfrm>
            <a:off x="1801662" y="3657754"/>
            <a:ext cx="108000" cy="108000"/>
            <a:chOff x="5476803" y="2392530"/>
            <a:chExt cx="108000" cy="108000"/>
          </a:xfrm>
        </p:grpSpPr>
        <p:cxnSp>
          <p:nvCxnSpPr>
            <p:cNvPr id="58" name="直接连接符 5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60" name="直接连接符 59"/>
          <p:cNvCxnSpPr/>
          <p:nvPr/>
        </p:nvCxnSpPr>
        <p:spPr>
          <a:xfrm>
            <a:off x="2675112" y="4084955"/>
            <a:ext cx="108000" cy="0"/>
          </a:xfrm>
          <a:prstGeom prst="line">
            <a:avLst/>
          </a:prstGeom>
          <a:ln w="19050"/>
        </p:spPr>
        <p:style>
          <a:lnRef idx="1">
            <a:schemeClr val="dk1"/>
          </a:lnRef>
          <a:fillRef idx="0">
            <a:schemeClr val="dk1"/>
          </a:fillRef>
          <a:effectRef idx="0">
            <a:schemeClr val="dk1"/>
          </a:effectRef>
          <a:fontRef idx="minor">
            <a:schemeClr val="tx1"/>
          </a:fontRef>
        </p:style>
      </p:cxnSp>
      <p:grpSp>
        <p:nvGrpSpPr>
          <p:cNvPr id="61" name="组合 60"/>
          <p:cNvGrpSpPr/>
          <p:nvPr/>
        </p:nvGrpSpPr>
        <p:grpSpPr>
          <a:xfrm>
            <a:off x="2245209" y="3932686"/>
            <a:ext cx="108000" cy="108000"/>
            <a:chOff x="5476803" y="2392530"/>
            <a:chExt cx="108000" cy="108000"/>
          </a:xfrm>
        </p:grpSpPr>
        <p:cxnSp>
          <p:nvCxnSpPr>
            <p:cNvPr id="62" name="直接连接符 6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3" name="直接连接符 6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64" name="组合 63"/>
          <p:cNvGrpSpPr/>
          <p:nvPr/>
        </p:nvGrpSpPr>
        <p:grpSpPr>
          <a:xfrm>
            <a:off x="1388263" y="3348559"/>
            <a:ext cx="108000" cy="108000"/>
            <a:chOff x="5476803" y="2392530"/>
            <a:chExt cx="108000" cy="108000"/>
          </a:xfrm>
        </p:grpSpPr>
        <p:cxnSp>
          <p:nvCxnSpPr>
            <p:cNvPr id="65" name="直接连接符 6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67" name="组合 66"/>
          <p:cNvGrpSpPr/>
          <p:nvPr/>
        </p:nvGrpSpPr>
        <p:grpSpPr>
          <a:xfrm>
            <a:off x="2442446" y="3486574"/>
            <a:ext cx="108000" cy="108000"/>
            <a:chOff x="5476803" y="2392530"/>
            <a:chExt cx="108000" cy="108000"/>
          </a:xfrm>
        </p:grpSpPr>
        <p:cxnSp>
          <p:nvCxnSpPr>
            <p:cNvPr id="68" name="直接连接符 6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9" name="直接连接符 6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70" name="组合 69"/>
          <p:cNvGrpSpPr/>
          <p:nvPr/>
        </p:nvGrpSpPr>
        <p:grpSpPr>
          <a:xfrm>
            <a:off x="2091798" y="3293772"/>
            <a:ext cx="108000" cy="108000"/>
            <a:chOff x="5476803" y="2392530"/>
            <a:chExt cx="108000" cy="108000"/>
          </a:xfrm>
        </p:grpSpPr>
        <p:cxnSp>
          <p:nvCxnSpPr>
            <p:cNvPr id="71" name="直接连接符 7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2" name="直接连接符 7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3" name="直接连接符 72"/>
          <p:cNvCxnSpPr/>
          <p:nvPr/>
        </p:nvCxnSpPr>
        <p:spPr>
          <a:xfrm>
            <a:off x="2429102" y="4739282"/>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接连接符 73"/>
          <p:cNvCxnSpPr/>
          <p:nvPr/>
        </p:nvCxnSpPr>
        <p:spPr>
          <a:xfrm>
            <a:off x="3283228" y="364499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a:off x="3421281" y="431782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6" name="直接连接符 75"/>
          <p:cNvCxnSpPr/>
          <p:nvPr/>
        </p:nvCxnSpPr>
        <p:spPr>
          <a:xfrm>
            <a:off x="3337228" y="412902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7" name="直接连接符 76"/>
          <p:cNvCxnSpPr/>
          <p:nvPr/>
        </p:nvCxnSpPr>
        <p:spPr>
          <a:xfrm>
            <a:off x="2975287" y="392918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接连接符 77"/>
          <p:cNvCxnSpPr/>
          <p:nvPr/>
        </p:nvCxnSpPr>
        <p:spPr>
          <a:xfrm>
            <a:off x="2912815" y="3755052"/>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接连接符 78"/>
          <p:cNvCxnSpPr/>
          <p:nvPr/>
        </p:nvCxnSpPr>
        <p:spPr>
          <a:xfrm>
            <a:off x="2890514" y="4242506"/>
            <a:ext cx="108000" cy="0"/>
          </a:xfrm>
          <a:prstGeom prst="line">
            <a:avLst/>
          </a:prstGeom>
          <a:ln w="19050"/>
        </p:spPr>
        <p:style>
          <a:lnRef idx="1">
            <a:schemeClr val="dk1"/>
          </a:lnRef>
          <a:fillRef idx="0">
            <a:schemeClr val="dk1"/>
          </a:fillRef>
          <a:effectRef idx="0">
            <a:schemeClr val="dk1"/>
          </a:effectRef>
          <a:fontRef idx="minor">
            <a:schemeClr val="tx1"/>
          </a:fontRef>
        </p:style>
      </p:cxnSp>
      <p:grpSp>
        <p:nvGrpSpPr>
          <p:cNvPr id="80" name="组合 79"/>
          <p:cNvGrpSpPr/>
          <p:nvPr/>
        </p:nvGrpSpPr>
        <p:grpSpPr>
          <a:xfrm>
            <a:off x="2839102" y="3105087"/>
            <a:ext cx="108000" cy="108000"/>
            <a:chOff x="5476803" y="2392530"/>
            <a:chExt cx="108000" cy="108000"/>
          </a:xfrm>
        </p:grpSpPr>
        <p:cxnSp>
          <p:nvCxnSpPr>
            <p:cNvPr id="81" name="直接连接符 8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接连接符 8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3" name="组合 82"/>
          <p:cNvGrpSpPr/>
          <p:nvPr/>
        </p:nvGrpSpPr>
        <p:grpSpPr>
          <a:xfrm>
            <a:off x="2542084" y="2859994"/>
            <a:ext cx="108000" cy="108000"/>
            <a:chOff x="5476803" y="2392530"/>
            <a:chExt cx="108000" cy="108000"/>
          </a:xfrm>
        </p:grpSpPr>
        <p:cxnSp>
          <p:nvCxnSpPr>
            <p:cNvPr id="84" name="直接连接符 8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5" name="直接连接符 8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6" name="组合 85"/>
          <p:cNvGrpSpPr/>
          <p:nvPr/>
        </p:nvGrpSpPr>
        <p:grpSpPr>
          <a:xfrm>
            <a:off x="1753695" y="3058501"/>
            <a:ext cx="108000" cy="108000"/>
            <a:chOff x="5476803" y="2392530"/>
            <a:chExt cx="108000" cy="108000"/>
          </a:xfrm>
        </p:grpSpPr>
        <p:cxnSp>
          <p:nvCxnSpPr>
            <p:cNvPr id="87" name="直接连接符 8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9" name="组合 88"/>
          <p:cNvGrpSpPr/>
          <p:nvPr/>
        </p:nvGrpSpPr>
        <p:grpSpPr>
          <a:xfrm>
            <a:off x="2421665" y="3162556"/>
            <a:ext cx="108000" cy="108000"/>
            <a:chOff x="5476803" y="2392530"/>
            <a:chExt cx="108000" cy="108000"/>
          </a:xfrm>
        </p:grpSpPr>
        <p:cxnSp>
          <p:nvCxnSpPr>
            <p:cNvPr id="90" name="直接连接符 8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1" name="直接连接符 9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92" name="直接连接符 91"/>
          <p:cNvCxnSpPr/>
          <p:nvPr/>
        </p:nvCxnSpPr>
        <p:spPr>
          <a:xfrm>
            <a:off x="3103681" y="342800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a:off x="1468958" y="4926514"/>
            <a:ext cx="108000" cy="0"/>
          </a:xfrm>
          <a:prstGeom prst="line">
            <a:avLst/>
          </a:prstGeom>
          <a:ln w="19050"/>
        </p:spPr>
        <p:style>
          <a:lnRef idx="1">
            <a:schemeClr val="dk1"/>
          </a:lnRef>
          <a:fillRef idx="0">
            <a:schemeClr val="dk1"/>
          </a:fillRef>
          <a:effectRef idx="0">
            <a:schemeClr val="dk1"/>
          </a:effectRef>
          <a:fontRef idx="minor">
            <a:schemeClr val="tx1"/>
          </a:fontRef>
        </p:style>
      </p:cxnSp>
      <p:grpSp>
        <p:nvGrpSpPr>
          <p:cNvPr id="94" name="组合 93"/>
          <p:cNvGrpSpPr/>
          <p:nvPr/>
        </p:nvGrpSpPr>
        <p:grpSpPr>
          <a:xfrm>
            <a:off x="2691534" y="3255661"/>
            <a:ext cx="108000" cy="108000"/>
            <a:chOff x="5476803" y="2392530"/>
            <a:chExt cx="108000" cy="108000"/>
          </a:xfrm>
        </p:grpSpPr>
        <p:cxnSp>
          <p:nvCxnSpPr>
            <p:cNvPr id="95" name="直接连接符 9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7" name="组合 96"/>
          <p:cNvGrpSpPr/>
          <p:nvPr/>
        </p:nvGrpSpPr>
        <p:grpSpPr>
          <a:xfrm>
            <a:off x="3354380" y="2938923"/>
            <a:ext cx="108000" cy="108000"/>
            <a:chOff x="5476803" y="2392530"/>
            <a:chExt cx="108000" cy="108000"/>
          </a:xfrm>
        </p:grpSpPr>
        <p:cxnSp>
          <p:nvCxnSpPr>
            <p:cNvPr id="98" name="直接连接符 9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00" name="直接连接符 99"/>
          <p:cNvCxnSpPr/>
          <p:nvPr/>
        </p:nvCxnSpPr>
        <p:spPr>
          <a:xfrm>
            <a:off x="3322446" y="3207054"/>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1" name="直接连接符 100"/>
          <p:cNvCxnSpPr/>
          <p:nvPr/>
        </p:nvCxnSpPr>
        <p:spPr>
          <a:xfrm>
            <a:off x="2867287" y="3565896"/>
            <a:ext cx="108000" cy="0"/>
          </a:xfrm>
          <a:prstGeom prst="line">
            <a:avLst/>
          </a:prstGeom>
          <a:ln w="19050"/>
        </p:spPr>
        <p:style>
          <a:lnRef idx="1">
            <a:schemeClr val="dk1"/>
          </a:lnRef>
          <a:fillRef idx="0">
            <a:schemeClr val="dk1"/>
          </a:fillRef>
          <a:effectRef idx="0">
            <a:schemeClr val="dk1"/>
          </a:effectRef>
          <a:fontRef idx="minor">
            <a:schemeClr val="tx1"/>
          </a:fontRef>
        </p:style>
      </p:cxnSp>
      <p:sp>
        <p:nvSpPr>
          <p:cNvPr id="102" name="任意多边形 101"/>
          <p:cNvSpPr/>
          <p:nvPr/>
        </p:nvSpPr>
        <p:spPr>
          <a:xfrm>
            <a:off x="1081725" y="3069211"/>
            <a:ext cx="2671763" cy="1728787"/>
          </a:xfrm>
          <a:custGeom>
            <a:avLst/>
            <a:gdLst>
              <a:gd name="connsiteX0" fmla="*/ 0 w 2671763"/>
              <a:gd name="connsiteY0" fmla="*/ 1728787 h 1728787"/>
              <a:gd name="connsiteX1" fmla="*/ 1033463 w 2671763"/>
              <a:gd name="connsiteY1" fmla="*/ 1714500 h 1728787"/>
              <a:gd name="connsiteX2" fmla="*/ 1033463 w 2671763"/>
              <a:gd name="connsiteY2" fmla="*/ 1233487 h 1728787"/>
              <a:gd name="connsiteX3" fmla="*/ 1404938 w 2671763"/>
              <a:gd name="connsiteY3" fmla="*/ 1238250 h 1728787"/>
              <a:gd name="connsiteX4" fmla="*/ 1409700 w 2671763"/>
              <a:gd name="connsiteY4" fmla="*/ 738187 h 1728787"/>
              <a:gd name="connsiteX5" fmla="*/ 1738313 w 2671763"/>
              <a:gd name="connsiteY5" fmla="*/ 738187 h 1728787"/>
              <a:gd name="connsiteX6" fmla="*/ 1733550 w 2671763"/>
              <a:gd name="connsiteY6" fmla="*/ 276225 h 1728787"/>
              <a:gd name="connsiteX7" fmla="*/ 2185988 w 2671763"/>
              <a:gd name="connsiteY7" fmla="*/ 271462 h 1728787"/>
              <a:gd name="connsiteX8" fmla="*/ 2190750 w 2671763"/>
              <a:gd name="connsiteY8" fmla="*/ 0 h 1728787"/>
              <a:gd name="connsiteX9" fmla="*/ 2671763 w 2671763"/>
              <a:gd name="connsiteY9" fmla="*/ 0 h 172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71763" h="1728787">
                <a:moveTo>
                  <a:pt x="0" y="1728787"/>
                </a:moveTo>
                <a:lnTo>
                  <a:pt x="1033463" y="1714500"/>
                </a:lnTo>
                <a:lnTo>
                  <a:pt x="1033463" y="1233487"/>
                </a:lnTo>
                <a:lnTo>
                  <a:pt x="1404938" y="1238250"/>
                </a:lnTo>
                <a:cubicBezTo>
                  <a:pt x="1406525" y="1071562"/>
                  <a:pt x="1408113" y="904875"/>
                  <a:pt x="1409700" y="738187"/>
                </a:cubicBezTo>
                <a:lnTo>
                  <a:pt x="1738313" y="738187"/>
                </a:lnTo>
                <a:cubicBezTo>
                  <a:pt x="1736725" y="584200"/>
                  <a:pt x="1735138" y="430212"/>
                  <a:pt x="1733550" y="276225"/>
                </a:cubicBezTo>
                <a:lnTo>
                  <a:pt x="2185988" y="271462"/>
                </a:lnTo>
                <a:cubicBezTo>
                  <a:pt x="2187575" y="180975"/>
                  <a:pt x="2189163" y="90487"/>
                  <a:pt x="2190750" y="0"/>
                </a:cubicBezTo>
                <a:lnTo>
                  <a:pt x="2671763" y="0"/>
                </a:lnTo>
              </a:path>
            </a:pathLst>
          </a:cu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102"/>
          <p:cNvSpPr/>
          <p:nvPr/>
        </p:nvSpPr>
        <p:spPr>
          <a:xfrm>
            <a:off x="1119823" y="2977136"/>
            <a:ext cx="2540000" cy="1955800"/>
          </a:xfrm>
          <a:custGeom>
            <a:avLst/>
            <a:gdLst>
              <a:gd name="connsiteX0" fmla="*/ 0 w 2540000"/>
              <a:gd name="connsiteY0" fmla="*/ 1955800 h 1955800"/>
              <a:gd name="connsiteX1" fmla="*/ 1104900 w 2540000"/>
              <a:gd name="connsiteY1" fmla="*/ 1638300 h 1955800"/>
              <a:gd name="connsiteX2" fmla="*/ 1663700 w 2540000"/>
              <a:gd name="connsiteY2" fmla="*/ 444500 h 1955800"/>
              <a:gd name="connsiteX3" fmla="*/ 2540000 w 2540000"/>
              <a:gd name="connsiteY3" fmla="*/ 0 h 1955800"/>
              <a:gd name="connsiteX4" fmla="*/ 2540000 w 2540000"/>
              <a:gd name="connsiteY4" fmla="*/ 0 h 195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000" h="1955800">
                <a:moveTo>
                  <a:pt x="0" y="1955800"/>
                </a:moveTo>
                <a:lnTo>
                  <a:pt x="1104900" y="1638300"/>
                </a:lnTo>
                <a:lnTo>
                  <a:pt x="1663700" y="444500"/>
                </a:lnTo>
                <a:lnTo>
                  <a:pt x="2540000" y="0"/>
                </a:lnTo>
                <a:lnTo>
                  <a:pt x="2540000" y="0"/>
                </a:lnTo>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Rectangle 3"/>
          <p:cNvSpPr>
            <a:spLocks noChangeArrowheads="1"/>
          </p:cNvSpPr>
          <p:nvPr/>
        </p:nvSpPr>
        <p:spPr bwMode="auto">
          <a:xfrm>
            <a:off x="5037948" y="2182868"/>
            <a:ext cx="3558017" cy="1196145"/>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r>
              <a:rPr lang="zh-CN" altLang="en-US" sz="2200" b="1" dirty="0">
                <a:latin typeface="黑体" panose="02010609060101010101" pitchFamily="49" charset="-122"/>
                <a:ea typeface="黑体" panose="02010609060101010101" pitchFamily="49" charset="-122"/>
              </a:rPr>
              <a:t>非叶节点不再是仅对某个属性</a:t>
            </a:r>
            <a:r>
              <a:rPr lang="en-US" altLang="zh-CN" sz="2200" b="1" dirty="0">
                <a:latin typeface="黑体" panose="02010609060101010101" pitchFamily="49" charset="-122"/>
                <a:ea typeface="黑体" panose="02010609060101010101" pitchFamily="49" charset="-122"/>
              </a:rPr>
              <a:t>,</a:t>
            </a:r>
            <a:r>
              <a:rPr lang="zh-CN" altLang="en-US" sz="2200" b="1" dirty="0">
                <a:latin typeface="黑体" panose="02010609060101010101" pitchFamily="49" charset="-122"/>
                <a:ea typeface="黑体" panose="02010609060101010101" pitchFamily="49" charset="-122"/>
              </a:rPr>
              <a:t>而是对属性的线性组合</a:t>
            </a:r>
            <a:endParaRPr lang="zh-CN" altLang="en-US" sz="2200" b="1" dirty="0">
              <a:latin typeface="黑体" panose="02010609060101010101" pitchFamily="49" charset="-122"/>
              <a:ea typeface="黑体" panose="02010609060101010101" pitchFamily="49" charset="-122"/>
            </a:endParaRPr>
          </a:p>
        </p:txBody>
      </p:sp>
      <p:sp>
        <p:nvSpPr>
          <p:cNvPr id="105" name="Rectangle 3"/>
          <p:cNvSpPr>
            <a:spLocks noChangeArrowheads="1"/>
          </p:cNvSpPr>
          <p:nvPr/>
        </p:nvSpPr>
        <p:spPr bwMode="auto">
          <a:xfrm>
            <a:off x="5032347" y="3704141"/>
            <a:ext cx="3558017" cy="2228579"/>
          </a:xfrm>
          <a:prstGeom prst="rect">
            <a:avLst/>
          </a:prstGeom>
          <a:ln w="38100"/>
        </p:spPr>
        <p:style>
          <a:lnRef idx="2">
            <a:schemeClr val="accent2"/>
          </a:lnRef>
          <a:fillRef idx="1">
            <a:schemeClr val="lt1"/>
          </a:fillRef>
          <a:effectRef idx="0">
            <a:schemeClr val="accent2"/>
          </a:effectRef>
          <a:fontRef idx="minor">
            <a:schemeClr val="dk1"/>
          </a:fontRef>
        </p:style>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r>
              <a:rPr lang="zh-CN" altLang="en-US" sz="2200" b="1" dirty="0">
                <a:latin typeface="黑体" panose="02010609060101010101" pitchFamily="49" charset="-122"/>
                <a:ea typeface="黑体" panose="02010609060101010101" pitchFamily="49" charset="-122"/>
              </a:rPr>
              <a:t>每个非叶结点是一个形如          的线性分类器，其中  是属性  的权值，  和  可在该结点所含的样本集和属性集上学得</a:t>
            </a:r>
            <a:endParaRPr lang="en-US" altLang="zh-CN" sz="2200" b="1" dirty="0">
              <a:latin typeface="黑体" panose="02010609060101010101" pitchFamily="49" charset="-122"/>
              <a:ea typeface="黑体" panose="02010609060101010101" pitchFamily="49" charset="-122"/>
            </a:endParaRPr>
          </a:p>
          <a:p>
            <a:pPr marL="0" indent="0">
              <a:buNone/>
            </a:pPr>
            <a:r>
              <a:rPr lang="en-US" altLang="zh-CN" sz="2400" b="1" dirty="0">
                <a:latin typeface="黑体" panose="02010609060101010101" pitchFamily="49" charset="-122"/>
                <a:ea typeface="黑体" panose="02010609060101010101" pitchFamily="49" charset="-122"/>
              </a:rPr>
              <a:t>          </a:t>
            </a:r>
            <a:endParaRPr lang="en-US" altLang="zh-CN" sz="2400" b="1" dirty="0">
              <a:latin typeface="黑体" panose="02010609060101010101" pitchFamily="49" charset="-122"/>
              <a:ea typeface="黑体" panose="02010609060101010101" pitchFamily="49" charset="-122"/>
            </a:endParaRPr>
          </a:p>
          <a:p>
            <a:endParaRPr lang="zh-CN" altLang="en-US" sz="2400" b="1" dirty="0">
              <a:latin typeface="黑体" panose="02010609060101010101" pitchFamily="49" charset="-122"/>
              <a:ea typeface="黑体" panose="02010609060101010101" pitchFamily="49" charset="-122"/>
            </a:endParaRPr>
          </a:p>
        </p:txBody>
      </p:sp>
      <p:sp>
        <p:nvSpPr>
          <p:cNvPr id="5" name="下箭头 4"/>
          <p:cNvSpPr/>
          <p:nvPr/>
        </p:nvSpPr>
        <p:spPr>
          <a:xfrm>
            <a:off x="6558238" y="3478798"/>
            <a:ext cx="323085" cy="1412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nvGraphicFramePr>
        <p:xfrm>
          <a:off x="5838789" y="4128528"/>
          <a:ext cx="1257570" cy="293658"/>
        </p:xfrm>
        <a:graphic>
          <a:graphicData uri="http://schemas.openxmlformats.org/presentationml/2006/ole">
            <mc:AlternateContent xmlns:mc="http://schemas.openxmlformats.org/markup-compatibility/2006">
              <mc:Choice xmlns:v="urn:schemas-microsoft-com:vml" Requires="v">
                <p:oleObj spid="_x0000_s106" name="Formula" r:id="rId5" imgW="6677025" imgH="1562100" progId="Equation.Ribbit">
                  <p:embed/>
                </p:oleObj>
              </mc:Choice>
              <mc:Fallback>
                <p:oleObj name="Formula" r:id="rId5" imgW="6677025" imgH="1562100" progId="Equation.Ribbit">
                  <p:embed/>
                  <p:pic>
                    <p:nvPicPr>
                      <p:cNvPr id="0" name="图片 105"/>
                      <p:cNvPicPr/>
                      <p:nvPr/>
                    </p:nvPicPr>
                    <p:blipFill>
                      <a:blip r:embed="rId6"/>
                      <a:stretch>
                        <a:fillRect/>
                      </a:stretch>
                    </p:blipFill>
                    <p:spPr>
                      <a:xfrm>
                        <a:off x="5838789" y="4128528"/>
                        <a:ext cx="1257570" cy="293658"/>
                      </a:xfrm>
                      <a:prstGeom prst="rect">
                        <a:avLst/>
                      </a:prstGeom>
                    </p:spPr>
                  </p:pic>
                </p:oleObj>
              </mc:Fallback>
            </mc:AlternateContent>
          </a:graphicData>
        </a:graphic>
      </p:graphicFrame>
      <p:graphicFrame>
        <p:nvGraphicFramePr>
          <p:cNvPr id="107" name="对象 106"/>
          <p:cNvGraphicFramePr>
            <a:graphicFrameLocks noChangeAspect="1"/>
          </p:cNvGraphicFramePr>
          <p:nvPr/>
        </p:nvGraphicFramePr>
        <p:xfrm>
          <a:off x="6875680" y="4509618"/>
          <a:ext cx="297911" cy="237696"/>
        </p:xfrm>
        <a:graphic>
          <a:graphicData uri="http://schemas.openxmlformats.org/presentationml/2006/ole">
            <mc:AlternateContent xmlns:mc="http://schemas.openxmlformats.org/markup-compatibility/2006">
              <mc:Choice xmlns:v="urn:schemas-microsoft-com:vml" Requires="v">
                <p:oleObj spid="_x0000_s108" name="Formula" r:id="rId7" imgW="1114425" imgH="895350" progId="Equation.Ribbit">
                  <p:embed/>
                </p:oleObj>
              </mc:Choice>
              <mc:Fallback>
                <p:oleObj name="Formula" r:id="rId7" imgW="1114425" imgH="895350" progId="Equation.Ribbit">
                  <p:embed/>
                  <p:pic>
                    <p:nvPicPr>
                      <p:cNvPr id="0" name="图片 107"/>
                      <p:cNvPicPr/>
                      <p:nvPr/>
                    </p:nvPicPr>
                    <p:blipFill>
                      <a:blip r:embed="rId8"/>
                      <a:stretch>
                        <a:fillRect/>
                      </a:stretch>
                    </p:blipFill>
                    <p:spPr>
                      <a:xfrm>
                        <a:off x="6875680" y="4509618"/>
                        <a:ext cx="297911" cy="237696"/>
                      </a:xfrm>
                      <a:prstGeom prst="rect">
                        <a:avLst/>
                      </a:prstGeom>
                    </p:spPr>
                  </p:pic>
                </p:oleObj>
              </mc:Fallback>
            </mc:AlternateContent>
          </a:graphicData>
        </a:graphic>
      </p:graphicFrame>
      <p:graphicFrame>
        <p:nvGraphicFramePr>
          <p:cNvPr id="109" name="对象 108"/>
          <p:cNvGraphicFramePr>
            <a:graphicFrameLocks noChangeAspect="1"/>
          </p:cNvGraphicFramePr>
          <p:nvPr/>
        </p:nvGraphicFramePr>
        <p:xfrm>
          <a:off x="7218886" y="4826734"/>
          <a:ext cx="114910" cy="284252"/>
        </p:xfrm>
        <a:graphic>
          <a:graphicData uri="http://schemas.openxmlformats.org/presentationml/2006/ole">
            <mc:AlternateContent xmlns:mc="http://schemas.openxmlformats.org/markup-compatibility/2006">
              <mc:Choice xmlns:v="urn:schemas-microsoft-com:vml" Requires="v">
                <p:oleObj spid="_x0000_s110" name="Formula" r:id="rId9" imgW="447675" imgH="1114425" progId="Equation.Ribbit">
                  <p:embed/>
                </p:oleObj>
              </mc:Choice>
              <mc:Fallback>
                <p:oleObj name="Formula" r:id="rId9" imgW="447675" imgH="1114425" progId="Equation.Ribbit">
                  <p:embed/>
                  <p:pic>
                    <p:nvPicPr>
                      <p:cNvPr id="0" name="图片 109"/>
                      <p:cNvPicPr/>
                      <p:nvPr/>
                    </p:nvPicPr>
                    <p:blipFill>
                      <a:blip r:embed="rId10"/>
                      <a:stretch>
                        <a:fillRect/>
                      </a:stretch>
                    </p:blipFill>
                    <p:spPr>
                      <a:xfrm>
                        <a:off x="7218886" y="4826734"/>
                        <a:ext cx="114910" cy="284252"/>
                      </a:xfrm>
                      <a:prstGeom prst="rect">
                        <a:avLst/>
                      </a:prstGeom>
                    </p:spPr>
                  </p:pic>
                </p:oleObj>
              </mc:Fallback>
            </mc:AlternateContent>
          </a:graphicData>
        </a:graphic>
      </p:graphicFrame>
      <p:graphicFrame>
        <p:nvGraphicFramePr>
          <p:cNvPr id="111" name="对象 110"/>
          <p:cNvGraphicFramePr>
            <a:graphicFrameLocks noChangeAspect="1"/>
          </p:cNvGraphicFramePr>
          <p:nvPr/>
        </p:nvGraphicFramePr>
        <p:xfrm>
          <a:off x="8014921" y="4493309"/>
          <a:ext cx="264258" cy="264258"/>
        </p:xfrm>
        <a:graphic>
          <a:graphicData uri="http://schemas.openxmlformats.org/presentationml/2006/ole">
            <mc:AlternateContent xmlns:mc="http://schemas.openxmlformats.org/markup-compatibility/2006">
              <mc:Choice xmlns:v="urn:schemas-microsoft-com:vml" Requires="v">
                <p:oleObj spid="_x0000_s112" name="Formula" r:id="rId11" imgW="885825" imgH="895350" progId="Equation.Ribbit">
                  <p:embed/>
                </p:oleObj>
              </mc:Choice>
              <mc:Fallback>
                <p:oleObj name="Formula" r:id="rId11" imgW="885825" imgH="895350" progId="Equation.Ribbit">
                  <p:embed/>
                  <p:pic>
                    <p:nvPicPr>
                      <p:cNvPr id="0" name="图片 111"/>
                      <p:cNvPicPr/>
                      <p:nvPr/>
                    </p:nvPicPr>
                    <p:blipFill>
                      <a:blip r:embed="rId12"/>
                      <a:stretch>
                        <a:fillRect/>
                      </a:stretch>
                    </p:blipFill>
                    <p:spPr>
                      <a:xfrm>
                        <a:off x="8014921" y="4493309"/>
                        <a:ext cx="264258" cy="264258"/>
                      </a:xfrm>
                      <a:prstGeom prst="rect">
                        <a:avLst/>
                      </a:prstGeom>
                    </p:spPr>
                  </p:pic>
                </p:oleObj>
              </mc:Fallback>
            </mc:AlternateContent>
          </a:graphicData>
        </a:graphic>
      </p:graphicFrame>
      <p:graphicFrame>
        <p:nvGraphicFramePr>
          <p:cNvPr id="113" name="对象 112"/>
          <p:cNvGraphicFramePr>
            <a:graphicFrameLocks noChangeAspect="1"/>
          </p:cNvGraphicFramePr>
          <p:nvPr/>
        </p:nvGraphicFramePr>
        <p:xfrm>
          <a:off x="6527753" y="4860789"/>
          <a:ext cx="325103" cy="259392"/>
        </p:xfrm>
        <a:graphic>
          <a:graphicData uri="http://schemas.openxmlformats.org/presentationml/2006/ole">
            <mc:AlternateContent xmlns:mc="http://schemas.openxmlformats.org/markup-compatibility/2006">
              <mc:Choice xmlns:v="urn:schemas-microsoft-com:vml" Requires="v">
                <p:oleObj spid="_x0000_s114" name="Formula" r:id="rId13" imgW="1114425" imgH="895350" progId="Equation.Ribbit">
                  <p:embed/>
                </p:oleObj>
              </mc:Choice>
              <mc:Fallback>
                <p:oleObj name="Formula" r:id="rId13" imgW="1114425" imgH="895350" progId="Equation.Ribbit">
                  <p:embed/>
                  <p:pic>
                    <p:nvPicPr>
                      <p:cNvPr id="0" name="图片 113"/>
                      <p:cNvPicPr/>
                      <p:nvPr/>
                    </p:nvPicPr>
                    <p:blipFill>
                      <a:blip r:embed="rId8"/>
                      <a:stretch>
                        <a:fillRect/>
                      </a:stretch>
                    </p:blipFill>
                    <p:spPr>
                      <a:xfrm>
                        <a:off x="6527753" y="4860789"/>
                        <a:ext cx="325103" cy="259392"/>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4" grpId="0" animBg="1"/>
      <p:bldP spid="10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264710" y="966370"/>
            <a:ext cx="3726187" cy="531054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多变量决策树</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单变量决策树</a:t>
            </a:r>
            <a:endParaRPr lang="en-US" altLang="zh-CN" b="1" dirty="0">
              <a:latin typeface="黑体" panose="02010609060101010101" pitchFamily="49" charset="-122"/>
              <a:ea typeface="黑体" panose="02010609060101010101" pitchFamily="49" charset="-122"/>
            </a:endParaRPr>
          </a:p>
        </p:txBody>
      </p:sp>
      <p:sp>
        <p:nvSpPr>
          <p:cNvPr id="28" name="圆角矩形 27"/>
          <p:cNvSpPr/>
          <p:nvPr/>
        </p:nvSpPr>
        <p:spPr>
          <a:xfrm>
            <a:off x="305713" y="1733405"/>
            <a:ext cx="216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含糖率</a:t>
            </a:r>
            <a:r>
              <a:rPr lang="en-US" altLang="zh-CN" sz="2200" b="1" dirty="0">
                <a:latin typeface="Palatino" panose="02040502050505030304" pitchFamily="18" charset="0"/>
              </a:rPr>
              <a:t>≤</a:t>
            </a:r>
            <a:r>
              <a:rPr lang="en-US" altLang="zh-CN" sz="2200" b="1" dirty="0">
                <a:latin typeface="Times" panose="02020603060405020304" pitchFamily="18" charset="0"/>
              </a:rPr>
              <a:t>0.126?</a:t>
            </a:r>
            <a:endParaRPr lang="zh-CN" altLang="en-US" sz="2200" b="1" dirty="0">
              <a:latin typeface="Times" panose="02020603060405020304" pitchFamily="18" charset="0"/>
            </a:endParaRPr>
          </a:p>
        </p:txBody>
      </p:sp>
      <p:sp>
        <p:nvSpPr>
          <p:cNvPr id="29" name="圆角矩形 28"/>
          <p:cNvSpPr/>
          <p:nvPr/>
        </p:nvSpPr>
        <p:spPr>
          <a:xfrm>
            <a:off x="1508599" y="2753622"/>
            <a:ext cx="180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密度</a:t>
            </a:r>
            <a:r>
              <a:rPr lang="en-US" altLang="zh-CN" sz="2200" b="1" dirty="0">
                <a:latin typeface="Palatino" panose="02040502050505030304" pitchFamily="18" charset="0"/>
              </a:rPr>
              <a:t>≤</a:t>
            </a:r>
            <a:r>
              <a:rPr lang="en-US" altLang="zh-CN" sz="2200" b="1" dirty="0">
                <a:latin typeface="Times" panose="02020603060405020304" pitchFamily="18" charset="0"/>
              </a:rPr>
              <a:t>0.381?</a:t>
            </a:r>
            <a:endParaRPr lang="zh-CN" altLang="en-US" sz="2200" b="1" dirty="0">
              <a:latin typeface="Times" panose="02020603060405020304" pitchFamily="18" charset="0"/>
            </a:endParaRPr>
          </a:p>
        </p:txBody>
      </p:sp>
      <p:sp>
        <p:nvSpPr>
          <p:cNvPr id="30" name="椭圆 29"/>
          <p:cNvSpPr/>
          <p:nvPr/>
        </p:nvSpPr>
        <p:spPr>
          <a:xfrm>
            <a:off x="1138247" y="380516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31" name="圆角矩形 30"/>
          <p:cNvSpPr/>
          <p:nvPr/>
        </p:nvSpPr>
        <p:spPr>
          <a:xfrm>
            <a:off x="1323521" y="4870464"/>
            <a:ext cx="180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密度</a:t>
            </a:r>
            <a:r>
              <a:rPr lang="en-US" altLang="zh-CN" sz="2200" b="1" dirty="0">
                <a:latin typeface="Palatino" panose="02040502050505030304" pitchFamily="18" charset="0"/>
              </a:rPr>
              <a:t>≤</a:t>
            </a:r>
            <a:r>
              <a:rPr lang="en-US" altLang="zh-CN" sz="2200" b="1" dirty="0">
                <a:latin typeface="Times" panose="02020603060405020304" pitchFamily="18" charset="0"/>
              </a:rPr>
              <a:t>0.560?</a:t>
            </a:r>
            <a:endParaRPr lang="zh-CN" altLang="en-US" sz="2200" b="1" dirty="0">
              <a:latin typeface="Times" panose="02020603060405020304" pitchFamily="18" charset="0"/>
            </a:endParaRPr>
          </a:p>
        </p:txBody>
      </p:sp>
      <p:grpSp>
        <p:nvGrpSpPr>
          <p:cNvPr id="32" name="组合 31"/>
          <p:cNvGrpSpPr/>
          <p:nvPr/>
        </p:nvGrpSpPr>
        <p:grpSpPr>
          <a:xfrm>
            <a:off x="1000070" y="5908237"/>
            <a:ext cx="2446902" cy="432000"/>
            <a:chOff x="4279045" y="4439240"/>
            <a:chExt cx="2446902" cy="432000"/>
          </a:xfrm>
        </p:grpSpPr>
        <p:sp>
          <p:nvSpPr>
            <p:cNvPr id="33" name="椭圆 32"/>
            <p:cNvSpPr/>
            <p:nvPr/>
          </p:nvSpPr>
          <p:spPr>
            <a:xfrm>
              <a:off x="5645947" y="443924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34" name="椭圆 33"/>
            <p:cNvSpPr/>
            <p:nvPr/>
          </p:nvSpPr>
          <p:spPr>
            <a:xfrm>
              <a:off x="4279045" y="4439240"/>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grpSp>
      <p:sp>
        <p:nvSpPr>
          <p:cNvPr id="35" name="文本框 10"/>
          <p:cNvSpPr txBox="1"/>
          <p:nvPr/>
        </p:nvSpPr>
        <p:spPr>
          <a:xfrm>
            <a:off x="1330973" y="5421526"/>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是</a:t>
            </a:r>
            <a:endParaRPr lang="zh-CN" altLang="en-US" b="1" dirty="0">
              <a:latin typeface="楷体" panose="02010609060101010101" pitchFamily="49" charset="-122"/>
              <a:ea typeface="楷体" panose="02010609060101010101" pitchFamily="49" charset="-122"/>
            </a:endParaRPr>
          </a:p>
        </p:txBody>
      </p:sp>
      <p:cxnSp>
        <p:nvCxnSpPr>
          <p:cNvPr id="36" name="直接连接符 35"/>
          <p:cNvCxnSpPr/>
          <p:nvPr/>
        </p:nvCxnSpPr>
        <p:spPr>
          <a:xfrm flipH="1">
            <a:off x="1578501" y="5302464"/>
            <a:ext cx="420614" cy="607721"/>
          </a:xfrm>
          <a:prstGeom prst="line">
            <a:avLst/>
          </a:prstGeom>
        </p:spPr>
        <p:style>
          <a:lnRef idx="1">
            <a:schemeClr val="dk1"/>
          </a:lnRef>
          <a:fillRef idx="0">
            <a:schemeClr val="dk1"/>
          </a:fillRef>
          <a:effectRef idx="0">
            <a:schemeClr val="dk1"/>
          </a:effectRef>
          <a:fontRef idx="minor">
            <a:schemeClr val="tx1"/>
          </a:fontRef>
        </p:style>
      </p:cxnSp>
      <p:cxnSp>
        <p:nvCxnSpPr>
          <p:cNvPr id="37" name="直接连接符 36"/>
          <p:cNvCxnSpPr/>
          <p:nvPr/>
        </p:nvCxnSpPr>
        <p:spPr>
          <a:xfrm>
            <a:off x="2486358" y="5300516"/>
            <a:ext cx="420614" cy="607721"/>
          </a:xfrm>
          <a:prstGeom prst="line">
            <a:avLst/>
          </a:prstGeom>
        </p:spPr>
        <p:style>
          <a:lnRef idx="1">
            <a:schemeClr val="dk1"/>
          </a:lnRef>
          <a:fillRef idx="0">
            <a:schemeClr val="dk1"/>
          </a:fillRef>
          <a:effectRef idx="0">
            <a:schemeClr val="dk1"/>
          </a:effectRef>
          <a:fontRef idx="minor">
            <a:schemeClr val="tx1"/>
          </a:fontRef>
        </p:style>
      </p:cxnSp>
      <p:sp>
        <p:nvSpPr>
          <p:cNvPr id="38" name="文本框 13"/>
          <p:cNvSpPr txBox="1"/>
          <p:nvPr/>
        </p:nvSpPr>
        <p:spPr>
          <a:xfrm>
            <a:off x="2701206" y="5419710"/>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否</a:t>
            </a:r>
            <a:endParaRPr lang="zh-CN" altLang="en-US" b="1" dirty="0">
              <a:latin typeface="楷体" panose="02010609060101010101" pitchFamily="49" charset="-122"/>
              <a:ea typeface="楷体" panose="02010609060101010101" pitchFamily="49" charset="-122"/>
            </a:endParaRPr>
          </a:p>
        </p:txBody>
      </p:sp>
      <p:sp>
        <p:nvSpPr>
          <p:cNvPr id="39" name="椭圆 38"/>
          <p:cNvSpPr/>
          <p:nvPr/>
        </p:nvSpPr>
        <p:spPr>
          <a:xfrm>
            <a:off x="3499727" y="4864507"/>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好瓜</a:t>
            </a:r>
            <a:endParaRPr lang="zh-CN" altLang="en-US" sz="2200" b="1" dirty="0"/>
          </a:p>
        </p:txBody>
      </p:sp>
      <p:sp>
        <p:nvSpPr>
          <p:cNvPr id="40" name="文本框 15"/>
          <p:cNvSpPr txBox="1"/>
          <p:nvPr/>
        </p:nvSpPr>
        <p:spPr>
          <a:xfrm>
            <a:off x="2471963" y="4375848"/>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是</a:t>
            </a:r>
            <a:endParaRPr lang="zh-CN" altLang="en-US" b="1" dirty="0">
              <a:latin typeface="楷体" panose="02010609060101010101" pitchFamily="49" charset="-122"/>
              <a:ea typeface="楷体" panose="02010609060101010101" pitchFamily="49" charset="-122"/>
            </a:endParaRPr>
          </a:p>
        </p:txBody>
      </p:sp>
      <p:cxnSp>
        <p:nvCxnSpPr>
          <p:cNvPr id="41" name="直接连接符 40"/>
          <p:cNvCxnSpPr/>
          <p:nvPr/>
        </p:nvCxnSpPr>
        <p:spPr>
          <a:xfrm flipH="1">
            <a:off x="2719491" y="4256786"/>
            <a:ext cx="420614" cy="607721"/>
          </a:xfrm>
          <a:prstGeom prst="line">
            <a:avLst/>
          </a:prstGeom>
        </p:spPr>
        <p:style>
          <a:lnRef idx="1">
            <a:schemeClr val="dk1"/>
          </a:lnRef>
          <a:fillRef idx="0">
            <a:schemeClr val="dk1"/>
          </a:fillRef>
          <a:effectRef idx="0">
            <a:schemeClr val="dk1"/>
          </a:effectRef>
          <a:fontRef idx="minor">
            <a:schemeClr val="tx1"/>
          </a:fontRef>
        </p:style>
      </p:cxnSp>
      <p:cxnSp>
        <p:nvCxnSpPr>
          <p:cNvPr id="42" name="直接连接符 41"/>
          <p:cNvCxnSpPr/>
          <p:nvPr/>
        </p:nvCxnSpPr>
        <p:spPr>
          <a:xfrm>
            <a:off x="3627348" y="4254838"/>
            <a:ext cx="420614" cy="607721"/>
          </a:xfrm>
          <a:prstGeom prst="line">
            <a:avLst/>
          </a:prstGeom>
        </p:spPr>
        <p:style>
          <a:lnRef idx="1">
            <a:schemeClr val="dk1"/>
          </a:lnRef>
          <a:fillRef idx="0">
            <a:schemeClr val="dk1"/>
          </a:fillRef>
          <a:effectRef idx="0">
            <a:schemeClr val="dk1"/>
          </a:effectRef>
          <a:fontRef idx="minor">
            <a:schemeClr val="tx1"/>
          </a:fontRef>
        </p:style>
      </p:cxnSp>
      <p:sp>
        <p:nvSpPr>
          <p:cNvPr id="44" name="圆角矩形 43"/>
          <p:cNvSpPr/>
          <p:nvPr/>
        </p:nvSpPr>
        <p:spPr>
          <a:xfrm>
            <a:off x="2334602" y="3805160"/>
            <a:ext cx="2160000"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latin typeface="Times" panose="02020603060405020304" pitchFamily="18" charset="0"/>
              </a:rPr>
              <a:t>含糖率</a:t>
            </a:r>
            <a:r>
              <a:rPr lang="en-US" altLang="zh-CN" sz="2200" b="1" dirty="0">
                <a:latin typeface="Palatino" panose="02040502050505030304" pitchFamily="18" charset="0"/>
              </a:rPr>
              <a:t>≤</a:t>
            </a:r>
            <a:r>
              <a:rPr lang="en-US" altLang="zh-CN" sz="2200" b="1" dirty="0">
                <a:latin typeface="Times" panose="02020603060405020304" pitchFamily="18" charset="0"/>
              </a:rPr>
              <a:t>0.205?</a:t>
            </a:r>
            <a:endParaRPr lang="zh-CN" altLang="en-US" sz="2200" b="1" dirty="0">
              <a:latin typeface="Times" panose="02020603060405020304" pitchFamily="18" charset="0"/>
            </a:endParaRPr>
          </a:p>
        </p:txBody>
      </p:sp>
      <p:sp>
        <p:nvSpPr>
          <p:cNvPr id="45" name="文本框 20"/>
          <p:cNvSpPr txBox="1"/>
          <p:nvPr/>
        </p:nvSpPr>
        <p:spPr>
          <a:xfrm>
            <a:off x="1411928" y="3323530"/>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是</a:t>
            </a:r>
            <a:endParaRPr lang="zh-CN" altLang="en-US" b="1" dirty="0">
              <a:latin typeface="楷体" panose="02010609060101010101" pitchFamily="49" charset="-122"/>
              <a:ea typeface="楷体" panose="02010609060101010101" pitchFamily="49" charset="-122"/>
            </a:endParaRPr>
          </a:p>
        </p:txBody>
      </p:sp>
      <p:cxnSp>
        <p:nvCxnSpPr>
          <p:cNvPr id="46" name="直接连接符 45"/>
          <p:cNvCxnSpPr/>
          <p:nvPr/>
        </p:nvCxnSpPr>
        <p:spPr>
          <a:xfrm flipH="1">
            <a:off x="1659456" y="3204468"/>
            <a:ext cx="420614" cy="607721"/>
          </a:xfrm>
          <a:prstGeom prst="line">
            <a:avLst/>
          </a:prstGeom>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567313" y="3202520"/>
            <a:ext cx="420614" cy="607721"/>
          </a:xfrm>
          <a:prstGeom prst="line">
            <a:avLst/>
          </a:prstGeom>
        </p:spPr>
        <p:style>
          <a:lnRef idx="1">
            <a:schemeClr val="dk1"/>
          </a:lnRef>
          <a:fillRef idx="0">
            <a:schemeClr val="dk1"/>
          </a:fillRef>
          <a:effectRef idx="0">
            <a:schemeClr val="dk1"/>
          </a:effectRef>
          <a:fontRef idx="minor">
            <a:schemeClr val="tx1"/>
          </a:fontRef>
        </p:style>
      </p:cxnSp>
      <p:sp>
        <p:nvSpPr>
          <p:cNvPr id="48" name="文本框 23"/>
          <p:cNvSpPr txBox="1"/>
          <p:nvPr/>
        </p:nvSpPr>
        <p:spPr>
          <a:xfrm>
            <a:off x="2782161" y="3321714"/>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否</a:t>
            </a:r>
            <a:endParaRPr lang="zh-CN" altLang="en-US" b="1" dirty="0">
              <a:latin typeface="楷体" panose="02010609060101010101" pitchFamily="49" charset="-122"/>
              <a:ea typeface="楷体" panose="02010609060101010101" pitchFamily="49" charset="-122"/>
            </a:endParaRPr>
          </a:p>
        </p:txBody>
      </p:sp>
      <p:sp>
        <p:nvSpPr>
          <p:cNvPr id="49" name="椭圆 48"/>
          <p:cNvSpPr/>
          <p:nvPr/>
        </p:nvSpPr>
        <p:spPr>
          <a:xfrm>
            <a:off x="58247" y="2753622"/>
            <a:ext cx="1080000"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坏瓜</a:t>
            </a:r>
            <a:endParaRPr lang="zh-CN" altLang="en-US" sz="2200" b="1" dirty="0"/>
          </a:p>
        </p:txBody>
      </p:sp>
      <p:sp>
        <p:nvSpPr>
          <p:cNvPr id="50" name="文本框 25"/>
          <p:cNvSpPr txBox="1"/>
          <p:nvPr/>
        </p:nvSpPr>
        <p:spPr>
          <a:xfrm>
            <a:off x="445203" y="2275740"/>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是</a:t>
            </a:r>
            <a:endParaRPr lang="zh-CN" altLang="en-US" b="1" dirty="0">
              <a:latin typeface="楷体" panose="02010609060101010101" pitchFamily="49" charset="-122"/>
              <a:ea typeface="楷体" panose="02010609060101010101" pitchFamily="49" charset="-122"/>
            </a:endParaRPr>
          </a:p>
        </p:txBody>
      </p:sp>
      <p:cxnSp>
        <p:nvCxnSpPr>
          <p:cNvPr id="51" name="直接连接符 50"/>
          <p:cNvCxnSpPr/>
          <p:nvPr/>
        </p:nvCxnSpPr>
        <p:spPr>
          <a:xfrm flipH="1">
            <a:off x="692731" y="2156678"/>
            <a:ext cx="420614" cy="607721"/>
          </a:xfrm>
          <a:prstGeom prst="line">
            <a:avLst/>
          </a:prstGeom>
        </p:spPr>
        <p:style>
          <a:lnRef idx="1">
            <a:schemeClr val="dk1"/>
          </a:lnRef>
          <a:fillRef idx="0">
            <a:schemeClr val="dk1"/>
          </a:fillRef>
          <a:effectRef idx="0">
            <a:schemeClr val="dk1"/>
          </a:effectRef>
          <a:fontRef idx="minor">
            <a:schemeClr val="tx1"/>
          </a:fontRef>
        </p:style>
      </p:cxnSp>
      <p:cxnSp>
        <p:nvCxnSpPr>
          <p:cNvPr id="52" name="直接连接符 51"/>
          <p:cNvCxnSpPr/>
          <p:nvPr/>
        </p:nvCxnSpPr>
        <p:spPr>
          <a:xfrm>
            <a:off x="1600588" y="2154730"/>
            <a:ext cx="420614" cy="607721"/>
          </a:xfrm>
          <a:prstGeom prst="line">
            <a:avLst/>
          </a:prstGeom>
        </p:spPr>
        <p:style>
          <a:lnRef idx="1">
            <a:schemeClr val="dk1"/>
          </a:lnRef>
          <a:fillRef idx="0">
            <a:schemeClr val="dk1"/>
          </a:fillRef>
          <a:effectRef idx="0">
            <a:schemeClr val="dk1"/>
          </a:effectRef>
          <a:fontRef idx="minor">
            <a:schemeClr val="tx1"/>
          </a:fontRef>
        </p:style>
      </p:cxnSp>
      <p:sp>
        <p:nvSpPr>
          <p:cNvPr id="53" name="文本框 28"/>
          <p:cNvSpPr txBox="1"/>
          <p:nvPr/>
        </p:nvSpPr>
        <p:spPr>
          <a:xfrm>
            <a:off x="1815436" y="2273924"/>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否</a:t>
            </a:r>
            <a:endParaRPr lang="zh-CN" altLang="en-US" b="1" dirty="0">
              <a:latin typeface="楷体" panose="02010609060101010101" pitchFamily="49" charset="-122"/>
              <a:ea typeface="楷体" panose="02010609060101010101" pitchFamily="49" charset="-122"/>
            </a:endParaRPr>
          </a:p>
        </p:txBody>
      </p:sp>
      <p:grpSp>
        <p:nvGrpSpPr>
          <p:cNvPr id="6" name="组合 5"/>
          <p:cNvGrpSpPr/>
          <p:nvPr/>
        </p:nvGrpSpPr>
        <p:grpSpPr>
          <a:xfrm>
            <a:off x="4639516" y="2079729"/>
            <a:ext cx="4338124" cy="3009987"/>
            <a:chOff x="4639516" y="2079729"/>
            <a:chExt cx="4338124" cy="3009987"/>
          </a:xfrm>
        </p:grpSpPr>
        <p:sp>
          <p:nvSpPr>
            <p:cNvPr id="5" name="右箭头 4"/>
            <p:cNvSpPr/>
            <p:nvPr/>
          </p:nvSpPr>
          <p:spPr>
            <a:xfrm>
              <a:off x="4639516" y="3287813"/>
              <a:ext cx="443884" cy="3334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直接箭头连接符 61"/>
            <p:cNvCxnSpPr/>
            <p:nvPr/>
          </p:nvCxnSpPr>
          <p:spPr>
            <a:xfrm flipH="1" flipV="1">
              <a:off x="5925837" y="2079729"/>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63" name="直接箭头连接符 62"/>
            <p:cNvCxnSpPr/>
            <p:nvPr/>
          </p:nvCxnSpPr>
          <p:spPr>
            <a:xfrm>
              <a:off x="5917640" y="4599789"/>
              <a:ext cx="30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4" name="文本框 11"/>
            <p:cNvSpPr txBox="1"/>
            <p:nvPr/>
          </p:nvSpPr>
          <p:spPr>
            <a:xfrm>
              <a:off x="5735741" y="4518262"/>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cxnSp>
          <p:nvCxnSpPr>
            <p:cNvPr id="65" name="直接连接符 64"/>
            <p:cNvCxnSpPr/>
            <p:nvPr/>
          </p:nvCxnSpPr>
          <p:spPr>
            <a:xfrm>
              <a:off x="655564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66" name="直接连接符 65"/>
            <p:cNvCxnSpPr/>
            <p:nvPr/>
          </p:nvCxnSpPr>
          <p:spPr>
            <a:xfrm>
              <a:off x="717783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67" name="直接连接符 66"/>
            <p:cNvCxnSpPr/>
            <p:nvPr/>
          </p:nvCxnSpPr>
          <p:spPr>
            <a:xfrm>
              <a:off x="7800027" y="4528229"/>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接连接符 67"/>
            <p:cNvCxnSpPr/>
            <p:nvPr/>
          </p:nvCxnSpPr>
          <p:spPr>
            <a:xfrm>
              <a:off x="8422217" y="4528229"/>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69" name="文本框 40"/>
            <p:cNvSpPr txBox="1"/>
            <p:nvPr/>
          </p:nvSpPr>
          <p:spPr>
            <a:xfrm>
              <a:off x="6327050" y="4556804"/>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70" name="文本框 41"/>
            <p:cNvSpPr txBox="1"/>
            <p:nvPr/>
          </p:nvSpPr>
          <p:spPr>
            <a:xfrm>
              <a:off x="6949471" y="4556804"/>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71" name="文本框 42"/>
            <p:cNvSpPr txBox="1"/>
            <p:nvPr/>
          </p:nvSpPr>
          <p:spPr>
            <a:xfrm>
              <a:off x="7571892" y="4556804"/>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sp>
          <p:nvSpPr>
            <p:cNvPr id="72" name="文本框 43"/>
            <p:cNvSpPr txBox="1"/>
            <p:nvPr/>
          </p:nvSpPr>
          <p:spPr>
            <a:xfrm>
              <a:off x="8194313" y="4556804"/>
              <a:ext cx="453970" cy="307777"/>
            </a:xfrm>
            <a:prstGeom prst="rect">
              <a:avLst/>
            </a:prstGeom>
            <a:noFill/>
          </p:spPr>
          <p:txBody>
            <a:bodyPr wrap="none" rtlCol="0">
              <a:spAutoFit/>
            </a:bodyPr>
            <a:lstStyle/>
            <a:p>
              <a:r>
                <a:rPr lang="en-US" altLang="zh-CN" sz="1400" dirty="0">
                  <a:latin typeface="Times "/>
                </a:rPr>
                <a:t>0.8</a:t>
              </a:r>
              <a:endParaRPr lang="zh-CN" altLang="en-US" sz="1400" dirty="0">
                <a:latin typeface="Times "/>
              </a:endParaRPr>
            </a:p>
          </p:txBody>
        </p:sp>
        <p:cxnSp>
          <p:nvCxnSpPr>
            <p:cNvPr id="73" name="直接连接符 72"/>
            <p:cNvCxnSpPr/>
            <p:nvPr/>
          </p:nvCxnSpPr>
          <p:spPr>
            <a:xfrm rot="5400000">
              <a:off x="5962197" y="2693060"/>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74" name="直接连接符 73"/>
            <p:cNvCxnSpPr/>
            <p:nvPr/>
          </p:nvCxnSpPr>
          <p:spPr>
            <a:xfrm rot="5400000">
              <a:off x="5962197" y="3316636"/>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rot="5400000">
              <a:off x="5962197" y="3940212"/>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76" name="文本框 52"/>
            <p:cNvSpPr txBox="1"/>
            <p:nvPr/>
          </p:nvSpPr>
          <p:spPr>
            <a:xfrm>
              <a:off x="5505240" y="3822323"/>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77" name="文本框 53"/>
            <p:cNvSpPr txBox="1"/>
            <p:nvPr/>
          </p:nvSpPr>
          <p:spPr>
            <a:xfrm>
              <a:off x="5505240" y="3198747"/>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78" name="文本框 54"/>
            <p:cNvSpPr txBox="1"/>
            <p:nvPr/>
          </p:nvSpPr>
          <p:spPr>
            <a:xfrm>
              <a:off x="5505240" y="2575171"/>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grpSp>
          <p:nvGrpSpPr>
            <p:cNvPr id="79" name="组合 78"/>
            <p:cNvGrpSpPr/>
            <p:nvPr/>
          </p:nvGrpSpPr>
          <p:grpSpPr>
            <a:xfrm>
              <a:off x="6026986" y="2316117"/>
              <a:ext cx="953322" cy="597182"/>
              <a:chOff x="2902949" y="2313167"/>
              <a:chExt cx="953322" cy="597182"/>
            </a:xfrm>
          </p:grpSpPr>
          <p:grpSp>
            <p:nvGrpSpPr>
              <p:cNvPr id="80" name="组合 79"/>
              <p:cNvGrpSpPr/>
              <p:nvPr/>
            </p:nvGrpSpPr>
            <p:grpSpPr>
              <a:xfrm>
                <a:off x="2902949" y="2313167"/>
                <a:ext cx="953322" cy="597182"/>
                <a:chOff x="5860991" y="1513622"/>
                <a:chExt cx="953322" cy="597182"/>
              </a:xfrm>
            </p:grpSpPr>
            <p:sp>
              <p:nvSpPr>
                <p:cNvPr id="84" name="矩形 83"/>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5" name="文本框 59"/>
                <p:cNvSpPr txBox="1"/>
                <p:nvPr/>
              </p:nvSpPr>
              <p:spPr>
                <a:xfrm>
                  <a:off x="6219278" y="151362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好瓜</a:t>
                  </a:r>
                  <a:endParaRPr lang="zh-CN" altLang="en-US" sz="1600" dirty="0">
                    <a:latin typeface="楷体" panose="02010609060101010101" pitchFamily="49" charset="-122"/>
                    <a:ea typeface="楷体" panose="02010609060101010101" pitchFamily="49" charset="-122"/>
                  </a:endParaRPr>
                </a:p>
              </p:txBody>
            </p:sp>
            <p:sp>
              <p:nvSpPr>
                <p:cNvPr id="86" name="文本框 60"/>
                <p:cNvSpPr txBox="1"/>
                <p:nvPr/>
              </p:nvSpPr>
              <p:spPr>
                <a:xfrm>
                  <a:off x="6219278" y="177225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坏瓜</a:t>
                  </a:r>
                  <a:endParaRPr lang="zh-CN" altLang="en-US" sz="1600" dirty="0">
                    <a:latin typeface="楷体" panose="02010609060101010101" pitchFamily="49" charset="-122"/>
                    <a:ea typeface="楷体" panose="02010609060101010101" pitchFamily="49" charset="-122"/>
                  </a:endParaRPr>
                </a:p>
              </p:txBody>
            </p:sp>
            <p:cxnSp>
              <p:nvCxnSpPr>
                <p:cNvPr id="87" name="直接连接符 86"/>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1" name="组合 80"/>
              <p:cNvGrpSpPr/>
              <p:nvPr/>
            </p:nvGrpSpPr>
            <p:grpSpPr>
              <a:xfrm>
                <a:off x="3043927" y="2444745"/>
                <a:ext cx="108000" cy="108000"/>
                <a:chOff x="5476803" y="2392530"/>
                <a:chExt cx="108000" cy="108000"/>
              </a:xfrm>
            </p:grpSpPr>
            <p:cxnSp>
              <p:nvCxnSpPr>
                <p:cNvPr id="82" name="直接连接符 8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88" name="组合 87"/>
            <p:cNvGrpSpPr/>
            <p:nvPr/>
          </p:nvGrpSpPr>
          <p:grpSpPr>
            <a:xfrm>
              <a:off x="8074715" y="3092607"/>
              <a:ext cx="108000" cy="108000"/>
              <a:chOff x="5476803" y="2392530"/>
              <a:chExt cx="108000" cy="108000"/>
            </a:xfrm>
          </p:grpSpPr>
          <p:cxnSp>
            <p:nvCxnSpPr>
              <p:cNvPr id="89" name="直接连接符 8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1" name="组合 90"/>
            <p:cNvGrpSpPr/>
            <p:nvPr/>
          </p:nvGrpSpPr>
          <p:grpSpPr>
            <a:xfrm>
              <a:off x="8265215" y="3454557"/>
              <a:ext cx="108000" cy="108000"/>
              <a:chOff x="5476803" y="2392530"/>
              <a:chExt cx="108000" cy="108000"/>
            </a:xfrm>
          </p:grpSpPr>
          <p:cxnSp>
            <p:nvCxnSpPr>
              <p:cNvPr id="92" name="直接连接符 9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4" name="组合 93"/>
            <p:cNvGrpSpPr/>
            <p:nvPr/>
          </p:nvGrpSpPr>
          <p:grpSpPr>
            <a:xfrm>
              <a:off x="7947915" y="3742456"/>
              <a:ext cx="108000" cy="108000"/>
              <a:chOff x="5476803" y="2392530"/>
              <a:chExt cx="108000" cy="108000"/>
            </a:xfrm>
          </p:grpSpPr>
          <p:cxnSp>
            <p:nvCxnSpPr>
              <p:cNvPr id="95" name="直接连接符 9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7" name="组合 96"/>
            <p:cNvGrpSpPr/>
            <p:nvPr/>
          </p:nvGrpSpPr>
          <p:grpSpPr>
            <a:xfrm>
              <a:off x="7773341" y="3584552"/>
              <a:ext cx="108000" cy="108000"/>
              <a:chOff x="5476803" y="2392530"/>
              <a:chExt cx="108000" cy="108000"/>
            </a:xfrm>
          </p:grpSpPr>
          <p:cxnSp>
            <p:nvCxnSpPr>
              <p:cNvPr id="98" name="直接连接符 9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0" name="组合 99"/>
            <p:cNvGrpSpPr/>
            <p:nvPr/>
          </p:nvGrpSpPr>
          <p:grpSpPr>
            <a:xfrm>
              <a:off x="7412414" y="3826901"/>
              <a:ext cx="108000" cy="108000"/>
              <a:chOff x="5476803" y="2392530"/>
              <a:chExt cx="108000" cy="108000"/>
            </a:xfrm>
          </p:grpSpPr>
          <p:cxnSp>
            <p:nvCxnSpPr>
              <p:cNvPr id="101" name="直接连接符 10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2" name="直接连接符 10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3" name="组合 102"/>
            <p:cNvGrpSpPr/>
            <p:nvPr/>
          </p:nvGrpSpPr>
          <p:grpSpPr>
            <a:xfrm>
              <a:off x="7131726" y="3744230"/>
              <a:ext cx="108000" cy="108000"/>
              <a:chOff x="5476803" y="2392530"/>
              <a:chExt cx="108000" cy="108000"/>
            </a:xfrm>
          </p:grpSpPr>
          <p:cxnSp>
            <p:nvCxnSpPr>
              <p:cNvPr id="104" name="直接连接符 10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6" name="组合 105"/>
            <p:cNvGrpSpPr/>
            <p:nvPr/>
          </p:nvGrpSpPr>
          <p:grpSpPr>
            <a:xfrm>
              <a:off x="7382519" y="4092869"/>
              <a:ext cx="108000" cy="108000"/>
              <a:chOff x="5476803" y="2392530"/>
              <a:chExt cx="108000" cy="108000"/>
            </a:xfrm>
          </p:grpSpPr>
          <p:cxnSp>
            <p:nvCxnSpPr>
              <p:cNvPr id="107" name="直接连接符 10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8" name="直接连接符 10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9" name="组合 108"/>
            <p:cNvGrpSpPr/>
            <p:nvPr/>
          </p:nvGrpSpPr>
          <p:grpSpPr>
            <a:xfrm>
              <a:off x="7239644" y="3837599"/>
              <a:ext cx="108000" cy="108000"/>
              <a:chOff x="5476803" y="2392530"/>
              <a:chExt cx="108000" cy="108000"/>
            </a:xfrm>
          </p:grpSpPr>
          <p:cxnSp>
            <p:nvCxnSpPr>
              <p:cNvPr id="110" name="直接连接符 10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1" name="直接连接符 11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12" name="直接连接符 111"/>
            <p:cNvCxnSpPr/>
            <p:nvPr/>
          </p:nvCxnSpPr>
          <p:spPr>
            <a:xfrm>
              <a:off x="8001915" y="430746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3" name="直接连接符 112"/>
            <p:cNvCxnSpPr/>
            <p:nvPr/>
          </p:nvCxnSpPr>
          <p:spPr>
            <a:xfrm>
              <a:off x="6727020" y="377704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4" name="直接连接符 113"/>
            <p:cNvCxnSpPr/>
            <p:nvPr/>
          </p:nvCxnSpPr>
          <p:spPr>
            <a:xfrm>
              <a:off x="6752445" y="443427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5" name="直接连接符 114"/>
            <p:cNvCxnSpPr/>
            <p:nvPr/>
          </p:nvCxnSpPr>
          <p:spPr>
            <a:xfrm>
              <a:off x="6924706" y="427073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6" name="直接连接符 115"/>
            <p:cNvCxnSpPr/>
            <p:nvPr/>
          </p:nvCxnSpPr>
          <p:spPr>
            <a:xfrm>
              <a:off x="7917862" y="411867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接连接符 116"/>
            <p:cNvCxnSpPr/>
            <p:nvPr/>
          </p:nvCxnSpPr>
          <p:spPr>
            <a:xfrm>
              <a:off x="7963565" y="3988241"/>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a:off x="6920896" y="359255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9" name="直接连接符 118"/>
            <p:cNvCxnSpPr/>
            <p:nvPr/>
          </p:nvCxnSpPr>
          <p:spPr>
            <a:xfrm>
              <a:off x="7736690" y="448189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0" name="直接连接符 119"/>
            <p:cNvCxnSpPr/>
            <p:nvPr/>
          </p:nvCxnSpPr>
          <p:spPr>
            <a:xfrm>
              <a:off x="8084124" y="4262587"/>
              <a:ext cx="108000" cy="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文本框 104"/>
            <p:cNvSpPr txBox="1"/>
            <p:nvPr/>
          </p:nvSpPr>
          <p:spPr>
            <a:xfrm>
              <a:off x="7154901" y="475116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密度</a:t>
              </a:r>
              <a:endParaRPr lang="zh-CN" altLang="en-US" sz="1600" dirty="0">
                <a:latin typeface="楷体" panose="02010609060101010101" pitchFamily="49" charset="-122"/>
                <a:ea typeface="楷体" panose="02010609060101010101" pitchFamily="49" charset="-122"/>
              </a:endParaRPr>
            </a:p>
          </p:txBody>
        </p:sp>
        <p:sp>
          <p:nvSpPr>
            <p:cNvPr id="122" name="文本框 105"/>
            <p:cNvSpPr txBox="1"/>
            <p:nvPr/>
          </p:nvSpPr>
          <p:spPr>
            <a:xfrm>
              <a:off x="5249495" y="2765238"/>
              <a:ext cx="430887" cy="707886"/>
            </a:xfrm>
            <a:prstGeom prst="rect">
              <a:avLst/>
            </a:prstGeom>
            <a:noFill/>
          </p:spPr>
          <p:txBody>
            <a:bodyPr vert="eaVert" wrap="none" rtlCol="0">
              <a:spAutoFit/>
            </a:bodyPr>
            <a:lstStyle/>
            <a:p>
              <a:r>
                <a:rPr lang="zh-CN" altLang="en-US" sz="1600" dirty="0">
                  <a:latin typeface="楷体" panose="02010609060101010101" pitchFamily="49" charset="-122"/>
                  <a:ea typeface="楷体" panose="02010609060101010101" pitchFamily="49" charset="-122"/>
                </a:rPr>
                <a:t>含糖率</a:t>
              </a:r>
              <a:endParaRPr lang="zh-CN" altLang="en-US" sz="1600" dirty="0">
                <a:latin typeface="楷体" panose="02010609060101010101" pitchFamily="49" charset="-122"/>
                <a:ea typeface="楷体" panose="02010609060101010101" pitchFamily="49" charset="-122"/>
              </a:endParaRPr>
            </a:p>
          </p:txBody>
        </p:sp>
        <p:cxnSp>
          <p:nvCxnSpPr>
            <p:cNvPr id="123" name="直接连接符 122"/>
            <p:cNvCxnSpPr/>
            <p:nvPr/>
          </p:nvCxnSpPr>
          <p:spPr>
            <a:xfrm>
              <a:off x="7055091" y="4209221"/>
              <a:ext cx="468000" cy="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57797" y="2746136"/>
              <a:ext cx="2194" cy="1476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504671" y="3927226"/>
              <a:ext cx="1152000" cy="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7514616" y="3929007"/>
              <a:ext cx="2194" cy="288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7" name="文本框 13"/>
          <p:cNvSpPr txBox="1"/>
          <p:nvPr/>
        </p:nvSpPr>
        <p:spPr>
          <a:xfrm>
            <a:off x="3908765" y="4351274"/>
            <a:ext cx="415498" cy="369332"/>
          </a:xfrm>
          <a:prstGeom prst="rect">
            <a:avLst/>
          </a:prstGeom>
          <a:noFill/>
        </p:spPr>
        <p:txBody>
          <a:bodyPr wrap="none" rtlCol="0">
            <a:spAutoFit/>
          </a:bodyPr>
          <a:lstStyle/>
          <a:p>
            <a:r>
              <a:rPr lang="zh-CN" altLang="en-US" b="1" dirty="0">
                <a:latin typeface="楷体" panose="02010609060101010101" pitchFamily="49" charset="-122"/>
                <a:ea typeface="楷体" panose="02010609060101010101" pitchFamily="49" charset="-122"/>
              </a:rPr>
              <a:t>否</a:t>
            </a:r>
            <a:endParaRPr lang="zh-CN" altLang="en-US" b="1" dirty="0">
              <a:latin typeface="楷体" panose="02010609060101010101" pitchFamily="49" charset="-122"/>
              <a:ea typeface="楷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多变量决策树</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1160381"/>
            <a:ext cx="8616950" cy="4930775"/>
          </a:xfrm>
        </p:spPr>
        <p:txBody>
          <a:bodyPr/>
          <a:lstStyle/>
          <a:p>
            <a:r>
              <a:rPr lang="zh-CN" altLang="en-US" b="1" dirty="0">
                <a:latin typeface="黑体" panose="02010609060101010101" pitchFamily="49" charset="-122"/>
                <a:ea typeface="黑体" panose="02010609060101010101" pitchFamily="49" charset="-122"/>
              </a:rPr>
              <a:t>多变量决策树</a:t>
            </a:r>
            <a:endParaRPr lang="en-US" altLang="zh-CN" b="1" dirty="0">
              <a:latin typeface="黑体" panose="02010609060101010101" pitchFamily="49" charset="-122"/>
              <a:ea typeface="黑体" panose="02010609060101010101" pitchFamily="49" charset="-122"/>
            </a:endParaRPr>
          </a:p>
        </p:txBody>
      </p:sp>
      <p:sp>
        <p:nvSpPr>
          <p:cNvPr id="252" name="圆角矩形 251"/>
          <p:cNvSpPr/>
          <p:nvPr/>
        </p:nvSpPr>
        <p:spPr>
          <a:xfrm>
            <a:off x="1095639" y="2192857"/>
            <a:ext cx="3543178"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b="1" dirty="0">
              <a:latin typeface="Times" panose="02020603060405020304" pitchFamily="18" charset="0"/>
              <a:cs typeface="Times New Roman" panose="02020603050405020304" pitchFamily="18" charset="0"/>
            </a:endParaRPr>
          </a:p>
        </p:txBody>
      </p:sp>
      <p:sp>
        <p:nvSpPr>
          <p:cNvPr id="253" name="椭圆 252"/>
          <p:cNvSpPr/>
          <p:nvPr/>
        </p:nvSpPr>
        <p:spPr>
          <a:xfrm>
            <a:off x="4391770" y="3323332"/>
            <a:ext cx="786647"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坏瓜</a:t>
            </a:r>
            <a:endParaRPr lang="zh-CN" altLang="en-US" sz="1600" b="1" dirty="0"/>
          </a:p>
        </p:txBody>
      </p:sp>
      <p:sp>
        <p:nvSpPr>
          <p:cNvPr id="254" name="文本框 6"/>
          <p:cNvSpPr txBox="1"/>
          <p:nvPr/>
        </p:nvSpPr>
        <p:spPr>
          <a:xfrm>
            <a:off x="1993137" y="2745867"/>
            <a:ext cx="302639" cy="338554"/>
          </a:xfrm>
          <a:prstGeom prst="rect">
            <a:avLst/>
          </a:prstGeom>
          <a:noFill/>
        </p:spPr>
        <p:txBody>
          <a:bodyPr wrap="square" rtlCol="0">
            <a:spAutoFit/>
          </a:bodyPr>
          <a:lstStyle/>
          <a:p>
            <a:r>
              <a:rPr lang="zh-CN" altLang="en-US" sz="1600" b="1" dirty="0">
                <a:latin typeface="楷体" panose="02010609060101010101" pitchFamily="49" charset="-122"/>
                <a:ea typeface="楷体" panose="02010609060101010101" pitchFamily="49" charset="-122"/>
              </a:rPr>
              <a:t>是</a:t>
            </a:r>
            <a:endParaRPr lang="zh-CN" altLang="en-US" sz="1600" b="1" dirty="0">
              <a:latin typeface="楷体" panose="02010609060101010101" pitchFamily="49" charset="-122"/>
              <a:ea typeface="楷体" panose="02010609060101010101" pitchFamily="49" charset="-122"/>
            </a:endParaRPr>
          </a:p>
        </p:txBody>
      </p:sp>
      <p:cxnSp>
        <p:nvCxnSpPr>
          <p:cNvPr id="255" name="直接连接符 254"/>
          <p:cNvCxnSpPr/>
          <p:nvPr/>
        </p:nvCxnSpPr>
        <p:spPr>
          <a:xfrm flipH="1">
            <a:off x="1374978" y="2626805"/>
            <a:ext cx="2055231" cy="621165"/>
          </a:xfrm>
          <a:prstGeom prst="line">
            <a:avLst/>
          </a:prstGeom>
        </p:spPr>
        <p:style>
          <a:lnRef idx="1">
            <a:schemeClr val="dk1"/>
          </a:lnRef>
          <a:fillRef idx="0">
            <a:schemeClr val="dk1"/>
          </a:fillRef>
          <a:effectRef idx="0">
            <a:schemeClr val="dk1"/>
          </a:effectRef>
          <a:fontRef idx="minor">
            <a:schemeClr val="tx1"/>
          </a:fontRef>
        </p:style>
      </p:cxnSp>
      <p:cxnSp>
        <p:nvCxnSpPr>
          <p:cNvPr id="256" name="直接连接符 255"/>
          <p:cNvCxnSpPr/>
          <p:nvPr/>
        </p:nvCxnSpPr>
        <p:spPr>
          <a:xfrm>
            <a:off x="3430209" y="2608971"/>
            <a:ext cx="1108310" cy="749057"/>
          </a:xfrm>
          <a:prstGeom prst="line">
            <a:avLst/>
          </a:prstGeom>
        </p:spPr>
        <p:style>
          <a:lnRef idx="1">
            <a:schemeClr val="dk1"/>
          </a:lnRef>
          <a:fillRef idx="0">
            <a:schemeClr val="dk1"/>
          </a:fillRef>
          <a:effectRef idx="0">
            <a:schemeClr val="dk1"/>
          </a:effectRef>
          <a:fontRef idx="minor">
            <a:schemeClr val="tx1"/>
          </a:fontRef>
        </p:style>
      </p:cxnSp>
      <p:sp>
        <p:nvSpPr>
          <p:cNvPr id="257" name="文本框 9"/>
          <p:cNvSpPr txBox="1"/>
          <p:nvPr/>
        </p:nvSpPr>
        <p:spPr>
          <a:xfrm>
            <a:off x="4706938" y="2745867"/>
            <a:ext cx="302639" cy="338554"/>
          </a:xfrm>
          <a:prstGeom prst="rect">
            <a:avLst/>
          </a:prstGeom>
          <a:noFill/>
        </p:spPr>
        <p:txBody>
          <a:bodyPr wrap="square" rtlCol="0">
            <a:spAutoFit/>
          </a:bodyPr>
          <a:lstStyle/>
          <a:p>
            <a:r>
              <a:rPr lang="zh-CN" altLang="en-US" sz="1600" b="1" dirty="0">
                <a:latin typeface="楷体" panose="02010609060101010101" pitchFamily="49" charset="-122"/>
                <a:ea typeface="楷体" panose="02010609060101010101" pitchFamily="49" charset="-122"/>
              </a:rPr>
              <a:t>否</a:t>
            </a:r>
            <a:endParaRPr lang="zh-CN" altLang="en-US" sz="1600" b="1" dirty="0">
              <a:latin typeface="楷体" panose="02010609060101010101" pitchFamily="49" charset="-122"/>
              <a:ea typeface="楷体" panose="02010609060101010101" pitchFamily="49" charset="-122"/>
            </a:endParaRPr>
          </a:p>
        </p:txBody>
      </p:sp>
      <p:sp>
        <p:nvSpPr>
          <p:cNvPr id="258" name="椭圆 257"/>
          <p:cNvSpPr/>
          <p:nvPr/>
        </p:nvSpPr>
        <p:spPr>
          <a:xfrm>
            <a:off x="15638" y="4301135"/>
            <a:ext cx="786647"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坏瓜</a:t>
            </a:r>
            <a:endParaRPr lang="zh-CN" altLang="en-US" sz="1600" b="1" dirty="0"/>
          </a:p>
        </p:txBody>
      </p:sp>
      <p:sp>
        <p:nvSpPr>
          <p:cNvPr id="259" name="椭圆 258"/>
          <p:cNvSpPr/>
          <p:nvPr/>
        </p:nvSpPr>
        <p:spPr>
          <a:xfrm>
            <a:off x="2350208" y="4301135"/>
            <a:ext cx="786647" cy="432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t>好瓜</a:t>
            </a:r>
            <a:endParaRPr lang="zh-CN" altLang="en-US" sz="1600" b="1" dirty="0"/>
          </a:p>
        </p:txBody>
      </p:sp>
      <p:sp>
        <p:nvSpPr>
          <p:cNvPr id="260" name="文本框 15"/>
          <p:cNvSpPr txBox="1"/>
          <p:nvPr/>
        </p:nvSpPr>
        <p:spPr>
          <a:xfrm>
            <a:off x="493387" y="3817191"/>
            <a:ext cx="302639" cy="338554"/>
          </a:xfrm>
          <a:prstGeom prst="rect">
            <a:avLst/>
          </a:prstGeom>
          <a:noFill/>
        </p:spPr>
        <p:txBody>
          <a:bodyPr wrap="square" rtlCol="0">
            <a:spAutoFit/>
          </a:bodyPr>
          <a:lstStyle/>
          <a:p>
            <a:r>
              <a:rPr lang="zh-CN" altLang="en-US" sz="1600" b="1" dirty="0">
                <a:latin typeface="楷体" panose="02010609060101010101" pitchFamily="49" charset="-122"/>
                <a:ea typeface="楷体" panose="02010609060101010101" pitchFamily="49" charset="-122"/>
              </a:rPr>
              <a:t>是</a:t>
            </a:r>
            <a:endParaRPr lang="zh-CN" altLang="en-US" sz="1600" b="1" dirty="0">
              <a:latin typeface="楷体" panose="02010609060101010101" pitchFamily="49" charset="-122"/>
              <a:ea typeface="楷体" panose="02010609060101010101" pitchFamily="49" charset="-122"/>
            </a:endParaRPr>
          </a:p>
        </p:txBody>
      </p:sp>
      <p:cxnSp>
        <p:nvCxnSpPr>
          <p:cNvPr id="261" name="直接连接符 260"/>
          <p:cNvCxnSpPr/>
          <p:nvPr/>
        </p:nvCxnSpPr>
        <p:spPr>
          <a:xfrm flipH="1">
            <a:off x="555639" y="3679970"/>
            <a:ext cx="1051424" cy="606651"/>
          </a:xfrm>
          <a:prstGeom prst="line">
            <a:avLst/>
          </a:prstGeom>
        </p:spPr>
        <p:style>
          <a:lnRef idx="1">
            <a:schemeClr val="dk1"/>
          </a:lnRef>
          <a:fillRef idx="0">
            <a:schemeClr val="dk1"/>
          </a:fillRef>
          <a:effectRef idx="0">
            <a:schemeClr val="dk1"/>
          </a:effectRef>
          <a:fontRef idx="minor">
            <a:schemeClr val="tx1"/>
          </a:fontRef>
        </p:style>
      </p:cxnSp>
      <p:cxnSp>
        <p:nvCxnSpPr>
          <p:cNvPr id="262" name="直接连接符 261"/>
          <p:cNvCxnSpPr/>
          <p:nvPr/>
        </p:nvCxnSpPr>
        <p:spPr>
          <a:xfrm>
            <a:off x="1886463" y="3667270"/>
            <a:ext cx="1003745" cy="621165"/>
          </a:xfrm>
          <a:prstGeom prst="line">
            <a:avLst/>
          </a:prstGeom>
        </p:spPr>
        <p:style>
          <a:lnRef idx="1">
            <a:schemeClr val="dk1"/>
          </a:lnRef>
          <a:fillRef idx="0">
            <a:schemeClr val="dk1"/>
          </a:fillRef>
          <a:effectRef idx="0">
            <a:schemeClr val="dk1"/>
          </a:effectRef>
          <a:fontRef idx="minor">
            <a:schemeClr val="tx1"/>
          </a:fontRef>
        </p:style>
      </p:cxnSp>
      <p:sp>
        <p:nvSpPr>
          <p:cNvPr id="263" name="文本框 18"/>
          <p:cNvSpPr txBox="1"/>
          <p:nvPr/>
        </p:nvSpPr>
        <p:spPr>
          <a:xfrm>
            <a:off x="2536961" y="3817191"/>
            <a:ext cx="302639" cy="338554"/>
          </a:xfrm>
          <a:prstGeom prst="rect">
            <a:avLst/>
          </a:prstGeom>
          <a:noFill/>
        </p:spPr>
        <p:txBody>
          <a:bodyPr wrap="square" rtlCol="0">
            <a:spAutoFit/>
          </a:bodyPr>
          <a:lstStyle/>
          <a:p>
            <a:r>
              <a:rPr lang="zh-CN" altLang="en-US" sz="1600" b="1" dirty="0">
                <a:latin typeface="楷体" panose="02010609060101010101" pitchFamily="49" charset="-122"/>
                <a:ea typeface="楷体" panose="02010609060101010101" pitchFamily="49" charset="-122"/>
              </a:rPr>
              <a:t>否</a:t>
            </a:r>
            <a:endParaRPr lang="zh-CN" altLang="en-US" sz="1600" b="1" dirty="0">
              <a:latin typeface="楷体" panose="02010609060101010101" pitchFamily="49" charset="-122"/>
              <a:ea typeface="楷体" panose="02010609060101010101" pitchFamily="49" charset="-122"/>
            </a:endParaRPr>
          </a:p>
        </p:txBody>
      </p:sp>
      <p:graphicFrame>
        <p:nvGraphicFramePr>
          <p:cNvPr id="264" name="对象 263"/>
          <p:cNvGraphicFramePr>
            <a:graphicFrameLocks noChangeAspect="1"/>
          </p:cNvGraphicFramePr>
          <p:nvPr/>
        </p:nvGraphicFramePr>
        <p:xfrm>
          <a:off x="1147727" y="2297641"/>
          <a:ext cx="3375758" cy="223826"/>
        </p:xfrm>
        <a:graphic>
          <a:graphicData uri="http://schemas.openxmlformats.org/presentationml/2006/ole">
            <mc:AlternateContent xmlns:mc="http://schemas.openxmlformats.org/markup-compatibility/2006">
              <mc:Choice xmlns:v="urn:schemas-microsoft-com:vml" Requires="v">
                <p:oleObj spid="_x0000_s27941" name="Formula" r:id="rId1" imgW="21431250" imgH="1419225" progId="Equation.Ribbit">
                  <p:embed/>
                </p:oleObj>
              </mc:Choice>
              <mc:Fallback>
                <p:oleObj name="Formula" r:id="rId1" imgW="21431250" imgH="1419225" progId="Equation.Ribbit">
                  <p:embed/>
                  <p:pic>
                    <p:nvPicPr>
                      <p:cNvPr id="0" name="图片 27940"/>
                      <p:cNvPicPr/>
                      <p:nvPr/>
                    </p:nvPicPr>
                    <p:blipFill>
                      <a:blip r:embed="rId2"/>
                      <a:stretch>
                        <a:fillRect/>
                      </a:stretch>
                    </p:blipFill>
                    <p:spPr>
                      <a:xfrm>
                        <a:off x="1147727" y="2297641"/>
                        <a:ext cx="3375758" cy="223826"/>
                      </a:xfrm>
                      <a:prstGeom prst="rect">
                        <a:avLst/>
                      </a:prstGeom>
                    </p:spPr>
                  </p:pic>
                </p:oleObj>
              </mc:Fallback>
            </mc:AlternateContent>
          </a:graphicData>
        </a:graphic>
      </p:graphicFrame>
      <p:graphicFrame>
        <p:nvGraphicFramePr>
          <p:cNvPr id="266" name="对象 265"/>
          <p:cNvGraphicFramePr>
            <a:graphicFrameLocks noChangeAspect="1"/>
          </p:cNvGraphicFramePr>
          <p:nvPr/>
        </p:nvGraphicFramePr>
        <p:xfrm>
          <a:off x="2232256" y="3409769"/>
          <a:ext cx="135158" cy="216000"/>
        </p:xfrm>
        <a:graphic>
          <a:graphicData uri="http://schemas.openxmlformats.org/presentationml/2006/ole">
            <mc:AlternateContent xmlns:mc="http://schemas.openxmlformats.org/markup-compatibility/2006">
              <mc:Choice xmlns:v="urn:schemas-microsoft-com:vml" Requires="v">
                <p:oleObj spid="_x0000_s4" name="Formula" r:id="rId3" imgW="647700" imgH="1028700" progId="Equation.Ribbit">
                  <p:embed/>
                </p:oleObj>
              </mc:Choice>
              <mc:Fallback>
                <p:oleObj name="Formula" r:id="rId3" imgW="647700" imgH="1028700" progId="Equation.Ribbit">
                  <p:embed/>
                  <p:pic>
                    <p:nvPicPr>
                      <p:cNvPr id="0" name="图片 3"/>
                      <p:cNvPicPr/>
                      <p:nvPr/>
                    </p:nvPicPr>
                    <p:blipFill>
                      <a:blip r:embed="rId4"/>
                      <a:stretch>
                        <a:fillRect/>
                      </a:stretch>
                    </p:blipFill>
                    <p:spPr>
                      <a:xfrm>
                        <a:off x="2232256" y="3409769"/>
                        <a:ext cx="135158" cy="216000"/>
                      </a:xfrm>
                      <a:prstGeom prst="rect">
                        <a:avLst/>
                      </a:prstGeom>
                    </p:spPr>
                  </p:pic>
                </p:oleObj>
              </mc:Fallback>
            </mc:AlternateContent>
          </a:graphicData>
        </a:graphic>
      </p:graphicFrame>
      <p:graphicFrame>
        <p:nvGraphicFramePr>
          <p:cNvPr id="267" name="对象 266"/>
          <p:cNvGraphicFramePr>
            <a:graphicFrameLocks noChangeAspect="1"/>
          </p:cNvGraphicFramePr>
          <p:nvPr/>
        </p:nvGraphicFramePr>
        <p:xfrm>
          <a:off x="523859" y="3403504"/>
          <a:ext cx="135158" cy="216000"/>
        </p:xfrm>
        <a:graphic>
          <a:graphicData uri="http://schemas.openxmlformats.org/presentationml/2006/ole">
            <mc:AlternateContent xmlns:mc="http://schemas.openxmlformats.org/markup-compatibility/2006">
              <mc:Choice xmlns:v="urn:schemas-microsoft-com:vml" Requires="v">
                <p:oleObj spid="_x0000_s5" name="Formula" r:id="rId5" imgW="647700" imgH="1028700" progId="Equation.Ribbit">
                  <p:embed/>
                </p:oleObj>
              </mc:Choice>
              <mc:Fallback>
                <p:oleObj name="Formula" r:id="rId5" imgW="647700" imgH="1028700" progId="Equation.Ribbit">
                  <p:embed/>
                  <p:pic>
                    <p:nvPicPr>
                      <p:cNvPr id="0" name="图片 4"/>
                      <p:cNvPicPr/>
                      <p:nvPr/>
                    </p:nvPicPr>
                    <p:blipFill>
                      <a:blip r:embed="rId4"/>
                      <a:stretch>
                        <a:fillRect/>
                      </a:stretch>
                    </p:blipFill>
                    <p:spPr>
                      <a:xfrm>
                        <a:off x="523859" y="3403504"/>
                        <a:ext cx="135158" cy="216000"/>
                      </a:xfrm>
                      <a:prstGeom prst="rect">
                        <a:avLst/>
                      </a:prstGeom>
                    </p:spPr>
                  </p:pic>
                </p:oleObj>
              </mc:Fallback>
            </mc:AlternateContent>
          </a:graphicData>
        </a:graphic>
      </p:graphicFrame>
      <p:sp>
        <p:nvSpPr>
          <p:cNvPr id="268" name="圆角矩形 267"/>
          <p:cNvSpPr/>
          <p:nvPr/>
        </p:nvSpPr>
        <p:spPr>
          <a:xfrm>
            <a:off x="120617" y="3288635"/>
            <a:ext cx="3610049" cy="4320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b="1" dirty="0">
              <a:latin typeface="Times" panose="02020603060405020304" pitchFamily="18" charset="0"/>
              <a:cs typeface="Times New Roman" panose="02020603050405020304" pitchFamily="18" charset="0"/>
            </a:endParaRPr>
          </a:p>
        </p:txBody>
      </p:sp>
      <p:cxnSp>
        <p:nvCxnSpPr>
          <p:cNvPr id="275" name="直接箭头连接符 274"/>
          <p:cNvCxnSpPr/>
          <p:nvPr/>
        </p:nvCxnSpPr>
        <p:spPr>
          <a:xfrm flipH="1" flipV="1">
            <a:off x="6123669" y="2813877"/>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276" name="直接箭头连接符 275"/>
          <p:cNvCxnSpPr/>
          <p:nvPr/>
        </p:nvCxnSpPr>
        <p:spPr>
          <a:xfrm>
            <a:off x="6115472" y="5333937"/>
            <a:ext cx="30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277" name="文本框 5"/>
          <p:cNvSpPr txBox="1"/>
          <p:nvPr/>
        </p:nvSpPr>
        <p:spPr>
          <a:xfrm>
            <a:off x="5933573" y="5252410"/>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cxnSp>
        <p:nvCxnSpPr>
          <p:cNvPr id="278" name="直接连接符 277"/>
          <p:cNvCxnSpPr/>
          <p:nvPr/>
        </p:nvCxnSpPr>
        <p:spPr>
          <a:xfrm>
            <a:off x="6753479" y="5262377"/>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79" name="直接连接符 278"/>
          <p:cNvCxnSpPr/>
          <p:nvPr/>
        </p:nvCxnSpPr>
        <p:spPr>
          <a:xfrm>
            <a:off x="7375669" y="5262377"/>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0" name="直接连接符 279"/>
          <p:cNvCxnSpPr/>
          <p:nvPr/>
        </p:nvCxnSpPr>
        <p:spPr>
          <a:xfrm>
            <a:off x="7997859" y="5262377"/>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1" name="直接连接符 280"/>
          <p:cNvCxnSpPr/>
          <p:nvPr/>
        </p:nvCxnSpPr>
        <p:spPr>
          <a:xfrm>
            <a:off x="8620049" y="5262377"/>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282" name="文本框 10"/>
          <p:cNvSpPr txBox="1"/>
          <p:nvPr/>
        </p:nvSpPr>
        <p:spPr>
          <a:xfrm>
            <a:off x="6524882" y="5290952"/>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283" name="文本框 11"/>
          <p:cNvSpPr txBox="1"/>
          <p:nvPr/>
        </p:nvSpPr>
        <p:spPr>
          <a:xfrm>
            <a:off x="7147303" y="5290952"/>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284" name="文本框 12"/>
          <p:cNvSpPr txBox="1"/>
          <p:nvPr/>
        </p:nvSpPr>
        <p:spPr>
          <a:xfrm>
            <a:off x="7769724" y="5290952"/>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sp>
        <p:nvSpPr>
          <p:cNvPr id="285" name="文本框 13"/>
          <p:cNvSpPr txBox="1"/>
          <p:nvPr/>
        </p:nvSpPr>
        <p:spPr>
          <a:xfrm>
            <a:off x="8392145" y="5290952"/>
            <a:ext cx="453970" cy="307777"/>
          </a:xfrm>
          <a:prstGeom prst="rect">
            <a:avLst/>
          </a:prstGeom>
          <a:noFill/>
        </p:spPr>
        <p:txBody>
          <a:bodyPr wrap="none" rtlCol="0">
            <a:spAutoFit/>
          </a:bodyPr>
          <a:lstStyle/>
          <a:p>
            <a:r>
              <a:rPr lang="en-US" altLang="zh-CN" sz="1400" dirty="0">
                <a:latin typeface="Times "/>
              </a:rPr>
              <a:t>0.8</a:t>
            </a:r>
            <a:endParaRPr lang="zh-CN" altLang="en-US" sz="1400" dirty="0">
              <a:latin typeface="Times "/>
            </a:endParaRPr>
          </a:p>
        </p:txBody>
      </p:sp>
      <p:cxnSp>
        <p:nvCxnSpPr>
          <p:cNvPr id="286" name="直接连接符 285"/>
          <p:cNvCxnSpPr/>
          <p:nvPr/>
        </p:nvCxnSpPr>
        <p:spPr>
          <a:xfrm rot="5400000">
            <a:off x="6160029" y="3427208"/>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7" name="直接连接符 286"/>
          <p:cNvCxnSpPr/>
          <p:nvPr/>
        </p:nvCxnSpPr>
        <p:spPr>
          <a:xfrm rot="5400000">
            <a:off x="6160029" y="4050784"/>
            <a:ext cx="0" cy="72000"/>
          </a:xfrm>
          <a:prstGeom prst="line">
            <a:avLst/>
          </a:prstGeom>
          <a:ln w="12700"/>
        </p:spPr>
        <p:style>
          <a:lnRef idx="1">
            <a:schemeClr val="dk1"/>
          </a:lnRef>
          <a:fillRef idx="0">
            <a:schemeClr val="dk1"/>
          </a:fillRef>
          <a:effectRef idx="0">
            <a:schemeClr val="dk1"/>
          </a:effectRef>
          <a:fontRef idx="minor">
            <a:schemeClr val="tx1"/>
          </a:fontRef>
        </p:style>
      </p:cxnSp>
      <p:cxnSp>
        <p:nvCxnSpPr>
          <p:cNvPr id="288" name="直接连接符 287"/>
          <p:cNvCxnSpPr/>
          <p:nvPr/>
        </p:nvCxnSpPr>
        <p:spPr>
          <a:xfrm rot="5400000">
            <a:off x="6160029" y="4674360"/>
            <a:ext cx="0" cy="72000"/>
          </a:xfrm>
          <a:prstGeom prst="line">
            <a:avLst/>
          </a:prstGeom>
          <a:ln w="12700"/>
        </p:spPr>
        <p:style>
          <a:lnRef idx="1">
            <a:schemeClr val="dk1"/>
          </a:lnRef>
          <a:fillRef idx="0">
            <a:schemeClr val="dk1"/>
          </a:fillRef>
          <a:effectRef idx="0">
            <a:schemeClr val="dk1"/>
          </a:effectRef>
          <a:fontRef idx="minor">
            <a:schemeClr val="tx1"/>
          </a:fontRef>
        </p:style>
      </p:cxnSp>
      <p:sp>
        <p:nvSpPr>
          <p:cNvPr id="289" name="文本框 17"/>
          <p:cNvSpPr txBox="1"/>
          <p:nvPr/>
        </p:nvSpPr>
        <p:spPr>
          <a:xfrm>
            <a:off x="5703072" y="4556471"/>
            <a:ext cx="453970" cy="307777"/>
          </a:xfrm>
          <a:prstGeom prst="rect">
            <a:avLst/>
          </a:prstGeom>
          <a:noFill/>
        </p:spPr>
        <p:txBody>
          <a:bodyPr wrap="none" rtlCol="0">
            <a:spAutoFit/>
          </a:bodyPr>
          <a:lstStyle/>
          <a:p>
            <a:r>
              <a:rPr lang="en-US" altLang="zh-CN" sz="1400" dirty="0">
                <a:latin typeface="Times "/>
              </a:rPr>
              <a:t>0.2</a:t>
            </a:r>
            <a:endParaRPr lang="zh-CN" altLang="en-US" sz="1400" dirty="0">
              <a:latin typeface="Times "/>
            </a:endParaRPr>
          </a:p>
        </p:txBody>
      </p:sp>
      <p:sp>
        <p:nvSpPr>
          <p:cNvPr id="290" name="文本框 18"/>
          <p:cNvSpPr txBox="1"/>
          <p:nvPr/>
        </p:nvSpPr>
        <p:spPr>
          <a:xfrm>
            <a:off x="5703072" y="3932895"/>
            <a:ext cx="453970" cy="307777"/>
          </a:xfrm>
          <a:prstGeom prst="rect">
            <a:avLst/>
          </a:prstGeom>
          <a:noFill/>
        </p:spPr>
        <p:txBody>
          <a:bodyPr wrap="none" rtlCol="0">
            <a:spAutoFit/>
          </a:bodyPr>
          <a:lstStyle/>
          <a:p>
            <a:r>
              <a:rPr lang="en-US" altLang="zh-CN" sz="1400" dirty="0">
                <a:latin typeface="Times "/>
              </a:rPr>
              <a:t>0.4</a:t>
            </a:r>
            <a:endParaRPr lang="zh-CN" altLang="en-US" sz="1400" dirty="0">
              <a:latin typeface="Times "/>
            </a:endParaRPr>
          </a:p>
        </p:txBody>
      </p:sp>
      <p:sp>
        <p:nvSpPr>
          <p:cNvPr id="291" name="文本框 19"/>
          <p:cNvSpPr txBox="1"/>
          <p:nvPr/>
        </p:nvSpPr>
        <p:spPr>
          <a:xfrm>
            <a:off x="5703072" y="3309319"/>
            <a:ext cx="453970" cy="307777"/>
          </a:xfrm>
          <a:prstGeom prst="rect">
            <a:avLst/>
          </a:prstGeom>
          <a:noFill/>
        </p:spPr>
        <p:txBody>
          <a:bodyPr wrap="none" rtlCol="0">
            <a:spAutoFit/>
          </a:bodyPr>
          <a:lstStyle/>
          <a:p>
            <a:r>
              <a:rPr lang="en-US" altLang="zh-CN" sz="1400" dirty="0">
                <a:latin typeface="Times "/>
              </a:rPr>
              <a:t>0.6</a:t>
            </a:r>
            <a:endParaRPr lang="zh-CN" altLang="en-US" sz="1400" dirty="0">
              <a:latin typeface="Times "/>
            </a:endParaRPr>
          </a:p>
        </p:txBody>
      </p:sp>
      <p:grpSp>
        <p:nvGrpSpPr>
          <p:cNvPr id="292" name="组合 291"/>
          <p:cNvGrpSpPr/>
          <p:nvPr/>
        </p:nvGrpSpPr>
        <p:grpSpPr>
          <a:xfrm>
            <a:off x="6224818" y="3050265"/>
            <a:ext cx="953322" cy="597182"/>
            <a:chOff x="2902949" y="2313167"/>
            <a:chExt cx="953322" cy="597182"/>
          </a:xfrm>
        </p:grpSpPr>
        <p:grpSp>
          <p:nvGrpSpPr>
            <p:cNvPr id="293" name="组合 292"/>
            <p:cNvGrpSpPr/>
            <p:nvPr/>
          </p:nvGrpSpPr>
          <p:grpSpPr>
            <a:xfrm>
              <a:off x="2902949" y="2313167"/>
              <a:ext cx="953322" cy="597182"/>
              <a:chOff x="5860991" y="1513622"/>
              <a:chExt cx="953322" cy="597182"/>
            </a:xfrm>
          </p:grpSpPr>
          <p:sp>
            <p:nvSpPr>
              <p:cNvPr id="297" name="矩形 296"/>
              <p:cNvSpPr/>
              <p:nvPr/>
            </p:nvSpPr>
            <p:spPr>
              <a:xfrm>
                <a:off x="5860991" y="1521176"/>
                <a:ext cx="936000" cy="576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98" name="文本框 26"/>
              <p:cNvSpPr txBox="1"/>
              <p:nvPr/>
            </p:nvSpPr>
            <p:spPr>
              <a:xfrm>
                <a:off x="6219278" y="1513622"/>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好瓜</a:t>
                </a:r>
                <a:endParaRPr lang="zh-CN" altLang="en-US" sz="1600" dirty="0">
                  <a:latin typeface="楷体" panose="02010609060101010101" pitchFamily="49" charset="-122"/>
                  <a:ea typeface="楷体" panose="02010609060101010101" pitchFamily="49" charset="-122"/>
                </a:endParaRPr>
              </a:p>
            </p:txBody>
          </p:sp>
          <p:sp>
            <p:nvSpPr>
              <p:cNvPr id="299" name="文本框 27"/>
              <p:cNvSpPr txBox="1"/>
              <p:nvPr/>
            </p:nvSpPr>
            <p:spPr>
              <a:xfrm>
                <a:off x="6219278" y="177225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坏瓜</a:t>
                </a:r>
                <a:endParaRPr lang="zh-CN" altLang="en-US" sz="1600" dirty="0">
                  <a:latin typeface="楷体" panose="02010609060101010101" pitchFamily="49" charset="-122"/>
                  <a:ea typeface="楷体" panose="02010609060101010101" pitchFamily="49" charset="-122"/>
                </a:endParaRPr>
              </a:p>
            </p:txBody>
          </p:sp>
          <p:cxnSp>
            <p:nvCxnSpPr>
              <p:cNvPr id="300" name="直接连接符 299"/>
              <p:cNvCxnSpPr/>
              <p:nvPr/>
            </p:nvCxnSpPr>
            <p:spPr>
              <a:xfrm>
                <a:off x="6001969" y="1949727"/>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94" name="组合 293"/>
            <p:cNvGrpSpPr/>
            <p:nvPr/>
          </p:nvGrpSpPr>
          <p:grpSpPr>
            <a:xfrm>
              <a:off x="3043927" y="2444745"/>
              <a:ext cx="108000" cy="108000"/>
              <a:chOff x="5476803" y="2392530"/>
              <a:chExt cx="108000" cy="108000"/>
            </a:xfrm>
          </p:grpSpPr>
          <p:cxnSp>
            <p:nvCxnSpPr>
              <p:cNvPr id="295" name="直接连接符 29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96" name="直接连接符 29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grpSp>
        <p:nvGrpSpPr>
          <p:cNvPr id="301" name="组合 300"/>
          <p:cNvGrpSpPr/>
          <p:nvPr/>
        </p:nvGrpSpPr>
        <p:grpSpPr>
          <a:xfrm>
            <a:off x="8272547" y="3826755"/>
            <a:ext cx="108000" cy="108000"/>
            <a:chOff x="5476803" y="2392530"/>
            <a:chExt cx="108000" cy="108000"/>
          </a:xfrm>
        </p:grpSpPr>
        <p:cxnSp>
          <p:nvCxnSpPr>
            <p:cNvPr id="302" name="直接连接符 30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3" name="直接连接符 30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04" name="组合 303"/>
          <p:cNvGrpSpPr/>
          <p:nvPr/>
        </p:nvGrpSpPr>
        <p:grpSpPr>
          <a:xfrm>
            <a:off x="8463047" y="4188705"/>
            <a:ext cx="108000" cy="108000"/>
            <a:chOff x="5476803" y="2392530"/>
            <a:chExt cx="108000" cy="108000"/>
          </a:xfrm>
        </p:grpSpPr>
        <p:cxnSp>
          <p:nvCxnSpPr>
            <p:cNvPr id="305" name="直接连接符 30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6" name="直接连接符 30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07" name="组合 306"/>
          <p:cNvGrpSpPr/>
          <p:nvPr/>
        </p:nvGrpSpPr>
        <p:grpSpPr>
          <a:xfrm>
            <a:off x="8145747" y="4476604"/>
            <a:ext cx="108000" cy="108000"/>
            <a:chOff x="5476803" y="2392530"/>
            <a:chExt cx="108000" cy="108000"/>
          </a:xfrm>
        </p:grpSpPr>
        <p:cxnSp>
          <p:nvCxnSpPr>
            <p:cNvPr id="308" name="直接连接符 30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09" name="直接连接符 30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0" name="组合 309"/>
          <p:cNvGrpSpPr/>
          <p:nvPr/>
        </p:nvGrpSpPr>
        <p:grpSpPr>
          <a:xfrm>
            <a:off x="7971173" y="4318700"/>
            <a:ext cx="108000" cy="108000"/>
            <a:chOff x="5476803" y="2392530"/>
            <a:chExt cx="108000" cy="108000"/>
          </a:xfrm>
        </p:grpSpPr>
        <p:cxnSp>
          <p:nvCxnSpPr>
            <p:cNvPr id="311" name="直接连接符 31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2" name="直接连接符 31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3" name="组合 312"/>
          <p:cNvGrpSpPr/>
          <p:nvPr/>
        </p:nvGrpSpPr>
        <p:grpSpPr>
          <a:xfrm>
            <a:off x="7610246" y="4561049"/>
            <a:ext cx="108000" cy="108000"/>
            <a:chOff x="5476803" y="2392530"/>
            <a:chExt cx="108000" cy="108000"/>
          </a:xfrm>
        </p:grpSpPr>
        <p:cxnSp>
          <p:nvCxnSpPr>
            <p:cNvPr id="314" name="直接连接符 31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5" name="直接连接符 31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6" name="组合 315"/>
          <p:cNvGrpSpPr/>
          <p:nvPr/>
        </p:nvGrpSpPr>
        <p:grpSpPr>
          <a:xfrm>
            <a:off x="7329558" y="4478378"/>
            <a:ext cx="108000" cy="108000"/>
            <a:chOff x="5476803" y="2392530"/>
            <a:chExt cx="108000" cy="108000"/>
          </a:xfrm>
        </p:grpSpPr>
        <p:cxnSp>
          <p:nvCxnSpPr>
            <p:cNvPr id="317" name="直接连接符 31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8" name="直接连接符 31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19" name="组合 318"/>
          <p:cNvGrpSpPr/>
          <p:nvPr/>
        </p:nvGrpSpPr>
        <p:grpSpPr>
          <a:xfrm>
            <a:off x="7580351" y="4827017"/>
            <a:ext cx="108000" cy="108000"/>
            <a:chOff x="5476803" y="2392530"/>
            <a:chExt cx="108000" cy="108000"/>
          </a:xfrm>
        </p:grpSpPr>
        <p:cxnSp>
          <p:nvCxnSpPr>
            <p:cNvPr id="320" name="直接连接符 31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1" name="直接连接符 32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22" name="组合 321"/>
          <p:cNvGrpSpPr/>
          <p:nvPr/>
        </p:nvGrpSpPr>
        <p:grpSpPr>
          <a:xfrm>
            <a:off x="7437476" y="4571747"/>
            <a:ext cx="108000" cy="108000"/>
            <a:chOff x="5476803" y="2392530"/>
            <a:chExt cx="108000" cy="108000"/>
          </a:xfrm>
        </p:grpSpPr>
        <p:cxnSp>
          <p:nvCxnSpPr>
            <p:cNvPr id="323" name="直接连接符 32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4" name="直接连接符 32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325" name="直接连接符 324"/>
          <p:cNvCxnSpPr/>
          <p:nvPr/>
        </p:nvCxnSpPr>
        <p:spPr>
          <a:xfrm>
            <a:off x="8199747" y="5041614"/>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6" name="直接连接符 325"/>
          <p:cNvCxnSpPr/>
          <p:nvPr/>
        </p:nvCxnSpPr>
        <p:spPr>
          <a:xfrm>
            <a:off x="6924852" y="4511193"/>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7" name="直接连接符 326"/>
          <p:cNvCxnSpPr/>
          <p:nvPr/>
        </p:nvCxnSpPr>
        <p:spPr>
          <a:xfrm>
            <a:off x="6950277" y="516841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8" name="直接连接符 327"/>
          <p:cNvCxnSpPr/>
          <p:nvPr/>
        </p:nvCxnSpPr>
        <p:spPr>
          <a:xfrm>
            <a:off x="7122538" y="5004887"/>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29" name="直接连接符 328"/>
          <p:cNvCxnSpPr/>
          <p:nvPr/>
        </p:nvCxnSpPr>
        <p:spPr>
          <a:xfrm>
            <a:off x="8115694" y="4852818"/>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0" name="直接连接符 329"/>
          <p:cNvCxnSpPr/>
          <p:nvPr/>
        </p:nvCxnSpPr>
        <p:spPr>
          <a:xfrm>
            <a:off x="8161397" y="472238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1" name="直接连接符 330"/>
          <p:cNvCxnSpPr/>
          <p:nvPr/>
        </p:nvCxnSpPr>
        <p:spPr>
          <a:xfrm>
            <a:off x="7118728" y="4326707"/>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2" name="直接连接符 331"/>
          <p:cNvCxnSpPr/>
          <p:nvPr/>
        </p:nvCxnSpPr>
        <p:spPr>
          <a:xfrm>
            <a:off x="7934522" y="5216043"/>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3" name="直接连接符 332"/>
          <p:cNvCxnSpPr/>
          <p:nvPr/>
        </p:nvCxnSpPr>
        <p:spPr>
          <a:xfrm>
            <a:off x="8281956" y="4996735"/>
            <a:ext cx="108000" cy="0"/>
          </a:xfrm>
          <a:prstGeom prst="line">
            <a:avLst/>
          </a:prstGeom>
          <a:ln w="19050"/>
        </p:spPr>
        <p:style>
          <a:lnRef idx="1">
            <a:schemeClr val="dk1"/>
          </a:lnRef>
          <a:fillRef idx="0">
            <a:schemeClr val="dk1"/>
          </a:fillRef>
          <a:effectRef idx="0">
            <a:schemeClr val="dk1"/>
          </a:effectRef>
          <a:fontRef idx="minor">
            <a:schemeClr val="tx1"/>
          </a:fontRef>
        </p:style>
      </p:cxnSp>
      <p:sp>
        <p:nvSpPr>
          <p:cNvPr id="334" name="文本框 62"/>
          <p:cNvSpPr txBox="1"/>
          <p:nvPr/>
        </p:nvSpPr>
        <p:spPr>
          <a:xfrm>
            <a:off x="7352733" y="5485310"/>
            <a:ext cx="595035" cy="338554"/>
          </a:xfrm>
          <a:prstGeom prst="rect">
            <a:avLst/>
          </a:prstGeom>
          <a:noFill/>
        </p:spPr>
        <p:txBody>
          <a:bodyPr wrap="none" rtlCol="0">
            <a:spAutoFit/>
          </a:bodyPr>
          <a:lstStyle/>
          <a:p>
            <a:r>
              <a:rPr lang="zh-CN" altLang="en-US" sz="1600" dirty="0">
                <a:latin typeface="楷体" panose="02010609060101010101" pitchFamily="49" charset="-122"/>
                <a:ea typeface="楷体" panose="02010609060101010101" pitchFamily="49" charset="-122"/>
              </a:rPr>
              <a:t>密度</a:t>
            </a:r>
            <a:endParaRPr lang="zh-CN" altLang="en-US" sz="1600" dirty="0">
              <a:latin typeface="楷体" panose="02010609060101010101" pitchFamily="49" charset="-122"/>
              <a:ea typeface="楷体" panose="02010609060101010101" pitchFamily="49" charset="-122"/>
            </a:endParaRPr>
          </a:p>
        </p:txBody>
      </p:sp>
      <p:sp>
        <p:nvSpPr>
          <p:cNvPr id="335" name="文本框 63"/>
          <p:cNvSpPr txBox="1"/>
          <p:nvPr/>
        </p:nvSpPr>
        <p:spPr>
          <a:xfrm>
            <a:off x="5272185" y="3792905"/>
            <a:ext cx="430887" cy="707886"/>
          </a:xfrm>
          <a:prstGeom prst="rect">
            <a:avLst/>
          </a:prstGeom>
          <a:noFill/>
        </p:spPr>
        <p:txBody>
          <a:bodyPr vert="eaVert" wrap="none" rtlCol="0">
            <a:spAutoFit/>
          </a:bodyPr>
          <a:lstStyle/>
          <a:p>
            <a:r>
              <a:rPr lang="zh-CN" altLang="en-US" sz="1600" dirty="0">
                <a:latin typeface="楷体" panose="02010609060101010101" pitchFamily="49" charset="-122"/>
                <a:ea typeface="楷体" panose="02010609060101010101" pitchFamily="49" charset="-122"/>
              </a:rPr>
              <a:t>含糖率</a:t>
            </a:r>
            <a:endParaRPr lang="zh-CN" altLang="en-US" sz="1600" dirty="0">
              <a:latin typeface="楷体" panose="02010609060101010101" pitchFamily="49" charset="-122"/>
              <a:ea typeface="楷体" panose="02010609060101010101" pitchFamily="49" charset="-122"/>
            </a:endParaRPr>
          </a:p>
        </p:txBody>
      </p:sp>
      <p:cxnSp>
        <p:nvCxnSpPr>
          <p:cNvPr id="336" name="直接连接符 335"/>
          <p:cNvCxnSpPr/>
          <p:nvPr/>
        </p:nvCxnSpPr>
        <p:spPr>
          <a:xfrm>
            <a:off x="7178154" y="3662394"/>
            <a:ext cx="158535" cy="16852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7" name="直接连接符 336"/>
          <p:cNvCxnSpPr/>
          <p:nvPr/>
        </p:nvCxnSpPr>
        <p:spPr>
          <a:xfrm flipH="1">
            <a:off x="7521457" y="3890970"/>
            <a:ext cx="1454484" cy="14490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73" name="右箭头 272"/>
          <p:cNvSpPr/>
          <p:nvPr/>
        </p:nvSpPr>
        <p:spPr>
          <a:xfrm>
            <a:off x="4706938" y="4073877"/>
            <a:ext cx="565247" cy="4027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graphicFrame>
        <p:nvGraphicFramePr>
          <p:cNvPr id="6" name="对象 5"/>
          <p:cNvGraphicFramePr>
            <a:graphicFrameLocks noChangeAspect="1"/>
          </p:cNvGraphicFramePr>
          <p:nvPr/>
        </p:nvGraphicFramePr>
        <p:xfrm>
          <a:off x="216424" y="3394867"/>
          <a:ext cx="3448338" cy="228100"/>
        </p:xfrm>
        <a:graphic>
          <a:graphicData uri="http://schemas.openxmlformats.org/presentationml/2006/ole">
            <mc:AlternateContent xmlns:mc="http://schemas.openxmlformats.org/markup-compatibility/2006">
              <mc:Choice xmlns:v="urn:schemas-microsoft-com:vml" Requires="v">
                <p:oleObj spid="_x0000_s7" name="Formula" r:id="rId6" imgW="21412200" imgH="1419225" progId="Equation.Ribbit">
                  <p:embed/>
                </p:oleObj>
              </mc:Choice>
              <mc:Fallback>
                <p:oleObj name="Formula" r:id="rId6" imgW="21412200" imgH="1419225" progId="Equation.Ribbit">
                  <p:embed/>
                  <p:pic>
                    <p:nvPicPr>
                      <p:cNvPr id="0" name="图片 6"/>
                      <p:cNvPicPr/>
                      <p:nvPr/>
                    </p:nvPicPr>
                    <p:blipFill>
                      <a:blip r:embed="rId7"/>
                      <a:stretch>
                        <a:fillRect/>
                      </a:stretch>
                    </p:blipFill>
                    <p:spPr>
                      <a:xfrm>
                        <a:off x="216424" y="3394867"/>
                        <a:ext cx="3448338" cy="228100"/>
                      </a:xfrm>
                      <a:prstGeom prst="rect">
                        <a:avLst/>
                      </a:prstGeom>
                    </p:spPr>
                  </p:pic>
                </p:oleObj>
              </mc:Fallback>
            </mc:AlternateContent>
          </a:graphicData>
        </a:graphic>
      </p:graphicFrame>
      <p:sp>
        <p:nvSpPr>
          <p:cNvPr id="85" name="内容占位符 2"/>
          <p:cNvSpPr txBox="1"/>
          <p:nvPr/>
        </p:nvSpPr>
        <p:spPr>
          <a:xfrm>
            <a:off x="6018898" y="5873552"/>
            <a:ext cx="2902328" cy="344782"/>
          </a:xfrm>
          <a:prstGeom prst="rect">
            <a:avLst/>
          </a:prstGeom>
        </p:spPr>
        <p:txBody>
          <a:bodyPr vert="horz" lIns="91440" tIns="46800" rIns="91440" bIns="45720" rtlCol="0">
            <a:normAutofit fontScale="85000" lnSpcReduction="10000"/>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多变量决策树的分类边界</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Take Home Message</a:t>
            </a:r>
            <a:endParaRPr lang="zh-CN" altLang="en-US" dirty="0"/>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属性划分选择</a:t>
            </a:r>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剪枝处理（预剪枝，后剪枝）</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属性连续值和缺失值的处理</a:t>
            </a:r>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单变量决策树到多变量决策树</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Homework</a:t>
            </a:r>
            <a:endParaRPr lang="zh-CN" altLang="en-US" dirty="0"/>
          </a:p>
        </p:txBody>
      </p:sp>
      <p:sp>
        <p:nvSpPr>
          <p:cNvPr id="3" name="内容占位符 2"/>
          <p:cNvSpPr>
            <a:spLocks noGrp="1"/>
          </p:cNvSpPr>
          <p:nvPr>
            <p:ph idx="1"/>
          </p:nvPr>
        </p:nvSpPr>
        <p:spPr>
          <a:xfrm>
            <a:off x="260350" y="1158537"/>
            <a:ext cx="8616950" cy="853144"/>
          </a:xfrm>
        </p:spPr>
        <p:txBody>
          <a:bodyPr/>
          <a:lstStyle/>
          <a:p>
            <a:r>
              <a:rPr lang="zh-CN" altLang="en-US" b="1" dirty="0"/>
              <a:t>理解</a:t>
            </a:r>
            <a:r>
              <a:rPr lang="en-US" altLang="zh-CN" b="1" dirty="0"/>
              <a:t>DecisionTreeRegressor</a:t>
            </a:r>
            <a:r>
              <a:rPr lang="zh-CN" altLang="en-US" b="1" dirty="0"/>
              <a:t>的原理，并编程实践。</a:t>
            </a:r>
            <a:endParaRPr lang="en-US" altLang="zh-CN" b="1" dirty="0"/>
          </a:p>
          <a:p>
            <a:endParaRPr lang="en-US" altLang="zh-CN" dirty="0"/>
          </a:p>
        </p:txBody>
      </p:sp>
    </p:spTree>
  </p:cSld>
  <p:clrMapOvr>
    <a:masterClrMapping/>
  </p:clrMapOvr>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机器学习v2.1rgb</Template>
  <TotalTime>0</TotalTime>
  <Words>8415</Words>
  <Application>WPS 演示</Application>
  <PresentationFormat>全屏显示(4:3)</PresentationFormat>
  <Paragraphs>1655</Paragraphs>
  <Slides>72</Slides>
  <Notes>1</Notes>
  <HiddenSlides>0</HiddenSlides>
  <MMClips>0</MMClips>
  <ScaleCrop>false</ScaleCrop>
  <HeadingPairs>
    <vt:vector size="8" baseType="variant">
      <vt:variant>
        <vt:lpstr>已用的字体</vt:lpstr>
      </vt:variant>
      <vt:variant>
        <vt:i4>32</vt:i4>
      </vt:variant>
      <vt:variant>
        <vt:lpstr>主题</vt:lpstr>
      </vt:variant>
      <vt:variant>
        <vt:i4>1</vt:i4>
      </vt:variant>
      <vt:variant>
        <vt:lpstr>嵌入 OLE 服务器</vt:lpstr>
      </vt:variant>
      <vt:variant>
        <vt:i4>203</vt:i4>
      </vt:variant>
      <vt:variant>
        <vt:lpstr>幻灯片标题</vt:lpstr>
      </vt:variant>
      <vt:variant>
        <vt:i4>72</vt:i4>
      </vt:variant>
    </vt:vector>
  </HeadingPairs>
  <TitlesOfParts>
    <vt:vector size="308" baseType="lpstr">
      <vt:lpstr>Arial</vt:lpstr>
      <vt:lpstr>宋体</vt:lpstr>
      <vt:lpstr>Wingdings</vt:lpstr>
      <vt:lpstr>Verdana</vt:lpstr>
      <vt:lpstr>幼圆</vt:lpstr>
      <vt:lpstr>微软雅黑</vt:lpstr>
      <vt:lpstr>黑体</vt:lpstr>
      <vt:lpstr>楷体_GB2312</vt:lpstr>
      <vt:lpstr>新宋体</vt:lpstr>
      <vt:lpstr>Times New Roman</vt:lpstr>
      <vt:lpstr>Times</vt:lpstr>
      <vt:lpstr>楷体</vt:lpstr>
      <vt:lpstr>Calibri</vt:lpstr>
      <vt:lpstr>Century Schoolbook</vt:lpstr>
      <vt:lpstr>Microsoft YaHei UI</vt:lpstr>
      <vt:lpstr>Arial Unicode MS</vt:lpstr>
      <vt:lpstr>等线</vt:lpstr>
      <vt:lpstr>Cambria Math</vt:lpstr>
      <vt:lpstr>ui-sans-serif</vt:lpstr>
      <vt:lpstr>Cambria</vt:lpstr>
      <vt:lpstr>Times</vt:lpstr>
      <vt:lpstr>Times </vt:lpstr>
      <vt:lpstr>Palatino</vt:lpstr>
      <vt:lpstr>Palatino Linotype</vt:lpstr>
      <vt:lpstr>Times </vt:lpstr>
      <vt:lpstr>Wingdings</vt:lpstr>
      <vt:lpstr>ui-sans-serif</vt:lpstr>
      <vt:lpstr>楷体_GB2312</vt:lpstr>
      <vt:lpstr>方正楷体_GB2312</vt:lpstr>
      <vt:lpstr>Good Times</vt:lpstr>
      <vt:lpstr>Palatino Linotype Roman</vt:lpstr>
      <vt:lpstr>BatangChe</vt:lpstr>
      <vt:lpstr>机器学习v2.1rgb</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Equation.AxMath</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机器学习  Machine Learning</vt:lpstr>
      <vt:lpstr>大纲</vt:lpstr>
      <vt:lpstr>基本流程</vt:lpstr>
      <vt:lpstr>主要决策树算法</vt:lpstr>
      <vt:lpstr>基本流程</vt:lpstr>
      <vt:lpstr>基本流程</vt:lpstr>
      <vt:lpstr>决策树特点</vt:lpstr>
      <vt:lpstr>大纲</vt:lpstr>
      <vt:lpstr>划分选择</vt:lpstr>
      <vt:lpstr>PowerPoint 演示文稿</vt:lpstr>
      <vt:lpstr>PowerPoint 演示文稿</vt:lpstr>
      <vt:lpstr>PowerPoint 演示文稿</vt:lpstr>
      <vt:lpstr>划分选择-信息增益</vt:lpstr>
      <vt:lpstr>划分选择-信息增益</vt:lpstr>
      <vt:lpstr>划分选择-信息增益</vt:lpstr>
      <vt:lpstr>划分选择-信息增益</vt:lpstr>
      <vt:lpstr>划分选择-信息增益</vt:lpstr>
      <vt:lpstr>划分选择-信息增益</vt:lpstr>
      <vt:lpstr>划分选择-信息增益</vt:lpstr>
      <vt:lpstr>划分选择-增益率</vt:lpstr>
      <vt:lpstr>属性可取值数目与固有值关系</vt:lpstr>
      <vt:lpstr>划分选择-增益率</vt:lpstr>
      <vt:lpstr>划分选择-基尼指数</vt:lpstr>
      <vt:lpstr>数据集</vt:lpstr>
      <vt:lpstr>处理二分类属性</vt:lpstr>
      <vt:lpstr>处理多分类属性</vt:lpstr>
      <vt:lpstr>处理连续属性</vt:lpstr>
      <vt:lpstr>拓展-决策树与其它知识的关系</vt:lpstr>
      <vt:lpstr>拓展-CART 实现回归</vt:lpstr>
      <vt:lpstr>公式小结</vt:lpstr>
      <vt:lpstr>PowerPoint 演示文稿</vt:lpstr>
      <vt:lpstr>sklearn决策树</vt:lpstr>
      <vt:lpstr>sklearn决策树</vt:lpstr>
      <vt:lpstr>sklearn决策树</vt:lpstr>
      <vt:lpstr>大纲</vt:lpstr>
      <vt:lpstr>剪枝处理</vt:lpstr>
      <vt:lpstr>剪枝处理</vt:lpstr>
      <vt:lpstr>剪枝处理</vt:lpstr>
      <vt:lpstr>剪枝处理-预剪枝</vt:lpstr>
      <vt:lpstr>剪枝处理-预剪枝</vt:lpstr>
      <vt:lpstr>剪枝处理-预剪枝</vt:lpstr>
      <vt:lpstr>剪枝处理-预剪枝</vt:lpstr>
      <vt:lpstr>剪枝处理-预剪枝</vt:lpstr>
      <vt:lpstr>剪枝处理-后剪枝</vt:lpstr>
      <vt:lpstr>剪枝处理-后剪枝</vt:lpstr>
      <vt:lpstr>剪枝处理-后剪枝</vt:lpstr>
      <vt:lpstr>剪枝处理-后剪枝</vt:lpstr>
      <vt:lpstr>剪枝处理-后剪枝</vt:lpstr>
      <vt:lpstr>剪枝处理-后剪枝</vt:lpstr>
      <vt:lpstr>剪枝处理-后剪枝</vt:lpstr>
      <vt:lpstr>剪枝处理-后剪枝</vt:lpstr>
      <vt:lpstr>小结</vt:lpstr>
      <vt:lpstr>大纲</vt:lpstr>
      <vt:lpstr>连续与缺失值 – 连续值处理</vt:lpstr>
      <vt:lpstr>连续与缺失值 – 连续值处理</vt:lpstr>
      <vt:lpstr>连续与缺失值 – 连续值处理</vt:lpstr>
      <vt:lpstr>属性“密度” 信息增益计算</vt:lpstr>
      <vt:lpstr>连续与缺失值 – 缺失值处理</vt:lpstr>
      <vt:lpstr>连续与缺失值 – 缺失值处理</vt:lpstr>
      <vt:lpstr>连续与缺失值 – 缺失值处理</vt:lpstr>
      <vt:lpstr>连续与缺失值 – 缺失值处理</vt:lpstr>
      <vt:lpstr>连续与缺失值 – 缺失值处理</vt:lpstr>
      <vt:lpstr>连续与缺失值 – 缺失值处理</vt:lpstr>
      <vt:lpstr>PowerPoint 演示文稿</vt:lpstr>
      <vt:lpstr>大纲</vt:lpstr>
      <vt:lpstr>多变量决策树</vt:lpstr>
      <vt:lpstr>多变量决策树</vt:lpstr>
      <vt:lpstr>PowerPoint 演示文稿</vt:lpstr>
      <vt:lpstr>多变量决策树</vt:lpstr>
      <vt:lpstr>多变量决策树</vt:lpstr>
      <vt:lpstr>Take Home Message</vt:lpstr>
      <vt:lpstr>Homework</vt:lpstr>
    </vt:vector>
  </TitlesOfParts>
  <Company>LAMDA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机器学习-第四章</dc:title>
  <dc:creator/>
  <cp:lastModifiedBy>O₂</cp:lastModifiedBy>
  <cp:revision>571</cp:revision>
  <dcterms:created xsi:type="dcterms:W3CDTF">2015-12-30T14:22:00Z</dcterms:created>
  <dcterms:modified xsi:type="dcterms:W3CDTF">2026-06-16T18:46:28Z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F83CF9F41A2746809EE5EA6E4C1A22C8_12</vt:lpwstr>
  </property>
</Properties>
</file>