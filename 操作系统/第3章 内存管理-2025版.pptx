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2.svg" ContentType="image/svg+xml"/>
  <Override PartName="/ppt/media/image3.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56" r:id="rId3"/>
    <p:sldId id="341" r:id="rId5"/>
    <p:sldId id="342" r:id="rId6"/>
    <p:sldId id="479" r:id="rId7"/>
    <p:sldId id="480" r:id="rId8"/>
    <p:sldId id="482" r:id="rId9"/>
    <p:sldId id="11817" r:id="rId10"/>
    <p:sldId id="485" r:id="rId11"/>
    <p:sldId id="486" r:id="rId12"/>
    <p:sldId id="488" r:id="rId13"/>
    <p:sldId id="11818" r:id="rId14"/>
    <p:sldId id="489" r:id="rId15"/>
    <p:sldId id="490" r:id="rId16"/>
    <p:sldId id="491" r:id="rId17"/>
    <p:sldId id="492" r:id="rId18"/>
    <p:sldId id="493" r:id="rId19"/>
    <p:sldId id="494" r:id="rId20"/>
    <p:sldId id="496" r:id="rId21"/>
    <p:sldId id="497" r:id="rId22"/>
    <p:sldId id="498" r:id="rId23"/>
    <p:sldId id="499" r:id="rId24"/>
    <p:sldId id="500" r:id="rId25"/>
    <p:sldId id="501" r:id="rId26"/>
    <p:sldId id="502" r:id="rId27"/>
    <p:sldId id="503" r:id="rId28"/>
    <p:sldId id="504" r:id="rId29"/>
    <p:sldId id="505" r:id="rId30"/>
    <p:sldId id="506" r:id="rId31"/>
    <p:sldId id="507" r:id="rId32"/>
    <p:sldId id="510" r:id="rId33"/>
    <p:sldId id="508" r:id="rId34"/>
    <p:sldId id="511" r:id="rId35"/>
    <p:sldId id="512" r:id="rId36"/>
    <p:sldId id="513" r:id="rId37"/>
    <p:sldId id="514" r:id="rId38"/>
    <p:sldId id="515" r:id="rId39"/>
    <p:sldId id="516" r:id="rId40"/>
    <p:sldId id="517" r:id="rId41"/>
    <p:sldId id="518" r:id="rId42"/>
    <p:sldId id="11819" r:id="rId43"/>
    <p:sldId id="519" r:id="rId44"/>
    <p:sldId id="522" r:id="rId45"/>
    <p:sldId id="523" r:id="rId46"/>
    <p:sldId id="524" r:id="rId47"/>
    <p:sldId id="525" r:id="rId48"/>
    <p:sldId id="526" r:id="rId49"/>
    <p:sldId id="11770" r:id="rId50"/>
    <p:sldId id="11771" r:id="rId51"/>
    <p:sldId id="11772" r:id="rId52"/>
    <p:sldId id="11773" r:id="rId53"/>
    <p:sldId id="11775" r:id="rId54"/>
    <p:sldId id="11776" r:id="rId55"/>
    <p:sldId id="11778" r:id="rId56"/>
    <p:sldId id="11779" r:id="rId57"/>
    <p:sldId id="11780" r:id="rId58"/>
    <p:sldId id="11782" r:id="rId59"/>
    <p:sldId id="11783" r:id="rId60"/>
    <p:sldId id="11784" r:id="rId61"/>
    <p:sldId id="11785" r:id="rId62"/>
    <p:sldId id="11786" r:id="rId63"/>
    <p:sldId id="11787" r:id="rId64"/>
    <p:sldId id="11788" r:id="rId65"/>
    <p:sldId id="11789" r:id="rId66"/>
    <p:sldId id="11790" r:id="rId67"/>
    <p:sldId id="11791" r:id="rId68"/>
    <p:sldId id="11792" r:id="rId69"/>
    <p:sldId id="11793" r:id="rId70"/>
    <p:sldId id="11795" r:id="rId71"/>
    <p:sldId id="11801" r:id="rId72"/>
    <p:sldId id="11802" r:id="rId73"/>
    <p:sldId id="11803" r:id="rId74"/>
    <p:sldId id="11804" r:id="rId75"/>
    <p:sldId id="11805" r:id="rId76"/>
    <p:sldId id="11806" r:id="rId77"/>
    <p:sldId id="11807" r:id="rId78"/>
    <p:sldId id="11813" r:id="rId79"/>
    <p:sldId id="11814" r:id="rId80"/>
    <p:sldId id="11815" r:id="rId81"/>
    <p:sldId id="11816" r:id="rId82"/>
    <p:sldId id="263" r:id="rId83"/>
  </p:sldIdLst>
  <p:sldSz cx="12192000" cy="6858000"/>
  <p:notesSz cx="6858000" cy="9144000"/>
  <p:embeddedFontLst>
    <p:embeddedFont>
      <p:font typeface="黑体" panose="02010609060101010101" charset="-122"/>
      <p:regular r:id="rId88"/>
    </p:embeddedFont>
    <p:embeddedFont>
      <p:font typeface="微软雅黑" panose="020B0503020204020204" pitchFamily="34" charset="-122"/>
      <p:regular r:id="rId89"/>
      <p:bold r:id="rId90"/>
    </p:embeddedFont>
    <p:embeddedFont>
      <p:font typeface="汉仪铸字美心体简" panose="00020600040101010101" charset="-122"/>
      <p:regular r:id="rId91"/>
    </p:embeddedFont>
    <p:embeddedFont>
      <p:font typeface="方正大黑简体" panose="02000000000000000000" charset="-122"/>
      <p:regular r:id="rId92"/>
    </p:embeddedFont>
    <p:embeddedFont>
      <p:font typeface="华文行楷" panose="02010800040101010101" charset="-122"/>
      <p:regular r:id="rId93"/>
    </p:embeddedFont>
    <p:embeddedFont>
      <p:font typeface="等线" panose="02010600030101010101" pitchFamily="2" charset="-122"/>
      <p:regular r:id="rId94"/>
      <p:bold r:id="rId95"/>
    </p:embeddedFont>
    <p:embeddedFont>
      <p:font typeface="Calibri" panose="020F0502020204030204" charset="0"/>
      <p:regular r:id="rId96"/>
      <p:bold r:id="rId97"/>
      <p:italic r:id="rId98"/>
      <p:boldItalic r:id="rId99"/>
    </p:embeddedFont>
    <p:embeddedFont>
      <p:font typeface="等线 Light" panose="02010600030101010101" charset="-122"/>
      <p:regular r:id="rId100"/>
    </p:embeddedFont>
    <p:embeddedFont>
      <p:font typeface="方正粗黑宋简体" panose="02000000000000000000" pitchFamily="2" charset="-122"/>
      <p:regular r:id="rId101"/>
    </p:embeddedFont>
    <p:embeddedFont>
      <p:font typeface="华文仿宋" panose="02010600040101010101" pitchFamily="2" charset="-122"/>
      <p:regular r:id="rId102"/>
    </p:embeddedFont>
    <p:embeddedFont>
      <p:font typeface="华文琥珀" panose="02010800040101010101" pitchFamily="2" charset="-122"/>
      <p:regular r:id="rId103"/>
    </p:embeddedFont>
    <p:embeddedFont>
      <p:font typeface="华文楷体" panose="02010600040101010101" pitchFamily="2" charset="-122"/>
      <p:regular r:id="rId104"/>
    </p:embeddedFont>
  </p:embeddedFontLst>
  <p:custDataLst>
    <p:tags r:id="rId10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C0000"/>
    <a:srgbClr val="004794"/>
    <a:srgbClr val="660000"/>
    <a:srgbClr val="003A8F"/>
    <a:srgbClr val="5B9BD5"/>
    <a:srgbClr val="E9F6F8"/>
    <a:srgbClr val="004C9E"/>
    <a:srgbClr val="FFFDE7"/>
    <a:srgbClr val="E6E6E6"/>
    <a:srgbClr val="D3BA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5" d="100"/>
          <a:sy n="65" d="100"/>
        </p:scale>
        <p:origin x="32"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font" Target="fonts/font12.fntdata"/><Relationship Id="rId98" Type="http://schemas.openxmlformats.org/officeDocument/2006/relationships/font" Target="fonts/font11.fntdata"/><Relationship Id="rId97" Type="http://schemas.openxmlformats.org/officeDocument/2006/relationships/font" Target="fonts/font10.fntdata"/><Relationship Id="rId96" Type="http://schemas.openxmlformats.org/officeDocument/2006/relationships/font" Target="fonts/font9.fntdata"/><Relationship Id="rId95" Type="http://schemas.openxmlformats.org/officeDocument/2006/relationships/font" Target="fonts/font8.fntdata"/><Relationship Id="rId94" Type="http://schemas.openxmlformats.org/officeDocument/2006/relationships/font" Target="fonts/font7.fntdata"/><Relationship Id="rId93" Type="http://schemas.openxmlformats.org/officeDocument/2006/relationships/font" Target="fonts/font6.fntdata"/><Relationship Id="rId92" Type="http://schemas.openxmlformats.org/officeDocument/2006/relationships/font" Target="fonts/font5.fntdata"/><Relationship Id="rId91" Type="http://schemas.openxmlformats.org/officeDocument/2006/relationships/font" Target="fonts/font4.fntdata"/><Relationship Id="rId90" Type="http://schemas.openxmlformats.org/officeDocument/2006/relationships/font" Target="fonts/font3.fntdata"/><Relationship Id="rId9" Type="http://schemas.openxmlformats.org/officeDocument/2006/relationships/slide" Target="slides/slide6.xml"/><Relationship Id="rId89" Type="http://schemas.openxmlformats.org/officeDocument/2006/relationships/font" Target="fonts/font2.fntdata"/><Relationship Id="rId88" Type="http://schemas.openxmlformats.org/officeDocument/2006/relationships/font" Target="fonts/font1.fntdata"/><Relationship Id="rId87" Type="http://schemas.openxmlformats.org/officeDocument/2006/relationships/commentAuthors" Target="commentAuthors.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5" Type="http://schemas.openxmlformats.org/officeDocument/2006/relationships/tags" Target="tags/tag19.xml"/><Relationship Id="rId104" Type="http://schemas.openxmlformats.org/officeDocument/2006/relationships/font" Target="fonts/font17.fntdata"/><Relationship Id="rId103" Type="http://schemas.openxmlformats.org/officeDocument/2006/relationships/font" Target="fonts/font16.fntdata"/><Relationship Id="rId102" Type="http://schemas.openxmlformats.org/officeDocument/2006/relationships/font" Target="fonts/font15.fntdata"/><Relationship Id="rId101" Type="http://schemas.openxmlformats.org/officeDocument/2006/relationships/font" Target="fonts/font14.fntdata"/><Relationship Id="rId100" Type="http://schemas.openxmlformats.org/officeDocument/2006/relationships/font" Target="fonts/font13.fntdata"/><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grpSp>
        <p:nvGrpSpPr>
          <p:cNvPr id="7" name="组合 6"/>
          <p:cNvGrpSpPr/>
          <p:nvPr userDrawn="1"/>
        </p:nvGrpSpPr>
        <p:grpSpPr>
          <a:xfrm>
            <a:off x="2540" y="-22860"/>
            <a:ext cx="12192000" cy="6858000"/>
            <a:chOff x="0" y="0"/>
            <a:chExt cx="12192000" cy="6858000"/>
          </a:xfrm>
        </p:grpSpPr>
        <p:sp>
          <p:nvSpPr>
            <p:cNvPr id="8" name="直角三角形 7"/>
            <p:cNvSpPr/>
            <p:nvPr userDrawn="1"/>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9" name="直角三角形 8"/>
            <p:cNvSpPr/>
            <p:nvPr userDrawn="1"/>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490484" y="441960"/>
              <a:ext cx="11211033" cy="6019801"/>
              <a:chOff x="490484" y="441960"/>
              <a:chExt cx="11211033" cy="6019801"/>
            </a:xfrm>
          </p:grpSpPr>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12" name="矩形 11"/>
              <p:cNvSpPr/>
              <p:nvPr/>
            </p:nvSpPr>
            <p:spPr>
              <a:xfrm>
                <a:off x="490484" y="441960"/>
                <a:ext cx="11211032" cy="6019801"/>
              </a:xfrm>
              <a:prstGeom prst="rect">
                <a:avLst/>
              </a:prstGeom>
              <a:solidFill>
                <a:srgbClr val="FFFEF7">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grpSp>
      <p:sp>
        <p:nvSpPr>
          <p:cNvPr id="13" name="矩形 12"/>
          <p:cNvSpPr/>
          <p:nvPr userDrawn="1"/>
        </p:nvSpPr>
        <p:spPr>
          <a:xfrm>
            <a:off x="492760" y="429260"/>
            <a:ext cx="11211560" cy="600519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 descr="图片1"/>
          <p:cNvPicPr>
            <a:picLocks noChangeAspect="1"/>
          </p:cNvPicPr>
          <p:nvPr userDrawn="1"/>
        </p:nvPicPr>
        <p:blipFill>
          <a:blip r:embed="rId3"/>
          <a:stretch>
            <a:fillRect/>
          </a:stretch>
        </p:blipFill>
        <p:spPr>
          <a:xfrm>
            <a:off x="480060" y="424815"/>
            <a:ext cx="512445" cy="51244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55365B7-FDB0-4531-9BA8-C9E46FCB432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0C40F59-DB9F-42C9-8670-FD5C2598E646}"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1段文字版式">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19" name="任意多边形: 形状 18"/>
          <p:cNvSpPr/>
          <p:nvPr userDrawn="1"/>
        </p:nvSpPr>
        <p:spPr>
          <a:xfrm>
            <a:off x="0" y="243694"/>
            <a:ext cx="12192000" cy="579395"/>
          </a:xfrm>
          <a:custGeom>
            <a:avLst/>
            <a:gdLst>
              <a:gd name="connsiteX0" fmla="*/ 9472293 w 9486459"/>
              <a:gd name="connsiteY0" fmla="*/ 0 h 579395"/>
              <a:gd name="connsiteX1" fmla="*/ 9486459 w 9486459"/>
              <a:gd name="connsiteY1" fmla="*/ 0 h 579395"/>
              <a:gd name="connsiteX2" fmla="*/ 9122539 w 9486459"/>
              <a:gd name="connsiteY2" fmla="*/ 579395 h 579395"/>
              <a:gd name="connsiteX3" fmla="*/ 9108373 w 9486459"/>
              <a:gd name="connsiteY3" fmla="*/ 579395 h 579395"/>
              <a:gd name="connsiteX4" fmla="*/ 9383852 w 9486459"/>
              <a:gd name="connsiteY4" fmla="*/ 0 h 579395"/>
              <a:gd name="connsiteX5" fmla="*/ 9434831 w 9486459"/>
              <a:gd name="connsiteY5" fmla="*/ 0 h 579395"/>
              <a:gd name="connsiteX6" fmla="*/ 9070911 w 9486459"/>
              <a:gd name="connsiteY6" fmla="*/ 579395 h 579395"/>
              <a:gd name="connsiteX7" fmla="*/ 9019932 w 9486459"/>
              <a:gd name="connsiteY7" fmla="*/ 579395 h 579395"/>
              <a:gd name="connsiteX8" fmla="*/ 0 w 9486459"/>
              <a:gd name="connsiteY8" fmla="*/ 0 h 579395"/>
              <a:gd name="connsiteX9" fmla="*/ 9345418 w 9486459"/>
              <a:gd name="connsiteY9" fmla="*/ 0 h 579395"/>
              <a:gd name="connsiteX10" fmla="*/ 8977879 w 9486459"/>
              <a:gd name="connsiteY10" fmla="*/ 579395 h 579395"/>
              <a:gd name="connsiteX11" fmla="*/ 0 w 9486459"/>
              <a:gd name="connsiteY11" fmla="*/ 579395 h 579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86459" h="579395">
                <a:moveTo>
                  <a:pt x="9472293" y="0"/>
                </a:moveTo>
                <a:lnTo>
                  <a:pt x="9486459" y="0"/>
                </a:lnTo>
                <a:lnTo>
                  <a:pt x="9122539" y="579395"/>
                </a:lnTo>
                <a:lnTo>
                  <a:pt x="9108373" y="579395"/>
                </a:lnTo>
                <a:close/>
                <a:moveTo>
                  <a:pt x="9383852" y="0"/>
                </a:moveTo>
                <a:lnTo>
                  <a:pt x="9434831" y="0"/>
                </a:lnTo>
                <a:lnTo>
                  <a:pt x="9070911" y="579395"/>
                </a:lnTo>
                <a:lnTo>
                  <a:pt x="9019932" y="579395"/>
                </a:lnTo>
                <a:close/>
                <a:moveTo>
                  <a:pt x="0" y="0"/>
                </a:moveTo>
                <a:lnTo>
                  <a:pt x="9345418" y="0"/>
                </a:lnTo>
                <a:lnTo>
                  <a:pt x="8977879" y="579395"/>
                </a:lnTo>
                <a:lnTo>
                  <a:pt x="0" y="579395"/>
                </a:lnTo>
                <a:close/>
              </a:path>
            </a:pathLst>
          </a:custGeom>
          <a:pattFill prst="wdUpDiag">
            <a:fgClr>
              <a:srgbClr val="00449A"/>
            </a:fgClr>
            <a:bgClr>
              <a:srgbClr val="003A8F"/>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lvl="0" algn="ctr"/>
            <a:endParaRPr lang="zh-CN" altLang="en-US" sz="1350" dirty="0">
              <a:solidFill>
                <a:srgbClr val="0064B8"/>
              </a:solidFill>
            </a:endParaRPr>
          </a:p>
        </p:txBody>
      </p:sp>
      <p:grpSp>
        <p:nvGrpSpPr>
          <p:cNvPr id="4" name="组合 3"/>
          <p:cNvGrpSpPr/>
          <p:nvPr userDrawn="1"/>
        </p:nvGrpSpPr>
        <p:grpSpPr>
          <a:xfrm>
            <a:off x="443029" y="435940"/>
            <a:ext cx="257171" cy="208413"/>
            <a:chOff x="337460" y="322200"/>
            <a:chExt cx="257171" cy="208413"/>
          </a:xfrm>
        </p:grpSpPr>
        <p:sp>
          <p:nvSpPr>
            <p:cNvPr id="5" name="箭头: V 形 4"/>
            <p:cNvSpPr/>
            <p:nvPr userDrawn="1"/>
          </p:nvSpPr>
          <p:spPr>
            <a:xfrm>
              <a:off x="424769" y="322200"/>
              <a:ext cx="169862" cy="208413"/>
            </a:xfrm>
            <a:prstGeom prst="chevron">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endParaRPr>
            </a:p>
          </p:txBody>
        </p:sp>
        <p:sp>
          <p:nvSpPr>
            <p:cNvPr id="6" name="任意多边形: 形状 5"/>
            <p:cNvSpPr/>
            <p:nvPr userDrawn="1"/>
          </p:nvSpPr>
          <p:spPr>
            <a:xfrm>
              <a:off x="371973" y="322200"/>
              <a:ext cx="120110" cy="208413"/>
            </a:xfrm>
            <a:custGeom>
              <a:avLst/>
              <a:gdLst>
                <a:gd name="connsiteX0" fmla="*/ 0 w 120110"/>
                <a:gd name="connsiteY0" fmla="*/ 0 h 208413"/>
                <a:gd name="connsiteX1" fmla="*/ 35179 w 120110"/>
                <a:gd name="connsiteY1" fmla="*/ 0 h 208413"/>
                <a:gd name="connsiteX2" fmla="*/ 120110 w 120110"/>
                <a:gd name="connsiteY2" fmla="*/ 104207 h 208413"/>
                <a:gd name="connsiteX3" fmla="*/ 35179 w 120110"/>
                <a:gd name="connsiteY3" fmla="*/ 208413 h 208413"/>
                <a:gd name="connsiteX4" fmla="*/ 0 w 120110"/>
                <a:gd name="connsiteY4" fmla="*/ 208413 h 208413"/>
                <a:gd name="connsiteX5" fmla="*/ 84931 w 120110"/>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10" h="208413">
                  <a:moveTo>
                    <a:pt x="0" y="0"/>
                  </a:moveTo>
                  <a:lnTo>
                    <a:pt x="35179" y="0"/>
                  </a:lnTo>
                  <a:lnTo>
                    <a:pt x="120110" y="104207"/>
                  </a:lnTo>
                  <a:lnTo>
                    <a:pt x="35179"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endParaRPr>
            </a:p>
          </p:txBody>
        </p:sp>
        <p:sp>
          <p:nvSpPr>
            <p:cNvPr id="7" name="任意多边形: 形状 6"/>
            <p:cNvSpPr/>
            <p:nvPr userDrawn="1"/>
          </p:nvSpPr>
          <p:spPr>
            <a:xfrm>
              <a:off x="337460" y="322200"/>
              <a:ext cx="101826" cy="208413"/>
            </a:xfrm>
            <a:custGeom>
              <a:avLst/>
              <a:gdLst>
                <a:gd name="connsiteX0" fmla="*/ 0 w 101826"/>
                <a:gd name="connsiteY0" fmla="*/ 0 h 208413"/>
                <a:gd name="connsiteX1" fmla="*/ 16895 w 101826"/>
                <a:gd name="connsiteY1" fmla="*/ 0 h 208413"/>
                <a:gd name="connsiteX2" fmla="*/ 101826 w 101826"/>
                <a:gd name="connsiteY2" fmla="*/ 104207 h 208413"/>
                <a:gd name="connsiteX3" fmla="*/ 16895 w 101826"/>
                <a:gd name="connsiteY3" fmla="*/ 208413 h 208413"/>
                <a:gd name="connsiteX4" fmla="*/ 0 w 101826"/>
                <a:gd name="connsiteY4" fmla="*/ 208413 h 208413"/>
                <a:gd name="connsiteX5" fmla="*/ 84931 w 101826"/>
                <a:gd name="connsiteY5" fmla="*/ 104207 h 2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6" h="208413">
                  <a:moveTo>
                    <a:pt x="0" y="0"/>
                  </a:moveTo>
                  <a:lnTo>
                    <a:pt x="16895" y="0"/>
                  </a:lnTo>
                  <a:lnTo>
                    <a:pt x="101826" y="104207"/>
                  </a:lnTo>
                  <a:lnTo>
                    <a:pt x="16895" y="208413"/>
                  </a:lnTo>
                  <a:lnTo>
                    <a:pt x="0" y="208413"/>
                  </a:lnTo>
                  <a:lnTo>
                    <a:pt x="84931" y="10420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endParaRPr>
            </a:p>
          </p:txBody>
        </p:sp>
      </p:grpSp>
      <p:sp>
        <p:nvSpPr>
          <p:cNvPr id="12" name="文本占位符 11"/>
          <p:cNvSpPr>
            <a:spLocks noGrp="1"/>
          </p:cNvSpPr>
          <p:nvPr>
            <p:ph type="body" sz="quarter" idx="12" hasCustomPrompt="1"/>
          </p:nvPr>
        </p:nvSpPr>
        <p:spPr>
          <a:xfrm>
            <a:off x="660401" y="315258"/>
            <a:ext cx="7601971" cy="507831"/>
          </a:xfrm>
          <a:prstGeom prst="rect">
            <a:avLst/>
          </a:prstGeom>
        </p:spPr>
        <p:txBody>
          <a:bodyPr/>
          <a:lstStyle>
            <a:lvl1pPr marL="0" indent="0">
              <a:buFontTx/>
              <a:buNone/>
              <a:defRPr sz="1575" b="1" spc="169">
                <a:solidFill>
                  <a:schemeClr val="bg1"/>
                </a:solidFill>
                <a:latin typeface="+mj-ea"/>
                <a:ea typeface="+mj-ea"/>
              </a:defRPr>
            </a:lvl1pPr>
            <a:lvl2pPr marL="257175" indent="0">
              <a:buFontTx/>
              <a:buNone/>
              <a:defRPr sz="1575" b="1">
                <a:solidFill>
                  <a:schemeClr val="bg1"/>
                </a:solidFill>
                <a:latin typeface="+mj-ea"/>
                <a:ea typeface="+mj-ea"/>
              </a:defRPr>
            </a:lvl2pPr>
            <a:lvl3pPr marL="514350" indent="0">
              <a:buFontTx/>
              <a:buNone/>
              <a:defRPr sz="1575" b="1">
                <a:solidFill>
                  <a:schemeClr val="bg1"/>
                </a:solidFill>
                <a:latin typeface="+mj-ea"/>
                <a:ea typeface="+mj-ea"/>
              </a:defRPr>
            </a:lvl3pPr>
            <a:lvl4pPr marL="771525" indent="0">
              <a:buFontTx/>
              <a:buNone/>
              <a:defRPr sz="1575" b="1">
                <a:solidFill>
                  <a:schemeClr val="bg1"/>
                </a:solidFill>
                <a:latin typeface="+mj-ea"/>
                <a:ea typeface="+mj-ea"/>
              </a:defRPr>
            </a:lvl4pPr>
            <a:lvl5pPr marL="1028700" indent="0">
              <a:buFontTx/>
              <a:buNone/>
              <a:defRPr sz="1575" b="1">
                <a:solidFill>
                  <a:schemeClr val="bg1"/>
                </a:solidFill>
                <a:latin typeface="+mj-ea"/>
                <a:ea typeface="+mj-ea"/>
              </a:defRPr>
            </a:lvl5pPr>
          </a:lstStyle>
          <a:p>
            <a:pPr lvl="0"/>
            <a:r>
              <a:rPr lang="en-US" altLang="zh-CN" dirty="0"/>
              <a:t>Click to edit Master title style</a:t>
            </a:r>
            <a:endParaRPr lang="en-US" altLang="zh-CN" dirty="0"/>
          </a:p>
        </p:txBody>
      </p:sp>
      <p:grpSp>
        <p:nvGrpSpPr>
          <p:cNvPr id="17" name="组合 16"/>
          <p:cNvGrpSpPr/>
          <p:nvPr userDrawn="1"/>
        </p:nvGrpSpPr>
        <p:grpSpPr>
          <a:xfrm>
            <a:off x="666751" y="6520363"/>
            <a:ext cx="10858500" cy="0"/>
            <a:chOff x="666750" y="6520363"/>
            <a:chExt cx="10858500" cy="0"/>
          </a:xfrm>
        </p:grpSpPr>
        <p:cxnSp>
          <p:nvCxnSpPr>
            <p:cNvPr id="15" name="直接连接符 14"/>
            <p:cNvCxnSpPr/>
            <p:nvPr userDrawn="1"/>
          </p:nvCxnSpPr>
          <p:spPr>
            <a:xfrm flipH="1">
              <a:off x="7049084" y="6520363"/>
              <a:ext cx="4476166"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flipH="1">
              <a:off x="666750" y="6520363"/>
              <a:ext cx="4476166" cy="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3" name="矩形 12"/>
          <p:cNvSpPr/>
          <p:nvPr userDrawn="1"/>
        </p:nvSpPr>
        <p:spPr>
          <a:xfrm>
            <a:off x="5133733" y="6405430"/>
            <a:ext cx="1906169" cy="229870"/>
          </a:xfrm>
          <a:prstGeom prst="rect">
            <a:avLst/>
          </a:prstGeom>
        </p:spPr>
        <p:txBody>
          <a:bodyPr wrap="square" anchor="ctr" anchorCtr="0">
            <a:spAutoFit/>
          </a:bodyPr>
          <a:lstStyle/>
          <a:p>
            <a:pPr algn="ctr"/>
            <a:r>
              <a:rPr lang="en-US" altLang="zh-CN" sz="900" b="1" spc="169" dirty="0">
                <a:solidFill>
                  <a:schemeClr val="tx2"/>
                </a:solidFill>
                <a:latin typeface="+mj-ea"/>
                <a:ea typeface="+mj-ea"/>
              </a:rPr>
              <a:t>《</a:t>
            </a:r>
            <a:r>
              <a:rPr lang="zh-CN" altLang="en-US" sz="900" b="1" spc="169" dirty="0">
                <a:solidFill>
                  <a:schemeClr val="tx2"/>
                </a:solidFill>
                <a:latin typeface="+mj-ea"/>
                <a:ea typeface="+mj-ea"/>
              </a:rPr>
              <a:t>操作系统</a:t>
            </a:r>
            <a:r>
              <a:rPr lang="en-US" altLang="zh-CN" sz="900" b="1" spc="169" dirty="0">
                <a:solidFill>
                  <a:schemeClr val="tx2"/>
                </a:solidFill>
                <a:latin typeface="+mj-ea"/>
                <a:ea typeface="+mj-ea"/>
              </a:rPr>
              <a:t>》</a:t>
            </a:r>
            <a:endParaRPr lang="zh-CN" altLang="en-US" sz="900" b="1" spc="169" dirty="0">
              <a:solidFill>
                <a:schemeClr val="tx2"/>
              </a:solidFill>
              <a:latin typeface="+mj-ea"/>
              <a:ea typeface="+mj-ea"/>
            </a:endParaRP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5365B7-FDB0-4531-9BA8-C9E46FCB432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C40F59-DB9F-42C9-8670-FD5C2598E64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4.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sv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tags" Target="../tags/tag4.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21.wdp"/><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23.wdp"/><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25.wdp"/><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hyperlink" Target="https://baike.baidu.com/item/%E8%81%94%E6%83%B3%E5%AD%98%E5%82%A8%E5%99%A8" TargetMode="Externa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0.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3.png"/></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4.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6.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7.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0.GIF"/></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12.svg"/><Relationship Id="rId3" Type="http://schemas.openxmlformats.org/officeDocument/2006/relationships/image" Target="../media/image52.png"/><Relationship Id="rId2" Type="http://schemas.openxmlformats.org/officeDocument/2006/relationships/tags" Target="../tags/tag10.xml"/><Relationship Id="rId1" Type="http://schemas.openxmlformats.org/officeDocument/2006/relationships/tags" Target="../tags/tag9.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4.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5.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4.png"/><Relationship Id="rId11" Type="http://schemas.openxmlformats.org/officeDocument/2006/relationships/slideLayout" Target="../slideLayouts/slideLayout1.xml"/><Relationship Id="rId10" Type="http://schemas.openxmlformats.org/officeDocument/2006/relationships/tags" Target="../tags/tag18.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p:nvGrpSpPr>
        <p:grpSpPr>
          <a:xfrm>
            <a:off x="635" y="-22860"/>
            <a:ext cx="12192000" cy="6858000"/>
            <a:chOff x="0" y="0"/>
            <a:chExt cx="12192000" cy="6858000"/>
          </a:xfrm>
        </p:grpSpPr>
        <p:sp>
          <p:nvSpPr>
            <p:cNvPr id="5" name="直角三角形 4"/>
            <p:cNvSpPr/>
            <p:nvPr userDrawn="1"/>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6" name="直角三角形 5"/>
            <p:cNvSpPr/>
            <p:nvPr userDrawn="1"/>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484" y="441960"/>
              <a:ext cx="11211033" cy="6019801"/>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8274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gr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99930" y="768378"/>
            <a:ext cx="2917715" cy="920774"/>
          </a:xfrm>
          <a:prstGeom prst="rect">
            <a:avLst/>
          </a:prstGeom>
        </p:spPr>
      </p:pic>
      <p:sp>
        <p:nvSpPr>
          <p:cNvPr id="11" name="文本框 10"/>
          <p:cNvSpPr txBox="1"/>
          <p:nvPr/>
        </p:nvSpPr>
        <p:spPr>
          <a:xfrm>
            <a:off x="2759710" y="1757045"/>
            <a:ext cx="5982970" cy="922020"/>
          </a:xfrm>
          <a:prstGeom prst="rect">
            <a:avLst/>
          </a:prstGeom>
          <a:noFill/>
        </p:spPr>
        <p:txBody>
          <a:bodyPr wrap="square" rtlCol="0">
            <a:spAutoFit/>
          </a:bodyPr>
          <a:lstStyle/>
          <a:p>
            <a:pPr algn="ctr"/>
            <a:r>
              <a:rPr lang="zh-CN" sz="5400" dirty="0">
                <a:solidFill>
                  <a:srgbClr val="002060"/>
                </a:solidFill>
                <a:latin typeface="汉仪铸字美心体简" panose="00020600040101010101" charset="-122"/>
                <a:ea typeface="汉仪铸字美心体简" panose="00020600040101010101" charset="-122"/>
              </a:rPr>
              <a:t>操作系统</a:t>
            </a:r>
            <a:endParaRPr lang="zh-CN" sz="5400" dirty="0">
              <a:solidFill>
                <a:srgbClr val="002060"/>
              </a:solidFill>
              <a:latin typeface="汉仪铸字美心体简" panose="00020600040101010101" charset="-122"/>
              <a:ea typeface="汉仪铸字美心体简" panose="00020600040101010101" charset="-122"/>
            </a:endParaRPr>
          </a:p>
        </p:txBody>
      </p:sp>
      <p:sp>
        <p:nvSpPr>
          <p:cNvPr id="12" name="图形"/>
          <p:cNvSpPr txBox="1"/>
          <p:nvPr>
            <p:custDataLst>
              <p:tags r:id="rId3"/>
            </p:custDataLst>
          </p:nvPr>
        </p:nvSpPr>
        <p:spPr>
          <a:xfrm>
            <a:off x="3812540" y="4120515"/>
            <a:ext cx="4475480" cy="398780"/>
          </a:xfrm>
          <a:prstGeom prst="rect">
            <a:avLst/>
          </a:prstGeom>
          <a:noFill/>
        </p:spPr>
        <p:txBody>
          <a:bodyPr wrap="square" rtlCol="0" anchor="t">
            <a:spAutoFit/>
          </a:bodyPr>
          <a:lstStyle/>
          <a:p>
            <a:pPr lvl="0" algn="l">
              <a:buClrTx/>
              <a:buSzTx/>
              <a:buFontTx/>
            </a:pPr>
            <a:r>
              <a:rPr lang="zh-CN" sz="2000"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重庆大学</a:t>
            </a:r>
            <a:r>
              <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  </a:t>
            </a:r>
            <a:r>
              <a:rPr lang="zh-CN" sz="2000"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计算机学院</a:t>
            </a:r>
            <a:r>
              <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    </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欧阳德强</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endParaRPr>
          </a:p>
        </p:txBody>
      </p:sp>
      <p:sp>
        <p:nvSpPr>
          <p:cNvPr id="13" name="图形"/>
          <p:cNvSpPr txBox="1"/>
          <p:nvPr>
            <p:custDataLst>
              <p:tags r:id="rId4"/>
            </p:custDataLst>
          </p:nvPr>
        </p:nvSpPr>
        <p:spPr>
          <a:xfrm>
            <a:off x="3812540" y="4946015"/>
            <a:ext cx="5918835" cy="460375"/>
          </a:xfrm>
          <a:prstGeom prst="rect">
            <a:avLst/>
          </a:prstGeom>
          <a:noFill/>
        </p:spPr>
        <p:txBody>
          <a:bodyPr wrap="square" rtlCol="0" anchor="t">
            <a:spAutoFit/>
          </a:bodyPr>
          <a:lstStyle/>
          <a:p>
            <a:pPr lvl="0" algn="l">
              <a:buClrTx/>
              <a:buSzTx/>
              <a:buFontTx/>
            </a:pPr>
            <a:r>
              <a:rPr lang="zh-CN" sz="2400"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邮箱：</a:t>
            </a:r>
            <a:r>
              <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rPr>
              <a:t>deqiangouyang@cqu.edu.cn</a:t>
            </a:r>
            <a:endParaRPr lang="en-US" altLang="zh-CN" sz="2400" b="1" dirty="0">
              <a:solidFill>
                <a:schemeClr val="tx1">
                  <a:lumMod val="85000"/>
                  <a:lumOff val="15000"/>
                </a:schemeClr>
              </a:solidFill>
              <a:latin typeface="微软雅黑" panose="020B0503020204020204" pitchFamily="34" charset="-122"/>
              <a:ea typeface="微软雅黑" panose="020B0503020204020204" pitchFamily="34" charset="-122"/>
              <a:cs typeface="包图粗黑体" panose="02000800000000000000" charset="-122"/>
              <a:sym typeface="Arial" panose="020B0604020202020204" pitchFamily="34" charset="0"/>
            </a:endParaRPr>
          </a:p>
        </p:txBody>
      </p:sp>
      <p:sp>
        <p:nvSpPr>
          <p:cNvPr id="2" name="文本框 1"/>
          <p:cNvSpPr txBox="1"/>
          <p:nvPr/>
        </p:nvSpPr>
        <p:spPr>
          <a:xfrm>
            <a:off x="3213735" y="3015615"/>
            <a:ext cx="5074285" cy="769441"/>
          </a:xfrm>
          <a:prstGeom prst="rect">
            <a:avLst/>
          </a:prstGeom>
          <a:noFill/>
        </p:spPr>
        <p:txBody>
          <a:bodyPr wrap="square" rtlCol="0">
            <a:spAutoFit/>
          </a:bodyPr>
          <a:lstStyle/>
          <a:p>
            <a:pPr algn="ctr"/>
            <a:r>
              <a:rPr lang="zh-CN" sz="4400" b="1" dirty="0">
                <a:solidFill>
                  <a:srgbClr val="002060"/>
                </a:solidFill>
                <a:latin typeface="方正大黑简体" panose="02000000000000000000" charset="-122"/>
                <a:ea typeface="方正大黑简体" panose="02000000000000000000" charset="-122"/>
                <a:cs typeface="方正大黑简体" panose="02000000000000000000" charset="-122"/>
              </a:rPr>
              <a:t>第</a:t>
            </a:r>
            <a:r>
              <a:rPr lang="en-US" altLang="zh-CN" sz="4400" b="1" dirty="0">
                <a:solidFill>
                  <a:srgbClr val="002060"/>
                </a:solidFill>
                <a:latin typeface="方正大黑简体" panose="02000000000000000000" charset="-122"/>
                <a:ea typeface="方正大黑简体" panose="02000000000000000000" charset="-122"/>
                <a:cs typeface="方正大黑简体" panose="02000000000000000000" charset="-122"/>
              </a:rPr>
              <a:t>3</a:t>
            </a:r>
            <a:r>
              <a:rPr lang="zh-CN" altLang="en-US" sz="4400" b="1" dirty="0">
                <a:solidFill>
                  <a:srgbClr val="002060"/>
                </a:solidFill>
                <a:latin typeface="方正大黑简体" panose="02000000000000000000" charset="-122"/>
                <a:ea typeface="方正大黑简体" panose="02000000000000000000" charset="-122"/>
                <a:cs typeface="方正大黑简体" panose="02000000000000000000" charset="-122"/>
              </a:rPr>
              <a:t>章</a:t>
            </a:r>
            <a:r>
              <a:rPr lang="en-US" altLang="zh-CN" sz="4400" b="1"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4400" b="1" dirty="0">
                <a:solidFill>
                  <a:srgbClr val="002060"/>
                </a:solidFill>
                <a:latin typeface="方正大黑简体" panose="02000000000000000000" charset="-122"/>
                <a:ea typeface="方正大黑简体" panose="02000000000000000000" charset="-122"/>
                <a:cs typeface="方正大黑简体" panose="02000000000000000000" charset="-122"/>
              </a:rPr>
              <a:t>内存管理</a:t>
            </a:r>
            <a:endParaRPr lang="zh-CN" altLang="en-US" sz="4400" b="1"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1395" y="544830"/>
            <a:ext cx="4074160"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3.1</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内存的相关概念</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8" name="Text Placeholder 1"/>
          <p:cNvSpPr txBox="1"/>
          <p:nvPr/>
        </p:nvSpPr>
        <p:spPr>
          <a:xfrm>
            <a:off x="2106585" y="1118137"/>
            <a:ext cx="5701478" cy="380873"/>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endParaRPr lang="zh-CN" altLang="en-US" dirty="0">
              <a:latin typeface="Times New Roman" panose="02020603050405020304" pitchFamily="18" charset="0"/>
              <a:ea typeface="DotumChe" pitchFamily="49" charset="-127"/>
            </a:endParaRPr>
          </a:p>
        </p:txBody>
      </p:sp>
      <p:sp>
        <p:nvSpPr>
          <p:cNvPr id="39" name="TextBox 1"/>
          <p:cNvSpPr txBox="1">
            <a:spLocks noChangeArrowheads="1"/>
          </p:cNvSpPr>
          <p:nvPr/>
        </p:nvSpPr>
        <p:spPr bwMode="auto">
          <a:xfrm>
            <a:off x="1366678" y="1151356"/>
            <a:ext cx="4834097"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什么是内存？</a:t>
            </a:r>
            <a:endParaRPr lang="zh-CN" altLang="en-US" sz="2000" b="1" dirty="0">
              <a:solidFill>
                <a:srgbClr val="6C0000"/>
              </a:solidFill>
              <a:latin typeface="华文行楷" panose="02010800040101010101" charset="-122"/>
              <a:ea typeface="华文行楷" panose="02010800040101010101" charset="-122"/>
            </a:endParaRPr>
          </a:p>
        </p:txBody>
      </p:sp>
      <p:sp>
        <p:nvSpPr>
          <p:cNvPr id="41" name="Rectangle 23"/>
          <p:cNvSpPr>
            <a:spLocks noChangeArrowheads="1"/>
          </p:cNvSpPr>
          <p:nvPr/>
        </p:nvSpPr>
        <p:spPr bwMode="auto">
          <a:xfrm>
            <a:off x="2388868" y="324280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2" name="矩形 41"/>
          <p:cNvSpPr/>
          <p:nvPr/>
        </p:nvSpPr>
        <p:spPr>
          <a:xfrm>
            <a:off x="1721654" y="1634772"/>
            <a:ext cx="8188504" cy="646331"/>
          </a:xfrm>
          <a:prstGeom prst="rect">
            <a:avLst/>
          </a:prstGeom>
        </p:spPr>
        <p:txBody>
          <a:bodyPr wrap="square">
            <a:spAutoFit/>
          </a:bodyPr>
          <a:lstStyle/>
          <a:p>
            <a:r>
              <a:rPr lang="zh-CN" altLang="zh-CN" b="1" dirty="0">
                <a:solidFill>
                  <a:srgbClr val="000000"/>
                </a:solidFill>
                <a:latin typeface="等线" panose="02010600030101010101" pitchFamily="2" charset="-122"/>
                <a:ea typeface="等线" panose="02010600030101010101" pitchFamily="2" charset="-122"/>
                <a:cs typeface="Arial" panose="020B0604020202020204" pitchFamily="34" charset="0"/>
              </a:rPr>
              <a:t>内存</a:t>
            </a:r>
            <a:r>
              <a:rPr lang="en-US" altLang="zh-CN" b="1" dirty="0">
                <a:solidFill>
                  <a:srgbClr val="000000"/>
                </a:solidFill>
                <a:latin typeface="等线" panose="02010600030101010101" pitchFamily="2" charset="-122"/>
                <a:ea typeface="等线" panose="02010600030101010101" pitchFamily="2" charset="-122"/>
              </a:rPr>
              <a:t>(Memory)</a:t>
            </a:r>
            <a:r>
              <a:rPr lang="zh-CN" altLang="zh-CN" b="1" dirty="0">
                <a:solidFill>
                  <a:srgbClr val="000000"/>
                </a:solidFill>
                <a:latin typeface="等线" panose="02010600030101010101" pitchFamily="2" charset="-122"/>
                <a:ea typeface="等线" panose="02010600030101010101" pitchFamily="2" charset="-122"/>
                <a:cs typeface="Arial" panose="020B0604020202020204" pitchFamily="34" charset="0"/>
              </a:rPr>
              <a:t>也被称为</a:t>
            </a:r>
            <a:r>
              <a:rPr lang="en-US" altLang="zh-CN" b="1" dirty="0">
                <a:solidFill>
                  <a:srgbClr val="000000"/>
                </a:solidFill>
                <a:latin typeface="等线" panose="02010600030101010101" pitchFamily="2" charset="-122"/>
                <a:ea typeface="等线" panose="02010600030101010101" pitchFamily="2" charset="-122"/>
                <a:cs typeface="Arial" panose="020B0604020202020204" pitchFamily="34" charset="0"/>
              </a:rPr>
              <a:t>内存储器</a:t>
            </a:r>
            <a:r>
              <a:rPr lang="zh-CN" altLang="zh-CN" b="1" dirty="0">
                <a:solidFill>
                  <a:srgbClr val="000000"/>
                </a:solidFill>
                <a:latin typeface="等线" panose="02010600030101010101" pitchFamily="2" charset="-122"/>
                <a:ea typeface="等线" panose="02010600030101010101" pitchFamily="2" charset="-122"/>
                <a:cs typeface="Arial" panose="020B0604020202020204" pitchFamily="34" charset="0"/>
              </a:rPr>
              <a:t>或</a:t>
            </a:r>
            <a:r>
              <a:rPr lang="en-US" altLang="zh-CN" b="1" dirty="0">
                <a:solidFill>
                  <a:srgbClr val="000000"/>
                </a:solidFill>
                <a:latin typeface="等线" panose="02010600030101010101" pitchFamily="2" charset="-122"/>
                <a:ea typeface="等线" panose="02010600030101010101" pitchFamily="2" charset="-122"/>
                <a:cs typeface="Arial" panose="020B0604020202020204" pitchFamily="34" charset="0"/>
              </a:rPr>
              <a:t>主存储器</a:t>
            </a:r>
            <a:r>
              <a:rPr lang="zh-CN" altLang="zh-CN" b="1" dirty="0">
                <a:solidFill>
                  <a:srgbClr val="000000"/>
                </a:solidFill>
                <a:latin typeface="等线" panose="02010600030101010101" pitchFamily="2" charset="-122"/>
                <a:ea typeface="等线" panose="02010600030101010101" pitchFamily="2" charset="-122"/>
                <a:cs typeface="Arial" panose="020B0604020202020204" pitchFamily="34" charset="0"/>
              </a:rPr>
              <a:t>，其作用是用于暂时存放</a:t>
            </a:r>
            <a:r>
              <a:rPr lang="en-US" altLang="zh-CN" b="1" dirty="0">
                <a:solidFill>
                  <a:srgbClr val="000000"/>
                </a:solidFill>
                <a:latin typeface="等线" panose="02010600030101010101" pitchFamily="2" charset="-122"/>
                <a:ea typeface="等线" panose="02010600030101010101" pitchFamily="2" charset="-122"/>
              </a:rPr>
              <a:t>CPU</a:t>
            </a:r>
            <a:r>
              <a:rPr lang="zh-CN" altLang="zh-CN" b="1" dirty="0">
                <a:solidFill>
                  <a:srgbClr val="000000"/>
                </a:solidFill>
                <a:latin typeface="等线" panose="02010600030101010101" pitchFamily="2" charset="-122"/>
                <a:ea typeface="等线" panose="02010600030101010101" pitchFamily="2" charset="-122"/>
                <a:cs typeface="Arial" panose="020B0604020202020204" pitchFamily="34" charset="0"/>
              </a:rPr>
              <a:t>中的运算数据，以及与</a:t>
            </a:r>
            <a:r>
              <a:rPr lang="en-US" altLang="zh-CN" b="1" dirty="0">
                <a:solidFill>
                  <a:srgbClr val="000000"/>
                </a:solidFill>
                <a:latin typeface="等线" panose="02010600030101010101" pitchFamily="2" charset="-122"/>
                <a:ea typeface="等线" panose="02010600030101010101" pitchFamily="2" charset="-122"/>
                <a:cs typeface="Arial" panose="020B0604020202020204" pitchFamily="34" charset="0"/>
              </a:rPr>
              <a:t>硬盘</a:t>
            </a:r>
            <a:r>
              <a:rPr lang="zh-CN" altLang="zh-CN" b="1" dirty="0">
                <a:solidFill>
                  <a:srgbClr val="000000"/>
                </a:solidFill>
                <a:latin typeface="等线" panose="02010600030101010101" pitchFamily="2" charset="-122"/>
                <a:ea typeface="等线" panose="02010600030101010101" pitchFamily="2" charset="-122"/>
                <a:cs typeface="Arial" panose="020B0604020202020204" pitchFamily="34" charset="0"/>
              </a:rPr>
              <a:t>等</a:t>
            </a:r>
            <a:r>
              <a:rPr lang="en-US" altLang="zh-CN" b="1" dirty="0">
                <a:solidFill>
                  <a:srgbClr val="000000"/>
                </a:solidFill>
                <a:latin typeface="等线" panose="02010600030101010101" pitchFamily="2" charset="-122"/>
                <a:ea typeface="等线" panose="02010600030101010101" pitchFamily="2" charset="-122"/>
                <a:cs typeface="Arial" panose="020B0604020202020204" pitchFamily="34" charset="0"/>
              </a:rPr>
              <a:t>外部存储器</a:t>
            </a:r>
            <a:r>
              <a:rPr lang="zh-CN" altLang="zh-CN" b="1" dirty="0">
                <a:solidFill>
                  <a:srgbClr val="000000"/>
                </a:solidFill>
                <a:latin typeface="等线" panose="02010600030101010101" pitchFamily="2" charset="-122"/>
                <a:ea typeface="等线" panose="02010600030101010101" pitchFamily="2" charset="-122"/>
                <a:cs typeface="Arial" panose="020B0604020202020204" pitchFamily="34" charset="0"/>
              </a:rPr>
              <a:t>交换的数据</a:t>
            </a:r>
            <a:r>
              <a:rPr lang="zh-CN" altLang="en-US" b="1" dirty="0">
                <a:solidFill>
                  <a:srgbClr val="000000"/>
                </a:solidFill>
                <a:latin typeface="等线" panose="02010600030101010101" pitchFamily="2" charset="-122"/>
                <a:ea typeface="等线" panose="02010600030101010101" pitchFamily="2" charset="-122"/>
                <a:cs typeface="Arial" panose="020B0604020202020204" pitchFamily="34" charset="0"/>
              </a:rPr>
              <a:t>。</a:t>
            </a:r>
            <a:endParaRPr lang="zh-CN" altLang="en-US" b="1" dirty="0">
              <a:latin typeface="等线" panose="02010600030101010101" pitchFamily="2" charset="-122"/>
              <a:ea typeface="等线" panose="02010600030101010101" pitchFamily="2" charset="-122"/>
            </a:endParaRPr>
          </a:p>
        </p:txBody>
      </p:sp>
      <p:pic>
        <p:nvPicPr>
          <p:cNvPr id="43" name="图片 42"/>
          <p:cNvPicPr>
            <a:picLocks noChangeAspect="1"/>
          </p:cNvPicPr>
          <p:nvPr/>
        </p:nvPicPr>
        <p:blipFill>
          <a:blip r:embed="rId1"/>
          <a:srcRect b="16525"/>
          <a:stretch>
            <a:fillRect/>
          </a:stretch>
        </p:blipFill>
        <p:spPr>
          <a:xfrm>
            <a:off x="3126877" y="2393722"/>
            <a:ext cx="5253352" cy="1873097"/>
          </a:xfrm>
          <a:prstGeom prst="rect">
            <a:avLst/>
          </a:prstGeom>
        </p:spPr>
      </p:pic>
      <p:sp>
        <p:nvSpPr>
          <p:cNvPr id="44" name="矩形 43"/>
          <p:cNvSpPr/>
          <p:nvPr/>
        </p:nvSpPr>
        <p:spPr>
          <a:xfrm>
            <a:off x="1721653" y="4750235"/>
            <a:ext cx="8700001" cy="1200329"/>
          </a:xfrm>
          <a:prstGeom prst="rect">
            <a:avLst/>
          </a:prstGeom>
        </p:spPr>
        <p:txBody>
          <a:bodyPr wrap="square">
            <a:spAutoFit/>
          </a:bodyPr>
          <a:lstStyle/>
          <a:p>
            <a:r>
              <a:rPr lang="zh-CN"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内存以</a:t>
            </a:r>
            <a:r>
              <a:rPr lang="zh-CN" altLang="zh-CN" b="1" dirty="0">
                <a:solidFill>
                  <a:srgbClr val="FF0000"/>
                </a:solidFill>
                <a:latin typeface="等线" panose="02010600030101010101" pitchFamily="2" charset="-122"/>
                <a:ea typeface="等线" panose="02010600030101010101" pitchFamily="2" charset="-122"/>
                <a:cs typeface="Times New Roman" panose="02020603050405020304" pitchFamily="18" charset="0"/>
              </a:rPr>
              <a:t>字节</a:t>
            </a:r>
            <a:r>
              <a:rPr lang="zh-CN"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为存储单位，内存地址空间（也称为物理地址空间）是指对内存编码的范围。所谓编码就是对每一个物理存储单元（一个字节）分配一个号码，通常叫作</a:t>
            </a:r>
            <a:r>
              <a:rPr lang="zh-CN" altLang="zh-CN" b="1" dirty="0">
                <a:solidFill>
                  <a:srgbClr val="FF0000"/>
                </a:solidFill>
                <a:latin typeface="等线" panose="02010600030101010101" pitchFamily="2" charset="-122"/>
                <a:ea typeface="等线" panose="02010600030101010101" pitchFamily="2" charset="-122"/>
                <a:cs typeface="Times New Roman" panose="02020603050405020304" pitchFamily="18" charset="0"/>
              </a:rPr>
              <a:t>“物理地址”</a:t>
            </a:r>
            <a:r>
              <a:rPr lang="zh-CN"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或</a:t>
            </a:r>
            <a:r>
              <a:rPr lang="zh-CN" altLang="zh-CN" b="1" dirty="0">
                <a:solidFill>
                  <a:srgbClr val="FF0000"/>
                </a:solidFill>
                <a:latin typeface="等线" panose="02010600030101010101" pitchFamily="2" charset="-122"/>
                <a:ea typeface="等线" panose="02010600030101010101" pitchFamily="2" charset="-122"/>
                <a:cs typeface="Times New Roman" panose="02020603050405020304" pitchFamily="18" charset="0"/>
              </a:rPr>
              <a:t>“内存地址”</a:t>
            </a:r>
            <a:r>
              <a:rPr lang="zh-CN"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。分配一个号码给一个存储单元的目的是为了便于找到它，完成数据的读写，这就是所谓的“寻址”</a:t>
            </a:r>
            <a:endParaRPr lang="zh-CN" altLang="en-US" b="1" dirty="0">
              <a:latin typeface="等线" panose="02010600030101010101" pitchFamily="2" charset="-122"/>
              <a:ea typeface="等线"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1395" y="544830"/>
            <a:ext cx="4074160"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3.1</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内存的相关概念</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8" name="Text Placeholder 1"/>
          <p:cNvSpPr txBox="1"/>
          <p:nvPr/>
        </p:nvSpPr>
        <p:spPr>
          <a:xfrm>
            <a:off x="2106585" y="1118137"/>
            <a:ext cx="5701478" cy="380873"/>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endParaRPr lang="zh-CN" altLang="en-US" dirty="0">
              <a:latin typeface="Times New Roman" panose="02020603050405020304" pitchFamily="18" charset="0"/>
              <a:ea typeface="DotumChe" pitchFamily="49" charset="-127"/>
            </a:endParaRPr>
          </a:p>
        </p:txBody>
      </p:sp>
      <p:sp>
        <p:nvSpPr>
          <p:cNvPr id="3" name="Text Placeholder 1"/>
          <p:cNvSpPr txBox="1"/>
          <p:nvPr/>
        </p:nvSpPr>
        <p:spPr>
          <a:xfrm>
            <a:off x="1296568" y="1095334"/>
            <a:ext cx="5701478" cy="380873"/>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endParaRPr lang="zh-CN" altLang="en-US" dirty="0">
              <a:latin typeface="Times New Roman" panose="02020603050405020304" pitchFamily="18" charset="0"/>
              <a:ea typeface="DotumChe" pitchFamily="49" charset="-127"/>
            </a:endParaRPr>
          </a:p>
        </p:txBody>
      </p:sp>
      <p:sp>
        <p:nvSpPr>
          <p:cNvPr id="4" name="TextBox 1"/>
          <p:cNvSpPr txBox="1">
            <a:spLocks noChangeArrowheads="1"/>
          </p:cNvSpPr>
          <p:nvPr/>
        </p:nvSpPr>
        <p:spPr bwMode="auto">
          <a:xfrm>
            <a:off x="1343372" y="1078941"/>
            <a:ext cx="4074161"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指令运行的原理</a:t>
            </a:r>
            <a:endParaRPr lang="zh-CN" altLang="en-US" sz="2000" b="1" dirty="0">
              <a:solidFill>
                <a:srgbClr val="6C0000"/>
              </a:solidFill>
              <a:latin typeface="华文行楷" panose="02010800040101010101" charset="-122"/>
              <a:ea typeface="华文行楷" panose="02010800040101010101" charset="-122"/>
            </a:endParaRPr>
          </a:p>
        </p:txBody>
      </p:sp>
      <p:grpSp>
        <p:nvGrpSpPr>
          <p:cNvPr id="35" name="组合 34"/>
          <p:cNvGrpSpPr/>
          <p:nvPr/>
        </p:nvGrpSpPr>
        <p:grpSpPr>
          <a:xfrm>
            <a:off x="1722120" y="1774190"/>
            <a:ext cx="3901440" cy="3286125"/>
            <a:chOff x="10901" y="2462"/>
            <a:chExt cx="6144" cy="5175"/>
          </a:xfrm>
        </p:grpSpPr>
        <p:sp>
          <p:nvSpPr>
            <p:cNvPr id="5" name="流程图: 资料带 4"/>
            <p:cNvSpPr/>
            <p:nvPr/>
          </p:nvSpPr>
          <p:spPr>
            <a:xfrm>
              <a:off x="12616" y="2462"/>
              <a:ext cx="1606" cy="701"/>
            </a:xfrm>
            <a:prstGeom prst="flowChartPunchedTap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x=x+1</a:t>
              </a:r>
              <a:endParaRPr lang="en-US" altLang="zh-CN">
                <a:solidFill>
                  <a:schemeClr val="tx1"/>
                </a:solidFill>
              </a:endParaRPr>
            </a:p>
          </p:txBody>
        </p:sp>
        <p:sp>
          <p:nvSpPr>
            <p:cNvPr id="7" name="文本框 6"/>
            <p:cNvSpPr txBox="1"/>
            <p:nvPr/>
          </p:nvSpPr>
          <p:spPr>
            <a:xfrm>
              <a:off x="10901" y="3599"/>
              <a:ext cx="5744" cy="1201"/>
            </a:xfrm>
            <a:prstGeom prst="rect">
              <a:avLst/>
            </a:prstGeom>
            <a:solidFill>
              <a:schemeClr val="bg2"/>
            </a:solidFill>
            <a:ln>
              <a:solidFill>
                <a:schemeClr val="tx1"/>
              </a:solidFill>
            </a:ln>
          </p:spPr>
          <p:txBody>
            <a:bodyPr wrap="square">
              <a:noAutofit/>
              <a:extLst>
                <a:ext uri="{4A0BC546-FE56-4ADE-93B0-CB8AF2F6F144}">
                  <wpsdc:textFrameExt xmlns:wpsdc="http://www.wps.cn/officeDocument/2022/drawingmlCustomData" type="text"/>
                </a:ext>
              </a:extLst>
            </a:bodyPr>
            <a:p>
              <a:pPr indent="0" algn="l" fontAlgn="auto">
                <a:lnSpc>
                  <a:spcPct val="125000"/>
                </a:lnSpc>
              </a:pPr>
              <a:r>
                <a:rPr lang="zh-CN" altLang="en-US" sz="1200">
                  <a:latin typeface="Arial" panose="020B0604020202020204" pitchFamily="34" charset="0"/>
                  <a:ea typeface="微软雅黑" panose="020B0503020204020204" pitchFamily="34" charset="-122"/>
                </a:rPr>
                <a:t>指令</a:t>
              </a:r>
              <a:r>
                <a:rPr lang="en-US" altLang="zh-CN" sz="1200">
                  <a:latin typeface="Arial" panose="020B0604020202020204" pitchFamily="34" charset="0"/>
                  <a:ea typeface="微软雅黑" panose="020B0503020204020204" pitchFamily="34" charset="-122"/>
                </a:rPr>
                <a:t>1</a:t>
              </a:r>
              <a:r>
                <a:rPr lang="zh-CN" altLang="en-US" sz="1200">
                  <a:latin typeface="Arial" panose="020B0604020202020204" pitchFamily="34" charset="0"/>
                  <a:ea typeface="微软雅黑" panose="020B0503020204020204" pitchFamily="34" charset="-122"/>
                </a:rPr>
                <a:t>：将变量</a:t>
              </a:r>
              <a:r>
                <a:rPr lang="en-US" altLang="zh-CN" sz="1200">
                  <a:latin typeface="Arial" panose="020B0604020202020204" pitchFamily="34" charset="0"/>
                  <a:ea typeface="微软雅黑" panose="020B0503020204020204" pitchFamily="34" charset="-122"/>
                </a:rPr>
                <a:t>x</a:t>
              </a:r>
              <a:r>
                <a:rPr lang="zh-CN" altLang="en-US" sz="1200">
                  <a:latin typeface="Arial" panose="020B0604020202020204" pitchFamily="34" charset="0"/>
                  <a:ea typeface="微软雅黑" panose="020B0503020204020204" pitchFamily="34" charset="-122"/>
                </a:rPr>
                <a:t>所在内存单元的值送到</a:t>
              </a:r>
              <a:r>
                <a:rPr lang="en-US" altLang="zh-CN" sz="1200">
                  <a:latin typeface="Arial" panose="020B0604020202020204" pitchFamily="34" charset="0"/>
                  <a:ea typeface="微软雅黑" panose="020B0503020204020204" pitchFamily="34" charset="-122"/>
                </a:rPr>
                <a:t>AX</a:t>
              </a:r>
              <a:r>
                <a:rPr lang="zh-CN" altLang="en-US" sz="1200">
                  <a:latin typeface="Arial" panose="020B0604020202020204" pitchFamily="34" charset="0"/>
                  <a:ea typeface="微软雅黑" panose="020B0503020204020204" pitchFamily="34" charset="-122"/>
                </a:rPr>
                <a:t>寄存器</a:t>
              </a:r>
              <a:endParaRPr lang="zh-CN" altLang="en-US" sz="1200">
                <a:latin typeface="Arial" panose="020B0604020202020204" pitchFamily="34" charset="0"/>
                <a:ea typeface="微软雅黑" panose="020B0503020204020204" pitchFamily="34" charset="-122"/>
              </a:endParaRPr>
            </a:p>
            <a:p>
              <a:pPr indent="0" algn="l" fontAlgn="auto">
                <a:lnSpc>
                  <a:spcPct val="125000"/>
                </a:lnSpc>
              </a:pPr>
              <a:r>
                <a:rPr lang="zh-CN" altLang="en-US" sz="1200">
                  <a:latin typeface="Arial" panose="020B0604020202020204" pitchFamily="34" charset="0"/>
                  <a:ea typeface="微软雅黑" panose="020B0503020204020204" pitchFamily="34" charset="-122"/>
                  <a:sym typeface="+mn-ea"/>
                </a:rPr>
                <a:t>指令</a:t>
              </a:r>
              <a:r>
                <a:rPr lang="en-US" altLang="zh-CN" sz="1200">
                  <a:latin typeface="Arial" panose="020B0604020202020204" pitchFamily="34" charset="0"/>
                  <a:ea typeface="微软雅黑" panose="020B0503020204020204" pitchFamily="34" charset="-122"/>
                  <a:sym typeface="+mn-ea"/>
                </a:rPr>
                <a:t>2</a:t>
              </a:r>
              <a:r>
                <a:rPr lang="zh-CN" altLang="en-US" sz="1200">
                  <a:latin typeface="Arial" panose="020B0604020202020204" pitchFamily="34" charset="0"/>
                  <a:ea typeface="微软雅黑" panose="020B0503020204020204" pitchFamily="34" charset="-122"/>
                  <a:sym typeface="+mn-ea"/>
                </a:rPr>
                <a:t>：</a:t>
              </a:r>
              <a:r>
                <a:rPr lang="zh-CN" altLang="en-US" sz="1200">
                  <a:latin typeface="Arial" panose="020B0604020202020204" pitchFamily="34" charset="0"/>
                  <a:ea typeface="微软雅黑" panose="020B0503020204020204" pitchFamily="34" charset="-122"/>
                </a:rPr>
                <a:t>将</a:t>
              </a:r>
              <a:r>
                <a:rPr lang="en-US" altLang="zh-CN" sz="1200">
                  <a:latin typeface="Arial" panose="020B0604020202020204" pitchFamily="34" charset="0"/>
                  <a:ea typeface="微软雅黑" panose="020B0503020204020204" pitchFamily="34" charset="-122"/>
                </a:rPr>
                <a:t>AX</a:t>
              </a:r>
              <a:r>
                <a:rPr lang="zh-CN" altLang="en-US" sz="1200">
                  <a:latin typeface="Arial" panose="020B0604020202020204" pitchFamily="34" charset="0"/>
                  <a:ea typeface="微软雅黑" panose="020B0503020204020204" pitchFamily="34" charset="-122"/>
                </a:rPr>
                <a:t>寄存器的内容加</a:t>
              </a:r>
              <a:r>
                <a:rPr lang="en-US" altLang="zh-CN" sz="1200">
                  <a:latin typeface="Arial" panose="020B0604020202020204" pitchFamily="34" charset="0"/>
                  <a:ea typeface="微软雅黑" panose="020B0503020204020204" pitchFamily="34" charset="-122"/>
                </a:rPr>
                <a:t>1</a:t>
              </a:r>
              <a:endParaRPr lang="en-US" altLang="zh-CN" sz="1200">
                <a:latin typeface="Arial" panose="020B0604020202020204" pitchFamily="34" charset="0"/>
                <a:ea typeface="微软雅黑" panose="020B0503020204020204" pitchFamily="34" charset="-122"/>
              </a:endParaRPr>
            </a:p>
            <a:p>
              <a:pPr indent="0" algn="l" fontAlgn="auto">
                <a:lnSpc>
                  <a:spcPct val="125000"/>
                </a:lnSpc>
              </a:pPr>
              <a:r>
                <a:rPr lang="zh-CN" altLang="en-US" sz="1200">
                  <a:latin typeface="Arial" panose="020B0604020202020204" pitchFamily="34" charset="0"/>
                  <a:ea typeface="微软雅黑" panose="020B0503020204020204" pitchFamily="34" charset="-122"/>
                  <a:sym typeface="+mn-ea"/>
                </a:rPr>
                <a:t>指令</a:t>
              </a:r>
              <a:r>
                <a:rPr lang="en-US" altLang="zh-CN" sz="1200">
                  <a:latin typeface="Arial" panose="020B0604020202020204" pitchFamily="34" charset="0"/>
                  <a:ea typeface="微软雅黑" panose="020B0503020204020204" pitchFamily="34" charset="-122"/>
                  <a:sym typeface="+mn-ea"/>
                </a:rPr>
                <a:t>3</a:t>
              </a:r>
              <a:r>
                <a:rPr lang="zh-CN" altLang="en-US" sz="1200">
                  <a:latin typeface="Arial" panose="020B0604020202020204" pitchFamily="34" charset="0"/>
                  <a:ea typeface="微软雅黑" panose="020B0503020204020204" pitchFamily="34" charset="-122"/>
                  <a:sym typeface="+mn-ea"/>
                </a:rPr>
                <a:t>：</a:t>
              </a:r>
              <a:r>
                <a:rPr lang="zh-CN" altLang="en-US" sz="1200">
                  <a:latin typeface="Arial" panose="020B0604020202020204" pitchFamily="34" charset="0"/>
                  <a:ea typeface="微软雅黑" panose="020B0503020204020204" pitchFamily="34" charset="-122"/>
                </a:rPr>
                <a:t>将</a:t>
              </a:r>
              <a:r>
                <a:rPr lang="en-US" altLang="zh-CN" sz="1200">
                  <a:latin typeface="Arial" panose="020B0604020202020204" pitchFamily="34" charset="0"/>
                  <a:ea typeface="微软雅黑" panose="020B0503020204020204" pitchFamily="34" charset="-122"/>
                </a:rPr>
                <a:t>AX</a:t>
              </a:r>
              <a:r>
                <a:rPr lang="zh-CN" altLang="en-US" sz="1200">
                  <a:latin typeface="Arial" panose="020B0604020202020204" pitchFamily="34" charset="0"/>
                  <a:ea typeface="微软雅黑" panose="020B0503020204020204" pitchFamily="34" charset="-122"/>
                </a:rPr>
                <a:t>寄存器中的内容回写到变量</a:t>
              </a:r>
              <a:r>
                <a:rPr lang="en-US" altLang="zh-CN" sz="1200">
                  <a:latin typeface="Arial" panose="020B0604020202020204" pitchFamily="34" charset="0"/>
                  <a:ea typeface="微软雅黑" panose="020B0503020204020204" pitchFamily="34" charset="-122"/>
                </a:rPr>
                <a:t>x</a:t>
              </a:r>
              <a:r>
                <a:rPr lang="zh-CN" altLang="en-US" sz="1200">
                  <a:latin typeface="Arial" panose="020B0604020202020204" pitchFamily="34" charset="0"/>
                  <a:ea typeface="微软雅黑" panose="020B0503020204020204" pitchFamily="34" charset="-122"/>
                </a:rPr>
                <a:t>的单元</a:t>
              </a:r>
              <a:endParaRPr lang="zh-CN" altLang="en-US" sz="1200">
                <a:latin typeface="Arial" panose="020B0604020202020204" pitchFamily="34" charset="0"/>
                <a:ea typeface="微软雅黑" panose="020B0503020204020204" pitchFamily="34" charset="-122"/>
              </a:endParaRPr>
            </a:p>
            <a:p>
              <a:pPr algn="l"/>
              <a:endParaRPr lang="zh-CN" altLang="en-US" sz="1200">
                <a:latin typeface="Arial" panose="020B0604020202020204" pitchFamily="34" charset="0"/>
                <a:ea typeface="微软雅黑" panose="020B0503020204020204" pitchFamily="34" charset="-122"/>
              </a:endParaRPr>
            </a:p>
          </p:txBody>
        </p:sp>
        <p:sp>
          <p:nvSpPr>
            <p:cNvPr id="22" name="文本框 21"/>
            <p:cNvSpPr txBox="1"/>
            <p:nvPr/>
          </p:nvSpPr>
          <p:spPr>
            <a:xfrm>
              <a:off x="13473" y="3188"/>
              <a:ext cx="1179" cy="386"/>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000" b="1">
                  <a:latin typeface="Arial" panose="020B0604020202020204" pitchFamily="34" charset="0"/>
                  <a:ea typeface="微软雅黑" panose="020B0503020204020204" pitchFamily="34" charset="-122"/>
                </a:rPr>
                <a:t>编译后</a:t>
              </a:r>
              <a:endParaRPr lang="zh-CN" altLang="en-US" sz="1000" b="1">
                <a:latin typeface="Arial" panose="020B0604020202020204" pitchFamily="34" charset="0"/>
                <a:ea typeface="微软雅黑" panose="020B0503020204020204" pitchFamily="34" charset="-122"/>
              </a:endParaRPr>
            </a:p>
          </p:txBody>
        </p:sp>
        <p:sp>
          <p:nvSpPr>
            <p:cNvPr id="23" name="下箭头 22"/>
            <p:cNvSpPr/>
            <p:nvPr/>
          </p:nvSpPr>
          <p:spPr>
            <a:xfrm>
              <a:off x="14442" y="4858"/>
              <a:ext cx="358" cy="223"/>
            </a:xfrm>
            <a:prstGeom prst="downArrow">
              <a:avLst/>
            </a:prstGeom>
            <a:solidFill>
              <a:schemeClr val="bg2"/>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3" name="组合 32"/>
            <p:cNvGrpSpPr/>
            <p:nvPr/>
          </p:nvGrpSpPr>
          <p:grpSpPr>
            <a:xfrm>
              <a:off x="11184" y="5138"/>
              <a:ext cx="5861" cy="2499"/>
              <a:chOff x="11184" y="5138"/>
              <a:chExt cx="5861" cy="2499"/>
            </a:xfrm>
          </p:grpSpPr>
          <p:grpSp>
            <p:nvGrpSpPr>
              <p:cNvPr id="8" name="组合 7"/>
              <p:cNvGrpSpPr/>
              <p:nvPr/>
            </p:nvGrpSpPr>
            <p:grpSpPr>
              <a:xfrm>
                <a:off x="14223" y="5138"/>
                <a:ext cx="834" cy="2498"/>
                <a:chOff x="12745" y="5586"/>
                <a:chExt cx="834" cy="2498"/>
              </a:xfrm>
            </p:grpSpPr>
            <p:sp>
              <p:nvSpPr>
                <p:cNvPr id="9" name="矩形 8"/>
                <p:cNvSpPr/>
                <p:nvPr/>
              </p:nvSpPr>
              <p:spPr>
                <a:xfrm>
                  <a:off x="12745" y="5586"/>
                  <a:ext cx="834" cy="357"/>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tIns="0" bIns="144145" rtlCol="0" anchor="ctr"/>
                <a:p>
                  <a:pPr algn="ctr"/>
                  <a:r>
                    <a:rPr lang="en-US" altLang="zh-CN">
                      <a:solidFill>
                        <a:schemeClr val="tx1"/>
                      </a:solidFill>
                    </a:rPr>
                    <a:t>...</a:t>
                  </a:r>
                  <a:endParaRPr lang="en-US" altLang="zh-CN">
                    <a:solidFill>
                      <a:schemeClr val="tx1"/>
                    </a:solidFill>
                  </a:endParaRPr>
                </a:p>
              </p:txBody>
            </p:sp>
            <p:sp>
              <p:nvSpPr>
                <p:cNvPr id="10" name="矩形 9"/>
                <p:cNvSpPr/>
                <p:nvPr/>
              </p:nvSpPr>
              <p:spPr>
                <a:xfrm>
                  <a:off x="12745" y="5943"/>
                  <a:ext cx="834" cy="357"/>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tIns="0" bIns="0" rtlCol="0" anchor="ctr"/>
                <a:p>
                  <a:pPr algn="ctr"/>
                  <a:r>
                    <a:rPr lang="zh-CN" altLang="en-US" sz="1000" b="1">
                      <a:solidFill>
                        <a:schemeClr val="tx1"/>
                      </a:solidFill>
                    </a:rPr>
                    <a:t>指令</a:t>
                  </a:r>
                  <a:r>
                    <a:rPr lang="en-US" altLang="zh-CN" sz="1000" b="1">
                      <a:solidFill>
                        <a:schemeClr val="tx1"/>
                      </a:solidFill>
                    </a:rPr>
                    <a:t>1 </a:t>
                  </a:r>
                  <a:endParaRPr lang="en-US" altLang="zh-CN" sz="1000" b="1">
                    <a:solidFill>
                      <a:schemeClr val="tx1"/>
                    </a:solidFill>
                  </a:endParaRPr>
                </a:p>
              </p:txBody>
            </p:sp>
            <p:sp>
              <p:nvSpPr>
                <p:cNvPr id="11" name="矩形 10"/>
                <p:cNvSpPr/>
                <p:nvPr/>
              </p:nvSpPr>
              <p:spPr>
                <a:xfrm>
                  <a:off x="12745" y="7007"/>
                  <a:ext cx="834" cy="357"/>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tIns="0" bIns="144145" rtlCol="0" anchor="ctr"/>
                <a:p>
                  <a:pPr algn="ctr"/>
                  <a:r>
                    <a:rPr lang="en-US" altLang="zh-CN">
                      <a:solidFill>
                        <a:schemeClr val="tx1"/>
                      </a:solidFill>
                    </a:rPr>
                    <a:t>...</a:t>
                  </a:r>
                  <a:endParaRPr lang="en-US" altLang="zh-CN">
                    <a:solidFill>
                      <a:schemeClr val="tx1"/>
                    </a:solidFill>
                  </a:endParaRPr>
                </a:p>
              </p:txBody>
            </p:sp>
            <p:sp>
              <p:nvSpPr>
                <p:cNvPr id="14" name="矩形 13"/>
                <p:cNvSpPr/>
                <p:nvPr/>
              </p:nvSpPr>
              <p:spPr>
                <a:xfrm>
                  <a:off x="12745" y="7728"/>
                  <a:ext cx="834" cy="357"/>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tIns="0" bIns="144145" rtlCol="0" anchor="ctr"/>
                <a:p>
                  <a:pPr algn="ctr"/>
                  <a:r>
                    <a:rPr lang="en-US" altLang="zh-CN">
                      <a:solidFill>
                        <a:schemeClr val="tx1"/>
                      </a:solidFill>
                    </a:rPr>
                    <a:t>...</a:t>
                  </a:r>
                  <a:endParaRPr lang="en-US" altLang="zh-CN">
                    <a:solidFill>
                      <a:schemeClr val="tx1"/>
                    </a:solidFill>
                  </a:endParaRPr>
                </a:p>
              </p:txBody>
            </p:sp>
            <p:sp>
              <p:nvSpPr>
                <p:cNvPr id="15" name="矩形 14"/>
                <p:cNvSpPr/>
                <p:nvPr/>
              </p:nvSpPr>
              <p:spPr>
                <a:xfrm>
                  <a:off x="12745" y="6300"/>
                  <a:ext cx="834" cy="357"/>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tIns="0" bIns="0" rtlCol="0" anchor="ctr"/>
                <a:p>
                  <a:pPr algn="ctr"/>
                  <a:r>
                    <a:rPr lang="zh-CN" altLang="en-US" sz="1000" b="1">
                      <a:solidFill>
                        <a:schemeClr val="tx1"/>
                      </a:solidFill>
                    </a:rPr>
                    <a:t>指令</a:t>
                  </a:r>
                  <a:r>
                    <a:rPr lang="en-US" altLang="zh-CN" sz="1000" b="1">
                      <a:solidFill>
                        <a:schemeClr val="tx1"/>
                      </a:solidFill>
                    </a:rPr>
                    <a:t>2</a:t>
                  </a:r>
                  <a:r>
                    <a:rPr lang="en-US" altLang="zh-CN" sz="1000" b="1">
                      <a:solidFill>
                        <a:schemeClr val="tx1"/>
                      </a:solidFill>
                    </a:rPr>
                    <a:t> </a:t>
                  </a:r>
                  <a:endParaRPr lang="en-US" altLang="zh-CN" sz="1000" b="1">
                    <a:solidFill>
                      <a:schemeClr val="tx1"/>
                    </a:solidFill>
                  </a:endParaRPr>
                </a:p>
              </p:txBody>
            </p:sp>
            <p:sp>
              <p:nvSpPr>
                <p:cNvPr id="17" name="矩形 16"/>
                <p:cNvSpPr/>
                <p:nvPr/>
              </p:nvSpPr>
              <p:spPr>
                <a:xfrm>
                  <a:off x="12745" y="6657"/>
                  <a:ext cx="834" cy="357"/>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tIns="0" bIns="0" rtlCol="0" anchor="ctr"/>
                <a:p>
                  <a:pPr algn="ctr"/>
                  <a:r>
                    <a:rPr lang="zh-CN" altLang="en-US" sz="1000" b="1">
                      <a:solidFill>
                        <a:schemeClr val="tx1"/>
                      </a:solidFill>
                    </a:rPr>
                    <a:t>指令</a:t>
                  </a:r>
                  <a:r>
                    <a:rPr lang="en-US" altLang="zh-CN" sz="1000" b="1">
                      <a:solidFill>
                        <a:schemeClr val="tx1"/>
                      </a:solidFill>
                    </a:rPr>
                    <a:t>3</a:t>
                  </a:r>
                  <a:endParaRPr lang="en-US" altLang="zh-CN" sz="1000" b="1">
                    <a:solidFill>
                      <a:schemeClr val="tx1"/>
                    </a:solidFill>
                  </a:endParaRPr>
                </a:p>
              </p:txBody>
            </p:sp>
            <p:sp>
              <p:nvSpPr>
                <p:cNvPr id="18" name="矩形 17"/>
                <p:cNvSpPr/>
                <p:nvPr/>
              </p:nvSpPr>
              <p:spPr>
                <a:xfrm>
                  <a:off x="12745" y="7371"/>
                  <a:ext cx="834" cy="357"/>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tIns="0" bIns="0" rtlCol="0" anchor="ctr"/>
                <a:p>
                  <a:pPr algn="ctr"/>
                  <a:r>
                    <a:rPr lang="en-US" sz="1000" b="1">
                      <a:solidFill>
                        <a:schemeClr val="tx1"/>
                      </a:solidFill>
                    </a:rPr>
                    <a:t>5</a:t>
                  </a:r>
                  <a:r>
                    <a:rPr lang="en-US" altLang="zh-CN" sz="1000" b="1">
                      <a:solidFill>
                        <a:schemeClr val="tx1"/>
                      </a:solidFill>
                    </a:rPr>
                    <a:t> </a:t>
                  </a:r>
                  <a:endParaRPr lang="en-US" altLang="zh-CN" sz="1000" b="1">
                    <a:solidFill>
                      <a:schemeClr val="tx1"/>
                    </a:solidFill>
                  </a:endParaRPr>
                </a:p>
              </p:txBody>
            </p:sp>
          </p:grpSp>
          <p:sp>
            <p:nvSpPr>
              <p:cNvPr id="19" name="右大括号 18"/>
              <p:cNvSpPr/>
              <p:nvPr/>
            </p:nvSpPr>
            <p:spPr>
              <a:xfrm>
                <a:off x="15102" y="5542"/>
                <a:ext cx="238" cy="924"/>
              </a:xfrm>
              <a:prstGeom prst="rightBrac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文本框 19"/>
              <p:cNvSpPr txBox="1"/>
              <p:nvPr/>
            </p:nvSpPr>
            <p:spPr>
              <a:xfrm>
                <a:off x="15385" y="5775"/>
                <a:ext cx="1660" cy="386"/>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000" b="1">
                    <a:latin typeface="Arial" panose="020B0604020202020204" pitchFamily="34" charset="0"/>
                    <a:ea typeface="微软雅黑" panose="020B0503020204020204" pitchFamily="34" charset="-122"/>
                  </a:rPr>
                  <a:t>代码段</a:t>
                </a:r>
                <a:endParaRPr lang="zh-CN" altLang="en-US" sz="1000" b="1">
                  <a:latin typeface="Arial" panose="020B0604020202020204" pitchFamily="34" charset="0"/>
                  <a:ea typeface="微软雅黑" panose="020B0503020204020204" pitchFamily="34" charset="-122"/>
                </a:endParaRPr>
              </a:p>
            </p:txBody>
          </p:sp>
          <p:sp>
            <p:nvSpPr>
              <p:cNvPr id="21" name="文本框 20"/>
              <p:cNvSpPr txBox="1"/>
              <p:nvPr/>
            </p:nvSpPr>
            <p:spPr>
              <a:xfrm>
                <a:off x="15454" y="7107"/>
                <a:ext cx="1064" cy="386"/>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000" b="1">
                    <a:latin typeface="Arial" panose="020B0604020202020204" pitchFamily="34" charset="0"/>
                    <a:ea typeface="微软雅黑" panose="020B0503020204020204" pitchFamily="34" charset="-122"/>
                  </a:rPr>
                  <a:t>数据段</a:t>
                </a:r>
                <a:endParaRPr lang="zh-CN" altLang="en-US" sz="1000" b="1">
                  <a:latin typeface="Arial" panose="020B0604020202020204" pitchFamily="34" charset="0"/>
                  <a:ea typeface="微软雅黑" panose="020B0503020204020204" pitchFamily="34" charset="-122"/>
                </a:endParaRPr>
              </a:p>
            </p:txBody>
          </p:sp>
          <p:sp>
            <p:nvSpPr>
              <p:cNvPr id="24" name="右大括号 23"/>
              <p:cNvSpPr/>
              <p:nvPr/>
            </p:nvSpPr>
            <p:spPr>
              <a:xfrm>
                <a:off x="15057" y="6923"/>
                <a:ext cx="283" cy="714"/>
              </a:xfrm>
              <a:prstGeom prst="rightBrac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5" name="圆角矩形标注 24"/>
              <p:cNvSpPr/>
              <p:nvPr/>
            </p:nvSpPr>
            <p:spPr>
              <a:xfrm>
                <a:off x="15496" y="6471"/>
                <a:ext cx="938" cy="404"/>
              </a:xfrm>
              <a:prstGeom prst="wedgeRoundRectCallout">
                <a:avLst>
                  <a:gd name="adj1" fmla="val -101812"/>
                  <a:gd name="adj2" fmla="val 90841"/>
                  <a:gd name="adj3" fmla="val 16667"/>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solidFill>
                      <a:schemeClr val="tx1"/>
                    </a:solidFill>
                  </a:rPr>
                  <a:t>变量</a:t>
                </a:r>
                <a:r>
                  <a:rPr lang="en-US" altLang="zh-CN" sz="1000" b="1">
                    <a:solidFill>
                      <a:schemeClr val="tx1"/>
                    </a:solidFill>
                  </a:rPr>
                  <a:t>x</a:t>
                </a:r>
                <a:endParaRPr lang="en-US" altLang="zh-CN" sz="1000" b="1">
                  <a:solidFill>
                    <a:schemeClr val="tx1"/>
                  </a:solidFill>
                </a:endParaRPr>
              </a:p>
            </p:txBody>
          </p:sp>
          <p:sp>
            <p:nvSpPr>
              <p:cNvPr id="26" name="矩形 25"/>
              <p:cNvSpPr/>
              <p:nvPr/>
            </p:nvSpPr>
            <p:spPr>
              <a:xfrm>
                <a:off x="11752" y="5808"/>
                <a:ext cx="834" cy="357"/>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tIns="0" bIns="0" rtlCol="0" anchor="ctr"/>
              <a:p>
                <a:pPr algn="ctr"/>
                <a:r>
                  <a:rPr lang="en-US" sz="1200" b="1">
                    <a:solidFill>
                      <a:schemeClr val="tx1"/>
                    </a:solidFill>
                  </a:rPr>
                  <a:t>5</a:t>
                </a:r>
                <a:r>
                  <a:rPr lang="en-US" altLang="zh-CN" sz="1200" b="1">
                    <a:solidFill>
                      <a:schemeClr val="tx1"/>
                    </a:solidFill>
                  </a:rPr>
                  <a:t> </a:t>
                </a:r>
                <a:endParaRPr lang="en-US" altLang="zh-CN" sz="1200" b="1">
                  <a:solidFill>
                    <a:schemeClr val="tx1"/>
                  </a:solidFill>
                </a:endParaRPr>
              </a:p>
            </p:txBody>
          </p:sp>
          <p:sp>
            <p:nvSpPr>
              <p:cNvPr id="27" name="文本框 26"/>
              <p:cNvSpPr txBox="1"/>
              <p:nvPr/>
            </p:nvSpPr>
            <p:spPr>
              <a:xfrm>
                <a:off x="11283" y="5312"/>
                <a:ext cx="1179" cy="386"/>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1000" b="1">
                    <a:latin typeface="Arial" panose="020B0604020202020204" pitchFamily="34" charset="0"/>
                    <a:ea typeface="微软雅黑" panose="020B0503020204020204" pitchFamily="34" charset="-122"/>
                  </a:rPr>
                  <a:t>AX</a:t>
                </a:r>
                <a:r>
                  <a:rPr lang="zh-CN" altLang="en-US" sz="1000" b="1">
                    <a:latin typeface="Arial" panose="020B0604020202020204" pitchFamily="34" charset="0"/>
                    <a:ea typeface="微软雅黑" panose="020B0503020204020204" pitchFamily="34" charset="-122"/>
                  </a:rPr>
                  <a:t>寄存器</a:t>
                </a:r>
                <a:endParaRPr lang="zh-CN" altLang="en-US" sz="1000" b="1">
                  <a:latin typeface="Arial" panose="020B0604020202020204" pitchFamily="34" charset="0"/>
                  <a:ea typeface="微软雅黑" panose="020B0503020204020204" pitchFamily="34" charset="-122"/>
                </a:endParaRPr>
              </a:p>
            </p:txBody>
          </p:sp>
          <p:sp>
            <p:nvSpPr>
              <p:cNvPr id="28" name="文本框 27"/>
              <p:cNvSpPr txBox="1"/>
              <p:nvPr/>
            </p:nvSpPr>
            <p:spPr>
              <a:xfrm>
                <a:off x="11184" y="6544"/>
                <a:ext cx="830" cy="544"/>
              </a:xfrm>
              <a:prstGeom prst="flowChartTerminator">
                <a:avLst/>
              </a:prstGeom>
              <a:solidFill>
                <a:schemeClr val="bg2">
                  <a:lumMod val="90000"/>
                </a:schemeClr>
              </a:solidFill>
              <a:ln>
                <a:solidFill>
                  <a:schemeClr val="tx1"/>
                </a:solidFill>
              </a:ln>
            </p:spPr>
            <p:txBody>
              <a:bodyPr wrap="square">
                <a:noAutofit/>
                <a:extLst>
                  <a:ext uri="{4A0BC546-FE56-4ADE-93B0-CB8AF2F6F144}">
                    <wpsdc:textFrameExt xmlns:wpsdc="http://www.wps.cn/officeDocument/2022/drawingmlCustomData" type="text"/>
                  </a:ext>
                </a:extLst>
              </a:bodyPr>
              <a:p>
                <a:pPr algn="l"/>
                <a:r>
                  <a:rPr lang="en-US" sz="1000" b="1">
                    <a:latin typeface="Arial" panose="020B0604020202020204" pitchFamily="34" charset="0"/>
                    <a:ea typeface="微软雅黑" panose="020B0503020204020204" pitchFamily="34" charset="-122"/>
                  </a:rPr>
                  <a:t>CPU</a:t>
                </a:r>
                <a:endParaRPr lang="en-US" sz="1000" b="1">
                  <a:latin typeface="Arial" panose="020B0604020202020204" pitchFamily="34" charset="0"/>
                  <a:ea typeface="微软雅黑" panose="020B0503020204020204" pitchFamily="34" charset="-122"/>
                </a:endParaRPr>
              </a:p>
            </p:txBody>
          </p:sp>
          <p:cxnSp>
            <p:nvCxnSpPr>
              <p:cNvPr id="29" name="直接箭头连接符 28"/>
              <p:cNvCxnSpPr>
                <a:endCxn id="26" idx="3"/>
              </p:cNvCxnSpPr>
              <p:nvPr/>
            </p:nvCxnSpPr>
            <p:spPr>
              <a:xfrm flipH="1" flipV="1">
                <a:off x="12586" y="5987"/>
                <a:ext cx="1605" cy="940"/>
              </a:xfrm>
              <a:prstGeom prst="straightConnector1">
                <a:avLst/>
              </a:prstGeom>
              <a:ln>
                <a:solidFill>
                  <a:schemeClr val="tx1"/>
                </a:solidFill>
                <a:tailEnd type="arrow" w="med" len="sm"/>
              </a:ln>
            </p:spPr>
            <p:style>
              <a:lnRef idx="2">
                <a:schemeClr val="accent1"/>
              </a:lnRef>
              <a:fillRef idx="0">
                <a:srgbClr val="FFFFFF"/>
              </a:fillRef>
              <a:effectRef idx="0">
                <a:srgbClr val="FFFFFF"/>
              </a:effectRef>
              <a:fontRef idx="minor">
                <a:schemeClr val="tx1"/>
              </a:fontRef>
            </p:style>
          </p:cxnSp>
          <p:cxnSp>
            <p:nvCxnSpPr>
              <p:cNvPr id="30" name="直接箭头连接符 29"/>
              <p:cNvCxnSpPr>
                <a:stCxn id="28" idx="0"/>
              </p:cNvCxnSpPr>
              <p:nvPr/>
            </p:nvCxnSpPr>
            <p:spPr>
              <a:xfrm flipV="1">
                <a:off x="11599" y="6185"/>
                <a:ext cx="415" cy="359"/>
              </a:xfrm>
              <a:prstGeom prst="straightConnector1">
                <a:avLst/>
              </a:prstGeom>
              <a:ln>
                <a:solidFill>
                  <a:schemeClr val="tx1"/>
                </a:solidFill>
                <a:tailEnd type="arrow" w="med" len="sm"/>
              </a:ln>
            </p:spPr>
            <p:style>
              <a:lnRef idx="2">
                <a:schemeClr val="accent1"/>
              </a:lnRef>
              <a:fillRef idx="0">
                <a:srgbClr val="FFFFFF"/>
              </a:fillRef>
              <a:effectRef idx="0">
                <a:srgbClr val="FFFFFF"/>
              </a:effectRef>
              <a:fontRef idx="minor">
                <a:schemeClr val="tx1"/>
              </a:fontRef>
            </p:style>
          </p:cxnSp>
          <p:cxnSp>
            <p:nvCxnSpPr>
              <p:cNvPr id="31" name="直接箭头连接符 30"/>
              <p:cNvCxnSpPr/>
              <p:nvPr/>
            </p:nvCxnSpPr>
            <p:spPr>
              <a:xfrm>
                <a:off x="12272" y="6185"/>
                <a:ext cx="1919" cy="861"/>
              </a:xfrm>
              <a:prstGeom prst="straightConnector1">
                <a:avLst/>
              </a:prstGeom>
              <a:ln>
                <a:solidFill>
                  <a:schemeClr val="tx1"/>
                </a:solidFill>
                <a:tailEnd type="arrow" w="med" len="sm"/>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11752" y="6275"/>
                <a:ext cx="670" cy="434"/>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1200" b="1">
                    <a:latin typeface="Arial" panose="020B0604020202020204" pitchFamily="34" charset="0"/>
                    <a:ea typeface="微软雅黑" panose="020B0503020204020204" pitchFamily="34" charset="-122"/>
                  </a:rPr>
                  <a:t>+1</a:t>
                </a:r>
                <a:endParaRPr lang="en-US" altLang="zh-CN" sz="1200" b="1">
                  <a:latin typeface="Arial" panose="020B0604020202020204" pitchFamily="34" charset="0"/>
                  <a:ea typeface="微软雅黑" panose="020B0503020204020204" pitchFamily="34" charset="-122"/>
                </a:endParaRPr>
              </a:p>
            </p:txBody>
          </p:sp>
          <p:sp>
            <p:nvSpPr>
              <p:cNvPr id="34" name="文本框 33"/>
              <p:cNvSpPr txBox="1"/>
              <p:nvPr/>
            </p:nvSpPr>
            <p:spPr>
              <a:xfrm>
                <a:off x="13366" y="6046"/>
                <a:ext cx="528" cy="434"/>
              </a:xfrm>
              <a:prstGeom prst="rect">
                <a:avLst/>
              </a:prstGeom>
              <a:noFill/>
            </p:spPr>
            <p:txBody>
              <a:bodyPr wrap="none" rtlCol="0" anchor="t">
                <a:spAutoFit/>
              </a:bodyPr>
              <a:p>
                <a:r>
                  <a:rPr lang="zh-CN" altLang="en-US" sz="1200">
                    <a:latin typeface="Calibri" panose="020F0502020204030204" charset="0"/>
                  </a:rPr>
                  <a:t>①</a:t>
                </a:r>
                <a:endParaRPr lang="zh-CN" altLang="en-US" sz="1200">
                  <a:latin typeface="Calibri" panose="020F0502020204030204" charset="0"/>
                </a:endParaRPr>
              </a:p>
            </p:txBody>
          </p:sp>
          <p:sp>
            <p:nvSpPr>
              <p:cNvPr id="36" name="文本框 35"/>
              <p:cNvSpPr txBox="1"/>
              <p:nvPr/>
            </p:nvSpPr>
            <p:spPr>
              <a:xfrm>
                <a:off x="11325" y="6099"/>
                <a:ext cx="483" cy="434"/>
              </a:xfrm>
              <a:prstGeom prst="rect">
                <a:avLst/>
              </a:prstGeom>
              <a:noFill/>
            </p:spPr>
            <p:txBody>
              <a:bodyPr wrap="square" rtlCol="0" anchor="t">
                <a:spAutoFit/>
              </a:bodyPr>
              <a:p>
                <a:r>
                  <a:rPr lang="zh-CN" altLang="en-US" sz="1200">
                    <a:latin typeface="Calibri" panose="020F0502020204030204" charset="0"/>
                  </a:rPr>
                  <a:t>②</a:t>
                </a:r>
                <a:endParaRPr lang="zh-CN" altLang="en-US" sz="1200">
                  <a:latin typeface="Calibri" panose="020F0502020204030204" charset="0"/>
                </a:endParaRPr>
              </a:p>
            </p:txBody>
          </p:sp>
          <p:sp>
            <p:nvSpPr>
              <p:cNvPr id="37" name="文本框 36"/>
              <p:cNvSpPr txBox="1"/>
              <p:nvPr/>
            </p:nvSpPr>
            <p:spPr>
              <a:xfrm>
                <a:off x="12796" y="6446"/>
                <a:ext cx="528" cy="434"/>
              </a:xfrm>
              <a:prstGeom prst="rect">
                <a:avLst/>
              </a:prstGeom>
              <a:noFill/>
            </p:spPr>
            <p:txBody>
              <a:bodyPr wrap="none" rtlCol="0" anchor="t">
                <a:spAutoFit/>
              </a:bodyPr>
              <a:p>
                <a:r>
                  <a:rPr lang="zh-CN" altLang="en-US" sz="1200">
                    <a:latin typeface="Calibri" panose="020F0502020204030204" charset="0"/>
                  </a:rPr>
                  <a:t>③</a:t>
                </a:r>
                <a:endParaRPr lang="zh-CN" altLang="en-US" sz="1200">
                  <a:latin typeface="Calibri" panose="020F0502020204030204" charset="0"/>
                </a:endParaRPr>
              </a:p>
            </p:txBody>
          </p:sp>
          <p:sp>
            <p:nvSpPr>
              <p:cNvPr id="39" name="文本框 38"/>
              <p:cNvSpPr txBox="1"/>
              <p:nvPr/>
            </p:nvSpPr>
            <p:spPr>
              <a:xfrm>
                <a:off x="13473" y="6989"/>
                <a:ext cx="1064" cy="386"/>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1000" b="1">
                    <a:latin typeface="Arial" panose="020B0604020202020204" pitchFamily="34" charset="0"/>
                    <a:ea typeface="微软雅黑" panose="020B0503020204020204" pitchFamily="34" charset="-122"/>
                  </a:rPr>
                  <a:t>4965</a:t>
                </a:r>
                <a:endParaRPr lang="en-US" altLang="zh-CN" sz="1000" b="1">
                  <a:latin typeface="Arial" panose="020B0604020202020204" pitchFamily="34" charset="0"/>
                  <a:ea typeface="微软雅黑" panose="020B0503020204020204" pitchFamily="34" charset="-122"/>
                </a:endParaRPr>
              </a:p>
            </p:txBody>
          </p:sp>
          <p:cxnSp>
            <p:nvCxnSpPr>
              <p:cNvPr id="40" name="直接箭头连接符 39"/>
              <p:cNvCxnSpPr/>
              <p:nvPr/>
            </p:nvCxnSpPr>
            <p:spPr>
              <a:xfrm>
                <a:off x="12014" y="6899"/>
                <a:ext cx="2192" cy="222"/>
              </a:xfrm>
              <a:prstGeom prst="straightConnector1">
                <a:avLst/>
              </a:prstGeom>
              <a:ln>
                <a:solidFill>
                  <a:schemeClr val="tx1"/>
                </a:solidFill>
                <a:prstDash val="sysDash"/>
                <a:tailEnd type="arrow" w="med" len="sm"/>
              </a:ln>
            </p:spPr>
            <p:style>
              <a:lnRef idx="2">
                <a:schemeClr val="accent1"/>
              </a:lnRef>
              <a:fillRef idx="0">
                <a:srgbClr val="FFFFFF"/>
              </a:fillRef>
              <a:effectRef idx="0">
                <a:srgbClr val="FFFFFF"/>
              </a:effectRef>
              <a:fontRef idx="minor">
                <a:schemeClr val="tx1"/>
              </a:fontRef>
            </p:style>
          </p:cxnSp>
        </p:grpSp>
        <p:sp>
          <p:nvSpPr>
            <p:cNvPr id="41" name="下箭头 40"/>
            <p:cNvSpPr/>
            <p:nvPr/>
          </p:nvSpPr>
          <p:spPr>
            <a:xfrm>
              <a:off x="13115" y="3194"/>
              <a:ext cx="251" cy="347"/>
            </a:xfrm>
            <a:prstGeom prst="downArrow">
              <a:avLst/>
            </a:prstGeom>
            <a:solidFill>
              <a:schemeClr val="bg2"/>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2" name="文本框 41"/>
          <p:cNvSpPr txBox="1"/>
          <p:nvPr/>
        </p:nvSpPr>
        <p:spPr>
          <a:xfrm>
            <a:off x="6002655" y="1972310"/>
            <a:ext cx="5267960" cy="2861310"/>
          </a:xfrm>
          <a:prstGeom prst="rect">
            <a:avLst/>
          </a:prstGeom>
          <a:ln>
            <a:solidFill>
              <a:schemeClr val="bg1"/>
            </a:solidFill>
          </a:ln>
        </p:spPr>
        <p:txBody>
          <a:bodyPr wrap="square" anchor="t">
            <a:spAutoFit/>
          </a:bodyPr>
          <a:p>
            <a:pPr marL="214630" indent="-214630">
              <a:buFont typeface="Wingdings" panose="05000000000000000000" pitchFamily="2" charset="2"/>
              <a:buBlip>
                <a:blip r:embed="rId1">
                  <a:extLst>
                    <a:ext uri="{96DAC541-7B7A-43D3-8B79-37D633B846F1}">
                      <asvg:svgBlip xmlns:asvg="http://schemas.microsoft.com/office/drawing/2016/SVG/main" r:embed="rId2"/>
                    </a:ext>
                  </a:extLst>
                </a:blip>
              </a:buBlip>
            </a:pPr>
            <a:r>
              <a:rPr lang="zh-CN" altLang="en-US" sz="2000" b="1" dirty="0">
                <a:solidFill>
                  <a:schemeClr val="tx1"/>
                </a:solidFill>
                <a:latin typeface="黑体" panose="02010609060101010101" charset="-122"/>
                <a:ea typeface="黑体" panose="02010609060101010101" charset="-122"/>
                <a:cs typeface="黑体" panose="02010609060101010101" charset="-122"/>
                <a:sym typeface="+mn-ea"/>
              </a:rPr>
              <a:t>程序经过编译之后，会生成</a:t>
            </a:r>
            <a:r>
              <a:rPr lang="en-US" altLang="zh-CN" sz="2000" b="1" dirty="0">
                <a:solidFill>
                  <a:schemeClr val="tx1"/>
                </a:solidFill>
                <a:latin typeface="黑体" panose="02010609060101010101" charset="-122"/>
                <a:ea typeface="黑体" panose="02010609060101010101" charset="-122"/>
                <a:cs typeface="黑体" panose="02010609060101010101" charset="-122"/>
                <a:sym typeface="+mn-ea"/>
              </a:rPr>
              <a:t>CPU</a:t>
            </a:r>
            <a:r>
              <a:rPr lang="zh-CN" altLang="en-US" sz="2000" b="1" dirty="0">
                <a:solidFill>
                  <a:schemeClr val="tx1"/>
                </a:solidFill>
                <a:latin typeface="黑体" panose="02010609060101010101" charset="-122"/>
                <a:ea typeface="黑体" panose="02010609060101010101" charset="-122"/>
                <a:cs typeface="黑体" panose="02010609060101010101" charset="-122"/>
                <a:sym typeface="+mn-ea"/>
              </a:rPr>
              <a:t>能识别的机器指令，这些指令会告诉</a:t>
            </a:r>
            <a:r>
              <a:rPr lang="en-US" altLang="zh-CN" sz="2000" b="1" dirty="0">
                <a:solidFill>
                  <a:schemeClr val="tx1"/>
                </a:solidFill>
                <a:latin typeface="黑体" panose="02010609060101010101" charset="-122"/>
                <a:ea typeface="黑体" panose="02010609060101010101" charset="-122"/>
                <a:cs typeface="黑体" panose="02010609060101010101" charset="-122"/>
                <a:sym typeface="+mn-ea"/>
              </a:rPr>
              <a:t>CPU</a:t>
            </a:r>
            <a:r>
              <a:rPr lang="zh-CN" altLang="en-US" sz="2000" b="1" dirty="0">
                <a:solidFill>
                  <a:schemeClr val="tx1"/>
                </a:solidFill>
                <a:latin typeface="黑体" panose="02010609060101010101" charset="-122"/>
                <a:ea typeface="黑体" panose="02010609060101010101" charset="-122"/>
                <a:cs typeface="黑体" panose="02010609060101010101" charset="-122"/>
                <a:sym typeface="+mn-ea"/>
              </a:rPr>
              <a:t>应该去内存的哪个地址存</a:t>
            </a:r>
            <a:r>
              <a:rPr lang="en-US" altLang="zh-CN" sz="2000" b="1" dirty="0">
                <a:solidFill>
                  <a:schemeClr val="tx1"/>
                </a:solidFill>
                <a:latin typeface="黑体" panose="02010609060101010101" charset="-122"/>
                <a:ea typeface="黑体" panose="02010609060101010101" charset="-122"/>
                <a:cs typeface="黑体" panose="02010609060101010101" charset="-122"/>
                <a:sym typeface="+mn-ea"/>
              </a:rPr>
              <a:t>/</a:t>
            </a:r>
            <a:r>
              <a:rPr lang="zh-CN" altLang="en-US" sz="2000" b="1" dirty="0">
                <a:solidFill>
                  <a:schemeClr val="tx1"/>
                </a:solidFill>
                <a:latin typeface="黑体" panose="02010609060101010101" charset="-122"/>
                <a:ea typeface="黑体" panose="02010609060101010101" charset="-122"/>
                <a:cs typeface="黑体" panose="02010609060101010101" charset="-122"/>
                <a:sym typeface="+mn-ea"/>
              </a:rPr>
              <a:t>取数据，应该对数据做什么样的处理。</a:t>
            </a:r>
            <a:endParaRPr lang="zh-CN" altLang="en-US" sz="2000" b="1" dirty="0">
              <a:solidFill>
                <a:schemeClr val="tx1"/>
              </a:solidFill>
              <a:latin typeface="黑体" panose="02010609060101010101" charset="-122"/>
              <a:ea typeface="黑体" panose="02010609060101010101" charset="-122"/>
              <a:cs typeface="黑体" panose="02010609060101010101" charset="-122"/>
              <a:sym typeface="+mn-ea"/>
            </a:endParaRPr>
          </a:p>
          <a:p>
            <a:pPr indent="0">
              <a:buFont typeface="Wingdings" panose="05000000000000000000" pitchFamily="2" charset="2"/>
              <a:buNone/>
            </a:pPr>
            <a:endParaRPr lang="zh-CN" altLang="en-US" sz="2000" b="1" dirty="0">
              <a:solidFill>
                <a:schemeClr val="tx1"/>
              </a:solidFill>
              <a:latin typeface="黑体" panose="02010609060101010101" charset="-122"/>
              <a:ea typeface="黑体" panose="02010609060101010101" charset="-122"/>
              <a:cs typeface="黑体" panose="02010609060101010101" charset="-122"/>
              <a:sym typeface="+mn-ea"/>
            </a:endParaRPr>
          </a:p>
          <a:p>
            <a:pPr marL="214630" indent="-214630">
              <a:buFont typeface="Wingdings" panose="05000000000000000000" pitchFamily="2" charset="2"/>
              <a:buBlip>
                <a:blip r:embed="rId1">
                  <a:extLst>
                    <a:ext uri="{96DAC541-7B7A-43D3-8B79-37D633B846F1}">
                      <asvg:svgBlip xmlns:asvg="http://schemas.microsoft.com/office/drawing/2016/SVG/main" r:embed="rId2"/>
                    </a:ext>
                  </a:extLst>
                </a:blip>
              </a:buBlip>
            </a:pPr>
            <a:r>
              <a:rPr lang="zh-CN" altLang="en-US" sz="2000" b="1" dirty="0">
                <a:solidFill>
                  <a:schemeClr val="tx1"/>
                </a:solidFill>
                <a:latin typeface="黑体" panose="02010609060101010101" charset="-122"/>
                <a:ea typeface="黑体" panose="02010609060101010101" charset="-122"/>
                <a:cs typeface="黑体" panose="02010609060101010101" charset="-122"/>
                <a:sym typeface="+mn-ea"/>
              </a:rPr>
              <a:t>在生成机器指令的时候，地址是虚拟地址。</a:t>
            </a:r>
            <a:r>
              <a:rPr lang="en-US" altLang="zh-CN" sz="2000" b="1" dirty="0">
                <a:solidFill>
                  <a:schemeClr val="tx1"/>
                </a:solidFill>
                <a:latin typeface="黑体" panose="02010609060101010101" charset="-122"/>
                <a:ea typeface="黑体" panose="02010609060101010101" charset="-122"/>
                <a:cs typeface="黑体" panose="02010609060101010101" charset="-122"/>
                <a:sym typeface="+mn-ea"/>
              </a:rPr>
              <a:t>x</a:t>
            </a:r>
            <a:r>
              <a:rPr lang="zh-CN" altLang="en-US" sz="2000" b="1" dirty="0">
                <a:solidFill>
                  <a:schemeClr val="tx1"/>
                </a:solidFill>
                <a:latin typeface="黑体" panose="02010609060101010101" charset="-122"/>
                <a:ea typeface="黑体" panose="02010609060101010101" charset="-122"/>
                <a:cs typeface="黑体" panose="02010609060101010101" charset="-122"/>
                <a:sym typeface="+mn-ea"/>
              </a:rPr>
              <a:t>变量的虚拟地址为</a:t>
            </a:r>
            <a:r>
              <a:rPr lang="en-US" altLang="zh-CN" sz="2000" b="1" dirty="0">
                <a:solidFill>
                  <a:schemeClr val="tx1"/>
                </a:solidFill>
                <a:latin typeface="黑体" panose="02010609060101010101" charset="-122"/>
                <a:ea typeface="黑体" panose="02010609060101010101" charset="-122"/>
                <a:cs typeface="黑体" panose="02010609060101010101" charset="-122"/>
                <a:sym typeface="+mn-ea"/>
              </a:rPr>
              <a:t>01001111</a:t>
            </a:r>
            <a:r>
              <a:rPr lang="zh-CN" altLang="en-US" sz="2000" b="1" dirty="0">
                <a:solidFill>
                  <a:schemeClr val="tx1"/>
                </a:solidFill>
                <a:latin typeface="黑体" panose="02010609060101010101" charset="-122"/>
                <a:ea typeface="黑体" panose="02010609060101010101" charset="-122"/>
                <a:cs typeface="黑体" panose="02010609060101010101" charset="-122"/>
                <a:sym typeface="+mn-ea"/>
              </a:rPr>
              <a:t>，但它被载入内存后，在内存中的物理地址为</a:t>
            </a:r>
            <a:r>
              <a:rPr lang="en-US" altLang="zh-CN" sz="2000" b="1" dirty="0">
                <a:solidFill>
                  <a:schemeClr val="tx1"/>
                </a:solidFill>
                <a:latin typeface="黑体" panose="02010609060101010101" charset="-122"/>
                <a:ea typeface="黑体" panose="02010609060101010101" charset="-122"/>
                <a:cs typeface="黑体" panose="02010609060101010101" charset="-122"/>
                <a:sym typeface="+mn-ea"/>
              </a:rPr>
              <a:t>4965</a:t>
            </a:r>
            <a:r>
              <a:rPr lang="zh-CN" altLang="en-US" sz="2000" b="1" dirty="0">
                <a:solidFill>
                  <a:schemeClr val="tx1"/>
                </a:solidFill>
                <a:latin typeface="黑体" panose="02010609060101010101" charset="-122"/>
                <a:ea typeface="黑体" panose="02010609060101010101" charset="-122"/>
                <a:cs typeface="黑体" panose="02010609060101010101" charset="-122"/>
                <a:sym typeface="+mn-ea"/>
              </a:rPr>
              <a:t>，显示了虚地址与物理地址的区别与联系。</a:t>
            </a:r>
            <a:endParaRPr lang="zh-CN" altLang="zh-CN" sz="2000" b="1" dirty="0">
              <a:solidFill>
                <a:schemeClr val="tx1"/>
              </a:solidFill>
              <a:latin typeface="黑体" panose="02010609060101010101" charset="-122"/>
              <a:ea typeface="黑体" panose="02010609060101010101" charset="-122"/>
              <a:cs typeface="黑体" panose="02010609060101010101"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1395" y="544830"/>
            <a:ext cx="4074160"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3.1</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内存的相关概念</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5" name="TextBox 1"/>
          <p:cNvSpPr txBox="1">
            <a:spLocks noChangeArrowheads="1"/>
          </p:cNvSpPr>
          <p:nvPr/>
        </p:nvSpPr>
        <p:spPr bwMode="auto">
          <a:xfrm>
            <a:off x="1448400" y="1071388"/>
            <a:ext cx="7013551"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地址重定位</a:t>
            </a:r>
            <a:endParaRPr lang="zh-CN" altLang="en-US" sz="2000" b="1" dirty="0">
              <a:solidFill>
                <a:srgbClr val="6C0000"/>
              </a:solidFill>
              <a:latin typeface="华文行楷" panose="02010800040101010101" charset="-122"/>
              <a:ea typeface="华文行楷" panose="02010800040101010101" charset="-122"/>
            </a:endParaRPr>
          </a:p>
        </p:txBody>
      </p:sp>
      <p:sp>
        <p:nvSpPr>
          <p:cNvPr id="9" name="矩形 8"/>
          <p:cNvSpPr/>
          <p:nvPr/>
        </p:nvSpPr>
        <p:spPr>
          <a:xfrm>
            <a:off x="1448400" y="1471498"/>
            <a:ext cx="9295200" cy="251523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spcAft>
                <a:spcPts val="0"/>
              </a:spcAft>
            </a:pP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地址重定位可以分为</a:t>
            </a:r>
            <a:r>
              <a:rPr lang="zh-CN"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静态地址重定位</a:t>
            </a: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与</a:t>
            </a:r>
            <a:r>
              <a:rPr lang="zh-CN"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动态地址重定位</a:t>
            </a: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两种方式。</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indent="304800">
              <a:lnSpc>
                <a:spcPct val="125000"/>
              </a:lnSpc>
            </a:pPr>
            <a:r>
              <a:rPr lang="en-US" altLang="zh-CN" b="1" kern="0" dirty="0">
                <a:solidFill>
                  <a:srgbClr val="000000"/>
                </a:solidFill>
                <a:latin typeface="等线" panose="02010600030101010101" pitchFamily="2" charset="-122"/>
                <a:ea typeface="等线" panose="02010600030101010101" pitchFamily="2" charset="-122"/>
                <a:cs typeface="Arial" panose="020B0604020202020204" pitchFamily="34" charset="0"/>
              </a:rPr>
              <a:t>1</a:t>
            </a:r>
            <a:r>
              <a:rPr lang="zh-CN" altLang="zh-CN" b="1" kern="0" dirty="0">
                <a:solidFill>
                  <a:srgbClr val="000000"/>
                </a:solidFill>
                <a:latin typeface="等线" panose="02010600030101010101" pitchFamily="2" charset="-122"/>
                <a:ea typeface="等线" panose="02010600030101010101" pitchFamily="2" charset="-122"/>
                <a:cs typeface="Arial" panose="020B0604020202020204" pitchFamily="34" charset="0"/>
              </a:rPr>
              <a:t>）</a:t>
            </a:r>
            <a:r>
              <a:rPr lang="zh-CN" altLang="zh-CN" b="1" kern="0" dirty="0">
                <a:solidFill>
                  <a:srgbClr val="FF0000"/>
                </a:solidFill>
                <a:latin typeface="等线" panose="02010600030101010101" pitchFamily="2" charset="-122"/>
                <a:ea typeface="等线" panose="02010600030101010101" pitchFamily="2" charset="-122"/>
                <a:cs typeface="Arial" panose="020B0604020202020204" pitchFamily="34" charset="0"/>
              </a:rPr>
              <a:t>静态地址重定位</a:t>
            </a:r>
            <a:r>
              <a:rPr lang="zh-CN" altLang="zh-CN" b="1" kern="0" dirty="0">
                <a:solidFill>
                  <a:srgbClr val="000000"/>
                </a:solidFill>
                <a:latin typeface="等线" panose="02010600030101010101" pitchFamily="2" charset="-122"/>
                <a:ea typeface="等线" panose="02010600030101010101" pitchFamily="2" charset="-122"/>
                <a:cs typeface="Arial" panose="020B0604020202020204" pitchFamily="34" charset="0"/>
              </a:rPr>
              <a:t>是在程序执行之前，由装配程序完成的地址映射工作，如图所示。</a:t>
            </a:r>
            <a:endParaRPr lang="en-US" altLang="zh-CN" b="1" kern="0" dirty="0">
              <a:solidFill>
                <a:srgbClr val="000000"/>
              </a:solidFill>
              <a:latin typeface="等线" panose="02010600030101010101" pitchFamily="2" charset="-122"/>
              <a:ea typeface="等线" panose="02010600030101010101" pitchFamily="2" charset="-122"/>
              <a:cs typeface="Arial" panose="020B0604020202020204" pitchFamily="34" charset="0"/>
            </a:endParaRPr>
          </a:p>
          <a:p>
            <a:pPr indent="304800">
              <a:lnSpc>
                <a:spcPct val="125000"/>
              </a:lnSpc>
            </a:pPr>
            <a:r>
              <a:rPr lang="zh-CN" altLang="zh-CN" b="1" kern="0" dirty="0">
                <a:solidFill>
                  <a:schemeClr val="tx1"/>
                </a:solidFill>
                <a:latin typeface="等线" panose="02010600030101010101" pitchFamily="2" charset="-122"/>
                <a:ea typeface="等线" panose="02010600030101010101" pitchFamily="2" charset="-122"/>
                <a:cs typeface="Arial" panose="020B0604020202020204" pitchFamily="34" charset="0"/>
              </a:rPr>
              <a:t>静态地址重定位的优点是不需要硬件支持，但是缺点是必须占有连续的内存空间，这就难以做到数据和程序的共享。</a:t>
            </a:r>
            <a:endParaRPr lang="zh-CN" altLang="zh-CN" b="1" kern="100" dirty="0">
              <a:solidFill>
                <a:schemeClr val="tx1"/>
              </a:solidFill>
              <a:latin typeface="等线" panose="02010600030101010101" pitchFamily="2" charset="-122"/>
              <a:ea typeface="等线" panose="02010600030101010101" pitchFamily="2" charset="-122"/>
              <a:cs typeface="Times New Roman" panose="02020603050405020304" pitchFamily="18" charset="0"/>
            </a:endParaRPr>
          </a:p>
          <a:p>
            <a:pPr indent="304800">
              <a:lnSpc>
                <a:spcPct val="125000"/>
              </a:lnSpc>
            </a:pPr>
            <a:r>
              <a:rPr lang="en-US" altLang="zh-CN" b="1" kern="0" dirty="0">
                <a:solidFill>
                  <a:srgbClr val="000000"/>
                </a:solidFill>
                <a:latin typeface="等线" panose="02010600030101010101" pitchFamily="2" charset="-122"/>
                <a:ea typeface="等线" panose="02010600030101010101" pitchFamily="2" charset="-122"/>
                <a:cs typeface="Arial" panose="020B0604020202020204" pitchFamily="34" charset="0"/>
              </a:rPr>
              <a:t>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indent="304800">
              <a:lnSpc>
                <a:spcPct val="125000"/>
              </a:lnSpc>
            </a:pPr>
            <a:r>
              <a:rPr lang="en-US" altLang="zh-CN" b="1" kern="0" dirty="0">
                <a:solidFill>
                  <a:srgbClr val="000000"/>
                </a:solidFill>
                <a:latin typeface="等线" panose="02010600030101010101" pitchFamily="2" charset="-122"/>
                <a:ea typeface="等线" panose="02010600030101010101" pitchFamily="2" charset="-122"/>
                <a:cs typeface="Arial" panose="020B0604020202020204" pitchFamily="34" charset="0"/>
              </a:rPr>
              <a:t>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indent="304800">
              <a:lnSpc>
                <a:spcPct val="125000"/>
              </a:lnSpc>
            </a:pPr>
            <a:r>
              <a:rPr lang="en-US" altLang="zh-CN" b="1" kern="0" dirty="0">
                <a:solidFill>
                  <a:srgbClr val="000000"/>
                </a:solidFill>
                <a:latin typeface="等线" panose="02010600030101010101" pitchFamily="2" charset="-122"/>
                <a:ea typeface="等线" panose="02010600030101010101" pitchFamily="2" charset="-122"/>
                <a:cs typeface="Arial" panose="020B0604020202020204" pitchFamily="34" charset="0"/>
              </a:rPr>
              <a:t> </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2042160" y="3127375"/>
            <a:ext cx="6419850" cy="24669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01395" y="544830"/>
            <a:ext cx="4074160"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3.1</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内存的相关概念</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5" name="TextBox 1"/>
          <p:cNvSpPr txBox="1">
            <a:spLocks noChangeArrowheads="1"/>
          </p:cNvSpPr>
          <p:nvPr/>
        </p:nvSpPr>
        <p:spPr bwMode="auto">
          <a:xfrm>
            <a:off x="1448400" y="1071388"/>
            <a:ext cx="7013551"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地址重定位（续）</a:t>
            </a:r>
            <a:endParaRPr lang="zh-CN" altLang="en-US" sz="2000" b="1" dirty="0">
              <a:solidFill>
                <a:srgbClr val="6C0000"/>
              </a:solidFill>
              <a:latin typeface="华文行楷" panose="02010800040101010101" charset="-122"/>
              <a:ea typeface="华文行楷" panose="02010800040101010101" charset="-122"/>
            </a:endParaRPr>
          </a:p>
        </p:txBody>
      </p:sp>
      <p:sp>
        <p:nvSpPr>
          <p:cNvPr id="6" name="矩形 5"/>
          <p:cNvSpPr/>
          <p:nvPr/>
        </p:nvSpPr>
        <p:spPr>
          <a:xfrm>
            <a:off x="1430742" y="1471498"/>
            <a:ext cx="9654792" cy="1476375"/>
          </a:xfrm>
          <a:prstGeom prst="rect">
            <a:avLst/>
          </a:prstGeom>
        </p:spPr>
        <p:txBody>
          <a:bodyPr wrap="square">
            <a:spAutoFit/>
          </a:bodyPr>
          <a:lstStyle/>
          <a:p>
            <a:pPr algn="just">
              <a:lnSpc>
                <a:spcPct val="125000"/>
              </a:lnSpc>
              <a:spcAft>
                <a:spcPts val="0"/>
              </a:spcAft>
              <a:tabLst>
                <a:tab pos="790575" algn="l"/>
              </a:tabLst>
            </a:pPr>
            <a:r>
              <a:rPr lang="en-US" altLang="zh-CN" b="1" kern="100" dirty="0">
                <a:latin typeface="等线" panose="02010600030101010101" pitchFamily="2" charset="-122"/>
                <a:ea typeface="等线" panose="02010600030101010101" pitchFamily="2" charset="-122"/>
                <a:cs typeface="Times New Roman" panose="02020603050405020304" pitchFamily="18" charset="0"/>
              </a:rPr>
              <a:t>2</a:t>
            </a:r>
            <a:r>
              <a:rPr lang="zh-CN" altLang="en-US" b="1" kern="100" dirty="0">
                <a:latin typeface="等线" panose="02010600030101010101" pitchFamily="2" charset="-122"/>
                <a:ea typeface="等线" panose="02010600030101010101" pitchFamily="2" charset="-122"/>
                <a:cs typeface="Times New Roman" panose="02020603050405020304" pitchFamily="18" charset="0"/>
              </a:rPr>
              <a:t>）</a:t>
            </a:r>
            <a:r>
              <a:rPr lang="zh-CN" altLang="zh-CN" b="1"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动态重定位：</a:t>
            </a:r>
            <a:r>
              <a:rPr lang="zh-CN" altLang="en-US" b="1" kern="100" dirty="0">
                <a:latin typeface="等线" panose="02010600030101010101" pitchFamily="2" charset="-122"/>
                <a:ea typeface="等线" panose="02010600030101010101" pitchFamily="2" charset="-122"/>
                <a:cs typeface="Times New Roman" panose="02020603050405020304" pitchFamily="18" charset="0"/>
              </a:rPr>
              <a:t>依靠重定位寄存器实现，虚地址空间从 0 开始编址。程序装入内存时不对逻辑地址做修改，程序运行期间由硬件实时完成地址换算。程序在内存中搬迁时仅修改寄存器内容，无需改动程序代码，因此支持程序在内存中动态移动。</a:t>
            </a:r>
            <a:endParaRPr lang="zh-CN" altLang="en-US" b="1"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25000"/>
              </a:lnSpc>
              <a:spcAft>
                <a:spcPts val="0"/>
              </a:spcAft>
              <a:tabLst>
                <a:tab pos="790575" algn="l"/>
              </a:tabLst>
            </a:pPr>
            <a:endParaRPr lang="zh-CN" altLang="en-US" b="1" kern="100" dirty="0">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2008505" y="2535555"/>
            <a:ext cx="7221220" cy="306578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1226820" y="1071245"/>
            <a:ext cx="3377565"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内存覆盖</a:t>
            </a:r>
            <a:endParaRPr lang="zh-CN" altLang="en-US" sz="2000" b="1" dirty="0">
              <a:solidFill>
                <a:srgbClr val="6C0000"/>
              </a:solidFill>
              <a:latin typeface="华文行楷" panose="02010800040101010101" charset="-122"/>
              <a:ea typeface="华文行楷" panose="02010800040101010101" charset="-122"/>
            </a:endParaRPr>
          </a:p>
        </p:txBody>
      </p:sp>
      <p:sp>
        <p:nvSpPr>
          <p:cNvPr id="4" name="矩形 3"/>
          <p:cNvSpPr/>
          <p:nvPr/>
        </p:nvSpPr>
        <p:spPr>
          <a:xfrm>
            <a:off x="1226806" y="1564914"/>
            <a:ext cx="10221983" cy="645160"/>
          </a:xfrm>
          <a:prstGeom prst="rect">
            <a:avLst/>
          </a:prstGeom>
        </p:spPr>
        <p:txBody>
          <a:bodyPr wrap="square">
            <a:spAutoFit/>
          </a:bodyPr>
          <a:lstStyle/>
          <a:p>
            <a:r>
              <a:rPr lang="zh-CN" altLang="en-US" b="1" dirty="0">
                <a:latin typeface="等线" panose="02010600030101010101" pitchFamily="2" charset="-122"/>
                <a:ea typeface="等线" panose="02010600030101010101" pitchFamily="2" charset="-122"/>
              </a:rPr>
              <a:t>覆盖是一种内存管理技术，用于在有限的内存空间运行较大的程序。其核心思想是：将程序划分为多个功能独立、不需同时驻留内存的覆盖段，并将它们分组共享同一块内存区域（称为覆盖区）。</a:t>
            </a:r>
            <a:endParaRPr lang="zh-CN" altLang="en-US" b="1" dirty="0">
              <a:latin typeface="等线" panose="02010600030101010101" pitchFamily="2" charset="-122"/>
              <a:ea typeface="等线" panose="02010600030101010101" pitchFamily="2" charset="-122"/>
            </a:endParaRPr>
          </a:p>
        </p:txBody>
      </p:sp>
      <p:sp>
        <p:nvSpPr>
          <p:cNvPr id="8" name="文本框 7"/>
          <p:cNvSpPr txBox="1"/>
          <p:nvPr/>
        </p:nvSpPr>
        <p:spPr>
          <a:xfrm>
            <a:off x="1001395" y="544830"/>
            <a:ext cx="4074160"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3.2 </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内存的覆盖与交换</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pic>
        <p:nvPicPr>
          <p:cNvPr id="3" name="图片 2"/>
          <p:cNvPicPr>
            <a:picLocks noChangeAspect="1"/>
          </p:cNvPicPr>
          <p:nvPr/>
        </p:nvPicPr>
        <p:blipFill>
          <a:blip r:embed="rId1"/>
          <a:stretch>
            <a:fillRect/>
          </a:stretch>
        </p:blipFill>
        <p:spPr>
          <a:xfrm>
            <a:off x="2522855" y="2304415"/>
            <a:ext cx="6132830" cy="367792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1226820" y="1071245"/>
            <a:ext cx="3377565"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内存交换</a:t>
            </a:r>
            <a:endParaRPr lang="zh-CN" altLang="en-US" sz="2000" b="1" dirty="0">
              <a:solidFill>
                <a:srgbClr val="6C0000"/>
              </a:solidFill>
              <a:latin typeface="华文行楷" panose="02010800040101010101" charset="-122"/>
              <a:ea typeface="华文行楷" panose="02010800040101010101" charset="-122"/>
            </a:endParaRPr>
          </a:p>
        </p:txBody>
      </p:sp>
      <p:sp>
        <p:nvSpPr>
          <p:cNvPr id="4" name="矩形 3"/>
          <p:cNvSpPr/>
          <p:nvPr/>
        </p:nvSpPr>
        <p:spPr>
          <a:xfrm>
            <a:off x="1226806" y="1564914"/>
            <a:ext cx="10221983" cy="922020"/>
          </a:xfrm>
          <a:prstGeom prst="rect">
            <a:avLst/>
          </a:prstGeom>
        </p:spPr>
        <p:txBody>
          <a:bodyPr wrap="square">
            <a:spAutoFit/>
          </a:bodyPr>
          <a:lstStyle/>
          <a:p>
            <a:r>
              <a:rPr lang="zh-CN" altLang="zh-CN" b="1" dirty="0">
                <a:solidFill>
                  <a:srgbClr val="7C0000"/>
                </a:solidFill>
                <a:latin typeface="等线" panose="02010600030101010101" pitchFamily="2" charset="-122"/>
                <a:ea typeface="等线" panose="02010600030101010101" pitchFamily="2" charset="-122"/>
              </a:rPr>
              <a:t>交换的基本思想是：</a:t>
            </a:r>
            <a:r>
              <a:rPr lang="zh-CN" altLang="zh-CN" b="1" dirty="0">
                <a:latin typeface="等线" panose="02010600030101010101" pitchFamily="2" charset="-122"/>
                <a:ea typeface="等线" panose="02010600030101010101" pitchFamily="2" charset="-122"/>
              </a:rPr>
              <a:t>把处于等待状态（或在</a:t>
            </a:r>
            <a:r>
              <a:rPr lang="en-US" altLang="zh-CN" b="1" dirty="0">
                <a:latin typeface="等线" panose="02010600030101010101" pitchFamily="2" charset="-122"/>
                <a:ea typeface="等线" panose="02010600030101010101" pitchFamily="2" charset="-122"/>
              </a:rPr>
              <a:t>CPU</a:t>
            </a:r>
            <a:r>
              <a:rPr lang="zh-CN" altLang="zh-CN" b="1" dirty="0">
                <a:latin typeface="等线" panose="02010600030101010101" pitchFamily="2" charset="-122"/>
                <a:ea typeface="等线" panose="02010600030101010101" pitchFamily="2" charset="-122"/>
              </a:rPr>
              <a:t>调度原则下被剥夺运行权利）的程序从内存移到辅存，把内存空间腾出来，这一过程叫做“换出”；把准备好竞争</a:t>
            </a:r>
            <a:r>
              <a:rPr lang="en-US" altLang="zh-CN" b="1" dirty="0">
                <a:latin typeface="等线" panose="02010600030101010101" pitchFamily="2" charset="-122"/>
                <a:ea typeface="等线" panose="02010600030101010101" pitchFamily="2" charset="-122"/>
              </a:rPr>
              <a:t>CPU</a:t>
            </a:r>
            <a:r>
              <a:rPr lang="zh-CN" altLang="zh-CN" b="1" dirty="0">
                <a:latin typeface="等线" panose="02010600030101010101" pitchFamily="2" charset="-122"/>
                <a:ea typeface="等线" panose="02010600030101010101" pitchFamily="2" charset="-122"/>
              </a:rPr>
              <a:t>运行的程序从辅存移到内存，这一过程又称为“换入”，内存交换的示意图可见图。</a:t>
            </a:r>
            <a:endParaRPr lang="zh-CN" altLang="en-US" b="1" dirty="0">
              <a:latin typeface="等线" panose="02010600030101010101" pitchFamily="2" charset="-122"/>
              <a:ea typeface="等线" panose="02010600030101010101" pitchFamily="2" charset="-122"/>
            </a:endParaRPr>
          </a:p>
        </p:txBody>
      </p:sp>
      <p:sp>
        <p:nvSpPr>
          <p:cNvPr id="8" name="文本框 7"/>
          <p:cNvSpPr txBox="1"/>
          <p:nvPr/>
        </p:nvSpPr>
        <p:spPr>
          <a:xfrm>
            <a:off x="1001395" y="544830"/>
            <a:ext cx="4074160"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3.2 </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内存的覆盖与交换</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pic>
        <p:nvPicPr>
          <p:cNvPr id="2" name="图片 1"/>
          <p:cNvPicPr>
            <a:picLocks noChangeAspect="1"/>
          </p:cNvPicPr>
          <p:nvPr/>
        </p:nvPicPr>
        <p:blipFill>
          <a:blip r:embed="rId1"/>
          <a:stretch>
            <a:fillRect/>
          </a:stretch>
        </p:blipFill>
        <p:spPr>
          <a:xfrm>
            <a:off x="2936240" y="2825750"/>
            <a:ext cx="4964430" cy="302831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1226806" y="1071388"/>
            <a:ext cx="7013551"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内存交换（补充）</a:t>
            </a:r>
            <a:endParaRPr lang="zh-CN" altLang="en-US" sz="2000" b="1" dirty="0">
              <a:solidFill>
                <a:srgbClr val="6C0000"/>
              </a:solidFill>
              <a:latin typeface="华文行楷" panose="02010800040101010101" charset="-122"/>
              <a:ea typeface="华文行楷" panose="02010800040101010101" charset="-122"/>
            </a:endParaRPr>
          </a:p>
        </p:txBody>
      </p:sp>
      <p:sp>
        <p:nvSpPr>
          <p:cNvPr id="3" name="文本框 2"/>
          <p:cNvSpPr txBox="1"/>
          <p:nvPr/>
        </p:nvSpPr>
        <p:spPr>
          <a:xfrm>
            <a:off x="1364617" y="1471498"/>
            <a:ext cx="3048000" cy="368300"/>
          </a:xfrm>
          <a:prstGeom prst="rect">
            <a:avLst/>
          </a:prstGeom>
        </p:spPr>
        <p:txBody>
          <a:bodyPr>
            <a:spAutoFit/>
            <a:extLst>
              <a:ext uri="{4A0BC546-FE56-4ADE-93B0-CB8AF2F6F144}">
                <wpsdc:textFrameExt xmlns:wpsdc="http://www.wps.cn/officeDocument/2022/drawingmlCustomData" type="text"/>
              </a:ext>
            </a:extLst>
          </a:bodyPr>
          <a:lstStyle/>
          <a:p>
            <a:pPr algn="l"/>
            <a:r>
              <a:rPr lang="zh-CN" altLang="en-US" dirty="0">
                <a:latin typeface="Arial" panose="020B0604020202020204" pitchFamily="34" charset="0"/>
                <a:ea typeface="微软雅黑" panose="020B0503020204020204" pitchFamily="34" charset="-122"/>
              </a:rPr>
              <a:t>交换的位置在哪里？</a:t>
            </a:r>
            <a:endParaRPr lang="zh-CN" altLang="en-US" dirty="0">
              <a:latin typeface="Arial" panose="020B0604020202020204" pitchFamily="34" charset="0"/>
              <a:ea typeface="微软雅黑" panose="020B0503020204020204" pitchFamily="34" charset="-122"/>
            </a:endParaRPr>
          </a:p>
        </p:txBody>
      </p:sp>
      <p:sp>
        <p:nvSpPr>
          <p:cNvPr id="7" name="文本框 6"/>
          <p:cNvSpPr txBox="1"/>
          <p:nvPr/>
        </p:nvSpPr>
        <p:spPr>
          <a:xfrm>
            <a:off x="1226806" y="1720840"/>
            <a:ext cx="10157025" cy="3693319"/>
          </a:xfrm>
          <a:prstGeom prst="rect">
            <a:avLst/>
          </a:prstGeom>
        </p:spPr>
        <p:txBody>
          <a:bodyPr wrap="square">
            <a:spAutoFit/>
          </a:bodyPr>
          <a:lstStyle/>
          <a:p>
            <a:r>
              <a:rPr lang="en-US" altLang="zh-CN" b="1" dirty="0">
                <a:latin typeface="等线" panose="02010600030101010101" pitchFamily="2" charset="-122"/>
                <a:ea typeface="等线" panose="02010600030101010101" pitchFamily="2" charset="-122"/>
              </a:rPr>
              <a:t> </a:t>
            </a:r>
            <a:endParaRPr lang="en-US" altLang="zh-CN" b="1" dirty="0">
              <a:latin typeface="等线" panose="02010600030101010101" pitchFamily="2" charset="-122"/>
              <a:ea typeface="等线" panose="02010600030101010101" pitchFamily="2" charset="-122"/>
            </a:endParaRPr>
          </a:p>
          <a:p>
            <a:r>
              <a:rPr lang="zh-CN" altLang="en-US" b="1" dirty="0">
                <a:solidFill>
                  <a:srgbClr val="C00000"/>
                </a:solidFill>
                <a:latin typeface="等线" panose="02010600030101010101" pitchFamily="2" charset="-122"/>
                <a:ea typeface="等线" panose="02010600030101010101" pitchFamily="2" charset="-122"/>
              </a:rPr>
              <a:t>交换区： 独立交换分区</a:t>
            </a:r>
            <a:endParaRPr lang="zh-CN" altLang="en-US" b="1" dirty="0">
              <a:solidFill>
                <a:srgbClr val="C00000"/>
              </a:solidFill>
              <a:latin typeface="等线" panose="02010600030101010101" pitchFamily="2" charset="-122"/>
              <a:ea typeface="等线" panose="02010600030101010101" pitchFamily="2" charset="-122"/>
            </a:endParaRPr>
          </a:p>
          <a:p>
            <a:pPr marL="285750" indent="-285750">
              <a:buFont typeface="Wingdings" panose="05000000000000000000" pitchFamily="2" charset="2"/>
              <a:buChar char="u"/>
            </a:pPr>
            <a:r>
              <a:rPr lang="zh-CN" altLang="en-US" b="1" dirty="0">
                <a:latin typeface="等线" panose="02010600030101010101" pitchFamily="2" charset="-122"/>
                <a:ea typeface="等线" panose="02010600030101010101" pitchFamily="2" charset="-122"/>
              </a:rPr>
              <a:t>位置：在磁盘上划分的一个独立的、连续的分区（如</a:t>
            </a:r>
            <a:r>
              <a:rPr lang="en-US" altLang="zh-CN" b="1" dirty="0">
                <a:latin typeface="等线" panose="02010600030101010101" pitchFamily="2" charset="-122"/>
                <a:ea typeface="等线" panose="02010600030101010101" pitchFamily="2" charset="-122"/>
              </a:rPr>
              <a:t>Linux</a:t>
            </a:r>
            <a:r>
              <a:rPr lang="zh-CN" altLang="en-US" b="1" dirty="0">
                <a:latin typeface="等线" panose="02010600030101010101" pitchFamily="2" charset="-122"/>
                <a:ea typeface="等线" panose="02010600030101010101" pitchFamily="2" charset="-122"/>
              </a:rPr>
              <a:t>的 </a:t>
            </a:r>
            <a:r>
              <a:rPr lang="en-US" altLang="zh-CN" b="1" dirty="0">
                <a:latin typeface="等线" panose="02010600030101010101" pitchFamily="2" charset="-122"/>
                <a:ea typeface="等线" panose="02010600030101010101" pitchFamily="2" charset="-122"/>
              </a:rPr>
              <a:t>/dev/sda2 </a:t>
            </a:r>
            <a:r>
              <a:rPr lang="zh-CN" altLang="en-US" b="1" dirty="0">
                <a:latin typeface="等线" panose="02010600030101010101" pitchFamily="2" charset="-122"/>
                <a:ea typeface="等线" panose="02010600030101010101" pitchFamily="2" charset="-122"/>
              </a:rPr>
              <a:t>类型为 </a:t>
            </a:r>
            <a:r>
              <a:rPr lang="en-US" altLang="zh-CN" b="1" dirty="0">
                <a:latin typeface="等线" panose="02010600030101010101" pitchFamily="2" charset="-122"/>
                <a:ea typeface="等线" panose="02010600030101010101" pitchFamily="2" charset="-122"/>
              </a:rPr>
              <a:t>Linux swap</a:t>
            </a:r>
            <a:r>
              <a:rPr lang="zh-CN" altLang="en-US" b="1" dirty="0">
                <a:latin typeface="等线" panose="02010600030101010101" pitchFamily="2" charset="-122"/>
                <a:ea typeface="等线" panose="02010600030101010101" pitchFamily="2" charset="-122"/>
              </a:rPr>
              <a:t>）。 </a:t>
            </a:r>
            <a:endParaRPr lang="zh-CN" altLang="en-US" b="1" dirty="0">
              <a:latin typeface="等线" panose="02010600030101010101" pitchFamily="2" charset="-122"/>
              <a:ea typeface="等线" panose="02010600030101010101" pitchFamily="2" charset="-122"/>
            </a:endParaRPr>
          </a:p>
          <a:p>
            <a:pPr marL="285750" indent="-285750">
              <a:buFont typeface="Wingdings" panose="05000000000000000000" pitchFamily="2" charset="2"/>
              <a:buChar char="u"/>
            </a:pPr>
            <a:r>
              <a:rPr lang="zh-CN" altLang="en-US" b="1" dirty="0">
                <a:latin typeface="等线" panose="02010600030101010101" pitchFamily="2" charset="-122"/>
                <a:ea typeface="等线" panose="02010600030101010101" pitchFamily="2" charset="-122"/>
              </a:rPr>
              <a:t>优点：速度快。因为空间连续，没有文件系统的元数据开销，磁盘寻道时间更短。 </a:t>
            </a:r>
            <a:endParaRPr lang="zh-CN" altLang="en-US" b="1" dirty="0">
              <a:latin typeface="等线" panose="02010600030101010101" pitchFamily="2" charset="-122"/>
              <a:ea typeface="等线" panose="02010600030101010101" pitchFamily="2" charset="-122"/>
            </a:endParaRPr>
          </a:p>
          <a:p>
            <a:pPr marL="285750" indent="-285750">
              <a:buFont typeface="Wingdings" panose="05000000000000000000" pitchFamily="2" charset="2"/>
              <a:buChar char="u"/>
            </a:pPr>
            <a:r>
              <a:rPr lang="zh-CN" altLang="en-US" b="1" dirty="0">
                <a:latin typeface="等线" panose="02010600030101010101" pitchFamily="2" charset="-122"/>
                <a:ea typeface="等线" panose="02010600030101010101" pitchFamily="2" charset="-122"/>
              </a:rPr>
              <a:t>缺点：大小不易调整（通常需要重启系统）。 </a:t>
            </a:r>
            <a:endParaRPr lang="zh-CN" altLang="en-US" b="1" dirty="0">
              <a:latin typeface="等线" panose="02010600030101010101" pitchFamily="2" charset="-122"/>
              <a:ea typeface="等线" panose="02010600030101010101" pitchFamily="2" charset="-122"/>
            </a:endParaRPr>
          </a:p>
          <a:p>
            <a:endParaRPr lang="zh-CN" altLang="en-US" b="1" dirty="0">
              <a:latin typeface="等线" panose="02010600030101010101" pitchFamily="2" charset="-122"/>
              <a:ea typeface="等线" panose="02010600030101010101" pitchFamily="2" charset="-122"/>
            </a:endParaRPr>
          </a:p>
          <a:p>
            <a:r>
              <a:rPr lang="zh-CN" altLang="en-US" b="1" dirty="0">
                <a:solidFill>
                  <a:srgbClr val="C00000"/>
                </a:solidFill>
                <a:latin typeface="等线" panose="02010600030101010101" pitchFamily="2" charset="-122"/>
                <a:ea typeface="等线" panose="02010600030101010101" pitchFamily="2" charset="-122"/>
              </a:rPr>
              <a:t>交换文件 </a:t>
            </a:r>
            <a:endParaRPr lang="zh-CN" altLang="en-US" b="1" dirty="0">
              <a:latin typeface="等线" panose="02010600030101010101" pitchFamily="2" charset="-122"/>
              <a:ea typeface="等线" panose="02010600030101010101" pitchFamily="2" charset="-122"/>
            </a:endParaRPr>
          </a:p>
          <a:p>
            <a:pPr marL="285750" indent="-285750">
              <a:buFont typeface="Wingdings" panose="05000000000000000000" pitchFamily="2" charset="2"/>
              <a:buChar char="u"/>
            </a:pPr>
            <a:r>
              <a:rPr lang="zh-CN" altLang="en-US" b="1" dirty="0">
                <a:latin typeface="等线" panose="02010600030101010101" pitchFamily="2" charset="-122"/>
                <a:ea typeface="等线" panose="02010600030101010101" pitchFamily="2" charset="-122"/>
              </a:rPr>
              <a:t>位置：在根文件系统上的一个特殊的大文件（如</a:t>
            </a:r>
            <a:r>
              <a:rPr lang="en-US" altLang="zh-CN" b="1" dirty="0">
                <a:latin typeface="等线" panose="02010600030101010101" pitchFamily="2" charset="-122"/>
                <a:ea typeface="等线" panose="02010600030101010101" pitchFamily="2" charset="-122"/>
              </a:rPr>
              <a:t>Windows</a:t>
            </a:r>
            <a:r>
              <a:rPr lang="zh-CN" altLang="en-US" b="1" dirty="0">
                <a:latin typeface="等线" panose="02010600030101010101" pitchFamily="2" charset="-122"/>
                <a:ea typeface="等线" panose="02010600030101010101" pitchFamily="2" charset="-122"/>
              </a:rPr>
              <a:t>的 </a:t>
            </a:r>
            <a:r>
              <a:rPr lang="en-US" altLang="zh-CN" b="1" dirty="0">
                <a:latin typeface="等线" panose="02010600030101010101" pitchFamily="2" charset="-122"/>
                <a:ea typeface="等线" panose="02010600030101010101" pitchFamily="2" charset="-122"/>
              </a:rPr>
              <a:t>pagefile.sys</a:t>
            </a:r>
            <a:r>
              <a:rPr lang="zh-CN" altLang="en-US" b="1" dirty="0">
                <a:latin typeface="等线" panose="02010600030101010101" pitchFamily="2" charset="-122"/>
                <a:ea typeface="等线" panose="02010600030101010101" pitchFamily="2" charset="-122"/>
              </a:rPr>
              <a:t>，</a:t>
            </a:r>
            <a:r>
              <a:rPr lang="en-US" altLang="zh-CN" b="1" dirty="0">
                <a:latin typeface="等线" panose="02010600030101010101" pitchFamily="2" charset="-122"/>
                <a:ea typeface="等线" panose="02010600030101010101" pitchFamily="2" charset="-122"/>
              </a:rPr>
              <a:t>Linux</a:t>
            </a:r>
            <a:r>
              <a:rPr lang="zh-CN" altLang="en-US" b="1" dirty="0">
                <a:latin typeface="等线" panose="02010600030101010101" pitchFamily="2" charset="-122"/>
                <a:ea typeface="等线" panose="02010600030101010101" pitchFamily="2" charset="-122"/>
              </a:rPr>
              <a:t>的 </a:t>
            </a:r>
            <a:r>
              <a:rPr lang="en-US" altLang="zh-CN" b="1" dirty="0">
                <a:latin typeface="等线" panose="02010600030101010101" pitchFamily="2" charset="-122"/>
                <a:ea typeface="等线" panose="02010600030101010101" pitchFamily="2" charset="-122"/>
              </a:rPr>
              <a:t>/</a:t>
            </a:r>
            <a:r>
              <a:rPr lang="en-US" altLang="zh-CN" b="1" dirty="0" err="1">
                <a:latin typeface="等线" panose="02010600030101010101" pitchFamily="2" charset="-122"/>
                <a:ea typeface="等线" panose="02010600030101010101" pitchFamily="2" charset="-122"/>
              </a:rPr>
              <a:t>swapfile</a:t>
            </a:r>
            <a:r>
              <a:rPr lang="zh-CN" altLang="en-US" b="1" dirty="0">
                <a:latin typeface="等线" panose="02010600030101010101" pitchFamily="2" charset="-122"/>
                <a:ea typeface="等线" panose="02010600030101010101" pitchFamily="2" charset="-122"/>
              </a:rPr>
              <a:t>）。 </a:t>
            </a:r>
            <a:endParaRPr lang="zh-CN" altLang="en-US" b="1" dirty="0">
              <a:latin typeface="等线" panose="02010600030101010101" pitchFamily="2" charset="-122"/>
              <a:ea typeface="等线" panose="02010600030101010101" pitchFamily="2" charset="-122"/>
            </a:endParaRPr>
          </a:p>
          <a:p>
            <a:pPr marL="285750" indent="-285750">
              <a:buFont typeface="Wingdings" panose="05000000000000000000" pitchFamily="2" charset="2"/>
              <a:buChar char="u"/>
            </a:pPr>
            <a:r>
              <a:rPr lang="zh-CN" altLang="en-US" b="1" dirty="0">
                <a:latin typeface="等线" panose="02010600030101010101" pitchFamily="2" charset="-122"/>
                <a:ea typeface="等线" panose="02010600030101010101" pitchFamily="2" charset="-122"/>
              </a:rPr>
              <a:t>优点：灵活。可以轻松地创建、删除和调整大小，无需重新分区。 </a:t>
            </a:r>
            <a:endParaRPr lang="zh-CN" altLang="en-US" b="1" dirty="0">
              <a:latin typeface="等线" panose="02010600030101010101" pitchFamily="2" charset="-122"/>
              <a:ea typeface="等线" panose="02010600030101010101" pitchFamily="2" charset="-122"/>
            </a:endParaRPr>
          </a:p>
          <a:p>
            <a:pPr marL="285750" indent="-285750">
              <a:buFont typeface="Wingdings" panose="05000000000000000000" pitchFamily="2" charset="2"/>
              <a:buChar char="u"/>
            </a:pPr>
            <a:r>
              <a:rPr lang="zh-CN" altLang="en-US" b="1" dirty="0">
                <a:latin typeface="等线" panose="02010600030101010101" pitchFamily="2" charset="-122"/>
                <a:ea typeface="等线" panose="02010600030101010101" pitchFamily="2" charset="-122"/>
              </a:rPr>
              <a:t>缺点：性能稍差。因为需要经过文件系统，可能产生碎片。 </a:t>
            </a:r>
            <a:endParaRPr lang="en-US" altLang="zh-CN" b="1" dirty="0">
              <a:latin typeface="等线" panose="02010600030101010101" pitchFamily="2" charset="-122"/>
              <a:ea typeface="等线" panose="02010600030101010101" pitchFamily="2" charset="-122"/>
            </a:endParaRPr>
          </a:p>
          <a:p>
            <a:endParaRPr lang="zh-CN" altLang="en-US" b="1" dirty="0">
              <a:latin typeface="等线" panose="02010600030101010101" pitchFamily="2" charset="-122"/>
              <a:ea typeface="等线" panose="02010600030101010101" pitchFamily="2" charset="-122"/>
            </a:endParaRPr>
          </a:p>
          <a:p>
            <a:r>
              <a:rPr lang="zh-CN" altLang="en-US" b="1" dirty="0">
                <a:latin typeface="等线" panose="02010600030101010101" pitchFamily="2" charset="-122"/>
                <a:ea typeface="等线" panose="02010600030101010101" pitchFamily="2" charset="-122"/>
              </a:rPr>
              <a:t>现代系统（如</a:t>
            </a:r>
            <a:r>
              <a:rPr lang="en-US" altLang="zh-CN" b="1" dirty="0">
                <a:latin typeface="等线" panose="02010600030101010101" pitchFamily="2" charset="-122"/>
                <a:ea typeface="等线" panose="02010600030101010101" pitchFamily="2" charset="-122"/>
              </a:rPr>
              <a:t>Windows</a:t>
            </a:r>
            <a:r>
              <a:rPr lang="zh-CN" altLang="en-US" b="1" dirty="0">
                <a:latin typeface="等线" panose="02010600030101010101" pitchFamily="2" charset="-122"/>
                <a:ea typeface="等线" panose="02010600030101010101" pitchFamily="2" charset="-122"/>
              </a:rPr>
              <a:t>和大多数</a:t>
            </a:r>
            <a:r>
              <a:rPr lang="en-US" altLang="zh-CN" b="1" dirty="0">
                <a:latin typeface="等线" panose="02010600030101010101" pitchFamily="2" charset="-122"/>
                <a:ea typeface="等线" panose="02010600030101010101" pitchFamily="2" charset="-122"/>
              </a:rPr>
              <a:t>Linux</a:t>
            </a:r>
            <a:r>
              <a:rPr lang="zh-CN" altLang="en-US" b="1" dirty="0">
                <a:latin typeface="等线" panose="02010600030101010101" pitchFamily="2" charset="-122"/>
                <a:ea typeface="等线" panose="02010600030101010101" pitchFamily="2" charset="-122"/>
              </a:rPr>
              <a:t>发行版）通常两者都支持，但更倾向于使用交换文件，因为它提供了极大的灵活性。</a:t>
            </a:r>
            <a:endParaRPr lang="zh-CN" altLang="en-US" b="1" dirty="0">
              <a:latin typeface="等线" panose="02010600030101010101" pitchFamily="2" charset="-122"/>
              <a:ea typeface="等线" panose="02010600030101010101" pitchFamily="2" charset="-122"/>
            </a:endParaRPr>
          </a:p>
        </p:txBody>
      </p:sp>
      <p:sp>
        <p:nvSpPr>
          <p:cNvPr id="8" name="文本框 7"/>
          <p:cNvSpPr txBox="1"/>
          <p:nvPr/>
        </p:nvSpPr>
        <p:spPr>
          <a:xfrm>
            <a:off x="1001395" y="549275"/>
            <a:ext cx="4074160"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3.2 </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内存的覆盖与交换</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490855" y="476885"/>
            <a:ext cx="510540" cy="510540"/>
            <a:chOff x="5244" y="7023"/>
            <a:chExt cx="804" cy="804"/>
          </a:xfrm>
        </p:grpSpPr>
        <p:sp>
          <p:nvSpPr>
            <p:cNvPr id="12" name="图形"/>
            <p:cNvSpPr/>
            <p:nvPr>
              <p:custDataLst>
                <p:tags r:id="rId1"/>
              </p:custDataLst>
            </p:nvPr>
          </p:nvSpPr>
          <p:spPr>
            <a:xfrm>
              <a:off x="5244" y="7023"/>
              <a:ext cx="804" cy="804"/>
            </a:xfrm>
            <a:prstGeom prst="ellips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pic>
          <p:nvPicPr>
            <p:cNvPr id="13" name="图形" descr="303b32313533373635313bbbe3b1a8d5df"/>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5372" y="7137"/>
              <a:ext cx="555" cy="555"/>
            </a:xfrm>
            <a:prstGeom prst="rect">
              <a:avLst/>
            </a:prstGeom>
          </p:spPr>
        </p:pic>
      </p:grpSp>
      <p:sp>
        <p:nvSpPr>
          <p:cNvPr id="5" name="TextBox 1"/>
          <p:cNvSpPr txBox="1">
            <a:spLocks noChangeArrowheads="1"/>
          </p:cNvSpPr>
          <p:nvPr/>
        </p:nvSpPr>
        <p:spPr bwMode="auto">
          <a:xfrm>
            <a:off x="1226806" y="1071388"/>
            <a:ext cx="7013551"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内存交换（补充）</a:t>
            </a:r>
            <a:endParaRPr lang="zh-CN" altLang="en-US" sz="2000" b="1" dirty="0">
              <a:solidFill>
                <a:srgbClr val="6C0000"/>
              </a:solidFill>
              <a:latin typeface="华文行楷" panose="02010800040101010101" charset="-122"/>
              <a:ea typeface="华文行楷" panose="02010800040101010101" charset="-122"/>
            </a:endParaRPr>
          </a:p>
        </p:txBody>
      </p:sp>
      <p:sp>
        <p:nvSpPr>
          <p:cNvPr id="3" name="文本框 2"/>
          <p:cNvSpPr txBox="1"/>
          <p:nvPr/>
        </p:nvSpPr>
        <p:spPr>
          <a:xfrm>
            <a:off x="1364617" y="1471498"/>
            <a:ext cx="3048000" cy="368300"/>
          </a:xfrm>
          <a:prstGeom prst="rect">
            <a:avLst/>
          </a:prstGeom>
        </p:spPr>
        <p:txBody>
          <a:bodyPr>
            <a:spAutoFit/>
            <a:extLst>
              <a:ext uri="{4A0BC546-FE56-4ADE-93B0-CB8AF2F6F144}">
                <wpsdc:textFrameExt xmlns:wpsdc="http://www.wps.cn/officeDocument/2022/drawingmlCustomData" type="text"/>
              </a:ext>
            </a:extLst>
          </a:bodyPr>
          <a:lstStyle/>
          <a:p>
            <a:pPr algn="l"/>
            <a:r>
              <a:rPr lang="zh-CN" altLang="en-US" dirty="0">
                <a:latin typeface="Arial" panose="020B0604020202020204" pitchFamily="34" charset="0"/>
                <a:ea typeface="微软雅黑" panose="020B0503020204020204" pitchFamily="34" charset="-122"/>
              </a:rPr>
              <a:t>交换的位置在哪里？</a:t>
            </a:r>
            <a:endParaRPr lang="zh-CN" altLang="en-US" dirty="0">
              <a:latin typeface="Arial" panose="020B0604020202020204" pitchFamily="34" charset="0"/>
              <a:ea typeface="微软雅黑" panose="020B0503020204020204" pitchFamily="34" charset="-122"/>
            </a:endParaRPr>
          </a:p>
        </p:txBody>
      </p:sp>
      <p:sp>
        <p:nvSpPr>
          <p:cNvPr id="4" name="文本框 3"/>
          <p:cNvSpPr txBox="1"/>
          <p:nvPr/>
        </p:nvSpPr>
        <p:spPr>
          <a:xfrm>
            <a:off x="1364616" y="2006835"/>
            <a:ext cx="9783547" cy="2368550"/>
          </a:xfrm>
          <a:prstGeom prst="rect">
            <a:avLst/>
          </a:prstGeom>
        </p:spPr>
        <p:txBody>
          <a:bodyPr wrap="square">
            <a:spAutoFit/>
          </a:bodyPr>
          <a:lstStyle/>
          <a:p>
            <a:r>
              <a:rPr lang="zh-CN" altLang="en-US" sz="2000" b="1" dirty="0">
                <a:solidFill>
                  <a:srgbClr val="C00000"/>
                </a:solidFill>
                <a:latin typeface="quote-cjk-patch"/>
                <a:ea typeface="quote-cjk-patch"/>
              </a:rPr>
              <a:t>映射文件 </a:t>
            </a:r>
            <a:endParaRPr lang="zh-CN" altLang="en-US" sz="1600" b="1" dirty="0">
              <a:solidFill>
                <a:srgbClr val="C00000"/>
              </a:solidFill>
              <a:latin typeface="quote-cjk-patch"/>
              <a:ea typeface="quote-cjk-patch"/>
            </a:endParaRPr>
          </a:p>
          <a:p>
            <a:r>
              <a:rPr lang="zh-CN" altLang="en-US" sz="1600" b="1" dirty="0">
                <a:latin typeface="quote-cjk-patch"/>
                <a:ea typeface="quote-cjk-patch"/>
              </a:rPr>
              <a:t>需要特别注意：并非所有从磁盘读入的内存都来自交换区。 </a:t>
            </a:r>
            <a:endParaRPr lang="zh-CN" altLang="en-US" sz="1600" b="1" dirty="0">
              <a:latin typeface="quote-cjk-patch"/>
              <a:ea typeface="quote-cjk-patch"/>
            </a:endParaRPr>
          </a:p>
          <a:p>
            <a:pPr marL="285750" indent="-285750">
              <a:buFont typeface="Wingdings" panose="05000000000000000000" pitchFamily="2" charset="2"/>
              <a:buChar char="u"/>
            </a:pPr>
            <a:r>
              <a:rPr lang="zh-CN" altLang="en-US" sz="1600" b="1" dirty="0">
                <a:latin typeface="quote-cjk-patch"/>
                <a:ea typeface="quote-cjk-patch"/>
              </a:rPr>
              <a:t>可执行文件代码段：</a:t>
            </a:r>
            <a:endParaRPr lang="zh-CN" altLang="en-US" sz="1600" b="1" dirty="0">
              <a:latin typeface="quote-cjk-patch"/>
              <a:ea typeface="quote-cjk-patch"/>
            </a:endParaRPr>
          </a:p>
          <a:p>
            <a:r>
              <a:rPr lang="en-US" altLang="zh-CN" sz="1600" b="1" dirty="0">
                <a:latin typeface="quote-cjk-patch"/>
                <a:ea typeface="quote-cjk-patch"/>
              </a:rPr>
              <a:t>    </a:t>
            </a:r>
            <a:r>
              <a:rPr lang="zh-CN" altLang="en-US" sz="1600" b="1" dirty="0">
                <a:latin typeface="quote-cjk-patch"/>
                <a:ea typeface="quote-cjk-patch"/>
              </a:rPr>
              <a:t>当运行一个程序时，其代码（来自 </a:t>
            </a:r>
            <a:r>
              <a:rPr lang="en-US" altLang="zh-CN" sz="1600" b="1" dirty="0">
                <a:latin typeface="quote-cjk-patch"/>
                <a:ea typeface="quote-cjk-patch"/>
              </a:rPr>
              <a:t>/bin/ls </a:t>
            </a:r>
            <a:r>
              <a:rPr lang="zh-CN" altLang="en-US" sz="1600" b="1" dirty="0">
                <a:latin typeface="quote-cjk-patch"/>
                <a:ea typeface="quote-cjk-patch"/>
              </a:rPr>
              <a:t>这样的文件）被映射到进程的内存空间。当需要这些代码页时，操作系统直接从可执行文件中读取，而不是从交换区。如果这些页面被换出，它们会被写回到它们原来的文件位置，而不是交换区。 </a:t>
            </a:r>
            <a:endParaRPr lang="zh-CN" altLang="en-US" sz="1600" b="1" dirty="0">
              <a:latin typeface="quote-cjk-patch"/>
              <a:ea typeface="quote-cjk-patch"/>
            </a:endParaRPr>
          </a:p>
          <a:p>
            <a:pPr marL="285750" indent="-285750">
              <a:buFont typeface="Wingdings" panose="05000000000000000000" pitchFamily="2" charset="2"/>
              <a:buChar char="u"/>
            </a:pPr>
            <a:r>
              <a:rPr lang="zh-CN" altLang="en-US" sz="1600" b="1" dirty="0">
                <a:latin typeface="quote-cjk-patch"/>
                <a:ea typeface="quote-cjk-patch"/>
              </a:rPr>
              <a:t>内存映射文件（相关内容见本章</a:t>
            </a:r>
            <a:r>
              <a:rPr lang="en-US" altLang="zh-CN" sz="1600" b="1" dirty="0">
                <a:latin typeface="quote-cjk-patch"/>
                <a:ea typeface="quote-cjk-patch"/>
              </a:rPr>
              <a:t>ppt</a:t>
            </a:r>
            <a:r>
              <a:rPr lang="zh-CN" altLang="en-US" sz="1600" b="1" dirty="0">
                <a:latin typeface="quote-cjk-patch"/>
                <a:ea typeface="quote-cjk-patch"/>
              </a:rPr>
              <a:t>末尾补充）：</a:t>
            </a:r>
            <a:endParaRPr lang="zh-CN" altLang="en-US" sz="1600" b="1" dirty="0">
              <a:latin typeface="quote-cjk-patch"/>
              <a:ea typeface="quote-cjk-patch"/>
            </a:endParaRPr>
          </a:p>
          <a:p>
            <a:r>
              <a:rPr lang="en-US" altLang="zh-CN" sz="1600" b="1" dirty="0">
                <a:latin typeface="quote-cjk-patch"/>
                <a:ea typeface="quote-cjk-patch"/>
              </a:rPr>
              <a:t>    </a:t>
            </a:r>
            <a:r>
              <a:rPr lang="zh-CN" altLang="en-US" sz="1600" b="1" dirty="0">
                <a:latin typeface="quote-cjk-patch"/>
                <a:ea typeface="quote-cjk-patch"/>
              </a:rPr>
              <a:t>使用 </a:t>
            </a:r>
            <a:r>
              <a:rPr lang="en-US" altLang="zh-CN" sz="1600" b="1" dirty="0" err="1">
                <a:latin typeface="quote-cjk-patch"/>
                <a:ea typeface="quote-cjk-patch"/>
              </a:rPr>
              <a:t>mmap</a:t>
            </a:r>
            <a:r>
              <a:rPr lang="en-US" altLang="zh-CN" sz="1600" b="1" dirty="0">
                <a:latin typeface="quote-cjk-patch"/>
                <a:ea typeface="quote-cjk-patch"/>
              </a:rPr>
              <a:t> </a:t>
            </a:r>
            <a:r>
              <a:rPr lang="zh-CN" altLang="en-US" sz="1600" b="1" dirty="0">
                <a:latin typeface="quote-cjk-patch"/>
                <a:ea typeface="quote-cjk-patch"/>
              </a:rPr>
              <a:t>系统调用映射的文件也是如此。对这些文件的读写会由操作系统自动转换为对磁盘文件的操作。被换出的页面会写回原文件。 </a:t>
            </a:r>
            <a:endParaRPr lang="zh-CN" altLang="en-US" sz="1600" b="1" dirty="0">
              <a:latin typeface="quote-cjk-patch"/>
              <a:ea typeface="quote-cjk-patch"/>
            </a:endParaRPr>
          </a:p>
        </p:txBody>
      </p:sp>
      <p:sp>
        <p:nvSpPr>
          <p:cNvPr id="6" name="文本框 5"/>
          <p:cNvSpPr txBox="1"/>
          <p:nvPr/>
        </p:nvSpPr>
        <p:spPr>
          <a:xfrm>
            <a:off x="1532893" y="4596365"/>
            <a:ext cx="9615270" cy="1077218"/>
          </a:xfrm>
          <a:prstGeom prst="rect">
            <a:avLst/>
          </a:prstGeom>
          <a:noFill/>
          <a:ln>
            <a:solidFill>
              <a:srgbClr val="C00000"/>
            </a:solidFill>
          </a:ln>
        </p:spPr>
        <p:txBody>
          <a:bodyPr wrap="square" rtlCol="0" anchor="t">
            <a:spAutoFit/>
          </a:bodyPr>
          <a:lstStyle/>
          <a:p>
            <a:r>
              <a:rPr lang="zh-CN" altLang="en-US" sz="1600" b="1" dirty="0">
                <a:latin typeface="quote-cjk-patch"/>
                <a:ea typeface="quote-cjk-patch"/>
                <a:sym typeface="+mn-ea"/>
              </a:rPr>
              <a:t>简单总结：</a:t>
            </a:r>
            <a:endParaRPr lang="zh-CN" altLang="en-US" sz="1600" b="1" dirty="0">
              <a:latin typeface="quote-cjk-patch"/>
              <a:ea typeface="quote-cjk-patch"/>
              <a:sym typeface="+mn-ea"/>
            </a:endParaRPr>
          </a:p>
          <a:p>
            <a:pPr marL="285750" indent="-285750">
              <a:buFont typeface="Wingdings" panose="05000000000000000000" charset="0"/>
              <a:buChar char="p"/>
            </a:pPr>
            <a:r>
              <a:rPr lang="zh-CN" altLang="en-US" sz="1600" b="1" dirty="0">
                <a:latin typeface="quote-cjk-patch"/>
                <a:ea typeface="quote-cjk-patch"/>
                <a:sym typeface="+mn-ea"/>
              </a:rPr>
              <a:t>匿名内存：进程的堆、栈等动态分配的内存，没有对应的磁盘文件。当被换出时，它们被写入交换区</a:t>
            </a:r>
            <a:r>
              <a:rPr lang="en-US" altLang="zh-CN" sz="1600" b="1" dirty="0">
                <a:latin typeface="quote-cjk-patch"/>
                <a:ea typeface="quote-cjk-patch"/>
                <a:sym typeface="+mn-ea"/>
              </a:rPr>
              <a:t>/</a:t>
            </a:r>
            <a:r>
              <a:rPr lang="zh-CN" altLang="en-US" sz="1600" b="1" dirty="0">
                <a:latin typeface="quote-cjk-patch"/>
                <a:ea typeface="quote-cjk-patch"/>
                <a:sym typeface="+mn-ea"/>
              </a:rPr>
              <a:t>交换文件。 </a:t>
            </a:r>
            <a:endParaRPr lang="zh-CN" altLang="en-US" sz="1600" b="1" dirty="0">
              <a:latin typeface="quote-cjk-patch"/>
              <a:ea typeface="quote-cjk-patch"/>
              <a:sym typeface="+mn-ea"/>
            </a:endParaRPr>
          </a:p>
          <a:p>
            <a:pPr marL="285750" indent="-285750">
              <a:buFont typeface="Wingdings" panose="05000000000000000000" charset="0"/>
              <a:buChar char="p"/>
            </a:pPr>
            <a:r>
              <a:rPr lang="zh-CN" altLang="en-US" sz="1600" b="1" dirty="0">
                <a:latin typeface="quote-cjk-patch"/>
                <a:ea typeface="quote-cjk-patch"/>
                <a:sym typeface="+mn-ea"/>
              </a:rPr>
              <a:t>文件备份内存：代码段和内存映射文件。当被换出时，它们被写回其对应的原始磁盘文件。</a:t>
            </a:r>
            <a:endParaRPr lang="zh-CN" altLang="en-US" sz="1600" b="1" dirty="0">
              <a:latin typeface="quote-cjk-patch"/>
              <a:ea typeface="quote-cjk-patch"/>
              <a:sym typeface="+mn-ea"/>
            </a:endParaRPr>
          </a:p>
        </p:txBody>
      </p:sp>
      <p:sp>
        <p:nvSpPr>
          <p:cNvPr id="8" name="文本框 7"/>
          <p:cNvSpPr txBox="1"/>
          <p:nvPr/>
        </p:nvSpPr>
        <p:spPr>
          <a:xfrm>
            <a:off x="1001395" y="544830"/>
            <a:ext cx="4074160"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3.2 </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内存的覆盖与交换</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1226807" y="1202833"/>
            <a:ext cx="3295090"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单一连续分配方式</a:t>
            </a:r>
            <a:endParaRPr lang="zh-CN" altLang="en-US" sz="2000" b="1" dirty="0">
              <a:solidFill>
                <a:srgbClr val="6C0000"/>
              </a:solidFill>
              <a:latin typeface="华文行楷" panose="02010800040101010101" charset="-122"/>
              <a:ea typeface="华文行楷" panose="02010800040101010101" charset="-122"/>
            </a:endParaRPr>
          </a:p>
        </p:txBody>
      </p:sp>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3.3</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内存空间连续分配方式</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文本框 1"/>
          <p:cNvSpPr txBox="1"/>
          <p:nvPr/>
        </p:nvSpPr>
        <p:spPr>
          <a:xfrm>
            <a:off x="1883410" y="2109470"/>
            <a:ext cx="3133090" cy="1322070"/>
          </a:xfrm>
          <a:prstGeom prst="rect">
            <a:avLst/>
          </a:prstGeom>
        </p:spPr>
        <p:txBody>
          <a:bodyPr wrap="square">
            <a:spAutoFit/>
          </a:bodyPr>
          <a:p>
            <a:r>
              <a:rPr lang="zh-CN" altLang="en-US" sz="2000" b="1">
                <a:solidFill>
                  <a:srgbClr val="231F20"/>
                </a:solidFill>
                <a:latin typeface="黑体" panose="02010609060101010101" charset="-122"/>
                <a:ea typeface="黑体" panose="02010609060101010101" charset="-122"/>
              </a:rPr>
              <a:t>内存被分成两个区域：</a:t>
            </a:r>
            <a:endParaRPr lang="zh-CN" altLang="en-US" sz="2000" b="1">
              <a:solidFill>
                <a:srgbClr val="231F20"/>
              </a:solidFill>
              <a:latin typeface="黑体" panose="02010609060101010101" charset="-122"/>
              <a:ea typeface="黑体" panose="02010609060101010101" charset="-122"/>
            </a:endParaRPr>
          </a:p>
          <a:p>
            <a:endParaRPr lang="zh-CN" altLang="en-US" sz="2000" b="1">
              <a:solidFill>
                <a:srgbClr val="231F20"/>
              </a:solidFill>
              <a:latin typeface="黑体" panose="02010609060101010101" charset="-122"/>
              <a:ea typeface="黑体" panose="02010609060101010101" charset="-122"/>
            </a:endParaRPr>
          </a:p>
          <a:p>
            <a:pPr marL="342900" indent="-342900">
              <a:buFont typeface="Wingdings" panose="05000000000000000000" charset="0"/>
              <a:buChar char="l"/>
            </a:pPr>
            <a:r>
              <a:rPr lang="zh-CN" altLang="en-US" sz="2000" b="1">
                <a:solidFill>
                  <a:srgbClr val="231F20"/>
                </a:solidFill>
                <a:latin typeface="黑体" panose="02010609060101010101" charset="-122"/>
                <a:ea typeface="黑体" panose="02010609060101010101" charset="-122"/>
              </a:rPr>
              <a:t>系统区域</a:t>
            </a:r>
            <a:endParaRPr lang="zh-CN" altLang="en-US" sz="2000" b="1">
              <a:solidFill>
                <a:srgbClr val="231F20"/>
              </a:solidFill>
              <a:latin typeface="黑体" panose="02010609060101010101" charset="-122"/>
              <a:ea typeface="黑体" panose="02010609060101010101" charset="-122"/>
            </a:endParaRPr>
          </a:p>
          <a:p>
            <a:pPr marL="342900" indent="-342900">
              <a:buFont typeface="Wingdings" panose="05000000000000000000" charset="0"/>
              <a:buChar char="l"/>
            </a:pPr>
            <a:r>
              <a:rPr lang="zh-CN" altLang="en-US" sz="2000" b="1">
                <a:solidFill>
                  <a:srgbClr val="231F20"/>
                </a:solidFill>
                <a:latin typeface="黑体" panose="02010609060101010101" charset="-122"/>
                <a:ea typeface="黑体" panose="02010609060101010101" charset="-122"/>
              </a:rPr>
              <a:t>用户区域</a:t>
            </a:r>
            <a:endParaRPr lang="zh-CN" altLang="en-US" sz="2000" b="1">
              <a:solidFill>
                <a:srgbClr val="231F20"/>
              </a:solidFill>
              <a:latin typeface="黑体" panose="02010609060101010101" charset="-122"/>
              <a:ea typeface="黑体" panose="02010609060101010101" charset="-122"/>
            </a:endParaRPr>
          </a:p>
        </p:txBody>
      </p:sp>
      <p:sp>
        <p:nvSpPr>
          <p:cNvPr id="3" name="文本框 2"/>
          <p:cNvSpPr txBox="1"/>
          <p:nvPr/>
        </p:nvSpPr>
        <p:spPr>
          <a:xfrm>
            <a:off x="1701165" y="4473575"/>
            <a:ext cx="8237220" cy="922020"/>
          </a:xfrm>
          <a:prstGeom prst="rect">
            <a:avLst/>
          </a:prstGeom>
          <a:ln w="12700" cmpd="sng">
            <a:solidFill>
              <a:schemeClr val="tx1"/>
            </a:solidFill>
            <a:prstDash val="solid"/>
          </a:ln>
        </p:spPr>
        <p:txBody>
          <a:bodyPr wrap="square" anchor="t">
            <a:spAutoFit/>
          </a:bodyPr>
          <a:p>
            <a:pPr indent="0">
              <a:buNone/>
            </a:pP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由于单一连续分配方式已经</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不能</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满足现代操作系统的需求，因此如果要支持多道程序系统，就必须对分配方法做出相应的改进，改进之后的内存空间连续分配方法就是固定</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动态分区分配。</a:t>
            </a:r>
            <a:endParaRPr lang="zh-CN"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矩形 5"/>
          <p:cNvSpPr/>
          <p:nvPr/>
        </p:nvSpPr>
        <p:spPr>
          <a:xfrm>
            <a:off x="8023860" y="1764665"/>
            <a:ext cx="1221105" cy="814070"/>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8023860" y="2578735"/>
            <a:ext cx="1221105" cy="814070"/>
          </a:xfrm>
          <a:prstGeom prst="rect">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8181975" y="2077720"/>
            <a:ext cx="904875" cy="36830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系统区</a:t>
            </a:r>
            <a:endParaRPr lang="zh-CN" altLang="en-US" sz="1800">
              <a:latin typeface="Arial" panose="020B0604020202020204" pitchFamily="34" charset="0"/>
              <a:ea typeface="微软雅黑" panose="020B0503020204020204" pitchFamily="34" charset="-122"/>
            </a:endParaRPr>
          </a:p>
        </p:txBody>
      </p:sp>
      <p:sp>
        <p:nvSpPr>
          <p:cNvPr id="10" name="文本框 9"/>
          <p:cNvSpPr txBox="1"/>
          <p:nvPr/>
        </p:nvSpPr>
        <p:spPr>
          <a:xfrm>
            <a:off x="8181975" y="2727960"/>
            <a:ext cx="904875" cy="36830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a:latin typeface="Arial" panose="020B0604020202020204" pitchFamily="34" charset="0"/>
                <a:ea typeface="微软雅黑" panose="020B0503020204020204" pitchFamily="34" charset="-122"/>
              </a:rPr>
              <a:t>用户区</a:t>
            </a:r>
            <a:endParaRPr lang="zh-CN" altLang="en-US" sz="1800">
              <a:latin typeface="Arial" panose="020B0604020202020204" pitchFamily="34" charset="0"/>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1226807" y="1202833"/>
            <a:ext cx="3295090"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固定大小的分区方案</a:t>
            </a:r>
            <a:endParaRPr lang="zh-CN" altLang="en-US" sz="2000" b="1" dirty="0">
              <a:solidFill>
                <a:srgbClr val="6C0000"/>
              </a:solidFill>
              <a:latin typeface="华文行楷" panose="02010800040101010101" charset="-122"/>
              <a:ea typeface="华文行楷" panose="02010800040101010101" charset="-122"/>
            </a:endParaRPr>
          </a:p>
        </p:txBody>
      </p:sp>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3.3</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内存空间连续分配方式</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pic>
        <p:nvPicPr>
          <p:cNvPr id="2" name="图片 1"/>
          <p:cNvPicPr>
            <a:picLocks noChangeAspect="1"/>
          </p:cNvPicPr>
          <p:nvPr/>
        </p:nvPicPr>
        <p:blipFill>
          <a:blip r:embed="rId1"/>
          <a:stretch>
            <a:fillRect/>
          </a:stretch>
        </p:blipFill>
        <p:spPr>
          <a:xfrm>
            <a:off x="1052195" y="2030095"/>
            <a:ext cx="6443980" cy="2797810"/>
          </a:xfrm>
          <a:prstGeom prst="rect">
            <a:avLst/>
          </a:prstGeom>
        </p:spPr>
      </p:pic>
      <p:pic>
        <p:nvPicPr>
          <p:cNvPr id="3" name="图片 2"/>
          <p:cNvPicPr>
            <a:picLocks noChangeAspect="1"/>
          </p:cNvPicPr>
          <p:nvPr/>
        </p:nvPicPr>
        <p:blipFill>
          <a:blip r:embed="rId2"/>
          <a:stretch>
            <a:fillRect/>
          </a:stretch>
        </p:blipFill>
        <p:spPr>
          <a:xfrm>
            <a:off x="8212455" y="1638300"/>
            <a:ext cx="2967990" cy="35814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1226807" y="1071388"/>
            <a:ext cx="3295090"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大小不等的分区方案</a:t>
            </a:r>
            <a:endParaRPr lang="zh-CN" altLang="en-US" sz="2000" b="1" dirty="0">
              <a:solidFill>
                <a:srgbClr val="6C0000"/>
              </a:solidFill>
              <a:latin typeface="华文行楷" panose="02010800040101010101" charset="-122"/>
              <a:ea typeface="华文行楷" panose="02010800040101010101" charset="-122"/>
            </a:endParaRPr>
          </a:p>
        </p:txBody>
      </p:sp>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3.3</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内存空间连续分配方式</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9" name="矩形 8"/>
          <p:cNvSpPr/>
          <p:nvPr/>
        </p:nvSpPr>
        <p:spPr>
          <a:xfrm>
            <a:off x="1469721" y="4665449"/>
            <a:ext cx="5682641" cy="923330"/>
          </a:xfrm>
          <a:prstGeom prst="rect">
            <a:avLst/>
          </a:prstGeom>
          <a:solidFill>
            <a:schemeClr val="accent6">
              <a:lumMod val="20000"/>
              <a:lumOff val="80000"/>
            </a:schemeClr>
          </a:solidFill>
          <a:ln>
            <a:solidFill>
              <a:schemeClr val="accent1"/>
            </a:solidFill>
          </a:ln>
        </p:spPr>
        <p:txBody>
          <a:bodyPr wrap="square">
            <a:spAutoFit/>
          </a:bodyPr>
          <a:lstStyle/>
          <a:p>
            <a:r>
              <a:rPr lang="zh-CN" altLang="zh-CN" b="1" kern="0" dirty="0">
                <a:solidFill>
                  <a:srgbClr val="000000"/>
                </a:solidFill>
                <a:latin typeface="黑体" panose="02010609060101010101" charset="-122"/>
                <a:ea typeface="黑体" panose="02010609060101010101" charset="-122"/>
                <a:cs typeface="宋体" panose="02010600030101010101" pitchFamily="2" charset="-122"/>
              </a:rPr>
              <a:t>固定分区管理方式存在两个问题：</a:t>
            </a:r>
            <a:endParaRPr lang="en-US" altLang="zh-CN" b="1" kern="0" dirty="0">
              <a:solidFill>
                <a:srgbClr val="000000"/>
              </a:solidFill>
              <a:latin typeface="黑体" panose="02010609060101010101" charset="-122"/>
              <a:ea typeface="黑体" panose="02010609060101010101" charset="-122"/>
              <a:cs typeface="宋体" panose="02010600030101010101" pitchFamily="2" charset="-122"/>
            </a:endParaRPr>
          </a:p>
          <a:p>
            <a:r>
              <a:rPr lang="zh-CN" altLang="zh-CN" b="1" kern="0" dirty="0">
                <a:solidFill>
                  <a:srgbClr val="000000"/>
                </a:solidFill>
                <a:latin typeface="黑体" panose="02010609060101010101" charset="-122"/>
                <a:ea typeface="黑体" panose="02010609060101010101" charset="-122"/>
                <a:cs typeface="宋体" panose="02010600030101010101" pitchFamily="2" charset="-122"/>
              </a:rPr>
              <a:t> </a:t>
            </a:r>
            <a:r>
              <a:rPr lang="zh-CN" altLang="en-US" b="1" kern="0" dirty="0">
                <a:solidFill>
                  <a:srgbClr val="000000"/>
                </a:solidFill>
                <a:latin typeface="黑体" panose="02010609060101010101" charset="-122"/>
                <a:ea typeface="黑体" panose="02010609060101010101" charset="-122"/>
                <a:cs typeface="宋体" panose="02010600030101010101" pitchFamily="2" charset="-122"/>
              </a:rPr>
              <a:t>（</a:t>
            </a:r>
            <a:r>
              <a:rPr lang="en-US" altLang="zh-CN" b="1" kern="0" dirty="0">
                <a:solidFill>
                  <a:srgbClr val="000000"/>
                </a:solidFill>
                <a:latin typeface="黑体" panose="02010609060101010101" charset="-122"/>
                <a:ea typeface="黑体" panose="02010609060101010101" charset="-122"/>
                <a:cs typeface="宋体" panose="02010600030101010101" pitchFamily="2" charset="-122"/>
              </a:rPr>
              <a:t>1</a:t>
            </a:r>
            <a:r>
              <a:rPr lang="zh-CN" altLang="en-US" b="1" kern="0" dirty="0">
                <a:solidFill>
                  <a:srgbClr val="000000"/>
                </a:solidFill>
                <a:latin typeface="黑体" panose="02010609060101010101" charset="-122"/>
                <a:ea typeface="黑体" panose="02010609060101010101" charset="-122"/>
                <a:cs typeface="宋体" panose="02010600030101010101" pitchFamily="2" charset="-122"/>
              </a:rPr>
              <a:t>）</a:t>
            </a:r>
            <a:r>
              <a:rPr lang="zh-CN" altLang="zh-CN" b="1" kern="0" dirty="0">
                <a:solidFill>
                  <a:srgbClr val="000000"/>
                </a:solidFill>
                <a:latin typeface="黑体" panose="02010609060101010101" charset="-122"/>
                <a:ea typeface="黑体" panose="02010609060101010101" charset="-122"/>
                <a:cs typeface="宋体" panose="02010600030101010101" pitchFamily="2" charset="-122"/>
              </a:rPr>
              <a:t>一是程序可能太大而放不进任何一个分区中</a:t>
            </a:r>
            <a:r>
              <a:rPr lang="zh-CN" altLang="en-US" b="1" kern="0" dirty="0">
                <a:solidFill>
                  <a:srgbClr val="000000"/>
                </a:solidFill>
                <a:latin typeface="黑体" panose="02010609060101010101" charset="-122"/>
                <a:ea typeface="黑体" panose="02010609060101010101" charset="-122"/>
                <a:cs typeface="宋体" panose="02010600030101010101" pitchFamily="2" charset="-122"/>
              </a:rPr>
              <a:t>。</a:t>
            </a:r>
            <a:endParaRPr lang="en-US" altLang="zh-CN" b="1" kern="0" dirty="0">
              <a:solidFill>
                <a:srgbClr val="000000"/>
              </a:solidFill>
              <a:latin typeface="黑体" panose="02010609060101010101" charset="-122"/>
              <a:ea typeface="黑体" panose="02010609060101010101" charset="-122"/>
              <a:cs typeface="宋体" panose="02010600030101010101" pitchFamily="2" charset="-122"/>
            </a:endParaRPr>
          </a:p>
          <a:p>
            <a:r>
              <a:rPr lang="zh-CN" altLang="en-US" b="1" kern="0" dirty="0">
                <a:solidFill>
                  <a:srgbClr val="000000"/>
                </a:solidFill>
                <a:latin typeface="黑体" panose="02010609060101010101" charset="-122"/>
                <a:ea typeface="黑体" panose="02010609060101010101" charset="-122"/>
                <a:cs typeface="宋体" panose="02010600030101010101" pitchFamily="2" charset="-122"/>
              </a:rPr>
              <a:t> （</a:t>
            </a:r>
            <a:r>
              <a:rPr lang="en-US" altLang="zh-CN" b="1" kern="0" dirty="0">
                <a:solidFill>
                  <a:srgbClr val="000000"/>
                </a:solidFill>
                <a:latin typeface="黑体" panose="02010609060101010101" charset="-122"/>
                <a:ea typeface="黑体" panose="02010609060101010101" charset="-122"/>
                <a:cs typeface="宋体" panose="02010600030101010101" pitchFamily="2" charset="-122"/>
              </a:rPr>
              <a:t>2</a:t>
            </a:r>
            <a:r>
              <a:rPr lang="zh-CN" altLang="en-US" b="1" kern="0" dirty="0">
                <a:solidFill>
                  <a:srgbClr val="000000"/>
                </a:solidFill>
                <a:latin typeface="黑体" panose="02010609060101010101" charset="-122"/>
                <a:ea typeface="黑体" panose="02010609060101010101" charset="-122"/>
                <a:cs typeface="宋体" panose="02010600030101010101" pitchFamily="2" charset="-122"/>
              </a:rPr>
              <a:t>）会产生内部碎片。</a:t>
            </a:r>
            <a:endParaRPr lang="zh-CN" altLang="en-US" b="1" dirty="0">
              <a:latin typeface="黑体" panose="02010609060101010101" charset="-122"/>
              <a:ea typeface="黑体" panose="02010609060101010101" charset="-122"/>
            </a:endParaRPr>
          </a:p>
        </p:txBody>
      </p:sp>
      <p:pic>
        <p:nvPicPr>
          <p:cNvPr id="2" name="图片 1"/>
          <p:cNvPicPr>
            <a:picLocks noChangeAspect="1"/>
          </p:cNvPicPr>
          <p:nvPr/>
        </p:nvPicPr>
        <p:blipFill>
          <a:blip r:embed="rId1"/>
          <a:stretch>
            <a:fillRect/>
          </a:stretch>
        </p:blipFill>
        <p:spPr>
          <a:xfrm>
            <a:off x="1303655" y="1767840"/>
            <a:ext cx="5848985" cy="2599055"/>
          </a:xfrm>
          <a:prstGeom prst="rect">
            <a:avLst/>
          </a:prstGeom>
        </p:spPr>
      </p:pic>
      <p:pic>
        <p:nvPicPr>
          <p:cNvPr id="4" name="图片 3"/>
          <p:cNvPicPr>
            <a:picLocks noChangeAspect="1"/>
          </p:cNvPicPr>
          <p:nvPr/>
        </p:nvPicPr>
        <p:blipFill>
          <a:blip r:embed="rId2"/>
          <a:stretch>
            <a:fillRect/>
          </a:stretch>
        </p:blipFill>
        <p:spPr>
          <a:xfrm>
            <a:off x="7691755" y="1071245"/>
            <a:ext cx="3169285" cy="441388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1226807" y="1071388"/>
            <a:ext cx="3295090"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动态分区的分配方案</a:t>
            </a:r>
            <a:endParaRPr lang="zh-CN" altLang="en-US" sz="2000" b="1" dirty="0">
              <a:solidFill>
                <a:srgbClr val="6C0000"/>
              </a:solidFill>
              <a:latin typeface="华文行楷" panose="02010800040101010101" charset="-122"/>
              <a:ea typeface="华文行楷" panose="02010800040101010101" charset="-122"/>
            </a:endParaRPr>
          </a:p>
        </p:txBody>
      </p:sp>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3.3</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内存空间连续分配方式</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矩形 1"/>
          <p:cNvSpPr/>
          <p:nvPr/>
        </p:nvSpPr>
        <p:spPr>
          <a:xfrm>
            <a:off x="1001394" y="1641103"/>
            <a:ext cx="10384820" cy="646331"/>
          </a:xfrm>
          <a:prstGeom prst="rect">
            <a:avLst/>
          </a:prstGeom>
        </p:spPr>
        <p:txBody>
          <a:bodyPr wrap="square">
            <a:spAutoFit/>
          </a:bodyPr>
          <a:lstStyle/>
          <a:p>
            <a:r>
              <a:rPr lang="zh-CN"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动态分区分配又称为可变分区分配，是一种动态划分内存的分区方法。这种分区方法不预先将内存划分，而是在程序装入内存时，根据所需的大小动态地建立分区，并使分区的大小正好适合进程的需要。</a:t>
            </a:r>
            <a:endParaRPr lang="zh-CN" altLang="en-US" b="1" dirty="0">
              <a:latin typeface="等线" panose="02010600030101010101" pitchFamily="2" charset="-122"/>
              <a:ea typeface="等线" panose="02010600030101010101" pitchFamily="2" charset="-122"/>
            </a:endParaRPr>
          </a:p>
        </p:txBody>
      </p:sp>
      <p:pic>
        <p:nvPicPr>
          <p:cNvPr id="3" name="图片 2"/>
          <p:cNvPicPr>
            <a:picLocks noChangeAspect="1"/>
          </p:cNvPicPr>
          <p:nvPr/>
        </p:nvPicPr>
        <p:blipFill>
          <a:blip r:embed="rId1"/>
          <a:stretch>
            <a:fillRect/>
          </a:stretch>
        </p:blipFill>
        <p:spPr>
          <a:xfrm>
            <a:off x="4415155" y="2860040"/>
            <a:ext cx="6510655" cy="2447290"/>
          </a:xfrm>
          <a:prstGeom prst="rect">
            <a:avLst/>
          </a:prstGeom>
        </p:spPr>
      </p:pic>
      <p:pic>
        <p:nvPicPr>
          <p:cNvPr id="7" name="图片 6"/>
          <p:cNvPicPr>
            <a:picLocks noChangeAspect="1"/>
          </p:cNvPicPr>
          <p:nvPr/>
        </p:nvPicPr>
        <p:blipFill>
          <a:blip r:embed="rId2"/>
          <a:stretch>
            <a:fillRect/>
          </a:stretch>
        </p:blipFill>
        <p:spPr>
          <a:xfrm>
            <a:off x="1467485" y="2458085"/>
            <a:ext cx="2489200" cy="366585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1226807" y="1071388"/>
            <a:ext cx="3295090"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动态分区的分配方案</a:t>
            </a:r>
            <a:endParaRPr lang="zh-CN" altLang="en-US" sz="2000" b="1" dirty="0">
              <a:solidFill>
                <a:srgbClr val="6C0000"/>
              </a:solidFill>
              <a:latin typeface="华文行楷" panose="02010800040101010101" charset="-122"/>
              <a:ea typeface="华文行楷" panose="02010800040101010101" charset="-122"/>
            </a:endParaRPr>
          </a:p>
        </p:txBody>
      </p:sp>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3.3</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内存空间连续分配方式</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pic>
        <p:nvPicPr>
          <p:cNvPr id="4" name="图片 3"/>
          <p:cNvPicPr>
            <a:picLocks noChangeAspect="1"/>
          </p:cNvPicPr>
          <p:nvPr/>
        </p:nvPicPr>
        <p:blipFill>
          <a:blip r:embed="rId1"/>
          <a:stretch>
            <a:fillRect/>
          </a:stretch>
        </p:blipFill>
        <p:spPr>
          <a:xfrm>
            <a:off x="1400984" y="1471499"/>
            <a:ext cx="6953876" cy="1312528"/>
          </a:xfrm>
          <a:prstGeom prst="rect">
            <a:avLst/>
          </a:prstGeom>
        </p:spPr>
      </p:pic>
      <p:sp>
        <p:nvSpPr>
          <p:cNvPr id="9" name="文本框 8"/>
          <p:cNvSpPr txBox="1"/>
          <p:nvPr/>
        </p:nvSpPr>
        <p:spPr>
          <a:xfrm>
            <a:off x="1226807" y="2854531"/>
            <a:ext cx="10177397" cy="3139321"/>
          </a:xfrm>
          <a:prstGeom prst="rect">
            <a:avLst/>
          </a:prstGeom>
          <a:noFill/>
          <a:ln>
            <a:solidFill>
              <a:schemeClr val="tx1"/>
            </a:solidFill>
          </a:ln>
        </p:spPr>
        <p:txBody>
          <a:bodyPr wrap="square">
            <a:spAutoFit/>
          </a:bodyPr>
          <a:lstStyle/>
          <a:p>
            <a:r>
              <a:rPr lang="zh-CN" altLang="en-US" dirty="0"/>
              <a:t>动态分区分配方案会产生外部碎片。外部碎片问题的解决方法如下。</a:t>
            </a:r>
            <a:endParaRPr lang="en-US" altLang="zh-CN" dirty="0"/>
          </a:p>
          <a:p>
            <a:endParaRPr lang="zh-CN" altLang="en-US" dirty="0"/>
          </a:p>
          <a:p>
            <a:r>
              <a:rPr lang="zh-CN" altLang="en-US" dirty="0"/>
              <a:t>（1）</a:t>
            </a:r>
            <a:r>
              <a:rPr lang="zh-CN" altLang="en-US" b="1" dirty="0">
                <a:solidFill>
                  <a:srgbClr val="660000"/>
                </a:solidFill>
              </a:rPr>
              <a:t>规定空闲区的分割下限值。</a:t>
            </a:r>
            <a:r>
              <a:rPr lang="zh-CN" altLang="en-US" dirty="0"/>
              <a:t>在分割空闲区时，若剩余部分的大小小于下限值，则此空闲</a:t>
            </a:r>
            <a:endParaRPr lang="zh-CN" altLang="en-US" dirty="0"/>
          </a:p>
          <a:p>
            <a:r>
              <a:rPr lang="zh-CN" altLang="en-US" dirty="0"/>
              <a:t>区不进行分割，而是全部分配给进程。</a:t>
            </a:r>
            <a:endParaRPr lang="en-US" altLang="zh-CN" dirty="0"/>
          </a:p>
          <a:p>
            <a:endParaRPr lang="zh-CN" altLang="en-US" b="1" dirty="0">
              <a:solidFill>
                <a:srgbClr val="660000"/>
              </a:solidFill>
            </a:endParaRPr>
          </a:p>
          <a:p>
            <a:r>
              <a:rPr lang="zh-CN" altLang="en-US" b="1" dirty="0">
                <a:solidFill>
                  <a:srgbClr val="660000"/>
                </a:solidFill>
              </a:rPr>
              <a:t>（2）采用内存拼接技术。</a:t>
            </a:r>
            <a:r>
              <a:rPr lang="zh-CN" altLang="en-US" dirty="0"/>
              <a:t>将所有空闲区拼接以构成一个大的空闲区。拼接一般发生在内存空</a:t>
            </a:r>
            <a:endParaRPr lang="zh-CN" altLang="en-US" dirty="0"/>
          </a:p>
          <a:p>
            <a:r>
              <a:rPr lang="zh-CN" altLang="en-US" dirty="0"/>
              <a:t>间被回收的时候或者系统找不到足够大的空闲区的时候；也可以定期进行拼接，但是拼接操作会</a:t>
            </a:r>
            <a:endParaRPr lang="zh-CN" altLang="en-US" dirty="0"/>
          </a:p>
          <a:p>
            <a:r>
              <a:rPr lang="zh-CN" altLang="en-US" dirty="0"/>
              <a:t>消耗大量的系统资源。</a:t>
            </a:r>
            <a:endParaRPr lang="en-US" altLang="zh-CN" dirty="0"/>
          </a:p>
          <a:p>
            <a:endParaRPr lang="zh-CN" altLang="en-US" b="1" dirty="0">
              <a:solidFill>
                <a:srgbClr val="660000"/>
              </a:solidFill>
            </a:endParaRPr>
          </a:p>
          <a:p>
            <a:r>
              <a:rPr lang="zh-CN" altLang="en-US" b="1" dirty="0">
                <a:solidFill>
                  <a:srgbClr val="660000"/>
                </a:solidFill>
              </a:rPr>
              <a:t>（3）解除程序占用连续内存才能运行的限制（分页和分段也借鉴了这种方法）。</a:t>
            </a:r>
            <a:r>
              <a:rPr lang="zh-CN" altLang="en-US" dirty="0"/>
              <a:t>把程序拆分</a:t>
            </a:r>
            <a:endParaRPr lang="zh-CN" altLang="en-US" dirty="0"/>
          </a:p>
          <a:p>
            <a:r>
              <a:rPr lang="zh-CN" altLang="en-US" dirty="0"/>
              <a:t>为多个部分装入不同分区，充分利用碎片。</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3.3</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内存空间连续分配方式</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文本框 2"/>
          <p:cNvSpPr txBox="1"/>
          <p:nvPr/>
        </p:nvSpPr>
        <p:spPr>
          <a:xfrm>
            <a:off x="1311059" y="1464925"/>
            <a:ext cx="9265083" cy="646331"/>
          </a:xfrm>
          <a:prstGeom prst="rect">
            <a:avLst/>
          </a:prstGeom>
          <a:noFill/>
          <a:ln>
            <a:solidFill>
              <a:schemeClr val="bg1"/>
            </a:solidFill>
          </a:ln>
        </p:spPr>
        <p:txBody>
          <a:bodyPr wrap="square">
            <a:spAutoFit/>
          </a:bodyPr>
          <a:lstStyle/>
          <a:p>
            <a:r>
              <a:rPr lang="zh-CN" altLang="en-US" b="1" dirty="0"/>
              <a:t>常见的分配策略有：</a:t>
            </a:r>
            <a:endParaRPr lang="zh-CN" altLang="en-US" b="1" dirty="0"/>
          </a:p>
          <a:p>
            <a:r>
              <a:rPr lang="zh-CN" altLang="en-US" b="1" dirty="0"/>
              <a:t>首次适应（First Fit）算法、最佳适应（Best Fit）算法和最坏适应（Worst Fit）算法。</a:t>
            </a:r>
            <a:endParaRPr lang="zh-CN" altLang="en-US" b="1" dirty="0"/>
          </a:p>
        </p:txBody>
      </p:sp>
      <p:sp>
        <p:nvSpPr>
          <p:cNvPr id="6" name="TextBox 1"/>
          <p:cNvSpPr txBox="1">
            <a:spLocks noChangeArrowheads="1"/>
          </p:cNvSpPr>
          <p:nvPr/>
        </p:nvSpPr>
        <p:spPr bwMode="auto">
          <a:xfrm>
            <a:off x="1226807" y="1071388"/>
            <a:ext cx="3295090"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常见空闲分区分配策略</a:t>
            </a:r>
            <a:endParaRPr lang="zh-CN" altLang="en-US" sz="2000" b="1" dirty="0">
              <a:solidFill>
                <a:srgbClr val="6C0000"/>
              </a:solidFill>
              <a:latin typeface="华文行楷" panose="02010800040101010101" charset="-122"/>
              <a:ea typeface="华文行楷" panose="02010800040101010101" charset="-122"/>
            </a:endParaRPr>
          </a:p>
        </p:txBody>
      </p:sp>
      <p:sp>
        <p:nvSpPr>
          <p:cNvPr id="7" name="内容占位符 2"/>
          <p:cNvSpPr txBox="1"/>
          <p:nvPr/>
        </p:nvSpPr>
        <p:spPr>
          <a:xfrm>
            <a:off x="1471515" y="2343330"/>
            <a:ext cx="3050382" cy="37050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solidFill>
                  <a:srgbClr val="002C6C"/>
                </a:solidFill>
                <a:latin typeface="方正粗黑宋简体" panose="02000000000000000000" pitchFamily="2" charset="-122"/>
                <a:ea typeface="方正粗黑宋简体" panose="02000000000000000000" pitchFamily="2" charset="-122"/>
              </a:rPr>
              <a:t>1</a:t>
            </a:r>
            <a:r>
              <a:rPr lang="zh-CN" altLang="en-US" sz="2000" dirty="0">
                <a:solidFill>
                  <a:srgbClr val="002C6C"/>
                </a:solidFill>
                <a:latin typeface="方正粗黑宋简体" panose="02000000000000000000" pitchFamily="2" charset="-122"/>
                <a:ea typeface="方正粗黑宋简体" panose="02000000000000000000" pitchFamily="2" charset="-122"/>
              </a:rPr>
              <a:t>、首次适应算法</a:t>
            </a:r>
            <a:endParaRPr lang="zh-CN" altLang="en-US" sz="2000" dirty="0">
              <a:solidFill>
                <a:srgbClr val="002C6C"/>
              </a:solidFill>
              <a:latin typeface="方正粗黑宋简体" panose="02000000000000000000" pitchFamily="2" charset="-122"/>
              <a:ea typeface="方正粗黑宋简体" panose="02000000000000000000" pitchFamily="2" charset="-122"/>
            </a:endParaRPr>
          </a:p>
        </p:txBody>
      </p:sp>
      <p:pic>
        <p:nvPicPr>
          <p:cNvPr id="10" name="图片 9"/>
          <p:cNvPicPr>
            <a:picLocks noChangeAspect="1"/>
          </p:cNvPicPr>
          <p:nvPr/>
        </p:nvPicPr>
        <p:blipFill>
          <a:blip r:embed="rId1">
            <a:extLst>
              <a:ext uri="{BEBA8EAE-BF5A-486C-A8C5-ECC9F3942E4B}">
                <a14:imgProps xmlns:a14="http://schemas.microsoft.com/office/drawing/2010/main">
                  <a14:imgLayer r:embed="rId2">
                    <a14:imgEffect>
                      <a14:sharpenSoften amount="25000"/>
                    </a14:imgEffect>
                  </a14:imgLayer>
                </a14:imgProps>
              </a:ext>
            </a:extLst>
          </a:blip>
          <a:srcRect t="11548" b="11323"/>
          <a:stretch>
            <a:fillRect/>
          </a:stretch>
        </p:blipFill>
        <p:spPr>
          <a:xfrm>
            <a:off x="1754505" y="2838450"/>
            <a:ext cx="7581265" cy="3172460"/>
          </a:xfrm>
          <a:prstGeom prst="rect">
            <a:avLst/>
          </a:prstGeom>
        </p:spPr>
      </p:pic>
      <p:sp>
        <p:nvSpPr>
          <p:cNvPr id="11" name="文本框 10"/>
          <p:cNvSpPr txBox="1"/>
          <p:nvPr/>
        </p:nvSpPr>
        <p:spPr>
          <a:xfrm>
            <a:off x="4191178" y="2714069"/>
            <a:ext cx="5488781" cy="369332"/>
          </a:xfrm>
          <a:prstGeom prst="rect">
            <a:avLst/>
          </a:prstGeom>
          <a:noFill/>
        </p:spPr>
        <p:txBody>
          <a:bodyPr wrap="square">
            <a:spAutoFit/>
          </a:bodyPr>
          <a:lstStyle/>
          <a:p>
            <a:r>
              <a:rPr lang="zh-CN" altLang="en-US" b="1" dirty="0">
                <a:solidFill>
                  <a:srgbClr val="7C0000"/>
                </a:solidFill>
              </a:rPr>
              <a:t>若有一个进程申请分配 40 KB 大小的空间</a:t>
            </a:r>
            <a:endParaRPr lang="zh-CN" altLang="en-US" b="1" dirty="0">
              <a:solidFill>
                <a:srgbClr val="7C0000"/>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3.3</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内存空间连续分配方式</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文本框 2"/>
          <p:cNvSpPr txBox="1"/>
          <p:nvPr/>
        </p:nvSpPr>
        <p:spPr>
          <a:xfrm>
            <a:off x="1311059" y="1464925"/>
            <a:ext cx="9265083" cy="646331"/>
          </a:xfrm>
          <a:prstGeom prst="rect">
            <a:avLst/>
          </a:prstGeom>
          <a:noFill/>
          <a:ln>
            <a:solidFill>
              <a:schemeClr val="bg1"/>
            </a:solidFill>
          </a:ln>
        </p:spPr>
        <p:txBody>
          <a:bodyPr wrap="square">
            <a:spAutoFit/>
          </a:bodyPr>
          <a:lstStyle/>
          <a:p>
            <a:r>
              <a:rPr lang="zh-CN" altLang="en-US" b="1" dirty="0"/>
              <a:t>常见的分配策略有：</a:t>
            </a:r>
            <a:endParaRPr lang="zh-CN" altLang="en-US" b="1" dirty="0"/>
          </a:p>
          <a:p>
            <a:r>
              <a:rPr lang="zh-CN" altLang="en-US" b="1" dirty="0"/>
              <a:t>首次适应（First Fit）算法、最佳适应（Best Fit）算法和最坏适应（Worst Fit）算法。</a:t>
            </a:r>
            <a:endParaRPr lang="zh-CN" altLang="en-US" b="1" dirty="0"/>
          </a:p>
        </p:txBody>
      </p:sp>
      <p:sp>
        <p:nvSpPr>
          <p:cNvPr id="6" name="TextBox 1"/>
          <p:cNvSpPr txBox="1">
            <a:spLocks noChangeArrowheads="1"/>
          </p:cNvSpPr>
          <p:nvPr/>
        </p:nvSpPr>
        <p:spPr bwMode="auto">
          <a:xfrm>
            <a:off x="1226807" y="1071388"/>
            <a:ext cx="3295090"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常见空闲分区分配策略</a:t>
            </a:r>
            <a:endParaRPr lang="zh-CN" altLang="en-US" sz="2000" b="1" dirty="0">
              <a:solidFill>
                <a:srgbClr val="6C0000"/>
              </a:solidFill>
              <a:latin typeface="华文行楷" panose="02010800040101010101" charset="-122"/>
              <a:ea typeface="华文行楷" panose="02010800040101010101" charset="-122"/>
            </a:endParaRPr>
          </a:p>
        </p:txBody>
      </p:sp>
      <p:sp>
        <p:nvSpPr>
          <p:cNvPr id="2" name="内容占位符 2"/>
          <p:cNvSpPr txBox="1"/>
          <p:nvPr/>
        </p:nvSpPr>
        <p:spPr>
          <a:xfrm>
            <a:off x="1471515" y="2319542"/>
            <a:ext cx="3050382" cy="37050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solidFill>
                  <a:srgbClr val="002C6C"/>
                </a:solidFill>
                <a:latin typeface="方正粗黑宋简体" panose="02000000000000000000" pitchFamily="2" charset="-122"/>
                <a:ea typeface="方正粗黑宋简体" panose="02000000000000000000" pitchFamily="2" charset="-122"/>
              </a:rPr>
              <a:t>2</a:t>
            </a:r>
            <a:r>
              <a:rPr lang="zh-CN" altLang="en-US" sz="2000" dirty="0">
                <a:solidFill>
                  <a:srgbClr val="002C6C"/>
                </a:solidFill>
                <a:latin typeface="方正粗黑宋简体" panose="02000000000000000000" pitchFamily="2" charset="-122"/>
                <a:ea typeface="方正粗黑宋简体" panose="02000000000000000000" pitchFamily="2" charset="-122"/>
              </a:rPr>
              <a:t>、最佳适应算法</a:t>
            </a:r>
            <a:endParaRPr lang="zh-CN" altLang="en-US" sz="2000" dirty="0">
              <a:solidFill>
                <a:srgbClr val="002C6C"/>
              </a:solidFill>
              <a:latin typeface="方正粗黑宋简体" panose="02000000000000000000" pitchFamily="2" charset="-122"/>
              <a:ea typeface="方正粗黑宋简体" panose="02000000000000000000" pitchFamily="2" charset="-122"/>
            </a:endParaRPr>
          </a:p>
        </p:txBody>
      </p:sp>
      <p:pic>
        <p:nvPicPr>
          <p:cNvPr id="5" name="图片 4"/>
          <p:cNvPicPr>
            <a:picLocks noChangeAspect="1"/>
          </p:cNvPicPr>
          <p:nvPr/>
        </p:nvPicPr>
        <p:blipFill>
          <a:blip r:embed="rId1">
            <a:extLst>
              <a:ext uri="{BEBA8EAE-BF5A-486C-A8C5-ECC9F3942E4B}">
                <a14:imgProps xmlns:a14="http://schemas.microsoft.com/office/drawing/2010/main">
                  <a14:imgLayer r:embed="rId2">
                    <a14:imgEffect>
                      <a14:sharpenSoften amount="25000"/>
                    </a14:imgEffect>
                  </a14:imgLayer>
                </a14:imgProps>
              </a:ext>
            </a:extLst>
          </a:blip>
          <a:srcRect b="12848"/>
          <a:stretch>
            <a:fillRect/>
          </a:stretch>
        </p:blipFill>
        <p:spPr>
          <a:xfrm>
            <a:off x="2041096" y="2708267"/>
            <a:ext cx="7533613" cy="3717585"/>
          </a:xfrm>
          <a:prstGeom prst="rect">
            <a:avLst/>
          </a:prstGeom>
        </p:spPr>
      </p:pic>
      <p:sp>
        <p:nvSpPr>
          <p:cNvPr id="4" name="文本框 3"/>
          <p:cNvSpPr txBox="1"/>
          <p:nvPr/>
        </p:nvSpPr>
        <p:spPr>
          <a:xfrm>
            <a:off x="3872985" y="2508328"/>
            <a:ext cx="5488781" cy="369332"/>
          </a:xfrm>
          <a:prstGeom prst="rect">
            <a:avLst/>
          </a:prstGeom>
          <a:solidFill>
            <a:schemeClr val="bg1"/>
          </a:solidFill>
        </p:spPr>
        <p:txBody>
          <a:bodyPr wrap="square">
            <a:spAutoFit/>
          </a:bodyPr>
          <a:lstStyle/>
          <a:p>
            <a:r>
              <a:rPr lang="zh-CN" altLang="en-US" b="1" dirty="0">
                <a:solidFill>
                  <a:srgbClr val="7C0000"/>
                </a:solidFill>
              </a:rPr>
              <a:t>若有一个进程申请分配 40 KB 大小的空间</a:t>
            </a:r>
            <a:endParaRPr lang="zh-CN" altLang="en-US" b="1" dirty="0">
              <a:solidFill>
                <a:srgbClr val="7C0000"/>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3.3</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内存空间连续分配方式</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文本框 2"/>
          <p:cNvSpPr txBox="1"/>
          <p:nvPr/>
        </p:nvSpPr>
        <p:spPr>
          <a:xfrm>
            <a:off x="1311059" y="1464925"/>
            <a:ext cx="9265083" cy="646331"/>
          </a:xfrm>
          <a:prstGeom prst="rect">
            <a:avLst/>
          </a:prstGeom>
          <a:noFill/>
          <a:ln>
            <a:solidFill>
              <a:schemeClr val="bg1"/>
            </a:solidFill>
          </a:ln>
        </p:spPr>
        <p:txBody>
          <a:bodyPr wrap="square">
            <a:spAutoFit/>
          </a:bodyPr>
          <a:lstStyle/>
          <a:p>
            <a:r>
              <a:rPr lang="zh-CN" altLang="en-US" b="1" dirty="0"/>
              <a:t>常见的分配策略有：</a:t>
            </a:r>
            <a:endParaRPr lang="zh-CN" altLang="en-US" b="1" dirty="0"/>
          </a:p>
          <a:p>
            <a:r>
              <a:rPr lang="zh-CN" altLang="en-US" b="1" dirty="0"/>
              <a:t>首次适应（First Fit）算法、最佳适应（Best Fit）算法和最坏适应（Worst Fit）算法。</a:t>
            </a:r>
            <a:endParaRPr lang="zh-CN" altLang="en-US" b="1" dirty="0"/>
          </a:p>
        </p:txBody>
      </p:sp>
      <p:sp>
        <p:nvSpPr>
          <p:cNvPr id="6" name="TextBox 1"/>
          <p:cNvSpPr txBox="1">
            <a:spLocks noChangeArrowheads="1"/>
          </p:cNvSpPr>
          <p:nvPr/>
        </p:nvSpPr>
        <p:spPr bwMode="auto">
          <a:xfrm>
            <a:off x="1226820" y="1071245"/>
            <a:ext cx="4351020"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常见空闲分区分配策略</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zh-CN" altLang="en-US" sz="2000" b="1" dirty="0">
              <a:solidFill>
                <a:srgbClr val="6C0000"/>
              </a:solidFill>
              <a:latin typeface="华文行楷" panose="02010800040101010101" charset="-122"/>
              <a:ea typeface="华文行楷" panose="02010800040101010101" charset="-122"/>
            </a:endParaRPr>
          </a:p>
        </p:txBody>
      </p:sp>
      <p:sp>
        <p:nvSpPr>
          <p:cNvPr id="7" name="内容占位符 2"/>
          <p:cNvSpPr txBox="1"/>
          <p:nvPr/>
        </p:nvSpPr>
        <p:spPr>
          <a:xfrm>
            <a:off x="1311059" y="2271282"/>
            <a:ext cx="3050382" cy="37050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000" dirty="0">
                <a:solidFill>
                  <a:srgbClr val="002C6C"/>
                </a:solidFill>
                <a:latin typeface="方正粗黑宋简体" panose="02000000000000000000" pitchFamily="2" charset="-122"/>
                <a:ea typeface="方正粗黑宋简体" panose="02000000000000000000" pitchFamily="2" charset="-122"/>
              </a:rPr>
              <a:t>3</a:t>
            </a:r>
            <a:r>
              <a:rPr lang="zh-CN" altLang="en-US" sz="2000" dirty="0">
                <a:solidFill>
                  <a:srgbClr val="002C6C"/>
                </a:solidFill>
                <a:latin typeface="方正粗黑宋简体" panose="02000000000000000000" pitchFamily="2" charset="-122"/>
                <a:ea typeface="方正粗黑宋简体" panose="02000000000000000000" pitchFamily="2" charset="-122"/>
              </a:rPr>
              <a:t>、最坏适应算法</a:t>
            </a:r>
            <a:endParaRPr lang="zh-CN" altLang="en-US" sz="2000" dirty="0">
              <a:solidFill>
                <a:srgbClr val="002C6C"/>
              </a:solidFill>
              <a:latin typeface="方正粗黑宋简体" panose="02000000000000000000" pitchFamily="2" charset="-122"/>
              <a:ea typeface="方正粗黑宋简体" panose="02000000000000000000" pitchFamily="2" charset="-122"/>
            </a:endParaRPr>
          </a:p>
        </p:txBody>
      </p:sp>
      <p:pic>
        <p:nvPicPr>
          <p:cNvPr id="10" name="图片 9"/>
          <p:cNvPicPr>
            <a:picLocks noChangeAspect="1"/>
          </p:cNvPicPr>
          <p:nvPr/>
        </p:nvPicPr>
        <p:blipFill>
          <a:blip r:embed="rId1">
            <a:extLst>
              <a:ext uri="{BEBA8EAE-BF5A-486C-A8C5-ECC9F3942E4B}">
                <a14:imgProps xmlns:a14="http://schemas.microsoft.com/office/drawing/2010/main">
                  <a14:imgLayer r:embed="rId2">
                    <a14:imgEffect>
                      <a14:sharpenSoften amount="25000"/>
                    </a14:imgEffect>
                  </a14:imgLayer>
                </a14:imgProps>
              </a:ext>
            </a:extLst>
          </a:blip>
          <a:srcRect t="4090" b="13228"/>
          <a:stretch>
            <a:fillRect/>
          </a:stretch>
        </p:blipFill>
        <p:spPr>
          <a:xfrm>
            <a:off x="2009446" y="2801809"/>
            <a:ext cx="7474941" cy="3511361"/>
          </a:xfrm>
          <a:prstGeom prst="rect">
            <a:avLst/>
          </a:prstGeom>
        </p:spPr>
      </p:pic>
      <p:sp>
        <p:nvSpPr>
          <p:cNvPr id="9" name="文本框 8"/>
          <p:cNvSpPr txBox="1"/>
          <p:nvPr/>
        </p:nvSpPr>
        <p:spPr>
          <a:xfrm>
            <a:off x="4483703" y="2883321"/>
            <a:ext cx="5488781" cy="369332"/>
          </a:xfrm>
          <a:prstGeom prst="rect">
            <a:avLst/>
          </a:prstGeom>
          <a:noFill/>
        </p:spPr>
        <p:txBody>
          <a:bodyPr wrap="square">
            <a:spAutoFit/>
          </a:bodyPr>
          <a:lstStyle/>
          <a:p>
            <a:r>
              <a:rPr lang="zh-CN" altLang="en-US" b="1" dirty="0">
                <a:solidFill>
                  <a:srgbClr val="7C0000"/>
                </a:solidFill>
              </a:rPr>
              <a:t>若有一个进程申请分配 40 KB 大小的空间</a:t>
            </a:r>
            <a:endParaRPr lang="zh-CN" altLang="en-US" b="1" dirty="0">
              <a:solidFill>
                <a:srgbClr val="7C0000"/>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TextBox 1"/>
          <p:cNvSpPr txBox="1">
            <a:spLocks noChangeArrowheads="1"/>
          </p:cNvSpPr>
          <p:nvPr/>
        </p:nvSpPr>
        <p:spPr bwMode="auto">
          <a:xfrm>
            <a:off x="1230489" y="1139333"/>
            <a:ext cx="4130651"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分页存储管理的基本思想</a:t>
            </a:r>
            <a:endParaRPr lang="zh-CN" altLang="en-US" sz="2000" b="1" dirty="0">
              <a:solidFill>
                <a:srgbClr val="6C0000"/>
              </a:solidFill>
              <a:latin typeface="华文行楷" panose="02010800040101010101" charset="-122"/>
              <a:ea typeface="华文行楷" panose="02010800040101010101" charset="-122"/>
            </a:endParaRPr>
          </a:p>
        </p:txBody>
      </p:sp>
      <p:sp>
        <p:nvSpPr>
          <p:cNvPr id="5" name="矩形 4"/>
          <p:cNvSpPr/>
          <p:nvPr/>
        </p:nvSpPr>
        <p:spPr>
          <a:xfrm>
            <a:off x="1250351" y="1485378"/>
            <a:ext cx="9691297" cy="923330"/>
          </a:xfrm>
          <a:prstGeom prst="rect">
            <a:avLst/>
          </a:prstGeom>
        </p:spPr>
        <p:txBody>
          <a:bodyPr wrap="square">
            <a:spAutoFit/>
          </a:bodyPr>
          <a:lstStyle/>
          <a:p>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分页存储管理将进程的逻辑地址空间分成若干个大小相等的页面（虚页），并为各页加以编号。相应地，也把内存的物理地址空间分成若干个页帧（页框），同样也为他们加以编号。在为进程分配内存空间时，将进程中的若干个虚页分别装入到多个不相邻的页帧中</a:t>
            </a:r>
            <a:r>
              <a:rPr lang="zh-CN" altLang="en-US"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zh-CN" altLang="en-US" b="1" dirty="0">
              <a:latin typeface="等线" panose="02010600030101010101" pitchFamily="2" charset="-122"/>
              <a:ea typeface="等线" panose="02010600030101010101" pitchFamily="2" charset="-122"/>
            </a:endParaRPr>
          </a:p>
        </p:txBody>
      </p:sp>
      <p:sp>
        <p:nvSpPr>
          <p:cNvPr id="6" name="文本框 5"/>
          <p:cNvSpPr txBox="1"/>
          <p:nvPr/>
        </p:nvSpPr>
        <p:spPr>
          <a:xfrm>
            <a:off x="3890504" y="2644216"/>
            <a:ext cx="1605280" cy="337185"/>
          </a:xfrm>
          <a:prstGeom prst="rect">
            <a:avLst/>
          </a:prstGeom>
          <a:noFill/>
        </p:spPr>
        <p:txBody>
          <a:bodyPr wrap="none" rtlCol="0">
            <a:spAutoFit/>
          </a:bodyPr>
          <a:lstStyle/>
          <a:p>
            <a:r>
              <a:rPr lang="zh-CN" sz="1600" b="1">
                <a:solidFill>
                  <a:schemeClr val="bg1"/>
                </a:solidFill>
              </a:rPr>
              <a:t>进程虚地址空间</a:t>
            </a:r>
            <a:endParaRPr lang="zh-CN" sz="1600" b="1">
              <a:solidFill>
                <a:schemeClr val="bg1"/>
              </a:solidFill>
            </a:endParaRPr>
          </a:p>
        </p:txBody>
      </p:sp>
      <p:sp>
        <p:nvSpPr>
          <p:cNvPr id="10" name="矩形 9"/>
          <p:cNvSpPr/>
          <p:nvPr/>
        </p:nvSpPr>
        <p:spPr>
          <a:xfrm>
            <a:off x="4026165" y="3091561"/>
            <a:ext cx="1333728"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0</a:t>
            </a:r>
            <a:endParaRPr lang="zh-CN" altLang="en-US" sz="1600" b="1" dirty="0">
              <a:solidFill>
                <a:schemeClr val="tx1"/>
              </a:solidFill>
            </a:endParaRPr>
          </a:p>
        </p:txBody>
      </p:sp>
      <p:sp>
        <p:nvSpPr>
          <p:cNvPr id="17" name="矩形 16"/>
          <p:cNvSpPr/>
          <p:nvPr/>
        </p:nvSpPr>
        <p:spPr>
          <a:xfrm>
            <a:off x="1335264" y="3076732"/>
            <a:ext cx="1395730" cy="1765935"/>
          </a:xfrm>
          <a:prstGeom prst="rect">
            <a:avLst/>
          </a:prstGeom>
          <a:no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文本框 17"/>
          <p:cNvSpPr txBox="1"/>
          <p:nvPr/>
        </p:nvSpPr>
        <p:spPr>
          <a:xfrm>
            <a:off x="1230489" y="2644216"/>
            <a:ext cx="1605280" cy="337185"/>
          </a:xfrm>
          <a:prstGeom prst="rect">
            <a:avLst/>
          </a:prstGeom>
          <a:noFill/>
        </p:spPr>
        <p:txBody>
          <a:bodyPr wrap="none" rtlCol="0">
            <a:spAutoFit/>
          </a:bodyPr>
          <a:lstStyle/>
          <a:p>
            <a:r>
              <a:rPr lang="zh-CN" sz="1600" b="1">
                <a:solidFill>
                  <a:schemeClr val="bg1"/>
                </a:solidFill>
              </a:rPr>
              <a:t>进程虚地址空间</a:t>
            </a:r>
            <a:endParaRPr lang="zh-CN" sz="1600" b="1">
              <a:solidFill>
                <a:schemeClr val="bg1"/>
              </a:solidFill>
            </a:endParaRPr>
          </a:p>
        </p:txBody>
      </p:sp>
      <p:sp>
        <p:nvSpPr>
          <p:cNvPr id="19" name="右箭头 21"/>
          <p:cNvSpPr/>
          <p:nvPr/>
        </p:nvSpPr>
        <p:spPr>
          <a:xfrm>
            <a:off x="2827514" y="3804442"/>
            <a:ext cx="1066165" cy="164465"/>
          </a:xfrm>
          <a:prstGeom prst="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文本框 19"/>
          <p:cNvSpPr txBox="1"/>
          <p:nvPr/>
        </p:nvSpPr>
        <p:spPr>
          <a:xfrm>
            <a:off x="3085959" y="3368116"/>
            <a:ext cx="589280" cy="337185"/>
          </a:xfrm>
          <a:prstGeom prst="rect">
            <a:avLst/>
          </a:prstGeom>
          <a:noFill/>
        </p:spPr>
        <p:txBody>
          <a:bodyPr wrap="none" rtlCol="0">
            <a:spAutoFit/>
          </a:bodyPr>
          <a:lstStyle/>
          <a:p>
            <a:r>
              <a:rPr lang="zh-CN" sz="1600" b="1" dirty="0"/>
              <a:t>等分</a:t>
            </a:r>
            <a:endParaRPr lang="zh-CN" sz="1600" b="1" dirty="0"/>
          </a:p>
        </p:txBody>
      </p:sp>
      <p:sp>
        <p:nvSpPr>
          <p:cNvPr id="21" name="矩形 20"/>
          <p:cNvSpPr/>
          <p:nvPr/>
        </p:nvSpPr>
        <p:spPr>
          <a:xfrm>
            <a:off x="4026165" y="3540211"/>
            <a:ext cx="1333728"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1</a:t>
            </a:r>
            <a:endParaRPr lang="zh-CN" altLang="en-US" sz="1600" b="1" dirty="0">
              <a:solidFill>
                <a:schemeClr val="tx1"/>
              </a:solidFill>
            </a:endParaRPr>
          </a:p>
        </p:txBody>
      </p:sp>
      <p:sp>
        <p:nvSpPr>
          <p:cNvPr id="22" name="矩形 21"/>
          <p:cNvSpPr/>
          <p:nvPr/>
        </p:nvSpPr>
        <p:spPr>
          <a:xfrm>
            <a:off x="4026165" y="3995521"/>
            <a:ext cx="1335816"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2</a:t>
            </a:r>
            <a:endParaRPr lang="zh-CN" altLang="en-US" sz="1600" b="1" dirty="0">
              <a:solidFill>
                <a:schemeClr val="tx1"/>
              </a:solidFill>
            </a:endParaRPr>
          </a:p>
        </p:txBody>
      </p:sp>
      <p:sp>
        <p:nvSpPr>
          <p:cNvPr id="23" name="矩形 22"/>
          <p:cNvSpPr/>
          <p:nvPr/>
        </p:nvSpPr>
        <p:spPr>
          <a:xfrm>
            <a:off x="4028253" y="4446457"/>
            <a:ext cx="1333728"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3</a:t>
            </a:r>
            <a:endParaRPr lang="zh-CN" altLang="en-US" sz="1600" b="1" dirty="0">
              <a:solidFill>
                <a:schemeClr val="tx1"/>
              </a:solidFill>
            </a:endParaRPr>
          </a:p>
        </p:txBody>
      </p:sp>
      <p:sp>
        <p:nvSpPr>
          <p:cNvPr id="24" name="文本框 23"/>
          <p:cNvSpPr txBox="1"/>
          <p:nvPr/>
        </p:nvSpPr>
        <p:spPr>
          <a:xfrm>
            <a:off x="3910366" y="2655235"/>
            <a:ext cx="1605280" cy="337185"/>
          </a:xfrm>
          <a:prstGeom prst="rect">
            <a:avLst/>
          </a:prstGeom>
          <a:noFill/>
        </p:spPr>
        <p:txBody>
          <a:bodyPr wrap="none" rtlCol="0">
            <a:spAutoFit/>
          </a:bodyPr>
          <a:lstStyle/>
          <a:p>
            <a:r>
              <a:rPr lang="zh-CN" sz="1600" b="1"/>
              <a:t>进程虚地址空间</a:t>
            </a:r>
            <a:endParaRPr lang="zh-CN" sz="1600" b="1"/>
          </a:p>
        </p:txBody>
      </p:sp>
      <p:sp>
        <p:nvSpPr>
          <p:cNvPr id="25" name="文本框 24"/>
          <p:cNvSpPr txBox="1"/>
          <p:nvPr/>
        </p:nvSpPr>
        <p:spPr>
          <a:xfrm>
            <a:off x="1250351" y="2655235"/>
            <a:ext cx="1605280" cy="337185"/>
          </a:xfrm>
          <a:prstGeom prst="rect">
            <a:avLst/>
          </a:prstGeom>
          <a:noFill/>
        </p:spPr>
        <p:txBody>
          <a:bodyPr wrap="none" rtlCol="0">
            <a:spAutoFit/>
          </a:bodyPr>
          <a:lstStyle/>
          <a:p>
            <a:r>
              <a:rPr lang="zh-CN" sz="1600" b="1"/>
              <a:t>进程虚地址空间</a:t>
            </a:r>
            <a:endParaRPr lang="zh-CN" sz="1600" b="1"/>
          </a:p>
        </p:txBody>
      </p:sp>
      <p:sp>
        <p:nvSpPr>
          <p:cNvPr id="26" name="文本框 25"/>
          <p:cNvSpPr txBox="1"/>
          <p:nvPr/>
        </p:nvSpPr>
        <p:spPr>
          <a:xfrm>
            <a:off x="3295814" y="5022413"/>
            <a:ext cx="3093720" cy="337185"/>
          </a:xfrm>
          <a:prstGeom prst="rect">
            <a:avLst/>
          </a:prstGeom>
        </p:spPr>
        <p:txBody>
          <a:bodyPr wrap="square">
            <a:spAutoFit/>
          </a:bodyPr>
          <a:lstStyle/>
          <a:p>
            <a:pPr marL="0" indent="0"/>
            <a:r>
              <a:rPr lang="zh-CN" altLang="en-US" sz="1600" i="0" dirty="0">
                <a:solidFill>
                  <a:schemeClr val="accent5">
                    <a:lumMod val="50000"/>
                  </a:schemeClr>
                </a:solidFill>
                <a:latin typeface="方正粗黑宋简体" panose="02000000000000000000" pitchFamily="2" charset="-122"/>
                <a:ea typeface="方正粗黑宋简体" panose="02000000000000000000" pitchFamily="2" charset="-122"/>
                <a:cs typeface="方正粗黑宋简体" panose="02000000000000000000" pitchFamily="2" charset="-122"/>
              </a:rPr>
              <a:t>地址空间被切分成等大的“页”</a:t>
            </a:r>
            <a:endParaRPr lang="zh-CN" altLang="en-US" sz="1600" i="0" dirty="0">
              <a:solidFill>
                <a:schemeClr val="accent5">
                  <a:lumMod val="50000"/>
                </a:schemeClr>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p:txBody>
      </p:sp>
      <p:sp>
        <p:nvSpPr>
          <p:cNvPr id="27" name="文本框 26"/>
          <p:cNvSpPr txBox="1"/>
          <p:nvPr/>
        </p:nvSpPr>
        <p:spPr>
          <a:xfrm>
            <a:off x="1135239" y="5472365"/>
            <a:ext cx="5080000" cy="645160"/>
          </a:xfrm>
          <a:prstGeom prst="rect">
            <a:avLst/>
          </a:prstGeom>
        </p:spPr>
        <p:txBody>
          <a:bodyPr>
            <a:spAutoFit/>
          </a:bodyPr>
          <a:lstStyle/>
          <a:p>
            <a:pPr marL="0" indent="0"/>
            <a:r>
              <a:rPr lang="zh-CN" altLang="en-US" i="0" dirty="0">
                <a:latin typeface="方正粗黑宋简体" panose="02000000000000000000" pitchFamily="2" charset="-122"/>
                <a:ea typeface="方正粗黑宋简体" panose="02000000000000000000" pitchFamily="2" charset="-122"/>
                <a:cs typeface="方正粗黑宋简体" panose="02000000000000000000" pitchFamily="2" charset="-122"/>
              </a:rPr>
              <a:t>页大小：</a:t>
            </a:r>
            <a:r>
              <a:rPr lang="zh-CN" altLang="en-US" i="0" dirty="0">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rPr>
              <a:t> 通常是</a:t>
            </a:r>
            <a:r>
              <a:rPr lang="en-US" altLang="zh-CN" i="0" dirty="0">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rPr>
              <a:t>2</a:t>
            </a:r>
            <a:r>
              <a:rPr lang="zh-CN" altLang="en-US" i="0" dirty="0">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rPr>
              <a:t>的幂，如</a:t>
            </a:r>
            <a:r>
              <a:rPr lang="en-US" altLang="zh-CN" i="0" dirty="0">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rPr>
              <a:t>4KB</a:t>
            </a:r>
            <a:r>
              <a:rPr lang="zh-CN" altLang="en-US" i="0" dirty="0">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rPr>
              <a:t>。</a:t>
            </a:r>
            <a:endParaRPr lang="zh-CN" altLang="en-US" i="0" dirty="0">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a:p>
            <a:pPr marL="0" indent="0"/>
            <a:r>
              <a:rPr lang="zh-CN" altLang="en-US" i="0" dirty="0">
                <a:latin typeface="方正粗黑宋简体" panose="02000000000000000000" pitchFamily="2" charset="-122"/>
                <a:ea typeface="方正粗黑宋简体" panose="02000000000000000000" pitchFamily="2" charset="-122"/>
                <a:cs typeface="方正粗黑宋简体" panose="02000000000000000000" pitchFamily="2" charset="-122"/>
              </a:rPr>
              <a:t>这是系统设计时确定的固定值。</a:t>
            </a:r>
            <a:endParaRPr lang="zh-CN" altLang="en-US" i="0" dirty="0">
              <a:latin typeface="方正粗黑宋简体" panose="02000000000000000000" pitchFamily="2" charset="-122"/>
              <a:ea typeface="方正粗黑宋简体" panose="02000000000000000000" pitchFamily="2" charset="-122"/>
              <a:cs typeface="方正粗黑宋简体" panose="02000000000000000000" pitchFamily="2" charset="-122"/>
            </a:endParaRPr>
          </a:p>
        </p:txBody>
      </p:sp>
      <p:sp>
        <p:nvSpPr>
          <p:cNvPr id="40" name="文本框 39"/>
          <p:cNvSpPr txBox="1"/>
          <p:nvPr/>
        </p:nvSpPr>
        <p:spPr>
          <a:xfrm>
            <a:off x="7365303" y="5875426"/>
            <a:ext cx="4017479" cy="369332"/>
          </a:xfrm>
          <a:prstGeom prst="rect">
            <a:avLst/>
          </a:prstGeom>
        </p:spPr>
        <p:txBody>
          <a:bodyPr wrap="square">
            <a:spAutoFit/>
          </a:bodyPr>
          <a:lstStyle/>
          <a:p>
            <a:pPr marL="0" indent="0"/>
            <a:r>
              <a:rPr lang="zh-CN" altLang="en-US" i="0" dirty="0">
                <a:solidFill>
                  <a:srgbClr val="002060"/>
                </a:solidFill>
                <a:latin typeface="方正粗黑宋简体" panose="02000000000000000000" pitchFamily="2" charset="-122"/>
                <a:ea typeface="方正粗黑宋简体" panose="02000000000000000000" pitchFamily="2" charset="-122"/>
                <a:cs typeface="方正粗黑宋简体" panose="02000000000000000000" pitchFamily="2" charset="-122"/>
              </a:rPr>
              <a:t>物理内存被切分成等大的“帧”</a:t>
            </a:r>
            <a:endParaRPr lang="zh-CN" altLang="en-US" i="0" dirty="0">
              <a:solidFill>
                <a:srgbClr val="002060"/>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p:txBody>
      </p:sp>
      <p:sp>
        <p:nvSpPr>
          <p:cNvPr id="49" name="文本框 48"/>
          <p:cNvSpPr txBox="1"/>
          <p:nvPr/>
        </p:nvSpPr>
        <p:spPr>
          <a:xfrm>
            <a:off x="8662199" y="2496390"/>
            <a:ext cx="646331" cy="369332"/>
          </a:xfrm>
          <a:prstGeom prst="rect">
            <a:avLst/>
          </a:prstGeom>
          <a:noFill/>
        </p:spPr>
        <p:txBody>
          <a:bodyPr wrap="none" rtlCol="0">
            <a:spAutoFit/>
          </a:bodyPr>
          <a:lstStyle/>
          <a:p>
            <a:r>
              <a:rPr lang="zh-CN" altLang="en-US" dirty="0">
                <a:latin typeface="方正粗黑宋简体" panose="02000000000000000000" pitchFamily="2" charset="-122"/>
                <a:ea typeface="方正粗黑宋简体" panose="02000000000000000000" pitchFamily="2" charset="-122"/>
              </a:rPr>
              <a:t>内存</a:t>
            </a:r>
            <a:endParaRPr lang="zh-CN" altLang="en-US" dirty="0">
              <a:latin typeface="方正粗黑宋简体" panose="02000000000000000000" pitchFamily="2" charset="-122"/>
              <a:ea typeface="方正粗黑宋简体" panose="02000000000000000000" pitchFamily="2" charset="-122"/>
            </a:endParaRPr>
          </a:p>
        </p:txBody>
      </p:sp>
      <p:sp>
        <p:nvSpPr>
          <p:cNvPr id="50" name="矩形 49"/>
          <p:cNvSpPr/>
          <p:nvPr/>
        </p:nvSpPr>
        <p:spPr>
          <a:xfrm>
            <a:off x="8353646" y="2905873"/>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400" b="1" dirty="0">
              <a:solidFill>
                <a:schemeClr val="tx1"/>
              </a:solidFill>
            </a:endParaRPr>
          </a:p>
        </p:txBody>
      </p:sp>
      <p:sp>
        <p:nvSpPr>
          <p:cNvPr id="51" name="矩形 50"/>
          <p:cNvSpPr/>
          <p:nvPr/>
        </p:nvSpPr>
        <p:spPr>
          <a:xfrm>
            <a:off x="8357686" y="3253128"/>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sym typeface="+mn-ea"/>
              </a:rPr>
              <a:t> </a:t>
            </a:r>
            <a:endParaRPr lang="zh-CN" altLang="en-US" sz="1400" b="1" dirty="0">
              <a:solidFill>
                <a:schemeClr val="tx1"/>
              </a:solidFill>
            </a:endParaRPr>
          </a:p>
        </p:txBody>
      </p:sp>
      <p:sp>
        <p:nvSpPr>
          <p:cNvPr id="52" name="矩形 51"/>
          <p:cNvSpPr/>
          <p:nvPr/>
        </p:nvSpPr>
        <p:spPr>
          <a:xfrm>
            <a:off x="8353646" y="3606505"/>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53" name="矩形 52"/>
          <p:cNvSpPr/>
          <p:nvPr/>
        </p:nvSpPr>
        <p:spPr>
          <a:xfrm>
            <a:off x="8353646" y="3946097"/>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54" name="矩形 53"/>
          <p:cNvSpPr/>
          <p:nvPr/>
        </p:nvSpPr>
        <p:spPr>
          <a:xfrm>
            <a:off x="8353646" y="4296413"/>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55" name="矩形 54"/>
          <p:cNvSpPr/>
          <p:nvPr/>
        </p:nvSpPr>
        <p:spPr>
          <a:xfrm>
            <a:off x="8353646" y="4646729"/>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56" name="矩形 55"/>
          <p:cNvSpPr/>
          <p:nvPr/>
        </p:nvSpPr>
        <p:spPr>
          <a:xfrm>
            <a:off x="8353646" y="4991730"/>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57" name="矩形 56"/>
          <p:cNvSpPr/>
          <p:nvPr/>
        </p:nvSpPr>
        <p:spPr>
          <a:xfrm>
            <a:off x="8353645" y="5305532"/>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58" name="文本框 57"/>
          <p:cNvSpPr txBox="1"/>
          <p:nvPr/>
        </p:nvSpPr>
        <p:spPr>
          <a:xfrm>
            <a:off x="7994781" y="2923457"/>
            <a:ext cx="298480" cy="338554"/>
          </a:xfrm>
          <a:prstGeom prst="rect">
            <a:avLst/>
          </a:prstGeom>
          <a:noFill/>
        </p:spPr>
        <p:txBody>
          <a:bodyPr wrap="none" rtlCol="0">
            <a:spAutoFit/>
          </a:bodyPr>
          <a:lstStyle/>
          <a:p>
            <a:r>
              <a:rPr lang="en-US" altLang="zh-CN" sz="1600" b="1" dirty="0"/>
              <a:t>0</a:t>
            </a:r>
            <a:endParaRPr lang="zh-CN" sz="1600" b="1" dirty="0"/>
          </a:p>
        </p:txBody>
      </p:sp>
      <p:sp>
        <p:nvSpPr>
          <p:cNvPr id="59" name="文本框 58"/>
          <p:cNvSpPr txBox="1"/>
          <p:nvPr/>
        </p:nvSpPr>
        <p:spPr>
          <a:xfrm>
            <a:off x="8007307" y="3255838"/>
            <a:ext cx="298480" cy="338554"/>
          </a:xfrm>
          <a:prstGeom prst="rect">
            <a:avLst/>
          </a:prstGeom>
          <a:noFill/>
        </p:spPr>
        <p:txBody>
          <a:bodyPr wrap="none" rtlCol="0">
            <a:spAutoFit/>
          </a:bodyPr>
          <a:lstStyle/>
          <a:p>
            <a:r>
              <a:rPr lang="en-US" altLang="zh-CN" sz="1600" b="1" dirty="0"/>
              <a:t>1</a:t>
            </a:r>
            <a:endParaRPr lang="zh-CN" sz="1600" b="1" dirty="0"/>
          </a:p>
        </p:txBody>
      </p:sp>
      <p:sp>
        <p:nvSpPr>
          <p:cNvPr id="60" name="文本框 1"/>
          <p:cNvSpPr txBox="1"/>
          <p:nvPr/>
        </p:nvSpPr>
        <p:spPr>
          <a:xfrm>
            <a:off x="8012448" y="3647750"/>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2</a:t>
            </a:r>
            <a:endParaRPr lang="zh-CN" sz="1600" b="1" dirty="0"/>
          </a:p>
        </p:txBody>
      </p:sp>
      <p:sp>
        <p:nvSpPr>
          <p:cNvPr id="61" name="文本框 1"/>
          <p:cNvSpPr txBox="1"/>
          <p:nvPr/>
        </p:nvSpPr>
        <p:spPr>
          <a:xfrm>
            <a:off x="8012448" y="4004905"/>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3</a:t>
            </a:r>
            <a:endParaRPr lang="zh-CN" sz="1600" b="1" dirty="0"/>
          </a:p>
        </p:txBody>
      </p:sp>
      <p:sp>
        <p:nvSpPr>
          <p:cNvPr id="62" name="文本框 1"/>
          <p:cNvSpPr txBox="1"/>
          <p:nvPr/>
        </p:nvSpPr>
        <p:spPr>
          <a:xfrm>
            <a:off x="8012448" y="4351188"/>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4</a:t>
            </a:r>
            <a:endParaRPr lang="zh-CN" sz="1600" b="1" dirty="0"/>
          </a:p>
        </p:txBody>
      </p:sp>
      <p:sp>
        <p:nvSpPr>
          <p:cNvPr id="63" name="文本框 1"/>
          <p:cNvSpPr txBox="1"/>
          <p:nvPr/>
        </p:nvSpPr>
        <p:spPr>
          <a:xfrm>
            <a:off x="8013480" y="4689742"/>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5</a:t>
            </a:r>
            <a:endParaRPr lang="zh-CN" sz="1600" b="1" dirty="0"/>
          </a:p>
        </p:txBody>
      </p:sp>
      <p:sp>
        <p:nvSpPr>
          <p:cNvPr id="64" name="文本框 1"/>
          <p:cNvSpPr txBox="1"/>
          <p:nvPr/>
        </p:nvSpPr>
        <p:spPr>
          <a:xfrm>
            <a:off x="8012448" y="5054626"/>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6</a:t>
            </a:r>
            <a:endParaRPr lang="zh-CN" sz="1600" b="1" dirty="0"/>
          </a:p>
        </p:txBody>
      </p:sp>
      <p:sp>
        <p:nvSpPr>
          <p:cNvPr id="65" name="文本框 1"/>
          <p:cNvSpPr txBox="1"/>
          <p:nvPr/>
        </p:nvSpPr>
        <p:spPr>
          <a:xfrm>
            <a:off x="8021281" y="5374827"/>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7</a:t>
            </a:r>
            <a:endParaRPr lang="zh-CN" sz="1600" b="1"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TextBox 1"/>
          <p:cNvSpPr txBox="1">
            <a:spLocks noChangeArrowheads="1"/>
          </p:cNvSpPr>
          <p:nvPr/>
        </p:nvSpPr>
        <p:spPr bwMode="auto">
          <a:xfrm>
            <a:off x="1230489" y="1139333"/>
            <a:ext cx="4130651"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分页存储管理的基本思想</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zh-CN" altLang="en-US" sz="2000" b="1" dirty="0">
              <a:solidFill>
                <a:srgbClr val="6C0000"/>
              </a:solidFill>
              <a:latin typeface="华文行楷" panose="02010800040101010101" charset="-122"/>
              <a:ea typeface="华文行楷" panose="02010800040101010101" charset="-122"/>
            </a:endParaRPr>
          </a:p>
        </p:txBody>
      </p:sp>
      <p:sp>
        <p:nvSpPr>
          <p:cNvPr id="5" name="矩形 4"/>
          <p:cNvSpPr/>
          <p:nvPr/>
        </p:nvSpPr>
        <p:spPr>
          <a:xfrm>
            <a:off x="1250351" y="1485378"/>
            <a:ext cx="9691297" cy="923330"/>
          </a:xfrm>
          <a:prstGeom prst="rect">
            <a:avLst/>
          </a:prstGeom>
        </p:spPr>
        <p:txBody>
          <a:bodyPr wrap="square">
            <a:spAutoFit/>
          </a:bodyPr>
          <a:lstStyle/>
          <a:p>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分页存储管理将进程的逻辑地址空间分成若干个大小相等的页面（虚页），并为各页加以编号。相应地，也把内存的物理地址空间分成若干个页帧（页框），同样也为他们加以编号。在为进程分配内存空间时，将进程中的若干个虚页分别装入到多个不相邻的页帧中</a:t>
            </a:r>
            <a:r>
              <a:rPr lang="zh-CN" altLang="en-US"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zh-CN" altLang="en-US" b="1" dirty="0">
              <a:latin typeface="等线" panose="02010600030101010101" pitchFamily="2" charset="-122"/>
              <a:ea typeface="等线" panose="02010600030101010101" pitchFamily="2" charset="-122"/>
            </a:endParaRPr>
          </a:p>
        </p:txBody>
      </p:sp>
      <p:sp>
        <p:nvSpPr>
          <p:cNvPr id="6" name="文本框 5"/>
          <p:cNvSpPr txBox="1"/>
          <p:nvPr/>
        </p:nvSpPr>
        <p:spPr>
          <a:xfrm>
            <a:off x="3910366" y="2656164"/>
            <a:ext cx="1605280" cy="337185"/>
          </a:xfrm>
          <a:prstGeom prst="rect">
            <a:avLst/>
          </a:prstGeom>
          <a:noFill/>
        </p:spPr>
        <p:txBody>
          <a:bodyPr wrap="none" rtlCol="0">
            <a:spAutoFit/>
          </a:bodyPr>
          <a:lstStyle/>
          <a:p>
            <a:r>
              <a:rPr lang="zh-CN" sz="1600" b="1">
                <a:solidFill>
                  <a:schemeClr val="bg1"/>
                </a:solidFill>
              </a:rPr>
              <a:t>进程虚地址空间</a:t>
            </a:r>
            <a:endParaRPr lang="zh-CN" sz="1600" b="1">
              <a:solidFill>
                <a:schemeClr val="bg1"/>
              </a:solidFill>
            </a:endParaRPr>
          </a:p>
        </p:txBody>
      </p:sp>
      <p:sp>
        <p:nvSpPr>
          <p:cNvPr id="10" name="矩形 9"/>
          <p:cNvSpPr/>
          <p:nvPr/>
        </p:nvSpPr>
        <p:spPr>
          <a:xfrm>
            <a:off x="4046027" y="3103509"/>
            <a:ext cx="1333728"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0</a:t>
            </a:r>
            <a:endParaRPr lang="zh-CN" altLang="en-US" sz="1600" b="1" dirty="0">
              <a:solidFill>
                <a:schemeClr val="tx1"/>
              </a:solidFill>
            </a:endParaRPr>
          </a:p>
        </p:txBody>
      </p:sp>
      <p:sp>
        <p:nvSpPr>
          <p:cNvPr id="17" name="矩形 16"/>
          <p:cNvSpPr/>
          <p:nvPr/>
        </p:nvSpPr>
        <p:spPr>
          <a:xfrm>
            <a:off x="1355126" y="3088680"/>
            <a:ext cx="1395730" cy="1765935"/>
          </a:xfrm>
          <a:prstGeom prst="rect">
            <a:avLst/>
          </a:prstGeom>
          <a:no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文本框 17"/>
          <p:cNvSpPr txBox="1"/>
          <p:nvPr/>
        </p:nvSpPr>
        <p:spPr>
          <a:xfrm>
            <a:off x="1250351" y="2656164"/>
            <a:ext cx="1605280" cy="337185"/>
          </a:xfrm>
          <a:prstGeom prst="rect">
            <a:avLst/>
          </a:prstGeom>
          <a:noFill/>
        </p:spPr>
        <p:txBody>
          <a:bodyPr wrap="none" rtlCol="0">
            <a:spAutoFit/>
          </a:bodyPr>
          <a:lstStyle/>
          <a:p>
            <a:r>
              <a:rPr lang="zh-CN" sz="1600" b="1">
                <a:solidFill>
                  <a:schemeClr val="bg1"/>
                </a:solidFill>
              </a:rPr>
              <a:t>进程虚地址空间</a:t>
            </a:r>
            <a:endParaRPr lang="zh-CN" sz="1600" b="1">
              <a:solidFill>
                <a:schemeClr val="bg1"/>
              </a:solidFill>
            </a:endParaRPr>
          </a:p>
        </p:txBody>
      </p:sp>
      <p:sp>
        <p:nvSpPr>
          <p:cNvPr id="19" name="右箭头 21"/>
          <p:cNvSpPr/>
          <p:nvPr/>
        </p:nvSpPr>
        <p:spPr>
          <a:xfrm>
            <a:off x="2847376" y="3816390"/>
            <a:ext cx="1066165" cy="164465"/>
          </a:xfrm>
          <a:prstGeom prst="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文本框 19"/>
          <p:cNvSpPr txBox="1"/>
          <p:nvPr/>
        </p:nvSpPr>
        <p:spPr>
          <a:xfrm>
            <a:off x="3105821" y="3380064"/>
            <a:ext cx="589280" cy="337185"/>
          </a:xfrm>
          <a:prstGeom prst="rect">
            <a:avLst/>
          </a:prstGeom>
          <a:noFill/>
        </p:spPr>
        <p:txBody>
          <a:bodyPr wrap="none" rtlCol="0">
            <a:spAutoFit/>
          </a:bodyPr>
          <a:lstStyle/>
          <a:p>
            <a:r>
              <a:rPr lang="zh-CN" sz="1600" b="1" dirty="0"/>
              <a:t>等分</a:t>
            </a:r>
            <a:endParaRPr lang="zh-CN" sz="1600" b="1" dirty="0"/>
          </a:p>
        </p:txBody>
      </p:sp>
      <p:sp>
        <p:nvSpPr>
          <p:cNvPr id="21" name="矩形 20"/>
          <p:cNvSpPr/>
          <p:nvPr/>
        </p:nvSpPr>
        <p:spPr>
          <a:xfrm>
            <a:off x="4046027" y="3552159"/>
            <a:ext cx="1333728"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1</a:t>
            </a:r>
            <a:endParaRPr lang="zh-CN" altLang="en-US" sz="1600" b="1" dirty="0">
              <a:solidFill>
                <a:schemeClr val="tx1"/>
              </a:solidFill>
            </a:endParaRPr>
          </a:p>
        </p:txBody>
      </p:sp>
      <p:sp>
        <p:nvSpPr>
          <p:cNvPr id="22" name="矩形 21"/>
          <p:cNvSpPr/>
          <p:nvPr/>
        </p:nvSpPr>
        <p:spPr>
          <a:xfrm>
            <a:off x="4046027" y="4007469"/>
            <a:ext cx="1335816"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2</a:t>
            </a:r>
            <a:endParaRPr lang="zh-CN" altLang="en-US" sz="1600" b="1" dirty="0">
              <a:solidFill>
                <a:schemeClr val="tx1"/>
              </a:solidFill>
            </a:endParaRPr>
          </a:p>
        </p:txBody>
      </p:sp>
      <p:sp>
        <p:nvSpPr>
          <p:cNvPr id="23" name="矩形 22"/>
          <p:cNvSpPr/>
          <p:nvPr/>
        </p:nvSpPr>
        <p:spPr>
          <a:xfrm>
            <a:off x="4048115" y="4458405"/>
            <a:ext cx="1333728"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3</a:t>
            </a:r>
            <a:endParaRPr lang="zh-CN" altLang="en-US" sz="1600" b="1" dirty="0">
              <a:solidFill>
                <a:schemeClr val="tx1"/>
              </a:solidFill>
            </a:endParaRPr>
          </a:p>
        </p:txBody>
      </p:sp>
      <p:sp>
        <p:nvSpPr>
          <p:cNvPr id="24" name="文本框 23"/>
          <p:cNvSpPr txBox="1"/>
          <p:nvPr/>
        </p:nvSpPr>
        <p:spPr>
          <a:xfrm>
            <a:off x="3930228" y="2667183"/>
            <a:ext cx="1605280" cy="337185"/>
          </a:xfrm>
          <a:prstGeom prst="rect">
            <a:avLst/>
          </a:prstGeom>
          <a:noFill/>
        </p:spPr>
        <p:txBody>
          <a:bodyPr wrap="none" rtlCol="0">
            <a:spAutoFit/>
          </a:bodyPr>
          <a:lstStyle/>
          <a:p>
            <a:r>
              <a:rPr lang="zh-CN" sz="1600" b="1" dirty="0"/>
              <a:t>进程虚地址空间</a:t>
            </a:r>
            <a:endParaRPr lang="zh-CN" sz="1600" b="1" dirty="0"/>
          </a:p>
        </p:txBody>
      </p:sp>
      <p:sp>
        <p:nvSpPr>
          <p:cNvPr id="25" name="文本框 24"/>
          <p:cNvSpPr txBox="1"/>
          <p:nvPr/>
        </p:nvSpPr>
        <p:spPr>
          <a:xfrm>
            <a:off x="1270213" y="2667183"/>
            <a:ext cx="1605280" cy="337185"/>
          </a:xfrm>
          <a:prstGeom prst="rect">
            <a:avLst/>
          </a:prstGeom>
          <a:noFill/>
        </p:spPr>
        <p:txBody>
          <a:bodyPr wrap="none" rtlCol="0">
            <a:spAutoFit/>
          </a:bodyPr>
          <a:lstStyle/>
          <a:p>
            <a:r>
              <a:rPr lang="zh-CN" sz="1600" b="1"/>
              <a:t>进程虚地址空间</a:t>
            </a:r>
            <a:endParaRPr lang="zh-CN" sz="1600" b="1"/>
          </a:p>
        </p:txBody>
      </p:sp>
      <p:sp>
        <p:nvSpPr>
          <p:cNvPr id="28" name="文本框 27"/>
          <p:cNvSpPr txBox="1"/>
          <p:nvPr/>
        </p:nvSpPr>
        <p:spPr>
          <a:xfrm>
            <a:off x="8799985" y="2408708"/>
            <a:ext cx="646331" cy="369332"/>
          </a:xfrm>
          <a:prstGeom prst="rect">
            <a:avLst/>
          </a:prstGeom>
          <a:noFill/>
        </p:spPr>
        <p:txBody>
          <a:bodyPr wrap="none" rtlCol="0">
            <a:spAutoFit/>
          </a:bodyPr>
          <a:lstStyle/>
          <a:p>
            <a:r>
              <a:rPr lang="zh-CN" altLang="en-US" dirty="0">
                <a:latin typeface="方正粗黑宋简体" panose="02000000000000000000" pitchFamily="2" charset="-122"/>
                <a:ea typeface="方正粗黑宋简体" panose="02000000000000000000" pitchFamily="2" charset="-122"/>
              </a:rPr>
              <a:t>内存</a:t>
            </a:r>
            <a:endParaRPr lang="zh-CN" altLang="en-US" dirty="0">
              <a:latin typeface="方正粗黑宋简体" panose="02000000000000000000" pitchFamily="2" charset="-122"/>
              <a:ea typeface="方正粗黑宋简体" panose="02000000000000000000" pitchFamily="2" charset="-122"/>
            </a:endParaRPr>
          </a:p>
        </p:txBody>
      </p:sp>
      <p:sp>
        <p:nvSpPr>
          <p:cNvPr id="29" name="矩形 28"/>
          <p:cNvSpPr/>
          <p:nvPr/>
        </p:nvSpPr>
        <p:spPr>
          <a:xfrm>
            <a:off x="8491432" y="2818191"/>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400" b="1" dirty="0">
              <a:solidFill>
                <a:schemeClr val="tx1"/>
              </a:solidFill>
            </a:endParaRPr>
          </a:p>
        </p:txBody>
      </p:sp>
      <p:sp>
        <p:nvSpPr>
          <p:cNvPr id="31" name="矩形 30"/>
          <p:cNvSpPr/>
          <p:nvPr/>
        </p:nvSpPr>
        <p:spPr>
          <a:xfrm>
            <a:off x="8495472" y="3165446"/>
            <a:ext cx="1325879" cy="35031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sym typeface="+mn-ea"/>
              </a:rPr>
              <a:t>页面</a:t>
            </a:r>
            <a:r>
              <a:rPr lang="en-US" altLang="zh-CN" sz="1400" b="1" dirty="0">
                <a:solidFill>
                  <a:schemeClr val="tx1"/>
                </a:solidFill>
                <a:sym typeface="+mn-ea"/>
              </a:rPr>
              <a:t>0</a:t>
            </a:r>
            <a:endParaRPr lang="zh-CN" altLang="en-US" sz="1400" b="1" dirty="0">
              <a:solidFill>
                <a:schemeClr val="tx1"/>
              </a:solidFill>
            </a:endParaRPr>
          </a:p>
        </p:txBody>
      </p:sp>
      <p:sp>
        <p:nvSpPr>
          <p:cNvPr id="32" name="矩形 31"/>
          <p:cNvSpPr/>
          <p:nvPr/>
        </p:nvSpPr>
        <p:spPr>
          <a:xfrm>
            <a:off x="8491432" y="3518823"/>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33" name="矩形 32"/>
          <p:cNvSpPr/>
          <p:nvPr/>
        </p:nvSpPr>
        <p:spPr>
          <a:xfrm>
            <a:off x="8491432" y="3858415"/>
            <a:ext cx="1325879" cy="35031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页面</a:t>
            </a:r>
            <a:r>
              <a:rPr lang="en-US" altLang="zh-CN" sz="1400" b="1" dirty="0">
                <a:solidFill>
                  <a:schemeClr val="tx1"/>
                </a:solidFill>
              </a:rPr>
              <a:t>1</a:t>
            </a:r>
            <a:endParaRPr lang="zh-CN" altLang="en-US" sz="1400" b="1" dirty="0">
              <a:solidFill>
                <a:schemeClr val="tx1"/>
              </a:solidFill>
            </a:endParaRPr>
          </a:p>
        </p:txBody>
      </p:sp>
      <p:sp>
        <p:nvSpPr>
          <p:cNvPr id="34" name="矩形 33"/>
          <p:cNvSpPr/>
          <p:nvPr/>
        </p:nvSpPr>
        <p:spPr>
          <a:xfrm>
            <a:off x="8491432" y="4208731"/>
            <a:ext cx="1325879" cy="35031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页面</a:t>
            </a:r>
            <a:r>
              <a:rPr lang="en-US" altLang="zh-CN" sz="1400" b="1" dirty="0">
                <a:solidFill>
                  <a:schemeClr val="tx1"/>
                </a:solidFill>
              </a:rPr>
              <a:t>2</a:t>
            </a:r>
            <a:endParaRPr lang="zh-CN" altLang="en-US" sz="1400" b="1" dirty="0">
              <a:solidFill>
                <a:schemeClr val="tx1"/>
              </a:solidFill>
            </a:endParaRPr>
          </a:p>
        </p:txBody>
      </p:sp>
      <p:sp>
        <p:nvSpPr>
          <p:cNvPr id="35" name="矩形 34"/>
          <p:cNvSpPr/>
          <p:nvPr/>
        </p:nvSpPr>
        <p:spPr>
          <a:xfrm>
            <a:off x="8491432" y="4559047"/>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36" name="矩形 35"/>
          <p:cNvSpPr/>
          <p:nvPr/>
        </p:nvSpPr>
        <p:spPr>
          <a:xfrm>
            <a:off x="8491432" y="4904048"/>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37" name="矩形 36"/>
          <p:cNvSpPr/>
          <p:nvPr/>
        </p:nvSpPr>
        <p:spPr>
          <a:xfrm>
            <a:off x="8491431" y="5217850"/>
            <a:ext cx="1325879" cy="35031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页面</a:t>
            </a:r>
            <a:r>
              <a:rPr lang="en-US" altLang="zh-CN" sz="1400" b="1" dirty="0">
                <a:solidFill>
                  <a:schemeClr val="tx1"/>
                </a:solidFill>
              </a:rPr>
              <a:t>3</a:t>
            </a:r>
            <a:endParaRPr lang="zh-CN" altLang="en-US" sz="1400" b="1" dirty="0">
              <a:solidFill>
                <a:schemeClr val="tx1"/>
              </a:solidFill>
            </a:endParaRPr>
          </a:p>
        </p:txBody>
      </p:sp>
      <p:sp>
        <p:nvSpPr>
          <p:cNvPr id="2" name="文本框 1"/>
          <p:cNvSpPr txBox="1"/>
          <p:nvPr/>
        </p:nvSpPr>
        <p:spPr>
          <a:xfrm>
            <a:off x="8132567" y="2835775"/>
            <a:ext cx="298480" cy="338554"/>
          </a:xfrm>
          <a:prstGeom prst="rect">
            <a:avLst/>
          </a:prstGeom>
          <a:noFill/>
        </p:spPr>
        <p:txBody>
          <a:bodyPr wrap="none" rtlCol="0">
            <a:spAutoFit/>
          </a:bodyPr>
          <a:lstStyle/>
          <a:p>
            <a:r>
              <a:rPr lang="en-US" altLang="zh-CN" sz="1600" b="1" dirty="0"/>
              <a:t>0</a:t>
            </a:r>
            <a:endParaRPr lang="zh-CN" sz="1600" b="1" dirty="0"/>
          </a:p>
        </p:txBody>
      </p:sp>
      <p:sp>
        <p:nvSpPr>
          <p:cNvPr id="4" name="文本框 3"/>
          <p:cNvSpPr txBox="1"/>
          <p:nvPr/>
        </p:nvSpPr>
        <p:spPr>
          <a:xfrm>
            <a:off x="8145093" y="3168156"/>
            <a:ext cx="298480" cy="338554"/>
          </a:xfrm>
          <a:prstGeom prst="rect">
            <a:avLst/>
          </a:prstGeom>
          <a:noFill/>
        </p:spPr>
        <p:txBody>
          <a:bodyPr wrap="none" rtlCol="0">
            <a:spAutoFit/>
          </a:bodyPr>
          <a:lstStyle/>
          <a:p>
            <a:r>
              <a:rPr lang="en-US" altLang="zh-CN" sz="1600" b="1" dirty="0"/>
              <a:t>1</a:t>
            </a:r>
            <a:endParaRPr lang="zh-CN" sz="1600" b="1" dirty="0"/>
          </a:p>
        </p:txBody>
      </p:sp>
      <p:sp>
        <p:nvSpPr>
          <p:cNvPr id="7" name="文本框 1"/>
          <p:cNvSpPr txBox="1"/>
          <p:nvPr/>
        </p:nvSpPr>
        <p:spPr>
          <a:xfrm>
            <a:off x="8150234" y="3560068"/>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2</a:t>
            </a:r>
            <a:endParaRPr lang="zh-CN" sz="1600" b="1" dirty="0"/>
          </a:p>
        </p:txBody>
      </p:sp>
      <p:sp>
        <p:nvSpPr>
          <p:cNvPr id="9" name="文本框 1"/>
          <p:cNvSpPr txBox="1"/>
          <p:nvPr/>
        </p:nvSpPr>
        <p:spPr>
          <a:xfrm>
            <a:off x="8150234" y="3917223"/>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3</a:t>
            </a:r>
            <a:endParaRPr lang="zh-CN" sz="1600" b="1" dirty="0"/>
          </a:p>
        </p:txBody>
      </p:sp>
      <p:sp>
        <p:nvSpPr>
          <p:cNvPr id="11" name="文本框 1"/>
          <p:cNvSpPr txBox="1"/>
          <p:nvPr/>
        </p:nvSpPr>
        <p:spPr>
          <a:xfrm>
            <a:off x="8150234" y="4263506"/>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4</a:t>
            </a:r>
            <a:endParaRPr lang="zh-CN" sz="1600" b="1" dirty="0"/>
          </a:p>
        </p:txBody>
      </p:sp>
      <p:sp>
        <p:nvSpPr>
          <p:cNvPr id="14" name="文本框 1"/>
          <p:cNvSpPr txBox="1"/>
          <p:nvPr/>
        </p:nvSpPr>
        <p:spPr>
          <a:xfrm>
            <a:off x="8151266" y="4602060"/>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5</a:t>
            </a:r>
            <a:endParaRPr lang="zh-CN" sz="1600" b="1" dirty="0"/>
          </a:p>
        </p:txBody>
      </p:sp>
      <p:sp>
        <p:nvSpPr>
          <p:cNvPr id="15" name="文本框 1"/>
          <p:cNvSpPr txBox="1"/>
          <p:nvPr/>
        </p:nvSpPr>
        <p:spPr>
          <a:xfrm>
            <a:off x="8150234" y="4966944"/>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6</a:t>
            </a:r>
            <a:endParaRPr lang="zh-CN" sz="1600" b="1" dirty="0"/>
          </a:p>
        </p:txBody>
      </p:sp>
      <p:sp>
        <p:nvSpPr>
          <p:cNvPr id="39" name="文本框 1"/>
          <p:cNvSpPr txBox="1"/>
          <p:nvPr/>
        </p:nvSpPr>
        <p:spPr>
          <a:xfrm>
            <a:off x="8159067" y="5287145"/>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7</a:t>
            </a:r>
            <a:endParaRPr lang="zh-CN" sz="1600" b="1"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TextBox 1"/>
          <p:cNvSpPr txBox="1">
            <a:spLocks noChangeArrowheads="1"/>
          </p:cNvSpPr>
          <p:nvPr/>
        </p:nvSpPr>
        <p:spPr bwMode="auto">
          <a:xfrm>
            <a:off x="1230489" y="1139333"/>
            <a:ext cx="4130651"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分页存储管理的基本思想</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zh-CN" altLang="en-US" sz="2000" b="1" dirty="0">
              <a:solidFill>
                <a:srgbClr val="6C0000"/>
              </a:solidFill>
              <a:latin typeface="华文行楷" panose="02010800040101010101" charset="-122"/>
              <a:ea typeface="华文行楷" panose="02010800040101010101" charset="-122"/>
            </a:endParaRPr>
          </a:p>
        </p:txBody>
      </p:sp>
      <p:sp>
        <p:nvSpPr>
          <p:cNvPr id="5" name="矩形 4"/>
          <p:cNvSpPr/>
          <p:nvPr/>
        </p:nvSpPr>
        <p:spPr>
          <a:xfrm>
            <a:off x="1250351" y="1723373"/>
            <a:ext cx="9691297" cy="369332"/>
          </a:xfrm>
          <a:prstGeom prst="rect">
            <a:avLst/>
          </a:prstGeom>
        </p:spPr>
        <p:txBody>
          <a:bodyPr wrap="square">
            <a:spAutoFit/>
          </a:bodyPr>
          <a:lstStyle/>
          <a:p>
            <a:r>
              <a:rPr lang="zh-CN" altLang="en-US"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通过页表，实现了虚拟地址到物理地址之间的映射</a:t>
            </a:r>
            <a:endParaRPr lang="zh-CN" altLang="en-US" b="1" dirty="0">
              <a:latin typeface="等线" panose="02010600030101010101" pitchFamily="2" charset="-122"/>
              <a:ea typeface="等线" panose="02010600030101010101" pitchFamily="2" charset="-122"/>
            </a:endParaRPr>
          </a:p>
        </p:txBody>
      </p:sp>
      <p:sp>
        <p:nvSpPr>
          <p:cNvPr id="26" name="文本框 25"/>
          <p:cNvSpPr txBox="1"/>
          <p:nvPr/>
        </p:nvSpPr>
        <p:spPr>
          <a:xfrm>
            <a:off x="3910366" y="2656164"/>
            <a:ext cx="1605280" cy="337185"/>
          </a:xfrm>
          <a:prstGeom prst="rect">
            <a:avLst/>
          </a:prstGeom>
          <a:noFill/>
        </p:spPr>
        <p:txBody>
          <a:bodyPr wrap="none" rtlCol="0">
            <a:spAutoFit/>
          </a:bodyPr>
          <a:lstStyle/>
          <a:p>
            <a:r>
              <a:rPr lang="zh-CN" sz="1600" b="1">
                <a:solidFill>
                  <a:schemeClr val="bg1"/>
                </a:solidFill>
              </a:rPr>
              <a:t>进程虚地址空间</a:t>
            </a:r>
            <a:endParaRPr lang="zh-CN" sz="1600" b="1">
              <a:solidFill>
                <a:schemeClr val="bg1"/>
              </a:solidFill>
            </a:endParaRPr>
          </a:p>
        </p:txBody>
      </p:sp>
      <p:sp>
        <p:nvSpPr>
          <p:cNvPr id="27" name="矩形 26"/>
          <p:cNvSpPr/>
          <p:nvPr/>
        </p:nvSpPr>
        <p:spPr>
          <a:xfrm>
            <a:off x="4046027" y="3103509"/>
            <a:ext cx="1333728"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0</a:t>
            </a:r>
            <a:endParaRPr lang="zh-CN" altLang="en-US" sz="1600" b="1" dirty="0">
              <a:solidFill>
                <a:schemeClr val="tx1"/>
              </a:solidFill>
            </a:endParaRPr>
          </a:p>
        </p:txBody>
      </p:sp>
      <p:sp>
        <p:nvSpPr>
          <p:cNvPr id="30" name="矩形 29"/>
          <p:cNvSpPr/>
          <p:nvPr/>
        </p:nvSpPr>
        <p:spPr>
          <a:xfrm>
            <a:off x="1355126" y="3088680"/>
            <a:ext cx="1395730" cy="1765935"/>
          </a:xfrm>
          <a:prstGeom prst="rect">
            <a:avLst/>
          </a:prstGeom>
          <a:no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8" name="文本框 37"/>
          <p:cNvSpPr txBox="1"/>
          <p:nvPr/>
        </p:nvSpPr>
        <p:spPr>
          <a:xfrm>
            <a:off x="1250351" y="2656164"/>
            <a:ext cx="1605280" cy="337185"/>
          </a:xfrm>
          <a:prstGeom prst="rect">
            <a:avLst/>
          </a:prstGeom>
          <a:noFill/>
        </p:spPr>
        <p:txBody>
          <a:bodyPr wrap="none" rtlCol="0">
            <a:spAutoFit/>
          </a:bodyPr>
          <a:lstStyle/>
          <a:p>
            <a:r>
              <a:rPr lang="zh-CN" sz="1600" b="1">
                <a:solidFill>
                  <a:schemeClr val="bg1"/>
                </a:solidFill>
              </a:rPr>
              <a:t>进程虚地址空间</a:t>
            </a:r>
            <a:endParaRPr lang="zh-CN" sz="1600" b="1">
              <a:solidFill>
                <a:schemeClr val="bg1"/>
              </a:solidFill>
            </a:endParaRPr>
          </a:p>
        </p:txBody>
      </p:sp>
      <p:sp>
        <p:nvSpPr>
          <p:cNvPr id="40" name="右箭头 21"/>
          <p:cNvSpPr/>
          <p:nvPr/>
        </p:nvSpPr>
        <p:spPr>
          <a:xfrm>
            <a:off x="2847376" y="3816390"/>
            <a:ext cx="1066165" cy="164465"/>
          </a:xfrm>
          <a:prstGeom prst="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文本框 40"/>
          <p:cNvSpPr txBox="1"/>
          <p:nvPr/>
        </p:nvSpPr>
        <p:spPr>
          <a:xfrm>
            <a:off x="3105821" y="3380064"/>
            <a:ext cx="589280" cy="337185"/>
          </a:xfrm>
          <a:prstGeom prst="rect">
            <a:avLst/>
          </a:prstGeom>
          <a:noFill/>
        </p:spPr>
        <p:txBody>
          <a:bodyPr wrap="none" rtlCol="0">
            <a:spAutoFit/>
          </a:bodyPr>
          <a:lstStyle/>
          <a:p>
            <a:r>
              <a:rPr lang="zh-CN" sz="1600" b="1" dirty="0"/>
              <a:t>等分</a:t>
            </a:r>
            <a:endParaRPr lang="zh-CN" sz="1600" b="1" dirty="0"/>
          </a:p>
        </p:txBody>
      </p:sp>
      <p:sp>
        <p:nvSpPr>
          <p:cNvPr id="42" name="矩形 41"/>
          <p:cNvSpPr/>
          <p:nvPr/>
        </p:nvSpPr>
        <p:spPr>
          <a:xfrm>
            <a:off x="4046027" y="3552159"/>
            <a:ext cx="1333728"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1</a:t>
            </a:r>
            <a:endParaRPr lang="zh-CN" altLang="en-US" sz="1600" b="1" dirty="0">
              <a:solidFill>
                <a:schemeClr val="tx1"/>
              </a:solidFill>
            </a:endParaRPr>
          </a:p>
        </p:txBody>
      </p:sp>
      <p:sp>
        <p:nvSpPr>
          <p:cNvPr id="43" name="矩形 42"/>
          <p:cNvSpPr/>
          <p:nvPr/>
        </p:nvSpPr>
        <p:spPr>
          <a:xfrm>
            <a:off x="4046027" y="4007469"/>
            <a:ext cx="1335816"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2</a:t>
            </a:r>
            <a:endParaRPr lang="zh-CN" altLang="en-US" sz="1600" b="1" dirty="0">
              <a:solidFill>
                <a:schemeClr val="tx1"/>
              </a:solidFill>
            </a:endParaRPr>
          </a:p>
        </p:txBody>
      </p:sp>
      <p:sp>
        <p:nvSpPr>
          <p:cNvPr id="44" name="矩形 43"/>
          <p:cNvSpPr/>
          <p:nvPr/>
        </p:nvSpPr>
        <p:spPr>
          <a:xfrm>
            <a:off x="4048115" y="4458405"/>
            <a:ext cx="1333728"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3</a:t>
            </a:r>
            <a:endParaRPr lang="zh-CN" altLang="en-US" sz="1600" b="1" dirty="0">
              <a:solidFill>
                <a:schemeClr val="tx1"/>
              </a:solidFill>
            </a:endParaRPr>
          </a:p>
        </p:txBody>
      </p:sp>
      <p:sp>
        <p:nvSpPr>
          <p:cNvPr id="45" name="文本框 44"/>
          <p:cNvSpPr txBox="1"/>
          <p:nvPr/>
        </p:nvSpPr>
        <p:spPr>
          <a:xfrm>
            <a:off x="3930228" y="2667183"/>
            <a:ext cx="1605280" cy="337185"/>
          </a:xfrm>
          <a:prstGeom prst="rect">
            <a:avLst/>
          </a:prstGeom>
          <a:noFill/>
        </p:spPr>
        <p:txBody>
          <a:bodyPr wrap="none" rtlCol="0">
            <a:spAutoFit/>
          </a:bodyPr>
          <a:lstStyle/>
          <a:p>
            <a:r>
              <a:rPr lang="zh-CN" sz="1600" b="1" dirty="0"/>
              <a:t>进程虚地址空间</a:t>
            </a:r>
            <a:endParaRPr lang="zh-CN" sz="1600" b="1" dirty="0"/>
          </a:p>
        </p:txBody>
      </p:sp>
      <p:sp>
        <p:nvSpPr>
          <p:cNvPr id="46" name="文本框 45"/>
          <p:cNvSpPr txBox="1"/>
          <p:nvPr/>
        </p:nvSpPr>
        <p:spPr>
          <a:xfrm>
            <a:off x="1270213" y="2667183"/>
            <a:ext cx="1605280" cy="337185"/>
          </a:xfrm>
          <a:prstGeom prst="rect">
            <a:avLst/>
          </a:prstGeom>
          <a:noFill/>
        </p:spPr>
        <p:txBody>
          <a:bodyPr wrap="none" rtlCol="0">
            <a:spAutoFit/>
          </a:bodyPr>
          <a:lstStyle/>
          <a:p>
            <a:r>
              <a:rPr lang="zh-CN" sz="1600" b="1"/>
              <a:t>进程虚地址空间</a:t>
            </a:r>
            <a:endParaRPr lang="zh-CN" sz="1600" b="1"/>
          </a:p>
        </p:txBody>
      </p:sp>
      <p:sp>
        <p:nvSpPr>
          <p:cNvPr id="47" name="文本框 46"/>
          <p:cNvSpPr txBox="1"/>
          <p:nvPr/>
        </p:nvSpPr>
        <p:spPr>
          <a:xfrm>
            <a:off x="8799985" y="2408708"/>
            <a:ext cx="646331" cy="369332"/>
          </a:xfrm>
          <a:prstGeom prst="rect">
            <a:avLst/>
          </a:prstGeom>
          <a:noFill/>
        </p:spPr>
        <p:txBody>
          <a:bodyPr wrap="none" rtlCol="0">
            <a:spAutoFit/>
          </a:bodyPr>
          <a:lstStyle/>
          <a:p>
            <a:r>
              <a:rPr lang="zh-CN" altLang="en-US" dirty="0">
                <a:latin typeface="方正粗黑宋简体" panose="02000000000000000000" pitchFamily="2" charset="-122"/>
                <a:ea typeface="方正粗黑宋简体" panose="02000000000000000000" pitchFamily="2" charset="-122"/>
              </a:rPr>
              <a:t>内存</a:t>
            </a:r>
            <a:endParaRPr lang="zh-CN" altLang="en-US" dirty="0">
              <a:latin typeface="方正粗黑宋简体" panose="02000000000000000000" pitchFamily="2" charset="-122"/>
              <a:ea typeface="方正粗黑宋简体" panose="02000000000000000000" pitchFamily="2" charset="-122"/>
            </a:endParaRPr>
          </a:p>
        </p:txBody>
      </p:sp>
      <p:sp>
        <p:nvSpPr>
          <p:cNvPr id="48" name="矩形 47"/>
          <p:cNvSpPr/>
          <p:nvPr/>
        </p:nvSpPr>
        <p:spPr>
          <a:xfrm>
            <a:off x="8491432" y="2818191"/>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400" b="1" dirty="0">
              <a:solidFill>
                <a:schemeClr val="tx1"/>
              </a:solidFill>
            </a:endParaRPr>
          </a:p>
        </p:txBody>
      </p:sp>
      <p:sp>
        <p:nvSpPr>
          <p:cNvPr id="49" name="矩形 48"/>
          <p:cNvSpPr/>
          <p:nvPr/>
        </p:nvSpPr>
        <p:spPr>
          <a:xfrm>
            <a:off x="8495472" y="3165446"/>
            <a:ext cx="1325879" cy="35031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sym typeface="+mn-ea"/>
              </a:rPr>
              <a:t>页面</a:t>
            </a:r>
            <a:r>
              <a:rPr lang="en-US" altLang="zh-CN" sz="1400" b="1" dirty="0">
                <a:solidFill>
                  <a:schemeClr val="tx1"/>
                </a:solidFill>
                <a:sym typeface="+mn-ea"/>
              </a:rPr>
              <a:t>0</a:t>
            </a:r>
            <a:endParaRPr lang="zh-CN" altLang="en-US" sz="1400" b="1" dirty="0">
              <a:solidFill>
                <a:schemeClr val="tx1"/>
              </a:solidFill>
            </a:endParaRPr>
          </a:p>
        </p:txBody>
      </p:sp>
      <p:sp>
        <p:nvSpPr>
          <p:cNvPr id="50" name="矩形 49"/>
          <p:cNvSpPr/>
          <p:nvPr/>
        </p:nvSpPr>
        <p:spPr>
          <a:xfrm>
            <a:off x="8491432" y="3518823"/>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51" name="矩形 50"/>
          <p:cNvSpPr/>
          <p:nvPr/>
        </p:nvSpPr>
        <p:spPr>
          <a:xfrm>
            <a:off x="8491432" y="3858415"/>
            <a:ext cx="1325879" cy="35031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页面</a:t>
            </a:r>
            <a:r>
              <a:rPr lang="en-US" altLang="zh-CN" sz="1400" b="1" dirty="0">
                <a:solidFill>
                  <a:schemeClr val="tx1"/>
                </a:solidFill>
              </a:rPr>
              <a:t>1</a:t>
            </a:r>
            <a:endParaRPr lang="zh-CN" altLang="en-US" sz="1400" b="1" dirty="0">
              <a:solidFill>
                <a:schemeClr val="tx1"/>
              </a:solidFill>
            </a:endParaRPr>
          </a:p>
        </p:txBody>
      </p:sp>
      <p:sp>
        <p:nvSpPr>
          <p:cNvPr id="52" name="矩形 51"/>
          <p:cNvSpPr/>
          <p:nvPr/>
        </p:nvSpPr>
        <p:spPr>
          <a:xfrm>
            <a:off x="8491432" y="4208731"/>
            <a:ext cx="1325879" cy="35031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页面</a:t>
            </a:r>
            <a:r>
              <a:rPr lang="en-US" altLang="zh-CN" sz="1400" b="1" dirty="0">
                <a:solidFill>
                  <a:schemeClr val="tx1"/>
                </a:solidFill>
              </a:rPr>
              <a:t>2</a:t>
            </a:r>
            <a:endParaRPr lang="zh-CN" altLang="en-US" sz="1400" b="1" dirty="0">
              <a:solidFill>
                <a:schemeClr val="tx1"/>
              </a:solidFill>
            </a:endParaRPr>
          </a:p>
        </p:txBody>
      </p:sp>
      <p:sp>
        <p:nvSpPr>
          <p:cNvPr id="53" name="矩形 52"/>
          <p:cNvSpPr/>
          <p:nvPr/>
        </p:nvSpPr>
        <p:spPr>
          <a:xfrm>
            <a:off x="8491432" y="4559047"/>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54" name="矩形 53"/>
          <p:cNvSpPr/>
          <p:nvPr/>
        </p:nvSpPr>
        <p:spPr>
          <a:xfrm>
            <a:off x="8491432" y="4904048"/>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55" name="矩形 54"/>
          <p:cNvSpPr/>
          <p:nvPr/>
        </p:nvSpPr>
        <p:spPr>
          <a:xfrm>
            <a:off x="8491431" y="5217850"/>
            <a:ext cx="1325879" cy="35031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页面</a:t>
            </a:r>
            <a:r>
              <a:rPr lang="en-US" altLang="zh-CN" sz="1400" b="1" dirty="0">
                <a:solidFill>
                  <a:schemeClr val="tx1"/>
                </a:solidFill>
              </a:rPr>
              <a:t>3</a:t>
            </a:r>
            <a:endParaRPr lang="zh-CN" altLang="en-US" sz="1400" b="1" dirty="0">
              <a:solidFill>
                <a:schemeClr val="tx1"/>
              </a:solidFill>
            </a:endParaRPr>
          </a:p>
        </p:txBody>
      </p:sp>
      <p:sp>
        <p:nvSpPr>
          <p:cNvPr id="56" name="文本框 55"/>
          <p:cNvSpPr txBox="1"/>
          <p:nvPr/>
        </p:nvSpPr>
        <p:spPr>
          <a:xfrm>
            <a:off x="8132567" y="2835775"/>
            <a:ext cx="298480" cy="338554"/>
          </a:xfrm>
          <a:prstGeom prst="rect">
            <a:avLst/>
          </a:prstGeom>
          <a:noFill/>
        </p:spPr>
        <p:txBody>
          <a:bodyPr wrap="none" rtlCol="0">
            <a:spAutoFit/>
          </a:bodyPr>
          <a:lstStyle/>
          <a:p>
            <a:r>
              <a:rPr lang="en-US" altLang="zh-CN" sz="1600" b="1" dirty="0"/>
              <a:t>0</a:t>
            </a:r>
            <a:endParaRPr lang="zh-CN" sz="1600" b="1" dirty="0"/>
          </a:p>
        </p:txBody>
      </p:sp>
      <p:sp>
        <p:nvSpPr>
          <p:cNvPr id="57" name="文本框 56"/>
          <p:cNvSpPr txBox="1"/>
          <p:nvPr/>
        </p:nvSpPr>
        <p:spPr>
          <a:xfrm>
            <a:off x="8145093" y="3168156"/>
            <a:ext cx="298480" cy="338554"/>
          </a:xfrm>
          <a:prstGeom prst="rect">
            <a:avLst/>
          </a:prstGeom>
          <a:noFill/>
        </p:spPr>
        <p:txBody>
          <a:bodyPr wrap="none" rtlCol="0">
            <a:spAutoFit/>
          </a:bodyPr>
          <a:lstStyle/>
          <a:p>
            <a:r>
              <a:rPr lang="en-US" altLang="zh-CN" sz="1600" b="1" dirty="0"/>
              <a:t>1</a:t>
            </a:r>
            <a:endParaRPr lang="zh-CN" sz="1600" b="1" dirty="0"/>
          </a:p>
        </p:txBody>
      </p:sp>
      <p:sp>
        <p:nvSpPr>
          <p:cNvPr id="58" name="文本框 1"/>
          <p:cNvSpPr txBox="1"/>
          <p:nvPr/>
        </p:nvSpPr>
        <p:spPr>
          <a:xfrm>
            <a:off x="8150234" y="3560068"/>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2</a:t>
            </a:r>
            <a:endParaRPr lang="zh-CN" sz="1600" b="1" dirty="0"/>
          </a:p>
        </p:txBody>
      </p:sp>
      <p:sp>
        <p:nvSpPr>
          <p:cNvPr id="59" name="文本框 1"/>
          <p:cNvSpPr txBox="1"/>
          <p:nvPr/>
        </p:nvSpPr>
        <p:spPr>
          <a:xfrm>
            <a:off x="8150234" y="3917223"/>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3</a:t>
            </a:r>
            <a:endParaRPr lang="zh-CN" sz="1600" b="1" dirty="0"/>
          </a:p>
        </p:txBody>
      </p:sp>
      <p:sp>
        <p:nvSpPr>
          <p:cNvPr id="60" name="文本框 1"/>
          <p:cNvSpPr txBox="1"/>
          <p:nvPr/>
        </p:nvSpPr>
        <p:spPr>
          <a:xfrm>
            <a:off x="8150234" y="4263506"/>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4</a:t>
            </a:r>
            <a:endParaRPr lang="zh-CN" sz="1600" b="1" dirty="0"/>
          </a:p>
        </p:txBody>
      </p:sp>
      <p:sp>
        <p:nvSpPr>
          <p:cNvPr id="61" name="文本框 1"/>
          <p:cNvSpPr txBox="1"/>
          <p:nvPr/>
        </p:nvSpPr>
        <p:spPr>
          <a:xfrm>
            <a:off x="8151266" y="4602060"/>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5</a:t>
            </a:r>
            <a:endParaRPr lang="zh-CN" sz="1600" b="1" dirty="0"/>
          </a:p>
        </p:txBody>
      </p:sp>
      <p:sp>
        <p:nvSpPr>
          <p:cNvPr id="62" name="文本框 1"/>
          <p:cNvSpPr txBox="1"/>
          <p:nvPr/>
        </p:nvSpPr>
        <p:spPr>
          <a:xfrm>
            <a:off x="8150234" y="4966944"/>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6</a:t>
            </a:r>
            <a:endParaRPr lang="zh-CN" sz="1600" b="1" dirty="0"/>
          </a:p>
        </p:txBody>
      </p:sp>
      <p:sp>
        <p:nvSpPr>
          <p:cNvPr id="63" name="文本框 1"/>
          <p:cNvSpPr txBox="1"/>
          <p:nvPr/>
        </p:nvSpPr>
        <p:spPr>
          <a:xfrm>
            <a:off x="8159067" y="5287145"/>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7</a:t>
            </a:r>
            <a:endParaRPr lang="zh-CN" sz="1600" b="1" dirty="0"/>
          </a:p>
        </p:txBody>
      </p:sp>
      <p:grpSp>
        <p:nvGrpSpPr>
          <p:cNvPr id="64" name="组合 63"/>
          <p:cNvGrpSpPr/>
          <p:nvPr/>
        </p:nvGrpSpPr>
        <p:grpSpPr>
          <a:xfrm>
            <a:off x="6449339" y="3104630"/>
            <a:ext cx="893445" cy="1390650"/>
            <a:chOff x="9198" y="3904"/>
            <a:chExt cx="2094" cy="2190"/>
          </a:xfrm>
          <a:noFill/>
        </p:grpSpPr>
        <p:sp>
          <p:nvSpPr>
            <p:cNvPr id="65" name="矩形 64"/>
            <p:cNvSpPr/>
            <p:nvPr/>
          </p:nvSpPr>
          <p:spPr>
            <a:xfrm>
              <a:off x="9198" y="3904"/>
              <a:ext cx="2088" cy="55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chemeClr val="tx1"/>
                  </a:solidFill>
                </a:rPr>
                <a:t>1</a:t>
              </a:r>
              <a:endParaRPr lang="en-US" altLang="zh-CN" sz="1600" b="1">
                <a:solidFill>
                  <a:schemeClr val="tx1"/>
                </a:solidFill>
              </a:endParaRPr>
            </a:p>
          </p:txBody>
        </p:sp>
        <p:sp>
          <p:nvSpPr>
            <p:cNvPr id="67" name="矩形 66"/>
            <p:cNvSpPr/>
            <p:nvPr/>
          </p:nvSpPr>
          <p:spPr>
            <a:xfrm>
              <a:off x="9204" y="4470"/>
              <a:ext cx="2088" cy="55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tx1"/>
                  </a:solidFill>
                  <a:sym typeface="+mn-ea"/>
                </a:rPr>
                <a:t>3</a:t>
              </a:r>
              <a:endParaRPr lang="zh-CN" altLang="en-US" sz="1600" b="1" dirty="0">
                <a:solidFill>
                  <a:schemeClr val="tx1"/>
                </a:solidFill>
              </a:endParaRPr>
            </a:p>
          </p:txBody>
        </p:sp>
        <p:sp>
          <p:nvSpPr>
            <p:cNvPr id="68" name="矩形 67"/>
            <p:cNvSpPr/>
            <p:nvPr/>
          </p:nvSpPr>
          <p:spPr>
            <a:xfrm>
              <a:off x="9198" y="5007"/>
              <a:ext cx="2088" cy="55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chemeClr val="tx1"/>
                  </a:solidFill>
                  <a:sym typeface="+mn-ea"/>
                </a:rPr>
                <a:t>4</a:t>
              </a:r>
              <a:endParaRPr lang="zh-CN" altLang="en-US" sz="1600" b="1">
                <a:solidFill>
                  <a:schemeClr val="tx1"/>
                </a:solidFill>
              </a:endParaRPr>
            </a:p>
          </p:txBody>
        </p:sp>
        <p:sp>
          <p:nvSpPr>
            <p:cNvPr id="69" name="矩形 68"/>
            <p:cNvSpPr/>
            <p:nvPr/>
          </p:nvSpPr>
          <p:spPr>
            <a:xfrm>
              <a:off x="9198" y="5542"/>
              <a:ext cx="2088" cy="55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chemeClr val="tx1"/>
                  </a:solidFill>
                  <a:sym typeface="+mn-ea"/>
                </a:rPr>
                <a:t>7</a:t>
              </a:r>
              <a:endParaRPr lang="zh-CN" altLang="en-US" sz="1600" b="1">
                <a:solidFill>
                  <a:schemeClr val="tx1"/>
                </a:solidFill>
              </a:endParaRPr>
            </a:p>
          </p:txBody>
        </p:sp>
      </p:grpSp>
      <p:sp>
        <p:nvSpPr>
          <p:cNvPr id="71" name="文本框 70"/>
          <p:cNvSpPr txBox="1"/>
          <p:nvPr/>
        </p:nvSpPr>
        <p:spPr>
          <a:xfrm>
            <a:off x="6179464" y="3144902"/>
            <a:ext cx="298480" cy="338554"/>
          </a:xfrm>
          <a:prstGeom prst="rect">
            <a:avLst/>
          </a:prstGeom>
          <a:noFill/>
        </p:spPr>
        <p:txBody>
          <a:bodyPr wrap="none" rtlCol="0">
            <a:spAutoFit/>
          </a:bodyPr>
          <a:lstStyle/>
          <a:p>
            <a:r>
              <a:rPr lang="en-US" altLang="zh-CN" sz="1600" b="1" dirty="0"/>
              <a:t>0</a:t>
            </a:r>
            <a:endParaRPr lang="en-US" altLang="zh-CN" sz="1600" b="1" dirty="0"/>
          </a:p>
        </p:txBody>
      </p:sp>
      <p:sp>
        <p:nvSpPr>
          <p:cNvPr id="72" name="文本框 71"/>
          <p:cNvSpPr txBox="1"/>
          <p:nvPr/>
        </p:nvSpPr>
        <p:spPr>
          <a:xfrm>
            <a:off x="6181369" y="3463959"/>
            <a:ext cx="298480" cy="338554"/>
          </a:xfrm>
          <a:prstGeom prst="rect">
            <a:avLst/>
          </a:prstGeom>
          <a:noFill/>
        </p:spPr>
        <p:txBody>
          <a:bodyPr wrap="none" rtlCol="0">
            <a:spAutoFit/>
          </a:bodyPr>
          <a:lstStyle/>
          <a:p>
            <a:r>
              <a:rPr lang="en-US" altLang="zh-CN" sz="1600" b="1"/>
              <a:t>1</a:t>
            </a:r>
            <a:endParaRPr lang="en-US" altLang="zh-CN" sz="1600" b="1"/>
          </a:p>
        </p:txBody>
      </p:sp>
      <p:sp>
        <p:nvSpPr>
          <p:cNvPr id="73" name="文本框 72"/>
          <p:cNvSpPr txBox="1"/>
          <p:nvPr/>
        </p:nvSpPr>
        <p:spPr>
          <a:xfrm>
            <a:off x="6179464" y="3823369"/>
            <a:ext cx="298480" cy="338554"/>
          </a:xfrm>
          <a:prstGeom prst="rect">
            <a:avLst/>
          </a:prstGeom>
          <a:noFill/>
        </p:spPr>
        <p:txBody>
          <a:bodyPr wrap="none" rtlCol="0">
            <a:spAutoFit/>
          </a:bodyPr>
          <a:lstStyle/>
          <a:p>
            <a:r>
              <a:rPr lang="en-US" altLang="zh-CN" sz="1600" b="1"/>
              <a:t>2</a:t>
            </a:r>
            <a:endParaRPr lang="en-US" altLang="zh-CN" sz="1600" b="1"/>
          </a:p>
        </p:txBody>
      </p:sp>
      <p:sp>
        <p:nvSpPr>
          <p:cNvPr id="74" name="文本框 73"/>
          <p:cNvSpPr txBox="1"/>
          <p:nvPr/>
        </p:nvSpPr>
        <p:spPr>
          <a:xfrm>
            <a:off x="6176924" y="4210719"/>
            <a:ext cx="298480" cy="338554"/>
          </a:xfrm>
          <a:prstGeom prst="rect">
            <a:avLst/>
          </a:prstGeom>
          <a:noFill/>
        </p:spPr>
        <p:txBody>
          <a:bodyPr wrap="none" rtlCol="0">
            <a:spAutoFit/>
          </a:bodyPr>
          <a:lstStyle/>
          <a:p>
            <a:r>
              <a:rPr lang="en-US" altLang="zh-CN" sz="1600" b="1"/>
              <a:t>3</a:t>
            </a:r>
            <a:endParaRPr lang="en-US" altLang="zh-CN" sz="1600" b="1"/>
          </a:p>
        </p:txBody>
      </p:sp>
      <p:sp>
        <p:nvSpPr>
          <p:cNvPr id="76" name="文本框 75"/>
          <p:cNvSpPr txBox="1"/>
          <p:nvPr/>
        </p:nvSpPr>
        <p:spPr>
          <a:xfrm>
            <a:off x="6603009" y="2663224"/>
            <a:ext cx="595035" cy="338554"/>
          </a:xfrm>
          <a:prstGeom prst="rect">
            <a:avLst/>
          </a:prstGeom>
          <a:noFill/>
        </p:spPr>
        <p:txBody>
          <a:bodyPr wrap="none" rtlCol="0">
            <a:spAutoFit/>
          </a:bodyPr>
          <a:lstStyle/>
          <a:p>
            <a:r>
              <a:rPr lang="zh-CN" altLang="en-US" sz="1600" b="1"/>
              <a:t>页表</a:t>
            </a:r>
            <a:endParaRPr lang="zh-CN" altLang="en-US" sz="1600" b="1"/>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TextBox 1"/>
          <p:cNvSpPr txBox="1">
            <a:spLocks noChangeArrowheads="1"/>
          </p:cNvSpPr>
          <p:nvPr/>
        </p:nvSpPr>
        <p:spPr bwMode="auto">
          <a:xfrm>
            <a:off x="1230489" y="1139333"/>
            <a:ext cx="4130651"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分页存储管理的基本思想</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zh-CN" altLang="en-US" sz="2000" b="1" dirty="0">
              <a:solidFill>
                <a:srgbClr val="6C0000"/>
              </a:solidFill>
              <a:latin typeface="华文行楷" panose="02010800040101010101" charset="-122"/>
              <a:ea typeface="华文行楷" panose="02010800040101010101" charset="-122"/>
            </a:endParaRPr>
          </a:p>
        </p:txBody>
      </p:sp>
      <p:sp>
        <p:nvSpPr>
          <p:cNvPr id="5" name="矩形 4"/>
          <p:cNvSpPr/>
          <p:nvPr/>
        </p:nvSpPr>
        <p:spPr>
          <a:xfrm>
            <a:off x="1250351" y="1723373"/>
            <a:ext cx="9691297" cy="369332"/>
          </a:xfrm>
          <a:prstGeom prst="rect">
            <a:avLst/>
          </a:prstGeom>
        </p:spPr>
        <p:txBody>
          <a:bodyPr wrap="square">
            <a:spAutoFit/>
          </a:bodyPr>
          <a:lstStyle/>
          <a:p>
            <a:r>
              <a:rPr lang="zh-CN" altLang="en-US"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通过页表，实现了虚拟地址到物理地址之间的映射</a:t>
            </a:r>
            <a:endParaRPr lang="zh-CN" altLang="en-US" b="1" dirty="0">
              <a:latin typeface="等线" panose="02010600030101010101" pitchFamily="2" charset="-122"/>
              <a:ea typeface="等线" panose="02010600030101010101" pitchFamily="2" charset="-122"/>
            </a:endParaRPr>
          </a:p>
        </p:txBody>
      </p:sp>
      <p:sp>
        <p:nvSpPr>
          <p:cNvPr id="26" name="文本框 25"/>
          <p:cNvSpPr txBox="1"/>
          <p:nvPr/>
        </p:nvSpPr>
        <p:spPr>
          <a:xfrm>
            <a:off x="3910366" y="2656164"/>
            <a:ext cx="1605280" cy="337185"/>
          </a:xfrm>
          <a:prstGeom prst="rect">
            <a:avLst/>
          </a:prstGeom>
          <a:noFill/>
        </p:spPr>
        <p:txBody>
          <a:bodyPr wrap="none" rtlCol="0">
            <a:spAutoFit/>
          </a:bodyPr>
          <a:lstStyle/>
          <a:p>
            <a:r>
              <a:rPr lang="zh-CN" sz="1600" b="1">
                <a:solidFill>
                  <a:schemeClr val="bg1"/>
                </a:solidFill>
              </a:rPr>
              <a:t>进程虚地址空间</a:t>
            </a:r>
            <a:endParaRPr lang="zh-CN" sz="1600" b="1">
              <a:solidFill>
                <a:schemeClr val="bg1"/>
              </a:solidFill>
            </a:endParaRPr>
          </a:p>
        </p:txBody>
      </p:sp>
      <p:sp>
        <p:nvSpPr>
          <p:cNvPr id="27" name="矩形 26"/>
          <p:cNvSpPr/>
          <p:nvPr/>
        </p:nvSpPr>
        <p:spPr>
          <a:xfrm>
            <a:off x="4046027" y="3103509"/>
            <a:ext cx="1333728"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0</a:t>
            </a:r>
            <a:endParaRPr lang="zh-CN" altLang="en-US" sz="1600" b="1" dirty="0">
              <a:solidFill>
                <a:schemeClr val="tx1"/>
              </a:solidFill>
            </a:endParaRPr>
          </a:p>
        </p:txBody>
      </p:sp>
      <p:sp>
        <p:nvSpPr>
          <p:cNvPr id="30" name="矩形 29"/>
          <p:cNvSpPr/>
          <p:nvPr/>
        </p:nvSpPr>
        <p:spPr>
          <a:xfrm>
            <a:off x="1355126" y="3088680"/>
            <a:ext cx="1395730" cy="1765935"/>
          </a:xfrm>
          <a:prstGeom prst="rect">
            <a:avLst/>
          </a:prstGeom>
          <a:no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8" name="文本框 37"/>
          <p:cNvSpPr txBox="1"/>
          <p:nvPr/>
        </p:nvSpPr>
        <p:spPr>
          <a:xfrm>
            <a:off x="1250351" y="2656164"/>
            <a:ext cx="1605280" cy="337185"/>
          </a:xfrm>
          <a:prstGeom prst="rect">
            <a:avLst/>
          </a:prstGeom>
          <a:noFill/>
        </p:spPr>
        <p:txBody>
          <a:bodyPr wrap="none" rtlCol="0">
            <a:spAutoFit/>
          </a:bodyPr>
          <a:lstStyle/>
          <a:p>
            <a:r>
              <a:rPr lang="zh-CN" sz="1600" b="1">
                <a:solidFill>
                  <a:schemeClr val="bg1"/>
                </a:solidFill>
              </a:rPr>
              <a:t>进程虚地址空间</a:t>
            </a:r>
            <a:endParaRPr lang="zh-CN" sz="1600" b="1">
              <a:solidFill>
                <a:schemeClr val="bg1"/>
              </a:solidFill>
            </a:endParaRPr>
          </a:p>
        </p:txBody>
      </p:sp>
      <p:sp>
        <p:nvSpPr>
          <p:cNvPr id="40" name="右箭头 21"/>
          <p:cNvSpPr/>
          <p:nvPr/>
        </p:nvSpPr>
        <p:spPr>
          <a:xfrm>
            <a:off x="2847376" y="3816390"/>
            <a:ext cx="1066165" cy="164465"/>
          </a:xfrm>
          <a:prstGeom prst="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文本框 40"/>
          <p:cNvSpPr txBox="1"/>
          <p:nvPr/>
        </p:nvSpPr>
        <p:spPr>
          <a:xfrm>
            <a:off x="3105821" y="3380064"/>
            <a:ext cx="589280" cy="337185"/>
          </a:xfrm>
          <a:prstGeom prst="rect">
            <a:avLst/>
          </a:prstGeom>
          <a:noFill/>
        </p:spPr>
        <p:txBody>
          <a:bodyPr wrap="none" rtlCol="0">
            <a:spAutoFit/>
          </a:bodyPr>
          <a:lstStyle/>
          <a:p>
            <a:r>
              <a:rPr lang="zh-CN" sz="1600" b="1" dirty="0"/>
              <a:t>等分</a:t>
            </a:r>
            <a:endParaRPr lang="zh-CN" sz="1600" b="1" dirty="0"/>
          </a:p>
        </p:txBody>
      </p:sp>
      <p:sp>
        <p:nvSpPr>
          <p:cNvPr id="42" name="矩形 41"/>
          <p:cNvSpPr/>
          <p:nvPr/>
        </p:nvSpPr>
        <p:spPr>
          <a:xfrm>
            <a:off x="4046027" y="3552159"/>
            <a:ext cx="1333728"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1</a:t>
            </a:r>
            <a:endParaRPr lang="zh-CN" altLang="en-US" sz="1600" b="1" dirty="0">
              <a:solidFill>
                <a:schemeClr val="tx1"/>
              </a:solidFill>
            </a:endParaRPr>
          </a:p>
        </p:txBody>
      </p:sp>
      <p:sp>
        <p:nvSpPr>
          <p:cNvPr id="43" name="矩形 42"/>
          <p:cNvSpPr/>
          <p:nvPr/>
        </p:nvSpPr>
        <p:spPr>
          <a:xfrm>
            <a:off x="4046027" y="4007469"/>
            <a:ext cx="1335816"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2</a:t>
            </a:r>
            <a:endParaRPr lang="zh-CN" altLang="en-US" sz="1600" b="1" dirty="0">
              <a:solidFill>
                <a:schemeClr val="tx1"/>
              </a:solidFill>
            </a:endParaRPr>
          </a:p>
        </p:txBody>
      </p:sp>
      <p:sp>
        <p:nvSpPr>
          <p:cNvPr id="44" name="矩形 43"/>
          <p:cNvSpPr/>
          <p:nvPr/>
        </p:nvSpPr>
        <p:spPr>
          <a:xfrm>
            <a:off x="4048115" y="4458405"/>
            <a:ext cx="1333728" cy="453305"/>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sym typeface="+mn-ea"/>
              </a:rPr>
              <a:t>页面</a:t>
            </a:r>
            <a:r>
              <a:rPr lang="en-US" altLang="zh-CN" sz="1600" b="1" dirty="0">
                <a:solidFill>
                  <a:schemeClr val="tx1"/>
                </a:solidFill>
                <a:sym typeface="+mn-ea"/>
              </a:rPr>
              <a:t>3</a:t>
            </a:r>
            <a:endParaRPr lang="zh-CN" altLang="en-US" sz="1600" b="1" dirty="0">
              <a:solidFill>
                <a:schemeClr val="tx1"/>
              </a:solidFill>
            </a:endParaRPr>
          </a:p>
        </p:txBody>
      </p:sp>
      <p:sp>
        <p:nvSpPr>
          <p:cNvPr id="45" name="文本框 44"/>
          <p:cNvSpPr txBox="1"/>
          <p:nvPr/>
        </p:nvSpPr>
        <p:spPr>
          <a:xfrm>
            <a:off x="3930228" y="2667183"/>
            <a:ext cx="1605280" cy="337185"/>
          </a:xfrm>
          <a:prstGeom prst="rect">
            <a:avLst/>
          </a:prstGeom>
          <a:noFill/>
        </p:spPr>
        <p:txBody>
          <a:bodyPr wrap="none" rtlCol="0">
            <a:spAutoFit/>
          </a:bodyPr>
          <a:lstStyle/>
          <a:p>
            <a:r>
              <a:rPr lang="zh-CN" sz="1600" b="1" dirty="0"/>
              <a:t>进程虚地址空间</a:t>
            </a:r>
            <a:endParaRPr lang="zh-CN" sz="1600" b="1" dirty="0"/>
          </a:p>
        </p:txBody>
      </p:sp>
      <p:sp>
        <p:nvSpPr>
          <p:cNvPr id="46" name="文本框 45"/>
          <p:cNvSpPr txBox="1"/>
          <p:nvPr/>
        </p:nvSpPr>
        <p:spPr>
          <a:xfrm>
            <a:off x="1270213" y="2667183"/>
            <a:ext cx="1605280" cy="337185"/>
          </a:xfrm>
          <a:prstGeom prst="rect">
            <a:avLst/>
          </a:prstGeom>
          <a:noFill/>
        </p:spPr>
        <p:txBody>
          <a:bodyPr wrap="none" rtlCol="0">
            <a:spAutoFit/>
          </a:bodyPr>
          <a:lstStyle/>
          <a:p>
            <a:r>
              <a:rPr lang="zh-CN" sz="1600" b="1"/>
              <a:t>进程虚地址空间</a:t>
            </a:r>
            <a:endParaRPr lang="zh-CN" sz="1600" b="1"/>
          </a:p>
        </p:txBody>
      </p:sp>
      <p:sp>
        <p:nvSpPr>
          <p:cNvPr id="47" name="文本框 46"/>
          <p:cNvSpPr txBox="1"/>
          <p:nvPr/>
        </p:nvSpPr>
        <p:spPr>
          <a:xfrm>
            <a:off x="8799985" y="2408708"/>
            <a:ext cx="646331" cy="369332"/>
          </a:xfrm>
          <a:prstGeom prst="rect">
            <a:avLst/>
          </a:prstGeom>
          <a:noFill/>
        </p:spPr>
        <p:txBody>
          <a:bodyPr wrap="none" rtlCol="0">
            <a:spAutoFit/>
          </a:bodyPr>
          <a:lstStyle/>
          <a:p>
            <a:r>
              <a:rPr lang="zh-CN" altLang="en-US" dirty="0">
                <a:latin typeface="方正粗黑宋简体" panose="02000000000000000000" pitchFamily="2" charset="-122"/>
                <a:ea typeface="方正粗黑宋简体" panose="02000000000000000000" pitchFamily="2" charset="-122"/>
              </a:rPr>
              <a:t>内存</a:t>
            </a:r>
            <a:endParaRPr lang="zh-CN" altLang="en-US" dirty="0">
              <a:latin typeface="方正粗黑宋简体" panose="02000000000000000000" pitchFamily="2" charset="-122"/>
              <a:ea typeface="方正粗黑宋简体" panose="02000000000000000000" pitchFamily="2" charset="-122"/>
            </a:endParaRPr>
          </a:p>
        </p:txBody>
      </p:sp>
      <p:sp>
        <p:nvSpPr>
          <p:cNvPr id="48" name="矩形 47"/>
          <p:cNvSpPr/>
          <p:nvPr/>
        </p:nvSpPr>
        <p:spPr>
          <a:xfrm>
            <a:off x="8491432" y="2818191"/>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400" b="1" dirty="0">
              <a:solidFill>
                <a:schemeClr val="tx1"/>
              </a:solidFill>
            </a:endParaRPr>
          </a:p>
        </p:txBody>
      </p:sp>
      <p:sp>
        <p:nvSpPr>
          <p:cNvPr id="49" name="矩形 48"/>
          <p:cNvSpPr/>
          <p:nvPr/>
        </p:nvSpPr>
        <p:spPr>
          <a:xfrm>
            <a:off x="8495472" y="3165446"/>
            <a:ext cx="1325879" cy="35031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sym typeface="+mn-ea"/>
              </a:rPr>
              <a:t>页面</a:t>
            </a:r>
            <a:r>
              <a:rPr lang="en-US" altLang="zh-CN" sz="1400" b="1" dirty="0">
                <a:solidFill>
                  <a:schemeClr val="tx1"/>
                </a:solidFill>
                <a:sym typeface="+mn-ea"/>
              </a:rPr>
              <a:t>0</a:t>
            </a:r>
            <a:endParaRPr lang="zh-CN" altLang="en-US" sz="1400" b="1" dirty="0">
              <a:solidFill>
                <a:schemeClr val="tx1"/>
              </a:solidFill>
            </a:endParaRPr>
          </a:p>
        </p:txBody>
      </p:sp>
      <p:sp>
        <p:nvSpPr>
          <p:cNvPr id="50" name="矩形 49"/>
          <p:cNvSpPr/>
          <p:nvPr/>
        </p:nvSpPr>
        <p:spPr>
          <a:xfrm>
            <a:off x="8491432" y="3518823"/>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51" name="矩形 50"/>
          <p:cNvSpPr/>
          <p:nvPr/>
        </p:nvSpPr>
        <p:spPr>
          <a:xfrm>
            <a:off x="8491432" y="3858415"/>
            <a:ext cx="1325879" cy="35031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页面</a:t>
            </a:r>
            <a:r>
              <a:rPr lang="en-US" altLang="zh-CN" sz="1400" b="1" dirty="0">
                <a:solidFill>
                  <a:schemeClr val="tx1"/>
                </a:solidFill>
              </a:rPr>
              <a:t>1</a:t>
            </a:r>
            <a:endParaRPr lang="zh-CN" altLang="en-US" sz="1400" b="1" dirty="0">
              <a:solidFill>
                <a:schemeClr val="tx1"/>
              </a:solidFill>
            </a:endParaRPr>
          </a:p>
        </p:txBody>
      </p:sp>
      <p:sp>
        <p:nvSpPr>
          <p:cNvPr id="52" name="矩形 51"/>
          <p:cNvSpPr/>
          <p:nvPr/>
        </p:nvSpPr>
        <p:spPr>
          <a:xfrm>
            <a:off x="8491432" y="4208731"/>
            <a:ext cx="1325879" cy="35031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页面</a:t>
            </a:r>
            <a:r>
              <a:rPr lang="en-US" altLang="zh-CN" sz="1400" b="1" dirty="0">
                <a:solidFill>
                  <a:schemeClr val="tx1"/>
                </a:solidFill>
              </a:rPr>
              <a:t>2</a:t>
            </a:r>
            <a:endParaRPr lang="zh-CN" altLang="en-US" sz="1400" b="1" dirty="0">
              <a:solidFill>
                <a:schemeClr val="tx1"/>
              </a:solidFill>
            </a:endParaRPr>
          </a:p>
        </p:txBody>
      </p:sp>
      <p:sp>
        <p:nvSpPr>
          <p:cNvPr id="53" name="矩形 52"/>
          <p:cNvSpPr/>
          <p:nvPr/>
        </p:nvSpPr>
        <p:spPr>
          <a:xfrm>
            <a:off x="8491432" y="4559047"/>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54" name="矩形 53"/>
          <p:cNvSpPr/>
          <p:nvPr/>
        </p:nvSpPr>
        <p:spPr>
          <a:xfrm>
            <a:off x="8491432" y="4904048"/>
            <a:ext cx="1325879" cy="35031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endParaRPr>
          </a:p>
        </p:txBody>
      </p:sp>
      <p:sp>
        <p:nvSpPr>
          <p:cNvPr id="55" name="矩形 54"/>
          <p:cNvSpPr/>
          <p:nvPr/>
        </p:nvSpPr>
        <p:spPr>
          <a:xfrm>
            <a:off x="8491431" y="5217850"/>
            <a:ext cx="1325879" cy="35031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页面</a:t>
            </a:r>
            <a:r>
              <a:rPr lang="en-US" altLang="zh-CN" sz="1400" b="1" dirty="0">
                <a:solidFill>
                  <a:schemeClr val="tx1"/>
                </a:solidFill>
              </a:rPr>
              <a:t>3</a:t>
            </a:r>
            <a:endParaRPr lang="zh-CN" altLang="en-US" sz="1400" b="1" dirty="0">
              <a:solidFill>
                <a:schemeClr val="tx1"/>
              </a:solidFill>
            </a:endParaRPr>
          </a:p>
        </p:txBody>
      </p:sp>
      <p:sp>
        <p:nvSpPr>
          <p:cNvPr id="56" name="文本框 55"/>
          <p:cNvSpPr txBox="1"/>
          <p:nvPr/>
        </p:nvSpPr>
        <p:spPr>
          <a:xfrm>
            <a:off x="8132567" y="2835775"/>
            <a:ext cx="298480" cy="338554"/>
          </a:xfrm>
          <a:prstGeom prst="rect">
            <a:avLst/>
          </a:prstGeom>
          <a:noFill/>
        </p:spPr>
        <p:txBody>
          <a:bodyPr wrap="none" rtlCol="0">
            <a:spAutoFit/>
          </a:bodyPr>
          <a:lstStyle/>
          <a:p>
            <a:r>
              <a:rPr lang="en-US" altLang="zh-CN" sz="1600" b="1" dirty="0"/>
              <a:t>0</a:t>
            </a:r>
            <a:endParaRPr lang="zh-CN" sz="1600" b="1" dirty="0"/>
          </a:p>
        </p:txBody>
      </p:sp>
      <p:sp>
        <p:nvSpPr>
          <p:cNvPr id="57" name="文本框 56"/>
          <p:cNvSpPr txBox="1"/>
          <p:nvPr/>
        </p:nvSpPr>
        <p:spPr>
          <a:xfrm>
            <a:off x="8145093" y="3168156"/>
            <a:ext cx="298480" cy="338554"/>
          </a:xfrm>
          <a:prstGeom prst="rect">
            <a:avLst/>
          </a:prstGeom>
          <a:noFill/>
        </p:spPr>
        <p:txBody>
          <a:bodyPr wrap="none" rtlCol="0">
            <a:spAutoFit/>
          </a:bodyPr>
          <a:lstStyle/>
          <a:p>
            <a:r>
              <a:rPr lang="en-US" altLang="zh-CN" sz="1600" b="1" dirty="0"/>
              <a:t>1</a:t>
            </a:r>
            <a:endParaRPr lang="zh-CN" sz="1600" b="1" dirty="0"/>
          </a:p>
        </p:txBody>
      </p:sp>
      <p:sp>
        <p:nvSpPr>
          <p:cNvPr id="58" name="文本框 1"/>
          <p:cNvSpPr txBox="1"/>
          <p:nvPr/>
        </p:nvSpPr>
        <p:spPr>
          <a:xfrm>
            <a:off x="8150234" y="3560068"/>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2</a:t>
            </a:r>
            <a:endParaRPr lang="zh-CN" sz="1600" b="1" dirty="0"/>
          </a:p>
        </p:txBody>
      </p:sp>
      <p:sp>
        <p:nvSpPr>
          <p:cNvPr id="59" name="文本框 1"/>
          <p:cNvSpPr txBox="1"/>
          <p:nvPr/>
        </p:nvSpPr>
        <p:spPr>
          <a:xfrm>
            <a:off x="8150234" y="3917223"/>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3</a:t>
            </a:r>
            <a:endParaRPr lang="zh-CN" sz="1600" b="1" dirty="0"/>
          </a:p>
        </p:txBody>
      </p:sp>
      <p:sp>
        <p:nvSpPr>
          <p:cNvPr id="60" name="文本框 1"/>
          <p:cNvSpPr txBox="1"/>
          <p:nvPr/>
        </p:nvSpPr>
        <p:spPr>
          <a:xfrm>
            <a:off x="8150234" y="4263506"/>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4</a:t>
            </a:r>
            <a:endParaRPr lang="zh-CN" sz="1600" b="1" dirty="0"/>
          </a:p>
        </p:txBody>
      </p:sp>
      <p:sp>
        <p:nvSpPr>
          <p:cNvPr id="61" name="文本框 1"/>
          <p:cNvSpPr txBox="1"/>
          <p:nvPr/>
        </p:nvSpPr>
        <p:spPr>
          <a:xfrm>
            <a:off x="8151266" y="4602060"/>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5</a:t>
            </a:r>
            <a:endParaRPr lang="zh-CN" sz="1600" b="1" dirty="0"/>
          </a:p>
        </p:txBody>
      </p:sp>
      <p:sp>
        <p:nvSpPr>
          <p:cNvPr id="62" name="文本框 1"/>
          <p:cNvSpPr txBox="1"/>
          <p:nvPr/>
        </p:nvSpPr>
        <p:spPr>
          <a:xfrm>
            <a:off x="8150234" y="4966944"/>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6</a:t>
            </a:r>
            <a:endParaRPr lang="zh-CN" sz="1600" b="1" dirty="0"/>
          </a:p>
        </p:txBody>
      </p:sp>
      <p:sp>
        <p:nvSpPr>
          <p:cNvPr id="63" name="文本框 1"/>
          <p:cNvSpPr txBox="1"/>
          <p:nvPr/>
        </p:nvSpPr>
        <p:spPr>
          <a:xfrm>
            <a:off x="8159067" y="5287145"/>
            <a:ext cx="298480" cy="33855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b="1" dirty="0"/>
              <a:t>7</a:t>
            </a:r>
            <a:endParaRPr lang="zh-CN" sz="1600" b="1" dirty="0"/>
          </a:p>
        </p:txBody>
      </p:sp>
      <p:grpSp>
        <p:nvGrpSpPr>
          <p:cNvPr id="64" name="组合 63"/>
          <p:cNvGrpSpPr/>
          <p:nvPr/>
        </p:nvGrpSpPr>
        <p:grpSpPr>
          <a:xfrm>
            <a:off x="6449339" y="3104630"/>
            <a:ext cx="893445" cy="1390650"/>
            <a:chOff x="9198" y="3904"/>
            <a:chExt cx="2094" cy="2190"/>
          </a:xfrm>
          <a:noFill/>
        </p:grpSpPr>
        <p:sp>
          <p:nvSpPr>
            <p:cNvPr id="65" name="矩形 64"/>
            <p:cNvSpPr/>
            <p:nvPr/>
          </p:nvSpPr>
          <p:spPr>
            <a:xfrm>
              <a:off x="9198" y="3904"/>
              <a:ext cx="2088" cy="55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chemeClr val="tx1"/>
                  </a:solidFill>
                </a:rPr>
                <a:t>1</a:t>
              </a:r>
              <a:endParaRPr lang="en-US" altLang="zh-CN" sz="1600" b="1">
                <a:solidFill>
                  <a:schemeClr val="tx1"/>
                </a:solidFill>
              </a:endParaRPr>
            </a:p>
          </p:txBody>
        </p:sp>
        <p:sp>
          <p:nvSpPr>
            <p:cNvPr id="67" name="矩形 66"/>
            <p:cNvSpPr/>
            <p:nvPr/>
          </p:nvSpPr>
          <p:spPr>
            <a:xfrm>
              <a:off x="9204" y="4470"/>
              <a:ext cx="2088" cy="55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tx1"/>
                  </a:solidFill>
                  <a:sym typeface="+mn-ea"/>
                </a:rPr>
                <a:t>3</a:t>
              </a:r>
              <a:endParaRPr lang="zh-CN" altLang="en-US" sz="1600" b="1" dirty="0">
                <a:solidFill>
                  <a:schemeClr val="tx1"/>
                </a:solidFill>
              </a:endParaRPr>
            </a:p>
          </p:txBody>
        </p:sp>
        <p:sp>
          <p:nvSpPr>
            <p:cNvPr id="68" name="矩形 67"/>
            <p:cNvSpPr/>
            <p:nvPr/>
          </p:nvSpPr>
          <p:spPr>
            <a:xfrm>
              <a:off x="9198" y="5007"/>
              <a:ext cx="2088" cy="55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chemeClr val="tx1"/>
                  </a:solidFill>
                  <a:sym typeface="+mn-ea"/>
                </a:rPr>
                <a:t>4</a:t>
              </a:r>
              <a:endParaRPr lang="zh-CN" altLang="en-US" sz="1600" b="1">
                <a:solidFill>
                  <a:schemeClr val="tx1"/>
                </a:solidFill>
              </a:endParaRPr>
            </a:p>
          </p:txBody>
        </p:sp>
        <p:sp>
          <p:nvSpPr>
            <p:cNvPr id="69" name="矩形 68"/>
            <p:cNvSpPr/>
            <p:nvPr/>
          </p:nvSpPr>
          <p:spPr>
            <a:xfrm>
              <a:off x="9198" y="5542"/>
              <a:ext cx="2088" cy="55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solidFill>
                    <a:schemeClr val="tx1"/>
                  </a:solidFill>
                  <a:sym typeface="+mn-ea"/>
                </a:rPr>
                <a:t>7</a:t>
              </a:r>
              <a:endParaRPr lang="zh-CN" altLang="en-US" sz="1600" b="1">
                <a:solidFill>
                  <a:schemeClr val="tx1"/>
                </a:solidFill>
              </a:endParaRPr>
            </a:p>
          </p:txBody>
        </p:sp>
      </p:grpSp>
      <p:sp>
        <p:nvSpPr>
          <p:cNvPr id="71" name="文本框 70"/>
          <p:cNvSpPr txBox="1"/>
          <p:nvPr/>
        </p:nvSpPr>
        <p:spPr>
          <a:xfrm>
            <a:off x="6179464" y="3144902"/>
            <a:ext cx="298480" cy="338554"/>
          </a:xfrm>
          <a:prstGeom prst="rect">
            <a:avLst/>
          </a:prstGeom>
          <a:noFill/>
        </p:spPr>
        <p:txBody>
          <a:bodyPr wrap="none" rtlCol="0">
            <a:spAutoFit/>
          </a:bodyPr>
          <a:lstStyle/>
          <a:p>
            <a:r>
              <a:rPr lang="en-US" altLang="zh-CN" sz="1600" b="1" dirty="0"/>
              <a:t>0</a:t>
            </a:r>
            <a:endParaRPr lang="en-US" altLang="zh-CN" sz="1600" b="1" dirty="0"/>
          </a:p>
        </p:txBody>
      </p:sp>
      <p:sp>
        <p:nvSpPr>
          <p:cNvPr id="72" name="文本框 71"/>
          <p:cNvSpPr txBox="1"/>
          <p:nvPr/>
        </p:nvSpPr>
        <p:spPr>
          <a:xfrm>
            <a:off x="6181369" y="3463959"/>
            <a:ext cx="298480" cy="338554"/>
          </a:xfrm>
          <a:prstGeom prst="rect">
            <a:avLst/>
          </a:prstGeom>
          <a:noFill/>
        </p:spPr>
        <p:txBody>
          <a:bodyPr wrap="none" rtlCol="0">
            <a:spAutoFit/>
          </a:bodyPr>
          <a:lstStyle/>
          <a:p>
            <a:r>
              <a:rPr lang="en-US" altLang="zh-CN" sz="1600" b="1"/>
              <a:t>1</a:t>
            </a:r>
            <a:endParaRPr lang="en-US" altLang="zh-CN" sz="1600" b="1"/>
          </a:p>
        </p:txBody>
      </p:sp>
      <p:sp>
        <p:nvSpPr>
          <p:cNvPr id="73" name="文本框 72"/>
          <p:cNvSpPr txBox="1"/>
          <p:nvPr/>
        </p:nvSpPr>
        <p:spPr>
          <a:xfrm>
            <a:off x="6179464" y="3823369"/>
            <a:ext cx="298480" cy="338554"/>
          </a:xfrm>
          <a:prstGeom prst="rect">
            <a:avLst/>
          </a:prstGeom>
          <a:noFill/>
        </p:spPr>
        <p:txBody>
          <a:bodyPr wrap="none" rtlCol="0">
            <a:spAutoFit/>
          </a:bodyPr>
          <a:lstStyle/>
          <a:p>
            <a:r>
              <a:rPr lang="en-US" altLang="zh-CN" sz="1600" b="1"/>
              <a:t>2</a:t>
            </a:r>
            <a:endParaRPr lang="en-US" altLang="zh-CN" sz="1600" b="1"/>
          </a:p>
        </p:txBody>
      </p:sp>
      <p:sp>
        <p:nvSpPr>
          <p:cNvPr id="74" name="文本框 73"/>
          <p:cNvSpPr txBox="1"/>
          <p:nvPr/>
        </p:nvSpPr>
        <p:spPr>
          <a:xfrm>
            <a:off x="6176924" y="4210719"/>
            <a:ext cx="298480" cy="338554"/>
          </a:xfrm>
          <a:prstGeom prst="rect">
            <a:avLst/>
          </a:prstGeom>
          <a:noFill/>
        </p:spPr>
        <p:txBody>
          <a:bodyPr wrap="none" rtlCol="0">
            <a:spAutoFit/>
          </a:bodyPr>
          <a:lstStyle/>
          <a:p>
            <a:r>
              <a:rPr lang="en-US" altLang="zh-CN" sz="1600" b="1"/>
              <a:t>3</a:t>
            </a:r>
            <a:endParaRPr lang="en-US" altLang="zh-CN" sz="1600" b="1"/>
          </a:p>
        </p:txBody>
      </p:sp>
      <p:sp>
        <p:nvSpPr>
          <p:cNvPr id="76" name="文本框 75"/>
          <p:cNvSpPr txBox="1"/>
          <p:nvPr/>
        </p:nvSpPr>
        <p:spPr>
          <a:xfrm>
            <a:off x="6603009" y="2663224"/>
            <a:ext cx="595035" cy="338554"/>
          </a:xfrm>
          <a:prstGeom prst="rect">
            <a:avLst/>
          </a:prstGeom>
          <a:noFill/>
        </p:spPr>
        <p:txBody>
          <a:bodyPr wrap="none" rtlCol="0">
            <a:spAutoFit/>
          </a:bodyPr>
          <a:lstStyle/>
          <a:p>
            <a:r>
              <a:rPr lang="zh-CN" altLang="en-US" sz="1600" b="1"/>
              <a:t>页表</a:t>
            </a:r>
            <a:endParaRPr lang="zh-CN" altLang="en-US" sz="1600" b="1"/>
          </a:p>
        </p:txBody>
      </p:sp>
      <p:cxnSp>
        <p:nvCxnSpPr>
          <p:cNvPr id="4" name="直接箭头连接符 3"/>
          <p:cNvCxnSpPr>
            <a:stCxn id="27" idx="3"/>
            <a:endCxn id="71" idx="1"/>
          </p:cNvCxnSpPr>
          <p:nvPr/>
        </p:nvCxnSpPr>
        <p:spPr>
          <a:xfrm flipV="1">
            <a:off x="5379755" y="3314179"/>
            <a:ext cx="799709" cy="15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endCxn id="72" idx="1"/>
          </p:cNvCxnSpPr>
          <p:nvPr/>
        </p:nvCxnSpPr>
        <p:spPr>
          <a:xfrm flipV="1">
            <a:off x="5422473" y="3633236"/>
            <a:ext cx="758896" cy="162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5452509" y="4108424"/>
            <a:ext cx="758896" cy="162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5469866" y="4489147"/>
            <a:ext cx="758896" cy="1624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endCxn id="57" idx="1"/>
          </p:cNvCxnSpPr>
          <p:nvPr/>
        </p:nvCxnSpPr>
        <p:spPr>
          <a:xfrm>
            <a:off x="7354633" y="3322170"/>
            <a:ext cx="790460" cy="15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7352794" y="3648234"/>
            <a:ext cx="929013" cy="385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7400171" y="4022195"/>
            <a:ext cx="758896" cy="293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endCxn id="63" idx="0"/>
          </p:cNvCxnSpPr>
          <p:nvPr/>
        </p:nvCxnSpPr>
        <p:spPr>
          <a:xfrm>
            <a:off x="7373911" y="4348234"/>
            <a:ext cx="934396" cy="938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TextBox 1"/>
          <p:cNvSpPr txBox="1">
            <a:spLocks noChangeArrowheads="1"/>
          </p:cNvSpPr>
          <p:nvPr/>
        </p:nvSpPr>
        <p:spPr bwMode="auto">
          <a:xfrm>
            <a:off x="1230489" y="1139333"/>
            <a:ext cx="4130651"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分页存储管理的基本思想</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zh-CN" altLang="en-US" sz="2000" b="1" dirty="0">
              <a:solidFill>
                <a:srgbClr val="6C0000"/>
              </a:solidFill>
              <a:latin typeface="华文行楷" panose="02010800040101010101" charset="-122"/>
              <a:ea typeface="华文行楷" panose="02010800040101010101" charset="-122"/>
            </a:endParaRPr>
          </a:p>
        </p:txBody>
      </p:sp>
      <p:sp>
        <p:nvSpPr>
          <p:cNvPr id="7" name="矩形 6"/>
          <p:cNvSpPr/>
          <p:nvPr/>
        </p:nvSpPr>
        <p:spPr>
          <a:xfrm>
            <a:off x="1761112" y="3540406"/>
            <a:ext cx="8522756" cy="784830"/>
          </a:xfrm>
          <a:prstGeom prst="rect">
            <a:avLst/>
          </a:prstGeom>
          <a:solidFill>
            <a:schemeClr val="accent1">
              <a:lumMod val="20000"/>
              <a:lumOff val="80000"/>
            </a:schemeClr>
          </a:solidFill>
          <a:ln>
            <a:solidFill>
              <a:schemeClr val="accent1"/>
            </a:solidFill>
          </a:ln>
        </p:spPr>
        <p:txBody>
          <a:bodyPr wrap="square">
            <a:spAutoFit/>
          </a:bodyPr>
          <a:lstStyle/>
          <a:p>
            <a:pPr indent="266700" algn="just">
              <a:lnSpc>
                <a:spcPct val="125000"/>
              </a:lnSpc>
            </a:pPr>
            <a:r>
              <a:rPr lang="en-US"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假设某系统物理内存大小为</a:t>
            </a:r>
            <a:r>
              <a:rPr lang="en-US"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4GB</a:t>
            </a: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，页面大小为</a:t>
            </a:r>
            <a:r>
              <a:rPr lang="en-US"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4KB</a:t>
            </a: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，则每个页表项至少应该为多少字节</a:t>
            </a:r>
            <a:r>
              <a:rPr lang="en-US"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14" name="矩形 13"/>
          <p:cNvSpPr/>
          <p:nvPr/>
        </p:nvSpPr>
        <p:spPr>
          <a:xfrm>
            <a:off x="1761112" y="4647109"/>
            <a:ext cx="8808907" cy="1200329"/>
          </a:xfrm>
          <a:prstGeom prst="rect">
            <a:avLst/>
          </a:prstGeom>
        </p:spPr>
        <p:txBody>
          <a:bodyPr wrap="square">
            <a:spAutoFit/>
          </a:bodyPr>
          <a:lstStyle/>
          <a:p>
            <a:r>
              <a:rPr lang="en-US" altLang="zh-CN" b="1" kern="0" dirty="0">
                <a:solidFill>
                  <a:srgbClr val="000000"/>
                </a:solidFill>
                <a:cs typeface="Times New Roman" panose="02020603050405020304" pitchFamily="18" charset="0"/>
              </a:rPr>
              <a:t>4GB= 2</a:t>
            </a:r>
            <a:r>
              <a:rPr lang="en-US" altLang="zh-CN" b="1" kern="0" baseline="30000" dirty="0">
                <a:solidFill>
                  <a:srgbClr val="000000"/>
                </a:solidFill>
                <a:cs typeface="Times New Roman" panose="02020603050405020304" pitchFamily="18" charset="0"/>
              </a:rPr>
              <a:t>32</a:t>
            </a:r>
            <a:r>
              <a:rPr lang="en-US" altLang="zh-CN" b="1" kern="0" dirty="0">
                <a:solidFill>
                  <a:srgbClr val="000000"/>
                </a:solidFill>
                <a:cs typeface="Times New Roman" panose="02020603050405020304" pitchFamily="18" charset="0"/>
              </a:rPr>
              <a:t> B</a:t>
            </a:r>
            <a:r>
              <a:rPr lang="zh-CN" altLang="zh-CN" b="1" kern="0" dirty="0">
                <a:solidFill>
                  <a:srgbClr val="000000"/>
                </a:solidFill>
                <a:ea typeface="宋体" panose="02010600030101010101" pitchFamily="2" charset="-122"/>
                <a:cs typeface="Times New Roman" panose="02020603050405020304" pitchFamily="18" charset="0"/>
              </a:rPr>
              <a:t>，</a:t>
            </a:r>
            <a:r>
              <a:rPr lang="en-US" altLang="zh-CN" b="1" kern="0" dirty="0">
                <a:solidFill>
                  <a:srgbClr val="000000"/>
                </a:solidFill>
                <a:ea typeface="宋体" panose="02010600030101010101" pitchFamily="2" charset="-122"/>
                <a:cs typeface="Times New Roman" panose="02020603050405020304" pitchFamily="18" charset="0"/>
              </a:rPr>
              <a:t>4KB= 2</a:t>
            </a:r>
            <a:r>
              <a:rPr lang="en-US" altLang="zh-CN" b="1" kern="0" baseline="30000" dirty="0">
                <a:solidFill>
                  <a:srgbClr val="000000"/>
                </a:solidFill>
                <a:ea typeface="宋体" panose="02010600030101010101" pitchFamily="2" charset="-122"/>
                <a:cs typeface="Times New Roman" panose="02020603050405020304" pitchFamily="18" charset="0"/>
              </a:rPr>
              <a:t>12</a:t>
            </a:r>
            <a:r>
              <a:rPr lang="en-US" altLang="zh-CN" b="1" kern="0" dirty="0">
                <a:solidFill>
                  <a:srgbClr val="000000"/>
                </a:solidFill>
                <a:ea typeface="宋体" panose="02010600030101010101" pitchFamily="2" charset="-122"/>
                <a:cs typeface="Times New Roman" panose="02020603050405020304" pitchFamily="18" charset="0"/>
              </a:rPr>
              <a:t> B</a:t>
            </a:r>
            <a:r>
              <a:rPr lang="zh-CN" altLang="zh-CN" b="1" kern="0" dirty="0">
                <a:solidFill>
                  <a:srgbClr val="000000"/>
                </a:solidFill>
                <a:ea typeface="宋体" panose="02010600030101010101" pitchFamily="2" charset="-122"/>
                <a:cs typeface="Times New Roman" panose="02020603050405020304" pitchFamily="18" charset="0"/>
              </a:rPr>
              <a:t>，因此</a:t>
            </a:r>
            <a:r>
              <a:rPr lang="en-US" altLang="zh-CN" b="1" kern="0" dirty="0">
                <a:solidFill>
                  <a:srgbClr val="000000"/>
                </a:solidFill>
                <a:ea typeface="宋体" panose="02010600030101010101" pitchFamily="2" charset="-122"/>
                <a:cs typeface="Times New Roman" panose="02020603050405020304" pitchFamily="18" charset="0"/>
              </a:rPr>
              <a:t>4GB</a:t>
            </a:r>
            <a:r>
              <a:rPr lang="zh-CN" altLang="zh-CN" b="1" kern="0" dirty="0">
                <a:solidFill>
                  <a:srgbClr val="000000"/>
                </a:solidFill>
                <a:ea typeface="宋体" panose="02010600030101010101" pitchFamily="2" charset="-122"/>
                <a:cs typeface="Times New Roman" panose="02020603050405020304" pitchFamily="18" charset="0"/>
              </a:rPr>
              <a:t>的内存总共会被分为</a:t>
            </a:r>
            <a:r>
              <a:rPr lang="en-US" altLang="zh-CN" b="1" kern="0" dirty="0">
                <a:solidFill>
                  <a:srgbClr val="000000"/>
                </a:solidFill>
                <a:ea typeface="宋体" panose="02010600030101010101" pitchFamily="2" charset="-122"/>
                <a:cs typeface="Times New Roman" panose="02020603050405020304" pitchFamily="18" charset="0"/>
              </a:rPr>
              <a:t>2</a:t>
            </a:r>
            <a:r>
              <a:rPr lang="en-US" altLang="zh-CN" b="1" kern="0" baseline="30000" dirty="0">
                <a:solidFill>
                  <a:srgbClr val="000000"/>
                </a:solidFill>
                <a:ea typeface="宋体" panose="02010600030101010101" pitchFamily="2" charset="-122"/>
                <a:cs typeface="Times New Roman" panose="02020603050405020304" pitchFamily="18" charset="0"/>
              </a:rPr>
              <a:t>32</a:t>
            </a:r>
            <a:r>
              <a:rPr lang="en-US" altLang="zh-CN" b="1" kern="0" dirty="0">
                <a:solidFill>
                  <a:srgbClr val="000000"/>
                </a:solidFill>
                <a:ea typeface="宋体" panose="02010600030101010101" pitchFamily="2" charset="-122"/>
                <a:cs typeface="Times New Roman" panose="02020603050405020304" pitchFamily="18" charset="0"/>
              </a:rPr>
              <a:t>/ 2</a:t>
            </a:r>
            <a:r>
              <a:rPr lang="en-US" altLang="zh-CN" b="1" kern="0" baseline="30000" dirty="0">
                <a:solidFill>
                  <a:srgbClr val="000000"/>
                </a:solidFill>
                <a:ea typeface="宋体" panose="02010600030101010101" pitchFamily="2" charset="-122"/>
                <a:cs typeface="Times New Roman" panose="02020603050405020304" pitchFamily="18" charset="0"/>
              </a:rPr>
              <a:t>12</a:t>
            </a:r>
            <a:r>
              <a:rPr lang="en-US" altLang="zh-CN" b="1" kern="0" dirty="0">
                <a:solidFill>
                  <a:srgbClr val="000000"/>
                </a:solidFill>
                <a:ea typeface="宋体" panose="02010600030101010101" pitchFamily="2" charset="-122"/>
                <a:cs typeface="Times New Roman" panose="02020603050405020304" pitchFamily="18" charset="0"/>
              </a:rPr>
              <a:t>= 2</a:t>
            </a:r>
            <a:r>
              <a:rPr lang="en-US" altLang="zh-CN" b="1" kern="0" baseline="30000" dirty="0">
                <a:solidFill>
                  <a:srgbClr val="000000"/>
                </a:solidFill>
                <a:ea typeface="宋体" panose="02010600030101010101" pitchFamily="2" charset="-122"/>
                <a:cs typeface="Times New Roman" panose="02020603050405020304" pitchFamily="18" charset="0"/>
              </a:rPr>
              <a:t>20</a:t>
            </a:r>
            <a:r>
              <a:rPr lang="zh-CN" altLang="zh-CN" b="1" kern="0" dirty="0">
                <a:solidFill>
                  <a:srgbClr val="000000"/>
                </a:solidFill>
                <a:ea typeface="宋体" panose="02010600030101010101" pitchFamily="2" charset="-122"/>
                <a:cs typeface="Times New Roman" panose="02020603050405020304" pitchFamily="18" charset="0"/>
              </a:rPr>
              <a:t>个内存块，内存页帧号的范围应该是</a:t>
            </a:r>
            <a:r>
              <a:rPr lang="en-US" altLang="zh-CN" b="1" kern="0" dirty="0">
                <a:solidFill>
                  <a:srgbClr val="000000"/>
                </a:solidFill>
                <a:ea typeface="宋体" panose="02010600030101010101" pitchFamily="2" charset="-122"/>
                <a:cs typeface="Times New Roman" panose="02020603050405020304" pitchFamily="18" charset="0"/>
              </a:rPr>
              <a:t>0~2</a:t>
            </a:r>
            <a:r>
              <a:rPr lang="en-US" altLang="zh-CN" b="1" kern="0" baseline="30000" dirty="0">
                <a:solidFill>
                  <a:srgbClr val="000000"/>
                </a:solidFill>
                <a:ea typeface="宋体" panose="02010600030101010101" pitchFamily="2" charset="-122"/>
                <a:cs typeface="Times New Roman" panose="02020603050405020304" pitchFamily="18" charset="0"/>
              </a:rPr>
              <a:t>20</a:t>
            </a:r>
            <a:r>
              <a:rPr lang="en-US" altLang="zh-CN" b="1" kern="0" dirty="0">
                <a:solidFill>
                  <a:srgbClr val="000000"/>
                </a:solidFill>
                <a:ea typeface="宋体" panose="02010600030101010101" pitchFamily="2" charset="-122"/>
                <a:cs typeface="Times New Roman" panose="02020603050405020304" pitchFamily="18" charset="0"/>
              </a:rPr>
              <a:t> -1</a:t>
            </a:r>
            <a:r>
              <a:rPr lang="zh-CN" altLang="zh-CN" b="1" kern="0" dirty="0">
                <a:solidFill>
                  <a:srgbClr val="000000"/>
                </a:solidFill>
                <a:ea typeface="宋体" panose="02010600030101010101" pitchFamily="2" charset="-122"/>
                <a:cs typeface="Times New Roman" panose="02020603050405020304" pitchFamily="18" charset="0"/>
              </a:rPr>
              <a:t>，因此至少要</a:t>
            </a:r>
            <a:r>
              <a:rPr lang="en-US" altLang="zh-CN" b="1" kern="0" dirty="0">
                <a:solidFill>
                  <a:srgbClr val="000000"/>
                </a:solidFill>
                <a:ea typeface="宋体" panose="02010600030101010101" pitchFamily="2" charset="-122"/>
                <a:cs typeface="Times New Roman" panose="02020603050405020304" pitchFamily="18" charset="0"/>
              </a:rPr>
              <a:t>20</a:t>
            </a:r>
            <a:r>
              <a:rPr lang="zh-CN" altLang="zh-CN" b="1" kern="0" dirty="0">
                <a:solidFill>
                  <a:srgbClr val="000000"/>
                </a:solidFill>
                <a:ea typeface="宋体" panose="02010600030101010101" pitchFamily="2" charset="-122"/>
                <a:cs typeface="Times New Roman" panose="02020603050405020304" pitchFamily="18" charset="0"/>
              </a:rPr>
              <a:t>个二进制位才能表示这么多的内存页帧号，</a:t>
            </a:r>
            <a:r>
              <a:rPr lang="zh-CN" altLang="zh-CN" b="1" kern="0" dirty="0">
                <a:solidFill>
                  <a:srgbClr val="C00000"/>
                </a:solidFill>
                <a:ea typeface="宋体" panose="02010600030101010101" pitchFamily="2" charset="-122"/>
                <a:cs typeface="Times New Roman" panose="02020603050405020304" pitchFamily="18" charset="0"/>
              </a:rPr>
              <a:t>故每个页表项</a:t>
            </a:r>
            <a:r>
              <a:rPr lang="zh-CN" altLang="zh-CN" b="1" kern="0" dirty="0">
                <a:solidFill>
                  <a:srgbClr val="C00000"/>
                </a:solidFill>
                <a:ea typeface="宋体" panose="02010600030101010101" pitchFamily="2" charset="-122"/>
                <a:cs typeface="宋体" panose="02010600030101010101" pitchFamily="2" charset="-122"/>
              </a:rPr>
              <a:t>至少要</a:t>
            </a:r>
            <a:r>
              <a:rPr lang="en-US" altLang="zh-CN" b="1" kern="0" dirty="0">
                <a:solidFill>
                  <a:srgbClr val="C00000"/>
                </a:solidFill>
                <a:ea typeface="宋体" panose="02010600030101010101" pitchFamily="2" charset="-122"/>
                <a:cs typeface="宋体" panose="02010600030101010101" pitchFamily="2" charset="-122"/>
              </a:rPr>
              <a:t>3</a:t>
            </a:r>
            <a:r>
              <a:rPr lang="zh-CN" altLang="zh-CN" b="1" kern="0" dirty="0">
                <a:solidFill>
                  <a:srgbClr val="C00000"/>
                </a:solidFill>
                <a:ea typeface="宋体" panose="02010600030101010101" pitchFamily="2" charset="-122"/>
                <a:cs typeface="宋体" panose="02010600030101010101" pitchFamily="2" charset="-122"/>
              </a:rPr>
              <a:t>个字节才够</a:t>
            </a:r>
            <a:r>
              <a:rPr lang="en-US" altLang="zh-CN" b="1" kern="0" dirty="0">
                <a:solidFill>
                  <a:srgbClr val="000000"/>
                </a:solidFill>
                <a:ea typeface="宋体" panose="02010600030101010101" pitchFamily="2" charset="-122"/>
                <a:cs typeface="宋体" panose="02010600030101010101" pitchFamily="2" charset="-122"/>
              </a:rPr>
              <a:t>(</a:t>
            </a:r>
            <a:r>
              <a:rPr lang="zh-CN" altLang="zh-CN" b="1" kern="0" dirty="0">
                <a:solidFill>
                  <a:srgbClr val="000000"/>
                </a:solidFill>
                <a:ea typeface="宋体" panose="02010600030101010101" pitchFamily="2" charset="-122"/>
                <a:cs typeface="宋体" panose="02010600030101010101" pitchFamily="2" charset="-122"/>
              </a:rPr>
              <a:t>每个字节</a:t>
            </a:r>
            <a:r>
              <a:rPr lang="en-US" altLang="zh-CN" b="1" kern="0" dirty="0">
                <a:solidFill>
                  <a:srgbClr val="000000"/>
                </a:solidFill>
                <a:ea typeface="宋体" panose="02010600030101010101" pitchFamily="2" charset="-122"/>
                <a:cs typeface="宋体" panose="02010600030101010101" pitchFamily="2" charset="-122"/>
              </a:rPr>
              <a:t>8</a:t>
            </a:r>
            <a:r>
              <a:rPr lang="zh-CN" altLang="zh-CN" b="1" kern="0" dirty="0">
                <a:solidFill>
                  <a:srgbClr val="000000"/>
                </a:solidFill>
                <a:ea typeface="宋体" panose="02010600030101010101" pitchFamily="2" charset="-122"/>
                <a:cs typeface="宋体" panose="02010600030101010101" pitchFamily="2" charset="-122"/>
              </a:rPr>
              <a:t>个二进制位，</a:t>
            </a:r>
            <a:r>
              <a:rPr lang="en-US" altLang="zh-CN" b="1" kern="0" dirty="0">
                <a:solidFill>
                  <a:srgbClr val="000000"/>
                </a:solidFill>
                <a:ea typeface="宋体" panose="02010600030101010101" pitchFamily="2" charset="-122"/>
                <a:cs typeface="宋体" panose="02010600030101010101" pitchFamily="2" charset="-122"/>
              </a:rPr>
              <a:t>3</a:t>
            </a:r>
            <a:r>
              <a:rPr lang="zh-CN" altLang="zh-CN" b="1" kern="0" dirty="0">
                <a:solidFill>
                  <a:srgbClr val="000000"/>
                </a:solidFill>
                <a:ea typeface="宋体" panose="02010600030101010101" pitchFamily="2" charset="-122"/>
                <a:cs typeface="宋体" panose="02010600030101010101" pitchFamily="2" charset="-122"/>
              </a:rPr>
              <a:t>个字节共</a:t>
            </a:r>
            <a:r>
              <a:rPr lang="en-US" altLang="zh-CN" b="1" kern="0" dirty="0">
                <a:solidFill>
                  <a:srgbClr val="000000"/>
                </a:solidFill>
                <a:ea typeface="宋体" panose="02010600030101010101" pitchFamily="2" charset="-122"/>
                <a:cs typeface="宋体" panose="02010600030101010101" pitchFamily="2" charset="-122"/>
              </a:rPr>
              <a:t>24</a:t>
            </a:r>
            <a:r>
              <a:rPr lang="zh-CN" altLang="zh-CN" b="1" kern="0" dirty="0">
                <a:solidFill>
                  <a:srgbClr val="000000"/>
                </a:solidFill>
                <a:ea typeface="宋体" panose="02010600030101010101" pitchFamily="2" charset="-122"/>
                <a:cs typeface="宋体" panose="02010600030101010101" pitchFamily="2" charset="-122"/>
              </a:rPr>
              <a:t>个二进制位</a:t>
            </a:r>
            <a:r>
              <a:rPr lang="en-US" altLang="zh-CN" b="1" kern="0" dirty="0">
                <a:solidFill>
                  <a:srgbClr val="000000"/>
                </a:solidFill>
                <a:ea typeface="宋体" panose="02010600030101010101" pitchFamily="2" charset="-122"/>
                <a:cs typeface="宋体" panose="02010600030101010101" pitchFamily="2" charset="-122"/>
              </a:rPr>
              <a:t>)</a:t>
            </a:r>
            <a:endParaRPr lang="zh-CN" altLang="en-US" b="1" dirty="0"/>
          </a:p>
        </p:txBody>
      </p:sp>
      <p:pic>
        <p:nvPicPr>
          <p:cNvPr id="19" name="图片 18"/>
          <p:cNvPicPr>
            <a:picLocks noChangeAspect="1"/>
          </p:cNvPicPr>
          <p:nvPr/>
        </p:nvPicPr>
        <p:blipFill>
          <a:blip r:embed="rId1"/>
          <a:stretch>
            <a:fillRect/>
          </a:stretch>
        </p:blipFill>
        <p:spPr>
          <a:xfrm>
            <a:off x="2767875" y="2152338"/>
            <a:ext cx="5602683" cy="1059609"/>
          </a:xfrm>
          <a:prstGeom prst="rect">
            <a:avLst/>
          </a:prstGeom>
        </p:spPr>
      </p:pic>
      <p:sp>
        <p:nvSpPr>
          <p:cNvPr id="22" name="文本框 21"/>
          <p:cNvSpPr txBox="1"/>
          <p:nvPr/>
        </p:nvSpPr>
        <p:spPr>
          <a:xfrm>
            <a:off x="2270384" y="1783006"/>
            <a:ext cx="6100174" cy="369332"/>
          </a:xfrm>
          <a:prstGeom prst="rect">
            <a:avLst/>
          </a:prstGeom>
          <a:noFill/>
          <a:ln>
            <a:solidFill>
              <a:schemeClr val="bg1"/>
            </a:solidFill>
          </a:ln>
        </p:spPr>
        <p:txBody>
          <a:bodyPr wrap="square">
            <a:spAutoFit/>
          </a:bodyPr>
          <a:lstStyle/>
          <a:p>
            <a:r>
              <a:rPr lang="zh-CN" altLang="en-US" b="1" dirty="0"/>
              <a:t>分页系统中的虚地址结构</a:t>
            </a:r>
            <a:endParaRPr lang="zh-CN" altLang="en-US" b="1"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TextBox 1"/>
          <p:cNvSpPr txBox="1">
            <a:spLocks noChangeArrowheads="1"/>
          </p:cNvSpPr>
          <p:nvPr/>
        </p:nvSpPr>
        <p:spPr bwMode="auto">
          <a:xfrm>
            <a:off x="1230489" y="1139333"/>
            <a:ext cx="4130651"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分页存储管理的地址变换机构</a:t>
            </a:r>
            <a:endParaRPr lang="zh-CN" altLang="en-US" sz="2000" b="1" dirty="0">
              <a:solidFill>
                <a:srgbClr val="6C0000"/>
              </a:solidFill>
              <a:latin typeface="华文行楷" panose="02010800040101010101" charset="-122"/>
              <a:ea typeface="华文行楷" panose="02010800040101010101" charset="-122"/>
            </a:endParaRPr>
          </a:p>
        </p:txBody>
      </p:sp>
      <p:pic>
        <p:nvPicPr>
          <p:cNvPr id="4" name="图片 3"/>
          <p:cNvPicPr>
            <a:picLocks noChangeAspect="1"/>
          </p:cNvPicPr>
          <p:nvPr/>
        </p:nvPicPr>
        <p:blipFill>
          <a:blip r:embed="rId1"/>
          <a:stretch>
            <a:fillRect/>
          </a:stretch>
        </p:blipFill>
        <p:spPr>
          <a:xfrm>
            <a:off x="1579779" y="1610726"/>
            <a:ext cx="6073624" cy="4398142"/>
          </a:xfrm>
          <a:prstGeom prst="rect">
            <a:avLst/>
          </a:prstGeom>
        </p:spPr>
      </p:pic>
      <p:sp>
        <p:nvSpPr>
          <p:cNvPr id="5" name="矩形 4"/>
          <p:cNvSpPr/>
          <p:nvPr/>
        </p:nvSpPr>
        <p:spPr>
          <a:xfrm>
            <a:off x="8355140" y="2269737"/>
            <a:ext cx="2492399" cy="923330"/>
          </a:xfrm>
          <a:prstGeom prst="rect">
            <a:avLst/>
          </a:prstGeom>
        </p:spPr>
        <p:txBody>
          <a:bodyPr wrap="square">
            <a:spAutoFit/>
          </a:bodyPr>
          <a:lstStyle/>
          <a:p>
            <a:r>
              <a:rPr lang="en-US" altLang="zh-CN" b="1" kern="0" dirty="0">
                <a:latin typeface="等线" panose="02010600030101010101" pitchFamily="2" charset="-122"/>
                <a:ea typeface="等线" panose="02010600030101010101" pitchFamily="2" charset="-122"/>
              </a:rPr>
              <a:t>CPU</a:t>
            </a:r>
            <a:r>
              <a:rPr lang="zh-CN" altLang="zh-CN" b="1" kern="0" dirty="0">
                <a:latin typeface="等线" panose="02010600030101010101" pitchFamily="2" charset="-122"/>
                <a:ea typeface="等线" panose="02010600030101010101" pitchFamily="2" charset="-122"/>
                <a:cs typeface="Times New Roman" panose="02020603050405020304" pitchFamily="18" charset="0"/>
              </a:rPr>
              <a:t>执行指令时，每次存取一个数据时，都要</a:t>
            </a:r>
            <a:r>
              <a:rPr lang="zh-CN" altLang="zh-CN" b="1" kern="0" dirty="0">
                <a:solidFill>
                  <a:srgbClr val="FF0000"/>
                </a:solidFill>
                <a:latin typeface="等线" panose="02010600030101010101" pitchFamily="2" charset="-122"/>
                <a:ea typeface="等线" panose="02010600030101010101" pitchFamily="2" charset="-122"/>
                <a:cs typeface="Times New Roman" panose="02020603050405020304" pitchFamily="18" charset="0"/>
              </a:rPr>
              <a:t>两次</a:t>
            </a:r>
            <a:r>
              <a:rPr lang="zh-CN" altLang="zh-CN" b="1" kern="0" dirty="0">
                <a:latin typeface="等线" panose="02010600030101010101" pitchFamily="2" charset="-122"/>
                <a:ea typeface="等线" panose="02010600030101010101" pitchFamily="2" charset="-122"/>
                <a:cs typeface="Times New Roman" panose="02020603050405020304" pitchFamily="18" charset="0"/>
              </a:rPr>
              <a:t>访问内存</a:t>
            </a:r>
            <a:endParaRPr lang="zh-CN" altLang="en-US" b="1" dirty="0">
              <a:latin typeface="等线" panose="02010600030101010101" pitchFamily="2" charset="-122"/>
              <a:ea typeface="等线"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TextBox 1"/>
          <p:cNvSpPr txBox="1">
            <a:spLocks noChangeArrowheads="1"/>
          </p:cNvSpPr>
          <p:nvPr/>
        </p:nvSpPr>
        <p:spPr bwMode="auto">
          <a:xfrm>
            <a:off x="1230489" y="1139333"/>
            <a:ext cx="1462607"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思考</a:t>
            </a:r>
            <a:endParaRPr lang="zh-CN" altLang="en-US" sz="2000" b="1" dirty="0">
              <a:solidFill>
                <a:srgbClr val="6C0000"/>
              </a:solidFill>
              <a:latin typeface="华文行楷" panose="02010800040101010101" charset="-122"/>
              <a:ea typeface="华文行楷" panose="02010800040101010101" charset="-122"/>
            </a:endParaRPr>
          </a:p>
        </p:txBody>
      </p:sp>
      <p:sp>
        <p:nvSpPr>
          <p:cNvPr id="2" name="内容占位符 2"/>
          <p:cNvSpPr txBox="1"/>
          <p:nvPr/>
        </p:nvSpPr>
        <p:spPr>
          <a:xfrm>
            <a:off x="1347987" y="1721624"/>
            <a:ext cx="9223980" cy="123586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b="1" dirty="0">
                <a:latin typeface="+mn-ea"/>
              </a:rPr>
              <a:t>       某虚拟存储器的用户空间共有 </a:t>
            </a:r>
            <a:r>
              <a:rPr lang="en-US" altLang="zh-CN" sz="1800" b="1" dirty="0">
                <a:latin typeface="+mn-ea"/>
              </a:rPr>
              <a:t>32 </a:t>
            </a:r>
            <a:r>
              <a:rPr lang="zh-CN" altLang="en-US" sz="1800" b="1" dirty="0">
                <a:latin typeface="+mn-ea"/>
              </a:rPr>
              <a:t>个页面，每页 </a:t>
            </a:r>
            <a:r>
              <a:rPr lang="en-US" altLang="zh-CN" sz="1800" b="1" dirty="0">
                <a:latin typeface="+mn-ea"/>
              </a:rPr>
              <a:t>1KB</a:t>
            </a:r>
            <a:r>
              <a:rPr lang="zh-CN" altLang="en-US" sz="1800" b="1" dirty="0">
                <a:latin typeface="+mn-ea"/>
              </a:rPr>
              <a:t>，主存 </a:t>
            </a:r>
            <a:r>
              <a:rPr lang="en-US" altLang="zh-CN" sz="1800" b="1" dirty="0">
                <a:latin typeface="+mn-ea"/>
              </a:rPr>
              <a:t>16KB</a:t>
            </a:r>
            <a:r>
              <a:rPr lang="zh-CN" altLang="en-US" sz="1800" b="1" dirty="0">
                <a:latin typeface="+mn-ea"/>
              </a:rPr>
              <a:t>。假定某时刻系统为用户的第 </a:t>
            </a:r>
            <a:r>
              <a:rPr lang="en-US" altLang="zh-CN" sz="1800" b="1" dirty="0">
                <a:latin typeface="+mn-ea"/>
              </a:rPr>
              <a:t>0</a:t>
            </a:r>
            <a:r>
              <a:rPr lang="zh-CN" altLang="en-US" sz="1800" b="1" dirty="0">
                <a:latin typeface="+mn-ea"/>
              </a:rPr>
              <a:t>、</a:t>
            </a:r>
            <a:r>
              <a:rPr lang="en-US" altLang="zh-CN" sz="1800" b="1" dirty="0">
                <a:latin typeface="+mn-ea"/>
              </a:rPr>
              <a:t>1</a:t>
            </a:r>
            <a:r>
              <a:rPr lang="zh-CN" altLang="en-US" sz="1800" b="1" dirty="0">
                <a:latin typeface="+mn-ea"/>
              </a:rPr>
              <a:t>、</a:t>
            </a:r>
            <a:r>
              <a:rPr lang="en-US" altLang="zh-CN" sz="1800" b="1" dirty="0">
                <a:latin typeface="+mn-ea"/>
              </a:rPr>
              <a:t>2</a:t>
            </a:r>
            <a:r>
              <a:rPr lang="zh-CN" altLang="en-US" sz="1800" b="1" dirty="0">
                <a:latin typeface="+mn-ea"/>
              </a:rPr>
              <a:t>、</a:t>
            </a:r>
            <a:r>
              <a:rPr lang="en-US" altLang="zh-CN" sz="1800" b="1" dirty="0">
                <a:latin typeface="+mn-ea"/>
              </a:rPr>
              <a:t>3 </a:t>
            </a:r>
            <a:r>
              <a:rPr lang="zh-CN" altLang="en-US" sz="1800" b="1" dirty="0">
                <a:latin typeface="+mn-ea"/>
              </a:rPr>
              <a:t>页分别分配的物理块号分别为 </a:t>
            </a:r>
            <a:r>
              <a:rPr lang="en-US" altLang="zh-CN" sz="1800" b="1" dirty="0">
                <a:latin typeface="+mn-ea"/>
              </a:rPr>
              <a:t>5</a:t>
            </a:r>
            <a:r>
              <a:rPr lang="zh-CN" altLang="en-US" sz="1800" b="1" dirty="0">
                <a:latin typeface="+mn-ea"/>
              </a:rPr>
              <a:t>、</a:t>
            </a:r>
            <a:r>
              <a:rPr lang="en-US" altLang="zh-CN" sz="1800" b="1" dirty="0">
                <a:latin typeface="+mn-ea"/>
              </a:rPr>
              <a:t>10</a:t>
            </a:r>
            <a:r>
              <a:rPr lang="zh-CN" altLang="en-US" sz="1800" b="1" dirty="0">
                <a:latin typeface="+mn-ea"/>
              </a:rPr>
              <a:t>、</a:t>
            </a:r>
            <a:r>
              <a:rPr lang="en-US" altLang="zh-CN" sz="1800" b="1" dirty="0">
                <a:latin typeface="+mn-ea"/>
              </a:rPr>
              <a:t>4</a:t>
            </a:r>
            <a:r>
              <a:rPr lang="zh-CN" altLang="en-US" sz="1800" b="1" dirty="0">
                <a:latin typeface="+mn-ea"/>
              </a:rPr>
              <a:t>、</a:t>
            </a:r>
            <a:r>
              <a:rPr lang="en-US" altLang="zh-CN" sz="1800" b="1" dirty="0">
                <a:latin typeface="+mn-ea"/>
              </a:rPr>
              <a:t>7</a:t>
            </a:r>
            <a:r>
              <a:rPr lang="zh-CN" altLang="en-US" sz="1800" b="1" dirty="0">
                <a:latin typeface="+mn-ea"/>
              </a:rPr>
              <a:t>，那么虚地址 </a:t>
            </a:r>
            <a:r>
              <a:rPr lang="en-US" altLang="zh-CN" sz="1800" b="1" dirty="0">
                <a:latin typeface="+mn-ea"/>
              </a:rPr>
              <a:t>0A5CH </a:t>
            </a:r>
            <a:r>
              <a:rPr lang="zh-CN" altLang="en-US" sz="1800" b="1" dirty="0">
                <a:latin typeface="+mn-ea"/>
              </a:rPr>
              <a:t>对应的物理地址是 （         ）。</a:t>
            </a:r>
            <a:endParaRPr lang="zh-CN" altLang="en-US" sz="1800" b="1" dirty="0">
              <a:latin typeface="+mn-ea"/>
            </a:endParaRPr>
          </a:p>
        </p:txBody>
      </p:sp>
      <p:grpSp>
        <p:nvGrpSpPr>
          <p:cNvPr id="6" name="组合 5"/>
          <p:cNvGrpSpPr/>
          <p:nvPr/>
        </p:nvGrpSpPr>
        <p:grpSpPr>
          <a:xfrm>
            <a:off x="9041706" y="3138409"/>
            <a:ext cx="1255775" cy="378682"/>
            <a:chOff x="5638800" y="2933700"/>
            <a:chExt cx="1255775" cy="369332"/>
          </a:xfrm>
        </p:grpSpPr>
        <p:sp>
          <p:nvSpPr>
            <p:cNvPr id="7" name="文本框 6"/>
            <p:cNvSpPr txBox="1"/>
            <p:nvPr/>
          </p:nvSpPr>
          <p:spPr>
            <a:xfrm>
              <a:off x="5638800" y="2933700"/>
              <a:ext cx="381000" cy="369332"/>
            </a:xfrm>
            <a:prstGeom prst="rect">
              <a:avLst/>
            </a:prstGeom>
            <a:noFill/>
          </p:spPr>
          <p:txBody>
            <a:bodyPr wrap="square" rtlCol="0">
              <a:spAutoFit/>
            </a:bodyPr>
            <a:lstStyle/>
            <a:p>
              <a:r>
                <a:rPr lang="en-US" altLang="zh-CN" dirty="0"/>
                <a:t>0</a:t>
              </a:r>
              <a:endParaRPr lang="zh-CN" altLang="en-US" dirty="0"/>
            </a:p>
          </p:txBody>
        </p:sp>
        <p:sp>
          <p:nvSpPr>
            <p:cNvPr id="9" name="文本框 8"/>
            <p:cNvSpPr txBox="1"/>
            <p:nvPr/>
          </p:nvSpPr>
          <p:spPr>
            <a:xfrm>
              <a:off x="6267332" y="2933700"/>
              <a:ext cx="627243" cy="360213"/>
            </a:xfrm>
            <a:prstGeom prst="rect">
              <a:avLst/>
            </a:prstGeom>
            <a:noFill/>
            <a:ln>
              <a:solidFill>
                <a:schemeClr val="tx1"/>
              </a:solidFill>
            </a:ln>
          </p:spPr>
          <p:txBody>
            <a:bodyPr wrap="square" rtlCol="0">
              <a:spAutoFit/>
            </a:bodyPr>
            <a:lstStyle/>
            <a:p>
              <a:r>
                <a:rPr lang="en-US" altLang="zh-CN" dirty="0"/>
                <a:t>  5</a:t>
              </a:r>
              <a:endParaRPr lang="zh-CN" altLang="en-US" dirty="0"/>
            </a:p>
          </p:txBody>
        </p:sp>
      </p:grpSp>
      <p:grpSp>
        <p:nvGrpSpPr>
          <p:cNvPr id="10" name="组合 9"/>
          <p:cNvGrpSpPr/>
          <p:nvPr/>
        </p:nvGrpSpPr>
        <p:grpSpPr>
          <a:xfrm>
            <a:off x="9032884" y="3507741"/>
            <a:ext cx="1264597" cy="369332"/>
            <a:chOff x="5638800" y="2933700"/>
            <a:chExt cx="1264597" cy="369332"/>
          </a:xfrm>
        </p:grpSpPr>
        <p:sp>
          <p:nvSpPr>
            <p:cNvPr id="11" name="文本框 10"/>
            <p:cNvSpPr txBox="1"/>
            <p:nvPr/>
          </p:nvSpPr>
          <p:spPr>
            <a:xfrm>
              <a:off x="5638800" y="2933700"/>
              <a:ext cx="381000" cy="369332"/>
            </a:xfrm>
            <a:prstGeom prst="rect">
              <a:avLst/>
            </a:prstGeom>
            <a:noFill/>
          </p:spPr>
          <p:txBody>
            <a:bodyPr wrap="square" rtlCol="0">
              <a:spAutoFit/>
            </a:bodyPr>
            <a:lstStyle/>
            <a:p>
              <a:r>
                <a:rPr lang="en-US" altLang="zh-CN" dirty="0"/>
                <a:t>1</a:t>
              </a:r>
              <a:endParaRPr lang="zh-CN" altLang="en-US" dirty="0"/>
            </a:p>
          </p:txBody>
        </p:sp>
        <p:sp>
          <p:nvSpPr>
            <p:cNvPr id="14" name="文本框 13"/>
            <p:cNvSpPr txBox="1"/>
            <p:nvPr/>
          </p:nvSpPr>
          <p:spPr>
            <a:xfrm>
              <a:off x="6276154" y="2933700"/>
              <a:ext cx="627243" cy="367697"/>
            </a:xfrm>
            <a:prstGeom prst="rect">
              <a:avLst/>
            </a:prstGeom>
            <a:noFill/>
            <a:ln>
              <a:solidFill>
                <a:schemeClr val="tx1"/>
              </a:solidFill>
            </a:ln>
          </p:spPr>
          <p:txBody>
            <a:bodyPr wrap="square" rtlCol="0">
              <a:spAutoFit/>
            </a:bodyPr>
            <a:lstStyle/>
            <a:p>
              <a:r>
                <a:rPr lang="en-US" altLang="zh-CN" dirty="0"/>
                <a:t>  10</a:t>
              </a:r>
              <a:endParaRPr lang="zh-CN" altLang="en-US" dirty="0"/>
            </a:p>
          </p:txBody>
        </p:sp>
      </p:grpSp>
      <p:grpSp>
        <p:nvGrpSpPr>
          <p:cNvPr id="15" name="组合 14"/>
          <p:cNvGrpSpPr/>
          <p:nvPr/>
        </p:nvGrpSpPr>
        <p:grpSpPr>
          <a:xfrm>
            <a:off x="9032884" y="3872262"/>
            <a:ext cx="1264597" cy="369332"/>
            <a:chOff x="5638800" y="2933700"/>
            <a:chExt cx="1264597" cy="369332"/>
          </a:xfrm>
        </p:grpSpPr>
        <p:sp>
          <p:nvSpPr>
            <p:cNvPr id="17" name="文本框 16"/>
            <p:cNvSpPr txBox="1"/>
            <p:nvPr/>
          </p:nvSpPr>
          <p:spPr>
            <a:xfrm>
              <a:off x="5638800" y="2933700"/>
              <a:ext cx="381000" cy="369332"/>
            </a:xfrm>
            <a:prstGeom prst="rect">
              <a:avLst/>
            </a:prstGeom>
            <a:noFill/>
          </p:spPr>
          <p:txBody>
            <a:bodyPr wrap="square" rtlCol="0">
              <a:spAutoFit/>
            </a:bodyPr>
            <a:lstStyle/>
            <a:p>
              <a:r>
                <a:rPr lang="en-US" altLang="zh-CN" dirty="0"/>
                <a:t>2</a:t>
              </a:r>
              <a:endParaRPr lang="zh-CN" altLang="en-US" dirty="0"/>
            </a:p>
          </p:txBody>
        </p:sp>
        <p:sp>
          <p:nvSpPr>
            <p:cNvPr id="18" name="文本框 17"/>
            <p:cNvSpPr txBox="1"/>
            <p:nvPr/>
          </p:nvSpPr>
          <p:spPr>
            <a:xfrm>
              <a:off x="6276154" y="2933700"/>
              <a:ext cx="627243" cy="369332"/>
            </a:xfrm>
            <a:prstGeom prst="rect">
              <a:avLst/>
            </a:prstGeom>
            <a:noFill/>
            <a:ln>
              <a:solidFill>
                <a:schemeClr val="tx1"/>
              </a:solidFill>
            </a:ln>
          </p:spPr>
          <p:txBody>
            <a:bodyPr wrap="square" rtlCol="0">
              <a:spAutoFit/>
            </a:bodyPr>
            <a:lstStyle/>
            <a:p>
              <a:r>
                <a:rPr lang="en-US" altLang="zh-CN" dirty="0"/>
                <a:t>  4</a:t>
              </a:r>
              <a:endParaRPr lang="zh-CN" altLang="en-US" dirty="0"/>
            </a:p>
          </p:txBody>
        </p:sp>
      </p:grpSp>
      <p:grpSp>
        <p:nvGrpSpPr>
          <p:cNvPr id="19" name="组合 18"/>
          <p:cNvGrpSpPr/>
          <p:nvPr/>
        </p:nvGrpSpPr>
        <p:grpSpPr>
          <a:xfrm>
            <a:off x="9032884" y="4239959"/>
            <a:ext cx="1264597" cy="369332"/>
            <a:chOff x="5638800" y="2933700"/>
            <a:chExt cx="1264597" cy="369332"/>
          </a:xfrm>
        </p:grpSpPr>
        <p:sp>
          <p:nvSpPr>
            <p:cNvPr id="20" name="文本框 19"/>
            <p:cNvSpPr txBox="1"/>
            <p:nvPr/>
          </p:nvSpPr>
          <p:spPr>
            <a:xfrm>
              <a:off x="5638800" y="2933700"/>
              <a:ext cx="381000" cy="369332"/>
            </a:xfrm>
            <a:prstGeom prst="rect">
              <a:avLst/>
            </a:prstGeom>
            <a:noFill/>
          </p:spPr>
          <p:txBody>
            <a:bodyPr wrap="square" rtlCol="0">
              <a:spAutoFit/>
            </a:bodyPr>
            <a:lstStyle/>
            <a:p>
              <a:r>
                <a:rPr lang="en-US" altLang="zh-CN" dirty="0"/>
                <a:t>3</a:t>
              </a:r>
              <a:endParaRPr lang="zh-CN" altLang="en-US" dirty="0"/>
            </a:p>
          </p:txBody>
        </p:sp>
        <p:sp>
          <p:nvSpPr>
            <p:cNvPr id="21" name="文本框 20"/>
            <p:cNvSpPr txBox="1"/>
            <p:nvPr/>
          </p:nvSpPr>
          <p:spPr>
            <a:xfrm>
              <a:off x="6276154" y="2933700"/>
              <a:ext cx="627243" cy="369332"/>
            </a:xfrm>
            <a:prstGeom prst="rect">
              <a:avLst/>
            </a:prstGeom>
            <a:noFill/>
            <a:ln>
              <a:solidFill>
                <a:schemeClr val="tx1"/>
              </a:solidFill>
            </a:ln>
          </p:spPr>
          <p:txBody>
            <a:bodyPr wrap="square" rtlCol="0">
              <a:spAutoFit/>
            </a:bodyPr>
            <a:lstStyle/>
            <a:p>
              <a:r>
                <a:rPr lang="en-US" altLang="zh-CN" dirty="0"/>
                <a:t>  7</a:t>
              </a:r>
              <a:endParaRPr lang="zh-CN" altLang="en-US" dirty="0"/>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TextBox 1"/>
          <p:cNvSpPr txBox="1">
            <a:spLocks noChangeArrowheads="1"/>
          </p:cNvSpPr>
          <p:nvPr/>
        </p:nvSpPr>
        <p:spPr bwMode="auto">
          <a:xfrm>
            <a:off x="1230489" y="1139333"/>
            <a:ext cx="1462607" cy="398780"/>
          </a:xfrm>
          <a:prstGeom prst="rect">
            <a:avLst/>
          </a:prstGeom>
          <a:noFill/>
          <a:ln w="9525">
            <a:noFill/>
            <a:miter lim="800000"/>
          </a:ln>
        </p:spPr>
        <p:txBody>
          <a:bodyPr wrap="square">
            <a:spAutoFit/>
          </a:body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思考</a:t>
            </a:r>
            <a:endParaRPr lang="zh-CN" altLang="en-US" sz="2000" b="1" dirty="0">
              <a:solidFill>
                <a:srgbClr val="6C0000"/>
              </a:solidFill>
              <a:latin typeface="华文行楷" panose="02010800040101010101" charset="-122"/>
              <a:ea typeface="华文行楷" panose="02010800040101010101" charset="-122"/>
            </a:endParaRPr>
          </a:p>
        </p:txBody>
      </p:sp>
      <p:sp>
        <p:nvSpPr>
          <p:cNvPr id="2" name="内容占位符 2"/>
          <p:cNvSpPr txBox="1"/>
          <p:nvPr/>
        </p:nvSpPr>
        <p:spPr>
          <a:xfrm>
            <a:off x="1347987" y="1721624"/>
            <a:ext cx="9223980" cy="123586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b="1" dirty="0"/>
              <a:t>       某虚拟存储器的用户空间共有 </a:t>
            </a:r>
            <a:r>
              <a:rPr lang="en-US" altLang="zh-CN" sz="1800" b="1" dirty="0"/>
              <a:t>32 </a:t>
            </a:r>
            <a:r>
              <a:rPr lang="zh-CN" altLang="en-US" sz="1800" b="1" dirty="0"/>
              <a:t>个页面，每页 </a:t>
            </a:r>
            <a:r>
              <a:rPr lang="en-US" altLang="zh-CN" sz="1800" b="1" dirty="0"/>
              <a:t>1KB</a:t>
            </a:r>
            <a:r>
              <a:rPr lang="zh-CN" altLang="en-US" sz="1800" b="1" dirty="0"/>
              <a:t>，主存 </a:t>
            </a:r>
            <a:r>
              <a:rPr lang="en-US" altLang="zh-CN" sz="1800" b="1" dirty="0"/>
              <a:t>16KB</a:t>
            </a:r>
            <a:r>
              <a:rPr lang="zh-CN" altLang="en-US" sz="1800" b="1" dirty="0"/>
              <a:t>。假定某时刻系统为用户的第 </a:t>
            </a:r>
            <a:r>
              <a:rPr lang="en-US" altLang="zh-CN" sz="1800" b="1" dirty="0"/>
              <a:t>0</a:t>
            </a:r>
            <a:r>
              <a:rPr lang="zh-CN" altLang="en-US" sz="1800" b="1" dirty="0"/>
              <a:t>、</a:t>
            </a:r>
            <a:r>
              <a:rPr lang="en-US" altLang="zh-CN" sz="1800" b="1" dirty="0"/>
              <a:t>1</a:t>
            </a:r>
            <a:r>
              <a:rPr lang="zh-CN" altLang="en-US" sz="1800" b="1" dirty="0"/>
              <a:t>、</a:t>
            </a:r>
            <a:r>
              <a:rPr lang="en-US" altLang="zh-CN" sz="1800" b="1" dirty="0"/>
              <a:t>2</a:t>
            </a:r>
            <a:r>
              <a:rPr lang="zh-CN" altLang="en-US" sz="1800" b="1" dirty="0"/>
              <a:t>、</a:t>
            </a:r>
            <a:r>
              <a:rPr lang="en-US" altLang="zh-CN" sz="1800" b="1" dirty="0"/>
              <a:t>3 </a:t>
            </a:r>
            <a:r>
              <a:rPr lang="zh-CN" altLang="en-US" sz="1800" b="1" dirty="0"/>
              <a:t>页分别分配的物理块号分别为 </a:t>
            </a:r>
            <a:r>
              <a:rPr lang="en-US" altLang="zh-CN" sz="1800" b="1" dirty="0"/>
              <a:t>5</a:t>
            </a:r>
            <a:r>
              <a:rPr lang="zh-CN" altLang="en-US" sz="1800" b="1" dirty="0"/>
              <a:t>、</a:t>
            </a:r>
            <a:r>
              <a:rPr lang="en-US" altLang="zh-CN" sz="1800" b="1" dirty="0"/>
              <a:t>10</a:t>
            </a:r>
            <a:r>
              <a:rPr lang="zh-CN" altLang="en-US" sz="1800" b="1" dirty="0"/>
              <a:t>、</a:t>
            </a:r>
            <a:r>
              <a:rPr lang="en-US" altLang="zh-CN" sz="1800" b="1" dirty="0"/>
              <a:t>4</a:t>
            </a:r>
            <a:r>
              <a:rPr lang="zh-CN" altLang="en-US" sz="1800" b="1" dirty="0"/>
              <a:t>、</a:t>
            </a:r>
            <a:r>
              <a:rPr lang="en-US" altLang="zh-CN" sz="1800" b="1" dirty="0"/>
              <a:t>7</a:t>
            </a:r>
            <a:r>
              <a:rPr lang="zh-CN" altLang="en-US" sz="1800" b="1" dirty="0"/>
              <a:t>，那么虚地址 </a:t>
            </a:r>
            <a:r>
              <a:rPr lang="en-US" altLang="zh-CN" sz="1800" b="1" dirty="0"/>
              <a:t>0A5CH </a:t>
            </a:r>
            <a:r>
              <a:rPr lang="zh-CN" altLang="en-US" sz="1800" b="1" dirty="0"/>
              <a:t>对应的物理地址是 （         ）。</a:t>
            </a:r>
            <a:endParaRPr lang="zh-CN" altLang="en-US" sz="1800" b="1" dirty="0"/>
          </a:p>
        </p:txBody>
      </p:sp>
      <p:grpSp>
        <p:nvGrpSpPr>
          <p:cNvPr id="6" name="组合 5"/>
          <p:cNvGrpSpPr/>
          <p:nvPr/>
        </p:nvGrpSpPr>
        <p:grpSpPr>
          <a:xfrm>
            <a:off x="9041706" y="3138409"/>
            <a:ext cx="1255775" cy="378682"/>
            <a:chOff x="5638800" y="2933700"/>
            <a:chExt cx="1255775" cy="369332"/>
          </a:xfrm>
        </p:grpSpPr>
        <p:sp>
          <p:nvSpPr>
            <p:cNvPr id="7" name="文本框 6"/>
            <p:cNvSpPr txBox="1"/>
            <p:nvPr/>
          </p:nvSpPr>
          <p:spPr>
            <a:xfrm>
              <a:off x="5638800" y="2933700"/>
              <a:ext cx="381000" cy="369332"/>
            </a:xfrm>
            <a:prstGeom prst="rect">
              <a:avLst/>
            </a:prstGeom>
            <a:noFill/>
          </p:spPr>
          <p:txBody>
            <a:bodyPr wrap="square" rtlCol="0">
              <a:spAutoFit/>
            </a:bodyPr>
            <a:lstStyle/>
            <a:p>
              <a:r>
                <a:rPr lang="en-US" altLang="zh-CN" dirty="0"/>
                <a:t>0</a:t>
              </a:r>
              <a:endParaRPr lang="zh-CN" altLang="en-US" dirty="0"/>
            </a:p>
          </p:txBody>
        </p:sp>
        <p:sp>
          <p:nvSpPr>
            <p:cNvPr id="9" name="文本框 8"/>
            <p:cNvSpPr txBox="1"/>
            <p:nvPr/>
          </p:nvSpPr>
          <p:spPr>
            <a:xfrm>
              <a:off x="6267332" y="2933700"/>
              <a:ext cx="627243" cy="360213"/>
            </a:xfrm>
            <a:prstGeom prst="rect">
              <a:avLst/>
            </a:prstGeom>
            <a:noFill/>
            <a:ln>
              <a:solidFill>
                <a:schemeClr val="tx1"/>
              </a:solidFill>
            </a:ln>
          </p:spPr>
          <p:txBody>
            <a:bodyPr wrap="square" rtlCol="0">
              <a:spAutoFit/>
            </a:bodyPr>
            <a:lstStyle/>
            <a:p>
              <a:r>
                <a:rPr lang="en-US" altLang="zh-CN" dirty="0"/>
                <a:t>  5</a:t>
              </a:r>
              <a:endParaRPr lang="zh-CN" altLang="en-US" dirty="0"/>
            </a:p>
          </p:txBody>
        </p:sp>
      </p:grpSp>
      <p:grpSp>
        <p:nvGrpSpPr>
          <p:cNvPr id="10" name="组合 9"/>
          <p:cNvGrpSpPr/>
          <p:nvPr/>
        </p:nvGrpSpPr>
        <p:grpSpPr>
          <a:xfrm>
            <a:off x="9032884" y="3507741"/>
            <a:ext cx="1264597" cy="369332"/>
            <a:chOff x="5638800" y="2933700"/>
            <a:chExt cx="1264597" cy="369332"/>
          </a:xfrm>
        </p:grpSpPr>
        <p:sp>
          <p:nvSpPr>
            <p:cNvPr id="11" name="文本框 10"/>
            <p:cNvSpPr txBox="1"/>
            <p:nvPr/>
          </p:nvSpPr>
          <p:spPr>
            <a:xfrm>
              <a:off x="5638800" y="2933700"/>
              <a:ext cx="381000" cy="369332"/>
            </a:xfrm>
            <a:prstGeom prst="rect">
              <a:avLst/>
            </a:prstGeom>
            <a:noFill/>
          </p:spPr>
          <p:txBody>
            <a:bodyPr wrap="square" rtlCol="0">
              <a:spAutoFit/>
            </a:bodyPr>
            <a:lstStyle/>
            <a:p>
              <a:r>
                <a:rPr lang="en-US" altLang="zh-CN" dirty="0"/>
                <a:t>1</a:t>
              </a:r>
              <a:endParaRPr lang="zh-CN" altLang="en-US" dirty="0"/>
            </a:p>
          </p:txBody>
        </p:sp>
        <p:sp>
          <p:nvSpPr>
            <p:cNvPr id="14" name="文本框 13"/>
            <p:cNvSpPr txBox="1"/>
            <p:nvPr/>
          </p:nvSpPr>
          <p:spPr>
            <a:xfrm>
              <a:off x="6276154" y="2933700"/>
              <a:ext cx="627243" cy="367697"/>
            </a:xfrm>
            <a:prstGeom prst="rect">
              <a:avLst/>
            </a:prstGeom>
            <a:noFill/>
            <a:ln>
              <a:solidFill>
                <a:schemeClr val="tx1"/>
              </a:solidFill>
            </a:ln>
          </p:spPr>
          <p:txBody>
            <a:bodyPr wrap="square" rtlCol="0">
              <a:spAutoFit/>
            </a:bodyPr>
            <a:lstStyle/>
            <a:p>
              <a:r>
                <a:rPr lang="en-US" altLang="zh-CN" dirty="0"/>
                <a:t>  10</a:t>
              </a:r>
              <a:endParaRPr lang="zh-CN" altLang="en-US" dirty="0"/>
            </a:p>
          </p:txBody>
        </p:sp>
      </p:grpSp>
      <p:grpSp>
        <p:nvGrpSpPr>
          <p:cNvPr id="15" name="组合 14"/>
          <p:cNvGrpSpPr/>
          <p:nvPr/>
        </p:nvGrpSpPr>
        <p:grpSpPr>
          <a:xfrm>
            <a:off x="9032884" y="3872262"/>
            <a:ext cx="1264597" cy="369332"/>
            <a:chOff x="5638800" y="2933700"/>
            <a:chExt cx="1264597" cy="369332"/>
          </a:xfrm>
        </p:grpSpPr>
        <p:sp>
          <p:nvSpPr>
            <p:cNvPr id="17" name="文本框 16"/>
            <p:cNvSpPr txBox="1"/>
            <p:nvPr/>
          </p:nvSpPr>
          <p:spPr>
            <a:xfrm>
              <a:off x="5638800" y="2933700"/>
              <a:ext cx="381000" cy="369332"/>
            </a:xfrm>
            <a:prstGeom prst="rect">
              <a:avLst/>
            </a:prstGeom>
            <a:noFill/>
          </p:spPr>
          <p:txBody>
            <a:bodyPr wrap="square" rtlCol="0">
              <a:spAutoFit/>
            </a:bodyPr>
            <a:lstStyle/>
            <a:p>
              <a:r>
                <a:rPr lang="en-US" altLang="zh-CN" dirty="0"/>
                <a:t>2</a:t>
              </a:r>
              <a:endParaRPr lang="zh-CN" altLang="en-US" dirty="0"/>
            </a:p>
          </p:txBody>
        </p:sp>
        <p:sp>
          <p:nvSpPr>
            <p:cNvPr id="18" name="文本框 17"/>
            <p:cNvSpPr txBox="1"/>
            <p:nvPr/>
          </p:nvSpPr>
          <p:spPr>
            <a:xfrm>
              <a:off x="6276154" y="2933700"/>
              <a:ext cx="627243" cy="369332"/>
            </a:xfrm>
            <a:prstGeom prst="rect">
              <a:avLst/>
            </a:prstGeom>
            <a:noFill/>
            <a:ln>
              <a:solidFill>
                <a:schemeClr val="tx1"/>
              </a:solidFill>
            </a:ln>
          </p:spPr>
          <p:txBody>
            <a:bodyPr wrap="square" rtlCol="0">
              <a:spAutoFit/>
            </a:bodyPr>
            <a:lstStyle/>
            <a:p>
              <a:r>
                <a:rPr lang="en-US" altLang="zh-CN" dirty="0"/>
                <a:t>  4</a:t>
              </a:r>
              <a:endParaRPr lang="zh-CN" altLang="en-US" dirty="0"/>
            </a:p>
          </p:txBody>
        </p:sp>
      </p:grpSp>
      <p:grpSp>
        <p:nvGrpSpPr>
          <p:cNvPr id="19" name="组合 18"/>
          <p:cNvGrpSpPr/>
          <p:nvPr/>
        </p:nvGrpSpPr>
        <p:grpSpPr>
          <a:xfrm>
            <a:off x="9032884" y="4239959"/>
            <a:ext cx="1264597" cy="369332"/>
            <a:chOff x="5638800" y="2933700"/>
            <a:chExt cx="1264597" cy="369332"/>
          </a:xfrm>
        </p:grpSpPr>
        <p:sp>
          <p:nvSpPr>
            <p:cNvPr id="20" name="文本框 19"/>
            <p:cNvSpPr txBox="1"/>
            <p:nvPr/>
          </p:nvSpPr>
          <p:spPr>
            <a:xfrm>
              <a:off x="5638800" y="2933700"/>
              <a:ext cx="381000" cy="369332"/>
            </a:xfrm>
            <a:prstGeom prst="rect">
              <a:avLst/>
            </a:prstGeom>
            <a:noFill/>
          </p:spPr>
          <p:txBody>
            <a:bodyPr wrap="square" rtlCol="0">
              <a:spAutoFit/>
            </a:bodyPr>
            <a:lstStyle/>
            <a:p>
              <a:r>
                <a:rPr lang="en-US" altLang="zh-CN" dirty="0"/>
                <a:t>3</a:t>
              </a:r>
              <a:endParaRPr lang="zh-CN" altLang="en-US" dirty="0"/>
            </a:p>
          </p:txBody>
        </p:sp>
        <p:sp>
          <p:nvSpPr>
            <p:cNvPr id="21" name="文本框 20"/>
            <p:cNvSpPr txBox="1"/>
            <p:nvPr/>
          </p:nvSpPr>
          <p:spPr>
            <a:xfrm>
              <a:off x="6276154" y="2933700"/>
              <a:ext cx="627243" cy="369332"/>
            </a:xfrm>
            <a:prstGeom prst="rect">
              <a:avLst/>
            </a:prstGeom>
            <a:noFill/>
            <a:ln>
              <a:solidFill>
                <a:schemeClr val="tx1"/>
              </a:solidFill>
            </a:ln>
          </p:spPr>
          <p:txBody>
            <a:bodyPr wrap="square" rtlCol="0">
              <a:spAutoFit/>
            </a:bodyPr>
            <a:lstStyle/>
            <a:p>
              <a:r>
                <a:rPr lang="en-US" altLang="zh-CN" dirty="0"/>
                <a:t>  7</a:t>
              </a:r>
              <a:endParaRPr lang="zh-CN" altLang="en-US" dirty="0"/>
            </a:p>
          </p:txBody>
        </p:sp>
      </p:grpSp>
      <p:sp>
        <p:nvSpPr>
          <p:cNvPr id="4" name="文本框 3"/>
          <p:cNvSpPr txBox="1"/>
          <p:nvPr/>
        </p:nvSpPr>
        <p:spPr>
          <a:xfrm>
            <a:off x="1430648" y="2708053"/>
            <a:ext cx="6811478" cy="923330"/>
          </a:xfrm>
          <a:prstGeom prst="rect">
            <a:avLst/>
          </a:prstGeom>
          <a:noFill/>
        </p:spPr>
        <p:txBody>
          <a:bodyPr wrap="square">
            <a:spAutoFit/>
          </a:bodyPr>
          <a:lstStyle/>
          <a:p>
            <a:r>
              <a:rPr lang="zh-CN" altLang="en-US" b="1" dirty="0">
                <a:latin typeface="+mn-ea"/>
              </a:rPr>
              <a:t>虚地址 0A5CH【H 表示十六进制，该虚地址为十六进制的 0A5C】，可知该逻辑地址的二进制形式为 </a:t>
            </a:r>
            <a:r>
              <a:rPr lang="en-US" altLang="zh-CN" b="1" dirty="0">
                <a:latin typeface="+mn-ea"/>
              </a:rPr>
              <a:t>:</a:t>
            </a:r>
            <a:endParaRPr lang="en-US" altLang="zh-CN" b="1" dirty="0">
              <a:latin typeface="+mn-ea"/>
            </a:endParaRPr>
          </a:p>
          <a:p>
            <a:r>
              <a:rPr lang="zh-CN" altLang="en-US" b="1" dirty="0">
                <a:solidFill>
                  <a:srgbClr val="C00000"/>
                </a:solidFill>
                <a:latin typeface="+mn-ea"/>
              </a:rPr>
              <a:t>0000 1010 0101 1100</a:t>
            </a:r>
            <a:endParaRPr lang="zh-CN" altLang="en-US" b="1" dirty="0">
              <a:solidFill>
                <a:srgbClr val="C00000"/>
              </a:solidFill>
              <a:latin typeface="+mn-ea"/>
            </a:endParaRPr>
          </a:p>
        </p:txBody>
      </p:sp>
      <p:sp>
        <p:nvSpPr>
          <p:cNvPr id="5" name="文本框 4"/>
          <p:cNvSpPr txBox="1"/>
          <p:nvPr/>
        </p:nvSpPr>
        <p:spPr>
          <a:xfrm>
            <a:off x="1347987" y="3726657"/>
            <a:ext cx="7335372" cy="646331"/>
          </a:xfrm>
          <a:prstGeom prst="rect">
            <a:avLst/>
          </a:prstGeom>
          <a:noFill/>
        </p:spPr>
        <p:txBody>
          <a:bodyPr wrap="square">
            <a:spAutoFit/>
          </a:bodyPr>
          <a:lstStyle/>
          <a:p>
            <a:r>
              <a:rPr lang="zh-CN" altLang="en-US" b="1" dirty="0">
                <a:latin typeface="+mn-ea"/>
              </a:rPr>
              <a:t>每页大小为</a:t>
            </a:r>
            <a:r>
              <a:rPr lang="en-US" altLang="zh-CN" b="1" dirty="0">
                <a:latin typeface="+mn-ea"/>
              </a:rPr>
              <a:t>1K,</a:t>
            </a:r>
            <a:r>
              <a:rPr lang="zh-CN" altLang="en-US" b="1" dirty="0">
                <a:latin typeface="+mn-ea"/>
              </a:rPr>
              <a:t>故页内偏移占用</a:t>
            </a:r>
            <a:r>
              <a:rPr lang="en-US" altLang="zh-CN" b="1" dirty="0">
                <a:latin typeface="+mn-ea"/>
              </a:rPr>
              <a:t>10</a:t>
            </a:r>
            <a:r>
              <a:rPr lang="zh-CN" altLang="en-US" b="1" dirty="0">
                <a:latin typeface="+mn-ea"/>
              </a:rPr>
              <a:t>位，那么，前面 </a:t>
            </a:r>
            <a:r>
              <a:rPr lang="en-US" altLang="zh-CN" b="1" dirty="0">
                <a:latin typeface="+mn-ea"/>
              </a:rPr>
              <a:t>6 </a:t>
            </a:r>
            <a:r>
              <a:rPr lang="zh-CN" altLang="en-US" b="1" dirty="0">
                <a:latin typeface="+mn-ea"/>
              </a:rPr>
              <a:t>位为页号，因此虚地址为    </a:t>
            </a:r>
            <a:r>
              <a:rPr lang="en-US" altLang="zh-CN" b="1" dirty="0">
                <a:solidFill>
                  <a:srgbClr val="C00000"/>
                </a:solidFill>
                <a:latin typeface="+mn-ea"/>
              </a:rPr>
              <a:t>0000 10【</a:t>
            </a:r>
            <a:r>
              <a:rPr lang="zh-CN" altLang="en-US" b="1" dirty="0">
                <a:solidFill>
                  <a:srgbClr val="C00000"/>
                </a:solidFill>
                <a:latin typeface="+mn-ea"/>
              </a:rPr>
              <a:t>页号</a:t>
            </a:r>
            <a:r>
              <a:rPr lang="en-US" altLang="zh-CN" b="1" dirty="0">
                <a:solidFill>
                  <a:srgbClr val="C00000"/>
                </a:solidFill>
                <a:latin typeface="+mn-ea"/>
              </a:rPr>
              <a:t>】10 0101 1100  【</a:t>
            </a:r>
            <a:r>
              <a:rPr lang="zh-CN" altLang="en-US" b="1" dirty="0">
                <a:solidFill>
                  <a:srgbClr val="C00000"/>
                </a:solidFill>
                <a:latin typeface="+mn-ea"/>
              </a:rPr>
              <a:t>页内偏移</a:t>
            </a:r>
            <a:r>
              <a:rPr lang="en-US" altLang="zh-CN" b="1" dirty="0">
                <a:solidFill>
                  <a:srgbClr val="C00000"/>
                </a:solidFill>
                <a:latin typeface="+mn-ea"/>
              </a:rPr>
              <a:t>】</a:t>
            </a:r>
            <a:r>
              <a:rPr lang="zh-CN" altLang="en-US" b="1" dirty="0">
                <a:latin typeface="+mn-ea"/>
              </a:rPr>
              <a:t>，页号为 </a:t>
            </a:r>
            <a:r>
              <a:rPr lang="en-US" altLang="zh-CN" b="1" dirty="0">
                <a:latin typeface="+mn-ea"/>
              </a:rPr>
              <a:t>2</a:t>
            </a:r>
            <a:endParaRPr lang="zh-CN" altLang="en-US" b="1" dirty="0">
              <a:latin typeface="+mn-ea"/>
            </a:endParaRPr>
          </a:p>
        </p:txBody>
      </p:sp>
      <p:sp>
        <p:nvSpPr>
          <p:cNvPr id="22" name="文本框 21"/>
          <p:cNvSpPr txBox="1"/>
          <p:nvPr/>
        </p:nvSpPr>
        <p:spPr>
          <a:xfrm>
            <a:off x="1421827" y="4617812"/>
            <a:ext cx="7611057" cy="1200329"/>
          </a:xfrm>
          <a:prstGeom prst="rect">
            <a:avLst/>
          </a:prstGeom>
          <a:noFill/>
        </p:spPr>
        <p:txBody>
          <a:bodyPr wrap="square">
            <a:spAutoFit/>
          </a:bodyPr>
          <a:lstStyle/>
          <a:p>
            <a:r>
              <a:rPr lang="zh-CN" altLang="en-US" b="1" dirty="0"/>
              <a:t>综上，虚地址 0A5CH 对应的物理块号为 4，块内的偏移地址为 ：</a:t>
            </a:r>
            <a:endParaRPr lang="en-US" altLang="zh-CN" b="1" dirty="0"/>
          </a:p>
          <a:p>
            <a:r>
              <a:rPr lang="en-US" altLang="zh-CN" b="1" dirty="0"/>
              <a:t>                               </a:t>
            </a:r>
            <a:r>
              <a:rPr lang="zh-CN" altLang="en-US" b="1" dirty="0">
                <a:solidFill>
                  <a:srgbClr val="C00000"/>
                </a:solidFill>
              </a:rPr>
              <a:t>10 0101 1100</a:t>
            </a:r>
            <a:endParaRPr lang="zh-CN" altLang="en-US" b="1" dirty="0">
              <a:solidFill>
                <a:srgbClr val="C00000"/>
              </a:solidFill>
            </a:endParaRPr>
          </a:p>
          <a:p>
            <a:r>
              <a:rPr lang="zh-CN" altLang="en-US" b="1" dirty="0"/>
              <a:t>            物理地址直接拼接物理块号与页内偏移量：</a:t>
            </a:r>
            <a:endParaRPr lang="zh-CN" altLang="en-US" b="1" dirty="0"/>
          </a:p>
          <a:p>
            <a:r>
              <a:rPr lang="zh-CN" altLang="en-US" b="1" dirty="0"/>
              <a:t>                    </a:t>
            </a:r>
            <a:r>
              <a:rPr lang="en-US" altLang="zh-CN" b="1" dirty="0">
                <a:solidFill>
                  <a:srgbClr val="C00000"/>
                </a:solidFill>
              </a:rPr>
              <a:t>0001 00</a:t>
            </a:r>
            <a:r>
              <a:rPr lang="zh-CN" altLang="en-US" b="1" dirty="0">
                <a:solidFill>
                  <a:srgbClr val="C00000"/>
                </a:solidFill>
              </a:rPr>
              <a:t>10 0101 1100（翻译为十六进制为 </a:t>
            </a:r>
            <a:r>
              <a:rPr lang="en-US" altLang="zh-CN" b="1" dirty="0">
                <a:solidFill>
                  <a:srgbClr val="C00000"/>
                </a:solidFill>
              </a:rPr>
              <a:t>125CH</a:t>
            </a:r>
            <a:r>
              <a:rPr lang="zh-CN" altLang="en-US" b="1" dirty="0">
                <a:solidFill>
                  <a:srgbClr val="C00000"/>
                </a:solidFill>
              </a:rPr>
              <a:t>）</a:t>
            </a:r>
            <a:endParaRPr lang="zh-CN" altLang="en-US" b="1" dirty="0">
              <a:solidFill>
                <a:srgbClr val="C00000"/>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3" name="TextBox 1"/>
          <p:cNvSpPr txBox="1">
            <a:spLocks noChangeArrowheads="1"/>
          </p:cNvSpPr>
          <p:nvPr/>
        </p:nvSpPr>
        <p:spPr bwMode="auto">
          <a:xfrm>
            <a:off x="1203813" y="1247120"/>
            <a:ext cx="3821983" cy="39878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具有快表的地址变换机构</a:t>
            </a:r>
            <a:endParaRPr lang="zh-CN" altLang="en-US" sz="2000" b="1" dirty="0">
              <a:solidFill>
                <a:srgbClr val="6C0000"/>
              </a:solidFill>
              <a:latin typeface="华文行楷" panose="02010800040101010101" charset="-122"/>
              <a:ea typeface="华文行楷" panose="02010800040101010101" charset="-122"/>
            </a:endParaRPr>
          </a:p>
        </p:txBody>
      </p:sp>
      <p:pic>
        <p:nvPicPr>
          <p:cNvPr id="25" name="图片 24"/>
          <p:cNvPicPr>
            <a:picLocks noChangeAspect="1"/>
          </p:cNvPicPr>
          <p:nvPr/>
        </p:nvPicPr>
        <p:blipFill>
          <a:blip r:embed="rId1"/>
          <a:stretch>
            <a:fillRect/>
          </a:stretch>
        </p:blipFill>
        <p:spPr>
          <a:xfrm>
            <a:off x="5162152" y="1536105"/>
            <a:ext cx="5838825" cy="4410075"/>
          </a:xfrm>
          <a:prstGeom prst="rect">
            <a:avLst/>
          </a:prstGeom>
        </p:spPr>
      </p:pic>
      <p:sp>
        <p:nvSpPr>
          <p:cNvPr id="27" name="文本框 26"/>
          <p:cNvSpPr txBox="1"/>
          <p:nvPr/>
        </p:nvSpPr>
        <p:spPr>
          <a:xfrm>
            <a:off x="1067455" y="1907839"/>
            <a:ext cx="4094697" cy="1296637"/>
          </a:xfrm>
          <a:prstGeom prst="rect">
            <a:avLst/>
          </a:prstGeom>
          <a:noFill/>
          <a:ln>
            <a:solidFill>
              <a:schemeClr val="bg1"/>
            </a:solidFill>
          </a:ln>
        </p:spPr>
        <p:txBody>
          <a:bodyPr wrap="square">
            <a:spAutoFit/>
          </a:bodyPr>
          <a:lstStyle/>
          <a:p>
            <a:pPr>
              <a:lnSpc>
                <a:spcPct val="150000"/>
              </a:lnSpc>
            </a:pPr>
            <a:r>
              <a:rPr lang="zh-CN" altLang="en-US" b="1" dirty="0"/>
              <a:t>为了提高地址变换速度，可在地址变换机构中增设一个专用且快速的硬件缓冲器，又称为“联想寄存器”或“快表”。</a:t>
            </a:r>
            <a:endParaRPr lang="zh-CN" altLang="en-US" b="1" dirty="0"/>
          </a:p>
        </p:txBody>
      </p:sp>
      <p:sp>
        <p:nvSpPr>
          <p:cNvPr id="30" name="椭圆 29"/>
          <p:cNvSpPr/>
          <p:nvPr/>
        </p:nvSpPr>
        <p:spPr>
          <a:xfrm>
            <a:off x="6463430" y="3066690"/>
            <a:ext cx="2061882" cy="16504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3" name="TextBox 1"/>
          <p:cNvSpPr txBox="1">
            <a:spLocks noChangeArrowheads="1"/>
          </p:cNvSpPr>
          <p:nvPr/>
        </p:nvSpPr>
        <p:spPr bwMode="auto">
          <a:xfrm>
            <a:off x="1001395" y="1256665"/>
            <a:ext cx="4635500" cy="39878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具有快表的地址变换机构</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zh-CN" altLang="en-US" sz="2000" b="1" dirty="0">
              <a:solidFill>
                <a:srgbClr val="6C0000"/>
              </a:solidFill>
              <a:latin typeface="华文行楷" panose="02010800040101010101" charset="-122"/>
              <a:ea typeface="华文行楷" panose="02010800040101010101" charset="-122"/>
            </a:endParaRPr>
          </a:p>
        </p:txBody>
      </p:sp>
      <p:pic>
        <p:nvPicPr>
          <p:cNvPr id="25" name="图片 24"/>
          <p:cNvPicPr>
            <a:picLocks noChangeAspect="1"/>
          </p:cNvPicPr>
          <p:nvPr/>
        </p:nvPicPr>
        <p:blipFill>
          <a:blip r:embed="rId1"/>
          <a:stretch>
            <a:fillRect/>
          </a:stretch>
        </p:blipFill>
        <p:spPr>
          <a:xfrm>
            <a:off x="5113478" y="1800160"/>
            <a:ext cx="5838825" cy="4410075"/>
          </a:xfrm>
          <a:prstGeom prst="rect">
            <a:avLst/>
          </a:prstGeom>
        </p:spPr>
      </p:pic>
      <p:sp>
        <p:nvSpPr>
          <p:cNvPr id="29" name="文本框 28"/>
          <p:cNvSpPr txBox="1"/>
          <p:nvPr/>
        </p:nvSpPr>
        <p:spPr>
          <a:xfrm>
            <a:off x="746124" y="1998358"/>
            <a:ext cx="4552385" cy="3139321"/>
          </a:xfrm>
          <a:prstGeom prst="rect">
            <a:avLst/>
          </a:prstGeom>
          <a:noFill/>
          <a:ln>
            <a:solidFill>
              <a:schemeClr val="bg2">
                <a:lumMod val="10000"/>
              </a:schemeClr>
            </a:solidFill>
          </a:ln>
        </p:spPr>
        <p:txBody>
          <a:bodyPr wrap="square">
            <a:spAutoFit/>
          </a:bodyPr>
          <a:lstStyle/>
          <a:p>
            <a:pPr marL="285750" indent="-285750">
              <a:buFont typeface="Wingdings" panose="05000000000000000000" pitchFamily="2" charset="2"/>
              <a:buChar char="u"/>
            </a:pPr>
            <a:r>
              <a:rPr lang="zh-CN" altLang="en-US" b="1" dirty="0"/>
              <a:t>将页号与快表中的所有页号进行比较，若其中有该页号，则直接读出所对应的页帧号。</a:t>
            </a:r>
            <a:endParaRPr lang="en-US" altLang="zh-CN" b="1" dirty="0"/>
          </a:p>
          <a:p>
            <a:pPr marL="285750" indent="-285750">
              <a:buFont typeface="Wingdings" panose="05000000000000000000" pitchFamily="2" charset="2"/>
              <a:buChar char="u"/>
            </a:pPr>
            <a:endParaRPr lang="en-US" altLang="zh-CN" b="1" dirty="0"/>
          </a:p>
          <a:p>
            <a:pPr marL="285750" indent="-285750">
              <a:buFont typeface="Wingdings" panose="05000000000000000000" pitchFamily="2" charset="2"/>
              <a:buChar char="u"/>
            </a:pPr>
            <a:r>
              <a:rPr lang="zh-CN" altLang="en-US" b="1" dirty="0"/>
              <a:t>若在未找到，则还需访问内存中的页表。</a:t>
            </a:r>
            <a:endParaRPr lang="en-US" altLang="zh-CN" b="1" dirty="0"/>
          </a:p>
          <a:p>
            <a:pPr marL="285750" indent="-285750">
              <a:buFont typeface="Wingdings" panose="05000000000000000000" pitchFamily="2" charset="2"/>
              <a:buChar char="u"/>
            </a:pPr>
            <a:endParaRPr lang="en-US" altLang="zh-CN" b="1" dirty="0"/>
          </a:p>
          <a:p>
            <a:pPr marL="285750" indent="-285750">
              <a:buFont typeface="Wingdings" panose="05000000000000000000" pitchFamily="2" charset="2"/>
              <a:buChar char="u"/>
            </a:pPr>
            <a:r>
              <a:rPr lang="zh-CN" altLang="en-US" b="1" dirty="0"/>
              <a:t>同时需要将此页表项写入快表（修改快表）。</a:t>
            </a:r>
            <a:endParaRPr lang="en-US" altLang="zh-CN" b="1" dirty="0"/>
          </a:p>
          <a:p>
            <a:pPr marL="285750" indent="-285750">
              <a:buFont typeface="Wingdings" panose="05000000000000000000" pitchFamily="2" charset="2"/>
              <a:buChar char="u"/>
            </a:pPr>
            <a:endParaRPr lang="en-US" altLang="zh-CN" b="1" dirty="0"/>
          </a:p>
          <a:p>
            <a:pPr marL="285750" indent="-285750">
              <a:buFont typeface="Wingdings" panose="05000000000000000000" pitchFamily="2" charset="2"/>
              <a:buChar char="u"/>
            </a:pPr>
            <a:r>
              <a:rPr lang="zh-CN" altLang="en-US" b="1" dirty="0"/>
              <a:t>如果快表已满，则需要淘汰一个快表项并进行置换</a:t>
            </a:r>
            <a:endParaRPr lang="zh-CN" altLang="en-US" b="1" dirty="0"/>
          </a:p>
        </p:txBody>
      </p:sp>
      <p:sp>
        <p:nvSpPr>
          <p:cNvPr id="30" name="椭圆 29"/>
          <p:cNvSpPr/>
          <p:nvPr/>
        </p:nvSpPr>
        <p:spPr>
          <a:xfrm>
            <a:off x="6400800" y="3204476"/>
            <a:ext cx="2061882" cy="16504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3" name="TextBox 1"/>
          <p:cNvSpPr txBox="1">
            <a:spLocks noChangeArrowheads="1"/>
          </p:cNvSpPr>
          <p:nvPr/>
        </p:nvSpPr>
        <p:spPr bwMode="auto">
          <a:xfrm>
            <a:off x="1203960" y="1136015"/>
            <a:ext cx="4732655" cy="39878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具有快表的地址变换机构</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zh-CN" altLang="en-US" sz="2000" b="1" dirty="0">
              <a:solidFill>
                <a:srgbClr val="6C0000"/>
              </a:solidFill>
              <a:latin typeface="华文行楷" panose="02010800040101010101" charset="-122"/>
              <a:ea typeface="华文行楷" panose="02010800040101010101" charset="-122"/>
            </a:endParaRPr>
          </a:p>
        </p:txBody>
      </p:sp>
      <p:sp>
        <p:nvSpPr>
          <p:cNvPr id="2" name="矩形 1"/>
          <p:cNvSpPr/>
          <p:nvPr/>
        </p:nvSpPr>
        <p:spPr>
          <a:xfrm>
            <a:off x="1730804" y="1680281"/>
            <a:ext cx="8465382" cy="759952"/>
          </a:xfrm>
          <a:prstGeom prst="rect">
            <a:avLst/>
          </a:prstGeom>
        </p:spPr>
        <p:txBody>
          <a:bodyPr wrap="square">
            <a:spAutoFit/>
          </a:bodyPr>
          <a:lstStyle/>
          <a:p>
            <a:pPr indent="266700" algn="just">
              <a:lnSpc>
                <a:spcPct val="125000"/>
              </a:lnSpc>
            </a:pPr>
            <a:r>
              <a:rPr lang="en-US"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有效访问时间</a:t>
            </a:r>
            <a:r>
              <a:rPr lang="en-US"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(EAT)</a:t>
            </a: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可定义为：从进程给出特定的虚地址的访问请求，经过地址变换，到内存中找到对应的实际物理地址单元并取出数据，所需花费的总时间。</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3" name="矩形 2"/>
          <p:cNvSpPr/>
          <p:nvPr/>
        </p:nvSpPr>
        <p:spPr>
          <a:xfrm>
            <a:off x="1893644" y="2884562"/>
            <a:ext cx="8465382" cy="2491195"/>
          </a:xfrm>
          <a:prstGeom prst="rect">
            <a:avLst/>
          </a:prstGeom>
          <a:solidFill>
            <a:schemeClr val="accent1">
              <a:lumMod val="20000"/>
              <a:lumOff val="80000"/>
            </a:schemeClr>
          </a:solidFill>
          <a:ln>
            <a:solidFill>
              <a:schemeClr val="tx1"/>
            </a:solidFill>
          </a:ln>
        </p:spPr>
        <p:txBody>
          <a:bodyPr wrap="square">
            <a:spAutoFit/>
          </a:bodyPr>
          <a:lstStyle/>
          <a:p>
            <a:pPr indent="266700" algn="just">
              <a:lnSpc>
                <a:spcPct val="125000"/>
              </a:lnSpc>
            </a:pP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假定访问一次内存的时间为</a:t>
            </a:r>
            <a:r>
              <a:rPr lang="en-US"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t</a:t>
            </a: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el-GR"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λ</a:t>
            </a: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为查找快表所需要的时间，</a:t>
            </a:r>
            <a:r>
              <a:rPr lang="en-US"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a</a:t>
            </a: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为快表的命中率，则：</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5000"/>
              </a:lnSpc>
            </a:pPr>
            <a:r>
              <a:rPr lang="en-US"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1</a:t>
            </a: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）基本分页存储管理方式中，</a:t>
            </a: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有效访问：</a:t>
            </a:r>
            <a:r>
              <a:rPr lang="en-US" altLang="zh-CN" b="1" kern="0" dirty="0">
                <a:solidFill>
                  <a:srgbClr val="C00000"/>
                </a:solidFill>
                <a:latin typeface="等线" panose="02010600030101010101" pitchFamily="2" charset="-122"/>
                <a:ea typeface="等线" panose="02010600030101010101" pitchFamily="2" charset="-122"/>
                <a:cs typeface="Times New Roman" panose="02020603050405020304" pitchFamily="18" charset="0"/>
              </a:rPr>
              <a:t>EAT=2t</a:t>
            </a:r>
            <a:endParaRPr lang="zh-CN" altLang="zh-CN" b="1" kern="100" dirty="0">
              <a:solidFill>
                <a:srgbClr val="C00000"/>
              </a:solidFill>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5000"/>
              </a:lnSpc>
            </a:pPr>
            <a:r>
              <a:rPr lang="en-US"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2</a:t>
            </a: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）引入快表的分页存储管理方式中，</a:t>
            </a: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通过查询快表可直接得到虚页所对</a:t>
            </a:r>
            <a:endParaRPr lang="en-US"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5000"/>
              </a:lnSpc>
            </a:pPr>
            <a:r>
              <a:rPr lang="en-US"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应的页帧号，由此拼接形成实际物理地址，减少了一次访问内存，缩</a:t>
            </a:r>
            <a:endParaRPr lang="en-US"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5000"/>
              </a:lnSpc>
            </a:pPr>
            <a:r>
              <a:rPr lang="en-US"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短了进程访问内存的有限时间。</a:t>
            </a:r>
            <a:r>
              <a:rPr lang="zh-CN"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5000"/>
              </a:lnSpc>
            </a:pPr>
            <a:r>
              <a:rPr lang="en-US"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        </a:t>
            </a:r>
            <a:r>
              <a:rPr lang="en-US" altLang="zh-CN" b="1" kern="0" dirty="0">
                <a:solidFill>
                  <a:srgbClr val="C00000"/>
                </a:solidFill>
                <a:latin typeface="等线" panose="02010600030101010101" pitchFamily="2" charset="-122"/>
                <a:ea typeface="等线" panose="02010600030101010101" pitchFamily="2" charset="-122"/>
                <a:cs typeface="宋体" panose="02010600030101010101" pitchFamily="2" charset="-122"/>
              </a:rPr>
              <a:t>EAT=</a:t>
            </a:r>
            <a:r>
              <a:rPr lang="zh-CN" altLang="zh-CN" b="1" kern="0" dirty="0">
                <a:solidFill>
                  <a:srgbClr val="C00000"/>
                </a:solidFill>
                <a:latin typeface="等线" panose="02010600030101010101" pitchFamily="2" charset="-122"/>
                <a:ea typeface="等线" panose="02010600030101010101" pitchFamily="2" charset="-122"/>
                <a:cs typeface="宋体" panose="02010600030101010101" pitchFamily="2" charset="-122"/>
              </a:rPr>
              <a:t>（</a:t>
            </a:r>
            <a:r>
              <a:rPr lang="el-GR" altLang="zh-CN" b="1" kern="0" dirty="0">
                <a:solidFill>
                  <a:srgbClr val="C00000"/>
                </a:solidFill>
                <a:latin typeface="等线" panose="02010600030101010101" pitchFamily="2" charset="-122"/>
                <a:ea typeface="等线" panose="02010600030101010101" pitchFamily="2" charset="-122"/>
                <a:cs typeface="宋体" panose="02010600030101010101" pitchFamily="2" charset="-122"/>
              </a:rPr>
              <a:t>λ+t</a:t>
            </a:r>
            <a:r>
              <a:rPr lang="zh-CN" altLang="zh-CN" b="1" kern="0" dirty="0">
                <a:solidFill>
                  <a:srgbClr val="C00000"/>
                </a:solidFill>
                <a:latin typeface="等线" panose="02010600030101010101" pitchFamily="2" charset="-122"/>
                <a:ea typeface="等线" panose="02010600030101010101" pitchFamily="2" charset="-122"/>
                <a:cs typeface="宋体" panose="02010600030101010101" pitchFamily="2" charset="-122"/>
              </a:rPr>
              <a:t>）</a:t>
            </a:r>
            <a:r>
              <a:rPr lang="en-US" altLang="zh-CN" b="1" kern="0" dirty="0">
                <a:solidFill>
                  <a:srgbClr val="C00000"/>
                </a:solidFill>
                <a:latin typeface="等线" panose="02010600030101010101" pitchFamily="2" charset="-122"/>
                <a:ea typeface="等线" panose="02010600030101010101" pitchFamily="2" charset="-122"/>
                <a:cs typeface="宋体" panose="02010600030101010101" pitchFamily="2" charset="-122"/>
              </a:rPr>
              <a:t>a +(2t+</a:t>
            </a:r>
            <a:r>
              <a:rPr lang="el-GR" altLang="zh-CN" b="1" kern="0" dirty="0">
                <a:solidFill>
                  <a:srgbClr val="C00000"/>
                </a:solidFill>
                <a:latin typeface="等线" panose="02010600030101010101" pitchFamily="2" charset="-122"/>
                <a:ea typeface="等线" panose="02010600030101010101" pitchFamily="2" charset="-122"/>
                <a:cs typeface="宋体" panose="02010600030101010101" pitchFamily="2" charset="-122"/>
              </a:rPr>
              <a:t>λ</a:t>
            </a:r>
            <a:r>
              <a:rPr lang="en-US" altLang="zh-CN" b="1" kern="0" dirty="0">
                <a:solidFill>
                  <a:srgbClr val="C00000"/>
                </a:solidFill>
                <a:latin typeface="等线" panose="02010600030101010101" pitchFamily="2" charset="-122"/>
                <a:ea typeface="等线" panose="02010600030101010101" pitchFamily="2" charset="-122"/>
                <a:cs typeface="宋体" panose="02010600030101010101" pitchFamily="2" charset="-122"/>
              </a:rPr>
              <a:t>)(1-a) =2t+</a:t>
            </a:r>
            <a:r>
              <a:rPr lang="el-GR" altLang="zh-CN" b="1" kern="0" dirty="0">
                <a:solidFill>
                  <a:srgbClr val="C00000"/>
                </a:solidFill>
                <a:latin typeface="等线" panose="02010600030101010101" pitchFamily="2" charset="-122"/>
                <a:ea typeface="等线" panose="02010600030101010101" pitchFamily="2" charset="-122"/>
                <a:cs typeface="宋体" panose="02010600030101010101" pitchFamily="2" charset="-122"/>
              </a:rPr>
              <a:t> λ</a:t>
            </a:r>
            <a:r>
              <a:rPr lang="en-US" altLang="zh-CN" b="1" kern="0" dirty="0">
                <a:solidFill>
                  <a:srgbClr val="C00000"/>
                </a:solidFill>
                <a:latin typeface="等线" panose="02010600030101010101" pitchFamily="2" charset="-122"/>
                <a:ea typeface="等线" panose="02010600030101010101" pitchFamily="2" charset="-122"/>
                <a:cs typeface="宋体" panose="02010600030101010101" pitchFamily="2" charset="-122"/>
              </a:rPr>
              <a:t>-</a:t>
            </a:r>
            <a:r>
              <a:rPr lang="en-US" altLang="zh-CN" b="1" kern="0" dirty="0" err="1">
                <a:solidFill>
                  <a:srgbClr val="C00000"/>
                </a:solidFill>
                <a:latin typeface="等线" panose="02010600030101010101" pitchFamily="2" charset="-122"/>
                <a:ea typeface="等线" panose="02010600030101010101" pitchFamily="2" charset="-122"/>
                <a:cs typeface="宋体" panose="02010600030101010101" pitchFamily="2" charset="-122"/>
              </a:rPr>
              <a:t>t×a</a:t>
            </a:r>
            <a:endParaRPr lang="zh-CN" altLang="zh-CN" b="1" kern="100" dirty="0">
              <a:solidFill>
                <a:srgbClr val="C00000"/>
              </a:solidFill>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3" name="TextBox 1"/>
          <p:cNvSpPr txBox="1">
            <a:spLocks noChangeArrowheads="1"/>
          </p:cNvSpPr>
          <p:nvPr/>
        </p:nvSpPr>
        <p:spPr bwMode="auto">
          <a:xfrm>
            <a:off x="1203960" y="1136015"/>
            <a:ext cx="5401945" cy="39878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具有快表的地址变换机构</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zh-CN" altLang="en-US" sz="2000" b="1" dirty="0">
              <a:solidFill>
                <a:srgbClr val="6C0000"/>
              </a:solidFill>
              <a:latin typeface="华文行楷" panose="02010800040101010101" charset="-122"/>
              <a:ea typeface="华文行楷" panose="02010800040101010101" charset="-122"/>
            </a:endParaRPr>
          </a:p>
        </p:txBody>
      </p:sp>
      <p:sp>
        <p:nvSpPr>
          <p:cNvPr id="4" name="矩形 3"/>
          <p:cNvSpPr/>
          <p:nvPr/>
        </p:nvSpPr>
        <p:spPr>
          <a:xfrm>
            <a:off x="1746927" y="1855062"/>
            <a:ext cx="8900195" cy="1455078"/>
          </a:xfrm>
          <a:prstGeom prst="rect">
            <a:avLst/>
          </a:prstGeom>
        </p:spPr>
        <p:txBody>
          <a:bodyPr wrap="square">
            <a:spAutoFit/>
          </a:bodyPr>
          <a:lstStyle/>
          <a:p>
            <a:pPr indent="266700" algn="just">
              <a:lnSpc>
                <a:spcPct val="125000"/>
              </a:lnSpc>
            </a:pPr>
            <a:r>
              <a:rPr lang="zh-CN"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例：</a:t>
            </a: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在一个引入了快表的分页存储系统中，页表放在内存中，多数活动页表项都可以存在快表中。假定一次内存访问时间是</a:t>
            </a:r>
            <a:r>
              <a:rPr lang="en-US"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100ns</a:t>
            </a: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，查找快表的时间为</a:t>
            </a:r>
            <a:r>
              <a:rPr lang="en-US"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20ns</a:t>
            </a: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，若快表的命中率是</a:t>
            </a:r>
            <a:r>
              <a:rPr lang="en-US"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85</a:t>
            </a: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％，则访问内存的有效时间为多少？若快表的命中率为</a:t>
            </a:r>
            <a:r>
              <a:rPr lang="en-US"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50</a:t>
            </a: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％，那么访问内存的有效时间为多少？</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 name="矩形 4"/>
          <p:cNvSpPr/>
          <p:nvPr/>
        </p:nvSpPr>
        <p:spPr>
          <a:xfrm>
            <a:off x="1853852" y="3651878"/>
            <a:ext cx="8680537" cy="1452449"/>
          </a:xfrm>
          <a:prstGeom prst="rect">
            <a:avLst/>
          </a:prstGeom>
          <a:noFill/>
          <a:ln>
            <a:solidFill>
              <a:schemeClr val="bg2">
                <a:lumMod val="10000"/>
              </a:schemeClr>
            </a:solidFill>
          </a:ln>
        </p:spPr>
        <p:txBody>
          <a:bodyPr wrap="square">
            <a:spAutoFit/>
          </a:bodyPr>
          <a:lstStyle/>
          <a:p>
            <a:pPr indent="266700" algn="just">
              <a:lnSpc>
                <a:spcPct val="125000"/>
              </a:lnSpc>
            </a:pP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解：当快表的命中率为</a:t>
            </a: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85</a:t>
            </a: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％时，有效存取时间为：</a:t>
            </a:r>
            <a:endParaRPr lang="zh-CN" altLang="zh-CN" b="1" kern="100" dirty="0">
              <a:solidFill>
                <a:srgbClr val="002060"/>
              </a:solidFill>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5000"/>
              </a:lnSpc>
            </a:pP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         EAT=0.85×</a:t>
            </a: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a:t>
            </a: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20+100</a:t>
            </a: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a:t>
            </a: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(200+20)×(1</a:t>
            </a: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a:t>
            </a: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0.85)</a:t>
            </a: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a:t>
            </a: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135ns</a:t>
            </a:r>
            <a:endParaRPr lang="zh-CN" altLang="zh-CN" b="1" kern="100" dirty="0">
              <a:solidFill>
                <a:srgbClr val="002060"/>
              </a:solidFill>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5000"/>
              </a:lnSpc>
            </a:pP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当快表的命中率为</a:t>
            </a: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50</a:t>
            </a: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％时，有效存取时间为：</a:t>
            </a:r>
            <a:endParaRPr lang="zh-CN" altLang="zh-CN" b="1" kern="100" dirty="0">
              <a:solidFill>
                <a:srgbClr val="002060"/>
              </a:solidFill>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5000"/>
              </a:lnSpc>
            </a:pP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      EAT=0. 5×</a:t>
            </a: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a:t>
            </a: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20+100</a:t>
            </a: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a:t>
            </a: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(200+20)×(1</a:t>
            </a: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a:t>
            </a: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0.5) </a:t>
            </a: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a:t>
            </a: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 100</a:t>
            </a:r>
            <a:r>
              <a:rPr lang="zh-CN"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a:t>
            </a:r>
            <a:r>
              <a:rPr lang="en-US" altLang="zh-CN" b="1" kern="0" dirty="0">
                <a:solidFill>
                  <a:srgbClr val="002060"/>
                </a:solidFill>
                <a:latin typeface="等线" panose="02010600030101010101" pitchFamily="2" charset="-122"/>
                <a:ea typeface="等线" panose="02010600030101010101" pitchFamily="2" charset="-122"/>
                <a:cs typeface="Times New Roman" panose="02020603050405020304" pitchFamily="18" charset="0"/>
              </a:rPr>
              <a:t>170ns</a:t>
            </a:r>
            <a:endParaRPr lang="zh-CN" altLang="zh-CN" b="1" kern="100" dirty="0">
              <a:solidFill>
                <a:srgbClr val="002060"/>
              </a:solidFill>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646930" y="951865"/>
            <a:ext cx="6892925" cy="5161280"/>
          </a:xfrm>
          <a:prstGeom prst="rect">
            <a:avLst/>
          </a:prstGeom>
        </p:spPr>
      </p:pic>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3" name="TextBox 1"/>
          <p:cNvSpPr txBox="1">
            <a:spLocks noChangeArrowheads="1"/>
          </p:cNvSpPr>
          <p:nvPr/>
        </p:nvSpPr>
        <p:spPr bwMode="auto">
          <a:xfrm>
            <a:off x="1203813" y="1135995"/>
            <a:ext cx="3821983" cy="39878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两级或多级页表</a:t>
            </a:r>
            <a:endParaRPr lang="zh-CN" altLang="en-US" sz="2000" b="1" dirty="0">
              <a:solidFill>
                <a:srgbClr val="6C0000"/>
              </a:solidFill>
              <a:latin typeface="华文行楷" panose="02010800040101010101" charset="-122"/>
              <a:ea typeface="华文行楷" panose="02010800040101010101" charset="-122"/>
            </a:endParaRPr>
          </a:p>
        </p:txBody>
      </p:sp>
      <p:sp>
        <p:nvSpPr>
          <p:cNvPr id="5" name="文本框 4"/>
          <p:cNvSpPr txBox="1"/>
          <p:nvPr/>
        </p:nvSpPr>
        <p:spPr>
          <a:xfrm>
            <a:off x="1047115" y="2414270"/>
            <a:ext cx="3415030" cy="1014730"/>
          </a:xfrm>
          <a:prstGeom prst="rect">
            <a:avLst/>
          </a:prstGeom>
          <a:ln>
            <a:solidFill>
              <a:schemeClr val="bg1"/>
            </a:solidFill>
          </a:ln>
        </p:spPr>
        <p:txBody>
          <a:bodyPr wrap="square">
            <a:spAutoFit/>
          </a:bodyPr>
          <a:p>
            <a:pPr indent="0">
              <a:buFont typeface="Wingdings" panose="05000000000000000000" pitchFamily="2" charset="2"/>
              <a:buNone/>
            </a:pPr>
            <a:r>
              <a:rPr lang="zh-CN" altLang="zh-CN" sz="2000" dirty="0">
                <a:solidFill>
                  <a:schemeClr val="tx1"/>
                </a:solidFill>
                <a:latin typeface="黑体" panose="02010609060101010101" charset="-122"/>
                <a:ea typeface="黑体" panose="02010609060101010101" charset="-122"/>
                <a:cs typeface="黑体" panose="02010609060101010101" charset="-122"/>
                <a:sym typeface="+mn-ea"/>
              </a:rPr>
              <a:t>页表太大，需要多个页帧进行存储，</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页表需要连续存放在内存中，怎么办呢？</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p:txBody>
      </p:sp>
      <p:sp>
        <p:nvSpPr>
          <p:cNvPr id="6" name="文本框 5" descr="7b0a202020202262756c6c6574223a20227b5c2263617465676f727949645c223a5c225c222c5c2274656d706c61746549645c223a32303233313636357d220a7d0a"/>
          <p:cNvSpPr txBox="1"/>
          <p:nvPr/>
        </p:nvSpPr>
        <p:spPr>
          <a:xfrm>
            <a:off x="1047115" y="3935095"/>
            <a:ext cx="4445635" cy="1322070"/>
          </a:xfrm>
          <a:prstGeom prst="rect">
            <a:avLst/>
          </a:prstGeom>
          <a:ln>
            <a:solidFill>
              <a:schemeClr val="bg1"/>
            </a:solidFill>
          </a:ln>
        </p:spPr>
        <p:txBody>
          <a:bodyPr wrap="square">
            <a:spAutoFit/>
          </a:bodyPr>
          <a:p>
            <a:pPr indent="0">
              <a:buFont typeface="Wingdings" panose="05000000000000000000" pitchFamily="2" charset="2"/>
              <a:buNone/>
            </a:pPr>
            <a:r>
              <a:rPr lang="zh-CN" altLang="en-US" sz="2000" b="1" dirty="0">
                <a:solidFill>
                  <a:srgbClr val="7C0000"/>
                </a:solidFill>
                <a:latin typeface="黑体" panose="02010609060101010101" charset="-122"/>
                <a:ea typeface="黑体" panose="02010609060101010101" charset="-122"/>
                <a:cs typeface="黑体" panose="02010609060101010101" charset="-122"/>
                <a:sym typeface="+mn-ea"/>
              </a:rPr>
              <a:t>想象这个策略：</a:t>
            </a:r>
            <a:endParaRPr lang="zh-CN" altLang="en-US" sz="2000" b="1" dirty="0">
              <a:solidFill>
                <a:srgbClr val="7C0000"/>
              </a:solidFill>
              <a:latin typeface="黑体" panose="02010609060101010101" charset="-122"/>
              <a:ea typeface="黑体" panose="02010609060101010101" charset="-122"/>
              <a:cs typeface="黑体" panose="02010609060101010101" charset="-122"/>
              <a:sym typeface="+mn-ea"/>
            </a:endParaRPr>
          </a:p>
          <a:p>
            <a:pPr indent="0">
              <a:buFont typeface="Wingdings" panose="05000000000000000000" pitchFamily="2" charset="2"/>
              <a:buBlip>
                <a:blip r:embed="rId2">
                  <a:extLst>
                    <a:ext uri="{96DAC541-7B7A-43D3-8B79-37D633B846F1}">
                      <asvg:svgBlip xmlns:asvg="http://schemas.microsoft.com/office/drawing/2016/SVG/main" r:embed="rId3"/>
                    </a:ext>
                  </a:extLst>
                </a:blip>
              </a:buBlip>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  </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把虚页分成多个页面组</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indent="0">
              <a:buFont typeface="Wingdings" panose="05000000000000000000" pitchFamily="2" charset="2"/>
              <a:buBlip>
                <a:blip r:embed="rId2">
                  <a:extLst>
                    <a:ext uri="{96DAC541-7B7A-43D3-8B79-37D633B846F1}">
                      <asvg:svgBlip xmlns:asvg="http://schemas.microsoft.com/office/drawing/2016/SVG/main" r:embed="rId3"/>
                    </a:ext>
                  </a:extLst>
                </a:blip>
              </a:buBlip>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  </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每个页面组对应一个子页表</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a:p>
            <a:pPr indent="0">
              <a:buFont typeface="Wingdings" panose="05000000000000000000" pitchFamily="2" charset="2"/>
              <a:buBlip>
                <a:blip r:embed="rId2">
                  <a:extLst>
                    <a:ext uri="{96DAC541-7B7A-43D3-8B79-37D633B846F1}">
                      <asvg:svgBlip xmlns:asvg="http://schemas.microsoft.com/office/drawing/2016/SVG/main" r:embed="rId3"/>
                    </a:ext>
                  </a:extLst>
                </a:blip>
              </a:buBlip>
            </a:pPr>
            <a:r>
              <a:rPr lang="en-US" altLang="zh-CN" sz="2000" dirty="0">
                <a:solidFill>
                  <a:schemeClr val="tx1"/>
                </a:solidFill>
                <a:latin typeface="黑体" panose="02010609060101010101" charset="-122"/>
                <a:ea typeface="黑体" panose="02010609060101010101" charset="-122"/>
                <a:cs typeface="黑体" panose="02010609060101010101" charset="-122"/>
                <a:sym typeface="+mn-ea"/>
              </a:rPr>
              <a:t>  </a:t>
            </a:r>
            <a:r>
              <a:rPr lang="zh-CN" altLang="en-US" sz="2000" dirty="0">
                <a:solidFill>
                  <a:schemeClr val="tx1"/>
                </a:solidFill>
                <a:latin typeface="黑体" panose="02010609060101010101" charset="-122"/>
                <a:ea typeface="黑体" panose="02010609060101010101" charset="-122"/>
                <a:cs typeface="黑体" panose="02010609060101010101" charset="-122"/>
                <a:sym typeface="+mn-ea"/>
              </a:rPr>
              <a:t>使用外层页表定位每个子页表</a:t>
            </a:r>
            <a:endParaRPr lang="zh-CN" altLang="en-US" sz="2000" dirty="0">
              <a:solidFill>
                <a:schemeClr val="tx1"/>
              </a:solidFill>
              <a:latin typeface="黑体" panose="02010609060101010101" charset="-122"/>
              <a:ea typeface="黑体" panose="02010609060101010101" charset="-122"/>
              <a:cs typeface="黑体" panose="02010609060101010101"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3" name="TextBox 1"/>
          <p:cNvSpPr txBox="1">
            <a:spLocks noChangeArrowheads="1"/>
          </p:cNvSpPr>
          <p:nvPr/>
        </p:nvSpPr>
        <p:spPr bwMode="auto">
          <a:xfrm>
            <a:off x="1203813" y="1135995"/>
            <a:ext cx="3821983" cy="39878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两级或多级页表</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zh-CN" altLang="en-US" sz="2000" b="1" dirty="0">
              <a:solidFill>
                <a:srgbClr val="6C0000"/>
              </a:solidFill>
              <a:latin typeface="华文行楷" panose="02010800040101010101" charset="-122"/>
              <a:ea typeface="华文行楷" panose="02010800040101010101" charset="-122"/>
            </a:endParaRPr>
          </a:p>
        </p:txBody>
      </p:sp>
      <p:sp>
        <p:nvSpPr>
          <p:cNvPr id="2" name="矩形 1"/>
          <p:cNvSpPr/>
          <p:nvPr/>
        </p:nvSpPr>
        <p:spPr>
          <a:xfrm>
            <a:off x="1437786" y="1604050"/>
            <a:ext cx="9316427" cy="923330"/>
          </a:xfrm>
          <a:prstGeom prst="rect">
            <a:avLst/>
          </a:prstGeom>
        </p:spPr>
        <p:txBody>
          <a:bodyPr wrap="square">
            <a:spAutoFit/>
          </a:bodyPr>
          <a:lstStyle/>
          <a:p>
            <a:r>
              <a:rPr lang="zh-CN"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由于现在计算机可以拥有很大的逻辑地址空间，因此页表变得非常大，占用很多的内存空间，而且页表需要连续存放在内存中，这显然是不现实的。怎么办呢？我们可以采用采用两级（或多级）页表的方式</a:t>
            </a:r>
            <a:r>
              <a:rPr lang="zh-CN" altLang="en-US" b="1" kern="0" dirty="0">
                <a:solidFill>
                  <a:srgbClr val="000000"/>
                </a:solidFill>
                <a:latin typeface="等线" panose="02010600030101010101" pitchFamily="2" charset="-122"/>
                <a:ea typeface="等线" panose="02010600030101010101" pitchFamily="2" charset="-122"/>
                <a:cs typeface="宋体" panose="02010600030101010101" pitchFamily="2" charset="-122"/>
              </a:rPr>
              <a:t>。</a:t>
            </a:r>
            <a:endParaRPr lang="zh-CN" altLang="en-US" b="1" dirty="0">
              <a:latin typeface="等线" panose="02010600030101010101" pitchFamily="2" charset="-122"/>
              <a:ea typeface="等线" panose="02010600030101010101" pitchFamily="2" charset="-122"/>
            </a:endParaRPr>
          </a:p>
        </p:txBody>
      </p:sp>
      <p:pic>
        <p:nvPicPr>
          <p:cNvPr id="6" name="图片 5"/>
          <p:cNvPicPr>
            <a:picLocks noChangeAspect="1"/>
          </p:cNvPicPr>
          <p:nvPr/>
        </p:nvPicPr>
        <p:blipFill>
          <a:blip r:embed="rId1"/>
          <a:stretch>
            <a:fillRect/>
          </a:stretch>
        </p:blipFill>
        <p:spPr>
          <a:xfrm>
            <a:off x="1870029" y="2870980"/>
            <a:ext cx="7712187" cy="1182160"/>
          </a:xfrm>
          <a:prstGeom prst="rect">
            <a:avLst/>
          </a:prstGeom>
        </p:spPr>
      </p:pic>
      <p:sp>
        <p:nvSpPr>
          <p:cNvPr id="9" name="文本框 8"/>
          <p:cNvSpPr txBox="1"/>
          <p:nvPr/>
        </p:nvSpPr>
        <p:spPr>
          <a:xfrm>
            <a:off x="4872279" y="4312135"/>
            <a:ext cx="2831227" cy="369332"/>
          </a:xfrm>
          <a:prstGeom prst="rect">
            <a:avLst/>
          </a:prstGeom>
          <a:noFill/>
          <a:ln>
            <a:solidFill>
              <a:schemeClr val="bg1"/>
            </a:solidFill>
          </a:ln>
        </p:spPr>
        <p:txBody>
          <a:bodyPr wrap="square">
            <a:spAutoFit/>
          </a:bodyPr>
          <a:lstStyle/>
          <a:p>
            <a:r>
              <a:rPr lang="zh-CN" altLang="en-US" dirty="0"/>
              <a:t>二级页表的逻辑地址</a:t>
            </a:r>
            <a:endParaRPr lang="zh-CN" altLang="en-US" dirty="0"/>
          </a:p>
        </p:txBody>
      </p:sp>
      <p:sp>
        <p:nvSpPr>
          <p:cNvPr id="10" name="文本框 9"/>
          <p:cNvSpPr txBox="1"/>
          <p:nvPr/>
        </p:nvSpPr>
        <p:spPr>
          <a:xfrm>
            <a:off x="1870029" y="4312135"/>
            <a:ext cx="2415009" cy="646331"/>
          </a:xfrm>
          <a:prstGeom prst="rect">
            <a:avLst/>
          </a:prstGeom>
          <a:noFill/>
          <a:ln>
            <a:solidFill>
              <a:schemeClr val="bg1"/>
            </a:solidFill>
          </a:ln>
        </p:spPr>
        <p:txBody>
          <a:bodyPr wrap="square">
            <a:spAutoFit/>
          </a:bodyPr>
          <a:lstStyle/>
          <a:p>
            <a:r>
              <a:rPr lang="zh-CN" altLang="en-US" dirty="0"/>
              <a:t>可以理解为页面组所对应的页表地址</a:t>
            </a:r>
            <a:endParaRPr lang="zh-CN" altLang="en-US" dirty="0"/>
          </a:p>
        </p:txBody>
      </p:sp>
      <p:cxnSp>
        <p:nvCxnSpPr>
          <p:cNvPr id="14" name="直接箭头连接符 13"/>
          <p:cNvCxnSpPr/>
          <p:nvPr/>
        </p:nvCxnSpPr>
        <p:spPr>
          <a:xfrm flipV="1">
            <a:off x="2467627" y="3920647"/>
            <a:ext cx="1077239" cy="391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3.4</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3" name="TextBox 1"/>
          <p:cNvSpPr txBox="1">
            <a:spLocks noChangeArrowheads="1"/>
          </p:cNvSpPr>
          <p:nvPr/>
        </p:nvSpPr>
        <p:spPr bwMode="auto">
          <a:xfrm>
            <a:off x="1203813" y="1135995"/>
            <a:ext cx="3821983" cy="398780"/>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spcBef>
                <a:spcPct val="50000"/>
              </a:spcBef>
              <a:buFont typeface="Wingdings" panose="05000000000000000000" pitchFamily="2" charset="2"/>
              <a:buChar char="n"/>
            </a:pPr>
            <a:r>
              <a:rPr lang="zh-CN" altLang="en-US" sz="2000" b="1" dirty="0">
                <a:solidFill>
                  <a:srgbClr val="6C0000"/>
                </a:solidFill>
                <a:latin typeface="华文行楷" panose="02010800040101010101" charset="-122"/>
                <a:ea typeface="华文行楷" panose="02010800040101010101" charset="-122"/>
              </a:rPr>
              <a:t>两级或多级页表</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zh-CN" altLang="en-US" sz="2000" b="1" dirty="0">
              <a:solidFill>
                <a:srgbClr val="6C0000"/>
              </a:solidFill>
              <a:latin typeface="华文行楷" panose="02010800040101010101" charset="-122"/>
              <a:ea typeface="华文行楷" panose="02010800040101010101" charset="-122"/>
            </a:endParaRPr>
          </a:p>
        </p:txBody>
      </p:sp>
      <p:sp>
        <p:nvSpPr>
          <p:cNvPr id="3" name="矩形 2"/>
          <p:cNvSpPr/>
          <p:nvPr/>
        </p:nvSpPr>
        <p:spPr>
          <a:xfrm>
            <a:off x="1137955" y="1636908"/>
            <a:ext cx="8081201" cy="369332"/>
          </a:xfrm>
          <a:prstGeom prst="rect">
            <a:avLst/>
          </a:prstGeom>
          <a:ln>
            <a:solidFill>
              <a:schemeClr val="accent1"/>
            </a:solidFill>
          </a:ln>
        </p:spPr>
        <p:txBody>
          <a:bodyPr wrap="square">
            <a:spAutoFit/>
          </a:bodyPr>
          <a:lstStyle/>
          <a:p>
            <a:pPr algn="just"/>
            <a:r>
              <a:rPr lang="zh-CN" altLang="en-US" b="1" dirty="0">
                <a:solidFill>
                  <a:srgbClr val="362E2B"/>
                </a:solidFill>
                <a:latin typeface="华文仿宋" panose="02010600040101010101" pitchFamily="2" charset="-122"/>
                <a:ea typeface="华文仿宋" panose="02010600040101010101" pitchFamily="2" charset="-122"/>
              </a:rPr>
              <a:t>在地址变换机构中需要增设一个外层页表寄存器，用于存放外层页表的始址。</a:t>
            </a:r>
            <a:endParaRPr lang="zh-CN" altLang="en-US" b="1" dirty="0">
              <a:latin typeface="华文仿宋" panose="02010600040101010101" pitchFamily="2" charset="-122"/>
              <a:ea typeface="华文仿宋" panose="02010600040101010101" pitchFamily="2" charset="-122"/>
            </a:endParaRPr>
          </a:p>
        </p:txBody>
      </p:sp>
      <p:sp>
        <p:nvSpPr>
          <p:cNvPr id="4" name="文本框 3"/>
          <p:cNvSpPr txBox="1"/>
          <p:nvPr/>
        </p:nvSpPr>
        <p:spPr>
          <a:xfrm>
            <a:off x="3639609" y="5784018"/>
            <a:ext cx="646331" cy="369332"/>
          </a:xfrm>
          <a:prstGeom prst="rect">
            <a:avLst/>
          </a:prstGeom>
          <a:noFill/>
        </p:spPr>
        <p:txBody>
          <a:bodyPr wrap="none" rtlCol="0">
            <a:spAutoFit/>
          </a:bodyPr>
          <a:lstStyle/>
          <a:p>
            <a:r>
              <a:rPr lang="zh-CN" altLang="en-US" b="1" dirty="0">
                <a:solidFill>
                  <a:srgbClr val="C00000"/>
                </a:solidFill>
              </a:rPr>
              <a:t>一级</a:t>
            </a:r>
            <a:endParaRPr lang="zh-CN" altLang="en-US" b="1" dirty="0">
              <a:solidFill>
                <a:srgbClr val="C00000"/>
              </a:solidFill>
            </a:endParaRPr>
          </a:p>
        </p:txBody>
      </p:sp>
      <p:sp>
        <p:nvSpPr>
          <p:cNvPr id="5" name="文本框 4"/>
          <p:cNvSpPr txBox="1"/>
          <p:nvPr/>
        </p:nvSpPr>
        <p:spPr>
          <a:xfrm>
            <a:off x="5449669" y="5784018"/>
            <a:ext cx="646331" cy="369332"/>
          </a:xfrm>
          <a:prstGeom prst="rect">
            <a:avLst/>
          </a:prstGeom>
          <a:noFill/>
        </p:spPr>
        <p:txBody>
          <a:bodyPr wrap="none" rtlCol="0">
            <a:spAutoFit/>
          </a:bodyPr>
          <a:lstStyle/>
          <a:p>
            <a:r>
              <a:rPr lang="zh-CN" altLang="en-US" b="1" dirty="0">
                <a:solidFill>
                  <a:srgbClr val="C00000"/>
                </a:solidFill>
              </a:rPr>
              <a:t>二级</a:t>
            </a:r>
            <a:endParaRPr lang="zh-CN" altLang="en-US" b="1" dirty="0">
              <a:solidFill>
                <a:srgbClr val="C00000"/>
              </a:solidFill>
            </a:endParaRPr>
          </a:p>
        </p:txBody>
      </p:sp>
      <p:pic>
        <p:nvPicPr>
          <p:cNvPr id="2" name="图片 1"/>
          <p:cNvPicPr>
            <a:picLocks noChangeAspect="1"/>
          </p:cNvPicPr>
          <p:nvPr/>
        </p:nvPicPr>
        <p:blipFill>
          <a:blip r:embed="rId1"/>
          <a:stretch>
            <a:fillRect/>
          </a:stretch>
        </p:blipFill>
        <p:spPr>
          <a:xfrm>
            <a:off x="1704975" y="2164080"/>
            <a:ext cx="6650355" cy="354711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3.5</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TextBox 1"/>
          <p:cNvSpPr txBox="1">
            <a:spLocks noChangeArrowheads="1"/>
          </p:cNvSpPr>
          <p:nvPr/>
        </p:nvSpPr>
        <p:spPr bwMode="auto">
          <a:xfrm>
            <a:off x="1105227" y="1261738"/>
            <a:ext cx="3821983" cy="398780"/>
          </a:xfrm>
          <a:prstGeom prst="rect">
            <a:avLst/>
          </a:prstGeom>
          <a:noFill/>
          <a:ln w="9525">
            <a:noFill/>
            <a:miter lim="800000"/>
          </a:ln>
        </p:spPr>
        <p:txBody>
          <a:bodyPr wrap="square">
            <a:spAutoFit/>
          </a:bodyPr>
          <a:lstStyle/>
          <a:p>
            <a:pPr marL="342900" indent="-34290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rPr>
              <a:t>段式存储管理的基本思想</a:t>
            </a:r>
            <a:endParaRPr lang="zh-CN" altLang="zh-CN" sz="2000" b="1" dirty="0">
              <a:solidFill>
                <a:srgbClr val="6C0000"/>
              </a:solidFill>
              <a:latin typeface="华文行楷" panose="02010800040101010101" charset="-122"/>
              <a:ea typeface="华文行楷" panose="02010800040101010101" charset="-122"/>
            </a:endParaRPr>
          </a:p>
        </p:txBody>
      </p:sp>
      <p:sp>
        <p:nvSpPr>
          <p:cNvPr id="6" name="矩形 5"/>
          <p:cNvSpPr/>
          <p:nvPr/>
        </p:nvSpPr>
        <p:spPr>
          <a:xfrm>
            <a:off x="1525673" y="1951672"/>
            <a:ext cx="8971138" cy="1108830"/>
          </a:xfrm>
          <a:prstGeom prst="rect">
            <a:avLst/>
          </a:prstGeom>
        </p:spPr>
        <p:txBody>
          <a:bodyPr wrap="square">
            <a:spAutoFit/>
          </a:bodyPr>
          <a:lstStyle/>
          <a:p>
            <a:pPr algn="just">
              <a:lnSpc>
                <a:spcPct val="125000"/>
              </a:lnSpc>
            </a:pPr>
            <a:r>
              <a:rPr lang="zh-CN"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在段式存储管理中，进程的地址空间由若干个逻辑分段组成，每一个分段是一组逻辑意义完整的信息集合，并且有自己名字（段名），每一段都是以</a:t>
            </a:r>
            <a:r>
              <a:rPr lang="en-US"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0</a:t>
            </a:r>
            <a:r>
              <a:rPr lang="zh-CN"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开始的连续的一维地址空间，整个进程的地址空间是二维的，由段号与段内位移量（段内地址）组成。</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3655695" y="3943985"/>
            <a:ext cx="4943475" cy="94742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1105227" y="1261738"/>
            <a:ext cx="5145261" cy="398780"/>
          </a:xfrm>
          <a:prstGeom prst="rect">
            <a:avLst/>
          </a:prstGeom>
          <a:noFill/>
          <a:ln w="9525">
            <a:noFill/>
            <a:miter lim="800000"/>
          </a:ln>
        </p:spPr>
        <p:txBody>
          <a:bodyPr wrap="square">
            <a:spAutoFit/>
          </a:bodyPr>
          <a:lstStyle/>
          <a:p>
            <a:pPr marL="342900" indent="-34290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rPr>
              <a:t>段式存储管理的基本思想</a:t>
            </a:r>
            <a:r>
              <a:rPr lang="zh-CN" altLang="en-US" sz="2000" b="1" dirty="0">
                <a:solidFill>
                  <a:srgbClr val="6C0000"/>
                </a:solidFill>
                <a:latin typeface="华文行楷" panose="02010800040101010101" charset="-122"/>
                <a:ea typeface="华文行楷" panose="02010800040101010101" charset="-122"/>
              </a:rPr>
              <a:t>（续）</a:t>
            </a:r>
            <a:endParaRPr lang="zh-CN" altLang="zh-CN" sz="2000" b="1" dirty="0">
              <a:solidFill>
                <a:srgbClr val="6C0000"/>
              </a:solidFill>
              <a:latin typeface="华文行楷" panose="02010800040101010101" charset="-122"/>
              <a:ea typeface="华文行楷" panose="02010800040101010101" charset="-122"/>
            </a:endParaRPr>
          </a:p>
        </p:txBody>
      </p:sp>
      <p:pic>
        <p:nvPicPr>
          <p:cNvPr id="3" name="图片 2"/>
          <p:cNvPicPr>
            <a:picLocks noChangeAspect="1"/>
          </p:cNvPicPr>
          <p:nvPr/>
        </p:nvPicPr>
        <p:blipFill>
          <a:blip r:embed="rId1"/>
          <a:srcRect b="13182"/>
          <a:stretch>
            <a:fillRect/>
          </a:stretch>
        </p:blipFill>
        <p:spPr>
          <a:xfrm>
            <a:off x="2419232" y="1854266"/>
            <a:ext cx="6221179" cy="4219587"/>
          </a:xfrm>
          <a:prstGeom prst="rect">
            <a:avLst/>
          </a:prstGeom>
        </p:spPr>
      </p:pic>
      <p:sp>
        <p:nvSpPr>
          <p:cNvPr id="4" name="文本框 3"/>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3.5</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1105227" y="1261738"/>
            <a:ext cx="5145261" cy="398780"/>
          </a:xfrm>
          <a:prstGeom prst="rect">
            <a:avLst/>
          </a:prstGeom>
          <a:noFill/>
          <a:ln w="9525">
            <a:noFill/>
            <a:miter lim="800000"/>
          </a:ln>
        </p:spPr>
        <p:txBody>
          <a:bodyPr wrap="square">
            <a:spAutoFit/>
          </a:bodyPr>
          <a:lstStyle/>
          <a:p>
            <a:pPr marL="342900" indent="-34290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rPr>
              <a:t>段式存储管理的基本思想</a:t>
            </a:r>
            <a:r>
              <a:rPr lang="zh-CN" altLang="en-US" sz="2000" b="1" dirty="0">
                <a:solidFill>
                  <a:srgbClr val="6C0000"/>
                </a:solidFill>
                <a:latin typeface="华文行楷" panose="02010800040101010101" charset="-122"/>
                <a:ea typeface="华文行楷" panose="02010800040101010101" charset="-122"/>
              </a:rPr>
              <a:t>（续）</a:t>
            </a:r>
            <a:endParaRPr lang="zh-CN" altLang="zh-CN" sz="2000" b="1" dirty="0">
              <a:solidFill>
                <a:srgbClr val="6C0000"/>
              </a:solidFill>
              <a:latin typeface="华文行楷" panose="02010800040101010101" charset="-122"/>
              <a:ea typeface="华文行楷" panose="02010800040101010101" charset="-122"/>
            </a:endParaRPr>
          </a:p>
        </p:txBody>
      </p:sp>
      <p:sp>
        <p:nvSpPr>
          <p:cNvPr id="5" name="矩形 4"/>
          <p:cNvSpPr/>
          <p:nvPr/>
        </p:nvSpPr>
        <p:spPr>
          <a:xfrm>
            <a:off x="7313124" y="2524978"/>
            <a:ext cx="3877481" cy="2104872"/>
          </a:xfrm>
          <a:prstGeom prst="rect">
            <a:avLst/>
          </a:prstGeom>
          <a:solidFill>
            <a:schemeClr val="accent1">
              <a:lumMod val="20000"/>
              <a:lumOff val="80000"/>
            </a:schemeClr>
          </a:solidFill>
          <a:ln>
            <a:solidFill>
              <a:schemeClr val="accent1"/>
            </a:solidFill>
          </a:ln>
        </p:spPr>
        <p:txBody>
          <a:bodyPr wrap="square">
            <a:spAutoFit/>
          </a:bodyPr>
          <a:lstStyle/>
          <a:p>
            <a:pPr>
              <a:lnSpc>
                <a:spcPct val="150000"/>
              </a:lnSpc>
            </a:pPr>
            <a:r>
              <a:rPr lang="zh-CN" altLang="zh-CN" b="1" dirty="0">
                <a:solidFill>
                  <a:srgbClr val="6C0000"/>
                </a:solidFill>
                <a:latin typeface="黑体" panose="02010609060101010101" charset="-122"/>
                <a:ea typeface="黑体" panose="02010609060101010101" charset="-122"/>
                <a:cs typeface="Arial" panose="020B0604020202020204" pitchFamily="34" charset="0"/>
              </a:rPr>
              <a:t>当段表放在内存中时，每要访问一个数据，都须访问</a:t>
            </a:r>
            <a:r>
              <a:rPr lang="zh-CN" altLang="zh-CN" b="1" dirty="0">
                <a:solidFill>
                  <a:srgbClr val="00449A"/>
                </a:solidFill>
                <a:latin typeface="黑体" panose="02010609060101010101" charset="-122"/>
                <a:ea typeface="黑体" panose="02010609060101010101" charset="-122"/>
                <a:cs typeface="Arial" panose="020B0604020202020204" pitchFamily="34" charset="0"/>
              </a:rPr>
              <a:t>两次内存</a:t>
            </a:r>
            <a:r>
              <a:rPr lang="zh-CN" altLang="zh-CN" b="1" dirty="0">
                <a:solidFill>
                  <a:srgbClr val="6C0000"/>
                </a:solidFill>
                <a:latin typeface="黑体" panose="02010609060101010101" charset="-122"/>
                <a:ea typeface="黑体" panose="02010609060101010101" charset="-122"/>
                <a:cs typeface="Arial" panose="020B0604020202020204" pitchFamily="34" charset="0"/>
              </a:rPr>
              <a:t>（段表一次，内存存取数据一次），从而极大地降低了指令执行的效率。要解决该问题，也可以再增设一个</a:t>
            </a:r>
            <a:r>
              <a:rPr lang="en-US" altLang="zh-CN" b="1" dirty="0" err="1">
                <a:solidFill>
                  <a:srgbClr val="6C0000"/>
                </a:solidFill>
                <a:latin typeface="黑体" panose="02010609060101010101" charset="-122"/>
                <a:ea typeface="黑体" panose="02010609060101010101" charset="-122"/>
                <a:cs typeface="Arial" panose="020B0604020202020204" pitchFamily="34" charset="0"/>
                <a:hlinkClick r:id="rId1"/>
              </a:rPr>
              <a:t>联想存储器</a:t>
            </a:r>
            <a:endParaRPr lang="zh-CN" altLang="en-US" b="1" dirty="0">
              <a:solidFill>
                <a:srgbClr val="6C0000"/>
              </a:solidFill>
              <a:latin typeface="黑体" panose="02010609060101010101" charset="-122"/>
              <a:ea typeface="黑体" panose="02010609060101010101" charset="-122"/>
            </a:endParaRPr>
          </a:p>
        </p:txBody>
      </p:sp>
      <p:sp>
        <p:nvSpPr>
          <p:cNvPr id="9" name="文本框 8"/>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3.5</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pic>
        <p:nvPicPr>
          <p:cNvPr id="3" name="图片 2"/>
          <p:cNvPicPr>
            <a:picLocks noChangeAspect="1"/>
          </p:cNvPicPr>
          <p:nvPr/>
        </p:nvPicPr>
        <p:blipFill>
          <a:blip r:embed="rId2"/>
          <a:stretch>
            <a:fillRect/>
          </a:stretch>
        </p:blipFill>
        <p:spPr>
          <a:xfrm>
            <a:off x="1105535" y="1660525"/>
            <a:ext cx="5796915" cy="410781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1105227" y="1261738"/>
            <a:ext cx="5145261" cy="398780"/>
          </a:xfrm>
          <a:prstGeom prst="rect">
            <a:avLst/>
          </a:prstGeom>
          <a:noFill/>
          <a:ln w="9525">
            <a:noFill/>
            <a:miter lim="800000"/>
          </a:ln>
        </p:spPr>
        <p:txBody>
          <a:bodyPr wrap="square">
            <a:spAutoFit/>
          </a:bodyPr>
          <a:lstStyle/>
          <a:p>
            <a:pPr marL="342900" indent="-34290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rPr>
              <a:t>段式存储管理的基本思想</a:t>
            </a:r>
            <a:r>
              <a:rPr lang="zh-CN" altLang="en-US" sz="2000" b="1" dirty="0">
                <a:solidFill>
                  <a:srgbClr val="6C0000"/>
                </a:solidFill>
                <a:latin typeface="华文行楷" panose="02010800040101010101" charset="-122"/>
                <a:ea typeface="华文行楷" panose="02010800040101010101" charset="-122"/>
              </a:rPr>
              <a:t>（续）</a:t>
            </a:r>
            <a:endParaRPr lang="zh-CN" altLang="zh-CN" sz="2000" b="1" dirty="0">
              <a:solidFill>
                <a:srgbClr val="6C0000"/>
              </a:solidFill>
              <a:latin typeface="华文行楷" panose="02010800040101010101" charset="-122"/>
              <a:ea typeface="华文行楷" panose="02010800040101010101" charset="-122"/>
            </a:endParaRPr>
          </a:p>
        </p:txBody>
      </p:sp>
      <p:pic>
        <p:nvPicPr>
          <p:cNvPr id="4" name="图片 3"/>
          <p:cNvPicPr>
            <a:picLocks noChangeAspect="1"/>
          </p:cNvPicPr>
          <p:nvPr/>
        </p:nvPicPr>
        <p:blipFill>
          <a:blip r:embed="rId1"/>
          <a:stretch>
            <a:fillRect/>
          </a:stretch>
        </p:blipFill>
        <p:spPr>
          <a:xfrm>
            <a:off x="1574458" y="2882669"/>
            <a:ext cx="9352060" cy="1388705"/>
          </a:xfrm>
          <a:prstGeom prst="rect">
            <a:avLst/>
          </a:prstGeom>
        </p:spPr>
      </p:pic>
      <p:sp>
        <p:nvSpPr>
          <p:cNvPr id="9" name="文本框 8"/>
          <p:cNvSpPr txBox="1"/>
          <p:nvPr/>
        </p:nvSpPr>
        <p:spPr>
          <a:xfrm>
            <a:off x="1574458" y="1965705"/>
            <a:ext cx="9352060" cy="646331"/>
          </a:xfrm>
          <a:prstGeom prst="rect">
            <a:avLst/>
          </a:prstGeom>
          <a:noFill/>
          <a:ln>
            <a:solidFill>
              <a:schemeClr val="bg1"/>
            </a:solidFill>
          </a:ln>
        </p:spPr>
        <p:txBody>
          <a:bodyPr wrap="square">
            <a:spAutoFit/>
          </a:bodyPr>
          <a:lstStyle/>
          <a:p>
            <a:r>
              <a:rPr lang="zh-CN"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为了实现分段共享，可在系统中配置一张</a:t>
            </a:r>
            <a:r>
              <a:rPr lang="zh-CN" altLang="zh-CN" b="1" dirty="0">
                <a:solidFill>
                  <a:srgbClr val="00449A"/>
                </a:solidFill>
                <a:latin typeface="等线" panose="02010600030101010101" pitchFamily="2" charset="-122"/>
                <a:ea typeface="等线" panose="02010600030101010101" pitchFamily="2" charset="-122"/>
                <a:cs typeface="Times New Roman" panose="02020603050405020304" pitchFamily="18" charset="0"/>
              </a:rPr>
              <a:t>共享段表</a:t>
            </a:r>
            <a:r>
              <a:rPr lang="zh-CN"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，所有需要共享的段都在共享段表中占有一表项</a:t>
            </a:r>
            <a:r>
              <a:rPr lang="zh-CN" altLang="en-US"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zh-CN" altLang="en-US" b="1" dirty="0">
              <a:latin typeface="等线" panose="02010600030101010101" pitchFamily="2" charset="-122"/>
              <a:ea typeface="等线" panose="02010600030101010101" pitchFamily="2" charset="-122"/>
            </a:endParaRPr>
          </a:p>
        </p:txBody>
      </p:sp>
      <p:sp>
        <p:nvSpPr>
          <p:cNvPr id="10" name="椭圆 9"/>
          <p:cNvSpPr/>
          <p:nvPr/>
        </p:nvSpPr>
        <p:spPr>
          <a:xfrm>
            <a:off x="4885498" y="3220290"/>
            <a:ext cx="1364990" cy="80682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flipV="1">
            <a:off x="6250489" y="3273187"/>
            <a:ext cx="1613647" cy="70103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3315838" y="4934334"/>
            <a:ext cx="1569660" cy="646331"/>
          </a:xfrm>
          <a:prstGeom prst="rect">
            <a:avLst/>
          </a:prstGeom>
          <a:solidFill>
            <a:schemeClr val="accent5">
              <a:lumMod val="20000"/>
              <a:lumOff val="80000"/>
            </a:schemeClr>
          </a:solidFill>
          <a:ln>
            <a:solidFill>
              <a:srgbClr val="C00000"/>
            </a:solidFill>
          </a:ln>
        </p:spPr>
        <p:txBody>
          <a:bodyPr wrap="square" rtlCol="0">
            <a:spAutoFit/>
          </a:bodyPr>
          <a:lstStyle/>
          <a:p>
            <a:r>
              <a:rPr lang="zh-CN" altLang="en-US" b="1" dirty="0">
                <a:solidFill>
                  <a:srgbClr val="6C0000"/>
                </a:solidFill>
                <a:latin typeface="等线" panose="02010600030101010101" pitchFamily="2" charset="-122"/>
                <a:ea typeface="等线" panose="02010600030101010101" pitchFamily="2" charset="-122"/>
              </a:rPr>
              <a:t>记录共享该段</a:t>
            </a:r>
            <a:endParaRPr lang="en-US" altLang="zh-CN" b="1" dirty="0">
              <a:solidFill>
                <a:srgbClr val="6C0000"/>
              </a:solidFill>
              <a:latin typeface="等线" panose="02010600030101010101" pitchFamily="2" charset="-122"/>
              <a:ea typeface="等线" panose="02010600030101010101" pitchFamily="2" charset="-122"/>
            </a:endParaRPr>
          </a:p>
          <a:p>
            <a:r>
              <a:rPr lang="zh-CN" altLang="en-US" b="1" dirty="0">
                <a:solidFill>
                  <a:srgbClr val="6C0000"/>
                </a:solidFill>
                <a:latin typeface="等线" panose="02010600030101010101" pitchFamily="2" charset="-122"/>
                <a:ea typeface="等线" panose="02010600030101010101" pitchFamily="2" charset="-122"/>
              </a:rPr>
              <a:t>的进程数目</a:t>
            </a:r>
            <a:endParaRPr lang="zh-CN" altLang="en-US" b="1" dirty="0">
              <a:solidFill>
                <a:srgbClr val="6C0000"/>
              </a:solidFill>
              <a:latin typeface="等线" panose="02010600030101010101" pitchFamily="2" charset="-122"/>
              <a:ea typeface="等线" panose="02010600030101010101" pitchFamily="2" charset="-122"/>
            </a:endParaRPr>
          </a:p>
        </p:txBody>
      </p:sp>
      <p:sp>
        <p:nvSpPr>
          <p:cNvPr id="15" name="文本框 14"/>
          <p:cNvSpPr txBox="1"/>
          <p:nvPr/>
        </p:nvSpPr>
        <p:spPr>
          <a:xfrm>
            <a:off x="7083177" y="4791649"/>
            <a:ext cx="1800493" cy="923330"/>
          </a:xfrm>
          <a:prstGeom prst="rect">
            <a:avLst/>
          </a:prstGeom>
          <a:solidFill>
            <a:schemeClr val="accent5">
              <a:lumMod val="20000"/>
              <a:lumOff val="80000"/>
            </a:schemeClr>
          </a:solidFill>
          <a:ln>
            <a:solidFill>
              <a:srgbClr val="C00000"/>
            </a:solidFill>
          </a:ln>
        </p:spPr>
        <p:txBody>
          <a:bodyPr wrap="none" rtlCol="0">
            <a:spAutoFit/>
          </a:bodyPr>
          <a:lstStyle/>
          <a:p>
            <a:r>
              <a:rPr lang="zh-CN" altLang="zh-CN" b="1" dirty="0">
                <a:solidFill>
                  <a:srgbClr val="6C0000"/>
                </a:solidFill>
                <a:latin typeface="等线" panose="02010600030101010101" pitchFamily="2" charset="-122"/>
                <a:ea typeface="等线" panose="02010600030101010101" pitchFamily="2" charset="-122"/>
              </a:rPr>
              <a:t>不同的进程可以</a:t>
            </a:r>
            <a:endParaRPr lang="en-US" altLang="zh-CN" b="1" dirty="0">
              <a:solidFill>
                <a:srgbClr val="6C0000"/>
              </a:solidFill>
              <a:latin typeface="等线" panose="02010600030101010101" pitchFamily="2" charset="-122"/>
              <a:ea typeface="等线" panose="02010600030101010101" pitchFamily="2" charset="-122"/>
            </a:endParaRPr>
          </a:p>
          <a:p>
            <a:r>
              <a:rPr lang="zh-CN" altLang="zh-CN" b="1" dirty="0">
                <a:solidFill>
                  <a:srgbClr val="6C0000"/>
                </a:solidFill>
                <a:latin typeface="等线" panose="02010600030101010101" pitchFamily="2" charset="-122"/>
                <a:ea typeface="等线" panose="02010600030101010101" pitchFamily="2" charset="-122"/>
              </a:rPr>
              <a:t>使用不同的段号</a:t>
            </a:r>
            <a:endParaRPr lang="en-US" altLang="zh-CN" b="1" dirty="0">
              <a:solidFill>
                <a:srgbClr val="6C0000"/>
              </a:solidFill>
              <a:latin typeface="等线" panose="02010600030101010101" pitchFamily="2" charset="-122"/>
              <a:ea typeface="等线" panose="02010600030101010101" pitchFamily="2" charset="-122"/>
            </a:endParaRPr>
          </a:p>
          <a:p>
            <a:r>
              <a:rPr lang="zh-CN" altLang="zh-CN" b="1" dirty="0">
                <a:solidFill>
                  <a:srgbClr val="6C0000"/>
                </a:solidFill>
                <a:latin typeface="等线" panose="02010600030101010101" pitchFamily="2" charset="-122"/>
                <a:ea typeface="等线" panose="02010600030101010101" pitchFamily="2" charset="-122"/>
              </a:rPr>
              <a:t>去共享该段</a:t>
            </a:r>
            <a:endParaRPr lang="zh-CN" altLang="en-US" b="1" dirty="0">
              <a:solidFill>
                <a:srgbClr val="6C0000"/>
              </a:solidFill>
              <a:latin typeface="等线" panose="02010600030101010101" pitchFamily="2" charset="-122"/>
              <a:ea typeface="等线" panose="02010600030101010101" pitchFamily="2" charset="-122"/>
            </a:endParaRPr>
          </a:p>
        </p:txBody>
      </p:sp>
      <p:cxnSp>
        <p:nvCxnSpPr>
          <p:cNvPr id="17" name="直接箭头连接符 16"/>
          <p:cNvCxnSpPr/>
          <p:nvPr/>
        </p:nvCxnSpPr>
        <p:spPr>
          <a:xfrm flipH="1">
            <a:off x="4511337" y="4027115"/>
            <a:ext cx="712695" cy="764535"/>
          </a:xfrm>
          <a:prstGeom prst="straightConnector1">
            <a:avLst/>
          </a:prstGeom>
          <a:ln w="76200">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18" name="直接箭头连接符 17"/>
          <p:cNvCxnSpPr/>
          <p:nvPr/>
        </p:nvCxnSpPr>
        <p:spPr>
          <a:xfrm>
            <a:off x="7049443" y="4028087"/>
            <a:ext cx="534394" cy="763563"/>
          </a:xfrm>
          <a:prstGeom prst="straightConnector1">
            <a:avLst/>
          </a:prstGeom>
          <a:ln w="76200">
            <a:solidFill>
              <a:srgbClr val="C00000"/>
            </a:solidFill>
            <a:tailEnd type="triangle"/>
          </a:ln>
        </p:spPr>
        <p:style>
          <a:lnRef idx="1">
            <a:schemeClr val="accent2"/>
          </a:lnRef>
          <a:fillRef idx="0">
            <a:schemeClr val="accent2"/>
          </a:fillRef>
          <a:effectRef idx="0">
            <a:schemeClr val="accent2"/>
          </a:effectRef>
          <a:fontRef idx="minor">
            <a:schemeClr val="tx1"/>
          </a:fontRef>
        </p:style>
      </p:cxnSp>
      <p:sp>
        <p:nvSpPr>
          <p:cNvPr id="19" name="文本框 18"/>
          <p:cNvSpPr txBox="1"/>
          <p:nvPr/>
        </p:nvSpPr>
        <p:spPr>
          <a:xfrm>
            <a:off x="1001394" y="544830"/>
            <a:ext cx="3094617"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3.5</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2" presetClass="entr" presetSubtype="4"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1386082" y="1740496"/>
          <a:ext cx="9824713" cy="4259473"/>
        </p:xfrm>
        <a:graphic>
          <a:graphicData uri="http://schemas.openxmlformats.org/drawingml/2006/table">
            <a:tbl>
              <a:tblPr firstRow="1" firstCol="1" bandRow="1">
                <a:tableStyleId>{7DF18680-E054-41AD-8BC1-D1AEF772440D}</a:tableStyleId>
              </a:tblPr>
              <a:tblGrid>
                <a:gridCol w="1336558"/>
                <a:gridCol w="4030985"/>
                <a:gridCol w="4457170"/>
              </a:tblGrid>
              <a:tr h="370964">
                <a:tc>
                  <a:txBody>
                    <a:bodyPr/>
                    <a:lstStyle/>
                    <a:p>
                      <a:pPr algn="ctr">
                        <a:lnSpc>
                          <a:spcPct val="125000"/>
                        </a:lnSpc>
                        <a:spcAft>
                          <a:spcPts val="0"/>
                        </a:spcAft>
                      </a:pPr>
                      <a:r>
                        <a:rPr lang="en-US" sz="1800" kern="0">
                          <a:effectLst/>
                        </a:rPr>
                        <a:t> </a:t>
                      </a:r>
                      <a:endParaRPr lang="en-US" sz="1800" kern="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lnSpc>
                          <a:spcPct val="125000"/>
                        </a:lnSpc>
                        <a:spcAft>
                          <a:spcPts val="0"/>
                        </a:spcAft>
                      </a:pPr>
                      <a:r>
                        <a:rPr lang="zh-CN" sz="1800" kern="0">
                          <a:effectLst/>
                        </a:rPr>
                        <a:t>分页</a:t>
                      </a:r>
                      <a:endParaRPr lang="zh-CN" sz="1800" kern="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lnSpc>
                          <a:spcPct val="125000"/>
                        </a:lnSpc>
                        <a:spcAft>
                          <a:spcPts val="0"/>
                        </a:spcAft>
                      </a:pPr>
                      <a:r>
                        <a:rPr lang="zh-CN" sz="1800" kern="0">
                          <a:effectLst/>
                        </a:rPr>
                        <a:t>分段</a:t>
                      </a:r>
                      <a:endParaRPr lang="zh-CN" sz="1800" kern="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412185">
                <a:tc>
                  <a:txBody>
                    <a:bodyPr/>
                    <a:lstStyle/>
                    <a:p>
                      <a:pPr algn="ctr">
                        <a:lnSpc>
                          <a:spcPct val="125000"/>
                        </a:lnSpc>
                        <a:spcAft>
                          <a:spcPts val="0"/>
                        </a:spcAft>
                      </a:pPr>
                      <a:r>
                        <a:rPr lang="zh-CN" sz="1800" kern="0">
                          <a:effectLst/>
                        </a:rPr>
                        <a:t>管理思想</a:t>
                      </a:r>
                      <a:endParaRPr lang="zh-CN" sz="1800" kern="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lnSpc>
                          <a:spcPct val="125000"/>
                        </a:lnSpc>
                        <a:spcAft>
                          <a:spcPts val="0"/>
                        </a:spcAft>
                      </a:pPr>
                      <a:r>
                        <a:rPr lang="zh-CN" sz="1800" kern="0" dirty="0">
                          <a:effectLst/>
                        </a:rPr>
                        <a:t>页是信息的物理单位，是为了管理主存的方便而划分的，页的大小固定不变，实现了程序的非连续存放</a:t>
                      </a:r>
                      <a:endParaRPr lang="zh-CN" sz="1800" kern="0" dirty="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lnSpc>
                          <a:spcPct val="125000"/>
                        </a:lnSpc>
                        <a:spcAft>
                          <a:spcPts val="0"/>
                        </a:spcAft>
                      </a:pPr>
                      <a:r>
                        <a:rPr lang="zh-CN" sz="1800" kern="0">
                          <a:effectLst/>
                        </a:rPr>
                        <a:t>段是信息的逻辑单位，它是根据用户的需要划分的，段的大小是不固定的，它由其完成的功能决定，因此段对用户是可见的；</a:t>
                      </a:r>
                      <a:endParaRPr lang="zh-CN" sz="1800" kern="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52680">
                <a:tc>
                  <a:txBody>
                    <a:bodyPr/>
                    <a:lstStyle/>
                    <a:p>
                      <a:pPr algn="ctr">
                        <a:lnSpc>
                          <a:spcPct val="125000"/>
                        </a:lnSpc>
                        <a:spcAft>
                          <a:spcPts val="0"/>
                        </a:spcAft>
                      </a:pPr>
                      <a:r>
                        <a:rPr lang="zh-CN" sz="1800" kern="0">
                          <a:effectLst/>
                        </a:rPr>
                        <a:t>虚地址</a:t>
                      </a:r>
                      <a:endParaRPr lang="zh-CN" sz="1800" kern="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lnSpc>
                          <a:spcPct val="125000"/>
                        </a:lnSpc>
                        <a:spcAft>
                          <a:spcPts val="0"/>
                        </a:spcAft>
                      </a:pPr>
                      <a:r>
                        <a:rPr lang="zh-CN" sz="1800" kern="0" dirty="0">
                          <a:effectLst/>
                        </a:rPr>
                        <a:t>页式向用户提供的是一维地址空间，其页号和页内偏移是机器硬件的功能。</a:t>
                      </a:r>
                      <a:endParaRPr lang="zh-CN" sz="1800" kern="0" dirty="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lnSpc>
                          <a:spcPct val="125000"/>
                        </a:lnSpc>
                        <a:spcAft>
                          <a:spcPts val="0"/>
                        </a:spcAft>
                      </a:pPr>
                      <a:r>
                        <a:rPr lang="zh-CN" sz="1800" kern="0">
                          <a:effectLst/>
                        </a:rPr>
                        <a:t>段式向用户提供的是二维地址空间</a:t>
                      </a:r>
                      <a:endParaRPr lang="zh-CN" sz="1800" kern="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52680">
                <a:tc>
                  <a:txBody>
                    <a:bodyPr/>
                    <a:lstStyle/>
                    <a:p>
                      <a:pPr algn="ctr">
                        <a:lnSpc>
                          <a:spcPct val="125000"/>
                        </a:lnSpc>
                        <a:spcAft>
                          <a:spcPts val="0"/>
                        </a:spcAft>
                      </a:pPr>
                      <a:r>
                        <a:rPr lang="zh-CN" sz="1800" kern="0">
                          <a:effectLst/>
                        </a:rPr>
                        <a:t>共享与存储访问控制</a:t>
                      </a:r>
                      <a:endParaRPr lang="zh-CN" sz="1800" kern="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lnSpc>
                          <a:spcPct val="125000"/>
                        </a:lnSpc>
                        <a:spcAft>
                          <a:spcPts val="0"/>
                        </a:spcAft>
                      </a:pPr>
                      <a:r>
                        <a:rPr lang="zh-CN" sz="1800" kern="0">
                          <a:effectLst/>
                        </a:rPr>
                        <a:t>可以实现页面共享，但使用受到诸多限制，访问控制困难</a:t>
                      </a:r>
                      <a:endParaRPr lang="zh-CN" sz="1800" kern="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lnSpc>
                          <a:spcPct val="125000"/>
                        </a:lnSpc>
                        <a:spcAft>
                          <a:spcPts val="0"/>
                        </a:spcAft>
                      </a:pPr>
                      <a:r>
                        <a:rPr lang="zh-CN" sz="1800" kern="0">
                          <a:effectLst/>
                        </a:rPr>
                        <a:t>便于共享逻辑完整的信息，易于实现存取访问权限控制</a:t>
                      </a:r>
                      <a:endParaRPr lang="zh-CN" sz="1800" kern="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70964">
                <a:tc>
                  <a:txBody>
                    <a:bodyPr/>
                    <a:lstStyle/>
                    <a:p>
                      <a:pPr algn="ctr">
                        <a:lnSpc>
                          <a:spcPct val="125000"/>
                        </a:lnSpc>
                        <a:spcAft>
                          <a:spcPts val="0"/>
                        </a:spcAft>
                      </a:pPr>
                      <a:r>
                        <a:rPr lang="zh-CN" sz="1800" kern="0">
                          <a:effectLst/>
                        </a:rPr>
                        <a:t>动态链接</a:t>
                      </a:r>
                      <a:endParaRPr lang="zh-CN" sz="1800" kern="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lnSpc>
                          <a:spcPct val="125000"/>
                        </a:lnSpc>
                        <a:spcAft>
                          <a:spcPts val="0"/>
                        </a:spcAft>
                      </a:pPr>
                      <a:r>
                        <a:rPr lang="zh-CN" sz="1800" kern="0">
                          <a:effectLst/>
                        </a:rPr>
                        <a:t>不支持动态链接</a:t>
                      </a:r>
                      <a:endParaRPr lang="zh-CN" sz="1800" kern="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lnSpc>
                          <a:spcPct val="125000"/>
                        </a:lnSpc>
                        <a:spcAft>
                          <a:spcPts val="0"/>
                        </a:spcAft>
                      </a:pPr>
                      <a:r>
                        <a:rPr lang="zh-CN" sz="1800" kern="0" dirty="0">
                          <a:effectLst/>
                        </a:rPr>
                        <a:t>支持动态链接</a:t>
                      </a:r>
                      <a:endParaRPr lang="zh-CN" sz="1800" kern="0" dirty="0">
                        <a:effectLst/>
                      </a:endParaRPr>
                    </a:p>
                  </a:txBody>
                  <a:tcPr marL="68580" marR="68580"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5" name="Rectangle 1"/>
          <p:cNvSpPr>
            <a:spLocks noChangeArrowheads="1"/>
          </p:cNvSpPr>
          <p:nvPr/>
        </p:nvSpPr>
        <p:spPr bwMode="auto">
          <a:xfrm>
            <a:off x="3306637" y="1233027"/>
            <a:ext cx="507061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dirty="0">
                <a:solidFill>
                  <a:srgbClr val="000000"/>
                </a:solidFill>
                <a:latin typeface="+mn-ea"/>
                <a:cs typeface="Times New Roman" panose="02020603050405020304" pitchFamily="18" charset="0"/>
              </a:rPr>
              <a:t>分页式存储管理与分段式存储管理对比表</a:t>
            </a:r>
            <a:endParaRPr lang="zh-CN" altLang="en-US" sz="2000" b="1" dirty="0">
              <a:latin typeface="+mn-ea"/>
            </a:endParaRPr>
          </a:p>
          <a:p>
            <a:endParaRPr lang="zh-CN" altLang="en-US" sz="2000" b="1" dirty="0">
              <a:latin typeface="+mn-ea"/>
            </a:endParaRPr>
          </a:p>
        </p:txBody>
      </p:sp>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3.5</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3.6</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段页式存储管理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矩形 1"/>
          <p:cNvSpPr/>
          <p:nvPr/>
        </p:nvSpPr>
        <p:spPr>
          <a:xfrm>
            <a:off x="1001394" y="1712868"/>
            <a:ext cx="9871197" cy="646331"/>
          </a:xfrm>
          <a:prstGeom prst="rect">
            <a:avLst/>
          </a:prstGeom>
        </p:spPr>
        <p:txBody>
          <a:bodyPr wrap="square">
            <a:spAutoFit/>
          </a:bodyPr>
          <a:lstStyle/>
          <a:p>
            <a:r>
              <a:rPr lang="en-US" altLang="zh-CN" b="1" kern="0" dirty="0">
                <a:solidFill>
                  <a:srgbClr val="000000"/>
                </a:solidFill>
                <a:latin typeface="+mn-ea"/>
                <a:cs typeface="Times New Roman" panose="02020603050405020304" pitchFamily="18" charset="0"/>
              </a:rPr>
              <a:t>     </a:t>
            </a:r>
            <a:r>
              <a:rPr lang="zh-CN" altLang="zh-CN" b="1" kern="0" dirty="0">
                <a:solidFill>
                  <a:srgbClr val="000000"/>
                </a:solidFill>
                <a:latin typeface="+mn-ea"/>
                <a:cs typeface="Times New Roman" panose="02020603050405020304" pitchFamily="18" charset="0"/>
              </a:rPr>
              <a:t>一个进程有一个自己的二维地址空间。一个进程中所包含的独立逻辑功能的程序或数据仍被划分为段，并有各自的段号</a:t>
            </a:r>
            <a:r>
              <a:rPr lang="en-US" altLang="zh-CN" b="1" kern="0" dirty="0">
                <a:solidFill>
                  <a:srgbClr val="000000"/>
                </a:solidFill>
                <a:latin typeface="+mn-ea"/>
              </a:rPr>
              <a:t>S</a:t>
            </a:r>
            <a:r>
              <a:rPr lang="zh-CN" altLang="zh-CN" b="1" kern="0" dirty="0">
                <a:solidFill>
                  <a:srgbClr val="000000"/>
                </a:solidFill>
                <a:latin typeface="+mn-ea"/>
                <a:cs typeface="Times New Roman" panose="02020603050405020304" pitchFamily="18" charset="0"/>
              </a:rPr>
              <a:t>，对于</a:t>
            </a:r>
            <a:r>
              <a:rPr lang="en-US" altLang="zh-CN" b="1" kern="0" dirty="0">
                <a:solidFill>
                  <a:srgbClr val="000000"/>
                </a:solidFill>
                <a:latin typeface="+mn-ea"/>
              </a:rPr>
              <a:t>S</a:t>
            </a:r>
            <a:r>
              <a:rPr lang="zh-CN" altLang="zh-CN" b="1" kern="0" dirty="0">
                <a:solidFill>
                  <a:srgbClr val="000000"/>
                </a:solidFill>
                <a:latin typeface="+mn-ea"/>
                <a:cs typeface="Times New Roman" panose="02020603050405020304" pitchFamily="18" charset="0"/>
              </a:rPr>
              <a:t>中的程序或数据，则按照一定的大小将其划分为不同的页</a:t>
            </a:r>
            <a:r>
              <a:rPr lang="zh-CN" altLang="en-US" b="1" kern="0" dirty="0">
                <a:solidFill>
                  <a:srgbClr val="000000"/>
                </a:solidFill>
                <a:latin typeface="+mn-ea"/>
                <a:cs typeface="Times New Roman" panose="02020603050405020304" pitchFamily="18" charset="0"/>
              </a:rPr>
              <a:t>。</a:t>
            </a:r>
            <a:endParaRPr lang="zh-CN" altLang="en-US" b="1" dirty="0">
              <a:latin typeface="+mn-ea"/>
            </a:endParaRPr>
          </a:p>
        </p:txBody>
      </p:sp>
      <p:sp>
        <p:nvSpPr>
          <p:cNvPr id="4" name="Rectangle 6"/>
          <p:cNvSpPr>
            <a:spLocks noChangeArrowheads="1"/>
          </p:cNvSpPr>
          <p:nvPr/>
        </p:nvSpPr>
        <p:spPr bwMode="auto">
          <a:xfrm>
            <a:off x="2424697" y="2489488"/>
            <a:ext cx="7082558" cy="2543132"/>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indent="266700" eaLnBrk="0" fontAlgn="base" hangingPunct="0">
              <a:lnSpc>
                <a:spcPct val="150000"/>
              </a:lnSpc>
              <a:spcBef>
                <a:spcPct val="0"/>
              </a:spcBef>
              <a:spcAft>
                <a:spcPct val="0"/>
              </a:spcAft>
            </a:pPr>
            <a:r>
              <a:rPr lang="zh-CN" altLang="zh-CN" b="1" dirty="0">
                <a:solidFill>
                  <a:srgbClr val="003A8F"/>
                </a:solidFill>
                <a:latin typeface="+mn-ea"/>
                <a:cs typeface="Times New Roman" panose="02020603050405020304" pitchFamily="18" charset="0"/>
              </a:rPr>
              <a:t>段页式管理系统的进程虚拟地址由三部分组成：</a:t>
            </a:r>
            <a:endParaRPr lang="en-US" altLang="zh-CN" b="1" dirty="0">
              <a:solidFill>
                <a:srgbClr val="003A8F"/>
              </a:solidFill>
              <a:latin typeface="+mn-ea"/>
              <a:cs typeface="Times New Roman" panose="02020603050405020304" pitchFamily="18" charset="0"/>
            </a:endParaRPr>
          </a:p>
          <a:p>
            <a:pPr indent="266700" eaLnBrk="0" fontAlgn="base" hangingPunct="0">
              <a:lnSpc>
                <a:spcPct val="150000"/>
              </a:lnSpc>
              <a:spcBef>
                <a:spcPct val="0"/>
              </a:spcBef>
              <a:spcAft>
                <a:spcPct val="0"/>
              </a:spcAft>
            </a:pPr>
            <a:r>
              <a:rPr lang="en-US" altLang="zh-CN" b="1" dirty="0">
                <a:solidFill>
                  <a:srgbClr val="6C0000"/>
                </a:solidFill>
                <a:latin typeface="+mn-ea"/>
                <a:cs typeface="Times New Roman" panose="02020603050405020304" pitchFamily="18" charset="0"/>
              </a:rPr>
              <a:t>       </a:t>
            </a:r>
            <a:r>
              <a:rPr lang="zh-CN" altLang="zh-CN" b="1" dirty="0">
                <a:solidFill>
                  <a:srgbClr val="6C0000"/>
                </a:solidFill>
                <a:latin typeface="+mn-ea"/>
                <a:cs typeface="Times New Roman" panose="02020603050405020304" pitchFamily="18" charset="0"/>
              </a:rPr>
              <a:t>段号</a:t>
            </a:r>
            <a:r>
              <a:rPr lang="en-US" altLang="zh-CN" b="1" dirty="0">
                <a:solidFill>
                  <a:srgbClr val="6C0000"/>
                </a:solidFill>
                <a:latin typeface="+mn-ea"/>
                <a:cs typeface="Times New Roman" panose="02020603050405020304" pitchFamily="18" charset="0"/>
              </a:rPr>
              <a:t>s</a:t>
            </a:r>
            <a:r>
              <a:rPr lang="zh-CN" altLang="en-US" b="1" dirty="0">
                <a:solidFill>
                  <a:srgbClr val="6C0000"/>
                </a:solidFill>
                <a:latin typeface="+mn-ea"/>
                <a:cs typeface="Times New Roman" panose="02020603050405020304" pitchFamily="18" charset="0"/>
              </a:rPr>
              <a:t>、页号</a:t>
            </a:r>
            <a:r>
              <a:rPr lang="en-US" altLang="zh-CN" b="1" dirty="0">
                <a:solidFill>
                  <a:srgbClr val="6C0000"/>
                </a:solidFill>
                <a:latin typeface="+mn-ea"/>
                <a:cs typeface="Times New Roman" panose="02020603050405020304" pitchFamily="18" charset="0"/>
              </a:rPr>
              <a:t>p</a:t>
            </a:r>
            <a:r>
              <a:rPr lang="zh-CN" altLang="en-US" b="1" dirty="0">
                <a:solidFill>
                  <a:srgbClr val="6C0000"/>
                </a:solidFill>
                <a:latin typeface="+mn-ea"/>
                <a:cs typeface="Times New Roman" panose="02020603050405020304" pitchFamily="18" charset="0"/>
              </a:rPr>
              <a:t>和页内位移量</a:t>
            </a:r>
            <a:r>
              <a:rPr lang="en-US" altLang="zh-CN" b="1" dirty="0">
                <a:solidFill>
                  <a:srgbClr val="6C0000"/>
                </a:solidFill>
                <a:latin typeface="+mn-ea"/>
                <a:cs typeface="Times New Roman" panose="02020603050405020304" pitchFamily="18" charset="0"/>
              </a:rPr>
              <a:t>d</a:t>
            </a:r>
            <a:r>
              <a:rPr lang="zh-CN" altLang="en-US" b="1" dirty="0">
                <a:solidFill>
                  <a:srgbClr val="6C0000"/>
                </a:solidFill>
                <a:latin typeface="+mn-ea"/>
                <a:cs typeface="Times New Roman" panose="02020603050405020304" pitchFamily="18" charset="0"/>
              </a:rPr>
              <a:t>。</a:t>
            </a:r>
            <a:endParaRPr lang="en-US" altLang="zh-CN" b="1" dirty="0">
              <a:solidFill>
                <a:srgbClr val="6C0000"/>
              </a:solidFill>
              <a:latin typeface="+mn-ea"/>
              <a:cs typeface="Times New Roman" panose="02020603050405020304" pitchFamily="18" charset="0"/>
            </a:endParaRPr>
          </a:p>
          <a:p>
            <a:pPr indent="266700" eaLnBrk="0" fontAlgn="base" hangingPunct="0">
              <a:lnSpc>
                <a:spcPct val="150000"/>
              </a:lnSpc>
              <a:spcBef>
                <a:spcPct val="0"/>
              </a:spcBef>
              <a:spcAft>
                <a:spcPct val="0"/>
              </a:spcAft>
            </a:pPr>
            <a:r>
              <a:rPr lang="zh-CN" altLang="en-US" b="1" dirty="0">
                <a:solidFill>
                  <a:srgbClr val="003A8F"/>
                </a:solidFill>
                <a:latin typeface="+mn-ea"/>
                <a:cs typeface="Times New Roman" panose="02020603050405020304" pitchFamily="18" charset="0"/>
              </a:rPr>
              <a:t>程序员可见的仍是段号</a:t>
            </a:r>
            <a:r>
              <a:rPr lang="en-US" altLang="zh-CN" b="1" dirty="0">
                <a:solidFill>
                  <a:srgbClr val="003A8F"/>
                </a:solidFill>
                <a:latin typeface="+mn-ea"/>
                <a:cs typeface="Times New Roman" panose="02020603050405020304" pitchFamily="18" charset="0"/>
              </a:rPr>
              <a:t>s</a:t>
            </a:r>
            <a:r>
              <a:rPr lang="zh-CN" altLang="en-US" b="1" dirty="0">
                <a:solidFill>
                  <a:srgbClr val="003A8F"/>
                </a:solidFill>
                <a:latin typeface="+mn-ea"/>
                <a:cs typeface="Times New Roman" panose="02020603050405020304" pitchFamily="18" charset="0"/>
              </a:rPr>
              <a:t>和段内位移量</a:t>
            </a:r>
            <a:r>
              <a:rPr lang="en-US" altLang="zh-CN" b="1" dirty="0">
                <a:solidFill>
                  <a:srgbClr val="003A8F"/>
                </a:solidFill>
                <a:latin typeface="+mn-ea"/>
                <a:cs typeface="Times New Roman" panose="02020603050405020304" pitchFamily="18" charset="0"/>
              </a:rPr>
              <a:t>w</a:t>
            </a:r>
            <a:r>
              <a:rPr lang="zh-CN" altLang="en-US" b="1" dirty="0">
                <a:solidFill>
                  <a:srgbClr val="003A8F"/>
                </a:solidFill>
                <a:latin typeface="+mn-ea"/>
                <a:cs typeface="Times New Roman" panose="02020603050405020304" pitchFamily="18" charset="0"/>
              </a:rPr>
              <a:t>。</a:t>
            </a:r>
            <a:endParaRPr lang="en-US" altLang="zh-CN" b="1" dirty="0">
              <a:solidFill>
                <a:srgbClr val="003A8F"/>
              </a:solidFill>
              <a:latin typeface="+mn-ea"/>
              <a:cs typeface="Times New Roman" panose="02020603050405020304" pitchFamily="18" charset="0"/>
            </a:endParaRPr>
          </a:p>
          <a:p>
            <a:pPr indent="266700" eaLnBrk="0" fontAlgn="base" hangingPunct="0">
              <a:lnSpc>
                <a:spcPct val="150000"/>
              </a:lnSpc>
              <a:spcBef>
                <a:spcPct val="0"/>
              </a:spcBef>
              <a:spcAft>
                <a:spcPct val="0"/>
              </a:spcAft>
            </a:pPr>
            <a:r>
              <a:rPr lang="en-US" altLang="zh-CN" b="1" dirty="0">
                <a:solidFill>
                  <a:srgbClr val="003A8F"/>
                </a:solidFill>
                <a:latin typeface="+mn-ea"/>
                <a:cs typeface="Times New Roman" panose="02020603050405020304" pitchFamily="18" charset="0"/>
              </a:rPr>
              <a:t>p</a:t>
            </a:r>
            <a:r>
              <a:rPr lang="zh-CN" altLang="en-US" b="1" dirty="0">
                <a:solidFill>
                  <a:srgbClr val="003A8F"/>
                </a:solidFill>
                <a:latin typeface="+mn-ea"/>
                <a:cs typeface="Times New Roman" panose="02020603050405020304" pitchFamily="18" charset="0"/>
              </a:rPr>
              <a:t>和</a:t>
            </a:r>
            <a:r>
              <a:rPr lang="en-US" altLang="zh-CN" b="1" dirty="0">
                <a:solidFill>
                  <a:srgbClr val="003A8F"/>
                </a:solidFill>
                <a:latin typeface="+mn-ea"/>
                <a:cs typeface="Times New Roman" panose="02020603050405020304" pitchFamily="18" charset="0"/>
              </a:rPr>
              <a:t>d</a:t>
            </a:r>
            <a:r>
              <a:rPr lang="zh-CN" altLang="en-US" b="1" dirty="0">
                <a:solidFill>
                  <a:srgbClr val="003A8F"/>
                </a:solidFill>
                <a:latin typeface="+mn-ea"/>
                <a:cs typeface="Times New Roman" panose="02020603050405020304" pitchFamily="18" charset="0"/>
              </a:rPr>
              <a:t>是由地址变换机构把</a:t>
            </a:r>
            <a:r>
              <a:rPr lang="en-US" altLang="zh-CN" b="1" dirty="0">
                <a:solidFill>
                  <a:srgbClr val="003A8F"/>
                </a:solidFill>
                <a:latin typeface="+mn-ea"/>
                <a:cs typeface="Times New Roman" panose="02020603050405020304" pitchFamily="18" charset="0"/>
              </a:rPr>
              <a:t>w</a:t>
            </a:r>
            <a:r>
              <a:rPr lang="zh-CN" altLang="en-US" b="1" dirty="0">
                <a:solidFill>
                  <a:srgbClr val="003A8F"/>
                </a:solidFill>
                <a:latin typeface="+mn-ea"/>
                <a:cs typeface="Times New Roman" panose="02020603050405020304" pitchFamily="18" charset="0"/>
              </a:rPr>
              <a:t>的高几位解释成页号</a:t>
            </a:r>
            <a:r>
              <a:rPr lang="en-US" altLang="zh-CN" b="1" dirty="0">
                <a:solidFill>
                  <a:srgbClr val="003A8F"/>
                </a:solidFill>
                <a:latin typeface="+mn-ea"/>
                <a:cs typeface="Times New Roman" panose="02020603050405020304" pitchFamily="18" charset="0"/>
              </a:rPr>
              <a:t>p</a:t>
            </a:r>
            <a:r>
              <a:rPr lang="zh-CN" altLang="en-US" b="1" dirty="0">
                <a:solidFill>
                  <a:srgbClr val="003A8F"/>
                </a:solidFill>
                <a:latin typeface="+mn-ea"/>
                <a:cs typeface="Times New Roman" panose="02020603050405020304" pitchFamily="18" charset="0"/>
              </a:rPr>
              <a:t>，</a:t>
            </a:r>
            <a:endParaRPr lang="en-US" altLang="zh-CN" b="1" dirty="0">
              <a:solidFill>
                <a:srgbClr val="003A8F"/>
              </a:solidFill>
              <a:latin typeface="+mn-ea"/>
              <a:cs typeface="Times New Roman" panose="02020603050405020304" pitchFamily="18" charset="0"/>
            </a:endParaRPr>
          </a:p>
          <a:p>
            <a:pPr indent="266700" eaLnBrk="0" fontAlgn="base" hangingPunct="0">
              <a:lnSpc>
                <a:spcPct val="150000"/>
              </a:lnSpc>
              <a:spcBef>
                <a:spcPct val="0"/>
              </a:spcBef>
              <a:spcAft>
                <a:spcPct val="0"/>
              </a:spcAft>
            </a:pPr>
            <a:r>
              <a:rPr lang="zh-CN" altLang="en-US" b="1" dirty="0">
                <a:solidFill>
                  <a:srgbClr val="003A8F"/>
                </a:solidFill>
                <a:latin typeface="+mn-ea"/>
                <a:cs typeface="Times New Roman" panose="02020603050405020304" pitchFamily="18" charset="0"/>
              </a:rPr>
              <a:t>以及把剩下的低位解释为页内地址</a:t>
            </a:r>
            <a:r>
              <a:rPr lang="en-US" altLang="zh-CN" b="1" dirty="0">
                <a:solidFill>
                  <a:srgbClr val="003A8F"/>
                </a:solidFill>
                <a:latin typeface="+mn-ea"/>
                <a:cs typeface="Times New Roman" panose="02020603050405020304" pitchFamily="18" charset="0"/>
              </a:rPr>
              <a:t>d</a:t>
            </a:r>
            <a:r>
              <a:rPr lang="zh-CN" altLang="en-US" b="1" dirty="0">
                <a:solidFill>
                  <a:srgbClr val="003A8F"/>
                </a:solidFill>
                <a:latin typeface="+mn-ea"/>
                <a:cs typeface="Times New Roman" panose="02020603050405020304" pitchFamily="18" charset="0"/>
              </a:rPr>
              <a:t>而得到的。 </a:t>
            </a:r>
            <a:endParaRPr lang="zh-CN" altLang="en-US" b="1" dirty="0">
              <a:solidFill>
                <a:srgbClr val="003A8F"/>
              </a:solidFill>
              <a:latin typeface="+mn-ea"/>
            </a:endParaRPr>
          </a:p>
          <a:p>
            <a:pPr indent="266700" eaLnBrk="0" fontAlgn="base" hangingPunct="0">
              <a:lnSpc>
                <a:spcPct val="150000"/>
              </a:lnSpc>
              <a:spcBef>
                <a:spcPct val="0"/>
              </a:spcBef>
              <a:spcAft>
                <a:spcPct val="0"/>
              </a:spcAft>
            </a:pPr>
            <a:endParaRPr lang="zh-CN" altLang="en-US" b="1" dirty="0">
              <a:solidFill>
                <a:srgbClr val="003A8F"/>
              </a:solidFill>
              <a:latin typeface="+mn-ea"/>
            </a:endParaRPr>
          </a:p>
        </p:txBody>
      </p:sp>
      <p:grpSp>
        <p:nvGrpSpPr>
          <p:cNvPr id="7" name="组合 6"/>
          <p:cNvGrpSpPr/>
          <p:nvPr/>
        </p:nvGrpSpPr>
        <p:grpSpPr>
          <a:xfrm>
            <a:off x="3410994" y="5486074"/>
            <a:ext cx="4813487" cy="369332"/>
            <a:chOff x="0" y="0"/>
            <a:chExt cx="2371725" cy="206001"/>
          </a:xfrm>
        </p:grpSpPr>
        <p:grpSp>
          <p:nvGrpSpPr>
            <p:cNvPr id="8" name="组合 7"/>
            <p:cNvGrpSpPr/>
            <p:nvPr/>
          </p:nvGrpSpPr>
          <p:grpSpPr>
            <a:xfrm>
              <a:off x="0" y="0"/>
              <a:ext cx="1381125" cy="206001"/>
              <a:chOff x="0" y="0"/>
              <a:chExt cx="1381125" cy="206001"/>
            </a:xfrm>
          </p:grpSpPr>
          <p:sp>
            <p:nvSpPr>
              <p:cNvPr id="10" name="文本框 2"/>
              <p:cNvSpPr txBox="1">
                <a:spLocks noChangeArrowheads="1"/>
              </p:cNvSpPr>
              <p:nvPr/>
            </p:nvSpPr>
            <p:spPr bwMode="auto">
              <a:xfrm>
                <a:off x="0" y="0"/>
                <a:ext cx="695325" cy="206001"/>
              </a:xfrm>
              <a:prstGeom prst="rect">
                <a:avLst/>
              </a:prstGeom>
              <a:solidFill>
                <a:srgbClr val="FFFFFF"/>
              </a:solidFill>
              <a:ln w="9525">
                <a:solidFill>
                  <a:srgbClr val="000000"/>
                </a:solidFill>
                <a:miter lim="800000"/>
              </a:ln>
            </p:spPr>
            <p:txBody>
              <a:bodyPr rot="0" vert="horz" wrap="square" lIns="91440" tIns="45720" rIns="91440" bIns="45720" anchor="t" anchorCtr="0">
                <a:spAutoFit/>
              </a:bodyPr>
              <a:lstStyle/>
              <a:p>
                <a:pPr algn="just"/>
                <a:r>
                  <a:rPr lang="zh-CN" altLang="en-US" b="1" kern="100">
                    <a:latin typeface="+mn-ea"/>
                    <a:cs typeface="Times New Roman" panose="02020603050405020304" pitchFamily="18" charset="0"/>
                  </a:rPr>
                  <a:t>段号</a:t>
                </a:r>
                <a:endParaRPr lang="zh-CN" altLang="en-US" b="1" kern="100">
                  <a:latin typeface="+mn-ea"/>
                  <a:cs typeface="Times New Roman" panose="02020603050405020304" pitchFamily="18" charset="0"/>
                </a:endParaRPr>
              </a:p>
            </p:txBody>
          </p:sp>
          <p:sp>
            <p:nvSpPr>
              <p:cNvPr id="11" name="文本框 2"/>
              <p:cNvSpPr txBox="1">
                <a:spLocks noChangeArrowheads="1"/>
              </p:cNvSpPr>
              <p:nvPr/>
            </p:nvSpPr>
            <p:spPr bwMode="auto">
              <a:xfrm>
                <a:off x="685800" y="0"/>
                <a:ext cx="695325" cy="206001"/>
              </a:xfrm>
              <a:prstGeom prst="rect">
                <a:avLst/>
              </a:prstGeom>
              <a:solidFill>
                <a:srgbClr val="FFFFFF"/>
              </a:solidFill>
              <a:ln w="9525">
                <a:solidFill>
                  <a:srgbClr val="000000"/>
                </a:solidFill>
                <a:miter lim="800000"/>
              </a:ln>
            </p:spPr>
            <p:txBody>
              <a:bodyPr rot="0" vert="horz" wrap="square" lIns="91440" tIns="45720" rIns="91440" bIns="45720" anchor="t" anchorCtr="0">
                <a:spAutoFit/>
              </a:bodyPr>
              <a:lstStyle/>
              <a:p>
                <a:pPr algn="just"/>
                <a:r>
                  <a:rPr lang="zh-CN" altLang="en-US" b="1" kern="100">
                    <a:latin typeface="+mn-ea"/>
                    <a:cs typeface="Times New Roman" panose="02020603050405020304" pitchFamily="18" charset="0"/>
                  </a:rPr>
                  <a:t>页号</a:t>
                </a:r>
                <a:endParaRPr lang="zh-CN" altLang="en-US" b="1" kern="100">
                  <a:latin typeface="+mn-ea"/>
                  <a:cs typeface="Times New Roman" panose="02020603050405020304" pitchFamily="18" charset="0"/>
                </a:endParaRPr>
              </a:p>
            </p:txBody>
          </p:sp>
        </p:grpSp>
        <p:sp>
          <p:nvSpPr>
            <p:cNvPr id="9" name="文本框 2"/>
            <p:cNvSpPr txBox="1">
              <a:spLocks noChangeArrowheads="1"/>
            </p:cNvSpPr>
            <p:nvPr/>
          </p:nvSpPr>
          <p:spPr bwMode="auto">
            <a:xfrm>
              <a:off x="1381125" y="0"/>
              <a:ext cx="990600" cy="206001"/>
            </a:xfrm>
            <a:prstGeom prst="rect">
              <a:avLst/>
            </a:prstGeom>
            <a:solidFill>
              <a:srgbClr val="FFFFFF"/>
            </a:solidFill>
            <a:ln w="9525">
              <a:solidFill>
                <a:srgbClr val="000000"/>
              </a:solidFill>
              <a:miter lim="800000"/>
            </a:ln>
          </p:spPr>
          <p:txBody>
            <a:bodyPr rot="0" vert="horz" wrap="square" lIns="91440" tIns="45720" rIns="91440" bIns="45720" anchor="t" anchorCtr="0">
              <a:spAutoFit/>
            </a:bodyPr>
            <a:lstStyle/>
            <a:p>
              <a:pPr algn="just"/>
              <a:r>
                <a:rPr lang="zh-CN" altLang="en-US" b="1" kern="100" dirty="0">
                  <a:latin typeface="+mn-ea"/>
                  <a:cs typeface="Times New Roman" panose="02020603050405020304" pitchFamily="18" charset="0"/>
                </a:rPr>
                <a:t>页内位移量</a:t>
              </a:r>
              <a:endParaRPr lang="zh-CN" altLang="en-US" b="1" kern="100" dirty="0">
                <a:latin typeface="+mn-ea"/>
                <a:cs typeface="Times New Roman" panose="02020603050405020304" pitchFamily="18" charset="0"/>
              </a:endParaRPr>
            </a:p>
          </p:txBody>
        </p:sp>
      </p:grpSp>
      <p:sp>
        <p:nvSpPr>
          <p:cNvPr id="14" name="Rectangle 10"/>
          <p:cNvSpPr>
            <a:spLocks noChangeArrowheads="1"/>
          </p:cNvSpPr>
          <p:nvPr/>
        </p:nvSpPr>
        <p:spPr bwMode="auto">
          <a:xfrm>
            <a:off x="1603002" y="256302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mn-ea"/>
            </a:endParaRPr>
          </a:p>
        </p:txBody>
      </p:sp>
      <p:sp>
        <p:nvSpPr>
          <p:cNvPr id="15" name="TextBox 1"/>
          <p:cNvSpPr txBox="1">
            <a:spLocks noChangeArrowheads="1"/>
          </p:cNvSpPr>
          <p:nvPr/>
        </p:nvSpPr>
        <p:spPr bwMode="auto">
          <a:xfrm>
            <a:off x="1105228" y="1261738"/>
            <a:ext cx="3716950" cy="398780"/>
          </a:xfrm>
          <a:prstGeom prst="rect">
            <a:avLst/>
          </a:prstGeom>
          <a:noFill/>
          <a:ln w="9525">
            <a:noFill/>
            <a:miter lim="800000"/>
          </a:ln>
        </p:spPr>
        <p:txBody>
          <a:bodyPr wrap="square">
            <a:spAutoFit/>
          </a:bodyPr>
          <a:lstStyle/>
          <a:p>
            <a:pPr marL="342900" indent="-34290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rPr>
              <a:t>段</a:t>
            </a:r>
            <a:r>
              <a:rPr lang="zh-CN" altLang="en-US" sz="2000" b="1" dirty="0">
                <a:solidFill>
                  <a:srgbClr val="6C0000"/>
                </a:solidFill>
                <a:latin typeface="华文行楷" panose="02010800040101010101" charset="-122"/>
                <a:ea typeface="华文行楷" panose="02010800040101010101" charset="-122"/>
              </a:rPr>
              <a:t>页</a:t>
            </a:r>
            <a:r>
              <a:rPr lang="zh-CN" altLang="zh-CN" sz="2000" b="1" dirty="0">
                <a:solidFill>
                  <a:srgbClr val="6C0000"/>
                </a:solidFill>
                <a:latin typeface="华文行楷" panose="02010800040101010101" charset="-122"/>
                <a:ea typeface="华文行楷" panose="02010800040101010101" charset="-122"/>
              </a:rPr>
              <a:t>式存储管理的基本思想</a:t>
            </a:r>
            <a:endParaRPr lang="zh-CN" altLang="zh-CN" sz="2000" b="1" dirty="0">
              <a:solidFill>
                <a:srgbClr val="6C0000"/>
              </a:solidFill>
              <a:latin typeface="华文行楷" panose="02010800040101010101" charset="-122"/>
              <a:ea typeface="华文行楷" panose="0201080004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3.6</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段页式存储管理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pic>
        <p:nvPicPr>
          <p:cNvPr id="5" name="图片 4"/>
          <p:cNvPicPr>
            <a:picLocks noChangeAspect="1"/>
          </p:cNvPicPr>
          <p:nvPr/>
        </p:nvPicPr>
        <p:blipFill>
          <a:blip r:embed="rId1"/>
          <a:stretch>
            <a:fillRect/>
          </a:stretch>
        </p:blipFill>
        <p:spPr>
          <a:xfrm>
            <a:off x="1723307" y="1590675"/>
            <a:ext cx="7797564" cy="4221402"/>
          </a:xfrm>
          <a:prstGeom prst="rect">
            <a:avLst/>
          </a:prstGeom>
        </p:spPr>
      </p:pic>
      <p:sp>
        <p:nvSpPr>
          <p:cNvPr id="15" name="TextBox 1"/>
          <p:cNvSpPr txBox="1">
            <a:spLocks noChangeArrowheads="1"/>
          </p:cNvSpPr>
          <p:nvPr/>
        </p:nvSpPr>
        <p:spPr bwMode="auto">
          <a:xfrm>
            <a:off x="1105228" y="1261738"/>
            <a:ext cx="5232942" cy="398780"/>
          </a:xfrm>
          <a:prstGeom prst="rect">
            <a:avLst/>
          </a:prstGeom>
          <a:noFill/>
          <a:ln w="9525">
            <a:noFill/>
            <a:miter lim="800000"/>
          </a:ln>
        </p:spPr>
        <p:txBody>
          <a:bodyPr wrap="square">
            <a:spAutoFit/>
          </a:bodyPr>
          <a:lstStyle/>
          <a:p>
            <a:pPr marL="342900" indent="-34290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rPr>
              <a:t>段</a:t>
            </a:r>
            <a:r>
              <a:rPr lang="zh-CN" altLang="en-US" sz="2000" b="1" dirty="0">
                <a:solidFill>
                  <a:srgbClr val="6C0000"/>
                </a:solidFill>
                <a:latin typeface="华文行楷" panose="02010800040101010101" charset="-122"/>
                <a:ea typeface="华文行楷" panose="02010800040101010101" charset="-122"/>
              </a:rPr>
              <a:t>页</a:t>
            </a:r>
            <a:r>
              <a:rPr lang="zh-CN" altLang="zh-CN" sz="2000" b="1" dirty="0">
                <a:solidFill>
                  <a:srgbClr val="6C0000"/>
                </a:solidFill>
                <a:latin typeface="华文行楷" panose="02010800040101010101" charset="-122"/>
                <a:ea typeface="华文行楷" panose="02010800040101010101" charset="-122"/>
              </a:rPr>
              <a:t>式存储管理</a:t>
            </a:r>
            <a:r>
              <a:rPr lang="zh-CN" altLang="en-US" sz="2000" b="1" dirty="0">
                <a:solidFill>
                  <a:srgbClr val="6C0000"/>
                </a:solidFill>
                <a:latin typeface="华文行楷" panose="02010800040101010101" charset="-122"/>
                <a:ea typeface="华文行楷" panose="02010800040101010101" charset="-122"/>
              </a:rPr>
              <a:t>的地址变换机构</a:t>
            </a:r>
            <a:endParaRPr lang="zh-CN" altLang="zh-CN" sz="2000" b="1" dirty="0">
              <a:solidFill>
                <a:srgbClr val="6C0000"/>
              </a:solidFill>
              <a:latin typeface="华文行楷" panose="02010800040101010101" charset="-122"/>
              <a:ea typeface="华文行楷" panose="0201080004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3.7</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存储保护的实现</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Text Placeholder 1"/>
          <p:cNvSpPr txBox="1"/>
          <p:nvPr/>
        </p:nvSpPr>
        <p:spPr>
          <a:xfrm>
            <a:off x="1603002" y="1286231"/>
            <a:ext cx="5701478" cy="3808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100" b="1" kern="1200" spc="225">
                <a:solidFill>
                  <a:schemeClr val="bg1"/>
                </a:solidFill>
                <a:latin typeface="+mj-ea"/>
                <a:ea typeface="+mj-ea"/>
                <a:cs typeface="+mn-cs"/>
              </a:defRPr>
            </a:lvl1pPr>
            <a:lvl2pPr marL="342900" indent="0" algn="l" defTabSz="914400" rtl="0" eaLnBrk="1" latinLnBrk="0" hangingPunct="1">
              <a:lnSpc>
                <a:spcPct val="90000"/>
              </a:lnSpc>
              <a:spcBef>
                <a:spcPts val="500"/>
              </a:spcBef>
              <a:buFontTx/>
              <a:buNone/>
              <a:defRPr sz="2100" b="1" kern="1200">
                <a:solidFill>
                  <a:schemeClr val="bg1"/>
                </a:solidFill>
                <a:latin typeface="+mj-ea"/>
                <a:ea typeface="+mj-ea"/>
                <a:cs typeface="+mn-cs"/>
              </a:defRPr>
            </a:lvl2pPr>
            <a:lvl3pPr marL="685800" indent="0" algn="l" defTabSz="914400" rtl="0" eaLnBrk="1" latinLnBrk="0" hangingPunct="1">
              <a:lnSpc>
                <a:spcPct val="90000"/>
              </a:lnSpc>
              <a:spcBef>
                <a:spcPts val="500"/>
              </a:spcBef>
              <a:buFontTx/>
              <a:buNone/>
              <a:defRPr sz="2100" b="1" kern="1200">
                <a:solidFill>
                  <a:schemeClr val="bg1"/>
                </a:solidFill>
                <a:latin typeface="+mj-ea"/>
                <a:ea typeface="+mj-ea"/>
                <a:cs typeface="+mn-cs"/>
              </a:defRPr>
            </a:lvl3pPr>
            <a:lvl4pPr marL="1028700" indent="0" algn="l" defTabSz="914400" rtl="0" eaLnBrk="1" latinLnBrk="0" hangingPunct="1">
              <a:lnSpc>
                <a:spcPct val="90000"/>
              </a:lnSpc>
              <a:spcBef>
                <a:spcPts val="500"/>
              </a:spcBef>
              <a:buFontTx/>
              <a:buNone/>
              <a:defRPr sz="2100" b="1" kern="1200">
                <a:solidFill>
                  <a:schemeClr val="bg1"/>
                </a:solidFill>
                <a:latin typeface="+mj-ea"/>
                <a:ea typeface="+mj-ea"/>
                <a:cs typeface="+mn-cs"/>
              </a:defRPr>
            </a:lvl4pPr>
            <a:lvl5pPr marL="1371600" indent="0" algn="l" defTabSz="914400" rtl="0" eaLnBrk="1" latinLnBrk="0" hangingPunct="1">
              <a:lnSpc>
                <a:spcPct val="90000"/>
              </a:lnSpc>
              <a:spcBef>
                <a:spcPts val="500"/>
              </a:spcBef>
              <a:buFontTx/>
              <a:buNone/>
              <a:defRPr sz="2100" b="1" kern="1200">
                <a:solidFill>
                  <a:schemeClr val="bg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Bef>
                <a:spcPct val="50000"/>
              </a:spcBef>
              <a:buFont typeface="Wingdings" panose="05000000000000000000" pitchFamily="2" charset="2"/>
              <a:buChar char="n"/>
            </a:pPr>
            <a:r>
              <a:rPr lang="zh-CN" altLang="zh-CN" sz="2000" dirty="0">
                <a:solidFill>
                  <a:srgbClr val="6C0000"/>
                </a:solidFill>
                <a:latin typeface="华文行楷" panose="02010800040101010101" charset="-122"/>
                <a:ea typeface="华文行楷" panose="02010800040101010101" charset="-122"/>
              </a:rPr>
              <a:t>防止地址越界</a:t>
            </a:r>
            <a:endParaRPr lang="zh-CN" altLang="zh-CN" sz="2000" dirty="0">
              <a:solidFill>
                <a:srgbClr val="6C0000"/>
              </a:solidFill>
              <a:latin typeface="华文行楷" panose="02010800040101010101" charset="-122"/>
              <a:ea typeface="华文行楷" panose="02010800040101010101" charset="-122"/>
            </a:endParaRPr>
          </a:p>
        </p:txBody>
      </p:sp>
      <p:sp>
        <p:nvSpPr>
          <p:cNvPr id="7" name="矩形 6"/>
          <p:cNvSpPr/>
          <p:nvPr/>
        </p:nvSpPr>
        <p:spPr>
          <a:xfrm>
            <a:off x="1787733" y="1787887"/>
            <a:ext cx="8571292" cy="881139"/>
          </a:xfrm>
          <a:prstGeom prst="rect">
            <a:avLst/>
          </a:prstGeom>
        </p:spPr>
        <p:txBody>
          <a:bodyPr wrap="square">
            <a:spAutoFit/>
          </a:bodyPr>
          <a:lstStyle/>
          <a:p>
            <a:pPr>
              <a:lnSpc>
                <a:spcPct val="150000"/>
              </a:lnSpc>
            </a:pPr>
            <a:r>
              <a:rPr lang="en-US" altLang="zh-CN" b="1" kern="0" spc="40" dirty="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zh-CN" b="1" kern="0" spc="40" dirty="0">
                <a:solidFill>
                  <a:srgbClr val="000000"/>
                </a:solidFill>
                <a:latin typeface="等线" panose="02010600030101010101" pitchFamily="2" charset="-122"/>
                <a:ea typeface="等线" panose="02010600030101010101" pitchFamily="2" charset="-122"/>
                <a:cs typeface="Times New Roman" panose="02020603050405020304" pitchFamily="18" charset="0"/>
              </a:rPr>
              <a:t>可采用界限寄存器的方式，由操作系统给定进程的上、下界寄存器内容，从而限定每个用户进程的内存范围，禁止进程的越界访问</a:t>
            </a:r>
            <a:r>
              <a:rPr lang="zh-CN" altLang="en-US" b="1" kern="0" spc="4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zh-CN" altLang="en-US" b="1" dirty="0">
              <a:latin typeface="等线" panose="02010600030101010101" pitchFamily="2" charset="-122"/>
              <a:ea typeface="等线" panose="02010600030101010101" pitchFamily="2" charset="-122"/>
            </a:endParaRPr>
          </a:p>
        </p:txBody>
      </p:sp>
      <p:graphicFrame>
        <p:nvGraphicFramePr>
          <p:cNvPr id="9" name="表格 8"/>
          <p:cNvGraphicFramePr>
            <a:graphicFrameLocks noGrp="1"/>
          </p:cNvGraphicFramePr>
          <p:nvPr/>
        </p:nvGraphicFramePr>
        <p:xfrm>
          <a:off x="1091565" y="3057702"/>
          <a:ext cx="5004414" cy="2327289"/>
        </p:xfrm>
        <a:graphic>
          <a:graphicData uri="http://schemas.openxmlformats.org/drawingml/2006/table">
            <a:tbl>
              <a:tblPr firstRow="1" bandRow="1">
                <a:tableStyleId>{5C22544A-7EE6-4342-B048-85BDC9FD1C3A}</a:tableStyleId>
              </a:tblPr>
              <a:tblGrid>
                <a:gridCol w="1572281"/>
                <a:gridCol w="1763995"/>
                <a:gridCol w="1668138"/>
              </a:tblGrid>
              <a:tr h="407049">
                <a:tc>
                  <a:txBody>
                    <a:bodyPr/>
                    <a:lstStyle/>
                    <a:p>
                      <a:pPr algn="ctr"/>
                      <a:endParaRPr lang="zh-CN" altLang="en-US" b="1" dirty="0"/>
                    </a:p>
                  </a:txBody>
                  <a:tcPr>
                    <a:solidFill>
                      <a:schemeClr val="accent1">
                        <a:lumMod val="50000"/>
                      </a:schemeClr>
                    </a:solidFill>
                  </a:tcPr>
                </a:tc>
                <a:tc>
                  <a:txBody>
                    <a:bodyPr/>
                    <a:lstStyle/>
                    <a:p>
                      <a:pPr algn="ctr"/>
                      <a:r>
                        <a:rPr lang="zh-CN" altLang="zh-CN" sz="1800" b="1" kern="1200" dirty="0">
                          <a:solidFill>
                            <a:schemeClr val="lt1"/>
                          </a:solidFill>
                          <a:effectLst/>
                          <a:latin typeface="+mn-lt"/>
                          <a:ea typeface="+mn-ea"/>
                          <a:cs typeface="+mn-cs"/>
                        </a:rPr>
                        <a:t>防止地址越界</a:t>
                      </a:r>
                      <a:endParaRPr lang="zh-CN" altLang="en-US" b="1" dirty="0"/>
                    </a:p>
                  </a:txBody>
                  <a:tcPr>
                    <a:solidFill>
                      <a:schemeClr val="accent1">
                        <a:lumMod val="50000"/>
                      </a:schemeClr>
                    </a:solidFill>
                  </a:tcPr>
                </a:tc>
                <a:tc>
                  <a:txBody>
                    <a:bodyPr/>
                    <a:lstStyle/>
                    <a:p>
                      <a:pPr algn="ctr"/>
                      <a:r>
                        <a:rPr lang="zh-CN" altLang="zh-CN" sz="1800" b="1" kern="1200" dirty="0">
                          <a:solidFill>
                            <a:schemeClr val="lt1"/>
                          </a:solidFill>
                          <a:effectLst/>
                          <a:latin typeface="+mn-lt"/>
                          <a:ea typeface="+mn-ea"/>
                          <a:cs typeface="+mn-cs"/>
                        </a:rPr>
                        <a:t>防止操作越权</a:t>
                      </a:r>
                      <a:endParaRPr lang="zh-CN" altLang="en-US" b="1" dirty="0"/>
                    </a:p>
                  </a:txBody>
                  <a:tcPr>
                    <a:solidFill>
                      <a:schemeClr val="accent1">
                        <a:lumMod val="50000"/>
                      </a:schemeClr>
                    </a:solidFill>
                  </a:tcPr>
                </a:tc>
              </a:tr>
              <a:tr h="617481">
                <a:tc>
                  <a:txBody>
                    <a:bodyPr/>
                    <a:lstStyle/>
                    <a:p>
                      <a:pPr algn="ctr"/>
                      <a:r>
                        <a:rPr lang="zh-CN" altLang="en-US" b="1" dirty="0">
                          <a:solidFill>
                            <a:schemeClr val="tx1"/>
                          </a:solidFill>
                        </a:rPr>
                        <a:t>连续存储管理</a:t>
                      </a:r>
                      <a:endParaRPr lang="zh-CN" altLang="en-US" b="1" dirty="0">
                        <a:solidFill>
                          <a:schemeClr val="tx1"/>
                        </a:solidFill>
                      </a:endParaRPr>
                    </a:p>
                  </a:txBody>
                  <a:tcPr>
                    <a:solidFill>
                      <a:srgbClr val="D2DEEF"/>
                    </a:solidFill>
                  </a:tcPr>
                </a:tc>
                <a:tc>
                  <a:txBody>
                    <a:bodyPr/>
                    <a:lstStyle/>
                    <a:p>
                      <a:pPr algn="ctr"/>
                      <a:r>
                        <a:rPr lang="zh-CN" altLang="en-US" sz="1800" b="1" kern="1200" dirty="0">
                          <a:solidFill>
                            <a:schemeClr val="tx1"/>
                          </a:solidFill>
                          <a:effectLst/>
                          <a:latin typeface="+mn-lt"/>
                          <a:ea typeface="+mn-ea"/>
                          <a:cs typeface="+mn-cs"/>
                        </a:rPr>
                        <a:t>使用</a:t>
                      </a:r>
                      <a:r>
                        <a:rPr lang="zh-CN" altLang="zh-CN" sz="1800" b="1" kern="1200" dirty="0">
                          <a:solidFill>
                            <a:schemeClr val="tx1"/>
                          </a:solidFill>
                          <a:effectLst/>
                          <a:latin typeface="+mn-lt"/>
                          <a:ea typeface="+mn-ea"/>
                          <a:cs typeface="+mn-cs"/>
                        </a:rPr>
                        <a:t>上、下界寄存器</a:t>
                      </a:r>
                      <a:endParaRPr lang="zh-CN" altLang="zh-CN" sz="1800" b="1" kern="1200" dirty="0">
                        <a:solidFill>
                          <a:schemeClr val="tx1"/>
                        </a:solidFill>
                        <a:effectLst/>
                        <a:latin typeface="+mn-lt"/>
                        <a:ea typeface="+mn-ea"/>
                        <a:cs typeface="+mn-cs"/>
                      </a:endParaRPr>
                    </a:p>
                  </a:txBody>
                  <a:tcPr>
                    <a:solidFill>
                      <a:srgbClr val="D2DEEF"/>
                    </a:solidFill>
                  </a:tcPr>
                </a:tc>
                <a:tc>
                  <a:txBody>
                    <a:bodyPr/>
                    <a:lstStyle/>
                    <a:p>
                      <a:pPr algn="ctr"/>
                      <a:endParaRPr lang="zh-CN" altLang="en-US" b="1" dirty="0">
                        <a:solidFill>
                          <a:schemeClr val="tx1"/>
                        </a:solidFill>
                      </a:endParaRPr>
                    </a:p>
                  </a:txBody>
                  <a:tcPr>
                    <a:solidFill>
                      <a:srgbClr val="D2DEEF"/>
                    </a:solidFill>
                  </a:tcPr>
                </a:tc>
              </a:tr>
              <a:tr h="617481">
                <a:tc>
                  <a:txBody>
                    <a:bodyPr/>
                    <a:lstStyle/>
                    <a:p>
                      <a:pPr algn="ctr"/>
                      <a:r>
                        <a:rPr lang="zh-CN" altLang="en-US" b="1" dirty="0"/>
                        <a:t>分页管理</a:t>
                      </a:r>
                      <a:endParaRPr lang="zh-CN" alt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b="1" kern="1200" dirty="0">
                          <a:solidFill>
                            <a:schemeClr val="dk1"/>
                          </a:solidFill>
                          <a:effectLst/>
                          <a:latin typeface="+mn-lt"/>
                          <a:ea typeface="+mn-ea"/>
                          <a:cs typeface="+mn-cs"/>
                        </a:rPr>
                        <a:t>基址</a:t>
                      </a:r>
                      <a:r>
                        <a:rPr lang="en-US" altLang="zh-CN" sz="1800" b="1" kern="1200" dirty="0">
                          <a:solidFill>
                            <a:schemeClr val="dk1"/>
                          </a:solidFill>
                          <a:effectLst/>
                          <a:latin typeface="+mn-lt"/>
                          <a:ea typeface="+mn-ea"/>
                          <a:cs typeface="+mn-cs"/>
                        </a:rPr>
                        <a:t>-</a:t>
                      </a:r>
                      <a:r>
                        <a:rPr lang="zh-CN" altLang="zh-CN" sz="1800" b="1" kern="1200" dirty="0">
                          <a:solidFill>
                            <a:schemeClr val="dk1"/>
                          </a:solidFill>
                          <a:effectLst/>
                          <a:latin typeface="+mn-lt"/>
                          <a:ea typeface="+mn-ea"/>
                          <a:cs typeface="+mn-cs"/>
                        </a:rPr>
                        <a:t>限长存储保护</a:t>
                      </a:r>
                      <a:endParaRPr lang="zh-CN" altLang="en-US" b="1" dirty="0"/>
                    </a:p>
                  </a:txBody>
                  <a:tcPr/>
                </a:tc>
                <a:tc>
                  <a:txBody>
                    <a:bodyPr/>
                    <a:lstStyle/>
                    <a:p>
                      <a:pPr algn="ctr"/>
                      <a:r>
                        <a:rPr lang="zh-CN" altLang="zh-CN" sz="1800" b="1" kern="1200" dirty="0">
                          <a:solidFill>
                            <a:schemeClr val="dk1"/>
                          </a:solidFill>
                          <a:effectLst/>
                          <a:latin typeface="+mn-lt"/>
                          <a:ea typeface="+mn-ea"/>
                          <a:cs typeface="+mn-cs"/>
                        </a:rPr>
                        <a:t>存取控制</a:t>
                      </a:r>
                      <a:r>
                        <a:rPr lang="zh-CN" altLang="en-US" sz="1800" b="1" kern="1200" dirty="0">
                          <a:solidFill>
                            <a:schemeClr val="dk1"/>
                          </a:solidFill>
                          <a:effectLst/>
                          <a:latin typeface="+mn-lt"/>
                          <a:ea typeface="+mn-ea"/>
                          <a:cs typeface="+mn-cs"/>
                        </a:rPr>
                        <a:t>字段</a:t>
                      </a:r>
                      <a:endParaRPr lang="zh-CN" altLang="en-US" b="1" dirty="0"/>
                    </a:p>
                  </a:txBody>
                  <a:tcPr/>
                </a:tc>
              </a:tr>
              <a:tr h="617481">
                <a:tc>
                  <a:txBody>
                    <a:bodyPr/>
                    <a:lstStyle/>
                    <a:p>
                      <a:pPr algn="ctr"/>
                      <a:r>
                        <a:rPr lang="zh-CN" altLang="en-US" b="1" dirty="0"/>
                        <a:t>分段管理</a:t>
                      </a:r>
                      <a:endParaRPr lang="zh-CN" altLang="en-US" b="1" dirty="0"/>
                    </a:p>
                  </a:txBody>
                  <a:tcPr/>
                </a:tc>
                <a:tc>
                  <a:txBody>
                    <a:bodyPr/>
                    <a:lstStyle/>
                    <a:p>
                      <a:pPr algn="ctr"/>
                      <a:r>
                        <a:rPr lang="zh-CN" altLang="zh-CN" sz="1800" b="1" kern="1200" dirty="0">
                          <a:solidFill>
                            <a:schemeClr val="dk1"/>
                          </a:solidFill>
                          <a:effectLst/>
                          <a:latin typeface="+mn-lt"/>
                          <a:ea typeface="+mn-ea"/>
                          <a:cs typeface="+mn-cs"/>
                        </a:rPr>
                        <a:t>基址</a:t>
                      </a:r>
                      <a:r>
                        <a:rPr lang="en-US" altLang="zh-CN" sz="1800" b="1" kern="1200" dirty="0">
                          <a:solidFill>
                            <a:schemeClr val="dk1"/>
                          </a:solidFill>
                          <a:effectLst/>
                          <a:latin typeface="+mn-lt"/>
                          <a:ea typeface="+mn-ea"/>
                          <a:cs typeface="+mn-cs"/>
                        </a:rPr>
                        <a:t>-</a:t>
                      </a:r>
                      <a:r>
                        <a:rPr lang="zh-CN" altLang="zh-CN" sz="1800" b="1" kern="1200" dirty="0">
                          <a:solidFill>
                            <a:schemeClr val="dk1"/>
                          </a:solidFill>
                          <a:effectLst/>
                          <a:latin typeface="+mn-lt"/>
                          <a:ea typeface="+mn-ea"/>
                          <a:cs typeface="+mn-cs"/>
                        </a:rPr>
                        <a:t>限长存储保护</a:t>
                      </a:r>
                      <a:endParaRPr lang="zh-CN" alt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b="1" kern="1200" dirty="0">
                          <a:solidFill>
                            <a:schemeClr val="dk1"/>
                          </a:solidFill>
                          <a:effectLst/>
                          <a:latin typeface="+mn-lt"/>
                          <a:ea typeface="+mn-ea"/>
                          <a:cs typeface="+mn-cs"/>
                        </a:rPr>
                        <a:t>存取控制</a:t>
                      </a:r>
                      <a:r>
                        <a:rPr lang="zh-CN" altLang="en-US" sz="1800" b="1" kern="1200" dirty="0">
                          <a:solidFill>
                            <a:schemeClr val="dk1"/>
                          </a:solidFill>
                          <a:effectLst/>
                          <a:latin typeface="+mn-lt"/>
                          <a:ea typeface="+mn-ea"/>
                          <a:cs typeface="+mn-cs"/>
                        </a:rPr>
                        <a:t>字段</a:t>
                      </a:r>
                      <a:endParaRPr lang="zh-CN" altLang="en-US" b="1" dirty="0"/>
                    </a:p>
                    <a:p>
                      <a:pPr algn="ctr"/>
                      <a:endParaRPr lang="zh-CN" altLang="en-US" b="1" dirty="0"/>
                    </a:p>
                  </a:txBody>
                  <a:tcPr/>
                </a:tc>
              </a:tr>
            </a:tbl>
          </a:graphicData>
        </a:graphic>
      </p:graphicFrame>
      <p:pic>
        <p:nvPicPr>
          <p:cNvPr id="11" name="图片 10"/>
          <p:cNvPicPr>
            <a:picLocks noChangeAspect="1"/>
          </p:cNvPicPr>
          <p:nvPr/>
        </p:nvPicPr>
        <p:blipFill>
          <a:blip r:embed="rId1"/>
          <a:srcRect t="2070"/>
          <a:stretch>
            <a:fillRect/>
          </a:stretch>
        </p:blipFill>
        <p:spPr>
          <a:xfrm>
            <a:off x="6362065" y="3057525"/>
            <a:ext cx="4719955" cy="2872740"/>
          </a:xfrm>
          <a:prstGeom prst="rect">
            <a:avLst/>
          </a:prstGeom>
        </p:spPr>
      </p:pic>
      <p:sp>
        <p:nvSpPr>
          <p:cNvPr id="12" name="圆角矩形 11"/>
          <p:cNvSpPr/>
          <p:nvPr/>
        </p:nvSpPr>
        <p:spPr>
          <a:xfrm>
            <a:off x="2635250" y="2849880"/>
            <a:ext cx="1802765" cy="2917190"/>
          </a:xfrm>
          <a:prstGeom prst="roundRect">
            <a:avLst/>
          </a:prstGeom>
          <a:no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3.7</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存储保护的实现</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8" name="Text Placeholder 1"/>
          <p:cNvSpPr txBox="1"/>
          <p:nvPr/>
        </p:nvSpPr>
        <p:spPr>
          <a:xfrm>
            <a:off x="1188982" y="1185793"/>
            <a:ext cx="5701478" cy="3808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100" b="1" kern="1200" spc="225">
                <a:solidFill>
                  <a:schemeClr val="bg1"/>
                </a:solidFill>
                <a:latin typeface="+mj-ea"/>
                <a:ea typeface="+mj-ea"/>
                <a:cs typeface="+mn-cs"/>
              </a:defRPr>
            </a:lvl1pPr>
            <a:lvl2pPr marL="342900" indent="0" algn="l" defTabSz="914400" rtl="0" eaLnBrk="1" latinLnBrk="0" hangingPunct="1">
              <a:lnSpc>
                <a:spcPct val="90000"/>
              </a:lnSpc>
              <a:spcBef>
                <a:spcPts val="500"/>
              </a:spcBef>
              <a:buFontTx/>
              <a:buNone/>
              <a:defRPr sz="2100" b="1" kern="1200">
                <a:solidFill>
                  <a:schemeClr val="bg1"/>
                </a:solidFill>
                <a:latin typeface="+mj-ea"/>
                <a:ea typeface="+mj-ea"/>
                <a:cs typeface="+mn-cs"/>
              </a:defRPr>
            </a:lvl2pPr>
            <a:lvl3pPr marL="685800" indent="0" algn="l" defTabSz="914400" rtl="0" eaLnBrk="1" latinLnBrk="0" hangingPunct="1">
              <a:lnSpc>
                <a:spcPct val="90000"/>
              </a:lnSpc>
              <a:spcBef>
                <a:spcPts val="500"/>
              </a:spcBef>
              <a:buFontTx/>
              <a:buNone/>
              <a:defRPr sz="2100" b="1" kern="1200">
                <a:solidFill>
                  <a:schemeClr val="bg1"/>
                </a:solidFill>
                <a:latin typeface="+mj-ea"/>
                <a:ea typeface="+mj-ea"/>
                <a:cs typeface="+mn-cs"/>
              </a:defRPr>
            </a:lvl3pPr>
            <a:lvl4pPr marL="1028700" indent="0" algn="l" defTabSz="914400" rtl="0" eaLnBrk="1" latinLnBrk="0" hangingPunct="1">
              <a:lnSpc>
                <a:spcPct val="90000"/>
              </a:lnSpc>
              <a:spcBef>
                <a:spcPts val="500"/>
              </a:spcBef>
              <a:buFontTx/>
              <a:buNone/>
              <a:defRPr sz="2100" b="1" kern="1200">
                <a:solidFill>
                  <a:schemeClr val="bg1"/>
                </a:solidFill>
                <a:latin typeface="+mj-ea"/>
                <a:ea typeface="+mj-ea"/>
                <a:cs typeface="+mn-cs"/>
              </a:defRPr>
            </a:lvl4pPr>
            <a:lvl5pPr marL="1371600" indent="0" algn="l" defTabSz="914400" rtl="0" eaLnBrk="1" latinLnBrk="0" hangingPunct="1">
              <a:lnSpc>
                <a:spcPct val="90000"/>
              </a:lnSpc>
              <a:spcBef>
                <a:spcPts val="500"/>
              </a:spcBef>
              <a:buFontTx/>
              <a:buNone/>
              <a:defRPr sz="2100" b="1" kern="1200">
                <a:solidFill>
                  <a:schemeClr val="bg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Bef>
                <a:spcPct val="50000"/>
              </a:spcBef>
              <a:buFont typeface="Wingdings" panose="05000000000000000000" pitchFamily="2" charset="2"/>
              <a:buChar char="n"/>
            </a:pPr>
            <a:r>
              <a:rPr lang="zh-CN" altLang="zh-CN" sz="2000" dirty="0">
                <a:solidFill>
                  <a:srgbClr val="6C0000"/>
                </a:solidFill>
                <a:latin typeface="华文行楷" panose="02010800040101010101" charset="-122"/>
                <a:ea typeface="华文行楷" panose="02010800040101010101" charset="-122"/>
              </a:rPr>
              <a:t>防止</a:t>
            </a:r>
            <a:r>
              <a:rPr lang="zh-CN" altLang="en-US" sz="2000" dirty="0">
                <a:solidFill>
                  <a:srgbClr val="6C0000"/>
                </a:solidFill>
                <a:latin typeface="华文行楷" panose="02010800040101010101" charset="-122"/>
                <a:ea typeface="华文行楷" panose="02010800040101010101" charset="-122"/>
              </a:rPr>
              <a:t>操作越权</a:t>
            </a:r>
            <a:endParaRPr lang="zh-CN" altLang="en-US" sz="2000" dirty="0">
              <a:solidFill>
                <a:srgbClr val="6C0000"/>
              </a:solidFill>
              <a:latin typeface="华文行楷" panose="02010800040101010101" charset="-122"/>
              <a:ea typeface="华文行楷" panose="02010800040101010101" charset="-122"/>
            </a:endParaRPr>
          </a:p>
        </p:txBody>
      </p:sp>
      <p:sp>
        <p:nvSpPr>
          <p:cNvPr id="10" name="矩形 9"/>
          <p:cNvSpPr/>
          <p:nvPr/>
        </p:nvSpPr>
        <p:spPr>
          <a:xfrm>
            <a:off x="1275908" y="1394898"/>
            <a:ext cx="8396682" cy="1712135"/>
          </a:xfrm>
          <a:prstGeom prst="rect">
            <a:avLst/>
          </a:prstGeom>
        </p:spPr>
        <p:txBody>
          <a:bodyPr wrap="square">
            <a:spAutoFit/>
          </a:bodyPr>
          <a:lstStyle/>
          <a:p>
            <a:pPr indent="266700" algn="just">
              <a:lnSpc>
                <a:spcPct val="150000"/>
              </a:lnSpc>
            </a:pPr>
            <a:r>
              <a:rPr lang="en-US" altLang="zh-CN" b="1" kern="100" dirty="0">
                <a:solidFill>
                  <a:srgbClr val="000000"/>
                </a:solidFill>
                <a:latin typeface="+mn-ea"/>
                <a:cs typeface="Times New Roman" panose="02020603050405020304" pitchFamily="18" charset="0"/>
              </a:rPr>
              <a:t>    </a:t>
            </a:r>
            <a:r>
              <a:rPr lang="zh-CN" altLang="zh-CN" b="1" kern="100" dirty="0">
                <a:solidFill>
                  <a:srgbClr val="000000"/>
                </a:solidFill>
                <a:latin typeface="+mn-ea"/>
                <a:cs typeface="Times New Roman" panose="02020603050405020304" pitchFamily="18" charset="0"/>
              </a:rPr>
              <a:t>对属于自己区域的信息，可读可写；对公共区域中允许共享的信息或获得授权许可的信息，可读而不可修改；对未获授权使用的信息，不可读、不可写。</a:t>
            </a:r>
            <a:endParaRPr lang="en-US" altLang="zh-CN" b="1" kern="100" dirty="0">
              <a:solidFill>
                <a:srgbClr val="000000"/>
              </a:solidFill>
              <a:latin typeface="+mn-ea"/>
              <a:cs typeface="Times New Roman" panose="02020603050405020304" pitchFamily="18" charset="0"/>
            </a:endParaRPr>
          </a:p>
          <a:p>
            <a:pPr indent="266700" algn="just">
              <a:lnSpc>
                <a:spcPct val="150000"/>
              </a:lnSpc>
            </a:pPr>
            <a:r>
              <a:rPr lang="en-US" altLang="zh-CN" dirty="0">
                <a:latin typeface="+mn-ea"/>
              </a:rPr>
              <a:t>    </a:t>
            </a:r>
            <a:r>
              <a:rPr lang="zh-CN" altLang="zh-CN" b="1" dirty="0">
                <a:latin typeface="+mn-ea"/>
              </a:rPr>
              <a:t>可以通过设置内存区域的</a:t>
            </a:r>
            <a:r>
              <a:rPr lang="zh-CN" altLang="zh-CN" b="1" dirty="0">
                <a:solidFill>
                  <a:srgbClr val="6C0000"/>
                </a:solidFill>
                <a:latin typeface="+mn-ea"/>
              </a:rPr>
              <a:t>访问控制字段</a:t>
            </a:r>
            <a:r>
              <a:rPr lang="zh-CN" altLang="zh-CN" b="1" dirty="0">
                <a:latin typeface="+mn-ea"/>
              </a:rPr>
              <a:t>来进行管控。</a:t>
            </a:r>
            <a:endParaRPr lang="zh-CN" altLang="zh-CN" b="1" dirty="0">
              <a:latin typeface="+mn-ea"/>
            </a:endParaRPr>
          </a:p>
          <a:p>
            <a:pPr indent="266700" algn="just">
              <a:lnSpc>
                <a:spcPct val="150000"/>
              </a:lnSpc>
            </a:pPr>
            <a:endParaRPr lang="zh-CN" altLang="zh-CN" b="1" kern="100" dirty="0">
              <a:latin typeface="+mn-ea"/>
              <a:cs typeface="Times New Roman" panose="02020603050405020304" pitchFamily="18" charset="0"/>
            </a:endParaRPr>
          </a:p>
        </p:txBody>
      </p:sp>
      <p:graphicFrame>
        <p:nvGraphicFramePr>
          <p:cNvPr id="3" name="表格 2"/>
          <p:cNvGraphicFramePr>
            <a:graphicFrameLocks noGrp="1"/>
          </p:cNvGraphicFramePr>
          <p:nvPr/>
        </p:nvGraphicFramePr>
        <p:xfrm>
          <a:off x="1001395" y="2768777"/>
          <a:ext cx="5004414" cy="2327289"/>
        </p:xfrm>
        <a:graphic>
          <a:graphicData uri="http://schemas.openxmlformats.org/drawingml/2006/table">
            <a:tbl>
              <a:tblPr firstRow="1" bandRow="1">
                <a:tableStyleId>{5C22544A-7EE6-4342-B048-85BDC9FD1C3A}</a:tableStyleId>
              </a:tblPr>
              <a:tblGrid>
                <a:gridCol w="1572281"/>
                <a:gridCol w="1763995"/>
                <a:gridCol w="1668138"/>
              </a:tblGrid>
              <a:tr h="407049">
                <a:tc>
                  <a:txBody>
                    <a:bodyPr/>
                    <a:lstStyle/>
                    <a:p>
                      <a:pPr algn="ctr"/>
                      <a:endParaRPr lang="zh-CN" altLang="en-US" b="1" dirty="0"/>
                    </a:p>
                  </a:txBody>
                  <a:tcPr>
                    <a:solidFill>
                      <a:schemeClr val="accent1">
                        <a:lumMod val="50000"/>
                      </a:schemeClr>
                    </a:solidFill>
                  </a:tcPr>
                </a:tc>
                <a:tc>
                  <a:txBody>
                    <a:bodyPr/>
                    <a:lstStyle/>
                    <a:p>
                      <a:pPr algn="ctr"/>
                      <a:r>
                        <a:rPr lang="zh-CN" altLang="zh-CN" sz="1800" b="1" kern="1200" dirty="0">
                          <a:solidFill>
                            <a:schemeClr val="lt1"/>
                          </a:solidFill>
                          <a:effectLst/>
                          <a:latin typeface="+mn-lt"/>
                          <a:ea typeface="+mn-ea"/>
                          <a:cs typeface="+mn-cs"/>
                        </a:rPr>
                        <a:t>防止地址越界</a:t>
                      </a:r>
                      <a:endParaRPr lang="zh-CN" altLang="en-US" b="1" dirty="0"/>
                    </a:p>
                  </a:txBody>
                  <a:tcPr>
                    <a:solidFill>
                      <a:schemeClr val="accent1">
                        <a:lumMod val="50000"/>
                      </a:schemeClr>
                    </a:solidFill>
                  </a:tcPr>
                </a:tc>
                <a:tc>
                  <a:txBody>
                    <a:bodyPr/>
                    <a:lstStyle/>
                    <a:p>
                      <a:pPr algn="ctr"/>
                      <a:r>
                        <a:rPr lang="zh-CN" altLang="zh-CN" sz="1800" b="1" kern="1200" dirty="0">
                          <a:solidFill>
                            <a:schemeClr val="lt1"/>
                          </a:solidFill>
                          <a:effectLst/>
                          <a:latin typeface="+mn-lt"/>
                          <a:ea typeface="+mn-ea"/>
                          <a:cs typeface="+mn-cs"/>
                        </a:rPr>
                        <a:t>防止操作越权</a:t>
                      </a:r>
                      <a:endParaRPr lang="zh-CN" altLang="en-US" b="1" dirty="0"/>
                    </a:p>
                  </a:txBody>
                  <a:tcPr>
                    <a:solidFill>
                      <a:schemeClr val="accent1">
                        <a:lumMod val="50000"/>
                      </a:schemeClr>
                    </a:solidFill>
                  </a:tcPr>
                </a:tc>
              </a:tr>
              <a:tr h="617481">
                <a:tc>
                  <a:txBody>
                    <a:bodyPr/>
                    <a:lstStyle/>
                    <a:p>
                      <a:pPr algn="ctr"/>
                      <a:r>
                        <a:rPr lang="zh-CN" altLang="en-US" b="1" dirty="0">
                          <a:solidFill>
                            <a:schemeClr val="tx1"/>
                          </a:solidFill>
                        </a:rPr>
                        <a:t>连续存储管理</a:t>
                      </a:r>
                      <a:endParaRPr lang="zh-CN" altLang="en-US" b="1" dirty="0">
                        <a:solidFill>
                          <a:schemeClr val="tx1"/>
                        </a:solidFill>
                      </a:endParaRPr>
                    </a:p>
                  </a:txBody>
                  <a:tcPr>
                    <a:solidFill>
                      <a:srgbClr val="D2DEEF"/>
                    </a:solidFill>
                  </a:tcPr>
                </a:tc>
                <a:tc>
                  <a:txBody>
                    <a:bodyPr/>
                    <a:lstStyle/>
                    <a:p>
                      <a:pPr algn="ctr"/>
                      <a:r>
                        <a:rPr lang="zh-CN" altLang="en-US" sz="1800" b="1" kern="1200" dirty="0">
                          <a:solidFill>
                            <a:schemeClr val="tx1"/>
                          </a:solidFill>
                          <a:effectLst/>
                          <a:latin typeface="+mn-lt"/>
                          <a:ea typeface="+mn-ea"/>
                          <a:cs typeface="+mn-cs"/>
                        </a:rPr>
                        <a:t>使用</a:t>
                      </a:r>
                      <a:r>
                        <a:rPr lang="zh-CN" altLang="zh-CN" sz="1800" b="1" kern="1200" dirty="0">
                          <a:solidFill>
                            <a:schemeClr val="tx1"/>
                          </a:solidFill>
                          <a:effectLst/>
                          <a:latin typeface="+mn-lt"/>
                          <a:ea typeface="+mn-ea"/>
                          <a:cs typeface="+mn-cs"/>
                        </a:rPr>
                        <a:t>上、下界寄存器</a:t>
                      </a:r>
                      <a:endParaRPr lang="zh-CN" altLang="zh-CN" sz="1800" b="1" kern="1200" dirty="0">
                        <a:solidFill>
                          <a:schemeClr val="tx1"/>
                        </a:solidFill>
                        <a:effectLst/>
                        <a:latin typeface="+mn-lt"/>
                        <a:ea typeface="+mn-ea"/>
                        <a:cs typeface="+mn-cs"/>
                      </a:endParaRPr>
                    </a:p>
                  </a:txBody>
                  <a:tcPr>
                    <a:solidFill>
                      <a:srgbClr val="D2DEEF"/>
                    </a:solidFill>
                  </a:tcPr>
                </a:tc>
                <a:tc>
                  <a:txBody>
                    <a:bodyPr/>
                    <a:lstStyle/>
                    <a:p>
                      <a:pPr algn="ctr"/>
                      <a:endParaRPr lang="zh-CN" altLang="en-US" b="1" dirty="0">
                        <a:solidFill>
                          <a:schemeClr val="tx1"/>
                        </a:solidFill>
                      </a:endParaRPr>
                    </a:p>
                  </a:txBody>
                  <a:tcPr>
                    <a:solidFill>
                      <a:srgbClr val="D2DEEF"/>
                    </a:solidFill>
                  </a:tcPr>
                </a:tc>
              </a:tr>
              <a:tr h="617481">
                <a:tc>
                  <a:txBody>
                    <a:bodyPr/>
                    <a:lstStyle/>
                    <a:p>
                      <a:pPr algn="ctr"/>
                      <a:r>
                        <a:rPr lang="zh-CN" altLang="en-US" b="1" dirty="0"/>
                        <a:t>分页管理</a:t>
                      </a:r>
                      <a:endParaRPr lang="zh-CN" alt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b="1" kern="1200" dirty="0">
                          <a:solidFill>
                            <a:schemeClr val="dk1"/>
                          </a:solidFill>
                          <a:effectLst/>
                          <a:latin typeface="+mn-lt"/>
                          <a:ea typeface="+mn-ea"/>
                          <a:cs typeface="+mn-cs"/>
                        </a:rPr>
                        <a:t>基址</a:t>
                      </a:r>
                      <a:r>
                        <a:rPr lang="en-US" altLang="zh-CN" sz="1800" b="1" kern="1200" dirty="0">
                          <a:solidFill>
                            <a:schemeClr val="dk1"/>
                          </a:solidFill>
                          <a:effectLst/>
                          <a:latin typeface="+mn-lt"/>
                          <a:ea typeface="+mn-ea"/>
                          <a:cs typeface="+mn-cs"/>
                        </a:rPr>
                        <a:t>-</a:t>
                      </a:r>
                      <a:r>
                        <a:rPr lang="zh-CN" altLang="zh-CN" sz="1800" b="1" kern="1200" dirty="0">
                          <a:solidFill>
                            <a:schemeClr val="dk1"/>
                          </a:solidFill>
                          <a:effectLst/>
                          <a:latin typeface="+mn-lt"/>
                          <a:ea typeface="+mn-ea"/>
                          <a:cs typeface="+mn-cs"/>
                        </a:rPr>
                        <a:t>限长存储保护</a:t>
                      </a:r>
                      <a:endParaRPr lang="zh-CN" altLang="en-US" b="1" dirty="0"/>
                    </a:p>
                  </a:txBody>
                  <a:tcPr/>
                </a:tc>
                <a:tc>
                  <a:txBody>
                    <a:bodyPr/>
                    <a:lstStyle/>
                    <a:p>
                      <a:pPr algn="ctr"/>
                      <a:r>
                        <a:rPr lang="zh-CN" altLang="zh-CN" sz="1800" b="1" kern="1200" dirty="0">
                          <a:solidFill>
                            <a:schemeClr val="dk1"/>
                          </a:solidFill>
                          <a:effectLst/>
                          <a:latin typeface="+mn-lt"/>
                          <a:ea typeface="+mn-ea"/>
                          <a:cs typeface="+mn-cs"/>
                        </a:rPr>
                        <a:t>存取控制</a:t>
                      </a:r>
                      <a:r>
                        <a:rPr lang="zh-CN" altLang="en-US" sz="1800" b="1" kern="1200" dirty="0">
                          <a:solidFill>
                            <a:schemeClr val="dk1"/>
                          </a:solidFill>
                          <a:effectLst/>
                          <a:latin typeface="+mn-lt"/>
                          <a:ea typeface="+mn-ea"/>
                          <a:cs typeface="+mn-cs"/>
                        </a:rPr>
                        <a:t>字段</a:t>
                      </a:r>
                      <a:endParaRPr lang="zh-CN" altLang="en-US" b="1" dirty="0"/>
                    </a:p>
                  </a:txBody>
                  <a:tcPr/>
                </a:tc>
              </a:tr>
              <a:tr h="617481">
                <a:tc>
                  <a:txBody>
                    <a:bodyPr/>
                    <a:lstStyle/>
                    <a:p>
                      <a:pPr algn="ctr"/>
                      <a:r>
                        <a:rPr lang="zh-CN" altLang="en-US" b="1" dirty="0"/>
                        <a:t>分段管理</a:t>
                      </a:r>
                      <a:endParaRPr lang="zh-CN" altLang="en-US" b="1" dirty="0"/>
                    </a:p>
                  </a:txBody>
                  <a:tcPr/>
                </a:tc>
                <a:tc>
                  <a:txBody>
                    <a:bodyPr/>
                    <a:lstStyle/>
                    <a:p>
                      <a:pPr algn="ctr"/>
                      <a:r>
                        <a:rPr lang="zh-CN" altLang="zh-CN" sz="1800" b="1" kern="1200" dirty="0">
                          <a:solidFill>
                            <a:schemeClr val="dk1"/>
                          </a:solidFill>
                          <a:effectLst/>
                          <a:latin typeface="+mn-lt"/>
                          <a:ea typeface="+mn-ea"/>
                          <a:cs typeface="+mn-cs"/>
                        </a:rPr>
                        <a:t>基址</a:t>
                      </a:r>
                      <a:r>
                        <a:rPr lang="en-US" altLang="zh-CN" sz="1800" b="1" kern="1200" dirty="0">
                          <a:solidFill>
                            <a:schemeClr val="dk1"/>
                          </a:solidFill>
                          <a:effectLst/>
                          <a:latin typeface="+mn-lt"/>
                          <a:ea typeface="+mn-ea"/>
                          <a:cs typeface="+mn-cs"/>
                        </a:rPr>
                        <a:t>-</a:t>
                      </a:r>
                      <a:r>
                        <a:rPr lang="zh-CN" altLang="zh-CN" sz="1800" b="1" kern="1200" dirty="0">
                          <a:solidFill>
                            <a:schemeClr val="dk1"/>
                          </a:solidFill>
                          <a:effectLst/>
                          <a:latin typeface="+mn-lt"/>
                          <a:ea typeface="+mn-ea"/>
                          <a:cs typeface="+mn-cs"/>
                        </a:rPr>
                        <a:t>限长存储保护</a:t>
                      </a:r>
                      <a:endParaRPr lang="zh-CN" alt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b="1" kern="1200" dirty="0">
                          <a:solidFill>
                            <a:schemeClr val="dk1"/>
                          </a:solidFill>
                          <a:effectLst/>
                          <a:latin typeface="+mn-lt"/>
                          <a:ea typeface="+mn-ea"/>
                          <a:cs typeface="+mn-cs"/>
                        </a:rPr>
                        <a:t>存取控制</a:t>
                      </a:r>
                      <a:r>
                        <a:rPr lang="zh-CN" altLang="en-US" sz="1800" b="1" kern="1200" dirty="0">
                          <a:solidFill>
                            <a:schemeClr val="dk1"/>
                          </a:solidFill>
                          <a:effectLst/>
                          <a:latin typeface="+mn-lt"/>
                          <a:ea typeface="+mn-ea"/>
                          <a:cs typeface="+mn-cs"/>
                        </a:rPr>
                        <a:t>字段</a:t>
                      </a:r>
                      <a:endParaRPr lang="zh-CN" altLang="en-US" b="1" dirty="0"/>
                    </a:p>
                    <a:p>
                      <a:pPr algn="ctr"/>
                      <a:endParaRPr lang="zh-CN" altLang="en-US" b="1" dirty="0"/>
                    </a:p>
                  </a:txBody>
                  <a:tcPr/>
                </a:tc>
              </a:tr>
            </a:tbl>
          </a:graphicData>
        </a:graphic>
      </p:graphicFrame>
      <p:sp>
        <p:nvSpPr>
          <p:cNvPr id="9" name="圆角矩形 8"/>
          <p:cNvSpPr/>
          <p:nvPr/>
        </p:nvSpPr>
        <p:spPr>
          <a:xfrm>
            <a:off x="4270375" y="3588385"/>
            <a:ext cx="1802765" cy="1648460"/>
          </a:xfrm>
          <a:prstGeom prst="roundRect">
            <a:avLst/>
          </a:prstGeom>
          <a:no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p:cNvPicPr>
            <a:picLocks noChangeAspect="1"/>
          </p:cNvPicPr>
          <p:nvPr/>
        </p:nvPicPr>
        <p:blipFill>
          <a:blip r:embed="rId1"/>
          <a:stretch>
            <a:fillRect/>
          </a:stretch>
        </p:blipFill>
        <p:spPr>
          <a:xfrm>
            <a:off x="6276340" y="3007995"/>
            <a:ext cx="5200015" cy="1247140"/>
          </a:xfrm>
          <a:prstGeom prst="rect">
            <a:avLst/>
          </a:prstGeom>
        </p:spPr>
      </p:pic>
      <p:sp>
        <p:nvSpPr>
          <p:cNvPr id="11" name="矩形 10"/>
          <p:cNvSpPr/>
          <p:nvPr/>
        </p:nvSpPr>
        <p:spPr>
          <a:xfrm>
            <a:off x="1275559" y="5304810"/>
            <a:ext cx="9489074" cy="707886"/>
          </a:xfrm>
          <a:prstGeom prst="rect">
            <a:avLst/>
          </a:prstGeom>
        </p:spPr>
        <p:txBody>
          <a:bodyPr wrap="square">
            <a:spAutoFit/>
          </a:bodyPr>
          <a:lstStyle/>
          <a:p>
            <a:r>
              <a:rPr lang="zh-CN" altLang="zh-CN" sz="2000" b="1" dirty="0">
                <a:solidFill>
                  <a:srgbClr val="6C0000"/>
                </a:solidFill>
                <a:latin typeface="等线" panose="02010600030101010101" pitchFamily="2" charset="-122"/>
                <a:ea typeface="等线" panose="02010600030101010101" pitchFamily="2" charset="-122"/>
                <a:cs typeface="Times New Roman" panose="02020603050405020304" pitchFamily="18" charset="0"/>
              </a:rPr>
              <a:t>存储保护一般以硬件保护机制为主，软件为辅，因为完全用软件实现系统开销太大，速度成倍降低。当发生越界或非法操作时，硬件产生中断，进入操作系统处理。</a:t>
            </a:r>
            <a:endParaRPr lang="zh-CN" altLang="en-US" sz="2000" b="1" dirty="0">
              <a:solidFill>
                <a:srgbClr val="6C0000"/>
              </a:solidFill>
              <a:latin typeface="等线" panose="02010600030101010101" pitchFamily="2" charset="-122"/>
              <a:ea typeface="等线"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3.7</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存储保护的实现</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graphicFrame>
        <p:nvGraphicFramePr>
          <p:cNvPr id="2" name="表格 1"/>
          <p:cNvGraphicFramePr>
            <a:graphicFrameLocks noGrp="1"/>
          </p:cNvGraphicFramePr>
          <p:nvPr/>
        </p:nvGraphicFramePr>
        <p:xfrm>
          <a:off x="572135" y="2135734"/>
          <a:ext cx="5004414" cy="2390886"/>
        </p:xfrm>
        <a:graphic>
          <a:graphicData uri="http://schemas.openxmlformats.org/drawingml/2006/table">
            <a:tbl>
              <a:tblPr firstRow="1" bandRow="1">
                <a:tableStyleId>{5C22544A-7EE6-4342-B048-85BDC9FD1C3A}</a:tableStyleId>
              </a:tblPr>
              <a:tblGrid>
                <a:gridCol w="1572281"/>
                <a:gridCol w="1763995"/>
                <a:gridCol w="1668138"/>
              </a:tblGrid>
              <a:tr h="470646">
                <a:tc>
                  <a:txBody>
                    <a:bodyPr/>
                    <a:lstStyle/>
                    <a:p>
                      <a:pPr algn="ctr"/>
                      <a:endParaRPr lang="zh-CN" altLang="en-US" b="1" dirty="0"/>
                    </a:p>
                  </a:txBody>
                  <a:tcPr>
                    <a:solidFill>
                      <a:schemeClr val="accent1">
                        <a:lumMod val="50000"/>
                      </a:schemeClr>
                    </a:solidFill>
                  </a:tcPr>
                </a:tc>
                <a:tc>
                  <a:txBody>
                    <a:bodyPr/>
                    <a:lstStyle/>
                    <a:p>
                      <a:pPr algn="ctr"/>
                      <a:r>
                        <a:rPr lang="zh-CN" altLang="zh-CN" sz="1800" b="1" kern="1200" dirty="0">
                          <a:solidFill>
                            <a:schemeClr val="lt1"/>
                          </a:solidFill>
                          <a:effectLst/>
                          <a:latin typeface="+mn-lt"/>
                          <a:ea typeface="+mn-ea"/>
                          <a:cs typeface="+mn-cs"/>
                        </a:rPr>
                        <a:t>防止地址越界</a:t>
                      </a:r>
                      <a:endParaRPr lang="zh-CN" altLang="en-US" b="1" dirty="0"/>
                    </a:p>
                  </a:txBody>
                  <a:tcPr>
                    <a:solidFill>
                      <a:schemeClr val="accent1">
                        <a:lumMod val="50000"/>
                      </a:schemeClr>
                    </a:solidFill>
                  </a:tcPr>
                </a:tc>
                <a:tc>
                  <a:txBody>
                    <a:bodyPr/>
                    <a:lstStyle/>
                    <a:p>
                      <a:pPr algn="ctr"/>
                      <a:r>
                        <a:rPr lang="zh-CN" altLang="zh-CN" sz="1800" b="1" kern="1200" dirty="0">
                          <a:solidFill>
                            <a:schemeClr val="lt1"/>
                          </a:solidFill>
                          <a:effectLst/>
                          <a:latin typeface="+mn-lt"/>
                          <a:ea typeface="+mn-ea"/>
                          <a:cs typeface="+mn-cs"/>
                        </a:rPr>
                        <a:t>防止操作越权</a:t>
                      </a:r>
                      <a:endParaRPr lang="zh-CN" altLang="en-US" b="1" dirty="0"/>
                    </a:p>
                  </a:txBody>
                  <a:tcPr>
                    <a:solidFill>
                      <a:schemeClr val="accent1">
                        <a:lumMod val="50000"/>
                      </a:schemeClr>
                    </a:solidFill>
                  </a:tcPr>
                </a:tc>
              </a:tr>
              <a:tr h="617481">
                <a:tc>
                  <a:txBody>
                    <a:bodyPr/>
                    <a:lstStyle/>
                    <a:p>
                      <a:pPr algn="ctr"/>
                      <a:r>
                        <a:rPr lang="zh-CN" altLang="en-US" b="1" dirty="0"/>
                        <a:t>连续存储管理</a:t>
                      </a:r>
                      <a:endParaRPr lang="zh-CN" altLang="en-US" b="1" dirty="0"/>
                    </a:p>
                  </a:txBody>
                  <a:tcPr/>
                </a:tc>
                <a:tc>
                  <a:txBody>
                    <a:bodyPr/>
                    <a:lstStyle/>
                    <a:p>
                      <a:pPr algn="ctr"/>
                      <a:r>
                        <a:rPr lang="zh-CN" altLang="en-US" sz="1800" b="1" kern="1200" dirty="0">
                          <a:solidFill>
                            <a:schemeClr val="dk1"/>
                          </a:solidFill>
                          <a:effectLst/>
                          <a:latin typeface="+mn-lt"/>
                          <a:ea typeface="+mn-ea"/>
                          <a:cs typeface="+mn-cs"/>
                        </a:rPr>
                        <a:t>使用</a:t>
                      </a:r>
                      <a:r>
                        <a:rPr lang="zh-CN" altLang="zh-CN" sz="1800" b="1" kern="1200" dirty="0">
                          <a:solidFill>
                            <a:schemeClr val="dk1"/>
                          </a:solidFill>
                          <a:effectLst/>
                          <a:latin typeface="+mn-lt"/>
                          <a:ea typeface="+mn-ea"/>
                          <a:cs typeface="+mn-cs"/>
                        </a:rPr>
                        <a:t>上、下界寄存器</a:t>
                      </a:r>
                      <a:endParaRPr lang="zh-CN" altLang="en-US" b="1" dirty="0"/>
                    </a:p>
                  </a:txBody>
                  <a:tcPr/>
                </a:tc>
                <a:tc>
                  <a:txBody>
                    <a:bodyPr/>
                    <a:lstStyle/>
                    <a:p>
                      <a:pPr algn="ctr"/>
                      <a:endParaRPr lang="zh-CN" altLang="en-US" b="1" dirty="0"/>
                    </a:p>
                  </a:txBody>
                  <a:tcPr/>
                </a:tc>
              </a:tr>
              <a:tr h="617481">
                <a:tc>
                  <a:txBody>
                    <a:bodyPr/>
                    <a:lstStyle/>
                    <a:p>
                      <a:pPr algn="ctr"/>
                      <a:r>
                        <a:rPr lang="zh-CN" altLang="en-US" b="1" dirty="0">
                          <a:solidFill>
                            <a:srgbClr val="C00000"/>
                          </a:solidFill>
                        </a:rPr>
                        <a:t>分页管理</a:t>
                      </a:r>
                      <a:endParaRPr lang="zh-CN" altLang="en-US" b="1" dirty="0">
                        <a:solidFill>
                          <a:srgbClr val="C00000"/>
                        </a:solidFill>
                      </a:endParaRPr>
                    </a:p>
                  </a:txBody>
                  <a:tcP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C00000"/>
                          </a:solidFill>
                          <a:effectLst/>
                          <a:latin typeface="+mn-lt"/>
                          <a:ea typeface="+mn-ea"/>
                          <a:cs typeface="+mn-cs"/>
                        </a:rPr>
                        <a:t>基址</a:t>
                      </a:r>
                      <a:r>
                        <a:rPr lang="en-US" altLang="zh-CN" sz="1800" b="1" kern="1200" dirty="0">
                          <a:solidFill>
                            <a:srgbClr val="C00000"/>
                          </a:solidFill>
                          <a:effectLst/>
                          <a:latin typeface="+mn-lt"/>
                          <a:ea typeface="+mn-ea"/>
                          <a:cs typeface="+mn-cs"/>
                        </a:rPr>
                        <a:t>-</a:t>
                      </a:r>
                      <a:r>
                        <a:rPr lang="zh-CN" altLang="zh-CN" sz="1800" b="1" kern="1200" dirty="0">
                          <a:solidFill>
                            <a:srgbClr val="C00000"/>
                          </a:solidFill>
                          <a:effectLst/>
                          <a:latin typeface="+mn-lt"/>
                          <a:ea typeface="+mn-ea"/>
                          <a:cs typeface="+mn-cs"/>
                        </a:rPr>
                        <a:t>限长存储保护</a:t>
                      </a:r>
                      <a:endParaRPr lang="zh-CN" altLang="en-US" b="1" dirty="0">
                        <a:solidFill>
                          <a:srgbClr val="C00000"/>
                        </a:solidFill>
                      </a:endParaRPr>
                    </a:p>
                  </a:txBody>
                  <a:tcPr>
                    <a:solidFill>
                      <a:schemeClr val="accent4">
                        <a:lumMod val="20000"/>
                        <a:lumOff val="80000"/>
                      </a:schemeClr>
                    </a:solidFill>
                  </a:tcPr>
                </a:tc>
                <a:tc>
                  <a:txBody>
                    <a:bodyPr/>
                    <a:lstStyle/>
                    <a:p>
                      <a:pPr algn="ctr"/>
                      <a:r>
                        <a:rPr lang="zh-CN" altLang="zh-CN" sz="1800" b="1" kern="1200" dirty="0">
                          <a:solidFill>
                            <a:srgbClr val="C00000"/>
                          </a:solidFill>
                          <a:effectLst/>
                          <a:latin typeface="+mn-lt"/>
                          <a:ea typeface="+mn-ea"/>
                          <a:cs typeface="+mn-cs"/>
                        </a:rPr>
                        <a:t>存取控制</a:t>
                      </a:r>
                      <a:r>
                        <a:rPr lang="zh-CN" altLang="en-US" sz="1800" b="1" kern="1200" dirty="0">
                          <a:solidFill>
                            <a:srgbClr val="C00000"/>
                          </a:solidFill>
                          <a:effectLst/>
                          <a:latin typeface="+mn-lt"/>
                          <a:ea typeface="+mn-ea"/>
                          <a:cs typeface="+mn-cs"/>
                        </a:rPr>
                        <a:t>字段</a:t>
                      </a:r>
                      <a:endParaRPr lang="zh-CN" altLang="en-US" b="1" dirty="0">
                        <a:solidFill>
                          <a:srgbClr val="C00000"/>
                        </a:solidFill>
                      </a:endParaRPr>
                    </a:p>
                  </a:txBody>
                  <a:tcPr>
                    <a:solidFill>
                      <a:schemeClr val="accent4">
                        <a:lumMod val="20000"/>
                        <a:lumOff val="80000"/>
                      </a:schemeClr>
                    </a:solidFill>
                  </a:tcPr>
                </a:tc>
              </a:tr>
              <a:tr h="617481">
                <a:tc>
                  <a:txBody>
                    <a:bodyPr/>
                    <a:lstStyle/>
                    <a:p>
                      <a:pPr algn="ctr"/>
                      <a:r>
                        <a:rPr lang="zh-CN" altLang="en-US" b="1" dirty="0"/>
                        <a:t>分段管理</a:t>
                      </a:r>
                      <a:endParaRPr lang="zh-CN" altLang="en-US" b="1" dirty="0"/>
                    </a:p>
                  </a:txBody>
                  <a:tcPr/>
                </a:tc>
                <a:tc>
                  <a:txBody>
                    <a:bodyPr/>
                    <a:lstStyle/>
                    <a:p>
                      <a:pPr algn="ctr"/>
                      <a:r>
                        <a:rPr lang="zh-CN" altLang="zh-CN" sz="1800" b="1" kern="1200" dirty="0">
                          <a:solidFill>
                            <a:schemeClr val="dk1"/>
                          </a:solidFill>
                          <a:effectLst/>
                          <a:latin typeface="+mn-lt"/>
                          <a:ea typeface="+mn-ea"/>
                          <a:cs typeface="+mn-cs"/>
                        </a:rPr>
                        <a:t>基址</a:t>
                      </a:r>
                      <a:r>
                        <a:rPr lang="en-US" altLang="zh-CN" sz="1800" b="1" kern="1200" dirty="0">
                          <a:solidFill>
                            <a:schemeClr val="dk1"/>
                          </a:solidFill>
                          <a:effectLst/>
                          <a:latin typeface="+mn-lt"/>
                          <a:ea typeface="+mn-ea"/>
                          <a:cs typeface="+mn-cs"/>
                        </a:rPr>
                        <a:t>-</a:t>
                      </a:r>
                      <a:r>
                        <a:rPr lang="zh-CN" altLang="zh-CN" sz="1800" b="1" kern="1200" dirty="0">
                          <a:solidFill>
                            <a:schemeClr val="dk1"/>
                          </a:solidFill>
                          <a:effectLst/>
                          <a:latin typeface="+mn-lt"/>
                          <a:ea typeface="+mn-ea"/>
                          <a:cs typeface="+mn-cs"/>
                        </a:rPr>
                        <a:t>限长存储保护</a:t>
                      </a:r>
                      <a:endParaRPr lang="zh-CN" altLang="en-US"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800" b="1" kern="1200" dirty="0">
                          <a:solidFill>
                            <a:schemeClr val="dk1"/>
                          </a:solidFill>
                          <a:effectLst/>
                          <a:latin typeface="+mn-lt"/>
                          <a:ea typeface="+mn-ea"/>
                          <a:cs typeface="+mn-cs"/>
                        </a:rPr>
                        <a:t>存取控制</a:t>
                      </a:r>
                      <a:r>
                        <a:rPr lang="zh-CN" altLang="en-US" sz="1800" b="1" kern="1200" dirty="0">
                          <a:solidFill>
                            <a:schemeClr val="dk1"/>
                          </a:solidFill>
                          <a:effectLst/>
                          <a:latin typeface="+mn-lt"/>
                          <a:ea typeface="+mn-ea"/>
                          <a:cs typeface="+mn-cs"/>
                        </a:rPr>
                        <a:t>字段</a:t>
                      </a:r>
                      <a:endParaRPr lang="zh-CN" altLang="en-US" b="1" dirty="0"/>
                    </a:p>
                    <a:p>
                      <a:pPr algn="ctr"/>
                      <a:endParaRPr lang="zh-CN" altLang="en-US" b="1" dirty="0"/>
                    </a:p>
                  </a:txBody>
                  <a:tcPr/>
                </a:tc>
              </a:tr>
            </a:tbl>
          </a:graphicData>
        </a:graphic>
      </p:graphicFrame>
      <p:pic>
        <p:nvPicPr>
          <p:cNvPr id="4" name="图片 3"/>
          <p:cNvPicPr>
            <a:picLocks noChangeAspect="1"/>
          </p:cNvPicPr>
          <p:nvPr/>
        </p:nvPicPr>
        <p:blipFill>
          <a:blip r:embed="rId1"/>
          <a:srcRect l="6216" r="5527" b="-8026"/>
          <a:stretch>
            <a:fillRect/>
          </a:stretch>
        </p:blipFill>
        <p:spPr>
          <a:xfrm>
            <a:off x="6096000" y="1750492"/>
            <a:ext cx="5205007" cy="1015662"/>
          </a:xfrm>
          <a:prstGeom prst="rect">
            <a:avLst/>
          </a:prstGeom>
        </p:spPr>
      </p:pic>
      <p:sp>
        <p:nvSpPr>
          <p:cNvPr id="7" name="文本框 6"/>
          <p:cNvSpPr txBox="1"/>
          <p:nvPr/>
        </p:nvSpPr>
        <p:spPr>
          <a:xfrm>
            <a:off x="5755267" y="3191284"/>
            <a:ext cx="5864598" cy="1015663"/>
          </a:xfrm>
          <a:prstGeom prst="rect">
            <a:avLst/>
          </a:prstGeom>
          <a:noFill/>
        </p:spPr>
        <p:txBody>
          <a:bodyPr wrap="square">
            <a:spAutoFit/>
          </a:bodyPr>
          <a:lstStyle/>
          <a:p>
            <a:r>
              <a:rPr lang="zh-CN" altLang="en-US" sz="2000" dirty="0">
                <a:latin typeface="方正粗黑宋简体" panose="02000000000000000000" pitchFamily="2" charset="-122"/>
                <a:ea typeface="方正粗黑宋简体" panose="02000000000000000000" pitchFamily="2" charset="-122"/>
              </a:rPr>
              <a:t>即使在简单的分页系统中，也常在页表的表项中设置一存取控制字段，用于对该存储块中的内容加以保护。</a:t>
            </a:r>
            <a:r>
              <a:rPr lang="en-US" altLang="zh-CN" sz="2000" dirty="0">
                <a:latin typeface="方正粗黑宋简体" panose="02000000000000000000" pitchFamily="2" charset="-122"/>
                <a:ea typeface="方正粗黑宋简体" panose="02000000000000000000" pitchFamily="2" charset="-122"/>
              </a:rPr>
              <a:t> </a:t>
            </a:r>
            <a:endParaRPr lang="zh-CN" altLang="en-US" sz="2000" dirty="0">
              <a:latin typeface="方正粗黑宋简体" panose="02000000000000000000" pitchFamily="2" charset="-122"/>
              <a:ea typeface="方正粗黑宋简体" panose="02000000000000000000" pitchFamily="2" charset="-122"/>
            </a:endParaRPr>
          </a:p>
        </p:txBody>
      </p:sp>
      <p:sp>
        <p:nvSpPr>
          <p:cNvPr id="8" name="矩形 7"/>
          <p:cNvSpPr/>
          <p:nvPr/>
        </p:nvSpPr>
        <p:spPr>
          <a:xfrm>
            <a:off x="1238729" y="4951750"/>
            <a:ext cx="9489074" cy="707886"/>
          </a:xfrm>
          <a:prstGeom prst="rect">
            <a:avLst/>
          </a:prstGeom>
        </p:spPr>
        <p:txBody>
          <a:bodyPr wrap="square">
            <a:spAutoFit/>
          </a:bodyPr>
          <a:lstStyle/>
          <a:p>
            <a:r>
              <a:rPr lang="zh-CN" altLang="zh-CN" sz="2000" b="1" dirty="0">
                <a:solidFill>
                  <a:srgbClr val="6C0000"/>
                </a:solidFill>
                <a:latin typeface="等线" panose="02010600030101010101" pitchFamily="2" charset="-122"/>
                <a:ea typeface="等线" panose="02010600030101010101" pitchFamily="2" charset="-122"/>
                <a:cs typeface="Times New Roman" panose="02020603050405020304" pitchFamily="18" charset="0"/>
              </a:rPr>
              <a:t>存储保护一般以硬件保护机制为主，软件为辅，因为完全用软件实现系统开销太大，速度成倍降低。当发生越界或非法操作时，硬件产生中断，进入操作系统处理。</a:t>
            </a:r>
            <a:endParaRPr lang="zh-CN" altLang="en-US" sz="2000" b="1" dirty="0">
              <a:solidFill>
                <a:srgbClr val="6C0000"/>
              </a:solidFill>
              <a:latin typeface="等线" panose="02010600030101010101" pitchFamily="2" charset="-122"/>
              <a:ea typeface="等线"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矩形 2"/>
          <p:cNvSpPr/>
          <p:nvPr/>
        </p:nvSpPr>
        <p:spPr>
          <a:xfrm>
            <a:off x="1510338" y="1400465"/>
            <a:ext cx="8773529" cy="1083438"/>
          </a:xfrm>
          <a:prstGeom prst="rect">
            <a:avLst/>
          </a:prstGeom>
          <a:ln>
            <a:solidFill>
              <a:schemeClr val="tx1"/>
            </a:solidFill>
          </a:ln>
        </p:spPr>
        <p:txBody>
          <a:bodyPr wrap="square">
            <a:spAutoFit/>
          </a:bodyPr>
          <a:lstStyle/>
          <a:p>
            <a:pPr indent="266700">
              <a:lnSpc>
                <a:spcPct val="125000"/>
              </a:lnSpc>
            </a:pPr>
            <a:r>
              <a:rPr lang="en-US" altLang="zh-CN" b="1" kern="100" dirty="0">
                <a:solidFill>
                  <a:srgbClr val="000000"/>
                </a:solidFill>
                <a:latin typeface="黑体" panose="02010609060101010101" charset="-122"/>
                <a:ea typeface="黑体" panose="02010609060101010101" charset="-122"/>
                <a:cs typeface="Arial" panose="020B0604020202020204" pitchFamily="34" charset="0"/>
              </a:rPr>
              <a:t>  </a:t>
            </a:r>
            <a:r>
              <a:rPr lang="zh-CN" altLang="zh-CN" b="1" kern="100" dirty="0">
                <a:solidFill>
                  <a:srgbClr val="000000"/>
                </a:solidFill>
                <a:latin typeface="黑体" panose="02010609060101010101" charset="-122"/>
                <a:ea typeface="黑体" panose="02010609060101010101" charset="-122"/>
                <a:cs typeface="Arial" panose="020B0604020202020204" pitchFamily="34" charset="0"/>
              </a:rPr>
              <a:t>所谓虚拟内存技术，又称为虚拟存储技术，就是把</a:t>
            </a:r>
            <a:r>
              <a:rPr lang="en-US" altLang="zh-CN" b="1" kern="100" dirty="0">
                <a:solidFill>
                  <a:srgbClr val="000000"/>
                </a:solidFill>
                <a:latin typeface="黑体" panose="02010609060101010101" charset="-122"/>
                <a:ea typeface="黑体" panose="02010609060101010101" charset="-122"/>
                <a:cs typeface="Arial" panose="020B0604020202020204" pitchFamily="34" charset="0"/>
              </a:rPr>
              <a:t>内存</a:t>
            </a:r>
            <a:r>
              <a:rPr lang="zh-CN" altLang="zh-CN" b="1" kern="100" dirty="0">
                <a:solidFill>
                  <a:srgbClr val="000000"/>
                </a:solidFill>
                <a:latin typeface="黑体" panose="02010609060101010101" charset="-122"/>
                <a:ea typeface="黑体" panose="02010609060101010101" charset="-122"/>
                <a:cs typeface="Arial" panose="020B0604020202020204" pitchFamily="34" charset="0"/>
              </a:rPr>
              <a:t>与外存有机的结合起来使用，从而得到一个容量很大的</a:t>
            </a:r>
            <a:r>
              <a:rPr lang="en-US" altLang="zh-CN" b="1" kern="100" dirty="0">
                <a:solidFill>
                  <a:srgbClr val="000000"/>
                </a:solidFill>
                <a:latin typeface="黑体" panose="02010609060101010101" charset="-122"/>
                <a:ea typeface="黑体" panose="02010609060101010101" charset="-122"/>
                <a:cs typeface="Arial" panose="020B0604020202020204" pitchFamily="34" charset="0"/>
              </a:rPr>
              <a:t>“</a:t>
            </a:r>
            <a:r>
              <a:rPr lang="zh-CN" altLang="zh-CN" b="1" kern="100" dirty="0">
                <a:solidFill>
                  <a:srgbClr val="000000"/>
                </a:solidFill>
                <a:latin typeface="黑体" panose="02010609060101010101" charset="-122"/>
                <a:ea typeface="黑体" panose="02010609060101010101" charset="-122"/>
                <a:cs typeface="Arial" panose="020B0604020202020204" pitchFamily="34" charset="0"/>
              </a:rPr>
              <a:t>内存</a:t>
            </a:r>
            <a:r>
              <a:rPr lang="en-US" altLang="zh-CN" b="1" kern="100" dirty="0">
                <a:solidFill>
                  <a:srgbClr val="000000"/>
                </a:solidFill>
                <a:latin typeface="黑体" panose="02010609060101010101" charset="-122"/>
                <a:ea typeface="黑体" panose="02010609060101010101" charset="-122"/>
                <a:cs typeface="Arial" panose="020B0604020202020204" pitchFamily="34" charset="0"/>
              </a:rPr>
              <a:t>”</a:t>
            </a:r>
            <a:r>
              <a:rPr lang="zh-CN" altLang="zh-CN" b="1" kern="100" dirty="0">
                <a:solidFill>
                  <a:srgbClr val="000000"/>
                </a:solidFill>
                <a:latin typeface="黑体" panose="02010609060101010101" charset="-122"/>
                <a:ea typeface="黑体" panose="02010609060101010101" charset="-122"/>
                <a:cs typeface="Arial" panose="020B0604020202020204" pitchFamily="34" charset="0"/>
              </a:rPr>
              <a:t>，该技术</a:t>
            </a:r>
            <a:r>
              <a:rPr lang="zh-CN" altLang="zh-CN" b="1" kern="0" dirty="0">
                <a:solidFill>
                  <a:srgbClr val="000000"/>
                </a:solidFill>
                <a:latin typeface="黑体" panose="02010609060101010101" charset="-122"/>
                <a:ea typeface="黑体" panose="02010609060101010101" charset="-122"/>
                <a:cs typeface="宋体" panose="02010600030101010101" pitchFamily="2" charset="-122"/>
              </a:rPr>
              <a:t>可以让系统看上去具有比实际物理内存大得多的内存空间并为实现多道程序的执行创造了条件。</a:t>
            </a:r>
            <a:endParaRPr lang="zh-CN" altLang="zh-CN" b="1" kern="100" dirty="0">
              <a:latin typeface="黑体" panose="02010609060101010101" charset="-122"/>
              <a:ea typeface="黑体" panose="02010609060101010101" charset="-122"/>
              <a:cs typeface="Times New Roman" panose="02020603050405020304" pitchFamily="18" charset="0"/>
            </a:endParaRPr>
          </a:p>
        </p:txBody>
      </p:sp>
      <p:sp>
        <p:nvSpPr>
          <p:cNvPr id="5" name="矩形 4"/>
          <p:cNvSpPr/>
          <p:nvPr/>
        </p:nvSpPr>
        <p:spPr>
          <a:xfrm>
            <a:off x="1510338" y="2941462"/>
            <a:ext cx="9312150" cy="2122184"/>
          </a:xfrm>
          <a:prstGeom prst="rect">
            <a:avLst/>
          </a:prstGeom>
        </p:spPr>
        <p:txBody>
          <a:bodyPr wrap="square">
            <a:spAutoFit/>
          </a:bodyPr>
          <a:lstStyle/>
          <a:p>
            <a:pPr indent="304800">
              <a:lnSpc>
                <a:spcPct val="125000"/>
              </a:lnSpc>
            </a:pPr>
            <a:r>
              <a:rPr lang="en-US" altLang="zh-CN" b="1" kern="0" dirty="0">
                <a:solidFill>
                  <a:schemeClr val="tx1"/>
                </a:solidFill>
                <a:latin typeface="黑体" panose="02010609060101010101" charset="-122"/>
                <a:ea typeface="黑体" panose="02010609060101010101" charset="-122"/>
                <a:cs typeface="宋体" panose="02010600030101010101" pitchFamily="2" charset="-122"/>
              </a:rPr>
              <a:t>   </a:t>
            </a:r>
            <a:r>
              <a:rPr lang="zh-CN" altLang="zh-CN" b="1" kern="0" dirty="0">
                <a:solidFill>
                  <a:schemeClr val="tx1"/>
                </a:solidFill>
                <a:latin typeface="黑体" panose="02010609060101010101" charset="-122"/>
                <a:ea typeface="黑体" panose="02010609060101010101" charset="-122"/>
                <a:cs typeface="宋体" panose="02010600030101010101" pitchFamily="2" charset="-122"/>
              </a:rPr>
              <a:t>当操作系统支持虚拟存储技术的时候，进程只需要将部分代码载入内存即可使得程序在内存中运行。当下一条需要执行的指令不在内存时，则需要将新的程序段调入内存，将旧的程序段置换出去。在计算机技术中将内存中的程序段复制回外存的做法叫做</a:t>
            </a:r>
            <a:r>
              <a:rPr lang="en-US" altLang="zh-CN" b="1" kern="0" dirty="0">
                <a:solidFill>
                  <a:srgbClr val="7C0000"/>
                </a:solidFill>
                <a:latin typeface="黑体" panose="02010609060101010101" charset="-122"/>
                <a:ea typeface="黑体" panose="02010609060101010101" charset="-122"/>
                <a:cs typeface="宋体" panose="02010600030101010101" pitchFamily="2" charset="-122"/>
              </a:rPr>
              <a:t>“</a:t>
            </a:r>
            <a:r>
              <a:rPr lang="zh-CN" altLang="zh-CN" b="1" kern="0" dirty="0">
                <a:solidFill>
                  <a:srgbClr val="7C0000"/>
                </a:solidFill>
                <a:latin typeface="黑体" panose="02010609060101010101" charset="-122"/>
                <a:ea typeface="黑体" panose="02010609060101010101" charset="-122"/>
                <a:cs typeface="宋体" panose="02010600030101010101" pitchFamily="2" charset="-122"/>
              </a:rPr>
              <a:t>换出</a:t>
            </a:r>
            <a:r>
              <a:rPr lang="en-US" altLang="zh-CN" b="1" kern="0" dirty="0">
                <a:solidFill>
                  <a:srgbClr val="7C0000"/>
                </a:solidFill>
                <a:latin typeface="黑体" panose="02010609060101010101" charset="-122"/>
                <a:ea typeface="黑体" panose="02010609060101010101" charset="-122"/>
                <a:cs typeface="宋体" panose="02010600030101010101" pitchFamily="2" charset="-122"/>
              </a:rPr>
              <a:t>”</a:t>
            </a:r>
            <a:r>
              <a:rPr lang="zh-CN" altLang="zh-CN" b="1" kern="0" dirty="0">
                <a:solidFill>
                  <a:schemeClr val="tx1"/>
                </a:solidFill>
                <a:latin typeface="黑体" panose="02010609060101010101" charset="-122"/>
                <a:ea typeface="黑体" panose="02010609060101010101" charset="-122"/>
                <a:cs typeface="宋体" panose="02010600030101010101" pitchFamily="2" charset="-122"/>
              </a:rPr>
              <a:t>，而将外存中程序段映射到内存的做法称为</a:t>
            </a:r>
            <a:r>
              <a:rPr lang="en-US" altLang="zh-CN" b="1" kern="0" dirty="0">
                <a:solidFill>
                  <a:srgbClr val="7C0000"/>
                </a:solidFill>
                <a:latin typeface="黑体" panose="02010609060101010101" charset="-122"/>
                <a:ea typeface="黑体" panose="02010609060101010101" charset="-122"/>
                <a:cs typeface="宋体" panose="02010600030101010101" pitchFamily="2" charset="-122"/>
              </a:rPr>
              <a:t>“</a:t>
            </a:r>
            <a:r>
              <a:rPr lang="zh-CN" altLang="zh-CN" b="1" kern="0" dirty="0">
                <a:solidFill>
                  <a:srgbClr val="7C0000"/>
                </a:solidFill>
                <a:latin typeface="黑体" panose="02010609060101010101" charset="-122"/>
                <a:ea typeface="黑体" panose="02010609060101010101" charset="-122"/>
                <a:cs typeface="宋体" panose="02010600030101010101" pitchFamily="2" charset="-122"/>
              </a:rPr>
              <a:t>换入</a:t>
            </a:r>
            <a:r>
              <a:rPr lang="en-US" altLang="zh-CN" b="1" kern="0" dirty="0">
                <a:solidFill>
                  <a:srgbClr val="7C0000"/>
                </a:solidFill>
                <a:latin typeface="黑体" panose="02010609060101010101" charset="-122"/>
                <a:ea typeface="黑体" panose="02010609060101010101" charset="-122"/>
                <a:cs typeface="宋体" panose="02010600030101010101" pitchFamily="2" charset="-122"/>
              </a:rPr>
              <a:t>”</a:t>
            </a:r>
            <a:r>
              <a:rPr lang="zh-CN" altLang="zh-CN" b="1" kern="0" dirty="0">
                <a:solidFill>
                  <a:schemeClr val="tx1"/>
                </a:solidFill>
                <a:latin typeface="黑体" panose="02010609060101010101" charset="-122"/>
                <a:ea typeface="黑体" panose="02010609060101010101" charset="-122"/>
                <a:cs typeface="宋体" panose="02010600030101010101" pitchFamily="2" charset="-122"/>
              </a:rPr>
              <a:t>。经过不断有目的的换入和换出，处理器就可以运行一个大于实际物理内存的应用程序了。或者说，处理器似乎拥有了一个大于实际物理内存的内存空间。</a:t>
            </a:r>
            <a:endParaRPr lang="zh-CN" altLang="zh-CN" b="1" kern="0" dirty="0">
              <a:solidFill>
                <a:schemeClr val="tx1"/>
              </a:solidFill>
              <a:latin typeface="黑体" panose="02010609060101010101" charset="-122"/>
              <a:ea typeface="黑体" panose="02010609060101010101" charset="-122"/>
              <a:cs typeface="宋体"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矩形 1"/>
          <p:cNvSpPr/>
          <p:nvPr/>
        </p:nvSpPr>
        <p:spPr>
          <a:xfrm>
            <a:off x="1001394" y="1261737"/>
            <a:ext cx="1861820" cy="398780"/>
          </a:xfrm>
          <a:prstGeom prst="rect">
            <a:avLst/>
          </a:prstGeom>
        </p:spPr>
        <p:txBody>
          <a:bodyPr wrap="none">
            <a:spAutoFit/>
          </a:bodyPr>
          <a:lstStyle/>
          <a:p>
            <a:pPr marL="342900" indent="-342900">
              <a:buFont typeface="Wingdings" panose="05000000000000000000" pitchFamily="2" charset="2"/>
              <a:buChar char="n"/>
            </a:pPr>
            <a:r>
              <a:rPr lang="zh-CN" altLang="zh-CN" sz="2000" b="1" kern="0" dirty="0">
                <a:solidFill>
                  <a:srgbClr val="6C0000"/>
                </a:solidFill>
                <a:latin typeface="华文行楷" panose="02010800040101010101" charset="-122"/>
                <a:ea typeface="华文行楷" panose="02010800040101010101" charset="-122"/>
                <a:cs typeface="华文行楷" panose="02010800040101010101" charset="-122"/>
              </a:rPr>
              <a:t>局部性原理</a:t>
            </a:r>
            <a:r>
              <a:rPr lang="en-US" altLang="zh-CN" sz="2000" b="1" kern="0"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en-US"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4" name="矩形 3"/>
          <p:cNvSpPr/>
          <p:nvPr/>
        </p:nvSpPr>
        <p:spPr>
          <a:xfrm>
            <a:off x="1197188" y="1707836"/>
            <a:ext cx="9024049" cy="3529941"/>
          </a:xfrm>
          <a:prstGeom prst="rect">
            <a:avLst/>
          </a:prstGeom>
          <a:ln>
            <a:solidFill>
              <a:schemeClr val="tx1"/>
            </a:solidFill>
          </a:ln>
        </p:spPr>
        <p:txBody>
          <a:bodyPr wrap="square">
            <a:spAutoFit/>
          </a:bodyPr>
          <a:lstStyle/>
          <a:p>
            <a:pPr indent="266700" algn="just">
              <a:lnSpc>
                <a:spcPct val="125000"/>
              </a:lnSpc>
            </a:pPr>
            <a:r>
              <a:rPr lang="en-US"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局部性原理是指程序在执行过程中的一个较短时间内，所执行的指令地址或操作数地址分别局限于一定的内存区域中。</a:t>
            </a:r>
            <a:endParaRPr lang="en-US"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25000"/>
              </a:lnSpc>
            </a:pP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marL="342900" indent="-342900" algn="just">
              <a:lnSpc>
                <a:spcPct val="125000"/>
              </a:lnSpc>
              <a:buFont typeface="Wingdings" panose="05000000000000000000" pitchFamily="2" charset="2"/>
              <a:buChar char=""/>
            </a:pP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程序可能包含若干循环。一般情况下循环是由相对较少的指令组成，在循环过程中，计算分页系统存储键保护被限制在程序中相邻部分。</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marL="342900" indent="-342900" algn="just">
              <a:lnSpc>
                <a:spcPct val="125000"/>
              </a:lnSpc>
              <a:buFont typeface="Wingdings" panose="05000000000000000000" pitchFamily="2" charset="2"/>
              <a:buChar char=""/>
            </a:pP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很少出现连续的过程调用，相反，程序中过程调用的深度限制在小范围内，一段时间内，指令引用被局限在很少几个过程中。</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marL="342900" indent="-342900" algn="just">
              <a:lnSpc>
                <a:spcPct val="125000"/>
              </a:lnSpc>
              <a:buFont typeface="Wingdings" panose="05000000000000000000" pitchFamily="2" charset="2"/>
              <a:buChar char=""/>
            </a:pP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对于连续访问数组之类的数据结构，在短时间内往往是对内存中相邻位置的数据的操作。</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marL="342900" indent="-342900" algn="just">
              <a:lnSpc>
                <a:spcPct val="125000"/>
              </a:lnSpc>
              <a:buFont typeface="Wingdings" panose="05000000000000000000" pitchFamily="2" charset="2"/>
              <a:buChar char=""/>
            </a:pPr>
            <a:r>
              <a:rPr lang="zh-CN" altLang="zh-CN" b="1" kern="0" dirty="0">
                <a:solidFill>
                  <a:srgbClr val="000000"/>
                </a:solidFill>
                <a:latin typeface="等线" panose="02010600030101010101" pitchFamily="2" charset="-122"/>
                <a:ea typeface="等线" panose="02010600030101010101" pitchFamily="2" charset="-122"/>
                <a:cs typeface="Times New Roman" panose="02020603050405020304" pitchFamily="18" charset="0"/>
              </a:rPr>
              <a:t>程序中有些部分是彼此互斥的，不是每次运行时都会调用，如出错处理代码等。</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p:cNvSpPr txBox="1"/>
          <p:nvPr/>
        </p:nvSpPr>
        <p:spPr>
          <a:xfrm>
            <a:off x="1851691" y="5477453"/>
            <a:ext cx="5513612" cy="400110"/>
          </a:xfrm>
          <a:prstGeom prst="rect">
            <a:avLst/>
          </a:prstGeom>
          <a:noFill/>
        </p:spPr>
        <p:txBody>
          <a:bodyPr wrap="square" rtlCol="0">
            <a:spAutoFit/>
          </a:bodyPr>
          <a:lstStyle/>
          <a:p>
            <a:r>
              <a:rPr lang="zh-CN" altLang="en-US" sz="2000" b="1" dirty="0">
                <a:solidFill>
                  <a:srgbClr val="6C0000"/>
                </a:solidFill>
                <a:latin typeface="等线" panose="02010600030101010101" pitchFamily="2" charset="-122"/>
                <a:ea typeface="等线" panose="02010600030101010101" pitchFamily="2" charset="-122"/>
              </a:rPr>
              <a:t>因此，进程部分代码载入内存是可行的</a:t>
            </a:r>
            <a:endParaRPr lang="zh-CN" altLang="en-US" sz="2000" b="1" dirty="0">
              <a:solidFill>
                <a:srgbClr val="6C0000"/>
              </a:solidFill>
              <a:latin typeface="等线" panose="02010600030101010101" pitchFamily="2" charset="-122"/>
              <a:ea typeface="等线"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矩形 1"/>
          <p:cNvSpPr/>
          <p:nvPr/>
        </p:nvSpPr>
        <p:spPr>
          <a:xfrm>
            <a:off x="1001394" y="1261737"/>
            <a:ext cx="2880360" cy="398780"/>
          </a:xfrm>
          <a:prstGeom prst="rect">
            <a:avLst/>
          </a:prstGeom>
        </p:spPr>
        <p:txBody>
          <a:bodyPr wrap="none">
            <a:spAutoFit/>
          </a:bodyPr>
          <a:lstStyle/>
          <a:p>
            <a:pPr marL="342900" indent="-342900">
              <a:buFont typeface="Wingdings" panose="05000000000000000000" pitchFamily="2" charset="2"/>
              <a:buChar char="n"/>
            </a:pPr>
            <a:r>
              <a:rPr lang="zh-CN" altLang="zh-CN" sz="2000" b="1" kern="0" dirty="0">
                <a:solidFill>
                  <a:srgbClr val="6C0000"/>
                </a:solidFill>
                <a:latin typeface="华文行楷" panose="02010800040101010101" charset="-122"/>
                <a:ea typeface="华文行楷" panose="02010800040101010101" charset="-122"/>
                <a:cs typeface="华文行楷" panose="02010800040101010101" charset="-122"/>
              </a:rPr>
              <a:t>局部性原理</a:t>
            </a:r>
            <a:r>
              <a:rPr lang="zh-CN" altLang="en-US" sz="2000" b="1" kern="0" dirty="0">
                <a:solidFill>
                  <a:srgbClr val="6C0000"/>
                </a:solidFill>
                <a:latin typeface="华文行楷" panose="02010800040101010101" charset="-122"/>
                <a:ea typeface="华文行楷" panose="02010800040101010101" charset="-122"/>
                <a:cs typeface="华文行楷" panose="02010800040101010101" charset="-122"/>
              </a:rPr>
              <a:t>（补充）</a:t>
            </a:r>
            <a:r>
              <a:rPr lang="en-US" altLang="zh-CN" sz="2000" b="1" kern="0"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en-US"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3" name="文本框 2"/>
          <p:cNvSpPr txBox="1"/>
          <p:nvPr/>
        </p:nvSpPr>
        <p:spPr>
          <a:xfrm>
            <a:off x="2536825" y="1808164"/>
            <a:ext cx="5080000" cy="337185"/>
          </a:xfrm>
          <a:prstGeom prst="rect">
            <a:avLst/>
          </a:prstGeom>
        </p:spPr>
        <p:txBody>
          <a:bodyPr>
            <a:spAutoFit/>
          </a:bodyPr>
          <a:lstStyle/>
          <a:p>
            <a:r>
              <a:rPr lang="zh-CN" altLang="en-US" sz="1600" b="1" dirty="0">
                <a:latin typeface="黑体" panose="02010609060101010101" charset="-122"/>
                <a:ea typeface="黑体" panose="02010609060101010101" charset="-122"/>
              </a:rPr>
              <a:t>想象一下你在阅读一本书，一页一页地往下读。</a:t>
            </a:r>
            <a:endParaRPr lang="zh-CN" altLang="en-US" sz="1600" b="1" dirty="0">
              <a:latin typeface="黑体" panose="02010609060101010101" charset="-122"/>
              <a:ea typeface="黑体" panose="02010609060101010101" charset="-122"/>
            </a:endParaRPr>
          </a:p>
        </p:txBody>
      </p:sp>
      <p:sp>
        <p:nvSpPr>
          <p:cNvPr id="5" name="文本框 4"/>
          <p:cNvSpPr txBox="1"/>
          <p:nvPr/>
        </p:nvSpPr>
        <p:spPr>
          <a:xfrm>
            <a:off x="2859405" y="2339975"/>
            <a:ext cx="4572000" cy="1754326"/>
          </a:xfrm>
          <a:prstGeom prst="rect">
            <a:avLst/>
          </a:prstGeom>
          <a:noFill/>
          <a:ln>
            <a:solidFill>
              <a:schemeClr val="tx1"/>
            </a:solidFill>
          </a:ln>
        </p:spPr>
        <p:txBody>
          <a:bodyPr wrap="square" rtlCol="0" anchor="t">
            <a:spAutoFit/>
          </a:bodyPr>
          <a:lstStyle/>
          <a:p>
            <a:r>
              <a:rPr lang="en-US" altLang="zh-CN" b="1" dirty="0">
                <a:latin typeface="+mn-ea"/>
                <a:cs typeface="Times New Roman" panose="02020603050405020304" pitchFamily="18" charset="0"/>
                <a:sym typeface="+mn-ea"/>
              </a:rPr>
              <a:t>int array[100] = {0, 1, 2, 3, ..., 99};</a:t>
            </a:r>
            <a:endParaRPr lang="en-US" altLang="zh-CN" b="1" dirty="0">
              <a:latin typeface="+mn-ea"/>
              <a:cs typeface="Times New Roman" panose="02020603050405020304" pitchFamily="18" charset="0"/>
              <a:sym typeface="+mn-ea"/>
            </a:endParaRPr>
          </a:p>
          <a:p>
            <a:r>
              <a:rPr lang="en-US" altLang="zh-CN" b="1" dirty="0">
                <a:latin typeface="+mn-ea"/>
                <a:cs typeface="Times New Roman" panose="02020603050405020304" pitchFamily="18" charset="0"/>
                <a:sym typeface="+mn-ea"/>
              </a:rPr>
              <a:t>int sum = 0;</a:t>
            </a:r>
            <a:endParaRPr lang="en-US" altLang="zh-CN" b="1" dirty="0">
              <a:latin typeface="+mn-ea"/>
              <a:cs typeface="Times New Roman" panose="02020603050405020304" pitchFamily="18" charset="0"/>
              <a:sym typeface="+mn-ea"/>
            </a:endParaRPr>
          </a:p>
          <a:p>
            <a:endParaRPr lang="en-US" altLang="zh-CN" b="1" dirty="0">
              <a:latin typeface="+mn-ea"/>
              <a:cs typeface="Times New Roman" panose="02020603050405020304" pitchFamily="18" charset="0"/>
              <a:sym typeface="+mn-ea"/>
            </a:endParaRPr>
          </a:p>
          <a:p>
            <a:r>
              <a:rPr lang="en-US" altLang="zh-CN" b="1" dirty="0">
                <a:latin typeface="+mn-ea"/>
                <a:cs typeface="Times New Roman" panose="02020603050405020304" pitchFamily="18" charset="0"/>
                <a:sym typeface="+mn-ea"/>
              </a:rPr>
              <a:t>for (int </a:t>
            </a:r>
            <a:r>
              <a:rPr lang="en-US" altLang="zh-CN" b="1" dirty="0" err="1">
                <a:latin typeface="+mn-ea"/>
                <a:cs typeface="Times New Roman" panose="02020603050405020304" pitchFamily="18" charset="0"/>
                <a:sym typeface="+mn-ea"/>
              </a:rPr>
              <a:t>i</a:t>
            </a:r>
            <a:r>
              <a:rPr lang="en-US" altLang="zh-CN" b="1" dirty="0">
                <a:latin typeface="+mn-ea"/>
                <a:cs typeface="Times New Roman" panose="02020603050405020304" pitchFamily="18" charset="0"/>
                <a:sym typeface="+mn-ea"/>
              </a:rPr>
              <a:t> = 0; </a:t>
            </a:r>
            <a:r>
              <a:rPr lang="en-US" altLang="zh-CN" b="1" dirty="0" err="1">
                <a:latin typeface="+mn-ea"/>
                <a:cs typeface="Times New Roman" panose="02020603050405020304" pitchFamily="18" charset="0"/>
                <a:sym typeface="+mn-ea"/>
              </a:rPr>
              <a:t>i</a:t>
            </a:r>
            <a:r>
              <a:rPr lang="en-US" altLang="zh-CN" b="1" dirty="0">
                <a:latin typeface="+mn-ea"/>
                <a:cs typeface="Times New Roman" panose="02020603050405020304" pitchFamily="18" charset="0"/>
                <a:sym typeface="+mn-ea"/>
              </a:rPr>
              <a:t> &lt; 100; </a:t>
            </a:r>
            <a:r>
              <a:rPr lang="en-US" altLang="zh-CN" b="1" dirty="0" err="1">
                <a:latin typeface="+mn-ea"/>
                <a:cs typeface="Times New Roman" panose="02020603050405020304" pitchFamily="18" charset="0"/>
                <a:sym typeface="+mn-ea"/>
              </a:rPr>
              <a:t>i</a:t>
            </a:r>
            <a:r>
              <a:rPr lang="en-US" altLang="zh-CN" b="1" dirty="0">
                <a:latin typeface="+mn-ea"/>
                <a:cs typeface="Times New Roman" panose="02020603050405020304" pitchFamily="18" charset="0"/>
                <a:sym typeface="+mn-ea"/>
              </a:rPr>
              <a:t>++) {</a:t>
            </a:r>
            <a:endParaRPr lang="en-US" altLang="zh-CN" b="1" dirty="0">
              <a:latin typeface="+mn-ea"/>
              <a:cs typeface="Times New Roman" panose="02020603050405020304" pitchFamily="18" charset="0"/>
              <a:sym typeface="+mn-ea"/>
            </a:endParaRPr>
          </a:p>
          <a:p>
            <a:r>
              <a:rPr lang="en-US" altLang="zh-CN" b="1" dirty="0">
                <a:latin typeface="+mn-ea"/>
                <a:cs typeface="Times New Roman" panose="02020603050405020304" pitchFamily="18" charset="0"/>
                <a:sym typeface="+mn-ea"/>
              </a:rPr>
              <a:t>    sum += array[</a:t>
            </a:r>
            <a:r>
              <a:rPr lang="en-US" altLang="zh-CN" b="1" dirty="0" err="1">
                <a:latin typeface="+mn-ea"/>
                <a:cs typeface="Times New Roman" panose="02020603050405020304" pitchFamily="18" charset="0"/>
                <a:sym typeface="+mn-ea"/>
              </a:rPr>
              <a:t>i</a:t>
            </a:r>
            <a:r>
              <a:rPr lang="en-US" altLang="zh-CN" b="1" dirty="0">
                <a:latin typeface="+mn-ea"/>
                <a:cs typeface="Times New Roman" panose="02020603050405020304" pitchFamily="18" charset="0"/>
                <a:sym typeface="+mn-ea"/>
              </a:rPr>
              <a:t>]; // </a:t>
            </a:r>
            <a:r>
              <a:rPr lang="zh-CN" altLang="en-US" b="1" dirty="0">
                <a:latin typeface="+mn-ea"/>
                <a:cs typeface="Times New Roman" panose="02020603050405020304" pitchFamily="18" charset="0"/>
                <a:sym typeface="+mn-ea"/>
              </a:rPr>
              <a:t>访问数组元素</a:t>
            </a:r>
            <a:endParaRPr lang="zh-CN" altLang="en-US" b="1" dirty="0">
              <a:latin typeface="+mn-ea"/>
              <a:cs typeface="Times New Roman" panose="02020603050405020304" pitchFamily="18" charset="0"/>
              <a:sym typeface="+mn-ea"/>
            </a:endParaRPr>
          </a:p>
          <a:p>
            <a:r>
              <a:rPr lang="en-US" altLang="zh-CN" b="1" dirty="0">
                <a:latin typeface="+mn-ea"/>
                <a:cs typeface="Times New Roman" panose="02020603050405020304" pitchFamily="18" charset="0"/>
                <a:sym typeface="+mn-ea"/>
              </a:rPr>
              <a:t>}</a:t>
            </a:r>
            <a:endParaRPr lang="zh-CN" altLang="en-US" b="1" dirty="0">
              <a:latin typeface="+mn-ea"/>
              <a:cs typeface="Times New Roman" panose="02020603050405020304" pitchFamily="18" charset="0"/>
              <a:sym typeface="+mn-ea"/>
            </a:endParaRPr>
          </a:p>
        </p:txBody>
      </p:sp>
      <p:sp>
        <p:nvSpPr>
          <p:cNvPr id="8" name="文本框 7"/>
          <p:cNvSpPr txBox="1"/>
          <p:nvPr/>
        </p:nvSpPr>
        <p:spPr>
          <a:xfrm>
            <a:off x="1285406" y="4301083"/>
            <a:ext cx="9092233" cy="1076325"/>
          </a:xfrm>
          <a:prstGeom prst="rect">
            <a:avLst/>
          </a:prstGeom>
          <a:solidFill>
            <a:schemeClr val="accent4">
              <a:lumMod val="20000"/>
              <a:lumOff val="80000"/>
            </a:schemeClr>
          </a:solidFill>
          <a:ln>
            <a:solidFill>
              <a:srgbClr val="002C6C"/>
            </a:solidFill>
          </a:ln>
        </p:spPr>
        <p:txBody>
          <a:bodyPr wrap="square">
            <a:spAutoFit/>
          </a:bodyPr>
          <a:lstStyle/>
          <a:p>
            <a:pPr marL="285750" indent="-285750">
              <a:buFont typeface="Wingdings" panose="05000000000000000000" charset="0"/>
              <a:buChar char="p"/>
            </a:pPr>
            <a:r>
              <a:rPr lang="zh-CN" altLang="en-US" sz="1600" b="1" dirty="0">
                <a:solidFill>
                  <a:srgbClr val="002060"/>
                </a:solidFill>
                <a:latin typeface="+mn-ea"/>
                <a:cs typeface="Times New Roman" panose="02020603050405020304" pitchFamily="18" charset="0"/>
              </a:rPr>
              <a:t>当你第一次访问 </a:t>
            </a:r>
            <a:r>
              <a:rPr lang="en-US" altLang="zh-CN" sz="1600" b="1" dirty="0">
                <a:solidFill>
                  <a:srgbClr val="002060"/>
                </a:solidFill>
                <a:latin typeface="+mn-ea"/>
                <a:cs typeface="Times New Roman" panose="02020603050405020304" pitchFamily="18" charset="0"/>
              </a:rPr>
              <a:t>array[0] </a:t>
            </a:r>
            <a:r>
              <a:rPr lang="zh-CN" altLang="en-US" sz="1600" b="1" dirty="0">
                <a:solidFill>
                  <a:srgbClr val="002060"/>
                </a:solidFill>
                <a:latin typeface="+mn-ea"/>
                <a:cs typeface="Times New Roman" panose="02020603050405020304" pitchFamily="18" charset="0"/>
              </a:rPr>
              <a:t>时，计算机不仅会把 </a:t>
            </a:r>
            <a:r>
              <a:rPr lang="en-US" altLang="zh-CN" sz="1600" b="1" dirty="0">
                <a:solidFill>
                  <a:srgbClr val="002060"/>
                </a:solidFill>
                <a:latin typeface="+mn-ea"/>
                <a:cs typeface="Times New Roman" panose="02020603050405020304" pitchFamily="18" charset="0"/>
              </a:rPr>
              <a:t>array[0] </a:t>
            </a:r>
            <a:r>
              <a:rPr lang="zh-CN" altLang="en-US" sz="1600" b="1" dirty="0">
                <a:solidFill>
                  <a:srgbClr val="002060"/>
                </a:solidFill>
                <a:latin typeface="+mn-ea"/>
                <a:cs typeface="Times New Roman" panose="02020603050405020304" pitchFamily="18" charset="0"/>
              </a:rPr>
              <a:t>加载到高速缓存中，还会把它后面相邻的一大块数据（比如 </a:t>
            </a:r>
            <a:r>
              <a:rPr lang="en-US" altLang="zh-CN" sz="1600" b="1" dirty="0">
                <a:solidFill>
                  <a:srgbClr val="002060"/>
                </a:solidFill>
                <a:latin typeface="+mn-ea"/>
                <a:cs typeface="Times New Roman" panose="02020603050405020304" pitchFamily="18" charset="0"/>
              </a:rPr>
              <a:t>array[1] </a:t>
            </a:r>
            <a:r>
              <a:rPr lang="zh-CN" altLang="en-US" sz="1600" b="1" dirty="0">
                <a:solidFill>
                  <a:srgbClr val="002060"/>
                </a:solidFill>
                <a:latin typeface="+mn-ea"/>
                <a:cs typeface="Times New Roman" panose="02020603050405020304" pitchFamily="18" charset="0"/>
              </a:rPr>
              <a:t>到 </a:t>
            </a:r>
            <a:r>
              <a:rPr lang="en-US" altLang="zh-CN" sz="1600" b="1" dirty="0">
                <a:solidFill>
                  <a:srgbClr val="002060"/>
                </a:solidFill>
                <a:latin typeface="+mn-ea"/>
                <a:cs typeface="Times New Roman" panose="02020603050405020304" pitchFamily="18" charset="0"/>
              </a:rPr>
              <a:t>array[7]</a:t>
            </a:r>
            <a:r>
              <a:rPr lang="zh-CN" altLang="en-US" sz="1600" b="1" dirty="0">
                <a:solidFill>
                  <a:srgbClr val="002060"/>
                </a:solidFill>
                <a:latin typeface="+mn-ea"/>
                <a:cs typeface="Times New Roman" panose="02020603050405020304" pitchFamily="18" charset="0"/>
              </a:rPr>
              <a:t>）也一起加载进来。 </a:t>
            </a:r>
            <a:endParaRPr lang="zh-CN" altLang="en-US" sz="1600" b="1" dirty="0">
              <a:solidFill>
                <a:srgbClr val="002060"/>
              </a:solidFill>
              <a:latin typeface="+mn-ea"/>
              <a:cs typeface="Times New Roman" panose="02020603050405020304" pitchFamily="18" charset="0"/>
            </a:endParaRPr>
          </a:p>
          <a:p>
            <a:pPr marL="285750" indent="-285750">
              <a:buFont typeface="Wingdings" panose="05000000000000000000" charset="0"/>
              <a:buChar char="p"/>
            </a:pPr>
            <a:r>
              <a:rPr lang="zh-CN" altLang="en-US" sz="1600" b="1" dirty="0">
                <a:solidFill>
                  <a:srgbClr val="002060"/>
                </a:solidFill>
                <a:latin typeface="+mn-ea"/>
                <a:cs typeface="Times New Roman" panose="02020603050405020304" pitchFamily="18" charset="0"/>
              </a:rPr>
              <a:t>接下来你需要 </a:t>
            </a:r>
            <a:r>
              <a:rPr lang="en-US" altLang="zh-CN" sz="1600" b="1" dirty="0">
                <a:solidFill>
                  <a:srgbClr val="002060"/>
                </a:solidFill>
                <a:latin typeface="+mn-ea"/>
                <a:cs typeface="Times New Roman" panose="02020603050405020304" pitchFamily="18" charset="0"/>
              </a:rPr>
              <a:t>array[1] </a:t>
            </a:r>
            <a:r>
              <a:rPr lang="zh-CN" altLang="en-US" sz="1600" b="1" dirty="0">
                <a:solidFill>
                  <a:srgbClr val="002060"/>
                </a:solidFill>
                <a:latin typeface="+mn-ea"/>
                <a:cs typeface="Times New Roman" panose="02020603050405020304" pitchFamily="18" charset="0"/>
              </a:rPr>
              <a:t>时，发现它已经在高速缓存里了，速度极快。 </a:t>
            </a:r>
            <a:endParaRPr lang="zh-CN" altLang="en-US" sz="1600" b="1" dirty="0">
              <a:solidFill>
                <a:srgbClr val="002060"/>
              </a:solidFill>
              <a:latin typeface="+mn-ea"/>
              <a:cs typeface="Times New Roman" panose="02020603050405020304" pitchFamily="18" charset="0"/>
            </a:endParaRPr>
          </a:p>
          <a:p>
            <a:pPr marL="285750" indent="-285750">
              <a:buFont typeface="Wingdings" panose="05000000000000000000" charset="0"/>
              <a:buChar char="p"/>
            </a:pPr>
            <a:r>
              <a:rPr lang="zh-CN" altLang="en-US" sz="1600" b="1" dirty="0">
                <a:solidFill>
                  <a:srgbClr val="002060"/>
                </a:solidFill>
                <a:latin typeface="+mn-ea"/>
                <a:cs typeface="Times New Roman" panose="02020603050405020304" pitchFamily="18" charset="0"/>
              </a:rPr>
              <a:t>然后你需要 </a:t>
            </a:r>
            <a:r>
              <a:rPr lang="en-US" altLang="zh-CN" sz="1600" b="1" dirty="0">
                <a:solidFill>
                  <a:srgbClr val="002060"/>
                </a:solidFill>
                <a:latin typeface="+mn-ea"/>
                <a:cs typeface="Times New Roman" panose="02020603050405020304" pitchFamily="18" charset="0"/>
              </a:rPr>
              <a:t>array[2]</a:t>
            </a:r>
            <a:r>
              <a:rPr lang="zh-CN" altLang="en-US" sz="1600" b="1" dirty="0">
                <a:solidFill>
                  <a:srgbClr val="002060"/>
                </a:solidFill>
                <a:latin typeface="+mn-ea"/>
                <a:cs typeface="Times New Roman" panose="02020603050405020304" pitchFamily="18" charset="0"/>
              </a:rPr>
              <a:t>，它也在缓存里</a:t>
            </a:r>
            <a:r>
              <a:rPr lang="en-US" altLang="zh-CN" sz="1600" b="1" dirty="0">
                <a:solidFill>
                  <a:srgbClr val="002060"/>
                </a:solidFill>
                <a:latin typeface="+mn-ea"/>
                <a:cs typeface="Times New Roman" panose="02020603050405020304" pitchFamily="18" charset="0"/>
              </a:rPr>
              <a:t>……</a:t>
            </a:r>
            <a:r>
              <a:rPr lang="zh-CN" altLang="en-US" sz="1600" b="1" dirty="0">
                <a:solidFill>
                  <a:srgbClr val="002060"/>
                </a:solidFill>
                <a:latin typeface="+mn-ea"/>
                <a:cs typeface="Times New Roman" panose="02020603050405020304" pitchFamily="18" charset="0"/>
              </a:rPr>
              <a:t>以此类推。</a:t>
            </a:r>
            <a:endParaRPr lang="zh-CN" altLang="en-US" sz="1600" b="1" dirty="0">
              <a:solidFill>
                <a:srgbClr val="002060"/>
              </a:solidFill>
              <a:latin typeface="+mn-ea"/>
              <a:cs typeface="Times New Roman" panose="02020603050405020304" pitchFamily="18" charset="0"/>
            </a:endParaRPr>
          </a:p>
        </p:txBody>
      </p:sp>
      <p:sp>
        <p:nvSpPr>
          <p:cNvPr id="9" name="文本框 8"/>
          <p:cNvSpPr txBox="1"/>
          <p:nvPr/>
        </p:nvSpPr>
        <p:spPr>
          <a:xfrm>
            <a:off x="1422871" y="5425094"/>
            <a:ext cx="9092233" cy="583565"/>
          </a:xfrm>
          <a:prstGeom prst="rect">
            <a:avLst/>
          </a:prstGeom>
        </p:spPr>
        <p:txBody>
          <a:bodyPr wrap="square">
            <a:spAutoFit/>
          </a:bodyPr>
          <a:lstStyle/>
          <a:p>
            <a:r>
              <a:rPr lang="zh-CN" altLang="en-US" sz="1600" dirty="0">
                <a:latin typeface="黑体" panose="02010609060101010101" charset="-122"/>
                <a:ea typeface="黑体" panose="02010609060101010101" charset="-122"/>
              </a:rPr>
              <a:t>因为你访问的数据在内存中是连续的，充分利用了空间局部性。一次内存读取，服务了后续多次缓存访问。</a:t>
            </a:r>
            <a:endParaRPr lang="zh-CN" altLang="en-US" sz="1600" dirty="0">
              <a:latin typeface="黑体" panose="02010609060101010101" charset="-122"/>
              <a:ea typeface="黑体" panose="02010609060101010101" charset="-122"/>
            </a:endParaRPr>
          </a:p>
        </p:txBody>
      </p:sp>
      <p:sp>
        <p:nvSpPr>
          <p:cNvPr id="10" name="文本框 9"/>
          <p:cNvSpPr txBox="1"/>
          <p:nvPr/>
        </p:nvSpPr>
        <p:spPr>
          <a:xfrm>
            <a:off x="7017386" y="1499235"/>
            <a:ext cx="1946275" cy="540778"/>
          </a:xfrm>
          <a:prstGeom prst="wedgeEllipseCallout">
            <a:avLst>
              <a:gd name="adj1" fmla="val -33705"/>
              <a:gd name="adj2" fmla="val 106510"/>
            </a:avLst>
          </a:prstGeom>
          <a:ln>
            <a:solidFill>
              <a:schemeClr val="tx1"/>
            </a:solidFill>
          </a:ln>
        </p:spPr>
        <p:txBody>
          <a:bodyPr wrap="square">
            <a:spAutoFit/>
            <a:extLst>
              <a:ext uri="{4A0BC546-FE56-4ADE-93B0-CB8AF2F6F144}">
                <wpsdc:textFrameExt xmlns:wpsdc="http://www.wps.cn/officeDocument/2022/drawingmlCustomData" type="text"/>
              </a:ext>
            </a:extLst>
          </a:bodyPr>
          <a:lstStyle/>
          <a:p>
            <a:pPr algn="l"/>
            <a:r>
              <a:rPr lang="zh-CN" altLang="en-US">
                <a:solidFill>
                  <a:srgbClr val="C00000"/>
                </a:solidFill>
                <a:latin typeface="方正粗黑宋简体" panose="02000000000000000000" pitchFamily="2" charset="-122"/>
                <a:ea typeface="方正粗黑宋简体" panose="02000000000000000000" pitchFamily="2" charset="-122"/>
              </a:rPr>
              <a:t>空间局部性</a:t>
            </a:r>
            <a:endParaRPr lang="zh-CN" altLang="en-US">
              <a:solidFill>
                <a:srgbClr val="C00000"/>
              </a:solidFill>
              <a:latin typeface="方正粗黑宋简体" panose="02000000000000000000" pitchFamily="2" charset="-122"/>
              <a:ea typeface="方正粗黑宋简体" panose="020000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矩形 1"/>
          <p:cNvSpPr/>
          <p:nvPr/>
        </p:nvSpPr>
        <p:spPr>
          <a:xfrm>
            <a:off x="1001394" y="1261737"/>
            <a:ext cx="2880360" cy="398780"/>
          </a:xfrm>
          <a:prstGeom prst="rect">
            <a:avLst/>
          </a:prstGeom>
        </p:spPr>
        <p:txBody>
          <a:bodyPr wrap="none">
            <a:spAutoFit/>
          </a:bodyPr>
          <a:lstStyle/>
          <a:p>
            <a:pPr marL="342900" indent="-342900">
              <a:buFont typeface="Wingdings" panose="05000000000000000000" pitchFamily="2" charset="2"/>
              <a:buChar char="n"/>
            </a:pPr>
            <a:r>
              <a:rPr lang="zh-CN" altLang="zh-CN" sz="2000" b="1" kern="0" dirty="0">
                <a:solidFill>
                  <a:srgbClr val="6C0000"/>
                </a:solidFill>
                <a:latin typeface="华文行楷" panose="02010800040101010101" charset="-122"/>
                <a:ea typeface="华文行楷" panose="02010800040101010101" charset="-122"/>
                <a:cs typeface="华文行楷" panose="02010800040101010101" charset="-122"/>
              </a:rPr>
              <a:t>局部性原理</a:t>
            </a:r>
            <a:r>
              <a:rPr lang="zh-CN" altLang="en-US" sz="2000" b="1" kern="0" dirty="0">
                <a:solidFill>
                  <a:srgbClr val="6C0000"/>
                </a:solidFill>
                <a:latin typeface="华文行楷" panose="02010800040101010101" charset="-122"/>
                <a:ea typeface="华文行楷" panose="02010800040101010101" charset="-122"/>
                <a:cs typeface="华文行楷" panose="02010800040101010101" charset="-122"/>
              </a:rPr>
              <a:t>（补充）</a:t>
            </a:r>
            <a:r>
              <a:rPr lang="en-US" altLang="zh-CN" sz="2000" b="1" kern="0"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en-US"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4" name="文本框 3"/>
          <p:cNvSpPr txBox="1"/>
          <p:nvPr/>
        </p:nvSpPr>
        <p:spPr>
          <a:xfrm>
            <a:off x="1522216" y="1883144"/>
            <a:ext cx="7254875" cy="338554"/>
          </a:xfrm>
          <a:prstGeom prst="rect">
            <a:avLst/>
          </a:prstGeom>
        </p:spPr>
        <p:txBody>
          <a:bodyPr wrap="square">
            <a:spAutoFit/>
          </a:bodyPr>
          <a:lstStyle/>
          <a:p>
            <a:r>
              <a:rPr lang="zh-CN" altLang="en-US" sz="1600" b="1">
                <a:latin typeface="+mn-ea"/>
              </a:rPr>
              <a:t>想象一下你在做菜，盐瓶子放在架子上。你每次调味都需要用它。</a:t>
            </a:r>
            <a:endParaRPr lang="zh-CN" altLang="en-US" sz="1600" b="1">
              <a:latin typeface="+mn-ea"/>
            </a:endParaRPr>
          </a:p>
        </p:txBody>
      </p:sp>
      <p:sp>
        <p:nvSpPr>
          <p:cNvPr id="7" name="文本框 6"/>
          <p:cNvSpPr txBox="1"/>
          <p:nvPr/>
        </p:nvSpPr>
        <p:spPr>
          <a:xfrm>
            <a:off x="7339966" y="1499235"/>
            <a:ext cx="1946275" cy="520854"/>
          </a:xfrm>
          <a:prstGeom prst="wedgeEllipseCallout">
            <a:avLst>
              <a:gd name="adj1" fmla="val -24486"/>
              <a:gd name="adj2" fmla="val 138115"/>
            </a:avLst>
          </a:prstGeom>
          <a:ln>
            <a:solidFill>
              <a:schemeClr val="tx1"/>
            </a:solidFill>
          </a:ln>
        </p:spPr>
        <p:txBody>
          <a:bodyPr wrap="square">
            <a:spAutoFit/>
            <a:extLst>
              <a:ext uri="{4A0BC546-FE56-4ADE-93B0-CB8AF2F6F144}">
                <wpsdc:textFrameExt xmlns:wpsdc="http://www.wps.cn/officeDocument/2022/drawingmlCustomData" type="text"/>
              </a:ext>
            </a:extLst>
          </a:bodyPr>
          <a:lstStyle/>
          <a:p>
            <a:pPr algn="l"/>
            <a:r>
              <a:rPr lang="zh-CN" altLang="en-US">
                <a:solidFill>
                  <a:srgbClr val="C00000"/>
                </a:solidFill>
                <a:latin typeface="方正粗黑宋简体" panose="02000000000000000000" pitchFamily="2" charset="-122"/>
                <a:ea typeface="方正粗黑宋简体" panose="02000000000000000000" pitchFamily="2" charset="-122"/>
              </a:rPr>
              <a:t>时间局部性</a:t>
            </a:r>
            <a:endParaRPr lang="zh-CN" altLang="en-US">
              <a:solidFill>
                <a:srgbClr val="C00000"/>
              </a:solidFill>
              <a:latin typeface="方正粗黑宋简体" panose="02000000000000000000" pitchFamily="2" charset="-122"/>
              <a:ea typeface="方正粗黑宋简体" panose="02000000000000000000" pitchFamily="2" charset="-122"/>
            </a:endParaRPr>
          </a:p>
        </p:txBody>
      </p:sp>
      <p:sp>
        <p:nvSpPr>
          <p:cNvPr id="11" name="文本框 10"/>
          <p:cNvSpPr txBox="1"/>
          <p:nvPr/>
        </p:nvSpPr>
        <p:spPr>
          <a:xfrm>
            <a:off x="2660016" y="2496186"/>
            <a:ext cx="5845157" cy="829945"/>
          </a:xfrm>
          <a:prstGeom prst="rect">
            <a:avLst/>
          </a:prstGeom>
          <a:noFill/>
          <a:ln>
            <a:solidFill>
              <a:schemeClr val="tx1"/>
            </a:solidFill>
          </a:ln>
        </p:spPr>
        <p:txBody>
          <a:bodyPr wrap="square" rtlCol="0" anchor="t">
            <a:spAutoFit/>
          </a:bodyPr>
          <a:lstStyle/>
          <a:p>
            <a:r>
              <a:rPr lang="en-US" altLang="zh-CN" sz="1600" b="1">
                <a:latin typeface="+mn-ea"/>
                <a:cs typeface="Times New Roman" panose="02020603050405020304" pitchFamily="18" charset="0"/>
                <a:sym typeface="+mn-ea"/>
              </a:rPr>
              <a:t>for (int i = 0; i &lt; 1000; i++) { // </a:t>
            </a:r>
            <a:r>
              <a:rPr lang="zh-CN" altLang="en-US" sz="1600" b="1">
                <a:latin typeface="+mn-ea"/>
                <a:cs typeface="Times New Roman" panose="02020603050405020304" pitchFamily="18" charset="0"/>
                <a:sym typeface="+mn-ea"/>
              </a:rPr>
              <a:t>变量</a:t>
            </a:r>
            <a:r>
              <a:rPr lang="en-US" altLang="zh-CN" sz="1600" b="1">
                <a:latin typeface="+mn-ea"/>
                <a:cs typeface="Times New Roman" panose="02020603050405020304" pitchFamily="18" charset="0"/>
                <a:sym typeface="+mn-ea"/>
              </a:rPr>
              <a:t> `i` </a:t>
            </a:r>
            <a:r>
              <a:rPr lang="zh-CN" altLang="en-US" sz="1600" b="1">
                <a:latin typeface="+mn-ea"/>
                <a:cs typeface="Times New Roman" panose="02020603050405020304" pitchFamily="18" charset="0"/>
                <a:sym typeface="+mn-ea"/>
              </a:rPr>
              <a:t>体现了时间局部性</a:t>
            </a:r>
            <a:endParaRPr lang="zh-CN" altLang="en-US" sz="1600" b="1">
              <a:latin typeface="+mn-ea"/>
              <a:cs typeface="Times New Roman" panose="02020603050405020304" pitchFamily="18" charset="0"/>
              <a:sym typeface="+mn-ea"/>
            </a:endParaRPr>
          </a:p>
          <a:p>
            <a:r>
              <a:rPr lang="en-US" altLang="zh-CN" sz="1600" b="1">
                <a:latin typeface="+mn-ea"/>
                <a:cs typeface="Times New Roman" panose="02020603050405020304" pitchFamily="18" charset="0"/>
                <a:sym typeface="+mn-ea"/>
              </a:rPr>
              <a:t>    // </a:t>
            </a:r>
            <a:r>
              <a:rPr lang="zh-CN" altLang="en-US" sz="1600" b="1">
                <a:latin typeface="+mn-ea"/>
                <a:cs typeface="Times New Roman" panose="02020603050405020304" pitchFamily="18" charset="0"/>
                <a:sym typeface="+mn-ea"/>
              </a:rPr>
              <a:t>做一些操作</a:t>
            </a:r>
            <a:endParaRPr lang="zh-CN" altLang="en-US" sz="1600" b="1">
              <a:latin typeface="+mn-ea"/>
              <a:cs typeface="Times New Roman" panose="02020603050405020304" pitchFamily="18" charset="0"/>
              <a:sym typeface="+mn-ea"/>
            </a:endParaRPr>
          </a:p>
          <a:p>
            <a:r>
              <a:rPr lang="en-US" altLang="zh-CN" sz="1600" b="1">
                <a:latin typeface="+mn-ea"/>
                <a:cs typeface="Times New Roman" panose="02020603050405020304" pitchFamily="18" charset="0"/>
                <a:sym typeface="+mn-ea"/>
              </a:rPr>
              <a:t>}</a:t>
            </a:r>
            <a:endParaRPr lang="zh-CN" altLang="en-US" sz="1600" b="1">
              <a:latin typeface="+mn-ea"/>
              <a:cs typeface="Times New Roman" panose="02020603050405020304" pitchFamily="18" charset="0"/>
              <a:sym typeface="+mn-ea"/>
            </a:endParaRPr>
          </a:p>
        </p:txBody>
      </p:sp>
      <p:sp>
        <p:nvSpPr>
          <p:cNvPr id="14" name="文本框 13"/>
          <p:cNvSpPr txBox="1"/>
          <p:nvPr/>
        </p:nvSpPr>
        <p:spPr>
          <a:xfrm>
            <a:off x="2235201" y="3677505"/>
            <a:ext cx="7051040" cy="1322070"/>
          </a:xfrm>
          <a:prstGeom prst="rect">
            <a:avLst/>
          </a:prstGeom>
          <a:solidFill>
            <a:schemeClr val="accent4">
              <a:lumMod val="20000"/>
              <a:lumOff val="80000"/>
            </a:schemeClr>
          </a:solidFill>
          <a:ln>
            <a:solidFill>
              <a:srgbClr val="002C6C"/>
            </a:solidFill>
          </a:ln>
        </p:spPr>
        <p:txBody>
          <a:bodyPr wrap="square">
            <a:spAutoFit/>
          </a:bodyPr>
          <a:lstStyle/>
          <a:p>
            <a:pPr marL="285750" indent="-285750">
              <a:buFont typeface="Wingdings" panose="05000000000000000000" charset="0"/>
              <a:buChar char="p"/>
            </a:pPr>
            <a:r>
              <a:rPr lang="zh-CN" altLang="en-US" sz="1600" b="1">
                <a:solidFill>
                  <a:srgbClr val="002060"/>
                </a:solidFill>
                <a:latin typeface="Times New Roman" panose="02020603050405020304" pitchFamily="18" charset="0"/>
                <a:ea typeface="quote-cjk-patch"/>
                <a:cs typeface="Times New Roman" panose="02020603050405020304" pitchFamily="18" charset="0"/>
              </a:rPr>
              <a:t>在循环开始时，</a:t>
            </a:r>
            <a:r>
              <a:rPr lang="en-US" altLang="zh-CN" sz="1600" b="1">
                <a:solidFill>
                  <a:srgbClr val="002060"/>
                </a:solidFill>
                <a:latin typeface="Times New Roman" panose="02020603050405020304" pitchFamily="18" charset="0"/>
                <a:ea typeface="quote-cjk-patch"/>
                <a:cs typeface="Times New Roman" panose="02020603050405020304" pitchFamily="18" charset="0"/>
              </a:rPr>
              <a:t>CPU </a:t>
            </a:r>
            <a:r>
              <a:rPr lang="zh-CN" altLang="en-US" sz="1600" b="1">
                <a:solidFill>
                  <a:srgbClr val="002060"/>
                </a:solidFill>
                <a:latin typeface="Times New Roman" panose="02020603050405020304" pitchFamily="18" charset="0"/>
                <a:ea typeface="quote-cjk-patch"/>
                <a:cs typeface="Times New Roman" panose="02020603050405020304" pitchFamily="18" charset="0"/>
              </a:rPr>
              <a:t>读取</a:t>
            </a:r>
            <a:r>
              <a:rPr lang="en-US" altLang="zh-CN" sz="1600" b="1">
                <a:solidFill>
                  <a:srgbClr val="002060"/>
                </a:solidFill>
                <a:latin typeface="Times New Roman" panose="02020603050405020304" pitchFamily="18" charset="0"/>
                <a:ea typeface="quote-cjk-patch"/>
                <a:cs typeface="Times New Roman" panose="02020603050405020304" pitchFamily="18" charset="0"/>
              </a:rPr>
              <a:t> i </a:t>
            </a:r>
            <a:r>
              <a:rPr lang="zh-CN" altLang="en-US" sz="1600" b="1">
                <a:solidFill>
                  <a:srgbClr val="002060"/>
                </a:solidFill>
                <a:latin typeface="Times New Roman" panose="02020603050405020304" pitchFamily="18" charset="0"/>
                <a:ea typeface="quote-cjk-patch"/>
                <a:cs typeface="Times New Roman" panose="02020603050405020304" pitchFamily="18" charset="0"/>
              </a:rPr>
              <a:t>的值（比如</a:t>
            </a:r>
            <a:r>
              <a:rPr lang="en-US" altLang="zh-CN" sz="1600" b="1">
                <a:solidFill>
                  <a:srgbClr val="002060"/>
                </a:solidFill>
                <a:latin typeface="Times New Roman" panose="02020603050405020304" pitchFamily="18" charset="0"/>
                <a:ea typeface="quote-cjk-patch"/>
                <a:cs typeface="Times New Roman" panose="02020603050405020304" pitchFamily="18" charset="0"/>
              </a:rPr>
              <a:t> 0</a:t>
            </a:r>
            <a:r>
              <a:rPr lang="zh-CN" altLang="en-US" sz="1600" b="1">
                <a:solidFill>
                  <a:srgbClr val="002060"/>
                </a:solidFill>
                <a:latin typeface="Times New Roman" panose="02020603050405020304" pitchFamily="18" charset="0"/>
                <a:ea typeface="quote-cjk-patch"/>
                <a:cs typeface="Times New Roman" panose="02020603050405020304" pitchFamily="18" charset="0"/>
              </a:rPr>
              <a:t>），判断条件，然后执行循环体。</a:t>
            </a:r>
            <a:endParaRPr lang="zh-CN" altLang="en-US" sz="1600" b="1">
              <a:solidFill>
                <a:srgbClr val="002060"/>
              </a:solidFill>
              <a:latin typeface="Times New Roman" panose="02020603050405020304" pitchFamily="18" charset="0"/>
              <a:ea typeface="quote-cjk-patch"/>
              <a:cs typeface="Times New Roman" panose="02020603050405020304" pitchFamily="18" charset="0"/>
            </a:endParaRPr>
          </a:p>
          <a:p>
            <a:pPr marL="285750" indent="-285750">
              <a:buFont typeface="Wingdings" panose="05000000000000000000" charset="0"/>
              <a:buChar char="p"/>
            </a:pPr>
            <a:endParaRPr lang="en-US" altLang="zh-CN" sz="1600" b="1">
              <a:solidFill>
                <a:srgbClr val="002060"/>
              </a:solidFill>
              <a:latin typeface="Times New Roman" panose="02020603050405020304" pitchFamily="18" charset="0"/>
              <a:ea typeface="quote-cjk-patch"/>
              <a:cs typeface="Times New Roman" panose="02020603050405020304" pitchFamily="18" charset="0"/>
            </a:endParaRPr>
          </a:p>
          <a:p>
            <a:pPr marL="285750" indent="-285750">
              <a:buFont typeface="Wingdings" panose="05000000000000000000" charset="0"/>
              <a:buChar char="p"/>
            </a:pPr>
            <a:r>
              <a:rPr lang="zh-CN" altLang="en-US" sz="1600" b="1">
                <a:solidFill>
                  <a:srgbClr val="002060"/>
                </a:solidFill>
                <a:latin typeface="Times New Roman" panose="02020603050405020304" pitchFamily="18" charset="0"/>
                <a:ea typeface="quote-cjk-patch"/>
                <a:cs typeface="Times New Roman" panose="02020603050405020304" pitchFamily="18" charset="0"/>
              </a:rPr>
              <a:t>循环体执行完后，</a:t>
            </a:r>
            <a:r>
              <a:rPr lang="en-US" altLang="zh-CN" sz="1600" b="1">
                <a:solidFill>
                  <a:srgbClr val="002060"/>
                </a:solidFill>
                <a:latin typeface="Times New Roman" panose="02020603050405020304" pitchFamily="18" charset="0"/>
                <a:ea typeface="quote-cjk-patch"/>
                <a:cs typeface="Times New Roman" panose="02020603050405020304" pitchFamily="18" charset="0"/>
              </a:rPr>
              <a:t>CPU </a:t>
            </a:r>
            <a:r>
              <a:rPr lang="zh-CN" altLang="en-US" sz="1600" b="1">
                <a:solidFill>
                  <a:srgbClr val="002060"/>
                </a:solidFill>
                <a:latin typeface="Times New Roman" panose="02020603050405020304" pitchFamily="18" charset="0"/>
                <a:ea typeface="quote-cjk-patch"/>
                <a:cs typeface="Times New Roman" panose="02020603050405020304" pitchFamily="18" charset="0"/>
              </a:rPr>
              <a:t>需要将</a:t>
            </a:r>
            <a:r>
              <a:rPr lang="en-US" altLang="zh-CN" sz="1600" b="1">
                <a:solidFill>
                  <a:srgbClr val="002060"/>
                </a:solidFill>
                <a:latin typeface="Times New Roman" panose="02020603050405020304" pitchFamily="18" charset="0"/>
                <a:ea typeface="quote-cjk-patch"/>
                <a:cs typeface="Times New Roman" panose="02020603050405020304" pitchFamily="18" charset="0"/>
              </a:rPr>
              <a:t> i </a:t>
            </a:r>
            <a:r>
              <a:rPr lang="zh-CN" altLang="en-US" sz="1600" b="1">
                <a:solidFill>
                  <a:srgbClr val="002060"/>
                </a:solidFill>
                <a:latin typeface="Times New Roman" panose="02020603050405020304" pitchFamily="18" charset="0"/>
                <a:ea typeface="quote-cjk-patch"/>
                <a:cs typeface="Times New Roman" panose="02020603050405020304" pitchFamily="18" charset="0"/>
              </a:rPr>
              <a:t>增加</a:t>
            </a:r>
            <a:r>
              <a:rPr lang="en-US" altLang="zh-CN" sz="1600" b="1">
                <a:solidFill>
                  <a:srgbClr val="002060"/>
                </a:solidFill>
                <a:latin typeface="Times New Roman" panose="02020603050405020304" pitchFamily="18" charset="0"/>
                <a:ea typeface="quote-cjk-patch"/>
                <a:cs typeface="Times New Roman" panose="02020603050405020304" pitchFamily="18" charset="0"/>
              </a:rPr>
              <a:t> 1</a:t>
            </a:r>
            <a:r>
              <a:rPr lang="zh-CN" altLang="en-US" sz="1600" b="1">
                <a:solidFill>
                  <a:srgbClr val="002060"/>
                </a:solidFill>
                <a:latin typeface="Times New Roman" panose="02020603050405020304" pitchFamily="18" charset="0"/>
                <a:ea typeface="quote-cjk-patch"/>
                <a:cs typeface="Times New Roman" panose="02020603050405020304" pitchFamily="18" charset="0"/>
              </a:rPr>
              <a:t>（变成</a:t>
            </a:r>
            <a:r>
              <a:rPr lang="en-US" altLang="zh-CN" sz="1600" b="1">
                <a:solidFill>
                  <a:srgbClr val="002060"/>
                </a:solidFill>
                <a:latin typeface="Times New Roman" panose="02020603050405020304" pitchFamily="18" charset="0"/>
                <a:ea typeface="quote-cjk-patch"/>
                <a:cs typeface="Times New Roman" panose="02020603050405020304" pitchFamily="18" charset="0"/>
              </a:rPr>
              <a:t> 1</a:t>
            </a:r>
            <a:r>
              <a:rPr lang="zh-CN" altLang="en-US" sz="1600" b="1">
                <a:solidFill>
                  <a:srgbClr val="002060"/>
                </a:solidFill>
                <a:latin typeface="Times New Roman" panose="02020603050405020304" pitchFamily="18" charset="0"/>
                <a:ea typeface="quote-cjk-patch"/>
                <a:cs typeface="Times New Roman" panose="02020603050405020304" pitchFamily="18" charset="0"/>
              </a:rPr>
              <a:t>），然后再次判断条件。</a:t>
            </a:r>
            <a:endParaRPr lang="zh-CN" altLang="en-US" sz="1600" b="1">
              <a:solidFill>
                <a:srgbClr val="002060"/>
              </a:solidFill>
              <a:latin typeface="Times New Roman" panose="02020603050405020304" pitchFamily="18" charset="0"/>
              <a:ea typeface="quote-cjk-patch"/>
              <a:cs typeface="Times New Roman" panose="02020603050405020304" pitchFamily="18" charset="0"/>
            </a:endParaRPr>
          </a:p>
          <a:p>
            <a:pPr marL="285750" indent="-285750">
              <a:buFont typeface="Wingdings" panose="05000000000000000000" charset="0"/>
              <a:buChar char="p"/>
            </a:pPr>
            <a:endParaRPr lang="en-US" altLang="zh-CN" sz="1600" b="1">
              <a:solidFill>
                <a:srgbClr val="002060"/>
              </a:solidFill>
              <a:latin typeface="Times New Roman" panose="02020603050405020304" pitchFamily="18" charset="0"/>
              <a:ea typeface="quote-cjk-patch"/>
              <a:cs typeface="Times New Roman" panose="02020603050405020304" pitchFamily="18" charset="0"/>
            </a:endParaRPr>
          </a:p>
          <a:p>
            <a:pPr marL="285750" indent="-285750">
              <a:buFont typeface="Wingdings" panose="05000000000000000000" charset="0"/>
              <a:buChar char="p"/>
            </a:pPr>
            <a:r>
              <a:rPr lang="zh-CN" altLang="en-US" sz="1600" b="1">
                <a:solidFill>
                  <a:srgbClr val="002060"/>
                </a:solidFill>
                <a:latin typeface="Times New Roman" panose="02020603050405020304" pitchFamily="18" charset="0"/>
                <a:ea typeface="quote-cjk-patch"/>
                <a:cs typeface="Times New Roman" panose="02020603050405020304" pitchFamily="18" charset="0"/>
              </a:rPr>
              <a:t>在整个循环的</a:t>
            </a:r>
            <a:r>
              <a:rPr lang="en-US" altLang="zh-CN" sz="1600" b="1">
                <a:solidFill>
                  <a:srgbClr val="002060"/>
                </a:solidFill>
                <a:latin typeface="Times New Roman" panose="02020603050405020304" pitchFamily="18" charset="0"/>
                <a:ea typeface="quote-cjk-patch"/>
                <a:cs typeface="Times New Roman" panose="02020603050405020304" pitchFamily="18" charset="0"/>
              </a:rPr>
              <a:t> 1000 </a:t>
            </a:r>
            <a:r>
              <a:rPr lang="zh-CN" altLang="en-US" sz="1600" b="1">
                <a:solidFill>
                  <a:srgbClr val="002060"/>
                </a:solidFill>
                <a:latin typeface="Times New Roman" panose="02020603050405020304" pitchFamily="18" charset="0"/>
                <a:ea typeface="quote-cjk-patch"/>
                <a:cs typeface="Times New Roman" panose="02020603050405020304" pitchFamily="18" charset="0"/>
              </a:rPr>
              <a:t>次迭代中，变量</a:t>
            </a:r>
            <a:r>
              <a:rPr lang="en-US" altLang="zh-CN" sz="1600" b="1">
                <a:solidFill>
                  <a:srgbClr val="002060"/>
                </a:solidFill>
                <a:latin typeface="Times New Roman" panose="02020603050405020304" pitchFamily="18" charset="0"/>
                <a:ea typeface="quote-cjk-patch"/>
                <a:cs typeface="Times New Roman" panose="02020603050405020304" pitchFamily="18" charset="0"/>
              </a:rPr>
              <a:t> i </a:t>
            </a:r>
            <a:r>
              <a:rPr lang="zh-CN" altLang="en-US" sz="1600" b="1">
                <a:solidFill>
                  <a:srgbClr val="002060"/>
                </a:solidFill>
                <a:latin typeface="Times New Roman" panose="02020603050405020304" pitchFamily="18" charset="0"/>
                <a:ea typeface="quote-cjk-patch"/>
                <a:cs typeface="Times New Roman" panose="02020603050405020304" pitchFamily="18" charset="0"/>
              </a:rPr>
              <a:t>被反复地、高频率地访问和修改。</a:t>
            </a:r>
            <a:endParaRPr lang="zh-CN" altLang="en-US" sz="1600" b="1">
              <a:solidFill>
                <a:srgbClr val="002060"/>
              </a:solidFill>
              <a:latin typeface="Times New Roman" panose="02020603050405020304" pitchFamily="18" charset="0"/>
              <a:ea typeface="quote-cjk-patch"/>
              <a:cs typeface="Times New Roman" panose="02020603050405020304" pitchFamily="18" charset="0"/>
            </a:endParaRPr>
          </a:p>
        </p:txBody>
      </p:sp>
      <p:sp>
        <p:nvSpPr>
          <p:cNvPr id="15" name="文本框 14"/>
          <p:cNvSpPr txBox="1"/>
          <p:nvPr/>
        </p:nvSpPr>
        <p:spPr>
          <a:xfrm>
            <a:off x="1136068" y="5350949"/>
            <a:ext cx="9249305" cy="646331"/>
          </a:xfrm>
          <a:prstGeom prst="rect">
            <a:avLst/>
          </a:prstGeom>
        </p:spPr>
        <p:txBody>
          <a:bodyPr wrap="square">
            <a:spAutoFit/>
          </a:bodyPr>
          <a:lstStyle/>
          <a:p>
            <a:r>
              <a:rPr lang="zh-CN" altLang="en-US" b="1">
                <a:latin typeface="等线" panose="02010600030101010101" pitchFamily="2" charset="-122"/>
                <a:ea typeface="等线" panose="02010600030101010101" pitchFamily="2" charset="-122"/>
                <a:cs typeface="黑体" panose="02010609060101010101" charset="-122"/>
              </a:rPr>
              <a:t>因为 </a:t>
            </a:r>
            <a:r>
              <a:rPr lang="en-US" altLang="zh-CN" b="1">
                <a:latin typeface="等线" panose="02010600030101010101" pitchFamily="2" charset="-122"/>
                <a:ea typeface="等线" panose="02010600030101010101" pitchFamily="2" charset="-122"/>
                <a:cs typeface="黑体" panose="02010609060101010101" charset="-122"/>
              </a:rPr>
              <a:t>i </a:t>
            </a:r>
            <a:r>
              <a:rPr lang="zh-CN" altLang="en-US" b="1">
                <a:latin typeface="等线" panose="02010600030101010101" pitchFamily="2" charset="-122"/>
                <a:ea typeface="等线" panose="02010600030101010101" pitchFamily="2" charset="-122"/>
                <a:cs typeface="黑体" panose="02010609060101010101" charset="-122"/>
              </a:rPr>
              <a:t>这个数据在短时间内被重复使用，计算机把它一直留在高速缓存中，避免了反复去慢速内存中查找，充分利用了时间局部性。</a:t>
            </a:r>
            <a:endParaRPr lang="zh-CN" altLang="en-US" b="1">
              <a:latin typeface="等线" panose="02010600030101010101" pitchFamily="2" charset="-122"/>
              <a:ea typeface="等线" panose="02010600030101010101" pitchFamily="2" charset="-122"/>
              <a:cs typeface="黑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流程图: 磁盘 2"/>
          <p:cNvSpPr/>
          <p:nvPr/>
        </p:nvSpPr>
        <p:spPr>
          <a:xfrm>
            <a:off x="1225212" y="2184380"/>
            <a:ext cx="3520440" cy="3440430"/>
          </a:xfrm>
          <a:prstGeom prst="flowChartMagneticDisk">
            <a:avLst/>
          </a:prstGeom>
          <a:solidFill>
            <a:schemeClr val="accent6">
              <a:lumMod val="20000"/>
              <a:lumOff val="80000"/>
            </a:schemeClr>
          </a:solidFill>
          <a:ln w="44450" cmpd="dbl">
            <a:solidFill>
              <a:schemeClr val="accent1">
                <a:lumMod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1445517" y="3511680"/>
            <a:ext cx="3114676" cy="1476772"/>
          </a:xfrm>
          <a:prstGeom prst="round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222270" y="5075798"/>
            <a:ext cx="1107996" cy="461665"/>
          </a:xfrm>
          <a:prstGeom prst="rect">
            <a:avLst/>
          </a:prstGeom>
          <a:noFill/>
        </p:spPr>
        <p:txBody>
          <a:bodyPr wrap="none" rtlCol="0">
            <a:spAutoFit/>
          </a:bodyPr>
          <a:lstStyle/>
          <a:p>
            <a:r>
              <a:rPr lang="zh-CN" altLang="en-US" sz="2400" dirty="0">
                <a:solidFill>
                  <a:srgbClr val="C00000"/>
                </a:solidFill>
                <a:latin typeface="方正粗黑宋简体" panose="02000000000000000000" pitchFamily="2" charset="-122"/>
                <a:ea typeface="方正粗黑宋简体" panose="02000000000000000000" pitchFamily="2" charset="-122"/>
              </a:rPr>
              <a:t>交换区</a:t>
            </a:r>
            <a:endParaRPr lang="zh-CN" altLang="en-US" sz="2400" dirty="0">
              <a:solidFill>
                <a:srgbClr val="C00000"/>
              </a:solidFill>
              <a:latin typeface="方正粗黑宋简体" panose="02000000000000000000" pitchFamily="2" charset="-122"/>
              <a:ea typeface="方正粗黑宋简体" panose="02000000000000000000" pitchFamily="2" charset="-122"/>
            </a:endParaRPr>
          </a:p>
        </p:txBody>
      </p:sp>
      <p:sp>
        <p:nvSpPr>
          <p:cNvPr id="9" name="文本框 8"/>
          <p:cNvSpPr txBox="1"/>
          <p:nvPr/>
        </p:nvSpPr>
        <p:spPr>
          <a:xfrm>
            <a:off x="2441644" y="2455292"/>
            <a:ext cx="1122423" cy="584775"/>
          </a:xfrm>
          <a:prstGeom prst="rect">
            <a:avLst/>
          </a:prstGeom>
          <a:noFill/>
        </p:spPr>
        <p:txBody>
          <a:bodyPr wrap="none" rtlCol="0">
            <a:spAutoFit/>
          </a:bodyPr>
          <a:lstStyle/>
          <a:p>
            <a:r>
              <a:rPr lang="zh-CN" altLang="en-US" sz="3200">
                <a:latin typeface="方正粗黑宋简体" panose="02000000000000000000" pitchFamily="2" charset="-122"/>
                <a:ea typeface="方正粗黑宋简体" panose="02000000000000000000" pitchFamily="2" charset="-122"/>
              </a:rPr>
              <a:t>硬 盘</a:t>
            </a:r>
            <a:endParaRPr lang="zh-CN" altLang="en-US" sz="3200">
              <a:latin typeface="方正粗黑宋简体" panose="02000000000000000000" pitchFamily="2" charset="-122"/>
              <a:ea typeface="方正粗黑宋简体" panose="02000000000000000000" pitchFamily="2" charset="-122"/>
            </a:endParaRPr>
          </a:p>
        </p:txBody>
      </p:sp>
      <p:sp>
        <p:nvSpPr>
          <p:cNvPr id="17" name="文本框 16"/>
          <p:cNvSpPr txBox="1"/>
          <p:nvPr/>
        </p:nvSpPr>
        <p:spPr>
          <a:xfrm>
            <a:off x="5132070" y="3342125"/>
            <a:ext cx="2646878" cy="584775"/>
          </a:xfrm>
          <a:prstGeom prst="rect">
            <a:avLst/>
          </a:prstGeom>
          <a:noFill/>
        </p:spPr>
        <p:txBody>
          <a:bodyPr wrap="none" rtlCol="0">
            <a:spAutoFit/>
          </a:bodyPr>
          <a:lstStyle/>
          <a:p>
            <a:r>
              <a:rPr lang="zh-CN" altLang="en-US" sz="3200" dirty="0">
                <a:solidFill>
                  <a:srgbClr val="002060"/>
                </a:solidFill>
                <a:latin typeface="华文琥珀" panose="02010800040101010101" pitchFamily="2" charset="-122"/>
                <a:ea typeface="华文琥珀" panose="02010800040101010101" pitchFamily="2" charset="-122"/>
              </a:rPr>
              <a:t>虚拟存储技术</a:t>
            </a:r>
            <a:endParaRPr lang="zh-CN" altLang="en-US" sz="3200" dirty="0">
              <a:solidFill>
                <a:srgbClr val="002060"/>
              </a:solidFill>
              <a:latin typeface="华文琥珀" panose="02010800040101010101" pitchFamily="2" charset="-122"/>
              <a:ea typeface="华文琥珀" panose="0201080004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8" grpId="0"/>
      <p:bldP spid="1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文本框 1"/>
          <p:cNvSpPr txBox="1"/>
          <p:nvPr/>
        </p:nvSpPr>
        <p:spPr>
          <a:xfrm>
            <a:off x="1953225" y="1368772"/>
            <a:ext cx="2581156" cy="461665"/>
          </a:xfrm>
          <a:prstGeom prst="rect">
            <a:avLst/>
          </a:prstGeom>
          <a:noFill/>
        </p:spPr>
        <p:txBody>
          <a:bodyPr wrap="none" rtlCol="0">
            <a:spAutoFit/>
          </a:bodyPr>
          <a:lstStyle/>
          <a:p>
            <a:r>
              <a:rPr lang="zh-CN" altLang="en-US" sz="2400">
                <a:solidFill>
                  <a:srgbClr val="002060"/>
                </a:solidFill>
                <a:latin typeface="方正粗黑宋简体" panose="02000000000000000000" pitchFamily="2" charset="-122"/>
                <a:ea typeface="方正粗黑宋简体" panose="02000000000000000000" pitchFamily="2" charset="-122"/>
              </a:rPr>
              <a:t>交换 </a:t>
            </a:r>
            <a:r>
              <a:rPr lang="en-US" altLang="zh-CN" sz="2400">
                <a:solidFill>
                  <a:srgbClr val="002060"/>
                </a:solidFill>
                <a:latin typeface="方正粗黑宋简体" panose="02000000000000000000" pitchFamily="2" charset="-122"/>
                <a:ea typeface="方正粗黑宋简体" panose="02000000000000000000" pitchFamily="2" charset="-122"/>
              </a:rPr>
              <a:t>(</a:t>
            </a:r>
            <a:r>
              <a:rPr lang="zh-CN" altLang="en-US" sz="2400">
                <a:solidFill>
                  <a:srgbClr val="002060"/>
                </a:solidFill>
                <a:latin typeface="方正粗黑宋简体" panose="02000000000000000000" pitchFamily="2" charset="-122"/>
                <a:ea typeface="方正粗黑宋简体" panose="02000000000000000000" pitchFamily="2" charset="-122"/>
              </a:rPr>
              <a:t>分页系统）</a:t>
            </a:r>
            <a:endParaRPr lang="zh-CN" altLang="en-US" sz="2400">
              <a:solidFill>
                <a:srgbClr val="002060"/>
              </a:solidFill>
              <a:latin typeface="方正粗黑宋简体" panose="02000000000000000000" pitchFamily="2" charset="-122"/>
              <a:ea typeface="方正粗黑宋简体" panose="02000000000000000000" pitchFamily="2" charset="-122"/>
            </a:endParaRPr>
          </a:p>
        </p:txBody>
      </p:sp>
      <p:sp>
        <p:nvSpPr>
          <p:cNvPr id="4" name="流程图: 磁盘 3"/>
          <p:cNvSpPr/>
          <p:nvPr/>
        </p:nvSpPr>
        <p:spPr>
          <a:xfrm>
            <a:off x="1225212" y="2184380"/>
            <a:ext cx="3520440" cy="3440430"/>
          </a:xfrm>
          <a:prstGeom prst="flowChartMagneticDisk">
            <a:avLst/>
          </a:prstGeom>
          <a:solidFill>
            <a:schemeClr val="accent6">
              <a:lumMod val="20000"/>
              <a:lumOff val="80000"/>
            </a:schemeClr>
          </a:solidFill>
          <a:ln w="44450" cmpd="dbl">
            <a:solidFill>
              <a:schemeClr val="accent1">
                <a:lumMod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7" name="矩形: 圆角 8"/>
          <p:cNvSpPr/>
          <p:nvPr/>
        </p:nvSpPr>
        <p:spPr>
          <a:xfrm>
            <a:off x="1543049" y="3623310"/>
            <a:ext cx="3114676" cy="1476772"/>
          </a:xfrm>
          <a:prstGeom prst="round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10" name="文本框 9"/>
          <p:cNvSpPr txBox="1"/>
          <p:nvPr/>
        </p:nvSpPr>
        <p:spPr>
          <a:xfrm>
            <a:off x="2535420" y="5165423"/>
            <a:ext cx="877163" cy="369332"/>
          </a:xfrm>
          <a:prstGeom prst="rect">
            <a:avLst/>
          </a:prstGeom>
          <a:noFill/>
        </p:spPr>
        <p:txBody>
          <a:bodyPr wrap="none" rtlCol="0">
            <a:spAutoFit/>
          </a:bodyPr>
          <a:lstStyle/>
          <a:p>
            <a:r>
              <a:rPr lang="zh-CN" altLang="en-US">
                <a:solidFill>
                  <a:srgbClr val="002060"/>
                </a:solidFill>
                <a:latin typeface="方正粗黑宋简体" panose="02000000000000000000" pitchFamily="2" charset="-122"/>
                <a:ea typeface="方正粗黑宋简体" panose="02000000000000000000" pitchFamily="2" charset="-122"/>
              </a:rPr>
              <a:t>交换区</a:t>
            </a:r>
            <a:endParaRPr lang="zh-CN" altLang="en-US">
              <a:solidFill>
                <a:srgbClr val="002060"/>
              </a:solidFill>
              <a:latin typeface="方正粗黑宋简体" panose="02000000000000000000" pitchFamily="2" charset="-122"/>
              <a:ea typeface="方正粗黑宋简体" panose="02000000000000000000" pitchFamily="2" charset="-122"/>
            </a:endParaRPr>
          </a:p>
        </p:txBody>
      </p:sp>
      <p:sp>
        <p:nvSpPr>
          <p:cNvPr id="11" name="矩形 10"/>
          <p:cNvSpPr/>
          <p:nvPr/>
        </p:nvSpPr>
        <p:spPr>
          <a:xfrm>
            <a:off x="1778957" y="3760470"/>
            <a:ext cx="285750" cy="29718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14" name="矩形 13"/>
          <p:cNvSpPr/>
          <p:nvPr/>
        </p:nvSpPr>
        <p:spPr>
          <a:xfrm>
            <a:off x="2164437" y="3756005"/>
            <a:ext cx="285750" cy="29718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15" name="矩形 14"/>
          <p:cNvSpPr/>
          <p:nvPr/>
        </p:nvSpPr>
        <p:spPr>
          <a:xfrm>
            <a:off x="2549917" y="3762970"/>
            <a:ext cx="285750" cy="29718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18" name="矩形 17"/>
          <p:cNvSpPr/>
          <p:nvPr/>
        </p:nvSpPr>
        <p:spPr>
          <a:xfrm>
            <a:off x="2954655" y="3762970"/>
            <a:ext cx="285750" cy="29718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19" name="矩形 18"/>
          <p:cNvSpPr/>
          <p:nvPr/>
        </p:nvSpPr>
        <p:spPr>
          <a:xfrm>
            <a:off x="3359393" y="3762970"/>
            <a:ext cx="285750" cy="29718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20" name="矩形 19"/>
          <p:cNvSpPr/>
          <p:nvPr/>
        </p:nvSpPr>
        <p:spPr>
          <a:xfrm>
            <a:off x="3757389" y="3765470"/>
            <a:ext cx="285750" cy="29718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21" name="矩形 20"/>
          <p:cNvSpPr/>
          <p:nvPr/>
        </p:nvSpPr>
        <p:spPr>
          <a:xfrm>
            <a:off x="4162127" y="3762970"/>
            <a:ext cx="285750" cy="29718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22" name="矩形 21"/>
          <p:cNvSpPr/>
          <p:nvPr/>
        </p:nvSpPr>
        <p:spPr>
          <a:xfrm>
            <a:off x="1665922" y="3716565"/>
            <a:ext cx="2868930" cy="44395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23" name="矩形 22"/>
          <p:cNvSpPr/>
          <p:nvPr/>
        </p:nvSpPr>
        <p:spPr>
          <a:xfrm>
            <a:off x="1786264" y="4293215"/>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24" name="矩形 23"/>
          <p:cNvSpPr/>
          <p:nvPr/>
        </p:nvSpPr>
        <p:spPr>
          <a:xfrm>
            <a:off x="2172354" y="4307145"/>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25" name="矩形 24"/>
          <p:cNvSpPr/>
          <p:nvPr/>
        </p:nvSpPr>
        <p:spPr>
          <a:xfrm>
            <a:off x="2557834" y="4314110"/>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26" name="矩形 25"/>
          <p:cNvSpPr/>
          <p:nvPr/>
        </p:nvSpPr>
        <p:spPr>
          <a:xfrm>
            <a:off x="2974002" y="4314110"/>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27" name="矩形 26"/>
          <p:cNvSpPr/>
          <p:nvPr/>
        </p:nvSpPr>
        <p:spPr>
          <a:xfrm>
            <a:off x="3383339" y="4302979"/>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28" name="矩形 27"/>
          <p:cNvSpPr/>
          <p:nvPr/>
        </p:nvSpPr>
        <p:spPr>
          <a:xfrm>
            <a:off x="3768819" y="4298514"/>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29" name="矩形 28"/>
          <p:cNvSpPr/>
          <p:nvPr/>
        </p:nvSpPr>
        <p:spPr>
          <a:xfrm>
            <a:off x="4173557" y="4298514"/>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30" name="矩形 29"/>
          <p:cNvSpPr/>
          <p:nvPr/>
        </p:nvSpPr>
        <p:spPr>
          <a:xfrm>
            <a:off x="1786874" y="4653578"/>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31" name="矩形 30"/>
          <p:cNvSpPr/>
          <p:nvPr/>
        </p:nvSpPr>
        <p:spPr>
          <a:xfrm>
            <a:off x="2172354" y="4660543"/>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32" name="矩形 31"/>
          <p:cNvSpPr/>
          <p:nvPr/>
        </p:nvSpPr>
        <p:spPr>
          <a:xfrm>
            <a:off x="2565662" y="4660543"/>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33" name="矩形 32"/>
          <p:cNvSpPr/>
          <p:nvPr/>
        </p:nvSpPr>
        <p:spPr>
          <a:xfrm>
            <a:off x="1665922" y="4248769"/>
            <a:ext cx="2868930" cy="75757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34" name="文本框 33"/>
          <p:cNvSpPr txBox="1"/>
          <p:nvPr/>
        </p:nvSpPr>
        <p:spPr>
          <a:xfrm>
            <a:off x="1166820" y="3784653"/>
            <a:ext cx="534121" cy="369332"/>
          </a:xfrm>
          <a:prstGeom prst="rect">
            <a:avLst/>
          </a:prstGeom>
          <a:noFill/>
        </p:spPr>
        <p:txBody>
          <a:bodyPr wrap="none" rtlCol="0">
            <a:spAutoFit/>
          </a:bodyPr>
          <a:lstStyle/>
          <a:p>
            <a:r>
              <a:rPr lang="en-US" altLang="zh-CN" b="1">
                <a:solidFill>
                  <a:srgbClr val="002060"/>
                </a:solidFill>
                <a:latin typeface="方正粗黑宋简体" panose="02000000000000000000" pitchFamily="2" charset="-122"/>
                <a:ea typeface="方正粗黑宋简体" panose="02000000000000000000" pitchFamily="2" charset="-122"/>
              </a:rPr>
              <a:t>P1</a:t>
            </a:r>
            <a:r>
              <a:rPr lang="zh-CN" altLang="en-US" b="1">
                <a:solidFill>
                  <a:srgbClr val="002060"/>
                </a:solidFill>
                <a:latin typeface="方正粗黑宋简体" panose="02000000000000000000" pitchFamily="2" charset="-122"/>
                <a:ea typeface="方正粗黑宋简体" panose="02000000000000000000" pitchFamily="2" charset="-122"/>
              </a:rPr>
              <a:t> </a:t>
            </a:r>
            <a:endParaRPr lang="zh-CN" altLang="en-US" b="1">
              <a:solidFill>
                <a:srgbClr val="002060"/>
              </a:solidFill>
              <a:latin typeface="方正粗黑宋简体" panose="02000000000000000000" pitchFamily="2" charset="-122"/>
              <a:ea typeface="方正粗黑宋简体" panose="02000000000000000000" pitchFamily="2" charset="-122"/>
            </a:endParaRPr>
          </a:p>
        </p:txBody>
      </p:sp>
      <p:sp>
        <p:nvSpPr>
          <p:cNvPr id="35" name="文本框 34"/>
          <p:cNvSpPr txBox="1"/>
          <p:nvPr/>
        </p:nvSpPr>
        <p:spPr>
          <a:xfrm>
            <a:off x="1160188" y="4400207"/>
            <a:ext cx="534121" cy="369332"/>
          </a:xfrm>
          <a:prstGeom prst="rect">
            <a:avLst/>
          </a:prstGeom>
          <a:noFill/>
        </p:spPr>
        <p:txBody>
          <a:bodyPr wrap="none" rtlCol="0">
            <a:spAutoFit/>
          </a:bodyPr>
          <a:lstStyle/>
          <a:p>
            <a:r>
              <a:rPr lang="en-US" altLang="zh-CN" b="1">
                <a:solidFill>
                  <a:srgbClr val="002060"/>
                </a:solidFill>
                <a:latin typeface="方正粗黑宋简体" panose="02000000000000000000" pitchFamily="2" charset="-122"/>
                <a:ea typeface="方正粗黑宋简体" panose="02000000000000000000" pitchFamily="2" charset="-122"/>
              </a:rPr>
              <a:t>P2</a:t>
            </a:r>
            <a:r>
              <a:rPr lang="zh-CN" altLang="en-US" b="1">
                <a:solidFill>
                  <a:srgbClr val="002060"/>
                </a:solidFill>
                <a:latin typeface="方正粗黑宋简体" panose="02000000000000000000" pitchFamily="2" charset="-122"/>
                <a:ea typeface="方正粗黑宋简体" panose="02000000000000000000" pitchFamily="2" charset="-122"/>
              </a:rPr>
              <a:t> </a:t>
            </a:r>
            <a:endParaRPr lang="zh-CN" altLang="en-US" b="1">
              <a:solidFill>
                <a:srgbClr val="002060"/>
              </a:solidFill>
              <a:latin typeface="方正粗黑宋简体" panose="02000000000000000000" pitchFamily="2" charset="-122"/>
              <a:ea typeface="方正粗黑宋简体" panose="02000000000000000000" pitchFamily="2" charset="-122"/>
            </a:endParaRPr>
          </a:p>
        </p:txBody>
      </p:sp>
      <p:sp>
        <p:nvSpPr>
          <p:cNvPr id="36" name="文本框 35"/>
          <p:cNvSpPr txBox="1"/>
          <p:nvPr/>
        </p:nvSpPr>
        <p:spPr>
          <a:xfrm>
            <a:off x="6807002" y="1094651"/>
            <a:ext cx="646331" cy="369332"/>
          </a:xfrm>
          <a:prstGeom prst="rect">
            <a:avLst/>
          </a:prstGeom>
          <a:noFill/>
        </p:spPr>
        <p:txBody>
          <a:bodyPr wrap="none" rtlCol="0">
            <a:spAutoFit/>
          </a:bodyPr>
          <a:lstStyle/>
          <a:p>
            <a:r>
              <a:rPr lang="zh-CN" altLang="en-US">
                <a:solidFill>
                  <a:srgbClr val="002060"/>
                </a:solidFill>
                <a:latin typeface="方正粗黑宋简体" panose="02000000000000000000" pitchFamily="2" charset="-122"/>
                <a:ea typeface="方正粗黑宋简体" panose="02000000000000000000" pitchFamily="2" charset="-122"/>
              </a:rPr>
              <a:t>内存</a:t>
            </a:r>
            <a:endParaRPr lang="zh-CN" altLang="en-US">
              <a:solidFill>
                <a:srgbClr val="002060"/>
              </a:solidFill>
              <a:latin typeface="方正粗黑宋简体" panose="02000000000000000000" pitchFamily="2" charset="-122"/>
              <a:ea typeface="方正粗黑宋简体" panose="02000000000000000000" pitchFamily="2" charset="-122"/>
            </a:endParaRPr>
          </a:p>
        </p:txBody>
      </p:sp>
      <p:sp>
        <p:nvSpPr>
          <p:cNvPr id="37" name="矩形 36"/>
          <p:cNvSpPr/>
          <p:nvPr/>
        </p:nvSpPr>
        <p:spPr>
          <a:xfrm>
            <a:off x="6350404" y="1553004"/>
            <a:ext cx="1325879" cy="350316"/>
          </a:xfrm>
          <a:prstGeom prst="rect">
            <a:avLst/>
          </a:prstGeom>
          <a:solidFill>
            <a:schemeClr val="tx2">
              <a:lumMod val="75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bg1"/>
                </a:solidFill>
              </a:rPr>
              <a:t>已占用</a:t>
            </a:r>
            <a:endParaRPr lang="zh-CN" altLang="en-US" sz="1400" b="1">
              <a:solidFill>
                <a:schemeClr val="bg1"/>
              </a:solidFill>
            </a:endParaRPr>
          </a:p>
        </p:txBody>
      </p:sp>
      <p:sp>
        <p:nvSpPr>
          <p:cNvPr id="38" name="矩形 37"/>
          <p:cNvSpPr/>
          <p:nvPr/>
        </p:nvSpPr>
        <p:spPr>
          <a:xfrm>
            <a:off x="6350406" y="1903320"/>
            <a:ext cx="1325880" cy="2867895"/>
          </a:xfrm>
          <a:prstGeom prst="rect">
            <a:avLst/>
          </a:prstGeom>
          <a:solidFill>
            <a:schemeClr val="bg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bg1"/>
                </a:solidFill>
                <a:latin typeface="方正粗黑宋简体" panose="02000000000000000000" pitchFamily="2" charset="-122"/>
                <a:ea typeface="方正粗黑宋简体" panose="02000000000000000000" pitchFamily="2" charset="-122"/>
              </a:rPr>
              <a:t> </a:t>
            </a:r>
            <a:endParaRPr lang="zh-CN" altLang="en-US" sz="2400">
              <a:solidFill>
                <a:schemeClr val="bg1"/>
              </a:solidFill>
              <a:latin typeface="方正粗黑宋简体" panose="02000000000000000000" pitchFamily="2" charset="-122"/>
              <a:ea typeface="方正粗黑宋简体" panose="02000000000000000000" pitchFamily="2" charset="-122"/>
            </a:endParaRPr>
          </a:p>
        </p:txBody>
      </p:sp>
      <p:sp>
        <p:nvSpPr>
          <p:cNvPr id="39" name="矩形 38"/>
          <p:cNvSpPr/>
          <p:nvPr/>
        </p:nvSpPr>
        <p:spPr>
          <a:xfrm>
            <a:off x="6354444" y="1912785"/>
            <a:ext cx="1325879" cy="350316"/>
          </a:xfrm>
          <a:prstGeom prst="rect">
            <a:avLst/>
          </a:prstGeom>
          <a:solidFill>
            <a:srgbClr val="08054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1</a:t>
            </a:r>
            <a:r>
              <a:rPr lang="en-US" altLang="zh-CN" sz="1400" b="1">
                <a:solidFill>
                  <a:schemeClr val="bg1"/>
                </a:solidFill>
              </a:rPr>
              <a:t>-page</a:t>
            </a:r>
            <a:endParaRPr lang="zh-CN" altLang="en-US" sz="1400" b="1">
              <a:solidFill>
                <a:schemeClr val="bg1"/>
              </a:solidFill>
            </a:endParaRPr>
          </a:p>
        </p:txBody>
      </p:sp>
      <p:sp>
        <p:nvSpPr>
          <p:cNvPr id="40" name="矩形 39"/>
          <p:cNvSpPr/>
          <p:nvPr/>
        </p:nvSpPr>
        <p:spPr>
          <a:xfrm>
            <a:off x="6350404" y="2253636"/>
            <a:ext cx="1325879" cy="350316"/>
          </a:xfrm>
          <a:prstGeom prst="rect">
            <a:avLst/>
          </a:prstGeom>
          <a:solidFill>
            <a:srgbClr val="08054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1</a:t>
            </a:r>
            <a:r>
              <a:rPr lang="en-US" altLang="zh-CN" sz="1400" b="1">
                <a:solidFill>
                  <a:schemeClr val="bg1"/>
                </a:solidFill>
              </a:rPr>
              <a:t>-page</a:t>
            </a:r>
            <a:endParaRPr lang="zh-CN" altLang="en-US" sz="1400" b="1">
              <a:solidFill>
                <a:schemeClr val="bg1"/>
              </a:solidFill>
            </a:endParaRPr>
          </a:p>
        </p:txBody>
      </p:sp>
      <p:sp>
        <p:nvSpPr>
          <p:cNvPr id="41" name="矩形 40"/>
          <p:cNvSpPr/>
          <p:nvPr/>
        </p:nvSpPr>
        <p:spPr>
          <a:xfrm>
            <a:off x="6350404" y="2593228"/>
            <a:ext cx="1325879" cy="350316"/>
          </a:xfrm>
          <a:prstGeom prst="rect">
            <a:avLst/>
          </a:prstGeom>
          <a:solidFill>
            <a:srgbClr val="08054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1</a:t>
            </a:r>
            <a:r>
              <a:rPr lang="en-US" altLang="zh-CN" sz="1400" b="1">
                <a:solidFill>
                  <a:schemeClr val="bg1"/>
                </a:solidFill>
              </a:rPr>
              <a:t>-page</a:t>
            </a:r>
            <a:endParaRPr lang="zh-CN" altLang="en-US" sz="1400" b="1">
              <a:solidFill>
                <a:schemeClr val="bg1"/>
              </a:solidFill>
            </a:endParaRPr>
          </a:p>
        </p:txBody>
      </p:sp>
      <p:sp>
        <p:nvSpPr>
          <p:cNvPr id="42" name="矩形 41"/>
          <p:cNvSpPr/>
          <p:nvPr/>
        </p:nvSpPr>
        <p:spPr>
          <a:xfrm>
            <a:off x="6350404" y="2943544"/>
            <a:ext cx="1325879" cy="350316"/>
          </a:xfrm>
          <a:prstGeom prst="rect">
            <a:avLst/>
          </a:prstGeom>
          <a:solidFill>
            <a:srgbClr val="08054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1</a:t>
            </a:r>
            <a:r>
              <a:rPr lang="en-US" altLang="zh-CN" sz="1400" b="1">
                <a:solidFill>
                  <a:schemeClr val="bg1"/>
                </a:solidFill>
              </a:rPr>
              <a:t>-page</a:t>
            </a:r>
            <a:endParaRPr lang="zh-CN" altLang="en-US" sz="1400" b="1">
              <a:solidFill>
                <a:schemeClr val="bg1"/>
              </a:solidFill>
            </a:endParaRPr>
          </a:p>
        </p:txBody>
      </p:sp>
      <p:sp>
        <p:nvSpPr>
          <p:cNvPr id="43" name="矩形 42"/>
          <p:cNvSpPr/>
          <p:nvPr/>
        </p:nvSpPr>
        <p:spPr>
          <a:xfrm>
            <a:off x="6350404" y="3293860"/>
            <a:ext cx="1325879" cy="350316"/>
          </a:xfrm>
          <a:prstGeom prst="rect">
            <a:avLst/>
          </a:prstGeom>
          <a:solidFill>
            <a:srgbClr val="51237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2</a:t>
            </a:r>
            <a:r>
              <a:rPr lang="en-US" altLang="zh-CN" sz="1400" b="1">
                <a:solidFill>
                  <a:schemeClr val="bg1"/>
                </a:solidFill>
              </a:rPr>
              <a:t>-page</a:t>
            </a:r>
            <a:endParaRPr lang="zh-CN" altLang="en-US" sz="1400" b="1">
              <a:solidFill>
                <a:schemeClr val="bg1"/>
              </a:solidFill>
            </a:endParaRPr>
          </a:p>
        </p:txBody>
      </p:sp>
      <p:sp>
        <p:nvSpPr>
          <p:cNvPr id="44" name="矩形 43"/>
          <p:cNvSpPr/>
          <p:nvPr/>
        </p:nvSpPr>
        <p:spPr>
          <a:xfrm>
            <a:off x="6350404" y="3638861"/>
            <a:ext cx="1325879" cy="350316"/>
          </a:xfrm>
          <a:prstGeom prst="rect">
            <a:avLst/>
          </a:prstGeom>
          <a:solidFill>
            <a:srgbClr val="51237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2</a:t>
            </a:r>
            <a:r>
              <a:rPr lang="en-US" altLang="zh-CN" sz="1400" b="1">
                <a:solidFill>
                  <a:schemeClr val="bg1"/>
                </a:solidFill>
              </a:rPr>
              <a:t>-page</a:t>
            </a:r>
            <a:endParaRPr lang="zh-CN" altLang="en-US" sz="1400" b="1">
              <a:solidFill>
                <a:schemeClr val="bg1"/>
              </a:solidFill>
            </a:endParaRPr>
          </a:p>
        </p:txBody>
      </p:sp>
      <p:sp>
        <p:nvSpPr>
          <p:cNvPr id="45" name="矩形 44"/>
          <p:cNvSpPr/>
          <p:nvPr/>
        </p:nvSpPr>
        <p:spPr>
          <a:xfrm>
            <a:off x="6350403" y="3952663"/>
            <a:ext cx="1325879" cy="350316"/>
          </a:xfrm>
          <a:prstGeom prst="rect">
            <a:avLst/>
          </a:prstGeom>
          <a:solidFill>
            <a:srgbClr val="51237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2</a:t>
            </a:r>
            <a:r>
              <a:rPr lang="en-US" altLang="zh-CN" sz="1400" b="1">
                <a:solidFill>
                  <a:schemeClr val="bg1"/>
                </a:solidFill>
              </a:rPr>
              <a:t>-page</a:t>
            </a:r>
            <a:endParaRPr lang="zh-CN" altLang="en-US" sz="1400" b="1">
              <a:solidFill>
                <a:schemeClr val="bg1"/>
              </a:solidFill>
            </a:endParaRPr>
          </a:p>
        </p:txBody>
      </p:sp>
      <p:sp>
        <p:nvSpPr>
          <p:cNvPr id="46" name="矩形 45"/>
          <p:cNvSpPr/>
          <p:nvPr/>
        </p:nvSpPr>
        <p:spPr>
          <a:xfrm>
            <a:off x="6350403" y="4292255"/>
            <a:ext cx="1325879" cy="350316"/>
          </a:xfrm>
          <a:prstGeom prst="rect">
            <a:avLst/>
          </a:prstGeom>
          <a:solidFill>
            <a:srgbClr val="51237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2</a:t>
            </a:r>
            <a:r>
              <a:rPr lang="en-US" altLang="zh-CN" sz="1400" b="1">
                <a:solidFill>
                  <a:schemeClr val="bg1"/>
                </a:solidFill>
              </a:rPr>
              <a:t>-page</a:t>
            </a:r>
            <a:endParaRPr lang="zh-CN" altLang="en-US" sz="1400" b="1">
              <a:solidFill>
                <a:schemeClr val="bg1"/>
              </a:solidFill>
            </a:endParaRPr>
          </a:p>
        </p:txBody>
      </p:sp>
      <p:sp>
        <p:nvSpPr>
          <p:cNvPr id="47" name="矩形 46"/>
          <p:cNvSpPr/>
          <p:nvPr/>
        </p:nvSpPr>
        <p:spPr>
          <a:xfrm>
            <a:off x="6350403" y="4657621"/>
            <a:ext cx="1325879" cy="350316"/>
          </a:xfrm>
          <a:prstGeom prst="rect">
            <a:avLst/>
          </a:prstGeom>
          <a:solidFill>
            <a:schemeClr val="tx2">
              <a:lumMod val="75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bg1"/>
                </a:solidFill>
              </a:rPr>
              <a:t>已占用</a:t>
            </a:r>
            <a:endParaRPr lang="zh-CN" altLang="en-US" sz="1400" b="1">
              <a:solidFill>
                <a:schemeClr val="bg1"/>
              </a:solidFill>
            </a:endParaRPr>
          </a:p>
        </p:txBody>
      </p:sp>
      <p:sp>
        <p:nvSpPr>
          <p:cNvPr id="48" name="椭圆 47"/>
          <p:cNvSpPr/>
          <p:nvPr/>
        </p:nvSpPr>
        <p:spPr>
          <a:xfrm>
            <a:off x="6573349" y="1958995"/>
            <a:ext cx="879985" cy="287116"/>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9" name="椭圆 48"/>
          <p:cNvSpPr/>
          <p:nvPr/>
        </p:nvSpPr>
        <p:spPr>
          <a:xfrm>
            <a:off x="6573348" y="2634497"/>
            <a:ext cx="879985" cy="287116"/>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50" name="文本框 49"/>
          <p:cNvSpPr txBox="1"/>
          <p:nvPr/>
        </p:nvSpPr>
        <p:spPr>
          <a:xfrm>
            <a:off x="2441644" y="2455292"/>
            <a:ext cx="1122423" cy="584775"/>
          </a:xfrm>
          <a:prstGeom prst="rect">
            <a:avLst/>
          </a:prstGeom>
          <a:noFill/>
        </p:spPr>
        <p:txBody>
          <a:bodyPr wrap="none" rtlCol="0">
            <a:spAutoFit/>
          </a:bodyPr>
          <a:lstStyle/>
          <a:p>
            <a:r>
              <a:rPr lang="zh-CN" altLang="en-US" sz="3200">
                <a:solidFill>
                  <a:srgbClr val="002060"/>
                </a:solidFill>
                <a:latin typeface="方正粗黑宋简体" panose="02000000000000000000" pitchFamily="2" charset="-122"/>
                <a:ea typeface="方正粗黑宋简体" panose="02000000000000000000" pitchFamily="2" charset="-122"/>
              </a:rPr>
              <a:t>硬 盘</a:t>
            </a:r>
            <a:endParaRPr lang="zh-CN" altLang="en-US" sz="3200">
              <a:solidFill>
                <a:srgbClr val="002060"/>
              </a:solidFill>
              <a:latin typeface="方正粗黑宋简体" panose="02000000000000000000" pitchFamily="2" charset="-122"/>
              <a:ea typeface="方正粗黑宋简体" panose="02000000000000000000" pitchFamily="2" charset="-122"/>
            </a:endParaRPr>
          </a:p>
        </p:txBody>
      </p:sp>
      <p:sp>
        <p:nvSpPr>
          <p:cNvPr id="51" name="右大括号 50"/>
          <p:cNvSpPr/>
          <p:nvPr/>
        </p:nvSpPr>
        <p:spPr>
          <a:xfrm>
            <a:off x="7787753" y="1903320"/>
            <a:ext cx="222943" cy="1368609"/>
          </a:xfrm>
          <a:prstGeom prst="rightBrac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2060"/>
              </a:solidFill>
            </a:endParaRPr>
          </a:p>
        </p:txBody>
      </p:sp>
      <p:sp>
        <p:nvSpPr>
          <p:cNvPr id="52" name="文本框 51"/>
          <p:cNvSpPr txBox="1"/>
          <p:nvPr/>
        </p:nvSpPr>
        <p:spPr>
          <a:xfrm>
            <a:off x="8218170" y="2428794"/>
            <a:ext cx="909223" cy="369332"/>
          </a:xfrm>
          <a:prstGeom prst="rect">
            <a:avLst/>
          </a:prstGeom>
          <a:noFill/>
        </p:spPr>
        <p:txBody>
          <a:bodyPr wrap="none" rtlCol="0">
            <a:spAutoFit/>
          </a:bodyPr>
          <a:lstStyle/>
          <a:p>
            <a:r>
              <a:rPr lang="zh-CN" altLang="en-US" b="1">
                <a:solidFill>
                  <a:srgbClr val="002060"/>
                </a:solidFill>
              </a:rPr>
              <a:t>进程</a:t>
            </a:r>
            <a:r>
              <a:rPr lang="en-US" altLang="zh-CN" b="1">
                <a:solidFill>
                  <a:srgbClr val="002060"/>
                </a:solidFill>
              </a:rPr>
              <a:t>P</a:t>
            </a:r>
            <a:r>
              <a:rPr lang="en-US" altLang="zh-CN" sz="1600" b="1">
                <a:solidFill>
                  <a:srgbClr val="002060"/>
                </a:solidFill>
              </a:rPr>
              <a:t>1</a:t>
            </a:r>
            <a:endParaRPr lang="zh-CN" altLang="en-US" b="1">
              <a:solidFill>
                <a:srgbClr val="002060"/>
              </a:solidFill>
            </a:endParaRPr>
          </a:p>
        </p:txBody>
      </p:sp>
      <p:sp>
        <p:nvSpPr>
          <p:cNvPr id="53" name="右大括号 52"/>
          <p:cNvSpPr/>
          <p:nvPr/>
        </p:nvSpPr>
        <p:spPr>
          <a:xfrm>
            <a:off x="7763155" y="3304872"/>
            <a:ext cx="222943" cy="1368609"/>
          </a:xfrm>
          <a:prstGeom prst="rightBrac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2060"/>
              </a:solidFill>
            </a:endParaRPr>
          </a:p>
        </p:txBody>
      </p:sp>
      <p:sp>
        <p:nvSpPr>
          <p:cNvPr id="54" name="文本框 53"/>
          <p:cNvSpPr txBox="1"/>
          <p:nvPr/>
        </p:nvSpPr>
        <p:spPr>
          <a:xfrm>
            <a:off x="8159282" y="3830346"/>
            <a:ext cx="909223" cy="369332"/>
          </a:xfrm>
          <a:prstGeom prst="rect">
            <a:avLst/>
          </a:prstGeom>
          <a:noFill/>
        </p:spPr>
        <p:txBody>
          <a:bodyPr wrap="none" rtlCol="0">
            <a:spAutoFit/>
          </a:bodyPr>
          <a:lstStyle/>
          <a:p>
            <a:r>
              <a:rPr lang="zh-CN" altLang="en-US" b="1">
                <a:solidFill>
                  <a:srgbClr val="002060"/>
                </a:solidFill>
              </a:rPr>
              <a:t>进程</a:t>
            </a:r>
            <a:r>
              <a:rPr lang="en-US" altLang="zh-CN" b="1">
                <a:solidFill>
                  <a:srgbClr val="002060"/>
                </a:solidFill>
              </a:rPr>
              <a:t>P</a:t>
            </a:r>
            <a:r>
              <a:rPr lang="en-US" altLang="zh-CN" sz="1600" b="1">
                <a:solidFill>
                  <a:srgbClr val="002060"/>
                </a:solidFill>
              </a:rPr>
              <a:t>2</a:t>
            </a:r>
            <a:endParaRPr lang="zh-CN" altLang="en-US" b="1">
              <a:solidFill>
                <a:srgbClr val="002060"/>
              </a:solidFill>
            </a:endParaRPr>
          </a:p>
        </p:txBody>
      </p:sp>
      <p:cxnSp>
        <p:nvCxnSpPr>
          <p:cNvPr id="55" name="直接箭头连接符 54"/>
          <p:cNvCxnSpPr>
            <a:stCxn id="39" idx="1"/>
          </p:cNvCxnSpPr>
          <p:nvPr/>
        </p:nvCxnSpPr>
        <p:spPr>
          <a:xfrm flipH="1">
            <a:off x="3914728" y="2087943"/>
            <a:ext cx="2439716" cy="1667822"/>
          </a:xfrm>
          <a:prstGeom prst="straightConnector1">
            <a:avLst/>
          </a:prstGeom>
          <a:ln w="50800">
            <a:solidFill>
              <a:srgbClr val="FF0000"/>
            </a:solidFill>
            <a:tailEnd type="triangle"/>
          </a:ln>
        </p:spPr>
        <p:style>
          <a:lnRef idx="1">
            <a:schemeClr val="accent4"/>
          </a:lnRef>
          <a:fillRef idx="0">
            <a:schemeClr val="accent4"/>
          </a:fillRef>
          <a:effectRef idx="0">
            <a:schemeClr val="accent4"/>
          </a:effectRef>
          <a:fontRef idx="minor">
            <a:schemeClr val="tx1"/>
          </a:fontRef>
        </p:style>
      </p:cxnSp>
      <p:cxnSp>
        <p:nvCxnSpPr>
          <p:cNvPr id="56" name="直接箭头连接符 55"/>
          <p:cNvCxnSpPr/>
          <p:nvPr/>
        </p:nvCxnSpPr>
        <p:spPr>
          <a:xfrm flipH="1">
            <a:off x="4459307" y="2804950"/>
            <a:ext cx="1906567" cy="1046694"/>
          </a:xfrm>
          <a:prstGeom prst="straightConnector1">
            <a:avLst/>
          </a:prstGeom>
          <a:ln w="50800">
            <a:solidFill>
              <a:srgbClr val="FF0000"/>
            </a:solidFill>
            <a:tailEnd type="triangle"/>
          </a:ln>
        </p:spPr>
        <p:style>
          <a:lnRef idx="1">
            <a:schemeClr val="accent4"/>
          </a:lnRef>
          <a:fillRef idx="0">
            <a:schemeClr val="accent4"/>
          </a:fillRef>
          <a:effectRef idx="0">
            <a:schemeClr val="accent4"/>
          </a:effectRef>
          <a:fontRef idx="minor">
            <a:schemeClr val="tx1"/>
          </a:fontRef>
        </p:style>
      </p:cxnSp>
      <p:sp>
        <p:nvSpPr>
          <p:cNvPr id="57" name="矩形 56"/>
          <p:cNvSpPr/>
          <p:nvPr/>
        </p:nvSpPr>
        <p:spPr>
          <a:xfrm>
            <a:off x="3772513" y="3756005"/>
            <a:ext cx="285750" cy="297180"/>
          </a:xfrm>
          <a:prstGeom prst="rect">
            <a:avLst/>
          </a:prstGeom>
          <a:solidFill>
            <a:srgbClr val="08054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58" name="矩形 57"/>
          <p:cNvSpPr/>
          <p:nvPr/>
        </p:nvSpPr>
        <p:spPr>
          <a:xfrm>
            <a:off x="4155000" y="3761621"/>
            <a:ext cx="285750" cy="297180"/>
          </a:xfrm>
          <a:prstGeom prst="rect">
            <a:avLst/>
          </a:prstGeom>
          <a:solidFill>
            <a:srgbClr val="08054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 presetClass="exit" presetSubtype="0" fill="hold" grpId="0" nodeType="withEffect">
                                  <p:stCondLst>
                                    <p:cond delay="250"/>
                                  </p:stCondLst>
                                  <p:childTnLst>
                                    <p:set>
                                      <p:cBhvr>
                                        <p:cTn id="11" dur="1" fill="hold">
                                          <p:stCondLst>
                                            <p:cond delay="0"/>
                                          </p:stCondLst>
                                        </p:cTn>
                                        <p:tgtEl>
                                          <p:spTgt spid="48"/>
                                        </p:tgtEl>
                                        <p:attrNameLst>
                                          <p:attrName>style.visibility</p:attrName>
                                        </p:attrNameLst>
                                      </p:cBhvr>
                                      <p:to>
                                        <p:strVal val="hidden"/>
                                      </p:to>
                                    </p:set>
                                  </p:childTnLst>
                                </p:cTn>
                              </p:par>
                              <p:par>
                                <p:cTn id="12" presetID="1" presetClass="exit" presetSubtype="0" fill="hold" grpId="0" nodeType="withEffect">
                                  <p:stCondLst>
                                    <p:cond delay="250"/>
                                  </p:stCondLst>
                                  <p:childTnLst>
                                    <p:set>
                                      <p:cBhvr>
                                        <p:cTn id="13" dur="1" fill="hold">
                                          <p:stCondLst>
                                            <p:cond delay="0"/>
                                          </p:stCondLst>
                                        </p:cTn>
                                        <p:tgtEl>
                                          <p:spTgt spid="39"/>
                                        </p:tgtEl>
                                        <p:attrNameLst>
                                          <p:attrName>style.visibility</p:attrName>
                                        </p:attrNameLst>
                                      </p:cBhvr>
                                      <p:to>
                                        <p:strVal val="hidden"/>
                                      </p:to>
                                    </p:set>
                                  </p:childTnLst>
                                </p:cTn>
                              </p:par>
                            </p:childTnLst>
                          </p:cTn>
                        </p:par>
                        <p:par>
                          <p:cTn id="14" fill="hold">
                            <p:stCondLst>
                              <p:cond delay="500"/>
                            </p:stCondLst>
                            <p:childTnLst>
                              <p:par>
                                <p:cTn id="15" presetID="1" presetClass="entr" presetSubtype="0" fill="hold" grpId="0" nodeType="afterEffect">
                                  <p:stCondLst>
                                    <p:cond delay="25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56"/>
                                        </p:tgtEl>
                                        <p:attrNameLst>
                                          <p:attrName>style.visibility</p:attrName>
                                        </p:attrNameLst>
                                      </p:cBhvr>
                                      <p:to>
                                        <p:strVal val="visible"/>
                                      </p:to>
                                    </p:set>
                                    <p:anim calcmode="lin" valueType="num">
                                      <p:cBhvr>
                                        <p:cTn id="21" dur="500" fill="hold"/>
                                        <p:tgtEl>
                                          <p:spTgt spid="56"/>
                                        </p:tgtEl>
                                        <p:attrNameLst>
                                          <p:attrName>ppt_w</p:attrName>
                                        </p:attrNameLst>
                                      </p:cBhvr>
                                      <p:tavLst>
                                        <p:tav tm="0">
                                          <p:val>
                                            <p:fltVal val="0"/>
                                          </p:val>
                                        </p:tav>
                                        <p:tav tm="100000">
                                          <p:val>
                                            <p:strVal val="#ppt_w"/>
                                          </p:val>
                                        </p:tav>
                                      </p:tavLst>
                                    </p:anim>
                                    <p:anim calcmode="lin" valueType="num">
                                      <p:cBhvr>
                                        <p:cTn id="22" dur="500" fill="hold"/>
                                        <p:tgtEl>
                                          <p:spTgt spid="56"/>
                                        </p:tgtEl>
                                        <p:attrNameLst>
                                          <p:attrName>ppt_h</p:attrName>
                                        </p:attrNameLst>
                                      </p:cBhvr>
                                      <p:tavLst>
                                        <p:tav tm="0">
                                          <p:val>
                                            <p:fltVal val="0"/>
                                          </p:val>
                                        </p:tav>
                                        <p:tav tm="100000">
                                          <p:val>
                                            <p:strVal val="#ppt_h"/>
                                          </p:val>
                                        </p:tav>
                                      </p:tavLst>
                                    </p:anim>
                                    <p:animEffect transition="in" filter="fade">
                                      <p:cBhvr>
                                        <p:cTn id="23" dur="500"/>
                                        <p:tgtEl>
                                          <p:spTgt spid="56"/>
                                        </p:tgtEl>
                                      </p:cBhvr>
                                    </p:animEffect>
                                  </p:childTnLst>
                                </p:cTn>
                              </p:par>
                            </p:childTnLst>
                          </p:cTn>
                        </p:par>
                        <p:par>
                          <p:cTn id="24" fill="hold">
                            <p:stCondLst>
                              <p:cond delay="500"/>
                            </p:stCondLst>
                            <p:childTnLst>
                              <p:par>
                                <p:cTn id="25" presetID="1" presetClass="exit" presetSubtype="0" fill="hold" grpId="0" nodeType="afterEffect">
                                  <p:stCondLst>
                                    <p:cond delay="0"/>
                                  </p:stCondLst>
                                  <p:childTnLst>
                                    <p:set>
                                      <p:cBhvr>
                                        <p:cTn id="26" dur="1" fill="hold">
                                          <p:stCondLst>
                                            <p:cond delay="0"/>
                                          </p:stCondLst>
                                        </p:cTn>
                                        <p:tgtEl>
                                          <p:spTgt spid="49"/>
                                        </p:tgtEl>
                                        <p:attrNameLst>
                                          <p:attrName>style.visibility</p:attrName>
                                        </p:attrNameLst>
                                      </p:cBhvr>
                                      <p:to>
                                        <p:strVal val="hidden"/>
                                      </p:to>
                                    </p:set>
                                  </p:childTnLst>
                                </p:cTn>
                              </p:par>
                            </p:childTnLst>
                          </p:cTn>
                        </p:par>
                        <p:par>
                          <p:cTn id="27" fill="hold">
                            <p:stCondLst>
                              <p:cond delay="500"/>
                            </p:stCondLst>
                            <p:childTnLst>
                              <p:par>
                                <p:cTn id="28" presetID="1" presetClass="exit" presetSubtype="0" fill="hold" grpId="0" nodeType="afterEffect">
                                  <p:stCondLst>
                                    <p:cond delay="0"/>
                                  </p:stCondLst>
                                  <p:childTnLst>
                                    <p:set>
                                      <p:cBhvr>
                                        <p:cTn id="29" dur="1" fill="hold">
                                          <p:stCondLst>
                                            <p:cond delay="0"/>
                                          </p:stCondLst>
                                        </p:cTn>
                                        <p:tgtEl>
                                          <p:spTgt spid="41"/>
                                        </p:tgtEl>
                                        <p:attrNameLst>
                                          <p:attrName>style.visibility</p:attrName>
                                        </p:attrNameLst>
                                      </p:cBhvr>
                                      <p:to>
                                        <p:strVal val="hidden"/>
                                      </p:to>
                                    </p:set>
                                  </p:childTnLst>
                                </p:cTn>
                              </p:par>
                            </p:childTnLst>
                          </p:cTn>
                        </p:par>
                        <p:par>
                          <p:cTn id="30" fill="hold">
                            <p:stCondLst>
                              <p:cond delay="500"/>
                            </p:stCondLst>
                            <p:childTnLst>
                              <p:par>
                                <p:cTn id="31" presetID="1" presetClass="entr" presetSubtype="0" fill="hold" grpId="0" nodeType="afterEffect">
                                  <p:stCondLst>
                                    <p:cond delay="250"/>
                                  </p:stCondLst>
                                  <p:childTnLst>
                                    <p:set>
                                      <p:cBhvr>
                                        <p:cTn id="32"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P spid="41" grpId="0" bldLvl="0" animBg="1"/>
      <p:bldP spid="48" grpId="0" bldLvl="0" animBg="1"/>
      <p:bldP spid="49" grpId="0" bldLvl="0" animBg="1"/>
      <p:bldP spid="57" grpId="0" bldLvl="0" animBg="1"/>
      <p:bldP spid="58"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文本框 2"/>
          <p:cNvSpPr txBox="1"/>
          <p:nvPr/>
        </p:nvSpPr>
        <p:spPr>
          <a:xfrm>
            <a:off x="1281395" y="1368772"/>
            <a:ext cx="2581156" cy="461665"/>
          </a:xfrm>
          <a:prstGeom prst="rect">
            <a:avLst/>
          </a:prstGeom>
          <a:noFill/>
        </p:spPr>
        <p:txBody>
          <a:bodyPr wrap="none" rtlCol="0">
            <a:spAutoFit/>
          </a:bodyPr>
          <a:lstStyle/>
          <a:p>
            <a:r>
              <a:rPr lang="zh-CN" altLang="en-US" sz="2400">
                <a:solidFill>
                  <a:schemeClr val="bg1"/>
                </a:solidFill>
                <a:latin typeface="方正粗黑宋简体" panose="02000000000000000000" pitchFamily="2" charset="-122"/>
                <a:ea typeface="方正粗黑宋简体" panose="02000000000000000000" pitchFamily="2" charset="-122"/>
              </a:rPr>
              <a:t>交换 </a:t>
            </a:r>
            <a:r>
              <a:rPr lang="en-US" altLang="zh-CN" sz="2400">
                <a:solidFill>
                  <a:schemeClr val="bg1"/>
                </a:solidFill>
                <a:latin typeface="方正粗黑宋简体" panose="02000000000000000000" pitchFamily="2" charset="-122"/>
                <a:ea typeface="方正粗黑宋简体" panose="02000000000000000000" pitchFamily="2" charset="-122"/>
              </a:rPr>
              <a:t>(</a:t>
            </a:r>
            <a:r>
              <a:rPr lang="zh-CN" altLang="en-US" sz="2400">
                <a:solidFill>
                  <a:schemeClr val="bg1"/>
                </a:solidFill>
                <a:latin typeface="方正粗黑宋简体" panose="02000000000000000000" pitchFamily="2" charset="-122"/>
                <a:ea typeface="方正粗黑宋简体" panose="02000000000000000000" pitchFamily="2" charset="-122"/>
              </a:rPr>
              <a:t>分页系统）</a:t>
            </a:r>
            <a:endParaRPr lang="zh-CN" altLang="en-US" sz="2400">
              <a:solidFill>
                <a:schemeClr val="bg1"/>
              </a:solidFill>
              <a:latin typeface="方正粗黑宋简体" panose="02000000000000000000" pitchFamily="2" charset="-122"/>
              <a:ea typeface="方正粗黑宋简体" panose="02000000000000000000" pitchFamily="2" charset="-122"/>
            </a:endParaRPr>
          </a:p>
        </p:txBody>
      </p:sp>
      <p:sp>
        <p:nvSpPr>
          <p:cNvPr id="5" name="流程图: 磁盘 4"/>
          <p:cNvSpPr/>
          <p:nvPr/>
        </p:nvSpPr>
        <p:spPr>
          <a:xfrm>
            <a:off x="1225212" y="2184380"/>
            <a:ext cx="3520440" cy="3440430"/>
          </a:xfrm>
          <a:prstGeom prst="flowChartMagneticDisk">
            <a:avLst/>
          </a:prstGeom>
          <a:solidFill>
            <a:schemeClr val="accent6">
              <a:lumMod val="20000"/>
              <a:lumOff val="80000"/>
            </a:schemeClr>
          </a:solidFill>
          <a:ln w="44450" cmpd="dbl">
            <a:solidFill>
              <a:schemeClr val="accent1">
                <a:lumMod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矩形: 圆角 7"/>
          <p:cNvSpPr/>
          <p:nvPr/>
        </p:nvSpPr>
        <p:spPr>
          <a:xfrm>
            <a:off x="1543049" y="3623310"/>
            <a:ext cx="3114676" cy="1476772"/>
          </a:xfrm>
          <a:prstGeom prst="round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文本框 8"/>
          <p:cNvSpPr txBox="1"/>
          <p:nvPr/>
        </p:nvSpPr>
        <p:spPr>
          <a:xfrm>
            <a:off x="2535420" y="5165423"/>
            <a:ext cx="877163" cy="369332"/>
          </a:xfrm>
          <a:prstGeom prst="rect">
            <a:avLst/>
          </a:prstGeom>
          <a:noFill/>
        </p:spPr>
        <p:txBody>
          <a:bodyPr wrap="none" rtlCol="0">
            <a:spAutoFit/>
          </a:bodyPr>
          <a:lstStyle/>
          <a:p>
            <a:r>
              <a:rPr lang="zh-CN" altLang="en-US">
                <a:latin typeface="方正粗黑宋简体" panose="02000000000000000000" pitchFamily="2" charset="-122"/>
                <a:ea typeface="方正粗黑宋简体" panose="02000000000000000000" pitchFamily="2" charset="-122"/>
              </a:rPr>
              <a:t>交换区</a:t>
            </a:r>
            <a:endParaRPr lang="zh-CN" altLang="en-US">
              <a:latin typeface="方正粗黑宋简体" panose="02000000000000000000" pitchFamily="2" charset="-122"/>
              <a:ea typeface="方正粗黑宋简体" panose="02000000000000000000" pitchFamily="2" charset="-122"/>
            </a:endParaRPr>
          </a:p>
        </p:txBody>
      </p:sp>
      <p:sp>
        <p:nvSpPr>
          <p:cNvPr id="17" name="矩形 16"/>
          <p:cNvSpPr/>
          <p:nvPr/>
        </p:nvSpPr>
        <p:spPr>
          <a:xfrm>
            <a:off x="1778957" y="3760470"/>
            <a:ext cx="285750" cy="29718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矩形 58"/>
          <p:cNvSpPr/>
          <p:nvPr/>
        </p:nvSpPr>
        <p:spPr>
          <a:xfrm>
            <a:off x="2164437" y="3756005"/>
            <a:ext cx="285750" cy="29718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矩形 59"/>
          <p:cNvSpPr/>
          <p:nvPr/>
        </p:nvSpPr>
        <p:spPr>
          <a:xfrm>
            <a:off x="2549917" y="3762970"/>
            <a:ext cx="285750" cy="29718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矩形 60"/>
          <p:cNvSpPr/>
          <p:nvPr/>
        </p:nvSpPr>
        <p:spPr>
          <a:xfrm>
            <a:off x="2954655" y="3762970"/>
            <a:ext cx="285750" cy="29718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2" name="矩形 61"/>
          <p:cNvSpPr/>
          <p:nvPr/>
        </p:nvSpPr>
        <p:spPr>
          <a:xfrm>
            <a:off x="3359393" y="3762970"/>
            <a:ext cx="285750" cy="29718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3" name="矩形 62"/>
          <p:cNvSpPr/>
          <p:nvPr/>
        </p:nvSpPr>
        <p:spPr>
          <a:xfrm>
            <a:off x="3757389" y="3765470"/>
            <a:ext cx="285750" cy="29718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4" name="矩形 63"/>
          <p:cNvSpPr/>
          <p:nvPr/>
        </p:nvSpPr>
        <p:spPr>
          <a:xfrm>
            <a:off x="4162127" y="3762970"/>
            <a:ext cx="285750" cy="29718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5" name="矩形 64"/>
          <p:cNvSpPr/>
          <p:nvPr/>
        </p:nvSpPr>
        <p:spPr>
          <a:xfrm>
            <a:off x="1665922" y="3716565"/>
            <a:ext cx="2868930" cy="44395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6" name="矩形 65"/>
          <p:cNvSpPr/>
          <p:nvPr/>
        </p:nvSpPr>
        <p:spPr>
          <a:xfrm>
            <a:off x="1786264" y="4293215"/>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7" name="矩形 66"/>
          <p:cNvSpPr/>
          <p:nvPr/>
        </p:nvSpPr>
        <p:spPr>
          <a:xfrm>
            <a:off x="2172354" y="4307145"/>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8" name="矩形 67"/>
          <p:cNvSpPr/>
          <p:nvPr/>
        </p:nvSpPr>
        <p:spPr>
          <a:xfrm>
            <a:off x="2557834" y="4314110"/>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9" name="矩形 68"/>
          <p:cNvSpPr/>
          <p:nvPr/>
        </p:nvSpPr>
        <p:spPr>
          <a:xfrm>
            <a:off x="2974002" y="4314110"/>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0" name="矩形 69"/>
          <p:cNvSpPr/>
          <p:nvPr/>
        </p:nvSpPr>
        <p:spPr>
          <a:xfrm>
            <a:off x="3383339" y="4302979"/>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1" name="矩形 70"/>
          <p:cNvSpPr/>
          <p:nvPr/>
        </p:nvSpPr>
        <p:spPr>
          <a:xfrm>
            <a:off x="3768819" y="4298514"/>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2" name="矩形 71"/>
          <p:cNvSpPr/>
          <p:nvPr/>
        </p:nvSpPr>
        <p:spPr>
          <a:xfrm>
            <a:off x="4173557" y="4298514"/>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3" name="矩形 72"/>
          <p:cNvSpPr/>
          <p:nvPr/>
        </p:nvSpPr>
        <p:spPr>
          <a:xfrm>
            <a:off x="1786874" y="4653578"/>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4" name="矩形 73"/>
          <p:cNvSpPr/>
          <p:nvPr/>
        </p:nvSpPr>
        <p:spPr>
          <a:xfrm>
            <a:off x="2172354" y="4660543"/>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5" name="矩形 74"/>
          <p:cNvSpPr/>
          <p:nvPr/>
        </p:nvSpPr>
        <p:spPr>
          <a:xfrm>
            <a:off x="2565662" y="4660543"/>
            <a:ext cx="285750" cy="29718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6" name="矩形 75"/>
          <p:cNvSpPr/>
          <p:nvPr/>
        </p:nvSpPr>
        <p:spPr>
          <a:xfrm>
            <a:off x="1665922" y="4248769"/>
            <a:ext cx="2868930" cy="75757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7" name="文本框 76"/>
          <p:cNvSpPr txBox="1"/>
          <p:nvPr/>
        </p:nvSpPr>
        <p:spPr>
          <a:xfrm>
            <a:off x="1166820" y="3784653"/>
            <a:ext cx="534121" cy="369332"/>
          </a:xfrm>
          <a:prstGeom prst="rect">
            <a:avLst/>
          </a:prstGeom>
          <a:noFill/>
        </p:spPr>
        <p:txBody>
          <a:bodyPr wrap="none" rtlCol="0">
            <a:spAutoFit/>
          </a:bodyPr>
          <a:lstStyle/>
          <a:p>
            <a:r>
              <a:rPr lang="en-US" altLang="zh-CN" b="1">
                <a:latin typeface="方正粗黑宋简体" panose="02000000000000000000" pitchFamily="2" charset="-122"/>
                <a:ea typeface="方正粗黑宋简体" panose="02000000000000000000" pitchFamily="2" charset="-122"/>
              </a:rPr>
              <a:t>P1</a:t>
            </a:r>
            <a:r>
              <a:rPr lang="zh-CN" altLang="en-US" b="1">
                <a:latin typeface="方正粗黑宋简体" panose="02000000000000000000" pitchFamily="2" charset="-122"/>
                <a:ea typeface="方正粗黑宋简体" panose="02000000000000000000" pitchFamily="2" charset="-122"/>
              </a:rPr>
              <a:t> </a:t>
            </a:r>
            <a:endParaRPr lang="zh-CN" altLang="en-US" b="1">
              <a:latin typeface="方正粗黑宋简体" panose="02000000000000000000" pitchFamily="2" charset="-122"/>
              <a:ea typeface="方正粗黑宋简体" panose="02000000000000000000" pitchFamily="2" charset="-122"/>
            </a:endParaRPr>
          </a:p>
        </p:txBody>
      </p:sp>
      <p:sp>
        <p:nvSpPr>
          <p:cNvPr id="78" name="文本框 77"/>
          <p:cNvSpPr txBox="1"/>
          <p:nvPr/>
        </p:nvSpPr>
        <p:spPr>
          <a:xfrm>
            <a:off x="1160188" y="4400207"/>
            <a:ext cx="534121" cy="369332"/>
          </a:xfrm>
          <a:prstGeom prst="rect">
            <a:avLst/>
          </a:prstGeom>
          <a:noFill/>
        </p:spPr>
        <p:txBody>
          <a:bodyPr wrap="none" rtlCol="0">
            <a:spAutoFit/>
          </a:bodyPr>
          <a:lstStyle/>
          <a:p>
            <a:r>
              <a:rPr lang="en-US" altLang="zh-CN" b="1">
                <a:latin typeface="方正粗黑宋简体" panose="02000000000000000000" pitchFamily="2" charset="-122"/>
                <a:ea typeface="方正粗黑宋简体" panose="02000000000000000000" pitchFamily="2" charset="-122"/>
              </a:rPr>
              <a:t>P2</a:t>
            </a:r>
            <a:r>
              <a:rPr lang="zh-CN" altLang="en-US" b="1">
                <a:latin typeface="方正粗黑宋简体" panose="02000000000000000000" pitchFamily="2" charset="-122"/>
                <a:ea typeface="方正粗黑宋简体" panose="02000000000000000000" pitchFamily="2" charset="-122"/>
              </a:rPr>
              <a:t> </a:t>
            </a:r>
            <a:endParaRPr lang="zh-CN" altLang="en-US" b="1">
              <a:latin typeface="方正粗黑宋简体" panose="02000000000000000000" pitchFamily="2" charset="-122"/>
              <a:ea typeface="方正粗黑宋简体" panose="02000000000000000000" pitchFamily="2" charset="-122"/>
            </a:endParaRPr>
          </a:p>
        </p:txBody>
      </p:sp>
      <p:sp>
        <p:nvSpPr>
          <p:cNvPr id="79" name="矩形 78"/>
          <p:cNvSpPr/>
          <p:nvPr/>
        </p:nvSpPr>
        <p:spPr>
          <a:xfrm>
            <a:off x="6350404" y="1553004"/>
            <a:ext cx="1325879" cy="350316"/>
          </a:xfrm>
          <a:prstGeom prst="rect">
            <a:avLst/>
          </a:prstGeom>
          <a:solidFill>
            <a:schemeClr val="tx2">
              <a:lumMod val="75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bg1"/>
                </a:solidFill>
              </a:rPr>
              <a:t>已占用</a:t>
            </a:r>
            <a:endParaRPr lang="zh-CN" altLang="en-US" sz="1400" b="1">
              <a:solidFill>
                <a:schemeClr val="bg1"/>
              </a:solidFill>
            </a:endParaRPr>
          </a:p>
        </p:txBody>
      </p:sp>
      <p:sp>
        <p:nvSpPr>
          <p:cNvPr id="80" name="矩形 79"/>
          <p:cNvSpPr/>
          <p:nvPr/>
        </p:nvSpPr>
        <p:spPr>
          <a:xfrm>
            <a:off x="6350406" y="1903320"/>
            <a:ext cx="1325880" cy="2867895"/>
          </a:xfrm>
          <a:prstGeom prst="rect">
            <a:avLst/>
          </a:prstGeom>
          <a:solidFill>
            <a:schemeClr val="bg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bg1"/>
                </a:solidFill>
                <a:latin typeface="方正粗黑宋简体" panose="02000000000000000000" pitchFamily="2" charset="-122"/>
                <a:ea typeface="方正粗黑宋简体" panose="02000000000000000000" pitchFamily="2" charset="-122"/>
              </a:rPr>
              <a:t> </a:t>
            </a:r>
            <a:endParaRPr lang="zh-CN" altLang="en-US" sz="2400">
              <a:solidFill>
                <a:schemeClr val="bg1"/>
              </a:solidFill>
              <a:latin typeface="方正粗黑宋简体" panose="02000000000000000000" pitchFamily="2" charset="-122"/>
              <a:ea typeface="方正粗黑宋简体" panose="02000000000000000000" pitchFamily="2" charset="-122"/>
            </a:endParaRPr>
          </a:p>
        </p:txBody>
      </p:sp>
      <p:sp>
        <p:nvSpPr>
          <p:cNvPr id="81" name="矩形 80"/>
          <p:cNvSpPr/>
          <p:nvPr/>
        </p:nvSpPr>
        <p:spPr>
          <a:xfrm>
            <a:off x="6350404" y="2253636"/>
            <a:ext cx="1325879" cy="350316"/>
          </a:xfrm>
          <a:prstGeom prst="rect">
            <a:avLst/>
          </a:prstGeom>
          <a:solidFill>
            <a:srgbClr val="08054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1</a:t>
            </a:r>
            <a:r>
              <a:rPr lang="en-US" altLang="zh-CN" sz="1400" b="1">
                <a:solidFill>
                  <a:schemeClr val="bg1"/>
                </a:solidFill>
              </a:rPr>
              <a:t>-page</a:t>
            </a:r>
            <a:endParaRPr lang="zh-CN" altLang="en-US" sz="1400" b="1">
              <a:solidFill>
                <a:schemeClr val="bg1"/>
              </a:solidFill>
            </a:endParaRPr>
          </a:p>
        </p:txBody>
      </p:sp>
      <p:sp>
        <p:nvSpPr>
          <p:cNvPr id="82" name="矩形 81"/>
          <p:cNvSpPr/>
          <p:nvPr/>
        </p:nvSpPr>
        <p:spPr>
          <a:xfrm>
            <a:off x="6350404" y="2943544"/>
            <a:ext cx="1325879" cy="350316"/>
          </a:xfrm>
          <a:prstGeom prst="rect">
            <a:avLst/>
          </a:prstGeom>
          <a:solidFill>
            <a:srgbClr val="08054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1</a:t>
            </a:r>
            <a:r>
              <a:rPr lang="en-US" altLang="zh-CN" sz="1400" b="1">
                <a:solidFill>
                  <a:schemeClr val="bg1"/>
                </a:solidFill>
              </a:rPr>
              <a:t>-page</a:t>
            </a:r>
            <a:endParaRPr lang="zh-CN" altLang="en-US" sz="1400" b="1">
              <a:solidFill>
                <a:schemeClr val="bg1"/>
              </a:solidFill>
            </a:endParaRPr>
          </a:p>
        </p:txBody>
      </p:sp>
      <p:sp>
        <p:nvSpPr>
          <p:cNvPr id="83" name="矩形 82"/>
          <p:cNvSpPr/>
          <p:nvPr/>
        </p:nvSpPr>
        <p:spPr>
          <a:xfrm>
            <a:off x="6350404" y="3293860"/>
            <a:ext cx="1325879" cy="350316"/>
          </a:xfrm>
          <a:prstGeom prst="rect">
            <a:avLst/>
          </a:prstGeom>
          <a:solidFill>
            <a:srgbClr val="51237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2</a:t>
            </a:r>
            <a:r>
              <a:rPr lang="en-US" altLang="zh-CN" sz="1400" b="1">
                <a:solidFill>
                  <a:schemeClr val="bg1"/>
                </a:solidFill>
              </a:rPr>
              <a:t>-page</a:t>
            </a:r>
            <a:endParaRPr lang="zh-CN" altLang="en-US" sz="1400" b="1">
              <a:solidFill>
                <a:schemeClr val="bg1"/>
              </a:solidFill>
            </a:endParaRPr>
          </a:p>
        </p:txBody>
      </p:sp>
      <p:sp>
        <p:nvSpPr>
          <p:cNvPr id="84" name="矩形 83"/>
          <p:cNvSpPr/>
          <p:nvPr/>
        </p:nvSpPr>
        <p:spPr>
          <a:xfrm>
            <a:off x="6350404" y="3638861"/>
            <a:ext cx="1325879" cy="350316"/>
          </a:xfrm>
          <a:prstGeom prst="rect">
            <a:avLst/>
          </a:prstGeom>
          <a:solidFill>
            <a:srgbClr val="51237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2</a:t>
            </a:r>
            <a:r>
              <a:rPr lang="en-US" altLang="zh-CN" sz="1400" b="1">
                <a:solidFill>
                  <a:schemeClr val="bg1"/>
                </a:solidFill>
              </a:rPr>
              <a:t>-page</a:t>
            </a:r>
            <a:endParaRPr lang="zh-CN" altLang="en-US" sz="1400" b="1">
              <a:solidFill>
                <a:schemeClr val="bg1"/>
              </a:solidFill>
            </a:endParaRPr>
          </a:p>
        </p:txBody>
      </p:sp>
      <p:sp>
        <p:nvSpPr>
          <p:cNvPr id="85" name="矩形 84"/>
          <p:cNvSpPr/>
          <p:nvPr/>
        </p:nvSpPr>
        <p:spPr>
          <a:xfrm>
            <a:off x="6350403" y="3952663"/>
            <a:ext cx="1325879" cy="350316"/>
          </a:xfrm>
          <a:prstGeom prst="rect">
            <a:avLst/>
          </a:prstGeom>
          <a:solidFill>
            <a:srgbClr val="51237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2</a:t>
            </a:r>
            <a:r>
              <a:rPr lang="en-US" altLang="zh-CN" sz="1400" b="1">
                <a:solidFill>
                  <a:schemeClr val="bg1"/>
                </a:solidFill>
              </a:rPr>
              <a:t>-page</a:t>
            </a:r>
            <a:endParaRPr lang="zh-CN" altLang="en-US" sz="1400" b="1">
              <a:solidFill>
                <a:schemeClr val="bg1"/>
              </a:solidFill>
            </a:endParaRPr>
          </a:p>
        </p:txBody>
      </p:sp>
      <p:sp>
        <p:nvSpPr>
          <p:cNvPr id="86" name="矩形 85"/>
          <p:cNvSpPr/>
          <p:nvPr/>
        </p:nvSpPr>
        <p:spPr>
          <a:xfrm>
            <a:off x="6350403" y="4292255"/>
            <a:ext cx="1325879" cy="350316"/>
          </a:xfrm>
          <a:prstGeom prst="rect">
            <a:avLst/>
          </a:prstGeom>
          <a:solidFill>
            <a:srgbClr val="512373"/>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solidFill>
                  <a:schemeClr val="bg1"/>
                </a:solidFill>
              </a:rPr>
              <a:t>P</a:t>
            </a:r>
            <a:r>
              <a:rPr lang="en-US" altLang="zh-CN" sz="1200" b="1">
                <a:solidFill>
                  <a:schemeClr val="bg1"/>
                </a:solidFill>
              </a:rPr>
              <a:t>2</a:t>
            </a:r>
            <a:r>
              <a:rPr lang="en-US" altLang="zh-CN" sz="1400" b="1">
                <a:solidFill>
                  <a:schemeClr val="bg1"/>
                </a:solidFill>
              </a:rPr>
              <a:t>-page</a:t>
            </a:r>
            <a:endParaRPr lang="zh-CN" altLang="en-US" sz="1400" b="1">
              <a:solidFill>
                <a:schemeClr val="bg1"/>
              </a:solidFill>
            </a:endParaRPr>
          </a:p>
        </p:txBody>
      </p:sp>
      <p:sp>
        <p:nvSpPr>
          <p:cNvPr id="87" name="矩形 86"/>
          <p:cNvSpPr/>
          <p:nvPr/>
        </p:nvSpPr>
        <p:spPr>
          <a:xfrm>
            <a:off x="6350403" y="4657621"/>
            <a:ext cx="1325879" cy="350316"/>
          </a:xfrm>
          <a:prstGeom prst="rect">
            <a:avLst/>
          </a:prstGeom>
          <a:solidFill>
            <a:schemeClr val="tx2">
              <a:lumMod val="75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bg1"/>
                </a:solidFill>
              </a:rPr>
              <a:t>已占用</a:t>
            </a:r>
            <a:endParaRPr lang="zh-CN" altLang="en-US" sz="1400" b="1">
              <a:solidFill>
                <a:schemeClr val="bg1"/>
              </a:solidFill>
            </a:endParaRPr>
          </a:p>
        </p:txBody>
      </p:sp>
      <p:sp>
        <p:nvSpPr>
          <p:cNvPr id="88" name="文本框 87"/>
          <p:cNvSpPr txBox="1"/>
          <p:nvPr/>
        </p:nvSpPr>
        <p:spPr>
          <a:xfrm>
            <a:off x="2441644" y="2455292"/>
            <a:ext cx="1122423" cy="584775"/>
          </a:xfrm>
          <a:prstGeom prst="rect">
            <a:avLst/>
          </a:prstGeom>
          <a:noFill/>
        </p:spPr>
        <p:txBody>
          <a:bodyPr wrap="none" rtlCol="0">
            <a:spAutoFit/>
          </a:bodyPr>
          <a:lstStyle/>
          <a:p>
            <a:r>
              <a:rPr lang="zh-CN" altLang="en-US" sz="3200" dirty="0">
                <a:latin typeface="方正粗黑宋简体" panose="02000000000000000000" pitchFamily="2" charset="-122"/>
                <a:ea typeface="方正粗黑宋简体" panose="02000000000000000000" pitchFamily="2" charset="-122"/>
              </a:rPr>
              <a:t>硬 盘</a:t>
            </a:r>
            <a:endParaRPr lang="zh-CN" altLang="en-US" sz="3200" dirty="0">
              <a:latin typeface="方正粗黑宋简体" panose="02000000000000000000" pitchFamily="2" charset="-122"/>
              <a:ea typeface="方正粗黑宋简体" panose="02000000000000000000" pitchFamily="2" charset="-122"/>
            </a:endParaRPr>
          </a:p>
        </p:txBody>
      </p:sp>
      <p:sp>
        <p:nvSpPr>
          <p:cNvPr id="89" name="右大括号 88"/>
          <p:cNvSpPr/>
          <p:nvPr/>
        </p:nvSpPr>
        <p:spPr>
          <a:xfrm>
            <a:off x="7787753" y="1903320"/>
            <a:ext cx="222943" cy="1368609"/>
          </a:xfrm>
          <a:prstGeom prst="rightBrac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90" name="文本框 89"/>
          <p:cNvSpPr txBox="1"/>
          <p:nvPr/>
        </p:nvSpPr>
        <p:spPr>
          <a:xfrm>
            <a:off x="8218170" y="2428794"/>
            <a:ext cx="909223" cy="369332"/>
          </a:xfrm>
          <a:prstGeom prst="rect">
            <a:avLst/>
          </a:prstGeom>
          <a:noFill/>
        </p:spPr>
        <p:txBody>
          <a:bodyPr wrap="none" rtlCol="0">
            <a:spAutoFit/>
          </a:bodyPr>
          <a:lstStyle/>
          <a:p>
            <a:r>
              <a:rPr lang="zh-CN" altLang="en-US" b="1" dirty="0"/>
              <a:t>进程</a:t>
            </a:r>
            <a:r>
              <a:rPr lang="en-US" altLang="zh-CN" b="1" dirty="0"/>
              <a:t>P</a:t>
            </a:r>
            <a:r>
              <a:rPr lang="en-US" altLang="zh-CN" sz="1600" b="1" dirty="0"/>
              <a:t>1</a:t>
            </a:r>
            <a:endParaRPr lang="zh-CN" altLang="en-US" b="1" dirty="0"/>
          </a:p>
        </p:txBody>
      </p:sp>
      <p:sp>
        <p:nvSpPr>
          <p:cNvPr id="91" name="右大括号 90"/>
          <p:cNvSpPr/>
          <p:nvPr/>
        </p:nvSpPr>
        <p:spPr>
          <a:xfrm>
            <a:off x="7763155" y="3304872"/>
            <a:ext cx="222943" cy="1368609"/>
          </a:xfrm>
          <a:prstGeom prst="rightBrace">
            <a:avLst/>
          </a:prstGeom>
          <a:ln w="190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92" name="文本框 91"/>
          <p:cNvSpPr txBox="1"/>
          <p:nvPr/>
        </p:nvSpPr>
        <p:spPr>
          <a:xfrm>
            <a:off x="8159282" y="3830346"/>
            <a:ext cx="909223" cy="369332"/>
          </a:xfrm>
          <a:prstGeom prst="rect">
            <a:avLst/>
          </a:prstGeom>
          <a:noFill/>
        </p:spPr>
        <p:txBody>
          <a:bodyPr wrap="none" rtlCol="0">
            <a:spAutoFit/>
          </a:bodyPr>
          <a:lstStyle/>
          <a:p>
            <a:r>
              <a:rPr lang="zh-CN" altLang="en-US" b="1"/>
              <a:t>进程</a:t>
            </a:r>
            <a:r>
              <a:rPr lang="en-US" altLang="zh-CN" b="1"/>
              <a:t>P</a:t>
            </a:r>
            <a:r>
              <a:rPr lang="en-US" altLang="zh-CN" sz="1600" b="1"/>
              <a:t>2</a:t>
            </a:r>
            <a:endParaRPr lang="zh-CN" altLang="en-US" b="1"/>
          </a:p>
        </p:txBody>
      </p:sp>
      <p:cxnSp>
        <p:nvCxnSpPr>
          <p:cNvPr id="93" name="直接箭头连接符 92"/>
          <p:cNvCxnSpPr/>
          <p:nvPr/>
        </p:nvCxnSpPr>
        <p:spPr>
          <a:xfrm flipV="1">
            <a:off x="1966324" y="2151862"/>
            <a:ext cx="4340645" cy="1594678"/>
          </a:xfrm>
          <a:prstGeom prst="straightConnector1">
            <a:avLst/>
          </a:prstGeom>
          <a:ln w="50800">
            <a:solidFill>
              <a:srgbClr val="FF0000"/>
            </a:solidFill>
            <a:tailEnd type="triangle"/>
          </a:ln>
        </p:spPr>
        <p:style>
          <a:lnRef idx="1">
            <a:schemeClr val="accent4"/>
          </a:lnRef>
          <a:fillRef idx="0">
            <a:schemeClr val="accent4"/>
          </a:fillRef>
          <a:effectRef idx="0">
            <a:schemeClr val="accent4"/>
          </a:effectRef>
          <a:fontRef idx="minor">
            <a:schemeClr val="tx1"/>
          </a:fontRef>
        </p:style>
      </p:cxnSp>
      <p:cxnSp>
        <p:nvCxnSpPr>
          <p:cNvPr id="94" name="直接箭头连接符 93"/>
          <p:cNvCxnSpPr/>
          <p:nvPr/>
        </p:nvCxnSpPr>
        <p:spPr>
          <a:xfrm flipV="1">
            <a:off x="2322656" y="2768386"/>
            <a:ext cx="4027748" cy="984264"/>
          </a:xfrm>
          <a:prstGeom prst="straightConnector1">
            <a:avLst/>
          </a:prstGeom>
          <a:ln w="50800">
            <a:solidFill>
              <a:srgbClr val="FF0000"/>
            </a:solidFill>
            <a:tailEnd type="triangle"/>
          </a:ln>
        </p:spPr>
        <p:style>
          <a:lnRef idx="1">
            <a:schemeClr val="accent4"/>
          </a:lnRef>
          <a:fillRef idx="0">
            <a:schemeClr val="accent4"/>
          </a:fillRef>
          <a:effectRef idx="0">
            <a:schemeClr val="accent4"/>
          </a:effectRef>
          <a:fontRef idx="minor">
            <a:schemeClr val="tx1"/>
          </a:fontRef>
        </p:style>
      </p:cxnSp>
      <p:sp>
        <p:nvSpPr>
          <p:cNvPr id="95" name="矩形 94"/>
          <p:cNvSpPr/>
          <p:nvPr/>
        </p:nvSpPr>
        <p:spPr>
          <a:xfrm>
            <a:off x="3772513" y="3756005"/>
            <a:ext cx="285750" cy="297180"/>
          </a:xfrm>
          <a:prstGeom prst="rect">
            <a:avLst/>
          </a:prstGeom>
          <a:solidFill>
            <a:srgbClr val="08054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6" name="矩形 95"/>
          <p:cNvSpPr/>
          <p:nvPr/>
        </p:nvSpPr>
        <p:spPr>
          <a:xfrm>
            <a:off x="4155000" y="3761621"/>
            <a:ext cx="285750" cy="297180"/>
          </a:xfrm>
          <a:prstGeom prst="rect">
            <a:avLst/>
          </a:prstGeom>
          <a:solidFill>
            <a:srgbClr val="08054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7" name="矩形 96"/>
          <p:cNvSpPr/>
          <p:nvPr/>
        </p:nvSpPr>
        <p:spPr>
          <a:xfrm>
            <a:off x="6354444" y="1912785"/>
            <a:ext cx="1325879" cy="350316"/>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P</a:t>
            </a:r>
            <a:r>
              <a:rPr lang="en-US" altLang="zh-CN" sz="1200" b="1" dirty="0">
                <a:solidFill>
                  <a:schemeClr val="tx1"/>
                </a:solidFill>
              </a:rPr>
              <a:t>1</a:t>
            </a:r>
            <a:r>
              <a:rPr lang="en-US" altLang="zh-CN" sz="1400" b="1" dirty="0">
                <a:solidFill>
                  <a:schemeClr val="tx1"/>
                </a:solidFill>
              </a:rPr>
              <a:t>-page</a:t>
            </a:r>
            <a:endParaRPr lang="zh-CN" altLang="en-US" sz="1400" b="1" dirty="0">
              <a:solidFill>
                <a:schemeClr val="tx1"/>
              </a:solidFill>
            </a:endParaRPr>
          </a:p>
        </p:txBody>
      </p:sp>
      <p:sp>
        <p:nvSpPr>
          <p:cNvPr id="98" name="矩形 97"/>
          <p:cNvSpPr/>
          <p:nvPr/>
        </p:nvSpPr>
        <p:spPr>
          <a:xfrm>
            <a:off x="6354444" y="2602693"/>
            <a:ext cx="1325879" cy="350316"/>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rPr>
              <a:t>P</a:t>
            </a:r>
            <a:r>
              <a:rPr lang="en-US" altLang="zh-CN" sz="1200" b="1" dirty="0">
                <a:solidFill>
                  <a:schemeClr val="tx1"/>
                </a:solidFill>
              </a:rPr>
              <a:t>1</a:t>
            </a:r>
            <a:r>
              <a:rPr lang="en-US" altLang="zh-CN" sz="1400" b="1" dirty="0">
                <a:solidFill>
                  <a:schemeClr val="tx1"/>
                </a:solidFill>
              </a:rPr>
              <a:t>-page</a:t>
            </a:r>
            <a:endParaRPr lang="zh-CN" altLang="en-US" sz="1400" b="1" dirty="0">
              <a:solidFill>
                <a:schemeClr val="tx1"/>
              </a:solidFill>
            </a:endParaRPr>
          </a:p>
        </p:txBody>
      </p:sp>
      <p:sp>
        <p:nvSpPr>
          <p:cNvPr id="99" name="文本框 98"/>
          <p:cNvSpPr txBox="1"/>
          <p:nvPr/>
        </p:nvSpPr>
        <p:spPr>
          <a:xfrm>
            <a:off x="6807002" y="1094651"/>
            <a:ext cx="646331" cy="369332"/>
          </a:xfrm>
          <a:prstGeom prst="rect">
            <a:avLst/>
          </a:prstGeom>
          <a:noFill/>
        </p:spPr>
        <p:txBody>
          <a:bodyPr wrap="none" rtlCol="0">
            <a:spAutoFit/>
          </a:bodyPr>
          <a:lstStyle/>
          <a:p>
            <a:r>
              <a:rPr lang="zh-CN" altLang="en-US">
                <a:latin typeface="方正粗黑宋简体" panose="02000000000000000000" pitchFamily="2" charset="-122"/>
                <a:ea typeface="方正粗黑宋简体" panose="02000000000000000000" pitchFamily="2" charset="-122"/>
              </a:rPr>
              <a:t>内存</a:t>
            </a:r>
            <a:endParaRPr lang="zh-CN" altLang="en-US">
              <a:latin typeface="方正粗黑宋简体" panose="02000000000000000000" pitchFamily="2" charset="-122"/>
              <a:ea typeface="方正粗黑宋简体" panose="020000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3"/>
                                        </p:tgtEl>
                                        <p:attrNameLst>
                                          <p:attrName>style.visibility</p:attrName>
                                        </p:attrNameLst>
                                      </p:cBhvr>
                                      <p:to>
                                        <p:strVal val="visible"/>
                                      </p:to>
                                    </p:set>
                                    <p:anim calcmode="lin" valueType="num">
                                      <p:cBhvr>
                                        <p:cTn id="7" dur="500" fill="hold"/>
                                        <p:tgtEl>
                                          <p:spTgt spid="93"/>
                                        </p:tgtEl>
                                        <p:attrNameLst>
                                          <p:attrName>ppt_w</p:attrName>
                                        </p:attrNameLst>
                                      </p:cBhvr>
                                      <p:tavLst>
                                        <p:tav tm="0">
                                          <p:val>
                                            <p:fltVal val="0"/>
                                          </p:val>
                                        </p:tav>
                                        <p:tav tm="100000">
                                          <p:val>
                                            <p:strVal val="#ppt_w"/>
                                          </p:val>
                                        </p:tav>
                                      </p:tavLst>
                                    </p:anim>
                                    <p:anim calcmode="lin" valueType="num">
                                      <p:cBhvr>
                                        <p:cTn id="8" dur="500" fill="hold"/>
                                        <p:tgtEl>
                                          <p:spTgt spid="93"/>
                                        </p:tgtEl>
                                        <p:attrNameLst>
                                          <p:attrName>ppt_h</p:attrName>
                                        </p:attrNameLst>
                                      </p:cBhvr>
                                      <p:tavLst>
                                        <p:tav tm="0">
                                          <p:val>
                                            <p:fltVal val="0"/>
                                          </p:val>
                                        </p:tav>
                                        <p:tav tm="100000">
                                          <p:val>
                                            <p:strVal val="#ppt_h"/>
                                          </p:val>
                                        </p:tav>
                                      </p:tavLst>
                                    </p:anim>
                                    <p:animEffect transition="in" filter="fade">
                                      <p:cBhvr>
                                        <p:cTn id="9" dur="500"/>
                                        <p:tgtEl>
                                          <p:spTgt spid="93"/>
                                        </p:tgtEl>
                                      </p:cBhvr>
                                    </p:animEffect>
                                  </p:childTnLst>
                                </p:cTn>
                              </p:par>
                            </p:childTnLst>
                          </p:cTn>
                        </p:par>
                        <p:par>
                          <p:cTn id="10" fill="hold">
                            <p:stCondLst>
                              <p:cond delay="500"/>
                            </p:stCondLst>
                            <p:childTnLst>
                              <p:par>
                                <p:cTn id="11" presetID="1" presetClass="entr" presetSubtype="0" fill="hold" grpId="0" nodeType="afterEffect">
                                  <p:stCondLst>
                                    <p:cond delay="250"/>
                                  </p:stCondLst>
                                  <p:childTnLst>
                                    <p:set>
                                      <p:cBhvr>
                                        <p:cTn id="12" dur="1" fill="hold">
                                          <p:stCondLst>
                                            <p:cond delay="0"/>
                                          </p:stCondLst>
                                        </p:cTn>
                                        <p:tgtEl>
                                          <p:spTgt spid="97"/>
                                        </p:tgtEl>
                                        <p:attrNameLst>
                                          <p:attrName>style.visibility</p:attrName>
                                        </p:attrNameLst>
                                      </p:cBhvr>
                                      <p:to>
                                        <p:strVal val="visible"/>
                                      </p:to>
                                    </p:set>
                                  </p:childTnLst>
                                </p:cTn>
                              </p:par>
                            </p:childTnLst>
                          </p:cTn>
                        </p:par>
                        <p:par>
                          <p:cTn id="13" fill="hold">
                            <p:stCondLst>
                              <p:cond delay="750"/>
                            </p:stCondLst>
                            <p:childTnLst>
                              <p:par>
                                <p:cTn id="14" presetID="53" presetClass="entr" presetSubtype="16" fill="hold" nodeType="afterEffect">
                                  <p:stCondLst>
                                    <p:cond delay="250"/>
                                  </p:stCondLst>
                                  <p:childTnLst>
                                    <p:set>
                                      <p:cBhvr>
                                        <p:cTn id="15" dur="1" fill="hold">
                                          <p:stCondLst>
                                            <p:cond delay="0"/>
                                          </p:stCondLst>
                                        </p:cTn>
                                        <p:tgtEl>
                                          <p:spTgt spid="94"/>
                                        </p:tgtEl>
                                        <p:attrNameLst>
                                          <p:attrName>style.visibility</p:attrName>
                                        </p:attrNameLst>
                                      </p:cBhvr>
                                      <p:to>
                                        <p:strVal val="visible"/>
                                      </p:to>
                                    </p:set>
                                    <p:anim calcmode="lin" valueType="num">
                                      <p:cBhvr>
                                        <p:cTn id="16" dur="500" fill="hold"/>
                                        <p:tgtEl>
                                          <p:spTgt spid="94"/>
                                        </p:tgtEl>
                                        <p:attrNameLst>
                                          <p:attrName>ppt_w</p:attrName>
                                        </p:attrNameLst>
                                      </p:cBhvr>
                                      <p:tavLst>
                                        <p:tav tm="0">
                                          <p:val>
                                            <p:fltVal val="0"/>
                                          </p:val>
                                        </p:tav>
                                        <p:tav tm="100000">
                                          <p:val>
                                            <p:strVal val="#ppt_w"/>
                                          </p:val>
                                        </p:tav>
                                      </p:tavLst>
                                    </p:anim>
                                    <p:anim calcmode="lin" valueType="num">
                                      <p:cBhvr>
                                        <p:cTn id="17" dur="500" fill="hold"/>
                                        <p:tgtEl>
                                          <p:spTgt spid="94"/>
                                        </p:tgtEl>
                                        <p:attrNameLst>
                                          <p:attrName>ppt_h</p:attrName>
                                        </p:attrNameLst>
                                      </p:cBhvr>
                                      <p:tavLst>
                                        <p:tav tm="0">
                                          <p:val>
                                            <p:fltVal val="0"/>
                                          </p:val>
                                        </p:tav>
                                        <p:tav tm="100000">
                                          <p:val>
                                            <p:strVal val="#ppt_h"/>
                                          </p:val>
                                        </p:tav>
                                      </p:tavLst>
                                    </p:anim>
                                    <p:animEffect transition="in" filter="fade">
                                      <p:cBhvr>
                                        <p:cTn id="18" dur="500"/>
                                        <p:tgtEl>
                                          <p:spTgt spid="94"/>
                                        </p:tgtEl>
                                      </p:cBhvr>
                                    </p:animEffect>
                                  </p:childTnLst>
                                </p:cTn>
                              </p:par>
                            </p:childTnLst>
                          </p:cTn>
                        </p:par>
                        <p:par>
                          <p:cTn id="19" fill="hold">
                            <p:stCondLst>
                              <p:cond delay="1500"/>
                            </p:stCondLst>
                            <p:childTnLst>
                              <p:par>
                                <p:cTn id="20" presetID="1" presetClass="entr" presetSubtype="0" fill="hold" grpId="0" nodeType="afterEffect">
                                  <p:stCondLst>
                                    <p:cond delay="250"/>
                                  </p:stCondLst>
                                  <p:childTnLst>
                                    <p:set>
                                      <p:cBhvr>
                                        <p:cTn id="21"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bldLvl="0" animBg="1"/>
      <p:bldP spid="98"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矩形 1"/>
          <p:cNvSpPr/>
          <p:nvPr/>
        </p:nvSpPr>
        <p:spPr>
          <a:xfrm>
            <a:off x="1209310" y="1125023"/>
            <a:ext cx="2505710" cy="398780"/>
          </a:xfrm>
          <a:prstGeom prst="rect">
            <a:avLst/>
          </a:prstGeom>
        </p:spPr>
        <p:txBody>
          <a:bodyPr wrap="non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rPr>
              <a:t>请求分页储存管理</a:t>
            </a:r>
            <a:endParaRPr lang="zh-CN" altLang="zh-CN" sz="2000" b="1" dirty="0">
              <a:solidFill>
                <a:srgbClr val="6C0000"/>
              </a:solidFill>
              <a:latin typeface="华文行楷" panose="02010800040101010101" charset="-122"/>
              <a:ea typeface="华文行楷" panose="02010800040101010101" charset="-122"/>
            </a:endParaRPr>
          </a:p>
        </p:txBody>
      </p:sp>
      <p:sp>
        <p:nvSpPr>
          <p:cNvPr id="7" name="矩形 6"/>
          <p:cNvSpPr/>
          <p:nvPr/>
        </p:nvSpPr>
        <p:spPr>
          <a:xfrm>
            <a:off x="1338449" y="1657779"/>
            <a:ext cx="9634351" cy="1200329"/>
          </a:xfrm>
          <a:prstGeom prst="rect">
            <a:avLst/>
          </a:prstGeom>
        </p:spPr>
        <p:txBody>
          <a:bodyPr wrap="square">
            <a:spAutoFit/>
          </a:bodyPr>
          <a:lstStyle/>
          <a:p>
            <a:r>
              <a:rPr lang="zh-CN" altLang="zh-CN" b="1" kern="0" dirty="0">
                <a:solidFill>
                  <a:srgbClr val="000000"/>
                </a:solidFill>
                <a:latin typeface="等线" panose="02010600030101010101" pitchFamily="2" charset="-122"/>
                <a:ea typeface="等线" panose="02010600030101010101" pitchFamily="2" charset="-122"/>
                <a:cs typeface="Arial" panose="020B0604020202020204" pitchFamily="34" charset="0"/>
              </a:rPr>
              <a:t>在进程开始运行之前，仅装入当前要执行的部分页面即可运行；</a:t>
            </a:r>
            <a:r>
              <a:rPr lang="zh-CN"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在执行过程中，如果所要访问的页面已调入内存，则进行地址转换，得到欲访问的内存物理地址，如果不在内存中，则产生一个“缺页中断”。如果此时内存能容纳新页，则启动磁盘</a:t>
            </a:r>
            <a:r>
              <a:rPr lang="en-US"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I/O</a:t>
            </a:r>
            <a:r>
              <a:rPr lang="zh-CN"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将其调入内存，如果内存已满，则通过页面置换功能将当前所需的页面调入。</a:t>
            </a:r>
            <a:endParaRPr lang="zh-CN" altLang="en-US" b="1" dirty="0">
              <a:latin typeface="等线" panose="02010600030101010101" pitchFamily="2" charset="-122"/>
              <a:ea typeface="等线" panose="02010600030101010101" pitchFamily="2" charset="-122"/>
            </a:endParaRPr>
          </a:p>
        </p:txBody>
      </p:sp>
      <p:pic>
        <p:nvPicPr>
          <p:cNvPr id="14" name="图片 13"/>
          <p:cNvPicPr>
            <a:picLocks noChangeAspect="1"/>
          </p:cNvPicPr>
          <p:nvPr/>
        </p:nvPicPr>
        <p:blipFill>
          <a:blip r:embed="rId1"/>
          <a:srcRect t="19523" b="34404"/>
          <a:stretch>
            <a:fillRect/>
          </a:stretch>
        </p:blipFill>
        <p:spPr>
          <a:xfrm>
            <a:off x="1338449" y="2858108"/>
            <a:ext cx="9193131" cy="687179"/>
          </a:xfrm>
          <a:prstGeom prst="rect">
            <a:avLst/>
          </a:prstGeom>
        </p:spPr>
      </p:pic>
      <p:sp>
        <p:nvSpPr>
          <p:cNvPr id="18" name="文本框 17"/>
          <p:cNvSpPr txBox="1"/>
          <p:nvPr/>
        </p:nvSpPr>
        <p:spPr>
          <a:xfrm>
            <a:off x="1494412" y="3868453"/>
            <a:ext cx="9203176" cy="1754326"/>
          </a:xfrm>
          <a:prstGeom prst="rect">
            <a:avLst/>
          </a:prstGeom>
          <a:noFill/>
          <a:ln>
            <a:solidFill>
              <a:schemeClr val="tx1">
                <a:lumMod val="95000"/>
                <a:lumOff val="5000"/>
              </a:schemeClr>
            </a:solidFill>
          </a:ln>
        </p:spPr>
        <p:txBody>
          <a:bodyPr wrap="square">
            <a:spAutoFit/>
          </a:bodyPr>
          <a:lstStyle/>
          <a:p>
            <a:r>
              <a:rPr lang="zh-CN" altLang="en-US" dirty="0"/>
              <a:t>● 页号：指从0开始生成的ID号。</a:t>
            </a:r>
            <a:endParaRPr lang="zh-CN" altLang="en-US" dirty="0"/>
          </a:p>
          <a:p>
            <a:r>
              <a:rPr lang="zh-CN" altLang="en-US" dirty="0"/>
              <a:t>● 页帧号：指出该页在主存中的占用的页帧号。</a:t>
            </a:r>
            <a:endParaRPr lang="zh-CN" altLang="en-US" dirty="0"/>
          </a:p>
          <a:p>
            <a:r>
              <a:rPr lang="zh-CN" altLang="en-US" dirty="0"/>
              <a:t>● 状态位：指出该页是否已经调入主存（通常1表示已调入内存，0表示未调入内存）。</a:t>
            </a:r>
            <a:endParaRPr lang="zh-CN" altLang="en-US" dirty="0"/>
          </a:p>
          <a:p>
            <a:r>
              <a:rPr lang="zh-CN" altLang="en-US" dirty="0"/>
              <a:t>● 访问位：记录该页是否被访问（通常1表示已被访问，0表示未被访问）。</a:t>
            </a:r>
            <a:endParaRPr lang="zh-CN" altLang="en-US" dirty="0"/>
          </a:p>
          <a:p>
            <a:r>
              <a:rPr lang="zh-CN" altLang="en-US" dirty="0"/>
              <a:t>● 修改位：表示该页调入主存后是否被修改（通常1表示已被修改，0表示未被修改） 。</a:t>
            </a:r>
            <a:endParaRPr lang="zh-CN" altLang="en-US" dirty="0"/>
          </a:p>
          <a:p>
            <a:r>
              <a:rPr lang="zh-CN" altLang="en-US" dirty="0"/>
              <a:t>● 辅存地址：该页在磁盘上的地址。</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矩形 2"/>
          <p:cNvSpPr/>
          <p:nvPr/>
        </p:nvSpPr>
        <p:spPr>
          <a:xfrm>
            <a:off x="924491" y="1306934"/>
            <a:ext cx="5011923" cy="475615"/>
          </a:xfrm>
          <a:prstGeom prst="rect">
            <a:avLst/>
          </a:prstGeom>
        </p:spPr>
        <p:txBody>
          <a:bodyPr wrap="square">
            <a:spAutoFit/>
          </a:bodyPr>
          <a:lstStyle/>
          <a:p>
            <a:pPr marL="342900" indent="-342900" algn="just">
              <a:lnSpc>
                <a:spcPct val="125000"/>
              </a:lnSpc>
              <a:buFont typeface="Wingdings" panose="05000000000000000000" charset="0"/>
              <a:buChar char="n"/>
            </a:pPr>
            <a:r>
              <a:rPr lang="zh-CN" altLang="zh-CN" sz="2000" b="1" kern="100" dirty="0">
                <a:solidFill>
                  <a:srgbClr val="660000"/>
                </a:solidFill>
                <a:latin typeface="华文行楷" panose="02010800040101010101" charset="-122"/>
                <a:ea typeface="华文行楷" panose="02010800040101010101" charset="-122"/>
                <a:cs typeface="华文行楷" panose="02010800040101010101" charset="-122"/>
              </a:rPr>
              <a:t>缺页中断机构</a:t>
            </a:r>
            <a:r>
              <a:rPr lang="zh-CN" altLang="en-US" sz="2000" b="1" kern="100" dirty="0">
                <a:solidFill>
                  <a:srgbClr val="660000"/>
                </a:solidFill>
                <a:latin typeface="华文行楷" panose="02010800040101010101" charset="-122"/>
                <a:ea typeface="华文行楷" panose="02010800040101010101" charset="-122"/>
                <a:cs typeface="华文行楷" panose="02010800040101010101" charset="-122"/>
              </a:rPr>
              <a:t>地址变换</a:t>
            </a:r>
            <a:r>
              <a:rPr lang="zh-CN" altLang="zh-CN" sz="2000" b="1" kern="100" dirty="0">
                <a:solidFill>
                  <a:srgbClr val="660000"/>
                </a:solidFill>
                <a:latin typeface="华文行楷" panose="02010800040101010101" charset="-122"/>
                <a:ea typeface="华文行楷" panose="02010800040101010101" charset="-122"/>
                <a:cs typeface="华文行楷" panose="02010800040101010101" charset="-122"/>
              </a:rPr>
              <a:t> </a:t>
            </a:r>
            <a:endParaRPr lang="zh-CN" altLang="zh-CN" sz="2000" b="1" kern="100" dirty="0">
              <a:solidFill>
                <a:srgbClr val="660000"/>
              </a:solidFill>
              <a:latin typeface="华文行楷" panose="02010800040101010101" charset="-122"/>
              <a:ea typeface="华文行楷" panose="02010800040101010101" charset="-122"/>
              <a:cs typeface="华文行楷" panose="02010800040101010101" charset="-122"/>
            </a:endParaRPr>
          </a:p>
        </p:txBody>
      </p:sp>
      <p:grpSp>
        <p:nvGrpSpPr>
          <p:cNvPr id="4" name="组合 3"/>
          <p:cNvGrpSpPr/>
          <p:nvPr/>
        </p:nvGrpSpPr>
        <p:grpSpPr>
          <a:xfrm>
            <a:off x="3544892" y="1103529"/>
            <a:ext cx="7439660" cy="4727575"/>
            <a:chOff x="966" y="1350"/>
            <a:chExt cx="12803" cy="8798"/>
          </a:xfrm>
        </p:grpSpPr>
        <p:sp>
          <p:nvSpPr>
            <p:cNvPr id="5" name="流程图: 终止 4"/>
            <p:cNvSpPr/>
            <p:nvPr/>
          </p:nvSpPr>
          <p:spPr>
            <a:xfrm>
              <a:off x="9643" y="1350"/>
              <a:ext cx="1278" cy="472"/>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开始</a:t>
              </a:r>
              <a:endParaRPr lang="zh-CN" altLang="en-US" sz="1000">
                <a:solidFill>
                  <a:schemeClr val="tx1"/>
                </a:solidFill>
              </a:endParaRPr>
            </a:p>
          </p:txBody>
        </p:sp>
        <p:sp>
          <p:nvSpPr>
            <p:cNvPr id="8" name="矩形 7"/>
            <p:cNvSpPr/>
            <p:nvPr/>
          </p:nvSpPr>
          <p:spPr>
            <a:xfrm>
              <a:off x="9055" y="2142"/>
              <a:ext cx="2596" cy="4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程序请求访问一页</a:t>
              </a:r>
              <a:endParaRPr lang="zh-CN" altLang="en-US" sz="1000">
                <a:solidFill>
                  <a:schemeClr val="tx1"/>
                </a:solidFill>
              </a:endParaRPr>
            </a:p>
          </p:txBody>
        </p:sp>
        <p:cxnSp>
          <p:nvCxnSpPr>
            <p:cNvPr id="9" name="直接箭头连接符 8"/>
            <p:cNvCxnSpPr/>
            <p:nvPr/>
          </p:nvCxnSpPr>
          <p:spPr>
            <a:xfrm>
              <a:off x="10282" y="1859"/>
              <a:ext cx="0" cy="2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流程图: 决策 9"/>
            <p:cNvSpPr/>
            <p:nvPr/>
          </p:nvSpPr>
          <p:spPr>
            <a:xfrm>
              <a:off x="7610" y="3001"/>
              <a:ext cx="5330" cy="780"/>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页号小于页表长度吗？</a:t>
              </a:r>
              <a:endParaRPr lang="zh-CN" altLang="en-US" sz="1000">
                <a:solidFill>
                  <a:schemeClr val="tx1"/>
                </a:solidFill>
              </a:endParaRPr>
            </a:p>
          </p:txBody>
        </p:sp>
        <p:sp>
          <p:nvSpPr>
            <p:cNvPr id="11" name="矩形 10"/>
            <p:cNvSpPr/>
            <p:nvPr/>
          </p:nvSpPr>
          <p:spPr>
            <a:xfrm>
              <a:off x="9342" y="4194"/>
              <a:ext cx="1866" cy="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查询快表</a:t>
              </a:r>
              <a:endParaRPr lang="zh-CN" altLang="en-US" sz="1000">
                <a:solidFill>
                  <a:schemeClr val="tx1"/>
                </a:solidFill>
              </a:endParaRPr>
            </a:p>
          </p:txBody>
        </p:sp>
        <p:cxnSp>
          <p:nvCxnSpPr>
            <p:cNvPr id="15" name="直接箭头连接符 14"/>
            <p:cNvCxnSpPr/>
            <p:nvPr/>
          </p:nvCxnSpPr>
          <p:spPr>
            <a:xfrm flipH="1">
              <a:off x="10311" y="2613"/>
              <a:ext cx="0" cy="3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p:nvPr/>
          </p:nvCxnSpPr>
          <p:spPr>
            <a:xfrm flipH="1">
              <a:off x="10275" y="3791"/>
              <a:ext cx="0" cy="3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流程图: 终止 17"/>
            <p:cNvSpPr/>
            <p:nvPr/>
          </p:nvSpPr>
          <p:spPr>
            <a:xfrm>
              <a:off x="12171" y="4143"/>
              <a:ext cx="1598" cy="507"/>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越界中断</a:t>
              </a:r>
              <a:endParaRPr lang="zh-CN" altLang="en-US" sz="1000">
                <a:solidFill>
                  <a:schemeClr val="tx1"/>
                </a:solidFill>
              </a:endParaRPr>
            </a:p>
          </p:txBody>
        </p:sp>
        <p:sp>
          <p:nvSpPr>
            <p:cNvPr id="19" name="流程图: 决策 18"/>
            <p:cNvSpPr/>
            <p:nvPr/>
          </p:nvSpPr>
          <p:spPr>
            <a:xfrm>
              <a:off x="7689" y="5040"/>
              <a:ext cx="5171" cy="752"/>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页表项在快表中吗？</a:t>
              </a:r>
              <a:endParaRPr lang="zh-CN" altLang="en-US" sz="1000">
                <a:solidFill>
                  <a:schemeClr val="tx1"/>
                </a:solidFill>
              </a:endParaRPr>
            </a:p>
          </p:txBody>
        </p:sp>
        <p:sp>
          <p:nvSpPr>
            <p:cNvPr id="20" name="文本框 19"/>
            <p:cNvSpPr txBox="1"/>
            <p:nvPr/>
          </p:nvSpPr>
          <p:spPr>
            <a:xfrm>
              <a:off x="10353" y="3792"/>
              <a:ext cx="528" cy="456"/>
            </a:xfrm>
            <a:prstGeom prst="rect">
              <a:avLst/>
            </a:prstGeom>
            <a:noFill/>
          </p:spPr>
          <p:txBody>
            <a:bodyPr wrap="square" rtlCol="0">
              <a:spAutoFit/>
            </a:bodyPr>
            <a:lstStyle/>
            <a:p>
              <a:r>
                <a:rPr lang="zh-CN" altLang="en-US" sz="1000"/>
                <a:t>是</a:t>
              </a:r>
              <a:endParaRPr lang="zh-CN" altLang="en-US" sz="1000"/>
            </a:p>
          </p:txBody>
        </p:sp>
        <p:sp>
          <p:nvSpPr>
            <p:cNvPr id="21" name="文本框 20"/>
            <p:cNvSpPr txBox="1"/>
            <p:nvPr/>
          </p:nvSpPr>
          <p:spPr>
            <a:xfrm>
              <a:off x="10485" y="5723"/>
              <a:ext cx="528" cy="456"/>
            </a:xfrm>
            <a:prstGeom prst="rect">
              <a:avLst/>
            </a:prstGeom>
            <a:noFill/>
          </p:spPr>
          <p:txBody>
            <a:bodyPr wrap="square" rtlCol="0">
              <a:spAutoFit/>
            </a:bodyPr>
            <a:lstStyle/>
            <a:p>
              <a:r>
                <a:rPr lang="zh-CN" altLang="en-US" sz="1000"/>
                <a:t>否</a:t>
              </a:r>
              <a:endParaRPr lang="zh-CN" altLang="en-US" sz="1000"/>
            </a:p>
          </p:txBody>
        </p:sp>
        <p:cxnSp>
          <p:nvCxnSpPr>
            <p:cNvPr id="22" name="直接箭头连接符 21"/>
            <p:cNvCxnSpPr/>
            <p:nvPr/>
          </p:nvCxnSpPr>
          <p:spPr>
            <a:xfrm>
              <a:off x="12940" y="3423"/>
              <a:ext cx="0" cy="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文本框 22"/>
            <p:cNvSpPr txBox="1"/>
            <p:nvPr/>
          </p:nvSpPr>
          <p:spPr>
            <a:xfrm>
              <a:off x="12940" y="3611"/>
              <a:ext cx="528" cy="456"/>
            </a:xfrm>
            <a:prstGeom prst="rect">
              <a:avLst/>
            </a:prstGeom>
            <a:noFill/>
          </p:spPr>
          <p:txBody>
            <a:bodyPr wrap="square" rtlCol="0">
              <a:spAutoFit/>
            </a:bodyPr>
            <a:lstStyle/>
            <a:p>
              <a:r>
                <a:rPr lang="zh-CN" altLang="en-US" sz="1000"/>
                <a:t>否</a:t>
              </a:r>
              <a:endParaRPr lang="zh-CN" altLang="en-US" sz="1000"/>
            </a:p>
          </p:txBody>
        </p:sp>
        <p:sp>
          <p:nvSpPr>
            <p:cNvPr id="24" name="矩形 23"/>
            <p:cNvSpPr/>
            <p:nvPr/>
          </p:nvSpPr>
          <p:spPr>
            <a:xfrm>
              <a:off x="9350" y="6117"/>
              <a:ext cx="1866" cy="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查询页表</a:t>
              </a:r>
              <a:endParaRPr lang="zh-CN" altLang="en-US" sz="1000">
                <a:solidFill>
                  <a:schemeClr val="tx1"/>
                </a:solidFill>
              </a:endParaRPr>
            </a:p>
          </p:txBody>
        </p:sp>
        <p:sp>
          <p:nvSpPr>
            <p:cNvPr id="25" name="流程图: 决策 24"/>
            <p:cNvSpPr/>
            <p:nvPr/>
          </p:nvSpPr>
          <p:spPr>
            <a:xfrm>
              <a:off x="8437" y="6911"/>
              <a:ext cx="3853" cy="752"/>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页在内存中吗？</a:t>
              </a:r>
              <a:endParaRPr lang="zh-CN" altLang="en-US" sz="1000">
                <a:solidFill>
                  <a:schemeClr val="tx1"/>
                </a:solidFill>
              </a:endParaRPr>
            </a:p>
          </p:txBody>
        </p:sp>
        <p:cxnSp>
          <p:nvCxnSpPr>
            <p:cNvPr id="26" name="直接箭头连接符 25"/>
            <p:cNvCxnSpPr/>
            <p:nvPr/>
          </p:nvCxnSpPr>
          <p:spPr>
            <a:xfrm flipH="1">
              <a:off x="10342" y="5823"/>
              <a:ext cx="0" cy="2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矩形 26"/>
            <p:cNvSpPr/>
            <p:nvPr/>
          </p:nvSpPr>
          <p:spPr>
            <a:xfrm>
              <a:off x="9440" y="7941"/>
              <a:ext cx="1866" cy="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修改快表</a:t>
              </a:r>
              <a:endParaRPr lang="zh-CN" altLang="en-US" sz="1000">
                <a:solidFill>
                  <a:schemeClr val="tx1"/>
                </a:solidFill>
              </a:endParaRPr>
            </a:p>
          </p:txBody>
        </p:sp>
        <p:sp>
          <p:nvSpPr>
            <p:cNvPr id="28" name="矩形 27"/>
            <p:cNvSpPr/>
            <p:nvPr/>
          </p:nvSpPr>
          <p:spPr>
            <a:xfrm>
              <a:off x="8740" y="8751"/>
              <a:ext cx="3616" cy="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修改页表的访问位或修改位</a:t>
              </a:r>
              <a:endParaRPr lang="zh-CN" altLang="en-US" sz="1000">
                <a:solidFill>
                  <a:schemeClr val="tx1"/>
                </a:solidFill>
              </a:endParaRPr>
            </a:p>
          </p:txBody>
        </p:sp>
        <p:sp>
          <p:nvSpPr>
            <p:cNvPr id="29" name="流程图: 终止 28"/>
            <p:cNvSpPr/>
            <p:nvPr/>
          </p:nvSpPr>
          <p:spPr>
            <a:xfrm>
              <a:off x="9245" y="9561"/>
              <a:ext cx="2382" cy="587"/>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形成物理地址</a:t>
              </a:r>
              <a:endParaRPr lang="zh-CN" altLang="en-US" sz="1000">
                <a:solidFill>
                  <a:schemeClr val="tx1"/>
                </a:solidFill>
              </a:endParaRPr>
            </a:p>
          </p:txBody>
        </p:sp>
        <p:cxnSp>
          <p:nvCxnSpPr>
            <p:cNvPr id="30" name="直接箭头连接符 29"/>
            <p:cNvCxnSpPr/>
            <p:nvPr/>
          </p:nvCxnSpPr>
          <p:spPr>
            <a:xfrm flipH="1">
              <a:off x="10283" y="4635"/>
              <a:ext cx="0" cy="3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p:cNvCxnSpPr/>
            <p:nvPr/>
          </p:nvCxnSpPr>
          <p:spPr>
            <a:xfrm flipH="1">
              <a:off x="10335" y="6605"/>
              <a:ext cx="0" cy="2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直接箭头连接符 31"/>
            <p:cNvCxnSpPr/>
            <p:nvPr/>
          </p:nvCxnSpPr>
          <p:spPr>
            <a:xfrm flipH="1">
              <a:off x="10370" y="7637"/>
              <a:ext cx="0" cy="2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p:cNvCxnSpPr/>
            <p:nvPr/>
          </p:nvCxnSpPr>
          <p:spPr>
            <a:xfrm flipH="1">
              <a:off x="10391" y="8426"/>
              <a:ext cx="0" cy="2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接箭头连接符 33"/>
            <p:cNvCxnSpPr/>
            <p:nvPr/>
          </p:nvCxnSpPr>
          <p:spPr>
            <a:xfrm flipH="1">
              <a:off x="10411" y="9236"/>
              <a:ext cx="0" cy="2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接连接符 34"/>
            <p:cNvCxnSpPr/>
            <p:nvPr/>
          </p:nvCxnSpPr>
          <p:spPr>
            <a:xfrm flipH="1">
              <a:off x="12902" y="5416"/>
              <a:ext cx="0" cy="3566"/>
            </a:xfrm>
            <a:prstGeom prst="line">
              <a:avLst/>
            </a:prstGeom>
          </p:spPr>
          <p:style>
            <a:lnRef idx="1">
              <a:schemeClr val="dk1"/>
            </a:lnRef>
            <a:fillRef idx="0">
              <a:schemeClr val="dk1"/>
            </a:fillRef>
            <a:effectRef idx="0">
              <a:schemeClr val="dk1"/>
            </a:effectRef>
            <a:fontRef idx="minor">
              <a:schemeClr val="tx1"/>
            </a:fontRef>
          </p:style>
        </p:cxnSp>
        <p:cxnSp>
          <p:nvCxnSpPr>
            <p:cNvPr id="36" name="直接箭头连接符 35"/>
            <p:cNvCxnSpPr>
              <a:endCxn id="28" idx="3"/>
            </p:cNvCxnSpPr>
            <p:nvPr/>
          </p:nvCxnSpPr>
          <p:spPr>
            <a:xfrm flipH="1">
              <a:off x="12355" y="8983"/>
              <a:ext cx="5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文本框 36"/>
            <p:cNvSpPr txBox="1"/>
            <p:nvPr/>
          </p:nvSpPr>
          <p:spPr>
            <a:xfrm>
              <a:off x="12919" y="5605"/>
              <a:ext cx="528" cy="456"/>
            </a:xfrm>
            <a:prstGeom prst="rect">
              <a:avLst/>
            </a:prstGeom>
            <a:noFill/>
          </p:spPr>
          <p:txBody>
            <a:bodyPr wrap="square" rtlCol="0">
              <a:spAutoFit/>
            </a:bodyPr>
            <a:lstStyle/>
            <a:p>
              <a:r>
                <a:rPr lang="zh-CN" altLang="en-US" sz="1000"/>
                <a:t>是</a:t>
              </a:r>
              <a:endParaRPr lang="zh-CN" altLang="en-US" sz="1000"/>
            </a:p>
          </p:txBody>
        </p:sp>
        <p:sp>
          <p:nvSpPr>
            <p:cNvPr id="38" name="文本框 37"/>
            <p:cNvSpPr txBox="1"/>
            <p:nvPr/>
          </p:nvSpPr>
          <p:spPr>
            <a:xfrm>
              <a:off x="10488" y="7568"/>
              <a:ext cx="528" cy="456"/>
            </a:xfrm>
            <a:prstGeom prst="rect">
              <a:avLst/>
            </a:prstGeom>
            <a:noFill/>
          </p:spPr>
          <p:txBody>
            <a:bodyPr wrap="square" rtlCol="0">
              <a:spAutoFit/>
            </a:bodyPr>
            <a:lstStyle/>
            <a:p>
              <a:r>
                <a:rPr lang="zh-CN" altLang="en-US" sz="1000"/>
                <a:t>是</a:t>
              </a:r>
              <a:endParaRPr lang="zh-CN" altLang="en-US" sz="1000"/>
            </a:p>
          </p:txBody>
        </p:sp>
        <p:cxnSp>
          <p:nvCxnSpPr>
            <p:cNvPr id="39" name="直接连接符 38"/>
            <p:cNvCxnSpPr>
              <a:stCxn id="25" idx="1"/>
            </p:cNvCxnSpPr>
            <p:nvPr/>
          </p:nvCxnSpPr>
          <p:spPr>
            <a:xfrm flipH="1" flipV="1">
              <a:off x="7373" y="7287"/>
              <a:ext cx="1064" cy="0"/>
            </a:xfrm>
            <a:prstGeom prst="line">
              <a:avLst/>
            </a:prstGeom>
          </p:spPr>
          <p:style>
            <a:lnRef idx="1">
              <a:schemeClr val="dk1"/>
            </a:lnRef>
            <a:fillRef idx="0">
              <a:schemeClr val="dk1"/>
            </a:fillRef>
            <a:effectRef idx="0">
              <a:schemeClr val="dk1"/>
            </a:effectRef>
            <a:fontRef idx="minor">
              <a:schemeClr val="tx1"/>
            </a:fontRef>
          </p:style>
        </p:cxnSp>
        <p:sp>
          <p:nvSpPr>
            <p:cNvPr id="40" name="矩形 39"/>
            <p:cNvSpPr/>
            <p:nvPr/>
          </p:nvSpPr>
          <p:spPr>
            <a:xfrm>
              <a:off x="6463" y="6160"/>
              <a:ext cx="1866" cy="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产生缺页中断</a:t>
              </a:r>
              <a:endParaRPr lang="zh-CN" altLang="en-US" sz="1000">
                <a:solidFill>
                  <a:schemeClr val="tx1"/>
                </a:solidFill>
              </a:endParaRPr>
            </a:p>
          </p:txBody>
        </p:sp>
        <p:sp>
          <p:nvSpPr>
            <p:cNvPr id="41" name="文本框 40"/>
            <p:cNvSpPr txBox="1"/>
            <p:nvPr/>
          </p:nvSpPr>
          <p:spPr>
            <a:xfrm>
              <a:off x="7768" y="6849"/>
              <a:ext cx="528" cy="456"/>
            </a:xfrm>
            <a:prstGeom prst="rect">
              <a:avLst/>
            </a:prstGeom>
            <a:noFill/>
          </p:spPr>
          <p:txBody>
            <a:bodyPr wrap="square" rtlCol="0">
              <a:spAutoFit/>
            </a:bodyPr>
            <a:lstStyle/>
            <a:p>
              <a:r>
                <a:rPr lang="zh-CN" altLang="en-US" sz="1000"/>
                <a:t>否</a:t>
              </a:r>
              <a:endParaRPr lang="zh-CN" altLang="en-US" sz="1000"/>
            </a:p>
          </p:txBody>
        </p:sp>
        <p:cxnSp>
          <p:nvCxnSpPr>
            <p:cNvPr id="42" name="直接箭头连接符 41"/>
            <p:cNvCxnSpPr/>
            <p:nvPr/>
          </p:nvCxnSpPr>
          <p:spPr>
            <a:xfrm flipV="1">
              <a:off x="7373" y="6646"/>
              <a:ext cx="0" cy="6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接连接符 42"/>
            <p:cNvCxnSpPr>
              <a:stCxn id="40" idx="0"/>
            </p:cNvCxnSpPr>
            <p:nvPr/>
          </p:nvCxnSpPr>
          <p:spPr>
            <a:xfrm flipV="1">
              <a:off x="7396" y="1822"/>
              <a:ext cx="0" cy="4338"/>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flipH="1">
              <a:off x="4096" y="1811"/>
              <a:ext cx="3300" cy="0"/>
            </a:xfrm>
            <a:prstGeom prst="line">
              <a:avLst/>
            </a:prstGeom>
          </p:spPr>
          <p:style>
            <a:lnRef idx="1">
              <a:schemeClr val="dk1"/>
            </a:lnRef>
            <a:fillRef idx="0">
              <a:schemeClr val="dk1"/>
            </a:fillRef>
            <a:effectRef idx="0">
              <a:schemeClr val="dk1"/>
            </a:effectRef>
            <a:fontRef idx="minor">
              <a:schemeClr val="tx1"/>
            </a:fontRef>
          </p:style>
        </p:cxnSp>
        <p:sp>
          <p:nvSpPr>
            <p:cNvPr id="45" name="矩形 44"/>
            <p:cNvSpPr/>
            <p:nvPr/>
          </p:nvSpPr>
          <p:spPr>
            <a:xfrm>
              <a:off x="3166" y="2229"/>
              <a:ext cx="1866" cy="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保存</a:t>
              </a:r>
              <a:r>
                <a:rPr lang="en-US" altLang="zh-CN" sz="1000">
                  <a:solidFill>
                    <a:schemeClr val="tx1"/>
                  </a:solidFill>
                </a:rPr>
                <a:t>CPU</a:t>
              </a:r>
              <a:r>
                <a:rPr lang="zh-CN" altLang="en-US" sz="1000">
                  <a:solidFill>
                    <a:schemeClr val="tx1"/>
                  </a:solidFill>
                </a:rPr>
                <a:t>现场</a:t>
              </a:r>
              <a:endParaRPr lang="zh-CN" altLang="en-US" sz="1000">
                <a:solidFill>
                  <a:schemeClr val="tx1"/>
                </a:solidFill>
              </a:endParaRPr>
            </a:p>
          </p:txBody>
        </p:sp>
        <p:sp>
          <p:nvSpPr>
            <p:cNvPr id="46" name="矩形 45"/>
            <p:cNvSpPr/>
            <p:nvPr/>
          </p:nvSpPr>
          <p:spPr>
            <a:xfrm>
              <a:off x="2641" y="3144"/>
              <a:ext cx="2917" cy="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从外存中找到所需页面</a:t>
              </a:r>
              <a:endParaRPr lang="zh-CN" altLang="en-US" sz="1000">
                <a:solidFill>
                  <a:schemeClr val="tx1"/>
                </a:solidFill>
              </a:endParaRPr>
            </a:p>
          </p:txBody>
        </p:sp>
        <p:sp>
          <p:nvSpPr>
            <p:cNvPr id="47" name="流程图: 决策 46"/>
            <p:cNvSpPr/>
            <p:nvPr/>
          </p:nvSpPr>
          <p:spPr>
            <a:xfrm>
              <a:off x="1447" y="3965"/>
              <a:ext cx="5330" cy="780"/>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内存还有空闲页帧吗？</a:t>
              </a:r>
              <a:endParaRPr lang="zh-CN" altLang="en-US" sz="1000">
                <a:solidFill>
                  <a:schemeClr val="tx1"/>
                </a:solidFill>
              </a:endParaRPr>
            </a:p>
          </p:txBody>
        </p:sp>
        <p:sp>
          <p:nvSpPr>
            <p:cNvPr id="48" name="矩形 47"/>
            <p:cNvSpPr/>
            <p:nvPr/>
          </p:nvSpPr>
          <p:spPr>
            <a:xfrm>
              <a:off x="2674" y="5103"/>
              <a:ext cx="2917" cy="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选择一页换出</a:t>
              </a:r>
              <a:endParaRPr lang="zh-CN" altLang="en-US" sz="1000">
                <a:solidFill>
                  <a:schemeClr val="tx1"/>
                </a:solidFill>
              </a:endParaRPr>
            </a:p>
          </p:txBody>
        </p:sp>
        <p:sp>
          <p:nvSpPr>
            <p:cNvPr id="49" name="流程图: 决策 48"/>
            <p:cNvSpPr/>
            <p:nvPr/>
          </p:nvSpPr>
          <p:spPr>
            <a:xfrm>
              <a:off x="1888" y="5966"/>
              <a:ext cx="4335" cy="780"/>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该页是否被修改？</a:t>
              </a:r>
              <a:endParaRPr lang="zh-CN" altLang="en-US" sz="1000">
                <a:solidFill>
                  <a:schemeClr val="tx1"/>
                </a:solidFill>
              </a:endParaRPr>
            </a:p>
          </p:txBody>
        </p:sp>
        <p:sp>
          <p:nvSpPr>
            <p:cNvPr id="50" name="矩形 49"/>
            <p:cNvSpPr/>
            <p:nvPr/>
          </p:nvSpPr>
          <p:spPr>
            <a:xfrm>
              <a:off x="2638" y="7113"/>
              <a:ext cx="2917" cy="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该页写回外存</a:t>
              </a:r>
              <a:endParaRPr lang="zh-CN" altLang="en-US" sz="1000">
                <a:solidFill>
                  <a:schemeClr val="tx1"/>
                </a:solidFill>
              </a:endParaRPr>
            </a:p>
          </p:txBody>
        </p:sp>
        <p:sp>
          <p:nvSpPr>
            <p:cNvPr id="51" name="矩形 50"/>
            <p:cNvSpPr/>
            <p:nvPr/>
          </p:nvSpPr>
          <p:spPr>
            <a:xfrm>
              <a:off x="2653" y="7933"/>
              <a:ext cx="2917" cy="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a:solidFill>
                    <a:schemeClr val="tx1"/>
                  </a:solidFill>
                </a:rPr>
                <a:t>读入所需页面</a:t>
              </a:r>
              <a:endParaRPr lang="zh-CN" altLang="en-US" sz="1000">
                <a:solidFill>
                  <a:schemeClr val="tx1"/>
                </a:solidFill>
              </a:endParaRPr>
            </a:p>
          </p:txBody>
        </p:sp>
        <p:cxnSp>
          <p:nvCxnSpPr>
            <p:cNvPr id="52" name="直接箭头连接符 51"/>
            <p:cNvCxnSpPr/>
            <p:nvPr/>
          </p:nvCxnSpPr>
          <p:spPr>
            <a:xfrm>
              <a:off x="4096" y="1822"/>
              <a:ext cx="0" cy="4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直接箭头连接符 52"/>
            <p:cNvCxnSpPr>
              <a:stCxn id="45" idx="2"/>
              <a:endCxn id="46" idx="0"/>
            </p:cNvCxnSpPr>
            <p:nvPr/>
          </p:nvCxnSpPr>
          <p:spPr>
            <a:xfrm flipH="1">
              <a:off x="4099" y="2692"/>
              <a:ext cx="0" cy="4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直接箭头连接符 53"/>
            <p:cNvCxnSpPr>
              <a:stCxn id="46" idx="2"/>
              <a:endCxn id="47" idx="0"/>
            </p:cNvCxnSpPr>
            <p:nvPr/>
          </p:nvCxnSpPr>
          <p:spPr>
            <a:xfrm>
              <a:off x="4099" y="3607"/>
              <a:ext cx="13" cy="3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 name="直接箭头连接符 54"/>
            <p:cNvCxnSpPr/>
            <p:nvPr/>
          </p:nvCxnSpPr>
          <p:spPr>
            <a:xfrm flipH="1">
              <a:off x="4099" y="4742"/>
              <a:ext cx="0" cy="3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直接箭头连接符 55"/>
            <p:cNvCxnSpPr/>
            <p:nvPr/>
          </p:nvCxnSpPr>
          <p:spPr>
            <a:xfrm flipH="1">
              <a:off x="4078" y="5565"/>
              <a:ext cx="0" cy="3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直接箭头连接符 56"/>
            <p:cNvCxnSpPr/>
            <p:nvPr/>
          </p:nvCxnSpPr>
          <p:spPr>
            <a:xfrm flipH="1">
              <a:off x="4074" y="6730"/>
              <a:ext cx="0" cy="3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直接箭头连接符 57"/>
            <p:cNvCxnSpPr/>
            <p:nvPr/>
          </p:nvCxnSpPr>
          <p:spPr>
            <a:xfrm flipH="1">
              <a:off x="4074" y="7580"/>
              <a:ext cx="0" cy="3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直接箭头连接符 58"/>
            <p:cNvCxnSpPr>
              <a:stCxn id="51" idx="3"/>
              <a:endCxn id="27" idx="1"/>
            </p:cNvCxnSpPr>
            <p:nvPr/>
          </p:nvCxnSpPr>
          <p:spPr>
            <a:xfrm>
              <a:off x="5570" y="8165"/>
              <a:ext cx="3870" cy="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文本框 59"/>
            <p:cNvSpPr txBox="1"/>
            <p:nvPr/>
          </p:nvSpPr>
          <p:spPr>
            <a:xfrm>
              <a:off x="966" y="4480"/>
              <a:ext cx="528" cy="456"/>
            </a:xfrm>
            <a:prstGeom prst="rect">
              <a:avLst/>
            </a:prstGeom>
            <a:noFill/>
          </p:spPr>
          <p:txBody>
            <a:bodyPr wrap="square" rtlCol="0">
              <a:spAutoFit/>
            </a:bodyPr>
            <a:lstStyle/>
            <a:p>
              <a:r>
                <a:rPr lang="zh-CN" altLang="en-US" sz="1000"/>
                <a:t>是</a:t>
              </a:r>
              <a:endParaRPr lang="zh-CN" altLang="en-US" sz="1000"/>
            </a:p>
          </p:txBody>
        </p:sp>
        <p:sp>
          <p:nvSpPr>
            <p:cNvPr id="61" name="文本框 60"/>
            <p:cNvSpPr txBox="1"/>
            <p:nvPr/>
          </p:nvSpPr>
          <p:spPr>
            <a:xfrm>
              <a:off x="4074" y="6674"/>
              <a:ext cx="528" cy="456"/>
            </a:xfrm>
            <a:prstGeom prst="rect">
              <a:avLst/>
            </a:prstGeom>
            <a:noFill/>
          </p:spPr>
          <p:txBody>
            <a:bodyPr wrap="square" rtlCol="0">
              <a:spAutoFit/>
            </a:bodyPr>
            <a:lstStyle/>
            <a:p>
              <a:r>
                <a:rPr lang="zh-CN" altLang="en-US" sz="1000"/>
                <a:t>是</a:t>
              </a:r>
              <a:endParaRPr lang="zh-CN" altLang="en-US" sz="1000"/>
            </a:p>
          </p:txBody>
        </p:sp>
        <p:sp>
          <p:nvSpPr>
            <p:cNvPr id="62" name="文本框 61"/>
            <p:cNvSpPr txBox="1"/>
            <p:nvPr/>
          </p:nvSpPr>
          <p:spPr>
            <a:xfrm>
              <a:off x="4211" y="4705"/>
              <a:ext cx="528" cy="456"/>
            </a:xfrm>
            <a:prstGeom prst="rect">
              <a:avLst/>
            </a:prstGeom>
            <a:noFill/>
          </p:spPr>
          <p:txBody>
            <a:bodyPr wrap="square" rtlCol="0">
              <a:spAutoFit/>
            </a:bodyPr>
            <a:lstStyle/>
            <a:p>
              <a:r>
                <a:rPr lang="zh-CN" altLang="en-US" sz="1000"/>
                <a:t>否</a:t>
              </a:r>
              <a:endParaRPr lang="zh-CN" altLang="en-US" sz="1000"/>
            </a:p>
          </p:txBody>
        </p:sp>
        <p:cxnSp>
          <p:nvCxnSpPr>
            <p:cNvPr id="63" name="直接连接符 62"/>
            <p:cNvCxnSpPr/>
            <p:nvPr/>
          </p:nvCxnSpPr>
          <p:spPr>
            <a:xfrm>
              <a:off x="1405" y="4355"/>
              <a:ext cx="0" cy="3810"/>
            </a:xfrm>
            <a:prstGeom prst="line">
              <a:avLst/>
            </a:prstGeom>
          </p:spPr>
          <p:style>
            <a:lnRef idx="1">
              <a:schemeClr val="dk1"/>
            </a:lnRef>
            <a:fillRef idx="0">
              <a:schemeClr val="dk1"/>
            </a:fillRef>
            <a:effectRef idx="0">
              <a:schemeClr val="dk1"/>
            </a:effectRef>
            <a:fontRef idx="minor">
              <a:schemeClr val="tx1"/>
            </a:fontRef>
          </p:style>
        </p:cxnSp>
        <p:cxnSp>
          <p:nvCxnSpPr>
            <p:cNvPr id="64" name="直接箭头连接符 63"/>
            <p:cNvCxnSpPr/>
            <p:nvPr/>
          </p:nvCxnSpPr>
          <p:spPr>
            <a:xfrm>
              <a:off x="1426" y="8165"/>
              <a:ext cx="12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直接连接符 64"/>
            <p:cNvCxnSpPr/>
            <p:nvPr/>
          </p:nvCxnSpPr>
          <p:spPr>
            <a:xfrm>
              <a:off x="1867" y="6356"/>
              <a:ext cx="0" cy="1648"/>
            </a:xfrm>
            <a:prstGeom prst="line">
              <a:avLst/>
            </a:prstGeom>
          </p:spPr>
          <p:style>
            <a:lnRef idx="1">
              <a:schemeClr val="dk1"/>
            </a:lnRef>
            <a:fillRef idx="0">
              <a:schemeClr val="dk1"/>
            </a:fillRef>
            <a:effectRef idx="0">
              <a:schemeClr val="dk1"/>
            </a:effectRef>
            <a:fontRef idx="minor">
              <a:schemeClr val="tx1"/>
            </a:fontRef>
          </p:style>
        </p:cxnSp>
        <p:cxnSp>
          <p:nvCxnSpPr>
            <p:cNvPr id="66" name="直接箭头连接符 65"/>
            <p:cNvCxnSpPr/>
            <p:nvPr/>
          </p:nvCxnSpPr>
          <p:spPr>
            <a:xfrm>
              <a:off x="1867" y="8004"/>
              <a:ext cx="80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文本框 66"/>
            <p:cNvSpPr txBox="1"/>
            <p:nvPr/>
          </p:nvSpPr>
          <p:spPr>
            <a:xfrm>
              <a:off x="1857" y="6492"/>
              <a:ext cx="528" cy="456"/>
            </a:xfrm>
            <a:prstGeom prst="rect">
              <a:avLst/>
            </a:prstGeom>
            <a:noFill/>
          </p:spPr>
          <p:txBody>
            <a:bodyPr wrap="square" rtlCol="0">
              <a:spAutoFit/>
            </a:bodyPr>
            <a:lstStyle/>
            <a:p>
              <a:r>
                <a:rPr lang="zh-CN" altLang="en-US" sz="1000"/>
                <a:t>否</a:t>
              </a:r>
              <a:endParaRPr lang="zh-CN" altLang="en-US" sz="1000"/>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7" name="矩形 6"/>
          <p:cNvSpPr/>
          <p:nvPr/>
        </p:nvSpPr>
        <p:spPr>
          <a:xfrm>
            <a:off x="1248754" y="1214625"/>
            <a:ext cx="2122170" cy="398780"/>
          </a:xfrm>
          <a:prstGeom prst="rect">
            <a:avLst/>
          </a:prstGeom>
        </p:spPr>
        <p:txBody>
          <a:bodyPr wrap="non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页面置换算法 </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68" name="矩形 67"/>
          <p:cNvSpPr/>
          <p:nvPr/>
        </p:nvSpPr>
        <p:spPr>
          <a:xfrm>
            <a:off x="1937840" y="1730533"/>
            <a:ext cx="3748142" cy="408445"/>
          </a:xfrm>
          <a:prstGeom prst="rect">
            <a:avLst/>
          </a:prstGeom>
        </p:spPr>
        <p:txBody>
          <a:bodyPr wrap="none">
            <a:spAutoFit/>
          </a:bodyPr>
          <a:lstStyle/>
          <a:p>
            <a:pPr marL="342900" indent="-342900">
              <a:lnSpc>
                <a:spcPct val="125000"/>
              </a:lnSpc>
              <a:buFont typeface="+mj-lt"/>
              <a:buAutoNum type="arabicPeriod"/>
            </a:pPr>
            <a:r>
              <a:rPr lang="zh-CN" altLang="zh-CN" b="1" kern="0" dirty="0">
                <a:solidFill>
                  <a:srgbClr val="000000"/>
                </a:solidFill>
                <a:latin typeface="Calibri" panose="020F0502020204030204" charset="0"/>
                <a:ea typeface="宋体" panose="02010600030101010101" pitchFamily="2" charset="-122"/>
                <a:cs typeface="Helvetica" panose="020B0604020202020204" pitchFamily="34" charset="0"/>
              </a:rPr>
              <a:t>先进先出页面置换算法（</a:t>
            </a:r>
            <a:r>
              <a:rPr lang="en-US" altLang="zh-CN" b="1" kern="0" dirty="0">
                <a:solidFill>
                  <a:srgbClr val="000000"/>
                </a:solidFill>
                <a:latin typeface="Calibri" panose="020F0502020204030204" charset="0"/>
                <a:ea typeface="宋体" panose="02010600030101010101" pitchFamily="2" charset="-122"/>
                <a:cs typeface="Helvetica" panose="020B0604020202020204" pitchFamily="34" charset="0"/>
              </a:rPr>
              <a:t>FIFO</a:t>
            </a:r>
            <a:r>
              <a:rPr lang="zh-CN" altLang="zh-CN" b="1" kern="0" dirty="0">
                <a:solidFill>
                  <a:srgbClr val="000000"/>
                </a:solidFill>
                <a:latin typeface="Calibri" panose="020F0502020204030204" charset="0"/>
                <a:ea typeface="宋体" panose="02010600030101010101" pitchFamily="2" charset="-122"/>
                <a:cs typeface="Helvetica" panose="020B0604020202020204" pitchFamily="34" charset="0"/>
              </a:rPr>
              <a:t>）</a:t>
            </a:r>
            <a:endParaRPr lang="zh-CN" altLang="zh-CN" kern="100" dirty="0">
              <a:latin typeface="Calibri" panose="020F0502020204030204" charset="0"/>
              <a:ea typeface="宋体" panose="02010600030101010101" pitchFamily="2" charset="-122"/>
              <a:cs typeface="Times New Roman" panose="02020603050405020304" pitchFamily="18" charset="0"/>
            </a:endParaRPr>
          </a:p>
        </p:txBody>
      </p:sp>
      <p:sp>
        <p:nvSpPr>
          <p:cNvPr id="69" name="矩形 68"/>
          <p:cNvSpPr/>
          <p:nvPr/>
        </p:nvSpPr>
        <p:spPr>
          <a:xfrm>
            <a:off x="2097705" y="2169115"/>
            <a:ext cx="8536892" cy="646331"/>
          </a:xfrm>
          <a:prstGeom prst="rect">
            <a:avLst/>
          </a:prstGeom>
        </p:spPr>
        <p:txBody>
          <a:bodyPr wrap="square">
            <a:spAutoFit/>
          </a:bodyPr>
          <a:lstStyle/>
          <a:p>
            <a:r>
              <a:rPr lang="zh-CN" altLang="zh-CN" b="1" dirty="0">
                <a:solidFill>
                  <a:srgbClr val="003A8F"/>
                </a:solidFill>
                <a:latin typeface="等线" panose="02010600030101010101" pitchFamily="2" charset="-122"/>
                <a:ea typeface="等线" panose="02010600030101010101" pitchFamily="2" charset="-122"/>
                <a:cs typeface="Arial" panose="020B0604020202020204" pitchFamily="34" charset="0"/>
              </a:rPr>
              <a:t>总是选择在主存中停留时间最长（即最老）的页面进行置换，即先进入内存的页，先被换出内存</a:t>
            </a:r>
            <a:r>
              <a:rPr lang="zh-CN" altLang="en-US" b="1" dirty="0">
                <a:solidFill>
                  <a:srgbClr val="003A8F"/>
                </a:solidFill>
                <a:latin typeface="等线" panose="02010600030101010101" pitchFamily="2" charset="-122"/>
                <a:ea typeface="等线" panose="02010600030101010101" pitchFamily="2" charset="-122"/>
                <a:cs typeface="Arial" panose="020B0604020202020204" pitchFamily="34" charset="0"/>
              </a:rPr>
              <a:t>。</a:t>
            </a:r>
            <a:endParaRPr lang="zh-CN" altLang="en-US" b="1" dirty="0">
              <a:solidFill>
                <a:srgbClr val="003A8F"/>
              </a:solidFill>
              <a:latin typeface="等线" panose="02010600030101010101" pitchFamily="2" charset="-122"/>
              <a:ea typeface="等线" panose="02010600030101010101" pitchFamily="2" charset="-122"/>
            </a:endParaRPr>
          </a:p>
        </p:txBody>
      </p:sp>
      <p:sp>
        <p:nvSpPr>
          <p:cNvPr id="70" name="矩形 69"/>
          <p:cNvSpPr/>
          <p:nvPr/>
        </p:nvSpPr>
        <p:spPr>
          <a:xfrm>
            <a:off x="2209800" y="2889843"/>
            <a:ext cx="7933765" cy="754694"/>
          </a:xfrm>
          <a:prstGeom prst="rect">
            <a:avLst/>
          </a:prstGeom>
          <a:solidFill>
            <a:schemeClr val="bg1">
              <a:lumMod val="95000"/>
            </a:schemeClr>
          </a:solidFill>
          <a:ln>
            <a:solidFill>
              <a:schemeClr val="tx1"/>
            </a:solidFill>
          </a:ln>
        </p:spPr>
        <p:txBody>
          <a:bodyPr wrap="square">
            <a:spAutoFit/>
          </a:bodyPr>
          <a:lstStyle/>
          <a:p>
            <a:pPr indent="266700">
              <a:lnSpc>
                <a:spcPct val="125000"/>
              </a:lnSpc>
            </a:pPr>
            <a:r>
              <a:rPr lang="zh-CN" altLang="zh-CN" kern="0" dirty="0">
                <a:solidFill>
                  <a:srgbClr val="000000"/>
                </a:solidFill>
                <a:latin typeface="Calibri" panose="020F0502020204030204" charset="0"/>
                <a:ea typeface="宋体" panose="02010600030101010101" pitchFamily="2" charset="-122"/>
                <a:cs typeface="Helvetica" panose="020B0604020202020204" pitchFamily="34" charset="0"/>
              </a:rPr>
              <a:t>场景：假设某进程被分配了</a:t>
            </a:r>
            <a:r>
              <a:rPr lang="en-US" altLang="zh-CN" kern="0" dirty="0">
                <a:solidFill>
                  <a:srgbClr val="000000"/>
                </a:solidFill>
                <a:latin typeface="Calibri" panose="020F0502020204030204" charset="0"/>
                <a:ea typeface="宋体" panose="02010600030101010101" pitchFamily="2" charset="-122"/>
                <a:cs typeface="Helvetica" panose="020B0604020202020204" pitchFamily="34" charset="0"/>
              </a:rPr>
              <a:t>3</a:t>
            </a:r>
            <a:r>
              <a:rPr lang="zh-CN" altLang="zh-CN" kern="0" dirty="0">
                <a:solidFill>
                  <a:srgbClr val="000000"/>
                </a:solidFill>
                <a:latin typeface="Calibri" panose="020F0502020204030204" charset="0"/>
                <a:ea typeface="宋体" panose="02010600030101010101" pitchFamily="2" charset="-122"/>
                <a:cs typeface="Helvetica" panose="020B0604020202020204" pitchFamily="34" charset="0"/>
              </a:rPr>
              <a:t>个页帧，程序页面访问序列为：</a:t>
            </a:r>
            <a:endParaRPr lang="zh-CN" altLang="zh-CN" kern="100" dirty="0">
              <a:latin typeface="Calibri" panose="020F0502020204030204" charset="0"/>
              <a:ea typeface="宋体" panose="02010600030101010101" pitchFamily="2" charset="-122"/>
              <a:cs typeface="Times New Roman" panose="02020603050405020304" pitchFamily="18" charset="0"/>
            </a:endParaRPr>
          </a:p>
          <a:p>
            <a:pPr>
              <a:lnSpc>
                <a:spcPct val="125000"/>
              </a:lnSpc>
            </a:pPr>
            <a:r>
              <a:rPr lang="en-US" altLang="zh-CN" kern="0" dirty="0">
                <a:solidFill>
                  <a:srgbClr val="000000"/>
                </a:solidFill>
                <a:latin typeface="宋体" panose="02010600030101010101" pitchFamily="2" charset="-122"/>
                <a:ea typeface="宋体" panose="02010600030101010101" pitchFamily="2" charset="-122"/>
                <a:cs typeface="Helvetica" panose="020B0604020202020204" pitchFamily="34" charset="0"/>
              </a:rPr>
              <a:t>      6,5,1,2,5,3,5,4,2,3,5,3,2,1,2 </a:t>
            </a:r>
            <a:endParaRPr lang="zh-CN" altLang="zh-CN" kern="100" dirty="0">
              <a:latin typeface="Calibri" panose="020F0502020204030204" charset="0"/>
              <a:ea typeface="宋体" panose="02010600030101010101" pitchFamily="2"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1938020" y="3914775"/>
            <a:ext cx="8004175" cy="21367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7" name="矩形 6"/>
          <p:cNvSpPr/>
          <p:nvPr/>
        </p:nvSpPr>
        <p:spPr>
          <a:xfrm>
            <a:off x="1249045" y="1214755"/>
            <a:ext cx="3052445" cy="398780"/>
          </a:xfrm>
          <a:prstGeom prst="rect">
            <a:avLst/>
          </a:prstGeom>
        </p:spPr>
        <p:txBody>
          <a:bodyPr wrap="squar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页面置换算法</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2" name="矩形 1"/>
          <p:cNvSpPr/>
          <p:nvPr/>
        </p:nvSpPr>
        <p:spPr>
          <a:xfrm>
            <a:off x="1950366" y="1583957"/>
            <a:ext cx="5744913" cy="759182"/>
          </a:xfrm>
          <a:prstGeom prst="rect">
            <a:avLst/>
          </a:prstGeom>
        </p:spPr>
        <p:txBody>
          <a:bodyPr wrap="square">
            <a:spAutoFit/>
          </a:bodyPr>
          <a:lstStyle/>
          <a:p>
            <a:pPr marL="342900" indent="-342900">
              <a:lnSpc>
                <a:spcPct val="125000"/>
              </a:lnSpc>
              <a:buFont typeface="+mj-lt"/>
              <a:buAutoNum type="arabicPeriod"/>
            </a:pPr>
            <a:r>
              <a:rPr lang="zh-CN" altLang="zh-CN" b="1" kern="0" dirty="0">
                <a:solidFill>
                  <a:srgbClr val="000000"/>
                </a:solidFill>
                <a:latin typeface="Calibri" panose="020F0502020204030204" charset="0"/>
                <a:ea typeface="宋体" panose="02010600030101010101" pitchFamily="2" charset="-122"/>
                <a:cs typeface="Helvetica" panose="020B0604020202020204" pitchFamily="34" charset="0"/>
              </a:rPr>
              <a:t>先进先出页面置换算法（</a:t>
            </a:r>
            <a:r>
              <a:rPr lang="en-US" altLang="zh-CN" b="1" kern="0" dirty="0">
                <a:solidFill>
                  <a:srgbClr val="000000"/>
                </a:solidFill>
                <a:latin typeface="Calibri" panose="020F0502020204030204" charset="0"/>
                <a:ea typeface="宋体" panose="02010600030101010101" pitchFamily="2" charset="-122"/>
                <a:cs typeface="Helvetica" panose="020B0604020202020204" pitchFamily="34" charset="0"/>
              </a:rPr>
              <a:t>FIFO</a:t>
            </a:r>
            <a:r>
              <a:rPr lang="zh-CN" altLang="zh-CN" b="1" kern="0" dirty="0">
                <a:solidFill>
                  <a:srgbClr val="000000"/>
                </a:solidFill>
                <a:latin typeface="Calibri" panose="020F0502020204030204" charset="0"/>
                <a:ea typeface="宋体" panose="02010600030101010101" pitchFamily="2" charset="-122"/>
                <a:cs typeface="Helvetica" panose="020B0604020202020204" pitchFamily="34" charset="0"/>
              </a:rPr>
              <a:t>）</a:t>
            </a:r>
            <a:r>
              <a:rPr lang="en-US" altLang="zh-CN" b="1" kern="0" dirty="0">
                <a:solidFill>
                  <a:srgbClr val="7C0000"/>
                </a:solidFill>
                <a:latin typeface="Calibri" panose="020F0502020204030204" charset="0"/>
                <a:ea typeface="宋体" panose="02010600030101010101" pitchFamily="2" charset="-122"/>
                <a:cs typeface="Helvetica" panose="020B0604020202020204" pitchFamily="34" charset="0"/>
              </a:rPr>
              <a:t>---</a:t>
            </a:r>
            <a:r>
              <a:rPr lang="en-US" altLang="zh-CN" b="1" dirty="0" err="1">
                <a:solidFill>
                  <a:srgbClr val="7C0000"/>
                </a:solidFill>
              </a:rPr>
              <a:t>Belady</a:t>
            </a:r>
            <a:r>
              <a:rPr lang="zh-CN" altLang="zh-CN" b="1" dirty="0">
                <a:solidFill>
                  <a:srgbClr val="7C0000"/>
                </a:solidFill>
              </a:rPr>
              <a:t>现象</a:t>
            </a:r>
            <a:endParaRPr lang="zh-CN" altLang="zh-CN" b="1" dirty="0">
              <a:solidFill>
                <a:srgbClr val="7C0000"/>
              </a:solidFill>
            </a:endParaRPr>
          </a:p>
          <a:p>
            <a:pPr marL="342900" indent="-342900">
              <a:lnSpc>
                <a:spcPct val="125000"/>
              </a:lnSpc>
              <a:buFont typeface="+mj-lt"/>
              <a:buAutoNum type="arabicPeriod"/>
            </a:pPr>
            <a:endParaRPr lang="zh-CN" altLang="zh-CN" b="1" kern="100" dirty="0">
              <a:solidFill>
                <a:srgbClr val="7C0000"/>
              </a:solidFill>
              <a:latin typeface="Calibri" panose="020F0502020204030204" charset="0"/>
              <a:ea typeface="宋体" panose="02010600030101010101" pitchFamily="2" charset="-122"/>
              <a:cs typeface="Times New Roman" panose="02020603050405020304" pitchFamily="18" charset="0"/>
            </a:endParaRPr>
          </a:p>
        </p:txBody>
      </p:sp>
      <p:sp>
        <p:nvSpPr>
          <p:cNvPr id="3" name="矩形 2"/>
          <p:cNvSpPr/>
          <p:nvPr/>
        </p:nvSpPr>
        <p:spPr>
          <a:xfrm>
            <a:off x="2783031" y="2018775"/>
            <a:ext cx="4079240" cy="629920"/>
          </a:xfrm>
          <a:prstGeom prst="rect">
            <a:avLst/>
          </a:prstGeom>
          <a:solidFill>
            <a:schemeClr val="bg1">
              <a:lumMod val="95000"/>
            </a:schemeClr>
          </a:solidFill>
          <a:ln>
            <a:solidFill>
              <a:schemeClr val="tx1"/>
            </a:solidFill>
          </a:ln>
        </p:spPr>
        <p:txBody>
          <a:bodyPr wrap="square">
            <a:spAutoFit/>
          </a:bodyPr>
          <a:lstStyle/>
          <a:p>
            <a:pPr>
              <a:lnSpc>
                <a:spcPct val="125000"/>
              </a:lnSpc>
            </a:pPr>
            <a:r>
              <a:rPr lang="zh-CN" altLang="zh-CN" sz="1400" b="1" kern="0" dirty="0">
                <a:solidFill>
                  <a:srgbClr val="000000"/>
                </a:solidFill>
                <a:latin typeface="Calibri" panose="020F0502020204030204" charset="0"/>
                <a:ea typeface="宋体" panose="02010600030101010101" pitchFamily="2" charset="-122"/>
                <a:cs typeface="Helvetica" panose="020B0604020202020204" pitchFamily="34" charset="0"/>
              </a:rPr>
              <a:t>假设页面的引用序列如下：</a:t>
            </a:r>
            <a:endParaRPr lang="zh-CN" altLang="zh-CN" sz="1400" b="1" kern="100" dirty="0">
              <a:latin typeface="Calibri" panose="020F0502020204030204" charset="0"/>
              <a:ea typeface="宋体" panose="02010600030101010101" pitchFamily="2" charset="-122"/>
              <a:cs typeface="Times New Roman" panose="02020603050405020304" pitchFamily="18" charset="0"/>
            </a:endParaRPr>
          </a:p>
          <a:p>
            <a:pPr>
              <a:lnSpc>
                <a:spcPct val="125000"/>
              </a:lnSpc>
            </a:pPr>
            <a:r>
              <a:rPr lang="en-US" altLang="zh-CN" sz="1400" b="1" kern="0" dirty="0">
                <a:solidFill>
                  <a:srgbClr val="000000"/>
                </a:solidFill>
                <a:latin typeface="宋体" panose="02010600030101010101" pitchFamily="2" charset="-122"/>
                <a:ea typeface="宋体" panose="02010600030101010101" pitchFamily="2" charset="-122"/>
                <a:cs typeface="Helvetica" panose="020B0604020202020204" pitchFamily="34" charset="0"/>
              </a:rPr>
              <a:t>           1,2,3,4,1,2,5,1,2,3,4,5    </a:t>
            </a:r>
            <a:endParaRPr lang="zh-CN" altLang="zh-CN" sz="1400" b="1" kern="100" dirty="0">
              <a:latin typeface="Calibri" panose="020F0502020204030204" charset="0"/>
              <a:ea typeface="宋体" panose="02010600030101010101" pitchFamily="2" charset="-122"/>
              <a:cs typeface="Times New Roman" panose="02020603050405020304" pitchFamily="18" charset="0"/>
            </a:endParaRPr>
          </a:p>
        </p:txBody>
      </p:sp>
      <p:sp>
        <p:nvSpPr>
          <p:cNvPr id="4" name="文本框 3"/>
          <p:cNvSpPr txBox="1"/>
          <p:nvPr/>
        </p:nvSpPr>
        <p:spPr>
          <a:xfrm>
            <a:off x="2040716" y="2888726"/>
            <a:ext cx="444500" cy="1383665"/>
          </a:xfrm>
          <a:prstGeom prst="rect">
            <a:avLst/>
          </a:prstGeom>
        </p:spPr>
        <p:txBody>
          <a:bodyPr wrap="square">
            <a:spAutoFit/>
          </a:bodyPr>
          <a:lstStyle/>
          <a:p>
            <a:r>
              <a:rPr lang="zh-CN" altLang="en-US" sz="1400">
                <a:latin typeface="黑体" panose="02010609060101010101" charset="-122"/>
                <a:ea typeface="黑体" panose="02010609060101010101" charset="-122"/>
                <a:cs typeface="黑体" panose="02010609060101010101" charset="-122"/>
              </a:rPr>
              <a:t>分配</a:t>
            </a:r>
            <a:r>
              <a:rPr lang="en-US" altLang="zh-CN" sz="1400" b="1">
                <a:solidFill>
                  <a:srgbClr val="C00000"/>
                </a:solidFill>
                <a:latin typeface="黑体" panose="02010609060101010101" charset="-122"/>
                <a:ea typeface="黑体" panose="02010609060101010101" charset="-122"/>
                <a:cs typeface="黑体" panose="02010609060101010101" charset="-122"/>
              </a:rPr>
              <a:t>3</a:t>
            </a:r>
            <a:r>
              <a:rPr lang="zh-CN" altLang="en-US" sz="1400">
                <a:latin typeface="黑体" panose="02010609060101010101" charset="-122"/>
                <a:ea typeface="黑体" panose="02010609060101010101" charset="-122"/>
                <a:cs typeface="黑体" panose="02010609060101010101" charset="-122"/>
              </a:rPr>
              <a:t>个页框</a:t>
            </a:r>
            <a:endParaRPr lang="zh-CN" altLang="en-US" sz="1400">
              <a:latin typeface="黑体" panose="02010609060101010101" charset="-122"/>
              <a:ea typeface="黑体" panose="02010609060101010101" charset="-122"/>
              <a:cs typeface="黑体" panose="02010609060101010101" charset="-122"/>
            </a:endParaRPr>
          </a:p>
        </p:txBody>
      </p:sp>
      <p:sp>
        <p:nvSpPr>
          <p:cNvPr id="5" name="文本框 4"/>
          <p:cNvSpPr txBox="1"/>
          <p:nvPr>
            <p:custDataLst>
              <p:tags r:id="rId1"/>
            </p:custDataLst>
          </p:nvPr>
        </p:nvSpPr>
        <p:spPr>
          <a:xfrm>
            <a:off x="2615391" y="2883645"/>
            <a:ext cx="5429250" cy="1568450"/>
          </a:xfrm>
          <a:prstGeom prst="rect">
            <a:avLst/>
          </a:prstGeom>
          <a:ln>
            <a:solidFill>
              <a:schemeClr val="tx1"/>
            </a:solidFill>
          </a:ln>
        </p:spPr>
        <p:txBody>
          <a:bodyPr wrap="square">
            <a:spAutoFit/>
          </a:bodyPr>
          <a:lstStyle/>
          <a:p>
            <a:r>
              <a:rPr lang="zh-CN" altLang="en-US" sz="1600">
                <a:latin typeface="Times New Roman" panose="02020603050405020304" pitchFamily="18" charset="0"/>
                <a:ea typeface="unset"/>
                <a:cs typeface="Times New Roman" panose="02020603050405020304" pitchFamily="18" charset="0"/>
              </a:rPr>
              <a:t>访问序列 </a:t>
            </a:r>
            <a:r>
              <a:rPr lang="en-US" altLang="zh-CN" sz="1600">
                <a:latin typeface="Times New Roman" panose="02020603050405020304" pitchFamily="18" charset="0"/>
                <a:ea typeface="unset"/>
                <a:cs typeface="Times New Roman" panose="02020603050405020304" pitchFamily="18" charset="0"/>
              </a:rPr>
              <a:t>    1     2     3     4     1     2     5     1     2     3     4     5</a:t>
            </a:r>
            <a:endParaRPr lang="en-US" altLang="zh-CN" sz="1600">
              <a:latin typeface="Times New Roman" panose="02020603050405020304" pitchFamily="18" charset="0"/>
              <a:ea typeface="unset"/>
              <a:cs typeface="Times New Roman" panose="02020603050405020304" pitchFamily="18" charset="0"/>
            </a:endParaRPr>
          </a:p>
          <a:p>
            <a:r>
              <a:rPr lang="en-US" altLang="zh-CN" sz="1600">
                <a:latin typeface="Times New Roman" panose="02020603050405020304" pitchFamily="18" charset="0"/>
                <a:ea typeface="unset"/>
                <a:cs typeface="Times New Roman" panose="02020603050405020304" pitchFamily="18" charset="0"/>
              </a:rPr>
              <a:t> </a:t>
            </a:r>
            <a:endParaRPr lang="en-US" altLang="zh-CN" sz="1600">
              <a:latin typeface="Times New Roman" panose="02020603050405020304" pitchFamily="18" charset="0"/>
              <a:ea typeface="unset"/>
              <a:cs typeface="Times New Roman" panose="02020603050405020304" pitchFamily="18" charset="0"/>
            </a:endParaRPr>
          </a:p>
          <a:p>
            <a:r>
              <a:rPr lang="zh-CN" altLang="en-US" sz="1600">
                <a:latin typeface="Times New Roman" panose="02020603050405020304" pitchFamily="18" charset="0"/>
                <a:ea typeface="unset"/>
                <a:cs typeface="Times New Roman" panose="02020603050405020304" pitchFamily="18" charset="0"/>
              </a:rPr>
              <a:t>页框</a:t>
            </a:r>
            <a:r>
              <a:rPr lang="en-US" altLang="zh-CN" sz="1600">
                <a:latin typeface="Times New Roman" panose="02020603050405020304" pitchFamily="18" charset="0"/>
                <a:ea typeface="unset"/>
                <a:cs typeface="Times New Roman" panose="02020603050405020304" pitchFamily="18" charset="0"/>
              </a:rPr>
              <a:t>1           1     1     1     4     4     4     5     5     5     5     5     4 </a:t>
            </a:r>
            <a:endParaRPr lang="en-US" altLang="zh-CN" sz="1600">
              <a:latin typeface="Times New Roman" panose="02020603050405020304" pitchFamily="18" charset="0"/>
              <a:ea typeface="unset"/>
              <a:cs typeface="Times New Roman" panose="02020603050405020304" pitchFamily="18" charset="0"/>
            </a:endParaRPr>
          </a:p>
          <a:p>
            <a:r>
              <a:rPr lang="zh-CN" altLang="en-US" sz="1600">
                <a:latin typeface="Times New Roman" panose="02020603050405020304" pitchFamily="18" charset="0"/>
                <a:ea typeface="unset"/>
                <a:cs typeface="Times New Roman" panose="02020603050405020304" pitchFamily="18" charset="0"/>
              </a:rPr>
              <a:t>页框</a:t>
            </a:r>
            <a:r>
              <a:rPr lang="en-US" altLang="zh-CN" sz="1600">
                <a:latin typeface="Times New Roman" panose="02020603050405020304" pitchFamily="18" charset="0"/>
                <a:ea typeface="unset"/>
                <a:cs typeface="Times New Roman" panose="02020603050405020304" pitchFamily="18" charset="0"/>
              </a:rPr>
              <a:t>2                  2     2     2     1     1     1     1     1     3     3     3 </a:t>
            </a:r>
            <a:endParaRPr lang="en-US" altLang="zh-CN" sz="1600">
              <a:latin typeface="Times New Roman" panose="02020603050405020304" pitchFamily="18" charset="0"/>
              <a:ea typeface="unset"/>
              <a:cs typeface="Times New Roman" panose="02020603050405020304" pitchFamily="18" charset="0"/>
            </a:endParaRPr>
          </a:p>
          <a:p>
            <a:r>
              <a:rPr lang="zh-CN" altLang="en-US" sz="1600">
                <a:latin typeface="Times New Roman" panose="02020603050405020304" pitchFamily="18" charset="0"/>
                <a:ea typeface="unset"/>
                <a:cs typeface="Times New Roman" panose="02020603050405020304" pitchFamily="18" charset="0"/>
              </a:rPr>
              <a:t>页框</a:t>
            </a:r>
            <a:r>
              <a:rPr lang="en-US" altLang="zh-CN" sz="1600">
                <a:latin typeface="Times New Roman" panose="02020603050405020304" pitchFamily="18" charset="0"/>
                <a:ea typeface="unset"/>
                <a:cs typeface="Times New Roman" panose="02020603050405020304" pitchFamily="18" charset="0"/>
              </a:rPr>
              <a:t>3                         3     3     3     2     2     2     2     2     4     5 </a:t>
            </a:r>
            <a:endParaRPr lang="en-US" altLang="zh-CN" sz="1600">
              <a:latin typeface="Times New Roman" panose="02020603050405020304" pitchFamily="18" charset="0"/>
              <a:ea typeface="unset"/>
              <a:cs typeface="Times New Roman" panose="02020603050405020304" pitchFamily="18" charset="0"/>
            </a:endParaRPr>
          </a:p>
          <a:p>
            <a:r>
              <a:rPr lang="zh-CN" altLang="en-US" sz="1600">
                <a:latin typeface="Times New Roman" panose="02020603050405020304" pitchFamily="18" charset="0"/>
                <a:ea typeface="unset"/>
                <a:cs typeface="Times New Roman" panose="02020603050405020304" pitchFamily="18" charset="0"/>
              </a:rPr>
              <a:t>缺页</a:t>
            </a:r>
            <a:r>
              <a:rPr lang="en-US" altLang="zh-CN" sz="1600">
                <a:latin typeface="Times New Roman" panose="02020603050405020304" pitchFamily="18" charset="0"/>
                <a:ea typeface="unset"/>
                <a:cs typeface="Times New Roman" panose="02020603050405020304" pitchFamily="18" charset="0"/>
              </a:rPr>
              <a:t>             </a:t>
            </a:r>
            <a:r>
              <a:rPr lang="zh-CN" altLang="en-US" sz="1600">
                <a:latin typeface="Times New Roman" panose="02020603050405020304" pitchFamily="18" charset="0"/>
                <a:ea typeface="unset"/>
                <a:cs typeface="Times New Roman" panose="02020603050405020304" pitchFamily="18" charset="0"/>
              </a:rPr>
              <a:t>F </a:t>
            </a:r>
            <a:r>
              <a:rPr lang="en-US" altLang="zh-CN" sz="1600">
                <a:latin typeface="Times New Roman" panose="02020603050405020304" pitchFamily="18" charset="0"/>
                <a:ea typeface="unset"/>
                <a:cs typeface="Times New Roman" panose="02020603050405020304" pitchFamily="18" charset="0"/>
              </a:rPr>
              <a:t>    </a:t>
            </a:r>
            <a:r>
              <a:rPr lang="zh-CN" altLang="en-US" sz="1600">
                <a:latin typeface="Times New Roman" panose="02020603050405020304" pitchFamily="18" charset="0"/>
                <a:ea typeface="unset"/>
                <a:cs typeface="Times New Roman" panose="02020603050405020304" pitchFamily="18" charset="0"/>
              </a:rPr>
              <a:t>F</a:t>
            </a:r>
            <a:r>
              <a:rPr lang="en-US" altLang="zh-CN" sz="1600">
                <a:latin typeface="Times New Roman" panose="02020603050405020304" pitchFamily="18" charset="0"/>
                <a:ea typeface="unset"/>
                <a:cs typeface="Times New Roman" panose="02020603050405020304" pitchFamily="18" charset="0"/>
              </a:rPr>
              <a:t>    </a:t>
            </a:r>
            <a:r>
              <a:rPr lang="zh-CN" altLang="en-US" sz="1600">
                <a:latin typeface="Times New Roman" panose="02020603050405020304" pitchFamily="18" charset="0"/>
                <a:ea typeface="unset"/>
                <a:cs typeface="Times New Roman" panose="02020603050405020304" pitchFamily="18" charset="0"/>
              </a:rPr>
              <a:t>F </a:t>
            </a:r>
            <a:r>
              <a:rPr lang="en-US" altLang="zh-CN" sz="1600">
                <a:latin typeface="Times New Roman" panose="02020603050405020304" pitchFamily="18" charset="0"/>
                <a:ea typeface="unset"/>
                <a:cs typeface="Times New Roman" panose="02020603050405020304" pitchFamily="18" charset="0"/>
              </a:rPr>
              <a:t>    </a:t>
            </a:r>
            <a:r>
              <a:rPr lang="zh-CN" altLang="en-US" sz="1600">
                <a:latin typeface="Times New Roman" panose="02020603050405020304" pitchFamily="18" charset="0"/>
                <a:ea typeface="unset"/>
                <a:cs typeface="Times New Roman" panose="02020603050405020304" pitchFamily="18" charset="0"/>
              </a:rPr>
              <a:t>F</a:t>
            </a:r>
            <a:r>
              <a:rPr lang="en-US" altLang="zh-CN" sz="1600">
                <a:latin typeface="Times New Roman" panose="02020603050405020304" pitchFamily="18" charset="0"/>
                <a:ea typeface="unset"/>
                <a:cs typeface="Times New Roman" panose="02020603050405020304" pitchFamily="18" charset="0"/>
              </a:rPr>
              <a:t>    </a:t>
            </a:r>
            <a:r>
              <a:rPr lang="zh-CN" altLang="en-US" sz="1600">
                <a:latin typeface="Times New Roman" panose="02020603050405020304" pitchFamily="18" charset="0"/>
                <a:ea typeface="unset"/>
                <a:cs typeface="Times New Roman" panose="02020603050405020304" pitchFamily="18" charset="0"/>
              </a:rPr>
              <a:t> F </a:t>
            </a:r>
            <a:r>
              <a:rPr lang="en-US" altLang="zh-CN" sz="1600">
                <a:latin typeface="Times New Roman" panose="02020603050405020304" pitchFamily="18" charset="0"/>
                <a:ea typeface="unset"/>
                <a:cs typeface="Times New Roman" panose="02020603050405020304" pitchFamily="18" charset="0"/>
              </a:rPr>
              <a:t>    </a:t>
            </a:r>
            <a:r>
              <a:rPr lang="zh-CN" altLang="en-US" sz="1600">
                <a:latin typeface="Times New Roman" panose="02020603050405020304" pitchFamily="18" charset="0"/>
                <a:ea typeface="unset"/>
                <a:cs typeface="Times New Roman" panose="02020603050405020304" pitchFamily="18" charset="0"/>
              </a:rPr>
              <a:t>F </a:t>
            </a:r>
            <a:r>
              <a:rPr lang="en-US" altLang="zh-CN" sz="1600">
                <a:latin typeface="Times New Roman" panose="02020603050405020304" pitchFamily="18" charset="0"/>
                <a:ea typeface="unset"/>
                <a:cs typeface="Times New Roman" panose="02020603050405020304" pitchFamily="18" charset="0"/>
              </a:rPr>
              <a:t>    </a:t>
            </a:r>
            <a:r>
              <a:rPr lang="zh-CN" altLang="en-US" sz="1600">
                <a:latin typeface="Times New Roman" panose="02020603050405020304" pitchFamily="18" charset="0"/>
                <a:ea typeface="unset"/>
                <a:cs typeface="Times New Roman" panose="02020603050405020304" pitchFamily="18" charset="0"/>
              </a:rPr>
              <a:t>F</a:t>
            </a:r>
            <a:r>
              <a:rPr lang="en-US" altLang="zh-CN" sz="1600">
                <a:latin typeface="Times New Roman" panose="02020603050405020304" pitchFamily="18" charset="0"/>
                <a:ea typeface="unset"/>
                <a:cs typeface="Times New Roman" panose="02020603050405020304" pitchFamily="18" charset="0"/>
              </a:rPr>
              <a:t>    </a:t>
            </a:r>
            <a:r>
              <a:rPr lang="zh-CN" altLang="en-US" sz="1600">
                <a:latin typeface="Times New Roman" panose="02020603050405020304" pitchFamily="18" charset="0"/>
                <a:ea typeface="unset"/>
                <a:cs typeface="Times New Roman" panose="02020603050405020304" pitchFamily="18" charset="0"/>
              </a:rPr>
              <a:t> </a:t>
            </a:r>
            <a:r>
              <a:rPr lang="en-US" altLang="zh-CN" sz="1600">
                <a:latin typeface="Times New Roman" panose="02020603050405020304" pitchFamily="18" charset="0"/>
                <a:ea typeface="unset"/>
                <a:cs typeface="Times New Roman" panose="02020603050405020304" pitchFamily="18" charset="0"/>
              </a:rPr>
              <a:t>              </a:t>
            </a:r>
            <a:r>
              <a:rPr lang="zh-CN" altLang="en-US" sz="1600">
                <a:latin typeface="Times New Roman" panose="02020603050405020304" pitchFamily="18" charset="0"/>
                <a:ea typeface="unset"/>
                <a:cs typeface="Times New Roman" panose="02020603050405020304" pitchFamily="18" charset="0"/>
              </a:rPr>
              <a:t>F </a:t>
            </a:r>
            <a:r>
              <a:rPr lang="en-US" altLang="zh-CN" sz="1600">
                <a:latin typeface="Times New Roman" panose="02020603050405020304" pitchFamily="18" charset="0"/>
                <a:ea typeface="unset"/>
                <a:cs typeface="Times New Roman" panose="02020603050405020304" pitchFamily="18" charset="0"/>
              </a:rPr>
              <a:t>   </a:t>
            </a:r>
            <a:r>
              <a:rPr lang="zh-CN" altLang="en-US" sz="1600">
                <a:latin typeface="Times New Roman" panose="02020603050405020304" pitchFamily="18" charset="0"/>
                <a:ea typeface="unset"/>
                <a:cs typeface="Times New Roman" panose="02020603050405020304" pitchFamily="18" charset="0"/>
              </a:rPr>
              <a:t>F </a:t>
            </a:r>
            <a:r>
              <a:rPr lang="en-US" altLang="zh-CN" sz="1600">
                <a:latin typeface="Times New Roman" panose="02020603050405020304" pitchFamily="18" charset="0"/>
                <a:ea typeface="unset"/>
                <a:cs typeface="Times New Roman" panose="02020603050405020304" pitchFamily="18" charset="0"/>
              </a:rPr>
              <a:t>     </a:t>
            </a:r>
            <a:endParaRPr lang="en-US" altLang="zh-CN" sz="1600">
              <a:latin typeface="Times New Roman" panose="02020603050405020304" pitchFamily="18" charset="0"/>
              <a:ea typeface="unset"/>
              <a:cs typeface="Times New Roman" panose="02020603050405020304" pitchFamily="18" charset="0"/>
            </a:endParaRPr>
          </a:p>
        </p:txBody>
      </p:sp>
      <p:sp>
        <p:nvSpPr>
          <p:cNvPr id="8" name="文本框 7"/>
          <p:cNvSpPr txBox="1"/>
          <p:nvPr>
            <p:custDataLst>
              <p:tags r:id="rId2"/>
            </p:custDataLst>
          </p:nvPr>
        </p:nvSpPr>
        <p:spPr>
          <a:xfrm>
            <a:off x="8044641" y="3354816"/>
            <a:ext cx="1870710" cy="306705"/>
          </a:xfrm>
          <a:prstGeom prst="rect">
            <a:avLst/>
          </a:prstGeom>
        </p:spPr>
        <p:txBody>
          <a:bodyPr wrap="square">
            <a:spAutoFit/>
          </a:bodyPr>
          <a:lstStyle/>
          <a:p>
            <a:r>
              <a:rPr lang="zh-CN" altLang="en-US" sz="1400" b="1">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rPr>
              <a:t>缺页次数总计：</a:t>
            </a:r>
            <a:r>
              <a:rPr lang="en-US" altLang="zh-CN" sz="1400" b="1">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rPr>
              <a:t>9</a:t>
            </a:r>
            <a:r>
              <a:rPr lang="zh-CN" altLang="en-US" sz="1400" b="1">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rPr>
              <a:t>次</a:t>
            </a:r>
            <a:endParaRPr lang="zh-CN" altLang="en-US" sz="1400" b="1">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p:txBody>
      </p:sp>
      <p:sp>
        <p:nvSpPr>
          <p:cNvPr id="9" name="文本框 8"/>
          <p:cNvSpPr txBox="1"/>
          <p:nvPr/>
        </p:nvSpPr>
        <p:spPr>
          <a:xfrm>
            <a:off x="2040716" y="4939141"/>
            <a:ext cx="519430" cy="1383665"/>
          </a:xfrm>
          <a:prstGeom prst="rect">
            <a:avLst/>
          </a:prstGeom>
        </p:spPr>
        <p:txBody>
          <a:bodyPr wrap="square">
            <a:spAutoFit/>
          </a:bodyPr>
          <a:lstStyle/>
          <a:p>
            <a:r>
              <a:rPr lang="zh-CN" altLang="en-US" sz="1400">
                <a:latin typeface="黑体" panose="02010609060101010101" charset="-122"/>
                <a:ea typeface="黑体" panose="02010609060101010101" charset="-122"/>
                <a:cs typeface="黑体" panose="02010609060101010101" charset="-122"/>
              </a:rPr>
              <a:t>分配</a:t>
            </a:r>
            <a:endParaRPr lang="zh-CN" altLang="en-US" sz="1400">
              <a:latin typeface="黑体" panose="02010609060101010101" charset="-122"/>
              <a:ea typeface="黑体" panose="02010609060101010101" charset="-122"/>
              <a:cs typeface="黑体" panose="02010609060101010101" charset="-122"/>
            </a:endParaRPr>
          </a:p>
          <a:p>
            <a:r>
              <a:rPr lang="en-US" altLang="zh-CN" sz="1400" b="1">
                <a:solidFill>
                  <a:srgbClr val="C00000"/>
                </a:solidFill>
                <a:latin typeface="黑体" panose="02010609060101010101" charset="-122"/>
                <a:ea typeface="黑体" panose="02010609060101010101" charset="-122"/>
                <a:cs typeface="黑体" panose="02010609060101010101" charset="-122"/>
              </a:rPr>
              <a:t>4</a:t>
            </a:r>
            <a:endParaRPr lang="en-US" altLang="zh-CN" sz="1400">
              <a:latin typeface="黑体" panose="02010609060101010101" charset="-122"/>
              <a:ea typeface="黑体" panose="02010609060101010101" charset="-122"/>
              <a:cs typeface="黑体" panose="02010609060101010101" charset="-122"/>
            </a:endParaRPr>
          </a:p>
          <a:p>
            <a:r>
              <a:rPr lang="zh-CN" altLang="en-US" sz="1400">
                <a:latin typeface="黑体" panose="02010609060101010101" charset="-122"/>
                <a:ea typeface="黑体" panose="02010609060101010101" charset="-122"/>
                <a:cs typeface="黑体" panose="02010609060101010101" charset="-122"/>
              </a:rPr>
              <a:t>个页框</a:t>
            </a:r>
            <a:endParaRPr lang="zh-CN" altLang="en-US" sz="1400">
              <a:latin typeface="黑体" panose="02010609060101010101" charset="-122"/>
              <a:ea typeface="黑体" panose="02010609060101010101" charset="-122"/>
              <a:cs typeface="黑体" panose="02010609060101010101" charset="-122"/>
            </a:endParaRPr>
          </a:p>
        </p:txBody>
      </p:sp>
      <p:sp>
        <p:nvSpPr>
          <p:cNvPr id="10" name="文本框 9"/>
          <p:cNvSpPr txBox="1"/>
          <p:nvPr>
            <p:custDataLst>
              <p:tags r:id="rId3"/>
            </p:custDataLst>
          </p:nvPr>
        </p:nvSpPr>
        <p:spPr>
          <a:xfrm>
            <a:off x="2615391" y="4739115"/>
            <a:ext cx="5816600" cy="1568450"/>
          </a:xfrm>
          <a:prstGeom prst="rect">
            <a:avLst/>
          </a:prstGeom>
          <a:ln>
            <a:solidFill>
              <a:schemeClr val="tx1"/>
            </a:solidFill>
          </a:ln>
        </p:spPr>
        <p:txBody>
          <a:bodyPr wrap="square">
            <a:spAutoFit/>
          </a:bodyPr>
          <a:lstStyle/>
          <a:p>
            <a:r>
              <a:rPr lang="zh-CN" altLang="en-US" sz="1600">
                <a:latin typeface="Times New Roman" panose="02020603050405020304" pitchFamily="18" charset="0"/>
                <a:ea typeface="unset"/>
                <a:cs typeface="Times New Roman" panose="02020603050405020304" pitchFamily="18" charset="0"/>
              </a:rPr>
              <a:t>访问序列</a:t>
            </a:r>
            <a:r>
              <a:rPr lang="en-US" altLang="zh-CN" sz="1600">
                <a:latin typeface="Times New Roman" panose="02020603050405020304" pitchFamily="18" charset="0"/>
                <a:ea typeface="unset"/>
                <a:cs typeface="Times New Roman" panose="02020603050405020304" pitchFamily="18" charset="0"/>
              </a:rPr>
              <a:t>	  1     2     3     4     1	 2     5     1	    2     3	4      5</a:t>
            </a:r>
            <a:endParaRPr lang="en-US" altLang="zh-CN" sz="1600">
              <a:latin typeface="Times New Roman" panose="02020603050405020304" pitchFamily="18" charset="0"/>
              <a:ea typeface="unset"/>
              <a:cs typeface="Times New Roman" panose="02020603050405020304" pitchFamily="18" charset="0"/>
            </a:endParaRPr>
          </a:p>
          <a:p>
            <a:r>
              <a:rPr lang="zh-CN" altLang="en-US" sz="1600">
                <a:latin typeface="Times New Roman" panose="02020603050405020304" pitchFamily="18" charset="0"/>
                <a:ea typeface="unset"/>
                <a:cs typeface="Times New Roman" panose="02020603050405020304" pitchFamily="18" charset="0"/>
              </a:rPr>
              <a:t>页框</a:t>
            </a:r>
            <a:r>
              <a:rPr lang="en-US" altLang="zh-CN" sz="1600">
                <a:latin typeface="Times New Roman" panose="02020603050405020304" pitchFamily="18" charset="0"/>
                <a:ea typeface="unset"/>
                <a:cs typeface="Times New Roman" panose="02020603050405020304" pitchFamily="18" charset="0"/>
              </a:rPr>
              <a:t>1	  1     1     1     1     1	 1     5     5	    5     5	4      4</a:t>
            </a:r>
            <a:endParaRPr lang="en-US" altLang="zh-CN" sz="1600">
              <a:latin typeface="Times New Roman" panose="02020603050405020304" pitchFamily="18" charset="0"/>
              <a:ea typeface="unset"/>
              <a:cs typeface="Times New Roman" panose="02020603050405020304" pitchFamily="18" charset="0"/>
            </a:endParaRPr>
          </a:p>
          <a:p>
            <a:r>
              <a:rPr lang="zh-CN" altLang="en-US" sz="1600">
                <a:latin typeface="Times New Roman" panose="02020603050405020304" pitchFamily="18" charset="0"/>
                <a:ea typeface="unset"/>
                <a:cs typeface="Times New Roman" panose="02020603050405020304" pitchFamily="18" charset="0"/>
              </a:rPr>
              <a:t>页框</a:t>
            </a:r>
            <a:r>
              <a:rPr lang="en-US" altLang="zh-CN" sz="1600">
                <a:latin typeface="Times New Roman" panose="02020603050405020304" pitchFamily="18" charset="0"/>
                <a:ea typeface="unset"/>
                <a:cs typeface="Times New Roman" panose="02020603050405020304" pitchFamily="18" charset="0"/>
              </a:rPr>
              <a:t>2	         2     2     2     2     2     2     1     1     1     1      5</a:t>
            </a:r>
            <a:endParaRPr lang="en-US" altLang="zh-CN" sz="1600">
              <a:latin typeface="Times New Roman" panose="02020603050405020304" pitchFamily="18" charset="0"/>
              <a:ea typeface="unset"/>
              <a:cs typeface="Times New Roman" panose="02020603050405020304" pitchFamily="18" charset="0"/>
            </a:endParaRPr>
          </a:p>
          <a:p>
            <a:r>
              <a:rPr lang="zh-CN" altLang="en-US" sz="1600">
                <a:latin typeface="Times New Roman" panose="02020603050405020304" pitchFamily="18" charset="0"/>
                <a:ea typeface="unset"/>
                <a:cs typeface="Times New Roman" panose="02020603050405020304" pitchFamily="18" charset="0"/>
              </a:rPr>
              <a:t>页框</a:t>
            </a:r>
            <a:r>
              <a:rPr lang="en-US" altLang="zh-CN" sz="1600">
                <a:latin typeface="Times New Roman" panose="02020603050405020304" pitchFamily="18" charset="0"/>
                <a:ea typeface="unset"/>
                <a:cs typeface="Times New Roman" panose="02020603050405020304" pitchFamily="18" charset="0"/>
              </a:rPr>
              <a:t>3	                3     3     3	 3     3     3	    2     2	2      2</a:t>
            </a:r>
            <a:endParaRPr lang="en-US" altLang="zh-CN" sz="1600">
              <a:latin typeface="Times New Roman" panose="02020603050405020304" pitchFamily="18" charset="0"/>
              <a:ea typeface="unset"/>
              <a:cs typeface="Times New Roman" panose="02020603050405020304" pitchFamily="18" charset="0"/>
            </a:endParaRPr>
          </a:p>
          <a:p>
            <a:r>
              <a:rPr lang="zh-CN" altLang="en-US" sz="1600">
                <a:latin typeface="Times New Roman" panose="02020603050405020304" pitchFamily="18" charset="0"/>
                <a:ea typeface="unset"/>
                <a:cs typeface="Times New Roman" panose="02020603050405020304" pitchFamily="18" charset="0"/>
              </a:rPr>
              <a:t>页框</a:t>
            </a:r>
            <a:r>
              <a:rPr lang="en-US" altLang="zh-CN" sz="1600">
                <a:latin typeface="Times New Roman" panose="02020603050405020304" pitchFamily="18" charset="0"/>
                <a:ea typeface="unset"/>
                <a:cs typeface="Times New Roman" panose="02020603050405020304" pitchFamily="18" charset="0"/>
              </a:rPr>
              <a:t>4	  	     4     4	 4     4     4	    4     3	3      3</a:t>
            </a:r>
            <a:endParaRPr lang="en-US" altLang="zh-CN" sz="1600">
              <a:latin typeface="Times New Roman" panose="02020603050405020304" pitchFamily="18" charset="0"/>
              <a:ea typeface="unset"/>
              <a:cs typeface="Times New Roman" panose="02020603050405020304" pitchFamily="18" charset="0"/>
            </a:endParaRPr>
          </a:p>
          <a:p>
            <a:r>
              <a:rPr lang="zh-CN" altLang="en-US" sz="1600">
                <a:latin typeface="Times New Roman" panose="02020603050405020304" pitchFamily="18" charset="0"/>
                <a:ea typeface="unset"/>
                <a:cs typeface="Times New Roman" panose="02020603050405020304" pitchFamily="18" charset="0"/>
              </a:rPr>
              <a:t>缺页</a:t>
            </a:r>
            <a:r>
              <a:rPr lang="en-US" altLang="zh-CN" sz="1600">
                <a:latin typeface="Times New Roman" panose="02020603050405020304" pitchFamily="18" charset="0"/>
                <a:ea typeface="unset"/>
                <a:cs typeface="Times New Roman" panose="02020603050405020304" pitchFamily="18" charset="0"/>
              </a:rPr>
              <a:t> 	  F     F    F	     F	        F     F	    F     F     F     F</a:t>
            </a:r>
            <a:endParaRPr lang="en-US" altLang="zh-CN" sz="1600">
              <a:latin typeface="Times New Roman" panose="02020603050405020304" pitchFamily="18" charset="0"/>
              <a:ea typeface="unset"/>
              <a:cs typeface="Times New Roman" panose="02020603050405020304" pitchFamily="18" charset="0"/>
            </a:endParaRPr>
          </a:p>
        </p:txBody>
      </p:sp>
      <p:sp>
        <p:nvSpPr>
          <p:cNvPr id="11" name="文本框 10"/>
          <p:cNvSpPr txBox="1"/>
          <p:nvPr>
            <p:custDataLst>
              <p:tags r:id="rId4"/>
            </p:custDataLst>
          </p:nvPr>
        </p:nvSpPr>
        <p:spPr>
          <a:xfrm>
            <a:off x="8487236" y="5210286"/>
            <a:ext cx="1870710" cy="306705"/>
          </a:xfrm>
          <a:prstGeom prst="rect">
            <a:avLst/>
          </a:prstGeom>
        </p:spPr>
        <p:txBody>
          <a:bodyPr wrap="square">
            <a:spAutoFit/>
          </a:bodyPr>
          <a:lstStyle/>
          <a:p>
            <a:r>
              <a:rPr lang="zh-CN" altLang="en-US" sz="1400" b="1">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rPr>
              <a:t>缺页次数总计：</a:t>
            </a:r>
            <a:r>
              <a:rPr lang="en-US" altLang="zh-CN" sz="1400" b="1">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rPr>
              <a:t>10</a:t>
            </a:r>
            <a:r>
              <a:rPr lang="zh-CN" altLang="en-US" sz="1400" b="1">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rPr>
              <a:t>次</a:t>
            </a:r>
            <a:endParaRPr lang="zh-CN" altLang="en-US" sz="1400" b="1">
              <a:solidFill>
                <a:srgbClr val="7C0000"/>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7" name="矩形 6"/>
          <p:cNvSpPr/>
          <p:nvPr/>
        </p:nvSpPr>
        <p:spPr>
          <a:xfrm>
            <a:off x="1249045" y="1214755"/>
            <a:ext cx="2790825" cy="398780"/>
          </a:xfrm>
          <a:prstGeom prst="rect">
            <a:avLst/>
          </a:prstGeom>
        </p:spPr>
        <p:txBody>
          <a:bodyPr wrap="squar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页面置换算法</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2" name="矩形 1"/>
          <p:cNvSpPr/>
          <p:nvPr/>
        </p:nvSpPr>
        <p:spPr>
          <a:xfrm>
            <a:off x="1950366" y="1583957"/>
            <a:ext cx="5744913" cy="759182"/>
          </a:xfrm>
          <a:prstGeom prst="rect">
            <a:avLst/>
          </a:prstGeom>
        </p:spPr>
        <p:txBody>
          <a:bodyPr wrap="square">
            <a:spAutoFit/>
          </a:bodyPr>
          <a:lstStyle/>
          <a:p>
            <a:pPr marL="342900" indent="-342900">
              <a:lnSpc>
                <a:spcPct val="125000"/>
              </a:lnSpc>
              <a:buFont typeface="+mj-lt"/>
              <a:buAutoNum type="arabicPeriod"/>
            </a:pPr>
            <a:r>
              <a:rPr lang="zh-CN" altLang="zh-CN" b="1" kern="0" dirty="0">
                <a:solidFill>
                  <a:srgbClr val="000000"/>
                </a:solidFill>
                <a:latin typeface="Calibri" panose="020F0502020204030204" charset="0"/>
                <a:ea typeface="宋体" panose="02010600030101010101" pitchFamily="2" charset="-122"/>
                <a:cs typeface="Helvetica" panose="020B0604020202020204" pitchFamily="34" charset="0"/>
              </a:rPr>
              <a:t>先进先出页面置换算法（</a:t>
            </a:r>
            <a:r>
              <a:rPr lang="en-US" altLang="zh-CN" b="1" kern="0" dirty="0">
                <a:solidFill>
                  <a:srgbClr val="000000"/>
                </a:solidFill>
                <a:latin typeface="Calibri" panose="020F0502020204030204" charset="0"/>
                <a:ea typeface="宋体" panose="02010600030101010101" pitchFamily="2" charset="-122"/>
                <a:cs typeface="Helvetica" panose="020B0604020202020204" pitchFamily="34" charset="0"/>
              </a:rPr>
              <a:t>FIFO</a:t>
            </a:r>
            <a:r>
              <a:rPr lang="zh-CN" altLang="zh-CN" b="1" kern="0" dirty="0">
                <a:solidFill>
                  <a:srgbClr val="000000"/>
                </a:solidFill>
                <a:latin typeface="Calibri" panose="020F0502020204030204" charset="0"/>
                <a:ea typeface="宋体" panose="02010600030101010101" pitchFamily="2" charset="-122"/>
                <a:cs typeface="Helvetica" panose="020B0604020202020204" pitchFamily="34" charset="0"/>
              </a:rPr>
              <a:t>）</a:t>
            </a:r>
            <a:r>
              <a:rPr lang="en-US" altLang="zh-CN" b="1" kern="0" dirty="0">
                <a:solidFill>
                  <a:srgbClr val="7C0000"/>
                </a:solidFill>
                <a:latin typeface="Calibri" panose="020F0502020204030204" charset="0"/>
                <a:ea typeface="宋体" panose="02010600030101010101" pitchFamily="2" charset="-122"/>
                <a:cs typeface="Helvetica" panose="020B0604020202020204" pitchFamily="34" charset="0"/>
              </a:rPr>
              <a:t>---</a:t>
            </a:r>
            <a:r>
              <a:rPr lang="en-US" altLang="zh-CN" b="1" dirty="0" err="1">
                <a:solidFill>
                  <a:srgbClr val="7C0000"/>
                </a:solidFill>
              </a:rPr>
              <a:t>Belady</a:t>
            </a:r>
            <a:r>
              <a:rPr lang="zh-CN" altLang="zh-CN" b="1" dirty="0">
                <a:solidFill>
                  <a:srgbClr val="7C0000"/>
                </a:solidFill>
              </a:rPr>
              <a:t>现象</a:t>
            </a:r>
            <a:endParaRPr lang="zh-CN" altLang="zh-CN" b="1" dirty="0">
              <a:solidFill>
                <a:srgbClr val="FF0000"/>
              </a:solidFill>
            </a:endParaRPr>
          </a:p>
          <a:p>
            <a:pPr marL="342900" indent="-342900">
              <a:lnSpc>
                <a:spcPct val="125000"/>
              </a:lnSpc>
              <a:buFont typeface="+mj-lt"/>
              <a:buAutoNum type="arabicPeriod"/>
            </a:pPr>
            <a:endParaRPr lang="zh-CN" altLang="zh-CN" kern="100" dirty="0">
              <a:latin typeface="Calibri" panose="020F0502020204030204" charset="0"/>
              <a:ea typeface="宋体" panose="02010600030101010101" pitchFamily="2" charset="-122"/>
              <a:cs typeface="Times New Roman" panose="02020603050405020304" pitchFamily="18" charset="0"/>
            </a:endParaRPr>
          </a:p>
        </p:txBody>
      </p:sp>
      <p:sp>
        <p:nvSpPr>
          <p:cNvPr id="14" name="矩形 13"/>
          <p:cNvSpPr/>
          <p:nvPr/>
        </p:nvSpPr>
        <p:spPr>
          <a:xfrm>
            <a:off x="2273823" y="2163266"/>
            <a:ext cx="6543505" cy="754694"/>
          </a:xfrm>
          <a:prstGeom prst="rect">
            <a:avLst/>
          </a:prstGeom>
          <a:solidFill>
            <a:schemeClr val="bg1">
              <a:lumMod val="95000"/>
            </a:schemeClr>
          </a:solidFill>
          <a:ln>
            <a:solidFill>
              <a:schemeClr val="tx1"/>
            </a:solidFill>
          </a:ln>
        </p:spPr>
        <p:txBody>
          <a:bodyPr wrap="square">
            <a:spAutoFit/>
          </a:bodyPr>
          <a:lstStyle/>
          <a:p>
            <a:pPr>
              <a:lnSpc>
                <a:spcPct val="125000"/>
              </a:lnSpc>
            </a:pPr>
            <a:r>
              <a:rPr lang="zh-CN" altLang="zh-CN" kern="0" dirty="0">
                <a:solidFill>
                  <a:srgbClr val="000000"/>
                </a:solidFill>
                <a:ea typeface="宋体" panose="02010600030101010101" pitchFamily="2" charset="-122"/>
                <a:cs typeface="Helvetica" panose="020B0604020202020204" pitchFamily="34" charset="0"/>
              </a:rPr>
              <a:t>假设页面的引用序列如下：</a:t>
            </a:r>
            <a:endParaRPr lang="zh-CN" altLang="zh-CN" kern="100" dirty="0">
              <a:ea typeface="宋体" panose="02010600030101010101" pitchFamily="2" charset="-122"/>
              <a:cs typeface="Times New Roman" panose="02020603050405020304" pitchFamily="18" charset="0"/>
            </a:endParaRPr>
          </a:p>
          <a:p>
            <a:pPr>
              <a:lnSpc>
                <a:spcPct val="125000"/>
              </a:lnSpc>
            </a:pPr>
            <a:r>
              <a:rPr lang="en-US" altLang="zh-CN" kern="0" dirty="0">
                <a:solidFill>
                  <a:srgbClr val="000000"/>
                </a:solidFill>
                <a:ea typeface="宋体" panose="02010600030101010101" pitchFamily="2" charset="-122"/>
                <a:cs typeface="Helvetica" panose="020B0604020202020204" pitchFamily="34" charset="0"/>
              </a:rPr>
              <a:t>           1,2,3,4,1,2,5,1,2,3,4,5    </a:t>
            </a:r>
            <a:endParaRPr lang="zh-CN" altLang="zh-CN" kern="100" dirty="0">
              <a:ea typeface="宋体" panose="02010600030101010101" pitchFamily="2" charset="-122"/>
              <a:cs typeface="Times New Roman" panose="02020603050405020304" pitchFamily="18" charset="0"/>
            </a:endParaRPr>
          </a:p>
        </p:txBody>
      </p:sp>
      <p:pic>
        <p:nvPicPr>
          <p:cNvPr id="15" name="图片 14"/>
          <p:cNvPicPr>
            <a:picLocks noChangeAspect="1"/>
          </p:cNvPicPr>
          <p:nvPr/>
        </p:nvPicPr>
        <p:blipFill>
          <a:blip r:embed="rId1"/>
          <a:stretch>
            <a:fillRect/>
          </a:stretch>
        </p:blipFill>
        <p:spPr>
          <a:xfrm>
            <a:off x="2132897" y="3164373"/>
            <a:ext cx="5492013" cy="2824811"/>
          </a:xfrm>
          <a:prstGeom prst="rect">
            <a:avLst/>
          </a:prstGeom>
        </p:spPr>
      </p:pic>
      <p:sp>
        <p:nvSpPr>
          <p:cNvPr id="17" name="矩形 16"/>
          <p:cNvSpPr/>
          <p:nvPr/>
        </p:nvSpPr>
        <p:spPr>
          <a:xfrm>
            <a:off x="7723334" y="3499102"/>
            <a:ext cx="2050561" cy="646331"/>
          </a:xfrm>
          <a:prstGeom prst="rect">
            <a:avLst/>
          </a:prstGeom>
        </p:spPr>
        <p:txBody>
          <a:bodyPr wrap="none">
            <a:spAutoFit/>
          </a:bodyPr>
          <a:lstStyle/>
          <a:p>
            <a:r>
              <a:rPr lang="en-US" altLang="zh-CN" b="1" dirty="0" err="1">
                <a:solidFill>
                  <a:srgbClr val="0C0CC6"/>
                </a:solidFill>
                <a:ea typeface="华文楷体" panose="02010600040101010101" pitchFamily="2" charset="-122"/>
                <a:cs typeface="Arial" panose="020B0604020202020204" pitchFamily="34" charset="0"/>
              </a:rPr>
              <a:t>Belady</a:t>
            </a:r>
            <a:r>
              <a:rPr lang="zh-CN" altLang="zh-CN" b="1" dirty="0">
                <a:solidFill>
                  <a:srgbClr val="0C0CC6"/>
                </a:solidFill>
                <a:ea typeface="华文楷体" panose="02010600040101010101" pitchFamily="2" charset="-122"/>
                <a:cs typeface="Arial" panose="020B0604020202020204" pitchFamily="34" charset="0"/>
              </a:rPr>
              <a:t>现象</a:t>
            </a:r>
            <a:r>
              <a:rPr lang="zh-CN" altLang="en-US" b="1" dirty="0">
                <a:solidFill>
                  <a:srgbClr val="0C0CC6"/>
                </a:solidFill>
                <a:ea typeface="华文楷体" panose="02010600040101010101" pitchFamily="2" charset="-122"/>
                <a:cs typeface="Arial" panose="020B0604020202020204" pitchFamily="34" charset="0"/>
              </a:rPr>
              <a:t>是</a:t>
            </a:r>
            <a:r>
              <a:rPr lang="en-US" altLang="zh-CN" b="1" dirty="0">
                <a:solidFill>
                  <a:srgbClr val="0C0CC6"/>
                </a:solidFill>
                <a:ea typeface="华文楷体" panose="02010600040101010101" pitchFamily="2" charset="-122"/>
                <a:cs typeface="Arial" panose="020B0604020202020204" pitchFamily="34" charset="0"/>
              </a:rPr>
              <a:t>FIFO</a:t>
            </a:r>
            <a:endParaRPr lang="en-US" altLang="zh-CN" b="1" dirty="0">
              <a:solidFill>
                <a:srgbClr val="0C0CC6"/>
              </a:solidFill>
              <a:ea typeface="华文楷体" panose="02010600040101010101" pitchFamily="2" charset="-122"/>
              <a:cs typeface="Arial" panose="020B0604020202020204" pitchFamily="34" charset="0"/>
            </a:endParaRPr>
          </a:p>
          <a:p>
            <a:r>
              <a:rPr lang="zh-CN" altLang="en-US" b="1" dirty="0">
                <a:solidFill>
                  <a:srgbClr val="0C0CC6"/>
                </a:solidFill>
                <a:ea typeface="华文楷体" panose="02010600040101010101" pitchFamily="2" charset="-122"/>
                <a:cs typeface="Arial" panose="020B0604020202020204" pitchFamily="34" charset="0"/>
              </a:rPr>
              <a:t>算法特有的！</a:t>
            </a:r>
            <a:endParaRPr lang="zh-CN" altLang="en-US" b="1" dirty="0">
              <a:solidFill>
                <a:srgbClr val="0C0CC6"/>
              </a:solidFill>
              <a:ea typeface="华文楷体" panose="02010600040101010101" pitchFamily="2" charset="-122"/>
            </a:endParaRPr>
          </a:p>
        </p:txBody>
      </p:sp>
      <p:sp>
        <p:nvSpPr>
          <p:cNvPr id="18" name="文本框 17"/>
          <p:cNvSpPr txBox="1"/>
          <p:nvPr/>
        </p:nvSpPr>
        <p:spPr>
          <a:xfrm>
            <a:off x="7624799" y="4472221"/>
            <a:ext cx="3009798" cy="922020"/>
          </a:xfrm>
          <a:prstGeom prst="rect">
            <a:avLst/>
          </a:prstGeom>
        </p:spPr>
        <p:txBody>
          <a:bodyPr wrap="square">
            <a:spAutoFit/>
          </a:bodyPr>
          <a:lstStyle/>
          <a:p>
            <a:r>
              <a:rPr lang="zh-CN" altLang="en-US" b="1" dirty="0">
                <a:solidFill>
                  <a:srgbClr val="7C0000"/>
                </a:solidFill>
                <a:ea typeface="黑体" panose="02010609060101010101" charset="-122"/>
                <a:cs typeface="黑体" panose="02010609060101010101" charset="-122"/>
              </a:rPr>
              <a:t>其根本原因在于 </a:t>
            </a:r>
            <a:r>
              <a:rPr lang="en-US" altLang="zh-CN" b="1" dirty="0">
                <a:solidFill>
                  <a:srgbClr val="7C0000"/>
                </a:solidFill>
                <a:ea typeface="黑体" panose="02010609060101010101" charset="-122"/>
                <a:cs typeface="黑体" panose="02010609060101010101" charset="-122"/>
              </a:rPr>
              <a:t>FIFO</a:t>
            </a:r>
            <a:r>
              <a:rPr lang="zh-CN" altLang="en-US" b="1" dirty="0">
                <a:solidFill>
                  <a:srgbClr val="7C0000"/>
                </a:solidFill>
                <a:ea typeface="黑体" panose="02010609060101010101" charset="-122"/>
                <a:cs typeface="黑体" panose="02010609060101010101" charset="-122"/>
              </a:rPr>
              <a:t>算法的固有缺陷：它没有考虑程序的“访问局部性”。</a:t>
            </a:r>
            <a:endParaRPr lang="zh-CN" altLang="en-US" b="1" dirty="0">
              <a:solidFill>
                <a:srgbClr val="7C0000"/>
              </a:solidFill>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8" grpId="0"/>
      <p:bldP spid="18"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7" name="矩形 6"/>
          <p:cNvSpPr/>
          <p:nvPr/>
        </p:nvSpPr>
        <p:spPr>
          <a:xfrm>
            <a:off x="1249045" y="1214755"/>
            <a:ext cx="3140075" cy="398780"/>
          </a:xfrm>
          <a:prstGeom prst="rect">
            <a:avLst/>
          </a:prstGeom>
        </p:spPr>
        <p:txBody>
          <a:bodyPr wrap="squar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页面置换算法</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3" name="矩形 2"/>
          <p:cNvSpPr/>
          <p:nvPr/>
        </p:nvSpPr>
        <p:spPr>
          <a:xfrm>
            <a:off x="1873548" y="1555504"/>
            <a:ext cx="5744913" cy="1131079"/>
          </a:xfrm>
          <a:prstGeom prst="rect">
            <a:avLst/>
          </a:prstGeom>
        </p:spPr>
        <p:txBody>
          <a:bodyPr wrap="square">
            <a:spAutoFit/>
          </a:bodyPr>
          <a:lstStyle/>
          <a:p>
            <a:pPr>
              <a:lnSpc>
                <a:spcPct val="125000"/>
              </a:lnSpc>
            </a:pPr>
            <a:r>
              <a:rPr lang="en-US" altLang="zh-CN" b="1" kern="0" dirty="0">
                <a:solidFill>
                  <a:srgbClr val="000000"/>
                </a:solidFill>
                <a:latin typeface="Calibri" panose="020F0502020204030204" charset="0"/>
                <a:ea typeface="宋体" panose="02010600030101010101" pitchFamily="2" charset="-122"/>
                <a:cs typeface="Helvetica" panose="020B0604020202020204" pitchFamily="34" charset="0"/>
              </a:rPr>
              <a:t>2. </a:t>
            </a:r>
            <a:r>
              <a:rPr lang="zh-CN" altLang="zh-CN" b="1" dirty="0"/>
              <a:t>最优页面置换（</a:t>
            </a:r>
            <a:r>
              <a:rPr lang="en-US" altLang="zh-CN" b="1" dirty="0"/>
              <a:t>OPT</a:t>
            </a:r>
            <a:r>
              <a:rPr lang="zh-CN" altLang="zh-CN" b="1" dirty="0"/>
              <a:t>）算法</a:t>
            </a:r>
            <a:endParaRPr lang="zh-CN" altLang="zh-CN" dirty="0"/>
          </a:p>
          <a:p>
            <a:pPr>
              <a:lnSpc>
                <a:spcPct val="125000"/>
              </a:lnSpc>
            </a:pPr>
            <a:endParaRPr lang="zh-CN" altLang="zh-CN" b="1" dirty="0">
              <a:solidFill>
                <a:srgbClr val="FF0000"/>
              </a:solidFill>
            </a:endParaRPr>
          </a:p>
          <a:p>
            <a:pPr marL="342900" indent="-342900">
              <a:lnSpc>
                <a:spcPct val="125000"/>
              </a:lnSpc>
              <a:buFont typeface="+mj-lt"/>
              <a:buAutoNum type="arabicPeriod"/>
            </a:pPr>
            <a:endParaRPr lang="zh-CN" altLang="zh-CN" kern="100" dirty="0">
              <a:latin typeface="Calibri" panose="020F0502020204030204" charset="0"/>
              <a:ea typeface="宋体" panose="02010600030101010101" pitchFamily="2" charset="-122"/>
              <a:cs typeface="Times New Roman" panose="02020603050405020304" pitchFamily="18" charset="0"/>
            </a:endParaRPr>
          </a:p>
        </p:txBody>
      </p:sp>
      <p:sp>
        <p:nvSpPr>
          <p:cNvPr id="4" name="矩形 3"/>
          <p:cNvSpPr/>
          <p:nvPr/>
        </p:nvSpPr>
        <p:spPr>
          <a:xfrm>
            <a:off x="1873548" y="2020835"/>
            <a:ext cx="7758954" cy="646331"/>
          </a:xfrm>
          <a:prstGeom prst="rect">
            <a:avLst/>
          </a:prstGeom>
        </p:spPr>
        <p:txBody>
          <a:bodyPr wrap="square">
            <a:spAutoFit/>
          </a:bodyPr>
          <a:lstStyle/>
          <a:p>
            <a:r>
              <a:rPr lang="zh-CN" altLang="zh-CN" b="1" kern="0" dirty="0">
                <a:solidFill>
                  <a:srgbClr val="003A8F"/>
                </a:solidFill>
                <a:ea typeface="宋体" panose="02010600030101010101" pitchFamily="2" charset="-122"/>
                <a:cs typeface="Helvetica" panose="020B0604020202020204" pitchFamily="34" charset="0"/>
              </a:rPr>
              <a:t>最优置换算法（</a:t>
            </a:r>
            <a:r>
              <a:rPr lang="en-US" altLang="zh-CN" b="1" kern="0" dirty="0">
                <a:solidFill>
                  <a:srgbClr val="003A8F"/>
                </a:solidFill>
                <a:ea typeface="宋体" panose="02010600030101010101" pitchFamily="2" charset="-122"/>
                <a:cs typeface="Helvetica" panose="020B0604020202020204" pitchFamily="34" charset="0"/>
              </a:rPr>
              <a:t>OPT</a:t>
            </a:r>
            <a:r>
              <a:rPr lang="zh-CN" altLang="zh-CN" b="1" kern="0" dirty="0">
                <a:solidFill>
                  <a:srgbClr val="003A8F"/>
                </a:solidFill>
                <a:ea typeface="宋体" panose="02010600030101010101" pitchFamily="2" charset="-122"/>
                <a:cs typeface="Helvetica" panose="020B0604020202020204" pitchFamily="34" charset="0"/>
              </a:rPr>
              <a:t>）是指，其所选择的被淘汰页面，将是以后永不使用的，或许是在最长</a:t>
            </a:r>
            <a:r>
              <a:rPr lang="en-US" altLang="zh-CN" b="1" kern="0" dirty="0">
                <a:solidFill>
                  <a:srgbClr val="003A8F"/>
                </a:solidFill>
                <a:ea typeface="宋体" panose="02010600030101010101" pitchFamily="2" charset="-122"/>
                <a:cs typeface="Helvetica" panose="020B0604020202020204" pitchFamily="34" charset="0"/>
              </a:rPr>
              <a:t>(</a:t>
            </a:r>
            <a:r>
              <a:rPr lang="zh-CN" altLang="zh-CN" b="1" kern="0" dirty="0">
                <a:solidFill>
                  <a:srgbClr val="003A8F"/>
                </a:solidFill>
                <a:ea typeface="宋体" panose="02010600030101010101" pitchFamily="2" charset="-122"/>
                <a:cs typeface="Helvetica" panose="020B0604020202020204" pitchFamily="34" charset="0"/>
              </a:rPr>
              <a:t>未来</a:t>
            </a:r>
            <a:r>
              <a:rPr lang="en-US" altLang="zh-CN" b="1" kern="0" dirty="0">
                <a:solidFill>
                  <a:srgbClr val="003A8F"/>
                </a:solidFill>
                <a:ea typeface="宋体" panose="02010600030101010101" pitchFamily="2" charset="-122"/>
                <a:cs typeface="Helvetica" panose="020B0604020202020204" pitchFamily="34" charset="0"/>
              </a:rPr>
              <a:t>)</a:t>
            </a:r>
            <a:r>
              <a:rPr lang="zh-CN" altLang="zh-CN" b="1" kern="0" dirty="0">
                <a:solidFill>
                  <a:srgbClr val="003A8F"/>
                </a:solidFill>
                <a:ea typeface="宋体" panose="02010600030101010101" pitchFamily="2" charset="-122"/>
                <a:cs typeface="Helvetica" panose="020B0604020202020204" pitchFamily="34" charset="0"/>
              </a:rPr>
              <a:t>时间内不再被访问的页面</a:t>
            </a:r>
            <a:endParaRPr lang="zh-CN" altLang="en-US" b="1" dirty="0">
              <a:solidFill>
                <a:srgbClr val="003A8F"/>
              </a:solidFill>
            </a:endParaRPr>
          </a:p>
        </p:txBody>
      </p:sp>
      <p:sp>
        <p:nvSpPr>
          <p:cNvPr id="5" name="矩形 4"/>
          <p:cNvSpPr/>
          <p:nvPr/>
        </p:nvSpPr>
        <p:spPr>
          <a:xfrm>
            <a:off x="2209800" y="2692785"/>
            <a:ext cx="7933765" cy="754694"/>
          </a:xfrm>
          <a:prstGeom prst="rect">
            <a:avLst/>
          </a:prstGeom>
          <a:solidFill>
            <a:schemeClr val="bg1">
              <a:lumMod val="95000"/>
            </a:schemeClr>
          </a:solidFill>
          <a:ln>
            <a:solidFill>
              <a:schemeClr val="tx1"/>
            </a:solidFill>
          </a:ln>
        </p:spPr>
        <p:txBody>
          <a:bodyPr wrap="square">
            <a:spAutoFit/>
          </a:bodyPr>
          <a:lstStyle/>
          <a:p>
            <a:pPr indent="266700">
              <a:lnSpc>
                <a:spcPct val="125000"/>
              </a:lnSpc>
            </a:pPr>
            <a:r>
              <a:rPr lang="zh-CN" altLang="zh-CN" kern="0" dirty="0">
                <a:solidFill>
                  <a:srgbClr val="000000"/>
                </a:solidFill>
                <a:latin typeface="Calibri" panose="020F0502020204030204" charset="0"/>
                <a:ea typeface="宋体" panose="02010600030101010101" pitchFamily="2" charset="-122"/>
                <a:cs typeface="Helvetica" panose="020B0604020202020204" pitchFamily="34" charset="0"/>
              </a:rPr>
              <a:t>场景：假设某进程被分配了</a:t>
            </a:r>
            <a:r>
              <a:rPr lang="en-US" altLang="zh-CN" kern="0" dirty="0">
                <a:solidFill>
                  <a:srgbClr val="000000"/>
                </a:solidFill>
                <a:latin typeface="Calibri" panose="020F0502020204030204" charset="0"/>
                <a:ea typeface="宋体" panose="02010600030101010101" pitchFamily="2" charset="-122"/>
                <a:cs typeface="Helvetica" panose="020B0604020202020204" pitchFamily="34" charset="0"/>
              </a:rPr>
              <a:t>3</a:t>
            </a:r>
            <a:r>
              <a:rPr lang="zh-CN" altLang="zh-CN" kern="0" dirty="0">
                <a:solidFill>
                  <a:srgbClr val="000000"/>
                </a:solidFill>
                <a:latin typeface="Calibri" panose="020F0502020204030204" charset="0"/>
                <a:ea typeface="宋体" panose="02010600030101010101" pitchFamily="2" charset="-122"/>
                <a:cs typeface="Helvetica" panose="020B0604020202020204" pitchFamily="34" charset="0"/>
              </a:rPr>
              <a:t>个页帧，程序页面访问序列为：</a:t>
            </a:r>
            <a:endParaRPr lang="zh-CN" altLang="zh-CN" kern="100" dirty="0">
              <a:latin typeface="Calibri" panose="020F0502020204030204" charset="0"/>
              <a:ea typeface="宋体" panose="02010600030101010101" pitchFamily="2" charset="-122"/>
              <a:cs typeface="Times New Roman" panose="02020603050405020304" pitchFamily="18" charset="0"/>
            </a:endParaRPr>
          </a:p>
          <a:p>
            <a:pPr>
              <a:lnSpc>
                <a:spcPct val="125000"/>
              </a:lnSpc>
            </a:pPr>
            <a:r>
              <a:rPr lang="en-US" altLang="zh-CN" kern="0" dirty="0">
                <a:solidFill>
                  <a:srgbClr val="000000"/>
                </a:solidFill>
                <a:latin typeface="宋体" panose="02010600030101010101" pitchFamily="2" charset="-122"/>
                <a:ea typeface="宋体" panose="02010600030101010101" pitchFamily="2" charset="-122"/>
                <a:cs typeface="Helvetica" panose="020B0604020202020204" pitchFamily="34" charset="0"/>
              </a:rPr>
              <a:t>      6,5,1,2,5,3,5,4,2,3,5,3,2,1,2 </a:t>
            </a:r>
            <a:endParaRPr lang="zh-CN" altLang="zh-CN" kern="100" dirty="0">
              <a:latin typeface="Calibri" panose="020F0502020204030204" charset="0"/>
              <a:ea typeface="宋体" panose="02010600030101010101" pitchFamily="2" charset="-122"/>
              <a:cs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2045970" y="3619500"/>
            <a:ext cx="8295640" cy="246189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7" name="矩形 6"/>
          <p:cNvSpPr/>
          <p:nvPr/>
        </p:nvSpPr>
        <p:spPr>
          <a:xfrm>
            <a:off x="1345565" y="1214755"/>
            <a:ext cx="2819400" cy="398780"/>
          </a:xfrm>
          <a:prstGeom prst="rect">
            <a:avLst/>
          </a:prstGeom>
        </p:spPr>
        <p:txBody>
          <a:bodyPr wrap="squar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页面置换算法</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2" name="矩形 1"/>
          <p:cNvSpPr/>
          <p:nvPr/>
        </p:nvSpPr>
        <p:spPr>
          <a:xfrm>
            <a:off x="1497767" y="1583957"/>
            <a:ext cx="5744913" cy="1131079"/>
          </a:xfrm>
          <a:prstGeom prst="rect">
            <a:avLst/>
          </a:prstGeom>
        </p:spPr>
        <p:txBody>
          <a:bodyPr wrap="square">
            <a:spAutoFit/>
          </a:bodyPr>
          <a:lstStyle/>
          <a:p>
            <a:pPr>
              <a:lnSpc>
                <a:spcPct val="125000"/>
              </a:lnSpc>
            </a:pPr>
            <a:r>
              <a:rPr lang="en-US" altLang="zh-CN" b="1" kern="0" dirty="0">
                <a:solidFill>
                  <a:srgbClr val="003A8F"/>
                </a:solidFill>
                <a:ea typeface="宋体" panose="02010600030101010101" pitchFamily="2" charset="-122"/>
                <a:cs typeface="Helvetica" panose="020B0604020202020204" pitchFamily="34" charset="0"/>
              </a:rPr>
              <a:t>3.  LRU </a:t>
            </a:r>
            <a:r>
              <a:rPr lang="zh-CN" altLang="zh-CN" b="1" dirty="0">
                <a:solidFill>
                  <a:srgbClr val="003A8F"/>
                </a:solidFill>
              </a:rPr>
              <a:t>页面置换算法</a:t>
            </a:r>
            <a:endParaRPr lang="zh-CN" altLang="zh-CN" dirty="0">
              <a:solidFill>
                <a:srgbClr val="003A8F"/>
              </a:solidFill>
            </a:endParaRPr>
          </a:p>
          <a:p>
            <a:pPr>
              <a:lnSpc>
                <a:spcPct val="125000"/>
              </a:lnSpc>
            </a:pPr>
            <a:endParaRPr lang="zh-CN" altLang="zh-CN" b="1" dirty="0">
              <a:solidFill>
                <a:srgbClr val="003A8F"/>
              </a:solidFill>
            </a:endParaRPr>
          </a:p>
          <a:p>
            <a:pPr marL="342900" indent="-342900">
              <a:lnSpc>
                <a:spcPct val="125000"/>
              </a:lnSpc>
              <a:buFont typeface="+mj-lt"/>
              <a:buAutoNum type="arabicPeriod"/>
            </a:pPr>
            <a:endParaRPr lang="zh-CN" altLang="zh-CN" kern="100" dirty="0">
              <a:solidFill>
                <a:srgbClr val="003A8F"/>
              </a:solidFill>
              <a:ea typeface="宋体" panose="02010600030101010101" pitchFamily="2" charset="-122"/>
              <a:cs typeface="Times New Roman" panose="02020603050405020304" pitchFamily="18" charset="0"/>
            </a:endParaRPr>
          </a:p>
        </p:txBody>
      </p:sp>
      <p:sp>
        <p:nvSpPr>
          <p:cNvPr id="9" name="矩形 8"/>
          <p:cNvSpPr/>
          <p:nvPr/>
        </p:nvSpPr>
        <p:spPr>
          <a:xfrm>
            <a:off x="1535500" y="2099864"/>
            <a:ext cx="8623107" cy="923330"/>
          </a:xfrm>
          <a:prstGeom prst="rect">
            <a:avLst/>
          </a:prstGeom>
          <a:ln>
            <a:solidFill>
              <a:schemeClr val="tx1">
                <a:lumMod val="95000"/>
                <a:lumOff val="5000"/>
              </a:schemeClr>
            </a:solidFill>
          </a:ln>
        </p:spPr>
        <p:txBody>
          <a:bodyPr wrap="square">
            <a:spAutoFit/>
          </a:bodyPr>
          <a:lstStyle/>
          <a:p>
            <a:r>
              <a:rPr lang="zh-CN" altLang="zh-CN" b="1" dirty="0">
                <a:ea typeface="华文楷体" panose="02010600040101010101" pitchFamily="2" charset="-122"/>
              </a:rPr>
              <a:t>如果以最近的过去作为不久将来的近似，那么就可以把过去最长一段时间里不曾被使用的页面置换掉。它的实质是，当需要置换一页时，选择在最近一段时间里最久没有使用过的页面予以置换</a:t>
            </a:r>
            <a:r>
              <a:rPr lang="zh-CN" altLang="en-US" b="1" dirty="0">
                <a:ea typeface="华文楷体" panose="02010600040101010101" pitchFamily="2" charset="-122"/>
              </a:rPr>
              <a:t>。</a:t>
            </a:r>
            <a:endParaRPr lang="zh-CN" altLang="en-US" b="1" dirty="0">
              <a:solidFill>
                <a:srgbClr val="003A8F"/>
              </a:solidFill>
              <a:ea typeface="华文楷体" panose="02010600040101010101" pitchFamily="2" charset="-122"/>
            </a:endParaRPr>
          </a:p>
        </p:txBody>
      </p:sp>
      <p:sp>
        <p:nvSpPr>
          <p:cNvPr id="10" name="矩形 9"/>
          <p:cNvSpPr/>
          <p:nvPr/>
        </p:nvSpPr>
        <p:spPr>
          <a:xfrm>
            <a:off x="1798160" y="3136574"/>
            <a:ext cx="6779558" cy="784830"/>
          </a:xfrm>
          <a:prstGeom prst="rect">
            <a:avLst/>
          </a:prstGeom>
        </p:spPr>
        <p:txBody>
          <a:bodyPr wrap="square">
            <a:spAutoFit/>
          </a:bodyPr>
          <a:lstStyle/>
          <a:p>
            <a:pPr indent="304800">
              <a:lnSpc>
                <a:spcPct val="125000"/>
              </a:lnSpc>
            </a:pPr>
            <a:r>
              <a:rPr lang="en-US" altLang="zh-CN" b="1" kern="0" dirty="0">
                <a:solidFill>
                  <a:srgbClr val="000000"/>
                </a:solidFill>
                <a:ea typeface="华文楷体" panose="02010600040101010101" pitchFamily="2" charset="-122"/>
                <a:cs typeface="Arial" panose="020B0604020202020204" pitchFamily="34" charset="0"/>
              </a:rPr>
              <a:t> LRU</a:t>
            </a:r>
            <a:r>
              <a:rPr lang="zh-CN" altLang="zh-CN" b="1" kern="0" dirty="0">
                <a:solidFill>
                  <a:srgbClr val="000000"/>
                </a:solidFill>
                <a:ea typeface="华文楷体" panose="02010600040101010101" pitchFamily="2" charset="-122"/>
                <a:cs typeface="Arial" panose="020B0604020202020204" pitchFamily="34" charset="0"/>
              </a:rPr>
              <a:t>算法需要实际硬件的支持。其问题是怎么确定最后使用时间的顺序，对此有两种可行的办法。</a:t>
            </a:r>
            <a:endParaRPr lang="zh-CN" altLang="zh-CN" b="1" kern="100" dirty="0">
              <a:ea typeface="华文楷体" panose="02010600040101010101" pitchFamily="2" charset="-122"/>
              <a:cs typeface="Times New Roman" panose="02020603050405020304" pitchFamily="18" charset="0"/>
            </a:endParaRPr>
          </a:p>
        </p:txBody>
      </p:sp>
      <p:sp>
        <p:nvSpPr>
          <p:cNvPr id="11" name="矩形 10"/>
          <p:cNvSpPr/>
          <p:nvPr/>
        </p:nvSpPr>
        <p:spPr>
          <a:xfrm>
            <a:off x="2099876" y="4089774"/>
            <a:ext cx="7374279" cy="646331"/>
          </a:xfrm>
          <a:prstGeom prst="rect">
            <a:avLst/>
          </a:prstGeom>
        </p:spPr>
        <p:txBody>
          <a:bodyPr wrap="square">
            <a:spAutoFit/>
          </a:bodyPr>
          <a:lstStyle/>
          <a:p>
            <a:r>
              <a:rPr lang="zh-CN" altLang="zh-CN" b="1" kern="0" dirty="0">
                <a:solidFill>
                  <a:srgbClr val="000000"/>
                </a:solidFill>
                <a:ea typeface="华文楷体" panose="02010600040101010101" pitchFamily="2" charset="-122"/>
                <a:cs typeface="Helvetica" panose="020B0604020202020204" pitchFamily="34" charset="0"/>
              </a:rPr>
              <a:t>（</a:t>
            </a:r>
            <a:r>
              <a:rPr lang="en-US" altLang="zh-CN" b="1" kern="0" dirty="0">
                <a:solidFill>
                  <a:srgbClr val="000000"/>
                </a:solidFill>
                <a:ea typeface="华文楷体" panose="02010600040101010101" pitchFamily="2" charset="-122"/>
                <a:cs typeface="Helvetica" panose="020B0604020202020204" pitchFamily="34" charset="0"/>
              </a:rPr>
              <a:t>1</a:t>
            </a:r>
            <a:r>
              <a:rPr lang="zh-CN" altLang="zh-CN" b="1" kern="0" dirty="0">
                <a:solidFill>
                  <a:srgbClr val="000000"/>
                </a:solidFill>
                <a:ea typeface="华文楷体" panose="02010600040101010101" pitchFamily="2" charset="-122"/>
                <a:cs typeface="Helvetica" panose="020B0604020202020204" pitchFamily="34" charset="0"/>
              </a:rPr>
              <a:t>）第一种方法是使用计数器：在最简单的情况下，为每个页表条目关联一个使用时间域，并为</a:t>
            </a:r>
            <a:r>
              <a:rPr lang="en-US" altLang="zh-CN" b="1" kern="0" dirty="0">
                <a:solidFill>
                  <a:srgbClr val="000000"/>
                </a:solidFill>
                <a:ea typeface="华文楷体" panose="02010600040101010101" pitchFamily="2" charset="-122"/>
                <a:cs typeface="Helvetica" panose="020B0604020202020204" pitchFamily="34" charset="0"/>
              </a:rPr>
              <a:t> CPU </a:t>
            </a:r>
            <a:r>
              <a:rPr lang="zh-CN" altLang="zh-CN" b="1" kern="0" dirty="0">
                <a:solidFill>
                  <a:srgbClr val="000000"/>
                </a:solidFill>
                <a:ea typeface="华文楷体" panose="02010600040101010101" pitchFamily="2" charset="-122"/>
                <a:cs typeface="Helvetica" panose="020B0604020202020204" pitchFamily="34" charset="0"/>
              </a:rPr>
              <a:t>添加一个逻辑时钟或计数器。</a:t>
            </a:r>
            <a:r>
              <a:rPr lang="en-US" altLang="zh-CN" b="1" kern="0" dirty="0">
                <a:solidFill>
                  <a:srgbClr val="000000"/>
                </a:solidFill>
                <a:ea typeface="华文楷体" panose="02010600040101010101" pitchFamily="2" charset="-122"/>
                <a:cs typeface="Helvetica" panose="020B0604020202020204" pitchFamily="34" charset="0"/>
              </a:rPr>
              <a:t> </a:t>
            </a:r>
            <a:endParaRPr lang="zh-CN" altLang="en-US" b="1" dirty="0">
              <a:ea typeface="华文楷体" panose="02010600040101010101" pitchFamily="2" charset="-122"/>
            </a:endParaRPr>
          </a:p>
        </p:txBody>
      </p:sp>
      <p:sp>
        <p:nvSpPr>
          <p:cNvPr id="14" name="矩形 13"/>
          <p:cNvSpPr/>
          <p:nvPr/>
        </p:nvSpPr>
        <p:spPr>
          <a:xfrm>
            <a:off x="2124491" y="5066028"/>
            <a:ext cx="6580975" cy="369332"/>
          </a:xfrm>
          <a:prstGeom prst="rect">
            <a:avLst/>
          </a:prstGeom>
        </p:spPr>
        <p:txBody>
          <a:bodyPr wrap="square">
            <a:spAutoFit/>
          </a:bodyPr>
          <a:lstStyle/>
          <a:p>
            <a:r>
              <a:rPr lang="zh-CN" altLang="zh-CN" b="1" kern="0" dirty="0">
                <a:solidFill>
                  <a:srgbClr val="000000"/>
                </a:solidFill>
                <a:ea typeface="华文楷体" panose="02010600040101010101" pitchFamily="2" charset="-122"/>
                <a:cs typeface="Helvetica" panose="020B0604020202020204" pitchFamily="34" charset="0"/>
              </a:rPr>
              <a:t>（</a:t>
            </a:r>
            <a:r>
              <a:rPr lang="en-US" altLang="zh-CN" b="1" kern="0" dirty="0">
                <a:solidFill>
                  <a:srgbClr val="000000"/>
                </a:solidFill>
                <a:ea typeface="华文楷体" panose="02010600040101010101" pitchFamily="2" charset="-122"/>
                <a:cs typeface="Helvetica" panose="020B0604020202020204" pitchFamily="34" charset="0"/>
              </a:rPr>
              <a:t>2</a:t>
            </a:r>
            <a:r>
              <a:rPr lang="zh-CN" altLang="zh-CN" b="1" kern="0" dirty="0">
                <a:solidFill>
                  <a:srgbClr val="000000"/>
                </a:solidFill>
                <a:ea typeface="华文楷体" panose="02010600040101010101" pitchFamily="2" charset="-122"/>
                <a:cs typeface="Helvetica" panose="020B0604020202020204" pitchFamily="34" charset="0"/>
              </a:rPr>
              <a:t>）实现</a:t>
            </a:r>
            <a:r>
              <a:rPr lang="en-US" altLang="zh-CN" b="1" kern="0" dirty="0">
                <a:solidFill>
                  <a:srgbClr val="000000"/>
                </a:solidFill>
                <a:ea typeface="华文楷体" panose="02010600040101010101" pitchFamily="2" charset="-122"/>
                <a:cs typeface="Helvetica" panose="020B0604020202020204" pitchFamily="34" charset="0"/>
              </a:rPr>
              <a:t> LRU </a:t>
            </a:r>
            <a:r>
              <a:rPr lang="zh-CN" altLang="zh-CN" b="1" kern="0" dirty="0">
                <a:solidFill>
                  <a:srgbClr val="000000"/>
                </a:solidFill>
                <a:ea typeface="华文楷体" panose="02010600040101010101" pitchFamily="2" charset="-122"/>
                <a:cs typeface="Helvetica" panose="020B0604020202020204" pitchFamily="34" charset="0"/>
              </a:rPr>
              <a:t>置换的另一种方法是采用堆栈来实现的。</a:t>
            </a:r>
            <a:endParaRPr lang="zh-CN" altLang="en-US" b="1" dirty="0">
              <a:ea typeface="华文楷体" panose="0201060004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7" name="矩形 6"/>
          <p:cNvSpPr/>
          <p:nvPr/>
        </p:nvSpPr>
        <p:spPr>
          <a:xfrm>
            <a:off x="1249045" y="1214755"/>
            <a:ext cx="3061335" cy="398780"/>
          </a:xfrm>
          <a:prstGeom prst="rect">
            <a:avLst/>
          </a:prstGeom>
        </p:spPr>
        <p:txBody>
          <a:bodyPr wrap="squar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页面置换算法</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2" name="矩形 1"/>
          <p:cNvSpPr/>
          <p:nvPr/>
        </p:nvSpPr>
        <p:spPr>
          <a:xfrm>
            <a:off x="1497767" y="1583957"/>
            <a:ext cx="5744913" cy="1131079"/>
          </a:xfrm>
          <a:prstGeom prst="rect">
            <a:avLst/>
          </a:prstGeom>
        </p:spPr>
        <p:txBody>
          <a:bodyPr wrap="square">
            <a:spAutoFit/>
          </a:bodyPr>
          <a:lstStyle/>
          <a:p>
            <a:pPr>
              <a:lnSpc>
                <a:spcPct val="125000"/>
              </a:lnSpc>
            </a:pPr>
            <a:r>
              <a:rPr lang="en-US" altLang="zh-CN" b="1" kern="0" dirty="0">
                <a:solidFill>
                  <a:srgbClr val="003A8F"/>
                </a:solidFill>
                <a:ea typeface="宋体" panose="02010600030101010101" pitchFamily="2" charset="-122"/>
                <a:cs typeface="Helvetica" panose="020B0604020202020204" pitchFamily="34" charset="0"/>
              </a:rPr>
              <a:t>3.  LRU </a:t>
            </a:r>
            <a:r>
              <a:rPr lang="zh-CN" altLang="zh-CN" b="1" dirty="0">
                <a:solidFill>
                  <a:srgbClr val="003A8F"/>
                </a:solidFill>
              </a:rPr>
              <a:t>页面置换算法</a:t>
            </a:r>
            <a:endParaRPr lang="zh-CN" altLang="zh-CN" dirty="0">
              <a:solidFill>
                <a:srgbClr val="003A8F"/>
              </a:solidFill>
            </a:endParaRPr>
          </a:p>
          <a:p>
            <a:pPr>
              <a:lnSpc>
                <a:spcPct val="125000"/>
              </a:lnSpc>
            </a:pPr>
            <a:endParaRPr lang="zh-CN" altLang="zh-CN" b="1" dirty="0">
              <a:solidFill>
                <a:srgbClr val="003A8F"/>
              </a:solidFill>
            </a:endParaRPr>
          </a:p>
          <a:p>
            <a:pPr marL="342900" indent="-342900">
              <a:lnSpc>
                <a:spcPct val="125000"/>
              </a:lnSpc>
              <a:buFont typeface="+mj-lt"/>
              <a:buAutoNum type="arabicPeriod"/>
            </a:pPr>
            <a:endParaRPr lang="zh-CN" altLang="zh-CN" kern="100" dirty="0">
              <a:solidFill>
                <a:srgbClr val="003A8F"/>
              </a:solidFill>
              <a:ea typeface="宋体" panose="02010600030101010101" pitchFamily="2" charset="-122"/>
              <a:cs typeface="Times New Roman" panose="02020603050405020304" pitchFamily="18" charset="0"/>
            </a:endParaRPr>
          </a:p>
        </p:txBody>
      </p:sp>
      <p:sp>
        <p:nvSpPr>
          <p:cNvPr id="3" name="矩形 2"/>
          <p:cNvSpPr/>
          <p:nvPr/>
        </p:nvSpPr>
        <p:spPr>
          <a:xfrm>
            <a:off x="1522389" y="2365966"/>
            <a:ext cx="9171843" cy="646331"/>
          </a:xfrm>
          <a:prstGeom prst="rect">
            <a:avLst/>
          </a:prstGeom>
        </p:spPr>
        <p:txBody>
          <a:bodyPr wrap="square">
            <a:spAutoFit/>
          </a:bodyPr>
          <a:lstStyle/>
          <a:p>
            <a:r>
              <a:rPr lang="zh-CN" altLang="zh-CN" b="1" kern="0" dirty="0">
                <a:solidFill>
                  <a:srgbClr val="000000"/>
                </a:solidFill>
                <a:latin typeface="等线" panose="02010600030101010101" pitchFamily="2" charset="-122"/>
                <a:ea typeface="等线" panose="02010600030101010101" pitchFamily="2" charset="-122"/>
                <a:cs typeface="Helvetica" panose="020B0604020202020204" pitchFamily="34" charset="0"/>
              </a:rPr>
              <a:t>每当页面被引用时，它就从堆栈中移除并放在顶部。这样，最近使用的页面总是在堆栈的顶部，最近最少使用的页面总是在底部</a:t>
            </a:r>
            <a:r>
              <a:rPr lang="zh-CN" altLang="en-US" b="1" kern="0" dirty="0">
                <a:solidFill>
                  <a:srgbClr val="000000"/>
                </a:solidFill>
                <a:latin typeface="等线" panose="02010600030101010101" pitchFamily="2" charset="-122"/>
                <a:ea typeface="等线" panose="02010600030101010101" pitchFamily="2" charset="-122"/>
                <a:cs typeface="Helvetica" panose="020B0604020202020204" pitchFamily="34" charset="0"/>
              </a:rPr>
              <a:t>。</a:t>
            </a:r>
            <a:endParaRPr lang="zh-CN" altLang="en-US" b="1" dirty="0">
              <a:latin typeface="等线" panose="02010600030101010101" pitchFamily="2" charset="-122"/>
              <a:ea typeface="等线" panose="02010600030101010101" pitchFamily="2" charset="-122"/>
            </a:endParaRPr>
          </a:p>
        </p:txBody>
      </p:sp>
      <p:sp>
        <p:nvSpPr>
          <p:cNvPr id="4" name="矩形 3"/>
          <p:cNvSpPr/>
          <p:nvPr/>
        </p:nvSpPr>
        <p:spPr>
          <a:xfrm>
            <a:off x="1497767" y="2016692"/>
            <a:ext cx="2241319" cy="369332"/>
          </a:xfrm>
          <a:prstGeom prst="rect">
            <a:avLst/>
          </a:prstGeom>
        </p:spPr>
        <p:txBody>
          <a:bodyPr wrap="none">
            <a:spAutoFit/>
          </a:bodyPr>
          <a:lstStyle/>
          <a:p>
            <a:r>
              <a:rPr lang="zh-CN" altLang="zh-CN" b="1" kern="0" dirty="0">
                <a:solidFill>
                  <a:srgbClr val="0C0CC6"/>
                </a:solidFill>
                <a:latin typeface="等线" panose="02010600030101010101" pitchFamily="2" charset="-122"/>
                <a:ea typeface="等线" panose="02010600030101010101" pitchFamily="2" charset="-122"/>
                <a:cs typeface="Helvetica" panose="020B0604020202020204" pitchFamily="34" charset="0"/>
              </a:rPr>
              <a:t>采用堆栈来实现</a:t>
            </a:r>
            <a:r>
              <a:rPr lang="en-US" altLang="zh-CN" b="1" kern="0" dirty="0">
                <a:solidFill>
                  <a:srgbClr val="0C0CC6"/>
                </a:solidFill>
                <a:latin typeface="等线" panose="02010600030101010101" pitchFamily="2" charset="-122"/>
                <a:ea typeface="等线" panose="02010600030101010101" pitchFamily="2" charset="-122"/>
                <a:cs typeface="Helvetica" panose="020B0604020202020204" pitchFamily="34" charset="0"/>
              </a:rPr>
              <a:t>LRU</a:t>
            </a:r>
            <a:endParaRPr lang="zh-CN" altLang="en-US" dirty="0">
              <a:solidFill>
                <a:srgbClr val="0C0CC6"/>
              </a:solidFill>
              <a:latin typeface="等线" panose="02010600030101010101" pitchFamily="2" charset="-122"/>
              <a:ea typeface="等线" panose="02010600030101010101" pitchFamily="2" charset="-122"/>
            </a:endParaRPr>
          </a:p>
        </p:txBody>
      </p:sp>
      <p:sp>
        <p:nvSpPr>
          <p:cNvPr id="5" name="矩形 4"/>
          <p:cNvSpPr/>
          <p:nvPr/>
        </p:nvSpPr>
        <p:spPr>
          <a:xfrm>
            <a:off x="3269907" y="3008297"/>
            <a:ext cx="4572000" cy="408445"/>
          </a:xfrm>
          <a:prstGeom prst="rect">
            <a:avLst/>
          </a:prstGeom>
          <a:solidFill>
            <a:schemeClr val="bg1">
              <a:lumMod val="95000"/>
            </a:schemeClr>
          </a:solidFill>
          <a:ln>
            <a:solidFill>
              <a:schemeClr val="tx1"/>
            </a:solidFill>
          </a:ln>
        </p:spPr>
        <p:txBody>
          <a:bodyPr>
            <a:spAutoFit/>
          </a:bodyPr>
          <a:lstStyle/>
          <a:p>
            <a:pPr indent="266700">
              <a:lnSpc>
                <a:spcPct val="125000"/>
              </a:lnSpc>
            </a:pPr>
            <a:r>
              <a:rPr lang="en-US" altLang="zh-CN" kern="0" dirty="0">
                <a:solidFill>
                  <a:srgbClr val="000000"/>
                </a:solidFill>
                <a:latin typeface="宋体" panose="02010600030101010101" pitchFamily="2" charset="-122"/>
                <a:ea typeface="宋体" panose="02010600030101010101" pitchFamily="2" charset="-122"/>
                <a:cs typeface="Helvetica" panose="020B0604020202020204" pitchFamily="34" charset="0"/>
              </a:rPr>
              <a:t> 4  7  0  7  1  0  1  2  1  2  </a:t>
            </a:r>
            <a:endParaRPr lang="zh-CN" altLang="zh-CN" kern="100" dirty="0">
              <a:latin typeface="Calibri" panose="020F0502020204030204" charset="0"/>
              <a:ea typeface="宋体" panose="02010600030101010101"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2101215" y="3556000"/>
            <a:ext cx="6592570" cy="266954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7" name="矩形 6"/>
          <p:cNvSpPr/>
          <p:nvPr/>
        </p:nvSpPr>
        <p:spPr>
          <a:xfrm>
            <a:off x="1249045" y="1214755"/>
            <a:ext cx="2829560" cy="398780"/>
          </a:xfrm>
          <a:prstGeom prst="rect">
            <a:avLst/>
          </a:prstGeom>
        </p:spPr>
        <p:txBody>
          <a:bodyPr wrap="squar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页面置换算法</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2" name="矩形 1"/>
          <p:cNvSpPr/>
          <p:nvPr/>
        </p:nvSpPr>
        <p:spPr>
          <a:xfrm>
            <a:off x="1497767" y="1583957"/>
            <a:ext cx="5744913" cy="1131079"/>
          </a:xfrm>
          <a:prstGeom prst="rect">
            <a:avLst/>
          </a:prstGeom>
        </p:spPr>
        <p:txBody>
          <a:bodyPr wrap="square">
            <a:spAutoFit/>
          </a:bodyPr>
          <a:lstStyle/>
          <a:p>
            <a:pPr>
              <a:lnSpc>
                <a:spcPct val="125000"/>
              </a:lnSpc>
            </a:pPr>
            <a:r>
              <a:rPr lang="en-US" altLang="zh-CN" b="1" kern="0" dirty="0">
                <a:solidFill>
                  <a:srgbClr val="003A8F"/>
                </a:solidFill>
                <a:ea typeface="宋体" panose="02010600030101010101" pitchFamily="2" charset="-122"/>
                <a:cs typeface="Helvetica" panose="020B0604020202020204" pitchFamily="34" charset="0"/>
              </a:rPr>
              <a:t>3.  LRU </a:t>
            </a:r>
            <a:r>
              <a:rPr lang="zh-CN" altLang="zh-CN" b="1" dirty="0">
                <a:solidFill>
                  <a:srgbClr val="003A8F"/>
                </a:solidFill>
              </a:rPr>
              <a:t>页面置换算法</a:t>
            </a:r>
            <a:endParaRPr lang="zh-CN" altLang="zh-CN" dirty="0">
              <a:solidFill>
                <a:srgbClr val="003A8F"/>
              </a:solidFill>
            </a:endParaRPr>
          </a:p>
          <a:p>
            <a:pPr>
              <a:lnSpc>
                <a:spcPct val="125000"/>
              </a:lnSpc>
            </a:pPr>
            <a:endParaRPr lang="zh-CN" altLang="zh-CN" b="1" dirty="0">
              <a:solidFill>
                <a:srgbClr val="003A8F"/>
              </a:solidFill>
            </a:endParaRPr>
          </a:p>
          <a:p>
            <a:pPr marL="342900" indent="-342900">
              <a:lnSpc>
                <a:spcPct val="125000"/>
              </a:lnSpc>
              <a:buFont typeface="+mj-lt"/>
              <a:buAutoNum type="arabicPeriod"/>
            </a:pPr>
            <a:endParaRPr lang="zh-CN" altLang="zh-CN" kern="100" dirty="0">
              <a:solidFill>
                <a:srgbClr val="003A8F"/>
              </a:solidFill>
              <a:ea typeface="宋体" panose="02010600030101010101" pitchFamily="2" charset="-122"/>
              <a:cs typeface="Times New Roman" panose="02020603050405020304" pitchFamily="18" charset="0"/>
            </a:endParaRPr>
          </a:p>
        </p:txBody>
      </p:sp>
      <p:sp>
        <p:nvSpPr>
          <p:cNvPr id="9" name="矩形 8"/>
          <p:cNvSpPr/>
          <p:nvPr/>
        </p:nvSpPr>
        <p:spPr>
          <a:xfrm>
            <a:off x="2086537" y="2243662"/>
            <a:ext cx="7933765" cy="754694"/>
          </a:xfrm>
          <a:prstGeom prst="rect">
            <a:avLst/>
          </a:prstGeom>
          <a:solidFill>
            <a:schemeClr val="bg1">
              <a:lumMod val="95000"/>
            </a:schemeClr>
          </a:solidFill>
          <a:ln>
            <a:solidFill>
              <a:schemeClr val="tx1"/>
            </a:solidFill>
          </a:ln>
        </p:spPr>
        <p:txBody>
          <a:bodyPr wrap="square">
            <a:spAutoFit/>
          </a:bodyPr>
          <a:lstStyle/>
          <a:p>
            <a:pPr indent="266700">
              <a:lnSpc>
                <a:spcPct val="125000"/>
              </a:lnSpc>
            </a:pPr>
            <a:r>
              <a:rPr lang="zh-CN" altLang="zh-CN" kern="0" dirty="0">
                <a:solidFill>
                  <a:srgbClr val="000000"/>
                </a:solidFill>
                <a:ea typeface="宋体" panose="02010600030101010101" pitchFamily="2" charset="-122"/>
                <a:cs typeface="Helvetica" panose="020B0604020202020204" pitchFamily="34" charset="0"/>
              </a:rPr>
              <a:t>场景：假设某进程被分配了</a:t>
            </a:r>
            <a:r>
              <a:rPr lang="en-US" altLang="zh-CN" kern="0" dirty="0">
                <a:solidFill>
                  <a:srgbClr val="000000"/>
                </a:solidFill>
                <a:ea typeface="宋体" panose="02010600030101010101" pitchFamily="2" charset="-122"/>
                <a:cs typeface="Helvetica" panose="020B0604020202020204" pitchFamily="34" charset="0"/>
              </a:rPr>
              <a:t>3</a:t>
            </a:r>
            <a:r>
              <a:rPr lang="zh-CN" altLang="zh-CN" kern="0" dirty="0">
                <a:solidFill>
                  <a:srgbClr val="000000"/>
                </a:solidFill>
                <a:ea typeface="宋体" panose="02010600030101010101" pitchFamily="2" charset="-122"/>
                <a:cs typeface="Helvetica" panose="020B0604020202020204" pitchFamily="34" charset="0"/>
              </a:rPr>
              <a:t>个页帧，程序页面访问序列为：</a:t>
            </a:r>
            <a:endParaRPr lang="zh-CN" altLang="zh-CN" kern="100" dirty="0">
              <a:ea typeface="宋体" panose="02010600030101010101" pitchFamily="2" charset="-122"/>
              <a:cs typeface="Times New Roman" panose="02020603050405020304" pitchFamily="18" charset="0"/>
            </a:endParaRPr>
          </a:p>
          <a:p>
            <a:pPr>
              <a:lnSpc>
                <a:spcPct val="125000"/>
              </a:lnSpc>
            </a:pPr>
            <a:r>
              <a:rPr lang="en-US" altLang="zh-CN" kern="0" dirty="0">
                <a:solidFill>
                  <a:srgbClr val="000000"/>
                </a:solidFill>
                <a:ea typeface="宋体" panose="02010600030101010101" pitchFamily="2" charset="-122"/>
                <a:cs typeface="Helvetica" panose="020B0604020202020204" pitchFamily="34" charset="0"/>
              </a:rPr>
              <a:t>      6,5,1,2,5,3,5,4,2,3,5,3,2,1,2 </a:t>
            </a:r>
            <a:endParaRPr lang="zh-CN" altLang="zh-CN" kern="100" dirty="0">
              <a:ea typeface="宋体" panose="02010600030101010101" pitchFamily="2"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1586865" y="3230880"/>
            <a:ext cx="9412605" cy="235013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7" name="矩形 6"/>
          <p:cNvSpPr/>
          <p:nvPr/>
        </p:nvSpPr>
        <p:spPr>
          <a:xfrm>
            <a:off x="1249045" y="1145540"/>
            <a:ext cx="3100705" cy="398780"/>
          </a:xfrm>
          <a:prstGeom prst="rect">
            <a:avLst/>
          </a:prstGeom>
        </p:spPr>
        <p:txBody>
          <a:bodyPr wrap="squar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页面置换算法</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3" name="矩形 2"/>
          <p:cNvSpPr/>
          <p:nvPr/>
        </p:nvSpPr>
        <p:spPr>
          <a:xfrm>
            <a:off x="1620390" y="1602128"/>
            <a:ext cx="5744913" cy="369332"/>
          </a:xfrm>
          <a:prstGeom prst="rect">
            <a:avLst/>
          </a:prstGeom>
        </p:spPr>
        <p:txBody>
          <a:bodyPr wrap="square">
            <a:spAutoFit/>
          </a:bodyPr>
          <a:lstStyle/>
          <a:p>
            <a:pPr lvl="0"/>
            <a:r>
              <a:rPr lang="en-US" altLang="zh-CN" b="1" dirty="0">
                <a:solidFill>
                  <a:srgbClr val="003A8F"/>
                </a:solidFill>
              </a:rPr>
              <a:t>4. </a:t>
            </a:r>
            <a:r>
              <a:rPr lang="zh-CN" altLang="zh-CN" b="1" dirty="0">
                <a:solidFill>
                  <a:srgbClr val="003A8F"/>
                </a:solidFill>
              </a:rPr>
              <a:t>近似</a:t>
            </a:r>
            <a:r>
              <a:rPr lang="en-US" altLang="zh-CN" b="1" dirty="0">
                <a:solidFill>
                  <a:srgbClr val="003A8F"/>
                </a:solidFill>
              </a:rPr>
              <a:t>LRU</a:t>
            </a:r>
            <a:r>
              <a:rPr lang="zh-CN" altLang="zh-CN" b="1" dirty="0">
                <a:solidFill>
                  <a:srgbClr val="003A8F"/>
                </a:solidFill>
              </a:rPr>
              <a:t>页面置换</a:t>
            </a:r>
            <a:r>
              <a:rPr lang="en-US" altLang="zh-CN" b="1" dirty="0">
                <a:solidFill>
                  <a:srgbClr val="003A8F"/>
                </a:solidFill>
              </a:rPr>
              <a:t>-</a:t>
            </a:r>
            <a:r>
              <a:rPr lang="zh-CN" altLang="zh-CN" b="1" dirty="0">
                <a:solidFill>
                  <a:srgbClr val="003A8F"/>
                </a:solidFill>
              </a:rPr>
              <a:t>二次机会算法</a:t>
            </a:r>
            <a:endParaRPr lang="zh-CN" altLang="zh-CN" dirty="0">
              <a:solidFill>
                <a:srgbClr val="003A8F"/>
              </a:solidFill>
            </a:endParaRPr>
          </a:p>
        </p:txBody>
      </p:sp>
      <p:sp>
        <p:nvSpPr>
          <p:cNvPr id="4" name="矩形 3"/>
          <p:cNvSpPr/>
          <p:nvPr/>
        </p:nvSpPr>
        <p:spPr>
          <a:xfrm>
            <a:off x="2221007" y="3032061"/>
            <a:ext cx="7933765" cy="754694"/>
          </a:xfrm>
          <a:prstGeom prst="rect">
            <a:avLst/>
          </a:prstGeom>
          <a:solidFill>
            <a:schemeClr val="bg1">
              <a:lumMod val="95000"/>
            </a:schemeClr>
          </a:solidFill>
          <a:ln>
            <a:solidFill>
              <a:schemeClr val="tx1"/>
            </a:solidFill>
          </a:ln>
        </p:spPr>
        <p:txBody>
          <a:bodyPr wrap="square">
            <a:spAutoFit/>
          </a:bodyPr>
          <a:lstStyle/>
          <a:p>
            <a:pPr indent="266700">
              <a:lnSpc>
                <a:spcPct val="125000"/>
              </a:lnSpc>
            </a:pPr>
            <a:r>
              <a:rPr lang="zh-CN" altLang="zh-CN" kern="0" dirty="0">
                <a:solidFill>
                  <a:srgbClr val="000000"/>
                </a:solidFill>
                <a:ea typeface="宋体" panose="02010600030101010101" pitchFamily="2" charset="-122"/>
                <a:cs typeface="Helvetica" panose="020B0604020202020204" pitchFamily="34" charset="0"/>
              </a:rPr>
              <a:t>场景：假设某进程被分配了</a:t>
            </a:r>
            <a:r>
              <a:rPr lang="en-US" altLang="zh-CN" kern="0" dirty="0">
                <a:solidFill>
                  <a:srgbClr val="000000"/>
                </a:solidFill>
                <a:ea typeface="宋体" panose="02010600030101010101" pitchFamily="2" charset="-122"/>
                <a:cs typeface="Helvetica" panose="020B0604020202020204" pitchFamily="34" charset="0"/>
              </a:rPr>
              <a:t>3</a:t>
            </a:r>
            <a:r>
              <a:rPr lang="zh-CN" altLang="zh-CN" kern="0" dirty="0">
                <a:solidFill>
                  <a:srgbClr val="000000"/>
                </a:solidFill>
                <a:ea typeface="宋体" panose="02010600030101010101" pitchFamily="2" charset="-122"/>
                <a:cs typeface="Helvetica" panose="020B0604020202020204" pitchFamily="34" charset="0"/>
              </a:rPr>
              <a:t>个页帧，程序页面访问序列为：</a:t>
            </a:r>
            <a:endParaRPr lang="zh-CN" altLang="zh-CN" kern="100" dirty="0">
              <a:ea typeface="宋体" panose="02010600030101010101" pitchFamily="2" charset="-122"/>
              <a:cs typeface="Times New Roman" panose="02020603050405020304" pitchFamily="18" charset="0"/>
            </a:endParaRPr>
          </a:p>
          <a:p>
            <a:pPr>
              <a:lnSpc>
                <a:spcPct val="125000"/>
              </a:lnSpc>
            </a:pPr>
            <a:r>
              <a:rPr lang="en-US" altLang="zh-CN" kern="0" dirty="0">
                <a:solidFill>
                  <a:srgbClr val="000000"/>
                </a:solidFill>
                <a:ea typeface="宋体" panose="02010600030101010101" pitchFamily="2" charset="-122"/>
                <a:cs typeface="Helvetica" panose="020B0604020202020204" pitchFamily="34" charset="0"/>
              </a:rPr>
              <a:t>      6,5,1,2,5,3,5,4,2,3,5,3,2,1,2 </a:t>
            </a:r>
            <a:endParaRPr lang="zh-CN" altLang="zh-CN" kern="100" dirty="0">
              <a:ea typeface="宋体" panose="02010600030101010101" pitchFamily="2" charset="-122"/>
              <a:cs typeface="Times New Roman" panose="02020603050405020304" pitchFamily="18" charset="0"/>
            </a:endParaRPr>
          </a:p>
        </p:txBody>
      </p:sp>
      <p:sp>
        <p:nvSpPr>
          <p:cNvPr id="5" name="矩形 4"/>
          <p:cNvSpPr/>
          <p:nvPr/>
        </p:nvSpPr>
        <p:spPr>
          <a:xfrm>
            <a:off x="1708071" y="1962356"/>
            <a:ext cx="8668852" cy="923330"/>
          </a:xfrm>
          <a:prstGeom prst="rect">
            <a:avLst/>
          </a:prstGeom>
        </p:spPr>
        <p:txBody>
          <a:bodyPr wrap="square">
            <a:spAutoFit/>
          </a:bodyPr>
          <a:lstStyle/>
          <a:p>
            <a:r>
              <a:rPr lang="zh-CN" altLang="zh-CN" b="1" dirty="0">
                <a:solidFill>
                  <a:srgbClr val="000000"/>
                </a:solidFill>
                <a:latin typeface="+mn-ea"/>
                <a:cs typeface="Times New Roman" panose="02020603050405020304" pitchFamily="18" charset="0"/>
              </a:rPr>
              <a:t>当选择置换页面时，依然和</a:t>
            </a:r>
            <a:r>
              <a:rPr lang="en-US" altLang="zh-CN" b="1" dirty="0">
                <a:solidFill>
                  <a:srgbClr val="000000"/>
                </a:solidFill>
                <a:latin typeface="+mn-ea"/>
                <a:cs typeface="Times New Roman" panose="02020603050405020304" pitchFamily="18" charset="0"/>
              </a:rPr>
              <a:t>FIFO</a:t>
            </a:r>
            <a:r>
              <a:rPr lang="zh-CN" altLang="zh-CN" b="1" dirty="0">
                <a:solidFill>
                  <a:srgbClr val="000000"/>
                </a:solidFill>
                <a:latin typeface="+mn-ea"/>
                <a:cs typeface="Times New Roman" panose="02020603050405020304" pitchFamily="18" charset="0"/>
              </a:rPr>
              <a:t>一样，选择最早置入</a:t>
            </a:r>
            <a:r>
              <a:rPr lang="en-US" altLang="zh-CN" b="1" u="sng" dirty="0">
                <a:solidFill>
                  <a:srgbClr val="000000"/>
                </a:solidFill>
                <a:latin typeface="+mn-ea"/>
                <a:cs typeface="Times New Roman" panose="02020603050405020304" pitchFamily="18" charset="0"/>
              </a:rPr>
              <a:t>内存</a:t>
            </a:r>
            <a:r>
              <a:rPr lang="zh-CN" altLang="zh-CN" b="1" dirty="0">
                <a:solidFill>
                  <a:srgbClr val="000000"/>
                </a:solidFill>
                <a:latin typeface="+mn-ea"/>
                <a:cs typeface="Times New Roman" panose="02020603050405020304" pitchFamily="18" charset="0"/>
              </a:rPr>
              <a:t>的页面。但是二次</a:t>
            </a:r>
            <a:r>
              <a:rPr lang="en-US" altLang="zh-CN" b="1" u="sng" dirty="0">
                <a:solidFill>
                  <a:srgbClr val="000000"/>
                </a:solidFill>
                <a:latin typeface="+mn-ea"/>
                <a:cs typeface="Times New Roman" panose="02020603050405020304" pitchFamily="18" charset="0"/>
              </a:rPr>
              <a:t>机会</a:t>
            </a:r>
            <a:r>
              <a:rPr lang="zh-CN" altLang="zh-CN" b="1" dirty="0">
                <a:solidFill>
                  <a:srgbClr val="000000"/>
                </a:solidFill>
                <a:latin typeface="+mn-ea"/>
                <a:cs typeface="Times New Roman" panose="02020603050405020304" pitchFamily="18" charset="0"/>
              </a:rPr>
              <a:t>法还设置了一个访问状态位。所以还要检查页面的的访问位。如果是</a:t>
            </a:r>
            <a:r>
              <a:rPr lang="en-US" altLang="zh-CN" b="1" dirty="0">
                <a:solidFill>
                  <a:srgbClr val="000000"/>
                </a:solidFill>
                <a:latin typeface="+mn-ea"/>
                <a:cs typeface="Times New Roman" panose="02020603050405020304" pitchFamily="18" charset="0"/>
              </a:rPr>
              <a:t>0</a:t>
            </a:r>
            <a:r>
              <a:rPr lang="zh-CN" altLang="zh-CN" b="1" dirty="0">
                <a:solidFill>
                  <a:srgbClr val="000000"/>
                </a:solidFill>
                <a:latin typeface="+mn-ea"/>
                <a:cs typeface="Times New Roman" panose="02020603050405020304" pitchFamily="18" charset="0"/>
              </a:rPr>
              <a:t>，就淘汰这页；如果访问位是</a:t>
            </a:r>
            <a:r>
              <a:rPr lang="en-US" altLang="zh-CN" b="1" dirty="0">
                <a:solidFill>
                  <a:srgbClr val="000000"/>
                </a:solidFill>
                <a:latin typeface="+mn-ea"/>
                <a:cs typeface="Times New Roman" panose="02020603050405020304" pitchFamily="18" charset="0"/>
              </a:rPr>
              <a:t>1</a:t>
            </a:r>
            <a:r>
              <a:rPr lang="zh-CN" altLang="zh-CN" b="1" dirty="0">
                <a:solidFill>
                  <a:srgbClr val="000000"/>
                </a:solidFill>
                <a:latin typeface="+mn-ea"/>
                <a:cs typeface="Times New Roman" panose="02020603050405020304" pitchFamily="18" charset="0"/>
              </a:rPr>
              <a:t>，就给它</a:t>
            </a:r>
            <a:r>
              <a:rPr lang="en-US" altLang="zh-CN" b="1" u="sng" dirty="0">
                <a:solidFill>
                  <a:srgbClr val="000000"/>
                </a:solidFill>
                <a:latin typeface="+mn-ea"/>
                <a:cs typeface="Times New Roman" panose="02020603050405020304" pitchFamily="18" charset="0"/>
              </a:rPr>
              <a:t>第二次机会</a:t>
            </a:r>
            <a:r>
              <a:rPr lang="zh-CN" altLang="zh-CN" b="1" dirty="0">
                <a:solidFill>
                  <a:srgbClr val="000000"/>
                </a:solidFill>
                <a:latin typeface="+mn-ea"/>
                <a:cs typeface="Times New Roman" panose="02020603050405020304" pitchFamily="18" charset="0"/>
              </a:rPr>
              <a:t>，并选择下一个</a:t>
            </a:r>
            <a:r>
              <a:rPr lang="en-US" altLang="zh-CN" b="1" dirty="0">
                <a:solidFill>
                  <a:srgbClr val="000000"/>
                </a:solidFill>
                <a:latin typeface="+mn-ea"/>
                <a:cs typeface="Times New Roman" panose="02020603050405020304" pitchFamily="18" charset="0"/>
              </a:rPr>
              <a:t>FIFO</a:t>
            </a:r>
            <a:r>
              <a:rPr lang="zh-CN" altLang="zh-CN" b="1" dirty="0">
                <a:solidFill>
                  <a:srgbClr val="000000"/>
                </a:solidFill>
                <a:latin typeface="+mn-ea"/>
                <a:cs typeface="Times New Roman" panose="02020603050405020304" pitchFamily="18" charset="0"/>
              </a:rPr>
              <a:t>页面</a:t>
            </a:r>
            <a:endParaRPr lang="zh-CN" altLang="en-US" b="1" dirty="0">
              <a:latin typeface="+mn-ea"/>
            </a:endParaRPr>
          </a:p>
        </p:txBody>
      </p:sp>
      <p:pic>
        <p:nvPicPr>
          <p:cNvPr id="2" name="图片 1"/>
          <p:cNvPicPr>
            <a:picLocks noChangeAspect="1"/>
          </p:cNvPicPr>
          <p:nvPr/>
        </p:nvPicPr>
        <p:blipFill>
          <a:blip r:embed="rId1"/>
          <a:stretch>
            <a:fillRect/>
          </a:stretch>
        </p:blipFill>
        <p:spPr>
          <a:xfrm>
            <a:off x="1946910" y="3779520"/>
            <a:ext cx="8208010" cy="245237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矩形 1"/>
          <p:cNvSpPr/>
          <p:nvPr/>
        </p:nvSpPr>
        <p:spPr>
          <a:xfrm>
            <a:off x="1001393" y="1146706"/>
            <a:ext cx="2974819" cy="398780"/>
          </a:xfrm>
          <a:prstGeom prst="rect">
            <a:avLst/>
          </a:prstGeom>
        </p:spPr>
        <p:txBody>
          <a:bodyPr wrap="squar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页面缓冲算法</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9" name="矩形 8"/>
          <p:cNvSpPr/>
          <p:nvPr/>
        </p:nvSpPr>
        <p:spPr>
          <a:xfrm>
            <a:off x="1265129" y="1598497"/>
            <a:ext cx="9883035" cy="3878819"/>
          </a:xfrm>
          <a:prstGeom prst="rect">
            <a:avLst/>
          </a:prstGeom>
        </p:spPr>
        <p:txBody>
          <a:bodyPr wrap="square">
            <a:spAutoFit/>
          </a:bodyPr>
          <a:lstStyle/>
          <a:p>
            <a:pPr indent="266700">
              <a:lnSpc>
                <a:spcPct val="125000"/>
              </a:lnSpc>
            </a:pPr>
            <a:r>
              <a:rPr lang="en-US" altLang="zh-CN" b="1" kern="0" dirty="0">
                <a:solidFill>
                  <a:srgbClr val="003A8E"/>
                </a:solidFill>
                <a:ea typeface="华文楷体" panose="02010600040101010101" pitchFamily="2" charset="-122"/>
                <a:cs typeface="宋体" panose="02010600030101010101" pitchFamily="2" charset="-122"/>
              </a:rPr>
              <a:t>①</a:t>
            </a:r>
            <a:r>
              <a:rPr lang="zh-CN" altLang="zh-CN" b="1" kern="0" dirty="0">
                <a:solidFill>
                  <a:srgbClr val="003A8E"/>
                </a:solidFill>
                <a:ea typeface="华文楷体" panose="02010600040101010101" pitchFamily="2" charset="-122"/>
                <a:cs typeface="宋体" panose="02010600030101010101" pitchFamily="2" charset="-122"/>
              </a:rPr>
              <a:t>空闲页面链表</a:t>
            </a:r>
            <a:endParaRPr lang="zh-CN" altLang="zh-CN" b="1" kern="100" dirty="0">
              <a:solidFill>
                <a:srgbClr val="003A8E"/>
              </a:solidFill>
              <a:ea typeface="华文楷体" panose="02010600040101010101" pitchFamily="2" charset="-122"/>
              <a:cs typeface="Times New Roman" panose="02020603050405020304" pitchFamily="18" charset="0"/>
            </a:endParaRPr>
          </a:p>
          <a:p>
            <a:pPr indent="266700">
              <a:lnSpc>
                <a:spcPct val="125000"/>
              </a:lnSpc>
            </a:pPr>
            <a:r>
              <a:rPr lang="en-US" altLang="zh-CN" b="1" kern="0" dirty="0">
                <a:solidFill>
                  <a:srgbClr val="000000"/>
                </a:solidFill>
                <a:ea typeface="华文楷体" panose="02010600040101010101" pitchFamily="2" charset="-122"/>
                <a:cs typeface="宋体" panose="02010600030101010101" pitchFamily="2" charset="-122"/>
              </a:rPr>
              <a:t>   </a:t>
            </a:r>
            <a:r>
              <a:rPr lang="zh-CN" altLang="zh-CN" b="1" kern="0" dirty="0">
                <a:solidFill>
                  <a:srgbClr val="000000"/>
                </a:solidFill>
                <a:ea typeface="华文楷体" panose="02010600040101010101" pitchFamily="2" charset="-122"/>
                <a:cs typeface="宋体" panose="02010600030101010101" pitchFamily="2" charset="-122"/>
              </a:rPr>
              <a:t>实际上该链表是一个空闲页帧链表，用于分配给频繁发生缺页的进程，以降低该进程的缺页率。当这样的进程需要读入一个页面时，便可利用空闲页帧链表中的第一个页帧来装入该页。当有一个未被修改的页要换出时，实际上并不将它换出到外存，而是把它们所在的页帧挂在空闲链表的</a:t>
            </a:r>
            <a:r>
              <a:rPr lang="zh-CN" altLang="zh-CN" b="1" kern="0" dirty="0">
                <a:solidFill>
                  <a:srgbClr val="C00000"/>
                </a:solidFill>
                <a:ea typeface="华文楷体" panose="02010600040101010101" pitchFamily="2" charset="-122"/>
                <a:cs typeface="宋体" panose="02010600030101010101" pitchFamily="2" charset="-122"/>
              </a:rPr>
              <a:t>表头</a:t>
            </a:r>
            <a:r>
              <a:rPr lang="zh-CN" altLang="zh-CN" b="1" kern="0" dirty="0">
                <a:solidFill>
                  <a:srgbClr val="000000"/>
                </a:solidFill>
                <a:ea typeface="华文楷体" panose="02010600040101010101" pitchFamily="2" charset="-122"/>
                <a:cs typeface="宋体" panose="02010600030101010101" pitchFamily="2" charset="-122"/>
              </a:rPr>
              <a:t>（</a:t>
            </a:r>
            <a:r>
              <a:rPr lang="zh-CN" altLang="zh-CN" b="1" kern="0" dirty="0">
                <a:solidFill>
                  <a:srgbClr val="000000"/>
                </a:solidFill>
                <a:ea typeface="华文楷体" panose="02010600040101010101" pitchFamily="2" charset="-122"/>
                <a:cs typeface="Helvetica" panose="020B0604020202020204" pitchFamily="34" charset="0"/>
              </a:rPr>
              <a:t>页面在内存中并不做物理上的移动，而是将页表中的表项移到该链表</a:t>
            </a:r>
            <a:r>
              <a:rPr lang="zh-CN" altLang="zh-CN" b="1" kern="0" dirty="0">
                <a:solidFill>
                  <a:srgbClr val="C00000"/>
                </a:solidFill>
                <a:ea typeface="华文楷体" panose="02010600040101010101" pitchFamily="2" charset="-122"/>
                <a:cs typeface="Helvetica" panose="020B0604020202020204" pitchFamily="34" charset="0"/>
              </a:rPr>
              <a:t>表头</a:t>
            </a:r>
            <a:r>
              <a:rPr lang="zh-CN" altLang="zh-CN" b="1" kern="0" dirty="0">
                <a:solidFill>
                  <a:srgbClr val="000000"/>
                </a:solidFill>
                <a:ea typeface="华文楷体" panose="02010600040101010101" pitchFamily="2" charset="-122"/>
                <a:cs typeface="宋体" panose="02010600030101010101" pitchFamily="2" charset="-122"/>
              </a:rPr>
              <a:t>）。</a:t>
            </a:r>
            <a:endParaRPr lang="en-US" altLang="zh-CN" b="1" kern="0" dirty="0">
              <a:solidFill>
                <a:srgbClr val="000000"/>
              </a:solidFill>
              <a:ea typeface="华文楷体" panose="02010600040101010101" pitchFamily="2" charset="-122"/>
              <a:cs typeface="宋体" panose="02010600030101010101" pitchFamily="2" charset="-122"/>
            </a:endParaRPr>
          </a:p>
          <a:p>
            <a:pPr indent="266700">
              <a:lnSpc>
                <a:spcPct val="125000"/>
              </a:lnSpc>
            </a:pPr>
            <a:endParaRPr lang="zh-CN" altLang="zh-CN" b="1" kern="100" dirty="0">
              <a:ea typeface="华文楷体" panose="02010600040101010101" pitchFamily="2" charset="-122"/>
              <a:cs typeface="Times New Roman" panose="02020603050405020304" pitchFamily="18" charset="0"/>
            </a:endParaRPr>
          </a:p>
          <a:p>
            <a:pPr indent="266700">
              <a:lnSpc>
                <a:spcPct val="125000"/>
              </a:lnSpc>
            </a:pPr>
            <a:r>
              <a:rPr lang="zh-CN" altLang="zh-CN" b="1" kern="0" dirty="0">
                <a:solidFill>
                  <a:srgbClr val="003A8E"/>
                </a:solidFill>
                <a:ea typeface="华文楷体" panose="02010600040101010101" pitchFamily="2" charset="-122"/>
                <a:cs typeface="宋体" panose="02010600030101010101" pitchFamily="2" charset="-122"/>
              </a:rPr>
              <a:t>②修改页面链表</a:t>
            </a:r>
            <a:endParaRPr lang="zh-CN" altLang="zh-CN" b="1" kern="100" dirty="0">
              <a:solidFill>
                <a:srgbClr val="003A8E"/>
              </a:solidFill>
              <a:ea typeface="华文楷体" panose="02010600040101010101" pitchFamily="2" charset="-122"/>
              <a:cs typeface="Times New Roman" panose="02020603050405020304" pitchFamily="18" charset="0"/>
            </a:endParaRPr>
          </a:p>
          <a:p>
            <a:pPr indent="266700">
              <a:lnSpc>
                <a:spcPct val="125000"/>
              </a:lnSpc>
            </a:pPr>
            <a:r>
              <a:rPr lang="en-US" altLang="zh-CN" b="1" kern="0" dirty="0">
                <a:solidFill>
                  <a:srgbClr val="000000"/>
                </a:solidFill>
                <a:ea typeface="华文楷体" panose="02010600040101010101" pitchFamily="2" charset="-122"/>
                <a:cs typeface="宋体" panose="02010600030101010101" pitchFamily="2" charset="-122"/>
              </a:rPr>
              <a:t>   </a:t>
            </a:r>
            <a:r>
              <a:rPr lang="zh-CN" altLang="zh-CN" b="1" kern="0" dirty="0">
                <a:solidFill>
                  <a:srgbClr val="000000"/>
                </a:solidFill>
                <a:ea typeface="华文楷体" panose="02010600040101010101" pitchFamily="2" charset="-122"/>
                <a:cs typeface="宋体" panose="02010600030101010101" pitchFamily="2" charset="-122"/>
              </a:rPr>
              <a:t>它是由已修改的页面所形成的链表。设置该链表的目的是为了减少已修改页面换出的次数。当进程需要将一个已修改的页面换出时，系统并不立即把它换出到外存上，而是将它所在的物理块挂在修改页面链表的末尾。这样做的目的是降低将已修该页面写回磁盘的频率，降低将磁盘内容读入内存的频率。</a:t>
            </a:r>
            <a:r>
              <a:rPr lang="en-US" altLang="zh-CN" b="1" kern="0" dirty="0">
                <a:solidFill>
                  <a:srgbClr val="000000"/>
                </a:solidFill>
                <a:ea typeface="华文楷体" panose="02010600040101010101" pitchFamily="2" charset="-122"/>
                <a:cs typeface="宋体" panose="02010600030101010101" pitchFamily="2" charset="-122"/>
              </a:rPr>
              <a:t> </a:t>
            </a:r>
            <a:endParaRPr lang="zh-CN" altLang="zh-CN" b="1" kern="100" dirty="0">
              <a:ea typeface="华文楷体" panose="0201060004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矩形 2"/>
          <p:cNvSpPr/>
          <p:nvPr/>
        </p:nvSpPr>
        <p:spPr>
          <a:xfrm>
            <a:off x="1208529" y="1152223"/>
            <a:ext cx="2974819" cy="398780"/>
          </a:xfrm>
          <a:prstGeom prst="rect">
            <a:avLst/>
          </a:prstGeom>
        </p:spPr>
        <p:txBody>
          <a:bodyPr wrap="squar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页帧分配算法</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mc:AlternateContent xmlns:mc="http://schemas.openxmlformats.org/markup-compatibility/2006">
        <mc:Choice xmlns:a14="http://schemas.microsoft.com/office/drawing/2010/main" Requires="a14">
          <p:sp>
            <p:nvSpPr>
              <p:cNvPr id="5" name="矩形 4"/>
              <p:cNvSpPr/>
              <p:nvPr/>
            </p:nvSpPr>
            <p:spPr>
              <a:xfrm>
                <a:off x="1510891" y="1521555"/>
                <a:ext cx="9111179" cy="4258153"/>
              </a:xfrm>
              <a:prstGeom prst="rect">
                <a:avLst/>
              </a:prstGeom>
            </p:spPr>
            <p:txBody>
              <a:bodyPr wrap="square">
                <a:spAutoFit/>
              </a:bodyPr>
              <a:lstStyle/>
              <a:p>
                <a:pPr algn="just">
                  <a:lnSpc>
                    <a:spcPct val="125000"/>
                  </a:lnSpc>
                </a:pPr>
                <a:r>
                  <a:rPr lang="zh-CN" altLang="zh-CN" b="1" kern="100" dirty="0">
                    <a:solidFill>
                      <a:srgbClr val="000000"/>
                    </a:solidFill>
                    <a:latin typeface="+mn-ea"/>
                    <a:cs typeface="Times New Roman" panose="02020603050405020304" pitchFamily="18" charset="0"/>
                  </a:rPr>
                  <a:t> 页帧的分配算法通常需要考虑驻留在内存中进程的情况，常见的分配算法包括平均分配法与按比例分配法。</a:t>
                </a:r>
                <a:endParaRPr lang="zh-CN" altLang="zh-CN" b="1" kern="100" dirty="0">
                  <a:latin typeface="+mn-ea"/>
                  <a:cs typeface="Times New Roman" panose="02020603050405020304" pitchFamily="18" charset="0"/>
                </a:endParaRPr>
              </a:p>
              <a:p>
                <a:pPr marL="285750" indent="-285750" algn="just">
                  <a:lnSpc>
                    <a:spcPct val="125000"/>
                  </a:lnSpc>
                  <a:buFont typeface="Wingdings" panose="05000000000000000000" pitchFamily="2" charset="2"/>
                  <a:buChar char="u"/>
                </a:pPr>
                <a:r>
                  <a:rPr lang="en-US" altLang="zh-CN" b="1" kern="100" dirty="0">
                    <a:solidFill>
                      <a:srgbClr val="7C0000"/>
                    </a:solidFill>
                    <a:latin typeface="+mn-ea"/>
                    <a:cs typeface="Times New Roman" panose="02020603050405020304" pitchFamily="18" charset="0"/>
                  </a:rPr>
                  <a:t> </a:t>
                </a:r>
                <a:r>
                  <a:rPr lang="zh-CN" altLang="zh-CN" b="1" kern="100" dirty="0">
                    <a:solidFill>
                      <a:srgbClr val="7C0000"/>
                    </a:solidFill>
                    <a:latin typeface="+mn-ea"/>
                    <a:cs typeface="Times New Roman" panose="02020603050405020304" pitchFamily="18" charset="0"/>
                  </a:rPr>
                  <a:t>平均分配</a:t>
                </a:r>
                <a:endParaRPr lang="zh-CN" altLang="zh-CN" b="1" kern="100" dirty="0">
                  <a:solidFill>
                    <a:srgbClr val="7C0000"/>
                  </a:solidFill>
                  <a:latin typeface="+mn-ea"/>
                  <a:cs typeface="Times New Roman" panose="02020603050405020304" pitchFamily="18" charset="0"/>
                </a:endParaRPr>
              </a:p>
              <a:p>
                <a:pPr indent="266700" algn="just">
                  <a:lnSpc>
                    <a:spcPct val="125000"/>
                  </a:lnSpc>
                </a:pPr>
                <a:r>
                  <a:rPr lang="zh-CN" altLang="zh-CN" b="1" kern="100" dirty="0">
                    <a:solidFill>
                      <a:srgbClr val="000000"/>
                    </a:solidFill>
                    <a:latin typeface="+mn-ea"/>
                    <a:cs typeface="Times New Roman" panose="02020603050405020304" pitchFamily="18" charset="0"/>
                  </a:rPr>
                  <a:t>即最大帧数除以进程总数得到一个平均的值，这个值就是操作系统为每个进程分配的页帧数目。单纯的平均分配没有考虑到不同进程可能需要不同大小的内存空间。</a:t>
                </a:r>
                <a:endParaRPr lang="en-US" altLang="zh-CN" b="1" kern="100" dirty="0">
                  <a:solidFill>
                    <a:srgbClr val="000000"/>
                  </a:solidFill>
                  <a:latin typeface="+mn-ea"/>
                  <a:cs typeface="Times New Roman" panose="02020603050405020304" pitchFamily="18" charset="0"/>
                </a:endParaRPr>
              </a:p>
              <a:p>
                <a:pPr indent="266700" algn="just">
                  <a:lnSpc>
                    <a:spcPct val="125000"/>
                  </a:lnSpc>
                </a:pPr>
                <a:endParaRPr lang="en-US" altLang="zh-CN" b="1" kern="100" dirty="0">
                  <a:solidFill>
                    <a:srgbClr val="0C0CC6"/>
                  </a:solidFill>
                  <a:latin typeface="+mn-ea"/>
                  <a:cs typeface="Times New Roman" panose="02020603050405020304" pitchFamily="18" charset="0"/>
                </a:endParaRPr>
              </a:p>
              <a:p>
                <a:pPr marL="285750" indent="-285750" algn="just">
                  <a:lnSpc>
                    <a:spcPct val="125000"/>
                  </a:lnSpc>
                  <a:buFont typeface="Wingdings" panose="05000000000000000000" pitchFamily="2" charset="2"/>
                  <a:buChar char="u"/>
                </a:pPr>
                <a:r>
                  <a:rPr lang="zh-CN" altLang="zh-CN" b="1" kern="100" dirty="0">
                    <a:solidFill>
                      <a:srgbClr val="7C0000"/>
                    </a:solidFill>
                    <a:latin typeface="+mn-ea"/>
                    <a:cs typeface="Times New Roman" panose="02020603050405020304" pitchFamily="18" charset="0"/>
                  </a:rPr>
                  <a:t>按进程大小比例分配</a:t>
                </a:r>
                <a:endParaRPr lang="en-US" altLang="zh-CN" b="1" kern="100" dirty="0">
                  <a:solidFill>
                    <a:srgbClr val="7C0000"/>
                  </a:solidFill>
                  <a:latin typeface="+mn-ea"/>
                  <a:cs typeface="Times New Roman" panose="02020603050405020304" pitchFamily="18" charset="0"/>
                </a:endParaRPr>
              </a:p>
              <a:p>
                <a:pPr algn="just">
                  <a:lnSpc>
                    <a:spcPct val="125000"/>
                  </a:lnSpc>
                </a:pPr>
                <a:r>
                  <a:rPr lang="en-US" altLang="zh-CN" b="1" kern="100" dirty="0">
                    <a:solidFill>
                      <a:srgbClr val="000000"/>
                    </a:solidFill>
                    <a:latin typeface="+mn-ea"/>
                    <a:cs typeface="Times New Roman" panose="02020603050405020304" pitchFamily="18" charset="0"/>
                  </a:rPr>
                  <a:t>       </a:t>
                </a:r>
                <a:r>
                  <a:rPr lang="zh-CN" altLang="zh-CN" b="1" kern="100" dirty="0">
                    <a:solidFill>
                      <a:srgbClr val="000000"/>
                    </a:solidFill>
                    <a:latin typeface="+mn-ea"/>
                    <a:cs typeface="Times New Roman" panose="02020603050405020304" pitchFamily="18" charset="0"/>
                  </a:rPr>
                  <a:t>按照进程地址空间的大小，按比例给进程分配页帧数。设进程</a:t>
                </a:r>
                <a:r>
                  <a:rPr lang="en-US" altLang="zh-CN" b="1" kern="100" dirty="0">
                    <a:solidFill>
                      <a:srgbClr val="000000"/>
                    </a:solidFill>
                    <a:latin typeface="+mn-ea"/>
                    <a:cs typeface="Times New Roman" panose="02020603050405020304" pitchFamily="18" charset="0"/>
                  </a:rPr>
                  <a:t>p</a:t>
                </a:r>
                <a:r>
                  <a:rPr lang="en-US" altLang="zh-CN" b="1" kern="100" baseline="-25000" dirty="0">
                    <a:solidFill>
                      <a:srgbClr val="000000"/>
                    </a:solidFill>
                    <a:latin typeface="+mn-ea"/>
                    <a:cs typeface="Times New Roman" panose="02020603050405020304" pitchFamily="18" charset="0"/>
                  </a:rPr>
                  <a:t>i</a:t>
                </a:r>
                <a:r>
                  <a:rPr lang="zh-CN" altLang="zh-CN" b="1" kern="100" dirty="0">
                    <a:solidFill>
                      <a:srgbClr val="000000"/>
                    </a:solidFill>
                    <a:latin typeface="+mn-ea"/>
                    <a:cs typeface="Times New Roman" panose="02020603050405020304" pitchFamily="18" charset="0"/>
                  </a:rPr>
                  <a:t>的需地址空间的页面数为</a:t>
                </a:r>
                <a:r>
                  <a:rPr lang="en-US" altLang="zh-CN" b="1" kern="100" dirty="0" err="1">
                    <a:solidFill>
                      <a:srgbClr val="000000"/>
                    </a:solidFill>
                    <a:latin typeface="+mn-ea"/>
                    <a:cs typeface="Times New Roman" panose="02020603050405020304" pitchFamily="18" charset="0"/>
                  </a:rPr>
                  <a:t>s</a:t>
                </a:r>
                <a:r>
                  <a:rPr lang="en-US" altLang="zh-CN" b="1" kern="100" baseline="-25000" dirty="0" err="1">
                    <a:solidFill>
                      <a:srgbClr val="000000"/>
                    </a:solidFill>
                    <a:latin typeface="+mn-ea"/>
                    <a:cs typeface="Times New Roman" panose="02020603050405020304" pitchFamily="18" charset="0"/>
                  </a:rPr>
                  <a:t>i</a:t>
                </a:r>
                <a:r>
                  <a:rPr lang="zh-CN" altLang="zh-CN" b="1" kern="100" dirty="0">
                    <a:solidFill>
                      <a:srgbClr val="000000"/>
                    </a:solidFill>
                    <a:latin typeface="+mn-ea"/>
                    <a:cs typeface="Times New Roman" panose="02020603050405020304" pitchFamily="18" charset="0"/>
                  </a:rPr>
                  <a:t>，且定义：</a:t>
                </a:r>
                <a:endParaRPr lang="zh-CN" altLang="zh-CN" b="1" kern="100" dirty="0">
                  <a:latin typeface="+mn-ea"/>
                  <a:cs typeface="Times New Roman" panose="02020603050405020304" pitchFamily="18" charset="0"/>
                </a:endParaRPr>
              </a:p>
              <a:p>
                <a:pPr indent="400050" algn="just">
                  <a:lnSpc>
                    <a:spcPct val="125000"/>
                  </a:lnSpc>
                </a:pPr>
                <a:r>
                  <a:rPr lang="en-US" altLang="zh-CN" b="1" kern="100" dirty="0">
                    <a:solidFill>
                      <a:srgbClr val="C00000"/>
                    </a:solidFill>
                    <a:latin typeface="+mn-ea"/>
                    <a:cs typeface="Times New Roman" panose="02020603050405020304" pitchFamily="18" charset="0"/>
                  </a:rPr>
                  <a:t>  </a:t>
                </a:r>
                <a:r>
                  <a:rPr lang="en-US" altLang="zh-CN" b="1" kern="100" dirty="0">
                    <a:solidFill>
                      <a:srgbClr val="7C0000"/>
                    </a:solidFill>
                    <a:latin typeface="+mn-ea"/>
                    <a:cs typeface="Times New Roman" panose="02020603050405020304" pitchFamily="18" charset="0"/>
                  </a:rPr>
                  <a:t>  </a:t>
                </a:r>
                <a14:m>
                  <m:oMath xmlns:m="http://schemas.openxmlformats.org/officeDocument/2006/math">
                    <m:sSub>
                      <m:sSubPr>
                        <m:ctrlPr>
                          <a:rPr lang="zh-CN" altLang="zh-CN" b="1" i="1" kern="100">
                            <a:solidFill>
                              <a:srgbClr val="7C0000"/>
                            </a:solidFill>
                            <a:latin typeface="+mn-ea"/>
                            <a:cs typeface="Times New Roman" panose="02020603050405020304" pitchFamily="18" charset="0"/>
                          </a:rPr>
                        </m:ctrlPr>
                      </m:sSubPr>
                      <m:e>
                        <m:r>
                          <a:rPr lang="en-US" altLang="zh-CN" b="1" i="1" kern="100">
                            <a:solidFill>
                              <a:srgbClr val="7C0000"/>
                            </a:solidFill>
                            <a:latin typeface="+mn-ea"/>
                            <a:cs typeface="Times New Roman" panose="02020603050405020304" pitchFamily="18" charset="0"/>
                          </a:rPr>
                          <m:t>𝑺</m:t>
                        </m:r>
                        <m:r>
                          <a:rPr lang="en-US" altLang="zh-CN" b="1" i="1" kern="100">
                            <a:solidFill>
                              <a:srgbClr val="7C0000"/>
                            </a:solidFill>
                            <a:latin typeface="+mn-ea"/>
                            <a:cs typeface="Times New Roman" panose="02020603050405020304" pitchFamily="18" charset="0"/>
                          </a:rPr>
                          <m:t>=</m:t>
                        </m:r>
                        <m:nary>
                          <m:naryPr>
                            <m:chr m:val="∑"/>
                            <m:limLoc m:val="undOvr"/>
                            <m:subHide m:val="on"/>
                            <m:supHide m:val="on"/>
                            <m:ctrlPr>
                              <a:rPr lang="zh-CN" altLang="zh-CN" b="1" i="1" kern="100">
                                <a:solidFill>
                                  <a:srgbClr val="7C0000"/>
                                </a:solidFill>
                                <a:latin typeface="+mn-ea"/>
                                <a:cs typeface="Times New Roman" panose="02020603050405020304" pitchFamily="18" charset="0"/>
                              </a:rPr>
                            </m:ctrlPr>
                          </m:naryPr>
                          <m:sub/>
                          <m:sup/>
                          <m:e>
                            <m:r>
                              <a:rPr lang="en-US" altLang="zh-CN" b="1" i="1" kern="100">
                                <a:solidFill>
                                  <a:srgbClr val="7C0000"/>
                                </a:solidFill>
                                <a:latin typeface="+mn-ea"/>
                                <a:cs typeface="Times New Roman" panose="02020603050405020304" pitchFamily="18" charset="0"/>
                              </a:rPr>
                              <m:t>𝒔</m:t>
                            </m:r>
                          </m:e>
                        </m:nary>
                      </m:e>
                      <m:sub>
                        <m:r>
                          <a:rPr lang="en-US" altLang="zh-CN" b="1" i="1" kern="100">
                            <a:solidFill>
                              <a:srgbClr val="7C0000"/>
                            </a:solidFill>
                            <a:latin typeface="+mn-ea"/>
                            <a:cs typeface="Times New Roman" panose="02020603050405020304" pitchFamily="18" charset="0"/>
                          </a:rPr>
                          <m:t>𝒊</m:t>
                        </m:r>
                      </m:sub>
                    </m:sSub>
                  </m:oMath>
                </a14:m>
                <a:endParaRPr lang="zh-CN" altLang="zh-CN" b="1" kern="100" dirty="0">
                  <a:solidFill>
                    <a:srgbClr val="7C0000"/>
                  </a:solidFill>
                  <a:latin typeface="+mn-ea"/>
                  <a:cs typeface="Times New Roman" panose="02020603050405020304" pitchFamily="18" charset="0"/>
                </a:endParaRPr>
              </a:p>
              <a:p>
                <a:pPr indent="400050" algn="just">
                  <a:lnSpc>
                    <a:spcPct val="125000"/>
                  </a:lnSpc>
                </a:pPr>
                <a:r>
                  <a:rPr lang="zh-CN" altLang="zh-CN" b="1" kern="100" dirty="0">
                    <a:solidFill>
                      <a:srgbClr val="7C0000"/>
                    </a:solidFill>
                    <a:latin typeface="+mn-ea"/>
                    <a:cs typeface="Times New Roman" panose="02020603050405020304" pitchFamily="18" charset="0"/>
                  </a:rPr>
                  <a:t>如果空闲页帧总数为</a:t>
                </a:r>
                <a:r>
                  <a:rPr lang="en-US" altLang="zh-CN" b="1" kern="100" dirty="0">
                    <a:solidFill>
                      <a:srgbClr val="7C0000"/>
                    </a:solidFill>
                    <a:latin typeface="+mn-ea"/>
                    <a:cs typeface="Times New Roman" panose="02020603050405020304" pitchFamily="18" charset="0"/>
                  </a:rPr>
                  <a:t>m</a:t>
                </a:r>
                <a:r>
                  <a:rPr lang="zh-CN" altLang="zh-CN" b="1" kern="100" dirty="0">
                    <a:solidFill>
                      <a:srgbClr val="7C0000"/>
                    </a:solidFill>
                    <a:latin typeface="+mn-ea"/>
                    <a:cs typeface="Times New Roman" panose="02020603050405020304" pitchFamily="18" charset="0"/>
                  </a:rPr>
                  <a:t>，那么进程</a:t>
                </a:r>
                <a:r>
                  <a:rPr lang="en-US" altLang="zh-CN" b="1" kern="100" dirty="0">
                    <a:solidFill>
                      <a:srgbClr val="7C0000"/>
                    </a:solidFill>
                    <a:latin typeface="+mn-ea"/>
                    <a:cs typeface="Times New Roman" panose="02020603050405020304" pitchFamily="18" charset="0"/>
                  </a:rPr>
                  <a:t>p</a:t>
                </a:r>
                <a:r>
                  <a:rPr lang="en-US" altLang="zh-CN" b="1" kern="100" baseline="-25000" dirty="0">
                    <a:solidFill>
                      <a:srgbClr val="7C0000"/>
                    </a:solidFill>
                    <a:latin typeface="+mn-ea"/>
                    <a:cs typeface="Times New Roman" panose="02020603050405020304" pitchFamily="18" charset="0"/>
                  </a:rPr>
                  <a:t>i</a:t>
                </a:r>
                <a:r>
                  <a:rPr lang="zh-CN" altLang="zh-CN" b="1" kern="100" dirty="0">
                    <a:solidFill>
                      <a:srgbClr val="7C0000"/>
                    </a:solidFill>
                    <a:latin typeface="+mn-ea"/>
                    <a:cs typeface="Times New Roman" panose="02020603050405020304" pitchFamily="18" charset="0"/>
                  </a:rPr>
                  <a:t>可分配到</a:t>
                </a:r>
                <a:r>
                  <a:rPr lang="en-US" altLang="zh-CN" b="1" kern="100" dirty="0" err="1">
                    <a:solidFill>
                      <a:srgbClr val="7C0000"/>
                    </a:solidFill>
                    <a:latin typeface="+mn-ea"/>
                    <a:cs typeface="Times New Roman" panose="02020603050405020304" pitchFamily="18" charset="0"/>
                  </a:rPr>
                  <a:t>a</a:t>
                </a:r>
                <a:r>
                  <a:rPr lang="en-US" altLang="zh-CN" b="1" kern="100" baseline="-25000" dirty="0" err="1">
                    <a:solidFill>
                      <a:srgbClr val="7C0000"/>
                    </a:solidFill>
                    <a:latin typeface="+mn-ea"/>
                    <a:cs typeface="Times New Roman" panose="02020603050405020304" pitchFamily="18" charset="0"/>
                  </a:rPr>
                  <a:t>i</a:t>
                </a:r>
                <a:r>
                  <a:rPr lang="zh-CN" altLang="zh-CN" b="1" kern="100" dirty="0">
                    <a:solidFill>
                      <a:srgbClr val="7C0000"/>
                    </a:solidFill>
                    <a:latin typeface="+mn-ea"/>
                    <a:cs typeface="Times New Roman" panose="02020603050405020304" pitchFamily="18" charset="0"/>
                  </a:rPr>
                  <a:t>个页帧，这里</a:t>
                </a:r>
                <a:r>
                  <a:rPr lang="en-US" altLang="zh-CN" b="1" kern="100" dirty="0" err="1">
                    <a:solidFill>
                      <a:srgbClr val="7C0000"/>
                    </a:solidFill>
                    <a:latin typeface="+mn-ea"/>
                    <a:cs typeface="Times New Roman" panose="02020603050405020304" pitchFamily="18" charset="0"/>
                  </a:rPr>
                  <a:t>a</a:t>
                </a:r>
                <a:r>
                  <a:rPr lang="en-US" altLang="zh-CN" b="1" kern="100" baseline="-25000" dirty="0" err="1">
                    <a:solidFill>
                      <a:srgbClr val="7C0000"/>
                    </a:solidFill>
                    <a:latin typeface="+mn-ea"/>
                    <a:cs typeface="Times New Roman" panose="02020603050405020304" pitchFamily="18" charset="0"/>
                  </a:rPr>
                  <a:t>i</a:t>
                </a:r>
                <a:r>
                  <a:rPr lang="zh-CN" altLang="zh-CN" b="1" kern="100" dirty="0">
                    <a:solidFill>
                      <a:srgbClr val="7C0000"/>
                    </a:solidFill>
                    <a:latin typeface="+mn-ea"/>
                    <a:cs typeface="Times New Roman" panose="02020603050405020304" pitchFamily="18" charset="0"/>
                  </a:rPr>
                  <a:t>近似为：</a:t>
                </a:r>
                <a:endParaRPr lang="zh-CN" altLang="zh-CN" b="1" kern="100" dirty="0">
                  <a:solidFill>
                    <a:srgbClr val="7C0000"/>
                  </a:solidFill>
                  <a:latin typeface="+mn-ea"/>
                  <a:cs typeface="Times New Roman" panose="02020603050405020304" pitchFamily="18" charset="0"/>
                </a:endParaRPr>
              </a:p>
              <a:p>
                <a:pPr indent="400050" algn="just">
                  <a:lnSpc>
                    <a:spcPct val="125000"/>
                  </a:lnSpc>
                </a:pPr>
                <a:r>
                  <a:rPr lang="en-US" altLang="zh-CN" b="1" kern="100" dirty="0" err="1">
                    <a:solidFill>
                      <a:srgbClr val="7C0000"/>
                    </a:solidFill>
                    <a:latin typeface="+mn-ea"/>
                    <a:cs typeface="Times New Roman" panose="02020603050405020304" pitchFamily="18" charset="0"/>
                  </a:rPr>
                  <a:t>a</a:t>
                </a:r>
                <a:r>
                  <a:rPr lang="en-US" altLang="zh-CN" b="1" kern="100" baseline="-25000" dirty="0" err="1">
                    <a:solidFill>
                      <a:srgbClr val="7C0000"/>
                    </a:solidFill>
                    <a:latin typeface="+mn-ea"/>
                    <a:cs typeface="Times New Roman" panose="02020603050405020304" pitchFamily="18" charset="0"/>
                  </a:rPr>
                  <a:t>i</a:t>
                </a:r>
                <a:r>
                  <a:rPr lang="en-US" altLang="zh-CN" b="1" kern="100" dirty="0">
                    <a:solidFill>
                      <a:srgbClr val="7C0000"/>
                    </a:solidFill>
                    <a:latin typeface="+mn-ea"/>
                    <a:cs typeface="Times New Roman" panose="02020603050405020304" pitchFamily="18" charset="0"/>
                  </a:rPr>
                  <a:t>=(</a:t>
                </a:r>
                <a:r>
                  <a:rPr lang="en-US" altLang="zh-CN" b="1" kern="100" dirty="0" err="1">
                    <a:solidFill>
                      <a:srgbClr val="7C0000"/>
                    </a:solidFill>
                    <a:latin typeface="+mn-ea"/>
                    <a:cs typeface="Times New Roman" panose="02020603050405020304" pitchFamily="18" charset="0"/>
                  </a:rPr>
                  <a:t>s</a:t>
                </a:r>
                <a:r>
                  <a:rPr lang="en-US" altLang="zh-CN" b="1" kern="100" baseline="-25000" dirty="0" err="1">
                    <a:solidFill>
                      <a:srgbClr val="7C0000"/>
                    </a:solidFill>
                    <a:latin typeface="+mn-ea"/>
                    <a:cs typeface="Times New Roman" panose="02020603050405020304" pitchFamily="18" charset="0"/>
                  </a:rPr>
                  <a:t>i</a:t>
                </a:r>
                <a:r>
                  <a:rPr lang="en-US" altLang="zh-CN" b="1" kern="100" dirty="0">
                    <a:solidFill>
                      <a:srgbClr val="7C0000"/>
                    </a:solidFill>
                    <a:latin typeface="+mn-ea"/>
                    <a:cs typeface="Times New Roman" panose="02020603050405020304" pitchFamily="18" charset="0"/>
                  </a:rPr>
                  <a:t>/S)*m</a:t>
                </a:r>
                <a:r>
                  <a:rPr lang="zh-CN" altLang="zh-CN" b="1" kern="100" dirty="0">
                    <a:solidFill>
                      <a:srgbClr val="7C0000"/>
                    </a:solidFill>
                    <a:latin typeface="+mn-ea"/>
                    <a:cs typeface="Times New Roman" panose="02020603050405020304" pitchFamily="18" charset="0"/>
                  </a:rPr>
                  <a:t>，当然</a:t>
                </a:r>
                <a:r>
                  <a:rPr lang="en-US" altLang="zh-CN" b="1" kern="100" dirty="0" err="1">
                    <a:solidFill>
                      <a:srgbClr val="7C0000"/>
                    </a:solidFill>
                    <a:latin typeface="+mn-ea"/>
                    <a:cs typeface="Times New Roman" panose="02020603050405020304" pitchFamily="18" charset="0"/>
                  </a:rPr>
                  <a:t>a</a:t>
                </a:r>
                <a:r>
                  <a:rPr lang="en-US" altLang="zh-CN" b="1" kern="100" baseline="-25000" dirty="0" err="1">
                    <a:solidFill>
                      <a:srgbClr val="7C0000"/>
                    </a:solidFill>
                    <a:latin typeface="+mn-ea"/>
                    <a:cs typeface="Times New Roman" panose="02020603050405020304" pitchFamily="18" charset="0"/>
                  </a:rPr>
                  <a:t>i</a:t>
                </a:r>
                <a:r>
                  <a:rPr lang="zh-CN" altLang="zh-CN" b="1" kern="100" dirty="0">
                    <a:solidFill>
                      <a:srgbClr val="7C0000"/>
                    </a:solidFill>
                    <a:latin typeface="+mn-ea"/>
                    <a:cs typeface="Times New Roman" panose="02020603050405020304" pitchFamily="18" charset="0"/>
                  </a:rPr>
                  <a:t>为满足条件的整数。</a:t>
                </a:r>
                <a:endParaRPr lang="zh-CN" altLang="zh-CN" b="1" kern="100" dirty="0">
                  <a:solidFill>
                    <a:srgbClr val="7C0000"/>
                  </a:solidFill>
                  <a:latin typeface="+mn-ea"/>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1510891" y="1521555"/>
                <a:ext cx="9111179" cy="4258153"/>
              </a:xfrm>
              <a:prstGeom prst="rect">
                <a:avLst/>
              </a:prstGeom>
              <a:blipFill rotWithShape="1">
                <a:blip r:embed="rId1"/>
                <a:stretch>
                  <a:fillRect l="-2" t="-2" r="5" b="13"/>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矩形 2"/>
          <p:cNvSpPr/>
          <p:nvPr/>
        </p:nvSpPr>
        <p:spPr>
          <a:xfrm>
            <a:off x="1208529" y="1152223"/>
            <a:ext cx="2974819" cy="398780"/>
          </a:xfrm>
          <a:prstGeom prst="rect">
            <a:avLst/>
          </a:prstGeom>
        </p:spPr>
        <p:txBody>
          <a:bodyPr wrap="squar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页帧分配算法</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2" name="矩形 1"/>
          <p:cNvSpPr/>
          <p:nvPr/>
        </p:nvSpPr>
        <p:spPr>
          <a:xfrm>
            <a:off x="1417386" y="1956456"/>
            <a:ext cx="9592992" cy="3911905"/>
          </a:xfrm>
          <a:prstGeom prst="rect">
            <a:avLst/>
          </a:prstGeom>
          <a:solidFill>
            <a:schemeClr val="accent1">
              <a:lumMod val="20000"/>
              <a:lumOff val="80000"/>
            </a:schemeClr>
          </a:solidFill>
          <a:ln>
            <a:solidFill>
              <a:schemeClr val="tx1"/>
            </a:solidFill>
          </a:ln>
        </p:spPr>
        <p:txBody>
          <a:bodyPr wrap="square">
            <a:spAutoFit/>
          </a:bodyPr>
          <a:lstStyle/>
          <a:p>
            <a:pPr indent="400050" algn="just">
              <a:lnSpc>
                <a:spcPct val="125000"/>
              </a:lnSpc>
            </a:pPr>
            <a:r>
              <a:rPr lang="zh-CN" altLang="zh-CN" sz="2000" b="1" dirty="0">
                <a:latin typeface="等线" panose="02010600030101010101" pitchFamily="2" charset="-122"/>
                <a:ea typeface="等线" panose="02010600030101010101" pitchFamily="2" charset="-122"/>
              </a:rPr>
              <a:t>考虑一下这样的系统，每个页帧大小为</a:t>
            </a:r>
            <a:r>
              <a:rPr lang="en-US" altLang="zh-CN" sz="2000" b="1" dirty="0">
                <a:latin typeface="等线" panose="02010600030101010101" pitchFamily="2" charset="-122"/>
                <a:ea typeface="等线" panose="02010600030101010101" pitchFamily="2" charset="-122"/>
              </a:rPr>
              <a:t>1K</a:t>
            </a:r>
            <a:r>
              <a:rPr lang="zh-CN" altLang="zh-CN" sz="2000" b="1" dirty="0">
                <a:latin typeface="等线" panose="02010600030101010101" pitchFamily="2" charset="-122"/>
                <a:ea typeface="等线" panose="02010600030101010101" pitchFamily="2" charset="-122"/>
              </a:rPr>
              <a:t>，目前内存一共有</a:t>
            </a:r>
            <a:r>
              <a:rPr lang="en-US" altLang="zh-CN" sz="2000" b="1" dirty="0">
                <a:latin typeface="等线" panose="02010600030101010101" pitchFamily="2" charset="-122"/>
                <a:ea typeface="等线" panose="02010600030101010101" pitchFamily="2" charset="-122"/>
              </a:rPr>
              <a:t>60</a:t>
            </a:r>
            <a:r>
              <a:rPr lang="zh-CN" altLang="zh-CN" sz="2000" b="1" dirty="0">
                <a:latin typeface="等线" panose="02010600030101010101" pitchFamily="2" charset="-122"/>
                <a:ea typeface="等线" panose="02010600030101010101" pitchFamily="2" charset="-122"/>
              </a:rPr>
              <a:t>个空闲页帧，现在有</a:t>
            </a:r>
            <a:r>
              <a:rPr lang="en-US" altLang="zh-CN" sz="2000" b="1" dirty="0">
                <a:latin typeface="等线" panose="02010600030101010101" pitchFamily="2" charset="-122"/>
                <a:ea typeface="等线" panose="02010600030101010101" pitchFamily="2" charset="-122"/>
              </a:rPr>
              <a:t>2</a:t>
            </a:r>
            <a:r>
              <a:rPr lang="zh-CN" altLang="zh-CN" sz="2000" b="1" dirty="0">
                <a:latin typeface="等线" panose="02010600030101010101" pitchFamily="2" charset="-122"/>
                <a:ea typeface="等线" panose="02010600030101010101" pitchFamily="2" charset="-122"/>
              </a:rPr>
              <a:t>个进程，一个进程的地址空间为</a:t>
            </a:r>
            <a:r>
              <a:rPr lang="en-US" altLang="zh-CN" sz="2000" b="1" dirty="0">
                <a:latin typeface="等线" panose="02010600030101010101" pitchFamily="2" charset="-122"/>
                <a:ea typeface="等线" panose="02010600030101010101" pitchFamily="2" charset="-122"/>
              </a:rPr>
              <a:t>100</a:t>
            </a:r>
            <a:r>
              <a:rPr lang="zh-CN" altLang="zh-CN" sz="2000" b="1" dirty="0">
                <a:latin typeface="等线" panose="02010600030101010101" pitchFamily="2" charset="-122"/>
                <a:ea typeface="等线" panose="02010600030101010101" pitchFamily="2" charset="-122"/>
              </a:rPr>
              <a:t>个页面，另一个有</a:t>
            </a:r>
            <a:r>
              <a:rPr lang="en-US" altLang="zh-CN" sz="2000" b="1" dirty="0">
                <a:latin typeface="等线" panose="02010600030101010101" pitchFamily="2" charset="-122"/>
                <a:ea typeface="等线" panose="02010600030101010101" pitchFamily="2" charset="-122"/>
              </a:rPr>
              <a:t>20</a:t>
            </a:r>
            <a:r>
              <a:rPr lang="zh-CN" altLang="zh-CN" sz="2000" b="1" dirty="0">
                <a:latin typeface="等线" panose="02010600030101010101" pitchFamily="2" charset="-122"/>
                <a:ea typeface="等线" panose="02010600030101010101" pitchFamily="2" charset="-122"/>
              </a:rPr>
              <a:t>个页面</a:t>
            </a:r>
            <a:r>
              <a:rPr lang="zh-CN" altLang="en-US" sz="2000" b="1" dirty="0">
                <a:latin typeface="等线" panose="02010600030101010101" pitchFamily="2" charset="-122"/>
                <a:ea typeface="等线" panose="02010600030101010101" pitchFamily="2" charset="-122"/>
              </a:rPr>
              <a:t>。</a:t>
            </a:r>
            <a:endParaRPr lang="en-US" altLang="zh-CN" sz="2000" b="1" dirty="0">
              <a:latin typeface="等线" panose="02010600030101010101" pitchFamily="2" charset="-122"/>
              <a:ea typeface="等线" panose="02010600030101010101" pitchFamily="2" charset="-122"/>
            </a:endParaRPr>
          </a:p>
          <a:p>
            <a:pPr indent="400050" algn="just">
              <a:lnSpc>
                <a:spcPct val="125000"/>
              </a:lnSpc>
            </a:pPr>
            <a:endParaRPr lang="en-US" altLang="zh-CN" sz="2000" b="1" dirty="0">
              <a:latin typeface="等线" panose="02010600030101010101" pitchFamily="2" charset="-122"/>
              <a:ea typeface="等线" panose="02010600030101010101" pitchFamily="2" charset="-122"/>
            </a:endParaRPr>
          </a:p>
          <a:p>
            <a:pPr marL="285750" indent="-285750" algn="just">
              <a:lnSpc>
                <a:spcPct val="125000"/>
              </a:lnSpc>
              <a:buFont typeface="Wingdings" panose="05000000000000000000" pitchFamily="2" charset="2"/>
              <a:buChar char="Ø"/>
            </a:pPr>
            <a:r>
              <a:rPr lang="zh-CN" altLang="zh-CN" sz="2000" b="1" dirty="0">
                <a:solidFill>
                  <a:srgbClr val="7C0000"/>
                </a:solidFill>
                <a:latin typeface="等线" panose="02010600030101010101" pitchFamily="2" charset="-122"/>
                <a:ea typeface="等线" panose="02010600030101010101" pitchFamily="2" charset="-122"/>
              </a:rPr>
              <a:t>按照平均分配的方案</a:t>
            </a:r>
            <a:endParaRPr lang="en-US" altLang="zh-CN" sz="2000" b="1" dirty="0">
              <a:solidFill>
                <a:srgbClr val="7C0000"/>
              </a:solidFill>
              <a:latin typeface="等线" panose="02010600030101010101" pitchFamily="2" charset="-122"/>
              <a:ea typeface="等线" panose="02010600030101010101" pitchFamily="2" charset="-122"/>
            </a:endParaRPr>
          </a:p>
          <a:p>
            <a:pPr algn="just">
              <a:lnSpc>
                <a:spcPct val="125000"/>
              </a:lnSpc>
            </a:pPr>
            <a:r>
              <a:rPr lang="en-US" altLang="zh-CN" sz="2000" b="1" dirty="0">
                <a:latin typeface="等线" panose="02010600030101010101" pitchFamily="2" charset="-122"/>
                <a:ea typeface="等线" panose="02010600030101010101" pitchFamily="2" charset="-122"/>
              </a:rPr>
              <a:t>       </a:t>
            </a:r>
            <a:r>
              <a:rPr lang="zh-CN" altLang="zh-CN" sz="2000" b="1" dirty="0">
                <a:latin typeface="等线" panose="02010600030101010101" pitchFamily="2" charset="-122"/>
                <a:ea typeface="等线" panose="02010600030101010101" pitchFamily="2" charset="-122"/>
              </a:rPr>
              <a:t>每个进程可以分配到</a:t>
            </a:r>
            <a:r>
              <a:rPr lang="en-US" altLang="zh-CN" sz="2000" b="1" dirty="0">
                <a:latin typeface="等线" panose="02010600030101010101" pitchFamily="2" charset="-122"/>
                <a:ea typeface="等线" panose="02010600030101010101" pitchFamily="2" charset="-122"/>
              </a:rPr>
              <a:t>30</a:t>
            </a:r>
            <a:r>
              <a:rPr lang="zh-CN" altLang="zh-CN" sz="2000" b="1" dirty="0">
                <a:latin typeface="等线" panose="02010600030101010101" pitchFamily="2" charset="-122"/>
                <a:ea typeface="等线" panose="02010600030101010101" pitchFamily="2" charset="-122"/>
              </a:rPr>
              <a:t>个页帧大小的内存空间</a:t>
            </a:r>
            <a:endParaRPr lang="en-US" altLang="zh-CN" sz="2000"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indent="400050" algn="just">
              <a:lnSpc>
                <a:spcPct val="125000"/>
              </a:lnSpc>
            </a:pPr>
            <a:endParaRPr lang="en-US" altLang="zh-CN" sz="2000"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25000"/>
              </a:lnSpc>
              <a:buFont typeface="Wingdings" panose="05000000000000000000" pitchFamily="2" charset="2"/>
              <a:buChar char="Ø"/>
            </a:pPr>
            <a:r>
              <a:rPr lang="zh-CN" altLang="zh-CN" sz="2000" b="1" kern="100" dirty="0">
                <a:solidFill>
                  <a:srgbClr val="7C0000"/>
                </a:solidFill>
                <a:latin typeface="等线" panose="02010600030101010101" pitchFamily="2" charset="-122"/>
                <a:ea typeface="等线" panose="02010600030101010101" pitchFamily="2" charset="-122"/>
                <a:cs typeface="Times New Roman" panose="02020603050405020304" pitchFamily="18" charset="0"/>
              </a:rPr>
              <a:t>按进程大小比例分配</a:t>
            </a:r>
            <a:endParaRPr lang="en-US" altLang="zh-CN" sz="2000" b="1" kern="100" dirty="0">
              <a:solidFill>
                <a:srgbClr val="7C0000"/>
              </a:solidFill>
              <a:latin typeface="等线" panose="02010600030101010101" pitchFamily="2" charset="-122"/>
              <a:ea typeface="等线" panose="02010600030101010101" pitchFamily="2" charset="-122"/>
              <a:cs typeface="Times New Roman" panose="02020603050405020304" pitchFamily="18" charset="0"/>
            </a:endParaRPr>
          </a:p>
          <a:p>
            <a:pPr indent="400050" algn="just">
              <a:lnSpc>
                <a:spcPct val="125000"/>
              </a:lnSpc>
            </a:pPr>
            <a:r>
              <a:rPr lang="zh-CN" altLang="zh-CN" sz="2000"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较大进程可以分配的页帧数目为：</a:t>
            </a:r>
            <a:r>
              <a:rPr lang="en-US" altLang="zh-CN" sz="2000"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60* 100/(100+20) =50</a:t>
            </a:r>
            <a:r>
              <a:rPr lang="zh-CN" altLang="zh-CN" sz="2000"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en-US" altLang="zh-CN" sz="2000"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indent="400050" algn="just">
              <a:lnSpc>
                <a:spcPct val="125000"/>
              </a:lnSpc>
            </a:pPr>
            <a:r>
              <a:rPr lang="zh-CN" altLang="zh-CN" sz="2000"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较小的进程可分配的页帧数目为：</a:t>
            </a:r>
            <a:r>
              <a:rPr lang="en-US" altLang="zh-CN" sz="2000"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10</a:t>
            </a:r>
            <a:r>
              <a:rPr lang="zh-CN" altLang="zh-CN" sz="2000"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en-US" altLang="zh-CN" sz="2000"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indent="400050" algn="just">
              <a:lnSpc>
                <a:spcPct val="125000"/>
              </a:lnSpc>
            </a:pPr>
            <a:r>
              <a:rPr lang="zh-CN" altLang="zh-CN" sz="2000"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这样两个进程可以在合理大小的内存空间中执行。</a:t>
            </a:r>
            <a:endParaRPr lang="zh-CN" altLang="zh-CN" sz="2000" b="1" kern="100" dirty="0">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矩形 2"/>
          <p:cNvSpPr/>
          <p:nvPr/>
        </p:nvSpPr>
        <p:spPr>
          <a:xfrm>
            <a:off x="1208529" y="1273508"/>
            <a:ext cx="2974819" cy="398780"/>
          </a:xfrm>
          <a:prstGeom prst="rect">
            <a:avLst/>
          </a:prstGeom>
        </p:spPr>
        <p:txBody>
          <a:bodyPr wrap="squar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页帧分配算法</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4" name="矩形 3"/>
          <p:cNvSpPr/>
          <p:nvPr/>
        </p:nvSpPr>
        <p:spPr>
          <a:xfrm>
            <a:off x="1555706" y="1849484"/>
            <a:ext cx="2303780" cy="398780"/>
          </a:xfrm>
          <a:prstGeom prst="rect">
            <a:avLst/>
          </a:prstGeom>
        </p:spPr>
        <p:txBody>
          <a:bodyPr wrap="none">
            <a:spAutoFit/>
          </a:bodyPr>
          <a:lstStyle/>
          <a:p>
            <a:pPr marL="342900" indent="-342900">
              <a:buFont typeface="Wingdings" panose="05000000000000000000" charset="0"/>
              <a:buChar char="u"/>
            </a:pPr>
            <a:r>
              <a:rPr lang="zh-CN" altLang="zh-CN" sz="2000" b="1" dirty="0">
                <a:solidFill>
                  <a:srgbClr val="003A8F"/>
                </a:solidFill>
                <a:latin typeface="等线" panose="02010600030101010101" pitchFamily="2" charset="-122"/>
                <a:ea typeface="等线" panose="02010600030101010101" pitchFamily="2" charset="-122"/>
                <a:cs typeface="Times New Roman" panose="02020603050405020304" pitchFamily="18" charset="0"/>
              </a:rPr>
              <a:t>局部分配的策略</a:t>
            </a:r>
            <a:endParaRPr lang="zh-CN" altLang="en-US" sz="2000" b="1" dirty="0">
              <a:solidFill>
                <a:srgbClr val="003A8F"/>
              </a:solidFill>
              <a:latin typeface="等线" panose="02010600030101010101" pitchFamily="2" charset="-122"/>
              <a:ea typeface="等线" panose="02010600030101010101" pitchFamily="2" charset="-122"/>
            </a:endParaRPr>
          </a:p>
        </p:txBody>
      </p:sp>
      <p:sp>
        <p:nvSpPr>
          <p:cNvPr id="5" name="矩形 4"/>
          <p:cNvSpPr/>
          <p:nvPr/>
        </p:nvSpPr>
        <p:spPr>
          <a:xfrm>
            <a:off x="1555706" y="3372978"/>
            <a:ext cx="2303780" cy="398780"/>
          </a:xfrm>
          <a:prstGeom prst="rect">
            <a:avLst/>
          </a:prstGeom>
        </p:spPr>
        <p:txBody>
          <a:bodyPr wrap="none">
            <a:spAutoFit/>
          </a:bodyPr>
          <a:lstStyle/>
          <a:p>
            <a:pPr marL="342900" indent="-342900">
              <a:buFont typeface="Wingdings" panose="05000000000000000000" charset="0"/>
              <a:buChar char="u"/>
            </a:pPr>
            <a:r>
              <a:rPr lang="zh-CN" altLang="en-US" sz="2000" b="1" dirty="0">
                <a:solidFill>
                  <a:srgbClr val="003A8F"/>
                </a:solidFill>
                <a:latin typeface="等线" panose="02010600030101010101" pitchFamily="2" charset="-122"/>
                <a:ea typeface="等线" panose="02010600030101010101" pitchFamily="2" charset="-122"/>
                <a:cs typeface="Times New Roman" panose="02020603050405020304" pitchFamily="18" charset="0"/>
              </a:rPr>
              <a:t>全局</a:t>
            </a:r>
            <a:r>
              <a:rPr lang="zh-CN" altLang="zh-CN" sz="2000" b="1" dirty="0">
                <a:solidFill>
                  <a:srgbClr val="003A8F"/>
                </a:solidFill>
                <a:latin typeface="等线" panose="02010600030101010101" pitchFamily="2" charset="-122"/>
                <a:ea typeface="等线" panose="02010600030101010101" pitchFamily="2" charset="-122"/>
                <a:cs typeface="Times New Roman" panose="02020603050405020304" pitchFamily="18" charset="0"/>
              </a:rPr>
              <a:t>分配的策略</a:t>
            </a:r>
            <a:endParaRPr lang="zh-CN" altLang="en-US" sz="2000" b="1" dirty="0">
              <a:solidFill>
                <a:srgbClr val="003A8F"/>
              </a:solidFill>
              <a:latin typeface="等线" panose="02010600030101010101" pitchFamily="2" charset="-122"/>
              <a:ea typeface="等线" panose="02010600030101010101" pitchFamily="2" charset="-122"/>
            </a:endParaRPr>
          </a:p>
        </p:txBody>
      </p:sp>
      <p:sp>
        <p:nvSpPr>
          <p:cNvPr id="7" name="矩形 6"/>
          <p:cNvSpPr/>
          <p:nvPr/>
        </p:nvSpPr>
        <p:spPr>
          <a:xfrm>
            <a:off x="1854258" y="2311149"/>
            <a:ext cx="9243802" cy="707886"/>
          </a:xfrm>
          <a:prstGeom prst="rect">
            <a:avLst/>
          </a:prstGeom>
        </p:spPr>
        <p:txBody>
          <a:bodyPr wrap="square">
            <a:spAutoFit/>
          </a:bodyPr>
          <a:lstStyle/>
          <a:p>
            <a:r>
              <a:rPr lang="zh-CN" altLang="zh-CN" sz="2000"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页面的置换都是发生在同一个进程已分配内存空间中</a:t>
            </a:r>
            <a:r>
              <a:rPr lang="zh-CN" altLang="en-US" sz="2000"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zh-CN" altLang="zh-CN" sz="2000" b="1" dirty="0">
                <a:latin typeface="等线" panose="02010600030101010101" pitchFamily="2" charset="-122"/>
                <a:ea typeface="等线" panose="02010600030101010101" pitchFamily="2" charset="-122"/>
              </a:rPr>
              <a:t>局部算法可以有效地为每个进程分配固定的页帧</a:t>
            </a:r>
            <a:endParaRPr lang="zh-CN" altLang="en-US" sz="2000" b="1" dirty="0">
              <a:latin typeface="等线" panose="02010600030101010101" pitchFamily="2" charset="-122"/>
              <a:ea typeface="等线" panose="02010600030101010101" pitchFamily="2" charset="-122"/>
            </a:endParaRPr>
          </a:p>
        </p:txBody>
      </p:sp>
      <p:sp>
        <p:nvSpPr>
          <p:cNvPr id="8" name="矩形 7"/>
          <p:cNvSpPr/>
          <p:nvPr/>
        </p:nvSpPr>
        <p:spPr>
          <a:xfrm>
            <a:off x="1854257" y="4001412"/>
            <a:ext cx="9243801" cy="707886"/>
          </a:xfrm>
          <a:prstGeom prst="rect">
            <a:avLst/>
          </a:prstGeom>
        </p:spPr>
        <p:txBody>
          <a:bodyPr wrap="square">
            <a:spAutoFit/>
          </a:bodyPr>
          <a:lstStyle/>
          <a:p>
            <a:r>
              <a:rPr lang="zh-CN" altLang="zh-CN" sz="2000"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全局分配策略允许进程抢占其他进程分配的页帧</a:t>
            </a:r>
            <a:r>
              <a:rPr lang="zh-CN" altLang="en-US" sz="2000"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zh-CN" altLang="zh-CN" sz="2000" b="1" dirty="0">
                <a:latin typeface="等线" panose="02010600030101010101" pitchFamily="2" charset="-122"/>
                <a:ea typeface="等线" panose="02010600030101010101" pitchFamily="2" charset="-122"/>
              </a:rPr>
              <a:t>全局算法在可运行进程之间动态地分配页框，因此分配给各个进程的页框数是随时间变化的。</a:t>
            </a:r>
            <a:endParaRPr lang="zh-CN" altLang="en-US" sz="2000" b="1" dirty="0">
              <a:latin typeface="等线" panose="02010600030101010101" pitchFamily="2" charset="-122"/>
              <a:ea typeface="等线"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矩形 2"/>
          <p:cNvSpPr/>
          <p:nvPr/>
        </p:nvSpPr>
        <p:spPr>
          <a:xfrm>
            <a:off x="1208529" y="1152223"/>
            <a:ext cx="2974819" cy="398780"/>
          </a:xfrm>
          <a:prstGeom prst="rect">
            <a:avLst/>
          </a:prstGeom>
        </p:spPr>
        <p:txBody>
          <a:bodyPr wrap="square">
            <a:spAutoFit/>
          </a:bodyPr>
          <a:lstStyle/>
          <a:p>
            <a:pPr marL="285750" indent="-285750">
              <a:buFont typeface="Wingdings" panose="05000000000000000000" pitchFamily="2" charset="2"/>
              <a:buChar char="n"/>
            </a:pPr>
            <a:r>
              <a:rPr lang="zh-CN" altLang="zh-CN" sz="2000" b="1" dirty="0">
                <a:solidFill>
                  <a:srgbClr val="6C0000"/>
                </a:solidFill>
                <a:latin typeface="华文行楷" panose="02010800040101010101" charset="-122"/>
                <a:ea typeface="华文行楷" panose="02010800040101010101" charset="-122"/>
                <a:cs typeface="华文行楷" panose="02010800040101010101" charset="-122"/>
              </a:rPr>
              <a:t> </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rPr>
              <a:t>页帧分配算法</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endParaRPr lang="zh-CN" altLang="zh-CN" sz="2000" b="1"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2" name="矩形 1"/>
          <p:cNvSpPr/>
          <p:nvPr/>
        </p:nvSpPr>
        <p:spPr>
          <a:xfrm>
            <a:off x="1530078" y="1605728"/>
            <a:ext cx="8120531" cy="1895006"/>
          </a:xfrm>
          <a:prstGeom prst="rect">
            <a:avLst/>
          </a:prstGeom>
        </p:spPr>
        <p:txBody>
          <a:bodyPr wrap="square">
            <a:spAutoFit/>
          </a:bodyPr>
          <a:lstStyle/>
          <a:p>
            <a:pPr marL="285750" indent="-285750">
              <a:lnSpc>
                <a:spcPct val="150000"/>
              </a:lnSpc>
              <a:buFont typeface="Wingdings" panose="05000000000000000000" pitchFamily="2" charset="2"/>
              <a:buChar char="p"/>
            </a:pPr>
            <a:r>
              <a:rPr lang="zh-CN" altLang="zh-CN" sz="2000" b="1" dirty="0">
                <a:solidFill>
                  <a:srgbClr val="6C0000"/>
                </a:solidFill>
                <a:latin typeface="等线" panose="02010600030101010101" pitchFamily="2" charset="-122"/>
                <a:ea typeface="等线" panose="02010600030101010101" pitchFamily="2" charset="-122"/>
                <a:cs typeface="Times New Roman" panose="02020603050405020304" pitchFamily="18" charset="0"/>
              </a:rPr>
              <a:t>常驻集</a:t>
            </a:r>
            <a:endParaRPr lang="en-US" altLang="zh-CN" sz="2000" b="1" dirty="0">
              <a:solidFill>
                <a:srgbClr val="6C0000"/>
              </a:solidFill>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r>
              <a:rPr lang="zh-CN" altLang="zh-CN" sz="2000"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进程在运行时，当前时刻实际驻留在内存当中的页面集合。</a:t>
            </a:r>
            <a:endParaRPr lang="en-US" altLang="zh-CN" sz="2000" b="1"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marL="285750" indent="-285750">
              <a:lnSpc>
                <a:spcPct val="150000"/>
              </a:lnSpc>
              <a:buFont typeface="Wingdings" panose="05000000000000000000" pitchFamily="2" charset="2"/>
              <a:buChar char="p"/>
            </a:pPr>
            <a:r>
              <a:rPr lang="zh-CN" altLang="zh-CN" sz="2000" b="1" dirty="0">
                <a:solidFill>
                  <a:srgbClr val="6C0000"/>
                </a:solidFill>
                <a:latin typeface="等线" panose="02010600030101010101" pitchFamily="2" charset="-122"/>
                <a:ea typeface="等线" panose="02010600030101010101" pitchFamily="2" charset="-122"/>
                <a:cs typeface="Times New Roman" panose="02020603050405020304" pitchFamily="18" charset="0"/>
              </a:rPr>
              <a:t>工作集</a:t>
            </a:r>
            <a:endParaRPr lang="en-US" altLang="zh-CN" sz="2000" b="1" dirty="0">
              <a:solidFill>
                <a:srgbClr val="6C0000"/>
              </a:solidFill>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r>
              <a:rPr lang="zh-CN" altLang="zh-CN" sz="2000"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进程在过去一段时间访问的页面的集合</a:t>
            </a:r>
            <a:endParaRPr lang="zh-CN" altLang="en-US" sz="2000" b="1" dirty="0">
              <a:latin typeface="等线" panose="02010600030101010101" pitchFamily="2" charset="-122"/>
              <a:ea typeface="等线" panose="02010600030101010101" pitchFamily="2" charset="-122"/>
            </a:endParaRPr>
          </a:p>
        </p:txBody>
      </p:sp>
      <p:sp>
        <p:nvSpPr>
          <p:cNvPr id="9" name="矩形 8"/>
          <p:cNvSpPr/>
          <p:nvPr/>
        </p:nvSpPr>
        <p:spPr>
          <a:xfrm>
            <a:off x="1530078" y="3714591"/>
            <a:ext cx="8590953" cy="1991186"/>
          </a:xfrm>
          <a:prstGeom prst="rect">
            <a:avLst/>
          </a:prstGeom>
          <a:solidFill>
            <a:schemeClr val="accent1">
              <a:lumMod val="20000"/>
              <a:lumOff val="80000"/>
            </a:schemeClr>
          </a:solidFill>
          <a:ln>
            <a:solidFill>
              <a:schemeClr val="tx1"/>
            </a:solidFill>
          </a:ln>
        </p:spPr>
        <p:txBody>
          <a:bodyPr wrap="square">
            <a:spAutoFit/>
          </a:bodyPr>
          <a:lstStyle/>
          <a:p>
            <a:pPr indent="266700" algn="just">
              <a:lnSpc>
                <a:spcPct val="125000"/>
              </a:lnSpc>
            </a:pPr>
            <a:r>
              <a:rPr lang="en-US" altLang="zh-CN" sz="2000" b="1" kern="0" dirty="0">
                <a:solidFill>
                  <a:srgbClr val="000000"/>
                </a:solidFill>
                <a:latin typeface="等线" panose="02010600030101010101" pitchFamily="2" charset="-122"/>
                <a:ea typeface="等线" panose="02010600030101010101" pitchFamily="2" charset="-122"/>
                <a:cs typeface="宋体" panose="02010600030101010101" pitchFamily="2" charset="-122"/>
              </a:rPr>
              <a:t>   </a:t>
            </a:r>
            <a:r>
              <a:rPr lang="zh-CN" altLang="zh-CN" sz="2000" b="1" kern="0" dirty="0">
                <a:solidFill>
                  <a:srgbClr val="000000"/>
                </a:solidFill>
                <a:latin typeface="等线" panose="02010600030101010101" pitchFamily="2" charset="-122"/>
                <a:ea typeface="等线" panose="02010600030101010101" pitchFamily="2" charset="-122"/>
                <a:cs typeface="宋体" panose="02010600030101010101" pitchFamily="2" charset="-122"/>
              </a:rPr>
              <a:t>全局</a:t>
            </a:r>
            <a:r>
              <a:rPr lang="zh-CN" altLang="en-US" sz="2000" b="1" kern="0" dirty="0">
                <a:solidFill>
                  <a:srgbClr val="000000"/>
                </a:solidFill>
                <a:latin typeface="等线" panose="02010600030101010101" pitchFamily="2" charset="-122"/>
                <a:ea typeface="等线" panose="02010600030101010101" pitchFamily="2" charset="-122"/>
                <a:cs typeface="宋体" panose="02010600030101010101" pitchFamily="2" charset="-122"/>
              </a:rPr>
              <a:t>分配</a:t>
            </a:r>
            <a:r>
              <a:rPr lang="zh-CN" altLang="zh-CN" sz="2000" b="1" kern="0" dirty="0">
                <a:solidFill>
                  <a:srgbClr val="000000"/>
                </a:solidFill>
                <a:latin typeface="等线" panose="02010600030101010101" pitchFamily="2" charset="-122"/>
                <a:ea typeface="等线" panose="02010600030101010101" pitchFamily="2" charset="-122"/>
                <a:cs typeface="宋体" panose="02010600030101010101" pitchFamily="2" charset="-122"/>
              </a:rPr>
              <a:t>在通常情况下工作得比局部</a:t>
            </a:r>
            <a:r>
              <a:rPr lang="zh-CN" altLang="en-US" sz="2000" b="1" kern="0" dirty="0">
                <a:solidFill>
                  <a:srgbClr val="000000"/>
                </a:solidFill>
                <a:latin typeface="等线" panose="02010600030101010101" pitchFamily="2" charset="-122"/>
                <a:ea typeface="等线" panose="02010600030101010101" pitchFamily="2" charset="-122"/>
                <a:cs typeface="宋体" panose="02010600030101010101" pitchFamily="2" charset="-122"/>
              </a:rPr>
              <a:t>分配</a:t>
            </a:r>
            <a:r>
              <a:rPr lang="zh-CN" altLang="zh-CN" sz="2000" b="1" kern="0" dirty="0">
                <a:solidFill>
                  <a:srgbClr val="000000"/>
                </a:solidFill>
                <a:latin typeface="等线" panose="02010600030101010101" pitchFamily="2" charset="-122"/>
                <a:ea typeface="等线" panose="02010600030101010101" pitchFamily="2" charset="-122"/>
                <a:cs typeface="宋体" panose="02010600030101010101" pitchFamily="2" charset="-122"/>
              </a:rPr>
              <a:t>好，当工作集的大小随进程运行时间发生变化时这种现象更加明显。若使用局部</a:t>
            </a:r>
            <a:r>
              <a:rPr lang="zh-CN" altLang="en-US" sz="2000" b="1" kern="0" dirty="0">
                <a:solidFill>
                  <a:srgbClr val="000000"/>
                </a:solidFill>
                <a:latin typeface="等线" panose="02010600030101010101" pitchFamily="2" charset="-122"/>
                <a:ea typeface="等线" panose="02010600030101010101" pitchFamily="2" charset="-122"/>
                <a:cs typeface="宋体" panose="02010600030101010101" pitchFamily="2" charset="-122"/>
              </a:rPr>
              <a:t>分配</a:t>
            </a:r>
            <a:r>
              <a:rPr lang="zh-CN" altLang="zh-CN" sz="2000" b="1" kern="0" dirty="0">
                <a:solidFill>
                  <a:srgbClr val="000000"/>
                </a:solidFill>
                <a:latin typeface="等线" panose="02010600030101010101" pitchFamily="2" charset="-122"/>
                <a:ea typeface="等线" panose="02010600030101010101" pitchFamily="2" charset="-122"/>
                <a:cs typeface="宋体" panose="02010600030101010101" pitchFamily="2" charset="-122"/>
              </a:rPr>
              <a:t>算法，即使有大量的空闲页框存在，工作集的增长也会导致颠簸。如果工作集缩小了，局部算法又会浪费内存。在使用全局算法时，系统必须不停地确定应该给每个进程分配多少页框。</a:t>
            </a:r>
            <a:endParaRPr lang="zh-CN" altLang="zh-CN" sz="2000" b="1" kern="100" dirty="0">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4" name="矩形 3"/>
          <p:cNvSpPr/>
          <p:nvPr/>
        </p:nvSpPr>
        <p:spPr>
          <a:xfrm>
            <a:off x="867046" y="1068050"/>
            <a:ext cx="1550035" cy="47561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25000"/>
              </a:lnSpc>
              <a:buFont typeface="Wingdings" panose="05000000000000000000" pitchFamily="2" charset="2"/>
              <a:buChar char="n"/>
            </a:pPr>
            <a:r>
              <a:rPr lang="zh-CN" altLang="zh-CN" sz="2000" b="1" kern="100" dirty="0">
                <a:solidFill>
                  <a:srgbClr val="6C0000"/>
                </a:solidFill>
                <a:latin typeface="华文行楷" panose="02010800040101010101" charset="-122"/>
                <a:ea typeface="华文行楷" panose="02010800040101010101" charset="-122"/>
                <a:cs typeface="华文行楷" panose="02010800040101010101" charset="-122"/>
              </a:rPr>
              <a:t>系统抖动</a:t>
            </a:r>
            <a:r>
              <a:rPr lang="en-US" altLang="zh-CN" sz="2000" b="1" kern="100"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zh-CN" sz="2000" b="1" kern="100"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5" name="矩形 4"/>
          <p:cNvSpPr/>
          <p:nvPr/>
        </p:nvSpPr>
        <p:spPr>
          <a:xfrm>
            <a:off x="1095241" y="1562378"/>
            <a:ext cx="9423352" cy="1200329"/>
          </a:xfrm>
          <a:prstGeom prst="rect">
            <a:avLst/>
          </a:prstGeom>
        </p:spPr>
        <p:txBody>
          <a:bodyPr wrap="square">
            <a:spAutoFit/>
          </a:bodyPr>
          <a:lstStyle/>
          <a:p>
            <a:r>
              <a:rPr lang="en-US"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随着进程的增加，</a:t>
            </a:r>
            <a:r>
              <a:rPr lang="en-US"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CPU</a:t>
            </a:r>
            <a:r>
              <a:rPr lang="zh-CN"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的利用率也会增加，但是如果同一时间进程过多，每个进程占用的帧就相应变少了，就可能出现进程执行时需要经常性地发生缺页中断、</a:t>
            </a:r>
            <a:r>
              <a:rPr lang="en-US"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CPU</a:t>
            </a:r>
            <a:r>
              <a:rPr lang="zh-CN"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利用率又降低了的现象，而这时，操作系统还以为是进程数量太少导致的，还继续加入进程，导致每个进程占用的帧更少、</a:t>
            </a:r>
            <a:r>
              <a:rPr lang="en-US"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CPU</a:t>
            </a:r>
            <a:r>
              <a:rPr lang="zh-CN" altLang="zh-CN" b="1" dirty="0">
                <a:solidFill>
                  <a:srgbClr val="000000"/>
                </a:solidFill>
                <a:latin typeface="等线" panose="02010600030101010101" pitchFamily="2" charset="-122"/>
                <a:ea typeface="等线" panose="02010600030101010101" pitchFamily="2" charset="-122"/>
                <a:cs typeface="Times New Roman" panose="02020603050405020304" pitchFamily="18" charset="0"/>
              </a:rPr>
              <a:t>利用率更低的恶性循环，这种现象称为或系统抖动</a:t>
            </a:r>
            <a:endParaRPr lang="zh-CN" altLang="en-US" b="1" dirty="0">
              <a:latin typeface="等线" panose="02010600030101010101" pitchFamily="2" charset="-122"/>
              <a:ea typeface="等线" panose="02010600030101010101" pitchFamily="2" charset="-122"/>
            </a:endParaRPr>
          </a:p>
        </p:txBody>
      </p:sp>
      <p:pic>
        <p:nvPicPr>
          <p:cNvPr id="7" name="图片 6" descr="系统抖动"/>
          <p:cNvPicPr/>
          <p:nvPr/>
        </p:nvPicPr>
        <p:blipFill>
          <a:blip r:embed="rId1">
            <a:extLst>
              <a:ext uri="{28A0092B-C50C-407E-A947-70E740481C1C}">
                <a14:useLocalDpi xmlns:a14="http://schemas.microsoft.com/office/drawing/2010/main" val="0"/>
              </a:ext>
            </a:extLst>
          </a:blip>
          <a:srcRect/>
          <a:stretch>
            <a:fillRect/>
          </a:stretch>
        </p:blipFill>
        <p:spPr bwMode="auto">
          <a:xfrm>
            <a:off x="1647771" y="3068598"/>
            <a:ext cx="5548549" cy="3226090"/>
          </a:xfrm>
          <a:prstGeom prst="rect">
            <a:avLst/>
          </a:prstGeom>
          <a:noFill/>
          <a:ln>
            <a:noFill/>
          </a:ln>
        </p:spPr>
      </p:pic>
      <p:sp>
        <p:nvSpPr>
          <p:cNvPr id="8" name="矩形 7"/>
          <p:cNvSpPr/>
          <p:nvPr/>
        </p:nvSpPr>
        <p:spPr>
          <a:xfrm>
            <a:off x="7429862" y="3853230"/>
            <a:ext cx="3088731" cy="1131079"/>
          </a:xfrm>
          <a:prstGeom prst="rect">
            <a:avLst/>
          </a:prstGeom>
          <a:solidFill>
            <a:schemeClr val="bg1">
              <a:lumMod val="95000"/>
            </a:schemeClr>
          </a:solidFill>
          <a:ln>
            <a:solidFill>
              <a:srgbClr val="C00000"/>
            </a:solidFill>
          </a:ln>
        </p:spPr>
        <p:txBody>
          <a:bodyPr wrap="square">
            <a:spAutoFit/>
          </a:bodyPr>
          <a:lstStyle/>
          <a:p>
            <a:pPr indent="304800">
              <a:lnSpc>
                <a:spcPct val="125000"/>
              </a:lnSpc>
            </a:pPr>
            <a:r>
              <a:rPr lang="zh-CN" altLang="zh-CN" b="1" kern="0" dirty="0">
                <a:solidFill>
                  <a:srgbClr val="6C0000"/>
                </a:solidFill>
                <a:latin typeface="等线" panose="02010600030101010101" pitchFamily="2" charset="-122"/>
                <a:ea typeface="等线" panose="02010600030101010101" pitchFamily="2" charset="-122"/>
                <a:cs typeface="Arial" panose="020B0604020202020204" pitchFamily="34" charset="0"/>
              </a:rPr>
              <a:t>系统抖动的原因</a:t>
            </a:r>
            <a:r>
              <a:rPr lang="en-US" altLang="zh-CN" b="1" kern="0" dirty="0">
                <a:solidFill>
                  <a:srgbClr val="6C0000"/>
                </a:solidFill>
                <a:latin typeface="等线" panose="02010600030101010101" pitchFamily="2" charset="-122"/>
                <a:ea typeface="等线" panose="02010600030101010101" pitchFamily="2" charset="-122"/>
                <a:cs typeface="Arial" panose="020B0604020202020204" pitchFamily="34" charset="0"/>
              </a:rPr>
              <a:t> </a:t>
            </a:r>
            <a:r>
              <a:rPr lang="zh-CN" altLang="zh-CN" b="1" kern="0" dirty="0">
                <a:solidFill>
                  <a:srgbClr val="6C0000"/>
                </a:solidFill>
                <a:latin typeface="等线" panose="02010600030101010101" pitchFamily="2" charset="-122"/>
                <a:ea typeface="等线" panose="02010600030101010101" pitchFamily="2" charset="-122"/>
                <a:cs typeface="Arial" panose="020B0604020202020204" pitchFamily="34" charset="0"/>
              </a:rPr>
              <a:t>：</a:t>
            </a:r>
            <a:endParaRPr lang="en-US" altLang="zh-CN" b="1" kern="0" dirty="0">
              <a:solidFill>
                <a:srgbClr val="6C0000"/>
              </a:solidFill>
              <a:latin typeface="等线" panose="02010600030101010101" pitchFamily="2" charset="-122"/>
              <a:ea typeface="等线" panose="02010600030101010101" pitchFamily="2" charset="-122"/>
              <a:cs typeface="Arial" panose="020B0604020202020204" pitchFamily="34" charset="0"/>
            </a:endParaRPr>
          </a:p>
          <a:p>
            <a:pPr indent="304800">
              <a:lnSpc>
                <a:spcPct val="125000"/>
              </a:lnSpc>
            </a:pPr>
            <a:r>
              <a:rPr lang="en-US" altLang="zh-CN" b="1" kern="0" dirty="0">
                <a:solidFill>
                  <a:srgbClr val="6C0000"/>
                </a:solidFill>
                <a:latin typeface="等线" panose="02010600030101010101" pitchFamily="2" charset="-122"/>
                <a:ea typeface="等线" panose="02010600030101010101" pitchFamily="2" charset="-122"/>
                <a:cs typeface="Arial" panose="020B0604020202020204" pitchFamily="34" charset="0"/>
              </a:rPr>
              <a:t>1</a:t>
            </a:r>
            <a:r>
              <a:rPr lang="zh-CN" altLang="en-US" b="1" kern="0" dirty="0">
                <a:solidFill>
                  <a:srgbClr val="6C0000"/>
                </a:solidFill>
                <a:latin typeface="等线" panose="02010600030101010101" pitchFamily="2" charset="-122"/>
                <a:ea typeface="等线" panose="02010600030101010101" pitchFamily="2" charset="-122"/>
                <a:cs typeface="Arial" panose="020B0604020202020204" pitchFamily="34" charset="0"/>
              </a:rPr>
              <a:t>）</a:t>
            </a:r>
            <a:r>
              <a:rPr lang="zh-CN" altLang="zh-CN" b="1" kern="0" dirty="0">
                <a:solidFill>
                  <a:srgbClr val="6C0000"/>
                </a:solidFill>
                <a:latin typeface="等线" panose="02010600030101010101" pitchFamily="2" charset="-122"/>
                <a:ea typeface="等线" panose="02010600030101010101" pitchFamily="2" charset="-122"/>
                <a:cs typeface="Arial" panose="020B0604020202020204" pitchFamily="34" charset="0"/>
              </a:rPr>
              <a:t>分配的页帧数量太小</a:t>
            </a:r>
            <a:r>
              <a:rPr lang="en-US" altLang="zh-CN" b="1" kern="0" dirty="0">
                <a:solidFill>
                  <a:srgbClr val="6C0000"/>
                </a:solidFill>
                <a:latin typeface="等线" panose="02010600030101010101" pitchFamily="2" charset="-122"/>
                <a:ea typeface="等线" panose="02010600030101010101" pitchFamily="2" charset="-122"/>
                <a:cs typeface="Arial" panose="020B0604020202020204" pitchFamily="34" charset="0"/>
              </a:rPr>
              <a:t> </a:t>
            </a:r>
            <a:endParaRPr lang="en-US" altLang="zh-CN" b="1" kern="0" dirty="0">
              <a:solidFill>
                <a:srgbClr val="6C0000"/>
              </a:solidFill>
              <a:latin typeface="等线" panose="02010600030101010101" pitchFamily="2" charset="-122"/>
              <a:ea typeface="等线" panose="02010600030101010101" pitchFamily="2" charset="-122"/>
              <a:cs typeface="Arial" panose="020B0604020202020204" pitchFamily="34" charset="0"/>
            </a:endParaRPr>
          </a:p>
          <a:p>
            <a:pPr indent="304800">
              <a:lnSpc>
                <a:spcPct val="125000"/>
              </a:lnSpc>
            </a:pPr>
            <a:r>
              <a:rPr lang="en-US" altLang="zh-CN" b="1" kern="0" dirty="0">
                <a:solidFill>
                  <a:srgbClr val="6C0000"/>
                </a:solidFill>
                <a:latin typeface="等线" panose="02010600030101010101" pitchFamily="2" charset="-122"/>
                <a:ea typeface="等线" panose="02010600030101010101" pitchFamily="2" charset="-122"/>
                <a:cs typeface="Arial" panose="020B0604020202020204" pitchFamily="34" charset="0"/>
              </a:rPr>
              <a:t>2</a:t>
            </a:r>
            <a:r>
              <a:rPr lang="zh-CN" altLang="en-US" b="1" kern="0" dirty="0">
                <a:solidFill>
                  <a:srgbClr val="6C0000"/>
                </a:solidFill>
                <a:latin typeface="等线" panose="02010600030101010101" pitchFamily="2" charset="-122"/>
                <a:ea typeface="等线" panose="02010600030101010101" pitchFamily="2" charset="-122"/>
                <a:cs typeface="Arial" panose="020B0604020202020204" pitchFamily="34" charset="0"/>
              </a:rPr>
              <a:t>）</a:t>
            </a:r>
            <a:r>
              <a:rPr lang="zh-CN" altLang="zh-CN" b="1" kern="0" dirty="0">
                <a:solidFill>
                  <a:srgbClr val="6C0000"/>
                </a:solidFill>
                <a:latin typeface="等线" panose="02010600030101010101" pitchFamily="2" charset="-122"/>
                <a:ea typeface="等线" panose="02010600030101010101" pitchFamily="2" charset="-122"/>
                <a:cs typeface="Arial" panose="020B0604020202020204" pitchFamily="34" charset="0"/>
              </a:rPr>
              <a:t>置换算法选择不当</a:t>
            </a:r>
            <a:endParaRPr lang="zh-CN" altLang="zh-CN" b="1" kern="100" dirty="0">
              <a:solidFill>
                <a:srgbClr val="6C0000"/>
              </a:solidFill>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4" name="矩形 3"/>
          <p:cNvSpPr/>
          <p:nvPr/>
        </p:nvSpPr>
        <p:spPr>
          <a:xfrm>
            <a:off x="1001738" y="1135995"/>
            <a:ext cx="2823210" cy="47561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25000"/>
              </a:lnSpc>
              <a:buFont typeface="Wingdings" panose="05000000000000000000" pitchFamily="2" charset="2"/>
              <a:buChar char="n"/>
            </a:pPr>
            <a:r>
              <a:rPr lang="zh-CN" altLang="en-US" sz="2000" b="1" kern="100" dirty="0">
                <a:solidFill>
                  <a:srgbClr val="6C0000"/>
                </a:solidFill>
                <a:latin typeface="华文行楷" panose="02010800040101010101" charset="-122"/>
                <a:ea typeface="华文行楷" panose="02010800040101010101" charset="-122"/>
                <a:cs typeface="华文行楷" panose="02010800040101010101" charset="-122"/>
              </a:rPr>
              <a:t>解决</a:t>
            </a:r>
            <a:r>
              <a:rPr lang="zh-CN" altLang="zh-CN" sz="2000" b="1" kern="100" dirty="0">
                <a:solidFill>
                  <a:srgbClr val="6C0000"/>
                </a:solidFill>
                <a:latin typeface="华文行楷" panose="02010800040101010101" charset="-122"/>
                <a:ea typeface="华文行楷" panose="02010800040101010101" charset="-122"/>
                <a:cs typeface="华文行楷" panose="02010800040101010101" charset="-122"/>
              </a:rPr>
              <a:t>系统抖动</a:t>
            </a:r>
            <a:r>
              <a:rPr lang="zh-CN" altLang="en-US" sz="2000" b="1" kern="100" dirty="0">
                <a:solidFill>
                  <a:srgbClr val="6C0000"/>
                </a:solidFill>
                <a:latin typeface="华文行楷" panose="02010800040101010101" charset="-122"/>
                <a:ea typeface="华文行楷" panose="02010800040101010101" charset="-122"/>
                <a:cs typeface="华文行楷" panose="02010800040101010101" charset="-122"/>
              </a:rPr>
              <a:t>的方法</a:t>
            </a:r>
            <a:r>
              <a:rPr lang="en-US" altLang="zh-CN" sz="2000" b="1" kern="100"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zh-CN" sz="2000" b="1" kern="100"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2" name="矩形 1"/>
          <p:cNvSpPr/>
          <p:nvPr/>
        </p:nvSpPr>
        <p:spPr>
          <a:xfrm>
            <a:off x="2304518" y="2292403"/>
            <a:ext cx="8216153" cy="762581"/>
          </a:xfrm>
          <a:prstGeom prst="rect">
            <a:avLst/>
          </a:prstGeom>
        </p:spPr>
        <p:txBody>
          <a:bodyPr wrap="square">
            <a:spAutoFit/>
          </a:bodyPr>
          <a:lstStyle/>
          <a:p>
            <a:pPr algn="just">
              <a:lnSpc>
                <a:spcPct val="125000"/>
              </a:lnSpc>
            </a:pPr>
            <a:r>
              <a:rPr lang="zh-CN" altLang="zh-CN"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工作集合策略是通过计算每一个进程的工作集近似得到进程需要的页帧数，如果这个总数大于内存的物理帧数，则说明系统颠簸了，需要减少进程</a:t>
            </a:r>
            <a:r>
              <a:rPr lang="zh-CN" altLang="en-US" b="1" kern="1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3" name="矩形 2"/>
          <p:cNvSpPr/>
          <p:nvPr/>
        </p:nvSpPr>
        <p:spPr>
          <a:xfrm>
            <a:off x="1825508" y="1698357"/>
            <a:ext cx="1967205" cy="413703"/>
          </a:xfrm>
          <a:prstGeom prst="rect">
            <a:avLst/>
          </a:prstGeom>
        </p:spPr>
        <p:txBody>
          <a:bodyPr wrap="none">
            <a:spAutoFit/>
          </a:bodyPr>
          <a:lstStyle/>
          <a:p>
            <a:pPr indent="266700" algn="just">
              <a:lnSpc>
                <a:spcPct val="125000"/>
              </a:lnSpc>
            </a:pPr>
            <a:r>
              <a:rPr lang="en-US"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1</a:t>
            </a:r>
            <a:r>
              <a:rPr lang="zh-CN"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）工作集策略</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p:txBody>
      </p:sp>
      <p:pic>
        <p:nvPicPr>
          <p:cNvPr id="9" name="图片 8"/>
          <p:cNvPicPr>
            <a:picLocks noChangeAspect="1"/>
          </p:cNvPicPr>
          <p:nvPr/>
        </p:nvPicPr>
        <p:blipFill>
          <a:blip r:embed="rId1"/>
          <a:stretch>
            <a:fillRect/>
          </a:stretch>
        </p:blipFill>
        <p:spPr>
          <a:xfrm>
            <a:off x="2382885" y="3268175"/>
            <a:ext cx="7592309" cy="1853521"/>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3.8</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虚拟存储技术</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4" name="矩形 3"/>
          <p:cNvSpPr/>
          <p:nvPr/>
        </p:nvSpPr>
        <p:spPr>
          <a:xfrm>
            <a:off x="1002030" y="1136015"/>
            <a:ext cx="3937635" cy="47561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just">
              <a:lnSpc>
                <a:spcPct val="125000"/>
              </a:lnSpc>
              <a:buFont typeface="Wingdings" panose="05000000000000000000" pitchFamily="2" charset="2"/>
              <a:buChar char="n"/>
            </a:pPr>
            <a:r>
              <a:rPr lang="zh-CN" altLang="en-US" sz="2000" b="1" kern="100" dirty="0">
                <a:solidFill>
                  <a:srgbClr val="6C0000"/>
                </a:solidFill>
                <a:latin typeface="华文行楷" panose="02010800040101010101" charset="-122"/>
                <a:ea typeface="华文行楷" panose="02010800040101010101" charset="-122"/>
                <a:cs typeface="华文行楷" panose="02010800040101010101" charset="-122"/>
              </a:rPr>
              <a:t>解决</a:t>
            </a:r>
            <a:r>
              <a:rPr lang="zh-CN" altLang="zh-CN" sz="2000" b="1" kern="100" dirty="0">
                <a:solidFill>
                  <a:srgbClr val="6C0000"/>
                </a:solidFill>
                <a:latin typeface="华文行楷" panose="02010800040101010101" charset="-122"/>
                <a:ea typeface="华文行楷" panose="02010800040101010101" charset="-122"/>
                <a:cs typeface="华文行楷" panose="02010800040101010101" charset="-122"/>
              </a:rPr>
              <a:t>系统抖动</a:t>
            </a:r>
            <a:r>
              <a:rPr lang="zh-CN" altLang="en-US" sz="2000" b="1" kern="100" dirty="0">
                <a:solidFill>
                  <a:srgbClr val="6C0000"/>
                </a:solidFill>
                <a:latin typeface="华文行楷" panose="02010800040101010101" charset="-122"/>
                <a:ea typeface="华文行楷" panose="02010800040101010101" charset="-122"/>
                <a:cs typeface="华文行楷" panose="02010800040101010101" charset="-122"/>
              </a:rPr>
              <a:t>的方法</a:t>
            </a:r>
            <a:r>
              <a:rPr lang="zh-CN" altLang="en-US" sz="2000" b="1" dirty="0">
                <a:solidFill>
                  <a:srgbClr val="6C0000"/>
                </a:solidFill>
                <a:latin typeface="华文行楷" panose="02010800040101010101" charset="-122"/>
                <a:ea typeface="华文行楷" panose="02010800040101010101" charset="-122"/>
                <a:cs typeface="华文行楷" panose="02010800040101010101" charset="-122"/>
                <a:sym typeface="+mn-ea"/>
              </a:rPr>
              <a:t>（续）</a:t>
            </a:r>
            <a:r>
              <a:rPr lang="en-US" altLang="zh-CN" sz="2000" b="1" kern="100" dirty="0">
                <a:solidFill>
                  <a:srgbClr val="6C0000"/>
                </a:solidFill>
                <a:latin typeface="华文行楷" panose="02010800040101010101" charset="-122"/>
                <a:ea typeface="华文行楷" panose="02010800040101010101" charset="-122"/>
                <a:cs typeface="华文行楷" panose="02010800040101010101" charset="-122"/>
              </a:rPr>
              <a:t> </a:t>
            </a:r>
            <a:endParaRPr lang="zh-CN" altLang="zh-CN" sz="2000" b="1" kern="100" dirty="0">
              <a:solidFill>
                <a:srgbClr val="6C0000"/>
              </a:solidFill>
              <a:latin typeface="华文行楷" panose="02010800040101010101" charset="-122"/>
              <a:ea typeface="华文行楷" panose="02010800040101010101" charset="-122"/>
              <a:cs typeface="华文行楷" panose="02010800040101010101" charset="-122"/>
            </a:endParaRPr>
          </a:p>
        </p:txBody>
      </p:sp>
      <p:sp>
        <p:nvSpPr>
          <p:cNvPr id="5" name="矩形 4"/>
          <p:cNvSpPr/>
          <p:nvPr/>
        </p:nvSpPr>
        <p:spPr>
          <a:xfrm>
            <a:off x="1429903" y="1708517"/>
            <a:ext cx="1967205" cy="413703"/>
          </a:xfrm>
          <a:prstGeom prst="rect">
            <a:avLst/>
          </a:prstGeom>
        </p:spPr>
        <p:txBody>
          <a:bodyPr wrap="none">
            <a:spAutoFit/>
          </a:bodyPr>
          <a:lstStyle/>
          <a:p>
            <a:pPr indent="266700" algn="just">
              <a:lnSpc>
                <a:spcPct val="125000"/>
              </a:lnSpc>
            </a:pPr>
            <a:r>
              <a:rPr lang="en-US"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2</a:t>
            </a:r>
            <a:r>
              <a:rPr lang="zh-CN"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）缺页率策略</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7" name="矩形 6"/>
          <p:cNvSpPr/>
          <p:nvPr/>
        </p:nvSpPr>
        <p:spPr>
          <a:xfrm>
            <a:off x="1661554" y="2219263"/>
            <a:ext cx="7643497" cy="3416320"/>
          </a:xfrm>
          <a:prstGeom prst="rect">
            <a:avLst/>
          </a:prstGeom>
        </p:spPr>
        <p:txBody>
          <a:bodyPr wrap="square">
            <a:spAutoFit/>
          </a:bodyPr>
          <a:lstStyle/>
          <a:p>
            <a:pPr indent="266700" algn="just">
              <a:lnSpc>
                <a:spcPct val="150000"/>
              </a:lnSpc>
            </a:pPr>
            <a:r>
              <a:rPr lang="en-US"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    </a:t>
            </a:r>
            <a:r>
              <a:rPr lang="zh-CN"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缺页频率是另一种更为直接的防止抖动的方法。因此系统如果随时能够检测到系统中的缺页错误的情况，就可以动态地调整为进程分配的页帧数目。</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pPr>
            <a:r>
              <a:rPr lang="en-US"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    </a:t>
            </a:r>
            <a:r>
              <a:rPr lang="zh-CN"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我们可以设置所需缺页率的上下限。如果实际缺页率超过上限，则可为进程再分配更多的页帧；如果实际缺页率低于下限，则可从进程中移走页帧。因此，可以靠直接监测缺页率来防止抖动。</a:t>
            </a:r>
            <a:endParaRPr lang="zh-CN" altLang="zh-CN" b="1"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pPr>
            <a:r>
              <a:rPr lang="en-US" altLang="zh-CN" b="1" kern="0" dirty="0">
                <a:solidFill>
                  <a:srgbClr val="000000"/>
                </a:solidFill>
                <a:latin typeface="等线" panose="02010600030101010101" pitchFamily="2" charset="-122"/>
                <a:ea typeface="等线" panose="02010600030101010101" pitchFamily="2" charset="-122"/>
                <a:cs typeface="宋体" panose="02010600030101010101" pitchFamily="2" charset="-122"/>
              </a:rPr>
              <a:t>        </a:t>
            </a:r>
            <a:r>
              <a:rPr lang="zh-CN" altLang="zh-CN" b="1" kern="0" dirty="0">
                <a:solidFill>
                  <a:srgbClr val="6C0000"/>
                </a:solidFill>
                <a:latin typeface="等线" panose="02010600030101010101" pitchFamily="2" charset="-122"/>
                <a:ea typeface="等线" panose="02010600030101010101" pitchFamily="2" charset="-122"/>
                <a:cs typeface="宋体" panose="02010600030101010101" pitchFamily="2" charset="-122"/>
              </a:rPr>
              <a:t>实际上，抖动及其导致的交换对性能的负面影响很大。目前处理这一问题的最佳实践是，在可能的情况下提供足够物理内存以避免抖动和交换。</a:t>
            </a:r>
            <a:endParaRPr lang="zh-CN" altLang="en-US" b="1" dirty="0">
              <a:solidFill>
                <a:srgbClr val="6C0000"/>
              </a:solidFill>
              <a:latin typeface="等线" panose="02010600030101010101" pitchFamily="2" charset="-122"/>
              <a:ea typeface="等线" panose="02010600030101010101" pitchFamily="2"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3.9</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en-US" altLang="zh-CN" sz="2800" b="0" dirty="0" err="1">
                <a:solidFill>
                  <a:srgbClr val="002060"/>
                </a:solidFill>
                <a:latin typeface="方正大黑简体" panose="02000000000000000000" charset="-122"/>
                <a:ea typeface="方正大黑简体" panose="02000000000000000000" charset="-122"/>
                <a:cs typeface="方正大黑简体" panose="02000000000000000000" charset="-122"/>
              </a:rPr>
              <a:t>openEuler</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系统内存管理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文本框 2"/>
          <p:cNvSpPr txBox="1"/>
          <p:nvPr/>
        </p:nvSpPr>
        <p:spPr>
          <a:xfrm>
            <a:off x="1135348" y="1211515"/>
            <a:ext cx="6096000" cy="398780"/>
          </a:xfrm>
          <a:prstGeom prst="rect">
            <a:avLst/>
          </a:prstGeom>
          <a:noFill/>
          <a:ln>
            <a:solidFill>
              <a:schemeClr val="bg1"/>
            </a:solidFill>
          </a:ln>
        </p:spPr>
        <p:txBody>
          <a:bodyPr wrap="square">
            <a:spAutoFit/>
          </a:bodyPr>
          <a:lstStyle/>
          <a:p>
            <a:pPr marL="285750" indent="-285750">
              <a:buFont typeface="Wingdings" panose="05000000000000000000" pitchFamily="2" charset="2"/>
              <a:buChar char="n"/>
            </a:pPr>
            <a:r>
              <a:rPr lang="zh-CN" altLang="en-US" sz="2000" b="1" dirty="0">
                <a:solidFill>
                  <a:srgbClr val="660000"/>
                </a:solidFill>
                <a:latin typeface="华文行楷" panose="02010800040101010101" charset="-122"/>
                <a:ea typeface="华文行楷" panose="02010800040101010101" charset="-122"/>
              </a:rPr>
              <a:t>先备知识</a:t>
            </a:r>
            <a:endParaRPr lang="zh-CN" altLang="en-US" sz="2000" b="1" dirty="0">
              <a:solidFill>
                <a:srgbClr val="660000"/>
              </a:solidFill>
              <a:latin typeface="华文行楷" panose="02010800040101010101" charset="-122"/>
              <a:ea typeface="华文行楷" panose="02010800040101010101" charset="-122"/>
            </a:endParaRPr>
          </a:p>
        </p:txBody>
      </p:sp>
      <p:sp>
        <p:nvSpPr>
          <p:cNvPr id="11" name="文本框 10"/>
          <p:cNvSpPr txBox="1"/>
          <p:nvPr/>
        </p:nvSpPr>
        <p:spPr>
          <a:xfrm>
            <a:off x="1347019" y="2147781"/>
            <a:ext cx="9497961" cy="2306955"/>
          </a:xfrm>
          <a:prstGeom prst="rect">
            <a:avLst/>
          </a:prstGeom>
          <a:noFill/>
          <a:ln>
            <a:solidFill>
              <a:schemeClr val="bg1"/>
            </a:solidFill>
          </a:ln>
        </p:spPr>
        <p:txBody>
          <a:bodyPr wrap="square">
            <a:spAutoFit/>
          </a:bodyPr>
          <a:lstStyle/>
          <a:p>
            <a:r>
              <a:rPr lang="zh-CN" altLang="en-US" dirty="0">
                <a:latin typeface="黑体" panose="02010609060101010101" charset="-122"/>
                <a:ea typeface="黑体" panose="02010609060101010101" charset="-122"/>
                <a:cs typeface="黑体" panose="02010609060101010101" charset="-122"/>
              </a:rPr>
              <a:t>（1）用户进程通常情况下只能访问用户空间的虚拟地址，不能访问内核空间的虚拟地址。只</a:t>
            </a:r>
            <a:endParaRPr lang="zh-CN" altLang="en-US" dirty="0">
              <a:latin typeface="黑体" panose="02010609060101010101" charset="-122"/>
              <a:ea typeface="黑体" panose="02010609060101010101" charset="-122"/>
              <a:cs typeface="黑体" panose="02010609060101010101" charset="-122"/>
            </a:endParaRPr>
          </a:p>
          <a:p>
            <a:r>
              <a:rPr lang="zh-CN" altLang="en-US" dirty="0">
                <a:latin typeface="黑体" panose="02010609060101010101" charset="-122"/>
                <a:ea typeface="黑体" panose="02010609060101010101" charset="-122"/>
                <a:cs typeface="黑体" panose="02010609060101010101" charset="-122"/>
              </a:rPr>
              <a:t>有在用户进程进行系统调用（用户进程在内核态执行）时可以访问内核空间。</a:t>
            </a:r>
            <a:endParaRPr lang="en-US" altLang="zh-CN" dirty="0">
              <a:latin typeface="黑体" panose="02010609060101010101" charset="-122"/>
              <a:ea typeface="黑体" panose="02010609060101010101" charset="-122"/>
              <a:cs typeface="黑体" panose="02010609060101010101" charset="-122"/>
            </a:endParaRPr>
          </a:p>
          <a:p>
            <a:endParaRPr lang="zh-CN" altLang="en-US" dirty="0">
              <a:latin typeface="黑体" panose="02010609060101010101" charset="-122"/>
              <a:ea typeface="黑体" panose="02010609060101010101" charset="-122"/>
              <a:cs typeface="黑体" panose="02010609060101010101" charset="-122"/>
            </a:endParaRPr>
          </a:p>
          <a:p>
            <a:r>
              <a:rPr lang="zh-CN" altLang="en-US" dirty="0">
                <a:latin typeface="黑体" panose="02010609060101010101" charset="-122"/>
                <a:ea typeface="黑体" panose="02010609060101010101" charset="-122"/>
                <a:cs typeface="黑体" panose="02010609060101010101" charset="-122"/>
              </a:rPr>
              <a:t>（2）每个进程的用户空间都是完全独立、互不相干的。</a:t>
            </a:r>
            <a:endParaRPr lang="en-US" altLang="zh-CN" dirty="0">
              <a:latin typeface="黑体" panose="02010609060101010101" charset="-122"/>
              <a:ea typeface="黑体" panose="02010609060101010101" charset="-122"/>
              <a:cs typeface="黑体" panose="02010609060101010101" charset="-122"/>
            </a:endParaRPr>
          </a:p>
          <a:p>
            <a:endParaRPr lang="zh-CN" altLang="en-US" dirty="0">
              <a:latin typeface="黑体" panose="02010609060101010101" charset="-122"/>
              <a:ea typeface="黑体" panose="02010609060101010101" charset="-122"/>
              <a:cs typeface="黑体" panose="02010609060101010101" charset="-122"/>
            </a:endParaRPr>
          </a:p>
          <a:p>
            <a:r>
              <a:rPr lang="zh-CN" altLang="en-US" dirty="0">
                <a:latin typeface="黑体" panose="02010609060101010101" charset="-122"/>
                <a:ea typeface="黑体" panose="02010609060101010101" charset="-122"/>
                <a:cs typeface="黑体" panose="02010609060101010101" charset="-122"/>
              </a:rPr>
              <a:t>（3）用户空间对应用户进程，所以每当进程切换的，用户空间就会跟着变化；而内核空间</a:t>
            </a:r>
            <a:endParaRPr lang="zh-CN" altLang="en-US" dirty="0">
              <a:latin typeface="黑体" panose="02010609060101010101" charset="-122"/>
              <a:ea typeface="黑体" panose="02010609060101010101" charset="-122"/>
              <a:cs typeface="黑体" panose="02010609060101010101" charset="-122"/>
            </a:endParaRPr>
          </a:p>
          <a:p>
            <a:r>
              <a:rPr lang="zh-CN" altLang="en-US" dirty="0">
                <a:latin typeface="黑体" panose="02010609060101010101" charset="-122"/>
                <a:ea typeface="黑体" panose="02010609060101010101" charset="-122"/>
                <a:cs typeface="黑体" panose="02010609060101010101" charset="-122"/>
              </a:rPr>
              <a:t>由内核负责映射，它并不会跟着进程改变，而是固定的。内核空间地址有自己对应的页表（init_mm.pgd），用户进程各自有不同的页表。</a:t>
            </a:r>
            <a:endParaRPr lang="zh-CN" altLang="en-US" dirty="0">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490855" y="476885"/>
            <a:ext cx="510540" cy="510540"/>
            <a:chOff x="5244" y="7023"/>
            <a:chExt cx="804" cy="804"/>
          </a:xfrm>
        </p:grpSpPr>
        <p:sp>
          <p:nvSpPr>
            <p:cNvPr id="12" name="图形"/>
            <p:cNvSpPr/>
            <p:nvPr>
              <p:custDataLst>
                <p:tags r:id="rId1"/>
              </p:custDataLst>
            </p:nvPr>
          </p:nvSpPr>
          <p:spPr>
            <a:xfrm>
              <a:off x="5244" y="7023"/>
              <a:ext cx="804" cy="804"/>
            </a:xfrm>
            <a:prstGeom prst="ellips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pic>
          <p:nvPicPr>
            <p:cNvPr id="13" name="图形" descr="303b32313533373635313bbbe3b1a8d5df"/>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5372" y="7137"/>
              <a:ext cx="555" cy="555"/>
            </a:xfrm>
            <a:prstGeom prst="rect">
              <a:avLst/>
            </a:prstGeom>
          </p:spPr>
        </p:pic>
      </p:grpSp>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3.9</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en-US" altLang="zh-CN" sz="2800" b="0" dirty="0" err="1">
                <a:solidFill>
                  <a:srgbClr val="002060"/>
                </a:solidFill>
                <a:latin typeface="方正大黑简体" panose="02000000000000000000" charset="-122"/>
                <a:ea typeface="方正大黑简体" panose="02000000000000000000" charset="-122"/>
                <a:cs typeface="方正大黑简体" panose="02000000000000000000" charset="-122"/>
              </a:rPr>
              <a:t>openEuler</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系统内存管理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文本框 2"/>
          <p:cNvSpPr txBox="1"/>
          <p:nvPr/>
        </p:nvSpPr>
        <p:spPr>
          <a:xfrm>
            <a:off x="1135380" y="1211580"/>
            <a:ext cx="3557905" cy="398780"/>
          </a:xfrm>
          <a:prstGeom prst="rect">
            <a:avLst/>
          </a:prstGeom>
          <a:noFill/>
          <a:ln>
            <a:solidFill>
              <a:schemeClr val="bg1"/>
            </a:solidFill>
          </a:ln>
        </p:spPr>
        <p:txBody>
          <a:bodyPr wrap="square">
            <a:spAutoFit/>
          </a:bodyPr>
          <a:lstStyle/>
          <a:p>
            <a:pPr marL="285750" indent="-285750">
              <a:buFont typeface="Wingdings" panose="05000000000000000000" pitchFamily="2" charset="2"/>
              <a:buChar char="n"/>
            </a:pPr>
            <a:r>
              <a:rPr lang="en-US" altLang="zh-CN" sz="2000" b="1" dirty="0" err="1">
                <a:solidFill>
                  <a:srgbClr val="660000"/>
                </a:solidFill>
                <a:latin typeface="华文楷体" panose="02010600040101010101" pitchFamily="2" charset="-122"/>
                <a:ea typeface="华文楷体" panose="02010600040101010101" pitchFamily="2" charset="-122"/>
                <a:cs typeface="华文行楷" panose="02010800040101010101" charset="-122"/>
              </a:rPr>
              <a:t>openEuler</a:t>
            </a:r>
            <a:r>
              <a:rPr lang="zh-CN" altLang="en-US" sz="2000" b="1" dirty="0">
                <a:solidFill>
                  <a:srgbClr val="660000"/>
                </a:solidFill>
                <a:latin typeface="华文行楷" panose="02010800040101010101" charset="-122"/>
                <a:ea typeface="华文行楷" panose="02010800040101010101" charset="-122"/>
                <a:cs typeface="华文行楷" panose="02010800040101010101" charset="-122"/>
              </a:rPr>
              <a:t>进程地址空间</a:t>
            </a:r>
            <a:endParaRPr lang="zh-CN" altLang="en-US" sz="2000" b="1" dirty="0">
              <a:solidFill>
                <a:srgbClr val="660000"/>
              </a:solidFill>
              <a:latin typeface="华文行楷" panose="02010800040101010101" charset="-122"/>
              <a:ea typeface="华文行楷" panose="02010800040101010101" charset="-122"/>
              <a:cs typeface="华文行楷" panose="02010800040101010101" charset="-122"/>
            </a:endParaRPr>
          </a:p>
        </p:txBody>
      </p:sp>
      <p:sp>
        <p:nvSpPr>
          <p:cNvPr id="4" name="文本框 3"/>
          <p:cNvSpPr txBox="1"/>
          <p:nvPr/>
        </p:nvSpPr>
        <p:spPr>
          <a:xfrm>
            <a:off x="1269303" y="1839589"/>
            <a:ext cx="3686155" cy="3415030"/>
          </a:xfrm>
          <a:prstGeom prst="rect">
            <a:avLst/>
          </a:prstGeom>
          <a:noFill/>
          <a:ln>
            <a:solidFill>
              <a:schemeClr val="tx1">
                <a:lumMod val="95000"/>
                <a:lumOff val="5000"/>
              </a:schemeClr>
            </a:solidFill>
          </a:ln>
        </p:spPr>
        <p:txBody>
          <a:bodyPr wrap="square">
            <a:spAutoFit/>
          </a:bodyPr>
          <a:lstStyle/>
          <a:p>
            <a:r>
              <a:rPr lang="zh-CN" altLang="en-US" dirty="0">
                <a:solidFill>
                  <a:srgbClr val="7C0000"/>
                </a:solidFill>
                <a:latin typeface="黑体" panose="02010609060101010101" charset="-122"/>
                <a:ea typeface="黑体" panose="02010609060101010101" charset="-122"/>
              </a:rPr>
              <a:t>（1）用户空间</a:t>
            </a:r>
            <a:endParaRPr lang="en-US" altLang="zh-CN" dirty="0">
              <a:solidFill>
                <a:srgbClr val="7C0000"/>
              </a:solidFill>
              <a:latin typeface="黑体" panose="02010609060101010101" charset="-122"/>
              <a:ea typeface="黑体" panose="02010609060101010101" charset="-122"/>
            </a:endParaRPr>
          </a:p>
          <a:p>
            <a:endParaRPr lang="en-US" altLang="zh-CN" dirty="0">
              <a:latin typeface="黑体" panose="02010609060101010101" charset="-122"/>
              <a:ea typeface="黑体" panose="02010609060101010101" charset="-122"/>
            </a:endParaRPr>
          </a:p>
          <a:p>
            <a:r>
              <a:rPr lang="zh-CN" altLang="en-US" dirty="0">
                <a:solidFill>
                  <a:srgbClr val="7C0000"/>
                </a:solidFill>
                <a:latin typeface="黑体" panose="02010609060101010101" charset="-122"/>
                <a:ea typeface="黑体" panose="02010609060101010101" charset="-122"/>
              </a:rPr>
              <a:t>（2）不可访问区域</a:t>
            </a:r>
            <a:r>
              <a:rPr lang="zh-CN" altLang="en-US" dirty="0">
                <a:solidFill>
                  <a:srgbClr val="C00000"/>
                </a:solidFill>
                <a:latin typeface="黑体" panose="02010609060101010101" charset="-122"/>
                <a:ea typeface="黑体" panose="02010609060101010101" charset="-122"/>
              </a:rPr>
              <a:t>：</a:t>
            </a:r>
            <a:r>
              <a:rPr lang="zh-CN" altLang="en-US" dirty="0">
                <a:latin typeface="黑体" panose="02010609060101010101" charset="-122"/>
                <a:ea typeface="黑体" panose="02010609060101010101" charset="-122"/>
              </a:rPr>
              <a:t>openEuler没有使用64位的虚地址空间（通常使用48位或39位），故除了用户空间和内核空间之外，还存在一块未用区域，称为不可访问区域。</a:t>
            </a:r>
            <a:endParaRPr lang="en-US" altLang="zh-CN" dirty="0">
              <a:latin typeface="黑体" panose="02010609060101010101" charset="-122"/>
              <a:ea typeface="黑体" panose="02010609060101010101" charset="-122"/>
            </a:endParaRPr>
          </a:p>
          <a:p>
            <a:endParaRPr lang="zh-CN" altLang="en-US" dirty="0">
              <a:solidFill>
                <a:srgbClr val="C00000"/>
              </a:solidFill>
              <a:latin typeface="黑体" panose="02010609060101010101" charset="-122"/>
              <a:ea typeface="黑体" panose="02010609060101010101" charset="-122"/>
            </a:endParaRPr>
          </a:p>
          <a:p>
            <a:r>
              <a:rPr lang="zh-CN" altLang="en-US" dirty="0">
                <a:solidFill>
                  <a:srgbClr val="7C0000"/>
                </a:solidFill>
                <a:latin typeface="黑体" panose="02010609060101010101" charset="-122"/>
                <a:ea typeface="黑体" panose="02010609060101010101" charset="-122"/>
              </a:rPr>
              <a:t>（3）内核空间：</a:t>
            </a:r>
            <a:r>
              <a:rPr lang="zh-CN" altLang="en-US" dirty="0">
                <a:latin typeface="黑体" panose="02010609060101010101" charset="-122"/>
                <a:ea typeface="黑体" panose="02010609060101010101" charset="-122"/>
              </a:rPr>
              <a:t>这是操作系统内核运行的地址空间，为了保证内核的安全，操作系统对用户空间和内核空间的访问进行权限控制。</a:t>
            </a:r>
            <a:endParaRPr lang="zh-CN" altLang="en-US" dirty="0">
              <a:latin typeface="黑体" panose="02010609060101010101" charset="-122"/>
              <a:ea typeface="黑体" panose="02010609060101010101" charset="-122"/>
            </a:endParaRPr>
          </a:p>
        </p:txBody>
      </p:sp>
      <p:sp>
        <p:nvSpPr>
          <p:cNvPr id="9" name="文本框 8"/>
          <p:cNvSpPr txBox="1"/>
          <p:nvPr/>
        </p:nvSpPr>
        <p:spPr>
          <a:xfrm>
            <a:off x="5860026" y="5718355"/>
            <a:ext cx="6096000" cy="369332"/>
          </a:xfrm>
          <a:prstGeom prst="rect">
            <a:avLst/>
          </a:prstGeom>
          <a:noFill/>
          <a:ln>
            <a:solidFill>
              <a:schemeClr val="bg1"/>
            </a:solidFill>
          </a:ln>
        </p:spPr>
        <p:txBody>
          <a:bodyPr wrap="square">
            <a:spAutoFit/>
          </a:bodyPr>
          <a:lstStyle/>
          <a:p>
            <a:r>
              <a:rPr lang="zh-CN" altLang="en-US" dirty="0"/>
              <a:t>openEuler在ARWv8架构中的进程地址空间（</a:t>
            </a:r>
            <a:r>
              <a:rPr lang="en-US" altLang="zh-CN" dirty="0"/>
              <a:t>39</a:t>
            </a:r>
            <a:r>
              <a:rPr lang="zh-CN" altLang="en-US" dirty="0"/>
              <a:t>位）</a:t>
            </a:r>
            <a:endParaRPr lang="zh-CN" altLang="en-US" dirty="0"/>
          </a:p>
        </p:txBody>
      </p:sp>
      <p:pic>
        <p:nvPicPr>
          <p:cNvPr id="2" name="图片 1"/>
          <p:cNvPicPr>
            <a:picLocks noChangeAspect="1"/>
          </p:cNvPicPr>
          <p:nvPr/>
        </p:nvPicPr>
        <p:blipFill>
          <a:blip r:embed="rId5"/>
          <a:stretch>
            <a:fillRect/>
          </a:stretch>
        </p:blipFill>
        <p:spPr>
          <a:xfrm>
            <a:off x="5859780" y="1610360"/>
            <a:ext cx="5389880" cy="368427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3.9</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en-US" altLang="zh-CN" sz="2800" b="0" dirty="0" err="1">
                <a:solidFill>
                  <a:srgbClr val="002060"/>
                </a:solidFill>
                <a:latin typeface="方正大黑简体" panose="02000000000000000000" charset="-122"/>
                <a:ea typeface="方正大黑简体" panose="02000000000000000000" charset="-122"/>
                <a:cs typeface="方正大黑简体" panose="02000000000000000000" charset="-122"/>
              </a:rPr>
              <a:t>openEuler</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系统内存管理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文本框 2"/>
          <p:cNvSpPr txBox="1"/>
          <p:nvPr/>
        </p:nvSpPr>
        <p:spPr>
          <a:xfrm>
            <a:off x="1135380" y="1211580"/>
            <a:ext cx="3446145" cy="398780"/>
          </a:xfrm>
          <a:prstGeom prst="rect">
            <a:avLst/>
          </a:prstGeom>
          <a:noFill/>
          <a:ln>
            <a:solidFill>
              <a:schemeClr val="bg1"/>
            </a:solidFill>
          </a:ln>
        </p:spPr>
        <p:txBody>
          <a:bodyPr wrap="square">
            <a:spAutoFit/>
          </a:bodyPr>
          <a:lstStyle/>
          <a:p>
            <a:pPr marL="285750" indent="-285750">
              <a:buFont typeface="Wingdings" panose="05000000000000000000" pitchFamily="2" charset="2"/>
              <a:buChar char="n"/>
            </a:pPr>
            <a:r>
              <a:rPr lang="en-US" altLang="zh-CN" sz="2000" b="1" dirty="0" err="1">
                <a:solidFill>
                  <a:srgbClr val="660000"/>
                </a:solidFill>
                <a:latin typeface="华文楷体" panose="02010600040101010101" pitchFamily="2" charset="-122"/>
                <a:ea typeface="华文楷体" panose="02010600040101010101" pitchFamily="2" charset="-122"/>
                <a:cs typeface="华文行楷" panose="02010800040101010101" charset="-122"/>
              </a:rPr>
              <a:t>openEuler</a:t>
            </a:r>
            <a:r>
              <a:rPr lang="zh-CN" altLang="en-US" sz="2000" b="1" dirty="0">
                <a:solidFill>
                  <a:srgbClr val="660000"/>
                </a:solidFill>
                <a:latin typeface="华文行楷" panose="02010800040101010101" charset="-122"/>
                <a:ea typeface="华文行楷" panose="02010800040101010101" charset="-122"/>
                <a:cs typeface="华文行楷" panose="02010800040101010101" charset="-122"/>
              </a:rPr>
              <a:t>物理内存管理</a:t>
            </a:r>
            <a:endParaRPr lang="zh-CN" altLang="en-US" sz="2000" b="1" dirty="0">
              <a:solidFill>
                <a:srgbClr val="660000"/>
              </a:solidFill>
              <a:latin typeface="华文行楷" panose="02010800040101010101" charset="-122"/>
              <a:ea typeface="华文行楷" panose="02010800040101010101" charset="-122"/>
              <a:cs typeface="华文行楷" panose="02010800040101010101" charset="-122"/>
            </a:endParaRPr>
          </a:p>
        </p:txBody>
      </p:sp>
      <p:sp>
        <p:nvSpPr>
          <p:cNvPr id="5" name="文本框 4"/>
          <p:cNvSpPr txBox="1"/>
          <p:nvPr/>
        </p:nvSpPr>
        <p:spPr>
          <a:xfrm>
            <a:off x="1135348" y="1724312"/>
            <a:ext cx="9349536" cy="646331"/>
          </a:xfrm>
          <a:prstGeom prst="rect">
            <a:avLst/>
          </a:prstGeom>
          <a:noFill/>
          <a:ln>
            <a:solidFill>
              <a:schemeClr val="tx1">
                <a:lumMod val="95000"/>
                <a:lumOff val="5000"/>
              </a:schemeClr>
            </a:solidFill>
          </a:ln>
        </p:spPr>
        <p:txBody>
          <a:bodyPr wrap="square">
            <a:spAutoFit/>
          </a:bodyPr>
          <a:lstStyle/>
          <a:p>
            <a:r>
              <a:rPr lang="zh-CN" altLang="en-US" dirty="0"/>
              <a:t>openEuler内核管理物理内存是通过分页机制实现的，它将整个内存划分成无数个4KB的页</a:t>
            </a:r>
            <a:endParaRPr lang="zh-CN" altLang="en-US" dirty="0"/>
          </a:p>
          <a:p>
            <a:r>
              <a:rPr lang="zh-CN" altLang="en-US" dirty="0"/>
              <a:t>（在x86和ARMv8架构中常见）</a:t>
            </a:r>
            <a:endParaRPr lang="zh-CN" altLang="en-US" dirty="0"/>
          </a:p>
        </p:txBody>
      </p:sp>
      <p:sp>
        <p:nvSpPr>
          <p:cNvPr id="10" name="文本框 9"/>
          <p:cNvSpPr txBox="1"/>
          <p:nvPr/>
        </p:nvSpPr>
        <p:spPr>
          <a:xfrm>
            <a:off x="1688552" y="3287029"/>
            <a:ext cx="2573270" cy="1200329"/>
          </a:xfrm>
          <a:prstGeom prst="rect">
            <a:avLst/>
          </a:prstGeom>
          <a:noFill/>
          <a:ln>
            <a:solidFill>
              <a:schemeClr val="bg1"/>
            </a:solidFill>
          </a:ln>
        </p:spPr>
        <p:txBody>
          <a:bodyPr wrap="square">
            <a:spAutoFit/>
          </a:bodyPr>
          <a:lstStyle/>
          <a:p>
            <a:r>
              <a:rPr lang="zh-CN" altLang="en-US" b="1" dirty="0">
                <a:solidFill>
                  <a:schemeClr val="tx1">
                    <a:lumMod val="95000"/>
                    <a:lumOff val="5000"/>
                  </a:schemeClr>
                </a:solidFill>
              </a:rPr>
              <a:t>内核分配物理页面时为了尽量减少页面不连续情况，会通过</a:t>
            </a:r>
            <a:r>
              <a:rPr lang="zh-CN" altLang="en-US" b="1" dirty="0">
                <a:solidFill>
                  <a:srgbClr val="660000"/>
                </a:solidFill>
              </a:rPr>
              <a:t>伙伴系统</a:t>
            </a:r>
            <a:r>
              <a:rPr lang="zh-CN" altLang="en-US" b="1" dirty="0">
                <a:solidFill>
                  <a:schemeClr val="tx1">
                    <a:lumMod val="95000"/>
                    <a:lumOff val="5000"/>
                  </a:schemeClr>
                </a:solidFill>
              </a:rPr>
              <a:t>来管理物理内存。</a:t>
            </a:r>
            <a:endParaRPr lang="zh-CN" altLang="en-US" b="1" dirty="0">
              <a:solidFill>
                <a:schemeClr val="tx1">
                  <a:lumMod val="95000"/>
                  <a:lumOff val="5000"/>
                </a:schemeClr>
              </a:solidFill>
            </a:endParaRPr>
          </a:p>
        </p:txBody>
      </p:sp>
      <p:pic>
        <p:nvPicPr>
          <p:cNvPr id="2" name="图片 1"/>
          <p:cNvPicPr>
            <a:picLocks noChangeAspect="1"/>
          </p:cNvPicPr>
          <p:nvPr/>
        </p:nvPicPr>
        <p:blipFill>
          <a:blip r:embed="rId1">
            <a:lum contrast="6000"/>
          </a:blip>
          <a:stretch>
            <a:fillRect/>
          </a:stretch>
        </p:blipFill>
        <p:spPr>
          <a:xfrm>
            <a:off x="4581525" y="2484120"/>
            <a:ext cx="6106160" cy="336042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3.9</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en-US" altLang="zh-CN" sz="2800" b="0" dirty="0" err="1">
                <a:solidFill>
                  <a:srgbClr val="002060"/>
                </a:solidFill>
                <a:latin typeface="方正大黑简体" panose="02000000000000000000" charset="-122"/>
                <a:ea typeface="方正大黑简体" panose="02000000000000000000" charset="-122"/>
                <a:cs typeface="方正大黑简体" panose="02000000000000000000" charset="-122"/>
              </a:rPr>
              <a:t>openEuler</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系统内存管理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文本框 2"/>
          <p:cNvSpPr txBox="1"/>
          <p:nvPr/>
        </p:nvSpPr>
        <p:spPr>
          <a:xfrm>
            <a:off x="1135348" y="1211515"/>
            <a:ext cx="4036420" cy="398780"/>
          </a:xfrm>
          <a:prstGeom prst="rect">
            <a:avLst/>
          </a:prstGeom>
          <a:noFill/>
          <a:ln>
            <a:solidFill>
              <a:schemeClr val="bg1"/>
            </a:solidFill>
          </a:ln>
        </p:spPr>
        <p:txBody>
          <a:bodyPr wrap="square">
            <a:spAutoFit/>
          </a:bodyPr>
          <a:lstStyle/>
          <a:p>
            <a:pPr marL="285750" indent="-285750">
              <a:buFont typeface="Wingdings" panose="05000000000000000000" pitchFamily="2" charset="2"/>
              <a:buChar char="n"/>
            </a:pPr>
            <a:r>
              <a:rPr lang="en-US" altLang="zh-CN" sz="2000" b="1" dirty="0" err="1">
                <a:solidFill>
                  <a:srgbClr val="660000"/>
                </a:solidFill>
                <a:latin typeface="华文楷体" panose="02010600040101010101" pitchFamily="2" charset="-122"/>
                <a:ea typeface="华文楷体" panose="02010600040101010101" pitchFamily="2" charset="-122"/>
                <a:cs typeface="华文行楷" panose="02010800040101010101" charset="-122"/>
              </a:rPr>
              <a:t>openEuler</a:t>
            </a:r>
            <a:r>
              <a:rPr lang="zh-CN" altLang="en-US" sz="2000" b="1" dirty="0">
                <a:solidFill>
                  <a:srgbClr val="660000"/>
                </a:solidFill>
                <a:latin typeface="华文行楷" panose="02010800040101010101" charset="-122"/>
                <a:ea typeface="华文行楷" panose="02010800040101010101" charset="-122"/>
                <a:cs typeface="华文行楷" panose="02010800040101010101" charset="-122"/>
              </a:rPr>
              <a:t>页表与地址转换</a:t>
            </a:r>
            <a:endParaRPr lang="zh-CN" altLang="en-US" sz="2000" b="1" dirty="0">
              <a:solidFill>
                <a:srgbClr val="660000"/>
              </a:solidFill>
              <a:latin typeface="华文行楷" panose="02010800040101010101" charset="-122"/>
              <a:ea typeface="华文行楷" panose="02010800040101010101" charset="-122"/>
              <a:cs typeface="华文行楷" panose="02010800040101010101" charset="-122"/>
            </a:endParaRPr>
          </a:p>
        </p:txBody>
      </p:sp>
      <p:sp>
        <p:nvSpPr>
          <p:cNvPr id="4" name="文本框 3"/>
          <p:cNvSpPr txBox="1"/>
          <p:nvPr/>
        </p:nvSpPr>
        <p:spPr>
          <a:xfrm>
            <a:off x="1415844" y="1866036"/>
            <a:ext cx="9261987" cy="923330"/>
          </a:xfrm>
          <a:prstGeom prst="rect">
            <a:avLst/>
          </a:prstGeom>
          <a:noFill/>
          <a:ln>
            <a:solidFill>
              <a:schemeClr val="bg1"/>
            </a:solidFill>
          </a:ln>
        </p:spPr>
        <p:txBody>
          <a:bodyPr wrap="square">
            <a:spAutoFit/>
          </a:bodyPr>
          <a:lstStyle/>
          <a:p>
            <a:r>
              <a:rPr lang="zh-CN" altLang="en-US" dirty="0"/>
              <a:t>在openEuler中，页表表项的大小为8个字节，每页的大小为4KB，则每个页帧可存放512个页表项。9位可以用来表示一个页帧的内容，故每个页表单元索引需要9位。openEuler39位虚拟地址结构如图所示。openEuler采用了3级页表结构，虚拟地址可以分为4个部分。</a:t>
            </a:r>
            <a:endParaRPr lang="zh-CN" altLang="en-US" dirty="0"/>
          </a:p>
        </p:txBody>
      </p:sp>
      <p:sp>
        <p:nvSpPr>
          <p:cNvPr id="11" name="文本框 10"/>
          <p:cNvSpPr txBox="1"/>
          <p:nvPr/>
        </p:nvSpPr>
        <p:spPr>
          <a:xfrm>
            <a:off x="1327353" y="4830280"/>
            <a:ext cx="9438968" cy="646331"/>
          </a:xfrm>
          <a:prstGeom prst="rect">
            <a:avLst/>
          </a:prstGeom>
          <a:noFill/>
          <a:ln>
            <a:solidFill>
              <a:schemeClr val="bg1"/>
            </a:solidFill>
          </a:ln>
        </p:spPr>
        <p:txBody>
          <a:bodyPr wrap="square">
            <a:spAutoFit/>
          </a:bodyPr>
          <a:lstStyle/>
          <a:p>
            <a:r>
              <a:rPr lang="zh-CN" altLang="en-US" b="1" dirty="0">
                <a:solidFill>
                  <a:srgbClr val="7C0000"/>
                </a:solidFill>
              </a:rPr>
              <a:t>在ARMv8架构中，63位可表示该虚地址属于用户空间还是内核空间，根据该位的值选择相应</a:t>
            </a:r>
            <a:endParaRPr lang="zh-CN" altLang="en-US" b="1" dirty="0">
              <a:solidFill>
                <a:srgbClr val="7C0000"/>
              </a:solidFill>
            </a:endParaRPr>
          </a:p>
          <a:p>
            <a:r>
              <a:rPr lang="zh-CN" altLang="en-US" b="1" dirty="0">
                <a:solidFill>
                  <a:srgbClr val="7C0000"/>
                </a:solidFill>
              </a:rPr>
              <a:t>的基址寄存器。用户进程的虚地址63～39位为0，内核进程的虚地址相应位为1。</a:t>
            </a:r>
            <a:endParaRPr lang="zh-CN" altLang="en-US" b="1" dirty="0">
              <a:solidFill>
                <a:srgbClr val="7C0000"/>
              </a:solidFill>
            </a:endParaRPr>
          </a:p>
        </p:txBody>
      </p:sp>
      <p:pic>
        <p:nvPicPr>
          <p:cNvPr id="2" name="图片 1"/>
          <p:cNvPicPr>
            <a:picLocks noChangeAspect="1"/>
          </p:cNvPicPr>
          <p:nvPr/>
        </p:nvPicPr>
        <p:blipFill>
          <a:blip r:embed="rId1">
            <a:lum contrast="6000"/>
          </a:blip>
          <a:stretch>
            <a:fillRect/>
          </a:stretch>
        </p:blipFill>
        <p:spPr>
          <a:xfrm>
            <a:off x="2047875" y="3045460"/>
            <a:ext cx="6668770" cy="147574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lum contrast="6000"/>
          </a:blip>
          <a:stretch>
            <a:fillRect/>
          </a:stretch>
        </p:blipFill>
        <p:spPr>
          <a:xfrm>
            <a:off x="726440" y="1862455"/>
            <a:ext cx="6052820" cy="3133090"/>
          </a:xfrm>
          <a:prstGeom prst="rect">
            <a:avLst/>
          </a:prstGeom>
        </p:spPr>
      </p:pic>
      <p:sp>
        <p:nvSpPr>
          <p:cNvPr id="6" name="文本框 5"/>
          <p:cNvSpPr txBox="1"/>
          <p:nvPr/>
        </p:nvSpPr>
        <p:spPr>
          <a:xfrm>
            <a:off x="1001394" y="544830"/>
            <a:ext cx="6363909" cy="523220"/>
          </a:xfrm>
          <a:prstGeom prst="rect">
            <a:avLst/>
          </a:prstGeom>
        </p:spPr>
        <p:txBody>
          <a:bodyPr wrap="square">
            <a:spAutoFit/>
          </a:bodyPr>
          <a:lstStyle/>
          <a:p>
            <a:r>
              <a:rPr lang="en-US" altLang="zh-CN" sz="2800" b="0" dirty="0">
                <a:solidFill>
                  <a:srgbClr val="002060"/>
                </a:solidFill>
                <a:latin typeface="方正大黑简体" panose="02000000000000000000" charset="-122"/>
                <a:ea typeface="方正大黑简体" panose="02000000000000000000" charset="-122"/>
                <a:cs typeface="方正大黑简体" panose="02000000000000000000" charset="-122"/>
              </a:rPr>
              <a:t>3.9</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 </a:t>
            </a:r>
            <a:r>
              <a:rPr lang="en-US" altLang="zh-CN" sz="2800" b="0" dirty="0" err="1">
                <a:solidFill>
                  <a:srgbClr val="002060"/>
                </a:solidFill>
                <a:latin typeface="方正大黑简体" panose="02000000000000000000" charset="-122"/>
                <a:ea typeface="方正大黑简体" panose="02000000000000000000" charset="-122"/>
                <a:cs typeface="方正大黑简体" panose="02000000000000000000" charset="-122"/>
              </a:rPr>
              <a:t>openEuler</a:t>
            </a:r>
            <a:r>
              <a:rPr lang="zh-CN" altLang="en-US" sz="2800" dirty="0">
                <a:solidFill>
                  <a:srgbClr val="002060"/>
                </a:solidFill>
                <a:latin typeface="方正大黑简体" panose="02000000000000000000" charset="-122"/>
                <a:ea typeface="方正大黑简体" panose="02000000000000000000" charset="-122"/>
                <a:cs typeface="方正大黑简体" panose="02000000000000000000" charset="-122"/>
              </a:rPr>
              <a:t>系统内存管理</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3" name="文本框 2"/>
          <p:cNvSpPr txBox="1"/>
          <p:nvPr/>
        </p:nvSpPr>
        <p:spPr>
          <a:xfrm>
            <a:off x="1135348" y="1211515"/>
            <a:ext cx="4036420" cy="398780"/>
          </a:xfrm>
          <a:prstGeom prst="rect">
            <a:avLst/>
          </a:prstGeom>
          <a:noFill/>
          <a:ln>
            <a:solidFill>
              <a:schemeClr val="bg1"/>
            </a:solidFill>
          </a:ln>
        </p:spPr>
        <p:txBody>
          <a:bodyPr wrap="square">
            <a:spAutoFit/>
          </a:bodyPr>
          <a:lstStyle/>
          <a:p>
            <a:pPr marL="285750" indent="-285750">
              <a:buFont typeface="Wingdings" panose="05000000000000000000" pitchFamily="2" charset="2"/>
              <a:buChar char="n"/>
            </a:pPr>
            <a:r>
              <a:rPr lang="en-US" altLang="zh-CN" sz="2000" b="1" dirty="0" err="1">
                <a:solidFill>
                  <a:srgbClr val="660000"/>
                </a:solidFill>
                <a:latin typeface="华文楷体" panose="02010600040101010101" pitchFamily="2" charset="-122"/>
                <a:ea typeface="华文楷体" panose="02010600040101010101" pitchFamily="2" charset="-122"/>
                <a:cs typeface="华文行楷" panose="02010800040101010101" charset="-122"/>
              </a:rPr>
              <a:t>openEuler</a:t>
            </a:r>
            <a:r>
              <a:rPr lang="zh-CN" altLang="en-US" sz="2000" b="1" dirty="0">
                <a:solidFill>
                  <a:srgbClr val="660000"/>
                </a:solidFill>
                <a:latin typeface="华文行楷" panose="02010800040101010101" charset="-122"/>
                <a:ea typeface="华文行楷" panose="02010800040101010101" charset="-122"/>
                <a:cs typeface="华文行楷" panose="02010800040101010101" charset="-122"/>
              </a:rPr>
              <a:t>页表与地址转换</a:t>
            </a:r>
            <a:endParaRPr lang="zh-CN" altLang="en-US" sz="2000" b="1" dirty="0">
              <a:solidFill>
                <a:srgbClr val="660000"/>
              </a:solidFill>
              <a:latin typeface="华文行楷" panose="02010800040101010101" charset="-122"/>
              <a:ea typeface="华文行楷" panose="02010800040101010101" charset="-122"/>
              <a:cs typeface="华文行楷" panose="02010800040101010101" charset="-122"/>
            </a:endParaRPr>
          </a:p>
        </p:txBody>
      </p:sp>
      <p:sp>
        <p:nvSpPr>
          <p:cNvPr id="9" name="文本框 8"/>
          <p:cNvSpPr txBox="1"/>
          <p:nvPr/>
        </p:nvSpPr>
        <p:spPr>
          <a:xfrm>
            <a:off x="6671465" y="1712960"/>
            <a:ext cx="4566806" cy="3538220"/>
          </a:xfrm>
          <a:prstGeom prst="rect">
            <a:avLst/>
          </a:prstGeom>
          <a:noFill/>
          <a:ln>
            <a:solidFill>
              <a:schemeClr val="tx1">
                <a:lumMod val="95000"/>
                <a:lumOff val="5000"/>
              </a:schemeClr>
            </a:solidFill>
          </a:ln>
        </p:spPr>
        <p:txBody>
          <a:bodyPr wrap="square">
            <a:spAutoFit/>
          </a:bodyPr>
          <a:lstStyle/>
          <a:p>
            <a:r>
              <a:rPr lang="zh-CN" altLang="en-US" sz="1600" dirty="0"/>
              <a:t>（1）MMU取页表起始地址寄存器中的PGD地址作为基址，虚拟地址的30-38位作为L1索引，</a:t>
            </a:r>
            <a:endParaRPr lang="zh-CN" altLang="en-US" sz="1600" dirty="0"/>
          </a:p>
          <a:p>
            <a:r>
              <a:rPr lang="zh-CN" altLang="en-US" sz="1600" dirty="0"/>
              <a:t>读取PGD中的对应项，该项保存了PMD起始地址。</a:t>
            </a:r>
            <a:endParaRPr lang="en-US" altLang="zh-CN" sz="1600" dirty="0"/>
          </a:p>
          <a:p>
            <a:endParaRPr lang="zh-CN" altLang="en-US" sz="1600" dirty="0"/>
          </a:p>
          <a:p>
            <a:r>
              <a:rPr lang="zh-CN" altLang="en-US" sz="1600" dirty="0"/>
              <a:t>（2）MMU在PMD起始地址的基础上，加上L2索引（虚拟地址的21-29位）的值，读取对应表项的内容，该项保存了PT起始地址。</a:t>
            </a:r>
            <a:endParaRPr lang="en-US" altLang="zh-CN" sz="1600" dirty="0"/>
          </a:p>
          <a:p>
            <a:endParaRPr lang="zh-CN" altLang="en-US" sz="1600" dirty="0"/>
          </a:p>
          <a:p>
            <a:r>
              <a:rPr lang="zh-CN" altLang="en-US" sz="1600" dirty="0"/>
              <a:t>（3）MMU在PT起始地址的基础上，加上L3索引（虚拟地址的12-20位）的值，读取对应表项</a:t>
            </a:r>
            <a:endParaRPr lang="zh-CN" altLang="en-US" sz="1600" dirty="0"/>
          </a:p>
          <a:p>
            <a:r>
              <a:rPr lang="zh-CN" altLang="en-US" sz="1600" dirty="0"/>
              <a:t>的内容，该项保存了内存中的页帧号。</a:t>
            </a:r>
            <a:endParaRPr lang="en-US" altLang="zh-CN" sz="1600" dirty="0"/>
          </a:p>
          <a:p>
            <a:endParaRPr lang="zh-CN" altLang="en-US" sz="1600" dirty="0"/>
          </a:p>
          <a:p>
            <a:r>
              <a:rPr lang="zh-CN" altLang="en-US" sz="1600" dirty="0"/>
              <a:t>（4）由得到的页帧号，乘上每页大小，加上页内位移地址，得到最终的物理地址。</a:t>
            </a:r>
            <a:endParaRPr lang="zh-CN" altLang="en-US" sz="16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5" y="547944"/>
            <a:ext cx="2459561" cy="523220"/>
          </a:xfrm>
          <a:prstGeom prst="rect">
            <a:avLst/>
          </a:prstGeom>
        </p:spPr>
        <p:txBody>
          <a:bodyPr wrap="square">
            <a:spAutoFit/>
          </a:bodyPr>
          <a:lstStyle/>
          <a:p>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思考题</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2" name="矩形 1"/>
          <p:cNvSpPr/>
          <p:nvPr/>
        </p:nvSpPr>
        <p:spPr>
          <a:xfrm>
            <a:off x="1513754" y="1071164"/>
            <a:ext cx="9508207" cy="4739759"/>
          </a:xfrm>
          <a:prstGeom prst="rect">
            <a:avLst/>
          </a:prstGeom>
        </p:spPr>
        <p:txBody>
          <a:bodyPr wrap="square">
            <a:spAutoFit/>
          </a:bodyPr>
          <a:lstStyle/>
          <a:p>
            <a:r>
              <a:rPr lang="zh-CN" altLang="zh-CN" b="1" dirty="0">
                <a:latin typeface="+mn-ea"/>
              </a:rPr>
              <a:t>请求分页管理系统中，假设某进程的页表内容见表：</a:t>
            </a:r>
            <a:endParaRPr lang="zh-CN" altLang="zh-CN" b="1" dirty="0">
              <a:latin typeface="+mn-ea"/>
              <a:cs typeface="宋体" panose="02010600030101010101" pitchFamily="2" charset="-122"/>
            </a:endParaRPr>
          </a:p>
          <a:p>
            <a:pPr algn="just"/>
            <a:r>
              <a:rPr lang="en-US" altLang="zh-CN" b="1" kern="100" dirty="0">
                <a:latin typeface="+mn-ea"/>
                <a:cs typeface="宋体" panose="02010600030101010101" pitchFamily="2" charset="-122"/>
              </a:rPr>
              <a:t> </a:t>
            </a:r>
            <a:endParaRPr lang="zh-CN" altLang="zh-CN" b="1" kern="100" dirty="0">
              <a:latin typeface="+mn-ea"/>
              <a:cs typeface="宋体" panose="02010600030101010101" pitchFamily="2" charset="-122"/>
            </a:endParaRPr>
          </a:p>
          <a:p>
            <a:pPr algn="just"/>
            <a:r>
              <a:rPr lang="en-US" altLang="zh-CN" b="1" kern="100" dirty="0">
                <a:latin typeface="+mn-ea"/>
                <a:cs typeface="宋体" panose="02010600030101010101" pitchFamily="2" charset="-122"/>
              </a:rPr>
              <a:t> </a:t>
            </a:r>
            <a:endParaRPr lang="zh-CN" altLang="zh-CN" b="1" kern="100" dirty="0">
              <a:latin typeface="+mn-ea"/>
              <a:cs typeface="宋体" panose="02010600030101010101" pitchFamily="2" charset="-122"/>
            </a:endParaRPr>
          </a:p>
          <a:p>
            <a:pPr algn="just"/>
            <a:r>
              <a:rPr lang="en-US" altLang="zh-CN" b="1" kern="100" dirty="0">
                <a:latin typeface="+mn-ea"/>
                <a:cs typeface="宋体" panose="02010600030101010101" pitchFamily="2" charset="-122"/>
              </a:rPr>
              <a:t> </a:t>
            </a:r>
            <a:endParaRPr lang="zh-CN" altLang="zh-CN" b="1" kern="100" dirty="0">
              <a:latin typeface="+mn-ea"/>
              <a:cs typeface="宋体" panose="02010600030101010101" pitchFamily="2" charset="-122"/>
            </a:endParaRPr>
          </a:p>
          <a:p>
            <a:pPr algn="just"/>
            <a:r>
              <a:rPr lang="en-US" altLang="zh-CN" b="1" kern="100" dirty="0">
                <a:latin typeface="+mn-ea"/>
                <a:cs typeface="宋体" panose="02010600030101010101" pitchFamily="2" charset="-122"/>
              </a:rPr>
              <a:t> </a:t>
            </a:r>
            <a:endParaRPr lang="zh-CN" altLang="zh-CN" b="1" kern="100" dirty="0">
              <a:latin typeface="+mn-ea"/>
              <a:cs typeface="宋体" panose="02010600030101010101" pitchFamily="2" charset="-122"/>
            </a:endParaRPr>
          </a:p>
          <a:p>
            <a:pPr algn="just"/>
            <a:r>
              <a:rPr lang="en-US" altLang="zh-CN" b="1" kern="100" dirty="0">
                <a:latin typeface="+mn-ea"/>
                <a:cs typeface="宋体" panose="02010600030101010101" pitchFamily="2" charset="-122"/>
              </a:rPr>
              <a:t> </a:t>
            </a:r>
            <a:endParaRPr lang="zh-CN" altLang="zh-CN" b="1" kern="100" dirty="0">
              <a:latin typeface="+mn-ea"/>
              <a:cs typeface="宋体" panose="02010600030101010101" pitchFamily="2" charset="-122"/>
            </a:endParaRPr>
          </a:p>
          <a:p>
            <a:pPr algn="just"/>
            <a:r>
              <a:rPr lang="en-US" altLang="zh-CN" b="1" kern="100" dirty="0">
                <a:latin typeface="+mn-ea"/>
                <a:cs typeface="宋体" panose="02010600030101010101" pitchFamily="2" charset="-122"/>
              </a:rPr>
              <a:t> </a:t>
            </a:r>
            <a:endParaRPr lang="zh-CN" altLang="zh-CN" sz="1600" b="1" kern="100" dirty="0">
              <a:latin typeface="+mn-ea"/>
              <a:cs typeface="宋体" panose="02010600030101010101" pitchFamily="2" charset="-122"/>
            </a:endParaRPr>
          </a:p>
          <a:p>
            <a:endParaRPr lang="en-US" altLang="zh-CN" sz="1600" b="1" dirty="0">
              <a:latin typeface="+mn-ea"/>
              <a:cs typeface="Arial" panose="020B0604020202020204" pitchFamily="34" charset="0"/>
            </a:endParaRPr>
          </a:p>
          <a:p>
            <a:r>
              <a:rPr lang="zh-CN" altLang="zh-CN" sz="1600" b="1" dirty="0">
                <a:latin typeface="+mn-ea"/>
                <a:cs typeface="Arial" panose="020B0604020202020204" pitchFamily="34" charset="0"/>
              </a:rPr>
              <a:t>页面大小为</a:t>
            </a:r>
            <a:r>
              <a:rPr lang="en-US" altLang="zh-CN" sz="1600" b="1" dirty="0">
                <a:latin typeface="+mn-ea"/>
                <a:cs typeface="Arial" panose="020B0604020202020204" pitchFamily="34" charset="0"/>
              </a:rPr>
              <a:t>4KB</a:t>
            </a:r>
            <a:r>
              <a:rPr lang="zh-CN" altLang="zh-CN" sz="1600" b="1" dirty="0">
                <a:latin typeface="+mn-ea"/>
                <a:cs typeface="Arial" panose="020B0604020202020204" pitchFamily="34" charset="0"/>
              </a:rPr>
              <a:t>，一次内存访问的访问时间为</a:t>
            </a:r>
            <a:r>
              <a:rPr lang="en-US" altLang="zh-CN" sz="1600" b="1" dirty="0">
                <a:latin typeface="+mn-ea"/>
                <a:cs typeface="Arial" panose="020B0604020202020204" pitchFamily="34" charset="0"/>
              </a:rPr>
              <a:t>100ns</a:t>
            </a:r>
            <a:r>
              <a:rPr lang="zh-CN" altLang="zh-CN" sz="1600" b="1" dirty="0">
                <a:latin typeface="+mn-ea"/>
                <a:cs typeface="Arial" panose="020B0604020202020204" pitchFamily="34" charset="0"/>
              </a:rPr>
              <a:t>，一次快表（</a:t>
            </a:r>
            <a:r>
              <a:rPr lang="en-US" altLang="zh-CN" sz="1600" b="1" dirty="0">
                <a:latin typeface="+mn-ea"/>
                <a:cs typeface="Arial" panose="020B0604020202020204" pitchFamily="34" charset="0"/>
              </a:rPr>
              <a:t>TLB</a:t>
            </a:r>
            <a:r>
              <a:rPr lang="zh-CN" altLang="zh-CN" sz="1600" b="1" dirty="0">
                <a:latin typeface="+mn-ea"/>
                <a:cs typeface="Arial" panose="020B0604020202020204" pitchFamily="34" charset="0"/>
              </a:rPr>
              <a:t>）的访问时间为</a:t>
            </a:r>
            <a:r>
              <a:rPr lang="en-US" altLang="zh-CN" sz="1600" b="1" dirty="0">
                <a:latin typeface="+mn-ea"/>
                <a:cs typeface="Arial" panose="020B0604020202020204" pitchFamily="34" charset="0"/>
              </a:rPr>
              <a:t>10ns</a:t>
            </a:r>
            <a:r>
              <a:rPr lang="zh-CN" altLang="zh-CN" sz="1600" b="1" dirty="0">
                <a:latin typeface="+mn-ea"/>
                <a:cs typeface="Arial" panose="020B0604020202020204" pitchFamily="34" charset="0"/>
              </a:rPr>
              <a:t>，处理一次缺页的平均时间为</a:t>
            </a:r>
            <a:r>
              <a:rPr lang="en-US" altLang="zh-CN" sz="1600" b="1" dirty="0">
                <a:latin typeface="+mn-ea"/>
                <a:cs typeface="宋体" panose="02010600030101010101" pitchFamily="2" charset="-122"/>
              </a:rPr>
              <a:t>800ns</a:t>
            </a:r>
            <a:r>
              <a:rPr lang="zh-CN" altLang="zh-CN" sz="1600" b="1" dirty="0">
                <a:latin typeface="+mn-ea"/>
                <a:cs typeface="Arial" panose="020B0604020202020204" pitchFamily="34" charset="0"/>
              </a:rPr>
              <a:t>（已包含更新</a:t>
            </a:r>
            <a:r>
              <a:rPr lang="en-US" altLang="zh-CN" sz="1600" b="1" dirty="0">
                <a:latin typeface="+mn-ea"/>
                <a:cs typeface="Arial" panose="020B0604020202020204" pitchFamily="34" charset="0"/>
              </a:rPr>
              <a:t>TLB</a:t>
            </a:r>
            <a:r>
              <a:rPr lang="zh-CN" altLang="zh-CN" sz="1600" b="1" dirty="0">
                <a:latin typeface="+mn-ea"/>
                <a:cs typeface="Arial" panose="020B0604020202020204" pitchFamily="34" charset="0"/>
              </a:rPr>
              <a:t>和页表的时间），进程的驻留集大小固定为</a:t>
            </a:r>
            <a:r>
              <a:rPr lang="en-US" altLang="zh-CN" sz="1600" b="1" dirty="0">
                <a:latin typeface="+mn-ea"/>
                <a:cs typeface="Arial" panose="020B0604020202020204" pitchFamily="34" charset="0"/>
              </a:rPr>
              <a:t>2,</a:t>
            </a:r>
            <a:r>
              <a:rPr lang="zh-CN" altLang="zh-CN" sz="1600" b="1" dirty="0">
                <a:latin typeface="+mn-ea"/>
                <a:cs typeface="Arial" panose="020B0604020202020204" pitchFamily="34" charset="0"/>
              </a:rPr>
              <a:t>采用最近最少使用置换算法（</a:t>
            </a:r>
            <a:r>
              <a:rPr lang="en-US" altLang="zh-CN" sz="1600" b="1" dirty="0">
                <a:latin typeface="+mn-ea"/>
                <a:cs typeface="Arial" panose="020B0604020202020204" pitchFamily="34" charset="0"/>
              </a:rPr>
              <a:t>LRU</a:t>
            </a:r>
            <a:r>
              <a:rPr lang="zh-CN" altLang="zh-CN" sz="1600" b="1" dirty="0">
                <a:latin typeface="+mn-ea"/>
                <a:cs typeface="Arial" panose="020B0604020202020204" pitchFamily="34" charset="0"/>
              </a:rPr>
              <a:t>）和局部淘汰策略。有如下假设：</a:t>
            </a:r>
            <a:endParaRPr lang="zh-CN" altLang="zh-CN" sz="1600" b="1" dirty="0">
              <a:latin typeface="+mn-ea"/>
              <a:cs typeface="宋体" panose="02010600030101010101" pitchFamily="2" charset="-122"/>
            </a:endParaRPr>
          </a:p>
          <a:p>
            <a:pPr marL="342900" indent="-342900">
              <a:buFont typeface="Wingdings" panose="05000000000000000000" pitchFamily="2" charset="2"/>
              <a:buChar char=""/>
            </a:pPr>
            <a:r>
              <a:rPr lang="en-US" altLang="zh-CN" sz="1600" b="1" dirty="0">
                <a:latin typeface="+mn-ea"/>
                <a:cs typeface="Arial" panose="020B0604020202020204" pitchFamily="34" charset="0"/>
              </a:rPr>
              <a:t>TLB</a:t>
            </a:r>
            <a:r>
              <a:rPr lang="zh-CN" altLang="zh-CN" sz="1600" b="1" dirty="0">
                <a:latin typeface="+mn-ea"/>
                <a:cs typeface="Arial" panose="020B0604020202020204" pitchFamily="34" charset="0"/>
              </a:rPr>
              <a:t>初始为空；</a:t>
            </a:r>
            <a:endParaRPr lang="zh-CN" altLang="zh-CN" sz="1600" b="1" dirty="0">
              <a:latin typeface="+mn-ea"/>
              <a:cs typeface="宋体" panose="02010600030101010101" pitchFamily="2" charset="-122"/>
            </a:endParaRPr>
          </a:p>
          <a:p>
            <a:pPr marL="342900" indent="-342900">
              <a:buFont typeface="Wingdings" panose="05000000000000000000" pitchFamily="2" charset="2"/>
              <a:buChar char=""/>
            </a:pPr>
            <a:r>
              <a:rPr lang="zh-CN" altLang="zh-CN" sz="1600" b="1" dirty="0">
                <a:latin typeface="+mn-ea"/>
                <a:cs typeface="Arial" panose="020B0604020202020204" pitchFamily="34" charset="0"/>
              </a:rPr>
              <a:t>地址转换时先访问</a:t>
            </a:r>
            <a:r>
              <a:rPr lang="en-US" altLang="zh-CN" sz="1600" b="1" dirty="0">
                <a:latin typeface="+mn-ea"/>
                <a:cs typeface="Arial" panose="020B0604020202020204" pitchFamily="34" charset="0"/>
              </a:rPr>
              <a:t>TLB</a:t>
            </a:r>
            <a:r>
              <a:rPr lang="zh-CN" altLang="zh-CN" sz="1600" b="1" dirty="0">
                <a:latin typeface="+mn-ea"/>
                <a:cs typeface="Arial" panose="020B0604020202020204" pitchFamily="34" charset="0"/>
              </a:rPr>
              <a:t>，若</a:t>
            </a:r>
            <a:r>
              <a:rPr lang="en-US" altLang="zh-CN" sz="1600" b="1" dirty="0">
                <a:latin typeface="+mn-ea"/>
                <a:cs typeface="Arial" panose="020B0604020202020204" pitchFamily="34" charset="0"/>
              </a:rPr>
              <a:t>TLB</a:t>
            </a:r>
            <a:r>
              <a:rPr lang="zh-CN" altLang="zh-CN" sz="1600" b="1" dirty="0">
                <a:latin typeface="+mn-ea"/>
                <a:cs typeface="Arial" panose="020B0604020202020204" pitchFamily="34" charset="0"/>
              </a:rPr>
              <a:t>未命中，再访问页表（忽略访问页表之后的</a:t>
            </a:r>
            <a:r>
              <a:rPr lang="en-US" altLang="zh-CN" sz="1600" b="1" dirty="0">
                <a:latin typeface="+mn-ea"/>
                <a:cs typeface="Arial" panose="020B0604020202020204" pitchFamily="34" charset="0"/>
              </a:rPr>
              <a:t>TLB</a:t>
            </a:r>
            <a:r>
              <a:rPr lang="zh-CN" altLang="zh-CN" sz="1600" b="1" dirty="0">
                <a:latin typeface="+mn-ea"/>
                <a:cs typeface="Arial" panose="020B0604020202020204" pitchFamily="34" charset="0"/>
              </a:rPr>
              <a:t>更新时间）；</a:t>
            </a:r>
            <a:endParaRPr lang="zh-CN" altLang="zh-CN" sz="1600" b="1" dirty="0">
              <a:latin typeface="+mn-ea"/>
              <a:cs typeface="宋体" panose="02010600030101010101" pitchFamily="2" charset="-122"/>
            </a:endParaRPr>
          </a:p>
          <a:p>
            <a:pPr marL="342900" indent="-342900">
              <a:buFont typeface="Wingdings" panose="05000000000000000000" pitchFamily="2" charset="2"/>
              <a:buChar char=""/>
            </a:pPr>
            <a:r>
              <a:rPr lang="zh-CN" altLang="zh-CN" sz="1600" b="1" dirty="0">
                <a:latin typeface="+mn-ea"/>
                <a:cs typeface="Arial" panose="020B0604020202020204" pitchFamily="34" charset="0"/>
              </a:rPr>
              <a:t>有效位为</a:t>
            </a:r>
            <a:r>
              <a:rPr lang="en-US" altLang="zh-CN" sz="1600" b="1" dirty="0">
                <a:latin typeface="+mn-ea"/>
                <a:cs typeface="Arial" panose="020B0604020202020204" pitchFamily="34" charset="0"/>
              </a:rPr>
              <a:t>0</a:t>
            </a:r>
            <a:r>
              <a:rPr lang="zh-CN" altLang="zh-CN" sz="1600" b="1" dirty="0">
                <a:latin typeface="+mn-ea"/>
                <a:cs typeface="Arial" panose="020B0604020202020204" pitchFamily="34" charset="0"/>
              </a:rPr>
              <a:t>时表示页面不在内存中，产生缺页中断，缺页中断处理后，返回到产生缺页中断的指令处重新执行。设有虚地址访问序列</a:t>
            </a:r>
            <a:r>
              <a:rPr lang="en-US" altLang="zh-CN" sz="1600" b="1" dirty="0">
                <a:latin typeface="+mn-ea"/>
                <a:cs typeface="Arial" panose="020B0604020202020204" pitchFamily="34" charset="0"/>
              </a:rPr>
              <a:t>2362H</a:t>
            </a:r>
            <a:r>
              <a:rPr lang="zh-CN" altLang="zh-CN" sz="1600" b="1" dirty="0">
                <a:latin typeface="+mn-ea"/>
                <a:cs typeface="Arial" panose="020B0604020202020204" pitchFamily="34" charset="0"/>
              </a:rPr>
              <a:t>、</a:t>
            </a:r>
            <a:r>
              <a:rPr lang="en-US" altLang="zh-CN" sz="1600" b="1" dirty="0">
                <a:latin typeface="+mn-ea"/>
                <a:cs typeface="Arial" panose="020B0604020202020204" pitchFamily="34" charset="0"/>
              </a:rPr>
              <a:t>1565H</a:t>
            </a:r>
            <a:r>
              <a:rPr lang="zh-CN" altLang="zh-CN" sz="1600" b="1" dirty="0">
                <a:latin typeface="+mn-ea"/>
                <a:cs typeface="Arial" panose="020B0604020202020204" pitchFamily="34" charset="0"/>
              </a:rPr>
              <a:t>、</a:t>
            </a:r>
            <a:r>
              <a:rPr lang="en-US" altLang="zh-CN" sz="1600" b="1" dirty="0">
                <a:latin typeface="+mn-ea"/>
                <a:cs typeface="Arial" panose="020B0604020202020204" pitchFamily="34" charset="0"/>
              </a:rPr>
              <a:t>25A5H</a:t>
            </a:r>
            <a:r>
              <a:rPr lang="zh-CN" altLang="zh-CN" sz="1600" b="1" dirty="0">
                <a:latin typeface="+mn-ea"/>
                <a:cs typeface="Arial" panose="020B0604020202020204" pitchFamily="34" charset="0"/>
              </a:rPr>
              <a:t>，请问：</a:t>
            </a:r>
            <a:endParaRPr lang="zh-CN" altLang="zh-CN" sz="1600" b="1" dirty="0">
              <a:latin typeface="+mn-ea"/>
              <a:cs typeface="宋体" panose="02010600030101010101" pitchFamily="2" charset="-122"/>
            </a:endParaRPr>
          </a:p>
          <a:p>
            <a:r>
              <a:rPr lang="en-US" altLang="zh-CN" sz="1600" b="1" dirty="0">
                <a:latin typeface="+mn-ea"/>
                <a:cs typeface="Arial" panose="020B0604020202020204" pitchFamily="34" charset="0"/>
              </a:rPr>
              <a:t>1</a:t>
            </a:r>
            <a:r>
              <a:rPr lang="zh-CN" altLang="zh-CN" sz="1600" b="1" dirty="0">
                <a:latin typeface="+mn-ea"/>
                <a:cs typeface="Arial" panose="020B0604020202020204" pitchFamily="34" charset="0"/>
              </a:rPr>
              <a:t>）依次访问上述三个虚地址，各需要多少时间？给出计算过程。</a:t>
            </a:r>
            <a:r>
              <a:rPr lang="en-US" altLang="zh-CN" sz="1600" b="1" dirty="0">
                <a:latin typeface="+mn-ea"/>
                <a:cs typeface="Arial" panose="020B0604020202020204" pitchFamily="34" charset="0"/>
              </a:rPr>
              <a:t> </a:t>
            </a:r>
            <a:endParaRPr lang="zh-CN" altLang="zh-CN" sz="1600" b="1" dirty="0">
              <a:latin typeface="+mn-ea"/>
              <a:cs typeface="宋体" panose="02010600030101010101" pitchFamily="2" charset="-122"/>
            </a:endParaRPr>
          </a:p>
          <a:p>
            <a:pPr marL="4114800" indent="-4114800"/>
            <a:r>
              <a:rPr lang="en-US" altLang="zh-CN" sz="1600" b="1" dirty="0">
                <a:latin typeface="+mn-ea"/>
                <a:cs typeface="Arial" panose="020B0604020202020204" pitchFamily="34" charset="0"/>
              </a:rPr>
              <a:t>2</a:t>
            </a:r>
            <a:r>
              <a:rPr lang="zh-CN" altLang="zh-CN" sz="1600" b="1" dirty="0">
                <a:latin typeface="+mn-ea"/>
                <a:cs typeface="Arial" panose="020B0604020202020204" pitchFamily="34" charset="0"/>
              </a:rPr>
              <a:t>）基于上述访问序列，虚地址</a:t>
            </a:r>
            <a:r>
              <a:rPr lang="en-US" altLang="zh-CN" sz="1600" b="1" dirty="0">
                <a:latin typeface="+mn-ea"/>
                <a:cs typeface="Arial" panose="020B0604020202020204" pitchFamily="34" charset="0"/>
              </a:rPr>
              <a:t>1565H</a:t>
            </a:r>
            <a:r>
              <a:rPr lang="zh-CN" altLang="zh-CN" sz="1600" b="1" dirty="0">
                <a:latin typeface="+mn-ea"/>
                <a:cs typeface="Arial" panose="020B0604020202020204" pitchFamily="34" charset="0"/>
              </a:rPr>
              <a:t>的物理地址是多少（使用</a:t>
            </a:r>
            <a:r>
              <a:rPr lang="en-US" altLang="zh-CN" sz="1600" b="1" dirty="0">
                <a:latin typeface="+mn-ea"/>
                <a:cs typeface="Arial" panose="020B0604020202020204" pitchFamily="34" charset="0"/>
              </a:rPr>
              <a:t>16</a:t>
            </a:r>
            <a:r>
              <a:rPr lang="zh-CN" altLang="zh-CN" sz="1600" b="1" dirty="0">
                <a:latin typeface="+mn-ea"/>
                <a:cs typeface="Arial" panose="020B0604020202020204" pitchFamily="34" charset="0"/>
              </a:rPr>
              <a:t>进制或二进制表示物理地址）？</a:t>
            </a:r>
            <a:endParaRPr lang="en-US" altLang="zh-CN" sz="1600" b="1" dirty="0">
              <a:latin typeface="+mn-ea"/>
              <a:cs typeface="Arial" panose="020B0604020202020204" pitchFamily="34" charset="0"/>
            </a:endParaRPr>
          </a:p>
          <a:p>
            <a:pPr marL="4114800" indent="-4114800"/>
            <a:r>
              <a:rPr lang="zh-CN" altLang="zh-CN" sz="1600" b="1" dirty="0">
                <a:latin typeface="+mn-ea"/>
                <a:cs typeface="Arial" panose="020B0604020202020204" pitchFamily="34" charset="0"/>
              </a:rPr>
              <a:t>请说明理由。</a:t>
            </a:r>
            <a:r>
              <a:rPr lang="en-US" altLang="zh-CN" sz="1600" b="1" dirty="0">
                <a:latin typeface="+mn-ea"/>
                <a:cs typeface="Arial" panose="020B0604020202020204" pitchFamily="34" charset="0"/>
              </a:rPr>
              <a:t> </a:t>
            </a:r>
            <a:endParaRPr lang="zh-CN" altLang="zh-CN" sz="1600" b="1" dirty="0">
              <a:latin typeface="+mn-ea"/>
              <a:cs typeface="宋体" panose="02010600030101010101" pitchFamily="2" charset="-122"/>
            </a:endParaRPr>
          </a:p>
        </p:txBody>
      </p:sp>
      <p:graphicFrame>
        <p:nvGraphicFramePr>
          <p:cNvPr id="3" name="表格 2"/>
          <p:cNvGraphicFramePr>
            <a:graphicFrameLocks noGrp="1"/>
          </p:cNvGraphicFramePr>
          <p:nvPr/>
        </p:nvGraphicFramePr>
        <p:xfrm>
          <a:off x="2910353" y="1594384"/>
          <a:ext cx="4827633" cy="1470134"/>
        </p:xfrm>
        <a:graphic>
          <a:graphicData uri="http://schemas.openxmlformats.org/drawingml/2006/table">
            <a:tbl>
              <a:tblPr firstRow="1" firstCol="1" bandRow="1">
                <a:tableStyleId>{FABFCF23-3B69-468F-B69F-88F6DE6A72F2}</a:tableStyleId>
              </a:tblPr>
              <a:tblGrid>
                <a:gridCol w="1061840"/>
                <a:gridCol w="2559383"/>
                <a:gridCol w="1206410"/>
              </a:tblGrid>
              <a:tr h="395714">
                <a:tc>
                  <a:txBody>
                    <a:bodyPr/>
                    <a:lstStyle/>
                    <a:p>
                      <a:pPr algn="ctr">
                        <a:spcAft>
                          <a:spcPts val="0"/>
                        </a:spcAft>
                      </a:pPr>
                      <a:r>
                        <a:rPr lang="zh-CN" sz="1600" kern="0" dirty="0">
                          <a:effectLst/>
                        </a:rPr>
                        <a:t>页号</a:t>
                      </a:r>
                      <a:endParaRPr lang="zh-CN" sz="1600" kern="0" dirty="0">
                        <a:effectLst/>
                      </a:endParaRPr>
                    </a:p>
                  </a:txBody>
                  <a:tcPr marL="123825" marR="123825" marT="57150" marB="57150" anchor="ctr">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zh-CN" sz="1600" kern="0" dirty="0">
                          <a:effectLst/>
                        </a:rPr>
                        <a:t>页框（</a:t>
                      </a:r>
                      <a:r>
                        <a:rPr lang="en-US" sz="1600" kern="0" dirty="0">
                          <a:effectLst/>
                        </a:rPr>
                        <a:t>Page Frame</a:t>
                      </a:r>
                      <a:r>
                        <a:rPr lang="zh-CN" sz="1600" kern="0" dirty="0">
                          <a:effectLst/>
                        </a:rPr>
                        <a:t>）号</a:t>
                      </a:r>
                      <a:endParaRPr lang="zh-CN" sz="1600" kern="0" dirty="0">
                        <a:effectLst/>
                      </a:endParaRPr>
                    </a:p>
                  </a:txBody>
                  <a:tcPr marL="123825" marR="123825" marT="57150" marB="57150" anchor="ctr">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zh-CN" sz="1600" kern="0" dirty="0">
                          <a:effectLst/>
                        </a:rPr>
                        <a:t>有效位</a:t>
                      </a:r>
                      <a:endParaRPr lang="zh-CN" sz="1600" kern="0" dirty="0">
                        <a:effectLst/>
                      </a:endParaRPr>
                    </a:p>
                  </a:txBody>
                  <a:tcPr marL="123825" marR="123825" marT="57150" marB="57150" anchor="ctr">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6135">
                <a:tc>
                  <a:txBody>
                    <a:bodyPr/>
                    <a:lstStyle/>
                    <a:p>
                      <a:pPr algn="ctr">
                        <a:spcAft>
                          <a:spcPts val="0"/>
                        </a:spcAft>
                      </a:pPr>
                      <a:r>
                        <a:rPr lang="en-US" sz="1600" kern="0">
                          <a:effectLst/>
                        </a:rPr>
                        <a:t>0</a:t>
                      </a:r>
                      <a:endParaRPr lang="en-US" sz="1600" kern="0">
                        <a:effectLst/>
                      </a:endParaRPr>
                    </a:p>
                  </a:txBody>
                  <a:tcPr marL="123825" marR="123825" marT="57150" marB="57150" anchor="ctr">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en-US" sz="1600" kern="0">
                          <a:effectLst/>
                        </a:rPr>
                        <a:t>101H</a:t>
                      </a:r>
                      <a:endParaRPr lang="en-US" sz="1600" kern="0">
                        <a:effectLst/>
                      </a:endParaRPr>
                    </a:p>
                  </a:txBody>
                  <a:tcPr marL="123825" marR="123825" marT="57150" marB="57150" anchor="ctr">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en-US" sz="1600" kern="0" dirty="0">
                          <a:effectLst/>
                        </a:rPr>
                        <a:t>1</a:t>
                      </a:r>
                      <a:endParaRPr lang="en-US" sz="1600" kern="0" dirty="0">
                        <a:effectLst/>
                      </a:endParaRPr>
                    </a:p>
                  </a:txBody>
                  <a:tcPr marL="123825" marR="123825" marT="57150" marB="57150" anchor="ctr">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6135">
                <a:tc>
                  <a:txBody>
                    <a:bodyPr/>
                    <a:lstStyle/>
                    <a:p>
                      <a:pPr algn="ctr">
                        <a:spcAft>
                          <a:spcPts val="0"/>
                        </a:spcAft>
                      </a:pPr>
                      <a:r>
                        <a:rPr lang="en-US" sz="1600" kern="0">
                          <a:effectLst/>
                        </a:rPr>
                        <a:t>1</a:t>
                      </a:r>
                      <a:endParaRPr lang="en-US" sz="1600" kern="0">
                        <a:effectLst/>
                      </a:endParaRPr>
                    </a:p>
                  </a:txBody>
                  <a:tcPr marL="123825" marR="123825" marT="57150" marB="57150" anchor="ctr">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en-US" sz="1600" kern="100">
                          <a:effectLst/>
                        </a:rPr>
                        <a:t> </a:t>
                      </a:r>
                      <a:endParaRPr lang="en-US" sz="1600" kern="100">
                        <a:effectLst/>
                      </a:endParaRPr>
                    </a:p>
                  </a:txBody>
                  <a:tcPr marL="123825" marR="123825" marT="57150" marB="57150" anchor="ctr">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en-US" sz="1600" kern="0">
                          <a:effectLst/>
                        </a:rPr>
                        <a:t>0</a:t>
                      </a:r>
                      <a:endParaRPr lang="en-US" sz="1600" kern="0">
                        <a:effectLst/>
                      </a:endParaRPr>
                    </a:p>
                  </a:txBody>
                  <a:tcPr marL="123825" marR="123825" marT="57150" marB="57150" anchor="ctr">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26135">
                <a:tc>
                  <a:txBody>
                    <a:bodyPr/>
                    <a:lstStyle/>
                    <a:p>
                      <a:pPr algn="ctr">
                        <a:spcAft>
                          <a:spcPts val="0"/>
                        </a:spcAft>
                      </a:pPr>
                      <a:r>
                        <a:rPr lang="en-US" sz="1600" kern="0">
                          <a:effectLst/>
                        </a:rPr>
                        <a:t>2</a:t>
                      </a:r>
                      <a:endParaRPr lang="en-US" sz="1600" kern="0">
                        <a:effectLst/>
                      </a:endParaRPr>
                    </a:p>
                  </a:txBody>
                  <a:tcPr marL="123825" marR="123825" marT="57150" marB="57150" anchor="ctr">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en-US" sz="1600" kern="0">
                          <a:effectLst/>
                        </a:rPr>
                        <a:t>254H</a:t>
                      </a:r>
                      <a:endParaRPr lang="en-US" sz="1600" kern="0">
                        <a:effectLst/>
                      </a:endParaRPr>
                    </a:p>
                  </a:txBody>
                  <a:tcPr marL="123825" marR="123825" marT="57150" marB="57150" anchor="ctr">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en-US" sz="1600" kern="0" dirty="0">
                          <a:effectLst/>
                        </a:rPr>
                        <a:t>1</a:t>
                      </a:r>
                      <a:endParaRPr lang="en-US" sz="1600" kern="0" dirty="0">
                        <a:effectLst/>
                      </a:endParaRPr>
                    </a:p>
                  </a:txBody>
                  <a:tcPr marL="123825" marR="123825" marT="57150" marB="57150" anchor="ctr">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01395" y="547944"/>
            <a:ext cx="2459561" cy="523220"/>
          </a:xfrm>
          <a:prstGeom prst="rect">
            <a:avLst/>
          </a:prstGeom>
        </p:spPr>
        <p:txBody>
          <a:bodyPr wrap="square">
            <a:spAutoFit/>
          </a:bodyPr>
          <a:lstStyle/>
          <a:p>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思考题</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4" name="矩形 3"/>
          <p:cNvSpPr/>
          <p:nvPr/>
        </p:nvSpPr>
        <p:spPr>
          <a:xfrm>
            <a:off x="1412772" y="3029743"/>
            <a:ext cx="9366455" cy="2862322"/>
          </a:xfrm>
          <a:prstGeom prst="rect">
            <a:avLst/>
          </a:prstGeom>
        </p:spPr>
        <p:txBody>
          <a:bodyPr wrap="square">
            <a:spAutoFit/>
          </a:bodyPr>
          <a:lstStyle/>
          <a:p>
            <a:r>
              <a:rPr lang="zh-CN" altLang="zh-CN" b="1" kern="100" dirty="0">
                <a:solidFill>
                  <a:srgbClr val="C00000"/>
                </a:solidFill>
                <a:latin typeface="+mn-ea"/>
              </a:rPr>
              <a:t>答案：</a:t>
            </a:r>
            <a:endParaRPr lang="zh-CN" altLang="zh-CN" sz="1400" b="1" kern="100" dirty="0">
              <a:solidFill>
                <a:srgbClr val="C00000"/>
              </a:solidFill>
              <a:latin typeface="+mn-ea"/>
            </a:endParaRPr>
          </a:p>
          <a:p>
            <a:pPr algn="just"/>
            <a:r>
              <a:rPr lang="en-US" altLang="zh-CN" b="1" kern="100" dirty="0">
                <a:latin typeface="+mn-ea"/>
              </a:rPr>
              <a:t> 1</a:t>
            </a:r>
            <a:r>
              <a:rPr lang="zh-CN" altLang="zh-CN" b="1" kern="100" dirty="0">
                <a:latin typeface="+mn-ea"/>
              </a:rPr>
              <a:t>）访问虚地址</a:t>
            </a:r>
            <a:r>
              <a:rPr lang="en-US" altLang="zh-CN" b="1" kern="100" dirty="0">
                <a:latin typeface="+mn-ea"/>
                <a:cs typeface="Arial" panose="020B0604020202020204" pitchFamily="34" charset="0"/>
              </a:rPr>
              <a:t>2362H</a:t>
            </a:r>
            <a:r>
              <a:rPr lang="zh-CN" altLang="zh-CN" b="1" kern="100" dirty="0">
                <a:latin typeface="+mn-ea"/>
                <a:cs typeface="Arial" panose="020B0604020202020204" pitchFamily="34" charset="0"/>
              </a:rPr>
              <a:t>：</a:t>
            </a:r>
            <a:r>
              <a:rPr lang="en-US" altLang="zh-CN" b="1" kern="100" dirty="0">
                <a:latin typeface="+mn-ea"/>
                <a:cs typeface="Arial" panose="020B0604020202020204" pitchFamily="34" charset="0"/>
              </a:rPr>
              <a:t>0010</a:t>
            </a:r>
            <a:r>
              <a:rPr lang="zh-CN" altLang="zh-CN" b="1" kern="100" dirty="0">
                <a:latin typeface="+mn-ea"/>
                <a:cs typeface="Arial" panose="020B0604020202020204" pitchFamily="34" charset="0"/>
              </a:rPr>
              <a:t>，</a:t>
            </a:r>
            <a:r>
              <a:rPr lang="en-US" altLang="zh-CN" b="1" kern="100" dirty="0">
                <a:latin typeface="+mn-ea"/>
                <a:cs typeface="Arial" panose="020B0604020202020204" pitchFamily="34" charset="0"/>
              </a:rPr>
              <a:t>001101101100  </a:t>
            </a:r>
            <a:r>
              <a:rPr lang="zh-CN" altLang="zh-CN" b="1" kern="100" dirty="0">
                <a:latin typeface="+mn-ea"/>
                <a:cs typeface="Arial" panose="020B0604020202020204" pitchFamily="34" charset="0"/>
              </a:rPr>
              <a:t>其中低</a:t>
            </a:r>
            <a:r>
              <a:rPr lang="en-US" altLang="zh-CN" b="1" kern="100" dirty="0">
                <a:latin typeface="+mn-ea"/>
                <a:cs typeface="Arial" panose="020B0604020202020204" pitchFamily="34" charset="0"/>
              </a:rPr>
              <a:t>12</a:t>
            </a:r>
            <a:r>
              <a:rPr lang="zh-CN" altLang="zh-CN" b="1" kern="100" dirty="0">
                <a:latin typeface="+mn-ea"/>
                <a:cs typeface="Arial" panose="020B0604020202020204" pitchFamily="34" charset="0"/>
              </a:rPr>
              <a:t>为页内位移量；</a:t>
            </a:r>
            <a:r>
              <a:rPr lang="en-US" altLang="zh-CN" b="1" kern="100" dirty="0">
                <a:latin typeface="+mn-ea"/>
                <a:cs typeface="Arial" panose="020B0604020202020204" pitchFamily="34" charset="0"/>
              </a:rPr>
              <a:t>0010</a:t>
            </a:r>
            <a:r>
              <a:rPr lang="zh-CN" altLang="zh-CN" b="1" kern="100" dirty="0">
                <a:latin typeface="+mn-ea"/>
                <a:cs typeface="Arial" panose="020B0604020202020204" pitchFamily="34" charset="0"/>
              </a:rPr>
              <a:t>为虚页号，</a:t>
            </a:r>
            <a:r>
              <a:rPr lang="en-US" altLang="zh-CN" b="1" kern="100" dirty="0">
                <a:latin typeface="+mn-ea"/>
                <a:cs typeface="Arial" panose="020B0604020202020204" pitchFamily="34" charset="0"/>
              </a:rPr>
              <a:t>2</a:t>
            </a:r>
            <a:r>
              <a:rPr lang="zh-CN" altLang="zh-CN" b="1" kern="100" dirty="0">
                <a:latin typeface="+mn-ea"/>
                <a:cs typeface="Arial" panose="020B0604020202020204" pitchFamily="34" charset="0"/>
              </a:rPr>
              <a:t>号虚页在内存中，访问时间为：</a:t>
            </a:r>
            <a:r>
              <a:rPr lang="en-US" altLang="zh-CN" b="1" kern="100" dirty="0">
                <a:latin typeface="+mn-ea"/>
                <a:cs typeface="Arial" panose="020B0604020202020204" pitchFamily="34" charset="0"/>
              </a:rPr>
              <a:t>2*100+10=210ns</a:t>
            </a:r>
            <a:endParaRPr lang="zh-CN" altLang="zh-CN" sz="1400" b="1" kern="100" dirty="0">
              <a:latin typeface="+mn-ea"/>
            </a:endParaRPr>
          </a:p>
          <a:p>
            <a:pPr algn="just"/>
            <a:r>
              <a:rPr lang="en-US" altLang="zh-CN" b="1" kern="100" dirty="0">
                <a:latin typeface="+mn-ea"/>
              </a:rPr>
              <a:t>       </a:t>
            </a:r>
            <a:r>
              <a:rPr lang="zh-CN" altLang="zh-CN" b="1" kern="100" dirty="0">
                <a:latin typeface="+mn-ea"/>
              </a:rPr>
              <a:t>访问虚地址：</a:t>
            </a:r>
            <a:r>
              <a:rPr lang="en-US" altLang="zh-CN" b="1" kern="100" dirty="0">
                <a:latin typeface="+mn-ea"/>
                <a:cs typeface="Arial" panose="020B0604020202020204" pitchFamily="34" charset="0"/>
              </a:rPr>
              <a:t>1565H</a:t>
            </a:r>
            <a:r>
              <a:rPr lang="zh-CN" altLang="zh-CN" b="1" kern="100" dirty="0">
                <a:latin typeface="+mn-ea"/>
                <a:cs typeface="Arial" panose="020B0604020202020204" pitchFamily="34" charset="0"/>
              </a:rPr>
              <a:t>：虚页号为</a:t>
            </a:r>
            <a:r>
              <a:rPr lang="en-US" altLang="zh-CN" b="1" kern="100" dirty="0">
                <a:latin typeface="+mn-ea"/>
                <a:cs typeface="Arial" panose="020B0604020202020204" pitchFamily="34" charset="0"/>
              </a:rPr>
              <a:t>1</a:t>
            </a:r>
            <a:r>
              <a:rPr lang="zh-CN" altLang="zh-CN" b="1" kern="100" dirty="0">
                <a:latin typeface="+mn-ea"/>
                <a:cs typeface="Arial" panose="020B0604020202020204" pitchFamily="34" charset="0"/>
              </a:rPr>
              <a:t>，该页不在内存，需要发生缺页中断，故访问时间为： </a:t>
            </a:r>
            <a:r>
              <a:rPr lang="en-US" altLang="zh-CN" b="1" kern="100" dirty="0">
                <a:latin typeface="+mn-ea"/>
                <a:cs typeface="Arial" panose="020B0604020202020204" pitchFamily="34" charset="0"/>
              </a:rPr>
              <a:t>     </a:t>
            </a:r>
            <a:endParaRPr lang="en-US" altLang="zh-CN" b="1" kern="100" dirty="0">
              <a:latin typeface="+mn-ea"/>
              <a:cs typeface="Arial" panose="020B0604020202020204" pitchFamily="34" charset="0"/>
            </a:endParaRPr>
          </a:p>
          <a:p>
            <a:pPr algn="just"/>
            <a:r>
              <a:rPr lang="en-US" altLang="zh-CN" b="1" kern="100" dirty="0">
                <a:latin typeface="+mn-ea"/>
                <a:cs typeface="Arial" panose="020B0604020202020204" pitchFamily="34" charset="0"/>
              </a:rPr>
              <a:t>       200+10+800=1010ns</a:t>
            </a:r>
            <a:endParaRPr lang="zh-CN" altLang="zh-CN" sz="1400" b="1" kern="100" dirty="0">
              <a:latin typeface="+mn-ea"/>
            </a:endParaRPr>
          </a:p>
          <a:p>
            <a:pPr algn="just"/>
            <a:r>
              <a:rPr lang="en-US" altLang="zh-CN" b="1" kern="100" dirty="0">
                <a:latin typeface="+mn-ea"/>
              </a:rPr>
              <a:t>       </a:t>
            </a:r>
            <a:r>
              <a:rPr lang="zh-CN" altLang="zh-CN" b="1" kern="100" dirty="0">
                <a:latin typeface="+mn-ea"/>
              </a:rPr>
              <a:t>访问虚地址：</a:t>
            </a:r>
            <a:r>
              <a:rPr lang="en-US" altLang="zh-CN" b="1" kern="100" dirty="0">
                <a:latin typeface="+mn-ea"/>
                <a:cs typeface="Arial" panose="020B0604020202020204" pitchFamily="34" charset="0"/>
              </a:rPr>
              <a:t>25A5H:</a:t>
            </a:r>
            <a:r>
              <a:rPr lang="zh-CN" altLang="zh-CN" b="1" kern="100" dirty="0">
                <a:latin typeface="+mn-ea"/>
                <a:cs typeface="Arial" panose="020B0604020202020204" pitchFamily="34" charset="0"/>
              </a:rPr>
              <a:t>虚页号为</a:t>
            </a:r>
            <a:r>
              <a:rPr lang="en-US" altLang="zh-CN" b="1" kern="100" dirty="0">
                <a:latin typeface="+mn-ea"/>
                <a:cs typeface="Arial" panose="020B0604020202020204" pitchFamily="34" charset="0"/>
              </a:rPr>
              <a:t>2</a:t>
            </a:r>
            <a:r>
              <a:rPr lang="zh-CN" altLang="zh-CN" b="1" kern="100" dirty="0">
                <a:latin typeface="+mn-ea"/>
                <a:cs typeface="Arial" panose="020B0604020202020204" pitchFamily="34" charset="0"/>
              </a:rPr>
              <a:t>，该页在内存，而且快表更新，故访问时间为：</a:t>
            </a:r>
            <a:endParaRPr lang="zh-CN" altLang="zh-CN" sz="1400" b="1" kern="100" dirty="0">
              <a:latin typeface="+mn-ea"/>
            </a:endParaRPr>
          </a:p>
          <a:p>
            <a:pPr algn="just"/>
            <a:r>
              <a:rPr lang="en-US" altLang="zh-CN" b="1" kern="100" dirty="0">
                <a:latin typeface="+mn-ea"/>
                <a:cs typeface="Arial" panose="020B0604020202020204" pitchFamily="34" charset="0"/>
              </a:rPr>
              <a:t>       100+10=110ns</a:t>
            </a:r>
            <a:endParaRPr lang="zh-CN" altLang="zh-CN" sz="1400" b="1" kern="100" dirty="0">
              <a:latin typeface="+mn-ea"/>
            </a:endParaRPr>
          </a:p>
          <a:p>
            <a:pPr algn="just"/>
            <a:r>
              <a:rPr lang="en-US" altLang="zh-CN" b="1" kern="100" dirty="0">
                <a:latin typeface="+mn-ea"/>
                <a:cs typeface="Arial" panose="020B0604020202020204" pitchFamily="34" charset="0"/>
              </a:rPr>
              <a:t> 2</a:t>
            </a:r>
            <a:r>
              <a:rPr lang="zh-CN" altLang="zh-CN" b="1" kern="100" dirty="0">
                <a:latin typeface="+mn-ea"/>
                <a:cs typeface="Arial" panose="020B0604020202020204" pitchFamily="34" charset="0"/>
              </a:rPr>
              <a:t>）虚地址</a:t>
            </a:r>
            <a:r>
              <a:rPr lang="en-US" altLang="zh-CN" b="1" kern="100" dirty="0">
                <a:latin typeface="+mn-ea"/>
                <a:cs typeface="Arial" panose="020B0604020202020204" pitchFamily="34" charset="0"/>
              </a:rPr>
              <a:t>1565H</a:t>
            </a:r>
            <a:r>
              <a:rPr lang="zh-CN" altLang="zh-CN" b="1" kern="100" dirty="0">
                <a:latin typeface="+mn-ea"/>
                <a:cs typeface="Arial" panose="020B0604020202020204" pitchFamily="34" charset="0"/>
              </a:rPr>
              <a:t>：虚页号为</a:t>
            </a:r>
            <a:r>
              <a:rPr lang="en-US" altLang="zh-CN" b="1" kern="100" dirty="0">
                <a:latin typeface="+mn-ea"/>
                <a:cs typeface="Arial" panose="020B0604020202020204" pitchFamily="34" charset="0"/>
              </a:rPr>
              <a:t>1</a:t>
            </a:r>
            <a:r>
              <a:rPr lang="zh-CN" altLang="zh-CN" b="1" kern="100" dirty="0">
                <a:latin typeface="+mn-ea"/>
                <a:cs typeface="Arial" panose="020B0604020202020204" pitchFamily="34" charset="0"/>
              </a:rPr>
              <a:t>，页内位移量为</a:t>
            </a:r>
            <a:r>
              <a:rPr lang="en-US" altLang="zh-CN" b="1" kern="100" dirty="0">
                <a:latin typeface="+mn-ea"/>
                <a:cs typeface="Arial" panose="020B0604020202020204" pitchFamily="34" charset="0"/>
              </a:rPr>
              <a:t>565H</a:t>
            </a:r>
            <a:endParaRPr lang="zh-CN" altLang="zh-CN" sz="1400" b="1" kern="100" dirty="0">
              <a:latin typeface="+mn-ea"/>
            </a:endParaRPr>
          </a:p>
          <a:p>
            <a:pPr algn="just"/>
            <a:r>
              <a:rPr lang="en-US" altLang="zh-CN" b="1" kern="100" dirty="0">
                <a:latin typeface="+mn-ea"/>
                <a:cs typeface="Arial" panose="020B0604020202020204" pitchFamily="34" charset="0"/>
              </a:rPr>
              <a:t>       </a:t>
            </a:r>
            <a:r>
              <a:rPr lang="zh-CN" altLang="zh-CN" b="1" kern="100" dirty="0">
                <a:latin typeface="+mn-ea"/>
                <a:cs typeface="Arial" panose="020B0604020202020204" pitchFamily="34" charset="0"/>
              </a:rPr>
              <a:t>目前</a:t>
            </a:r>
            <a:r>
              <a:rPr lang="en-US" altLang="zh-CN" b="1" kern="100" dirty="0">
                <a:latin typeface="+mn-ea"/>
                <a:cs typeface="Arial" panose="020B0604020202020204" pitchFamily="34" charset="0"/>
              </a:rPr>
              <a:t>1</a:t>
            </a:r>
            <a:r>
              <a:rPr lang="zh-CN" altLang="zh-CN" b="1" kern="100" dirty="0">
                <a:latin typeface="+mn-ea"/>
                <a:cs typeface="Arial" panose="020B0604020202020204" pitchFamily="34" charset="0"/>
              </a:rPr>
              <a:t>号虚页不在内存，需要进行页面置换，采用</a:t>
            </a:r>
            <a:r>
              <a:rPr lang="en-US" altLang="zh-CN" b="1" kern="100" dirty="0">
                <a:latin typeface="+mn-ea"/>
                <a:cs typeface="Arial" panose="020B0604020202020204" pitchFamily="34" charset="0"/>
              </a:rPr>
              <a:t>LRU</a:t>
            </a:r>
            <a:r>
              <a:rPr lang="zh-CN" altLang="zh-CN" b="1" kern="100" dirty="0">
                <a:latin typeface="+mn-ea"/>
                <a:cs typeface="Arial" panose="020B0604020202020204" pitchFamily="34" charset="0"/>
              </a:rPr>
              <a:t>置换策略，</a:t>
            </a:r>
            <a:r>
              <a:rPr lang="en-US" altLang="zh-CN" b="1" kern="100" dirty="0">
                <a:latin typeface="+mn-ea"/>
                <a:cs typeface="Arial" panose="020B0604020202020204" pitchFamily="34" charset="0"/>
              </a:rPr>
              <a:t> </a:t>
            </a:r>
            <a:r>
              <a:rPr lang="zh-CN" altLang="zh-CN" b="1" kern="100" dirty="0">
                <a:latin typeface="+mn-ea"/>
                <a:cs typeface="Arial" panose="020B0604020202020204" pitchFamily="34" charset="0"/>
              </a:rPr>
              <a:t>选择</a:t>
            </a:r>
            <a:r>
              <a:rPr lang="en-US" altLang="zh-CN" b="1" kern="100" dirty="0">
                <a:latin typeface="+mn-ea"/>
                <a:cs typeface="Arial" panose="020B0604020202020204" pitchFamily="34" charset="0"/>
              </a:rPr>
              <a:t>0</a:t>
            </a:r>
            <a:r>
              <a:rPr lang="zh-CN" altLang="zh-CN" b="1" kern="100" dirty="0">
                <a:latin typeface="+mn-ea"/>
                <a:cs typeface="Arial" panose="020B0604020202020204" pitchFamily="34" charset="0"/>
              </a:rPr>
              <a:t>号虚页置换，于是虚地址</a:t>
            </a:r>
            <a:r>
              <a:rPr lang="en-US" altLang="zh-CN" b="1" kern="100" dirty="0">
                <a:latin typeface="+mn-ea"/>
                <a:cs typeface="Arial" panose="020B0604020202020204" pitchFamily="34" charset="0"/>
              </a:rPr>
              <a:t>1565H</a:t>
            </a:r>
            <a:r>
              <a:rPr lang="zh-CN" altLang="zh-CN" b="1" kern="100" dirty="0">
                <a:latin typeface="+mn-ea"/>
                <a:cs typeface="Arial" panose="020B0604020202020204" pitchFamily="34" charset="0"/>
              </a:rPr>
              <a:t>的物理地址为：</a:t>
            </a:r>
            <a:r>
              <a:rPr lang="en-US" altLang="zh-CN" b="1" kern="100" dirty="0">
                <a:latin typeface="+mn-ea"/>
                <a:cs typeface="Arial" panose="020B0604020202020204" pitchFamily="34" charset="0"/>
              </a:rPr>
              <a:t>101565H</a:t>
            </a:r>
            <a:endParaRPr lang="zh-CN" altLang="zh-CN" sz="1400" b="1" kern="100" dirty="0">
              <a:latin typeface="+mn-ea"/>
            </a:endParaRPr>
          </a:p>
        </p:txBody>
      </p:sp>
      <p:graphicFrame>
        <p:nvGraphicFramePr>
          <p:cNvPr id="5" name="表格 4"/>
          <p:cNvGraphicFramePr>
            <a:graphicFrameLocks noGrp="1"/>
          </p:cNvGraphicFramePr>
          <p:nvPr/>
        </p:nvGraphicFramePr>
        <p:xfrm>
          <a:off x="3460956" y="1325782"/>
          <a:ext cx="5463684" cy="1408800"/>
        </p:xfrm>
        <a:graphic>
          <a:graphicData uri="http://schemas.openxmlformats.org/drawingml/2006/table">
            <a:tbl>
              <a:tblPr firstRow="1" firstCol="1" bandRow="1">
                <a:tableStyleId>{FABFCF23-3B69-468F-B69F-88F6DE6A72F2}</a:tableStyleId>
              </a:tblPr>
              <a:tblGrid>
                <a:gridCol w="1201740"/>
                <a:gridCol w="2896587"/>
                <a:gridCol w="1365357"/>
              </a:tblGrid>
              <a:tr h="352200">
                <a:tc>
                  <a:txBody>
                    <a:bodyPr/>
                    <a:lstStyle/>
                    <a:p>
                      <a:pPr algn="ctr">
                        <a:spcAft>
                          <a:spcPts val="0"/>
                        </a:spcAft>
                      </a:pPr>
                      <a:r>
                        <a:rPr lang="zh-CN" sz="1400" kern="0" dirty="0">
                          <a:effectLst/>
                        </a:rPr>
                        <a:t>页号</a:t>
                      </a:r>
                      <a:endParaRPr lang="zh-CN" sz="1400" kern="0" dirty="0">
                        <a:effectLst/>
                      </a:endParaRPr>
                    </a:p>
                  </a:txBody>
                  <a:tcPr marL="123825" marR="123825" marT="57150" marB="57150" anchor="ctr">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zh-CN" sz="1400" kern="0" dirty="0">
                          <a:effectLst/>
                        </a:rPr>
                        <a:t>页框（</a:t>
                      </a:r>
                      <a:r>
                        <a:rPr lang="en-US" sz="1400" kern="0" dirty="0">
                          <a:effectLst/>
                        </a:rPr>
                        <a:t>Page Frame</a:t>
                      </a:r>
                      <a:r>
                        <a:rPr lang="zh-CN" sz="1400" kern="0" dirty="0">
                          <a:effectLst/>
                        </a:rPr>
                        <a:t>）号</a:t>
                      </a:r>
                      <a:endParaRPr lang="zh-CN" sz="1400" kern="0" dirty="0">
                        <a:effectLst/>
                      </a:endParaRPr>
                    </a:p>
                  </a:txBody>
                  <a:tcPr marL="123825" marR="123825" marT="57150" marB="57150" anchor="ctr">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zh-CN" sz="1400" kern="0" dirty="0">
                          <a:effectLst/>
                        </a:rPr>
                        <a:t>有效位</a:t>
                      </a:r>
                      <a:endParaRPr lang="zh-CN" sz="1400" kern="0" dirty="0">
                        <a:effectLst/>
                      </a:endParaRPr>
                    </a:p>
                  </a:txBody>
                  <a:tcPr marL="123825" marR="123825" marT="57150" marB="57150" anchor="ctr">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52200">
                <a:tc>
                  <a:txBody>
                    <a:bodyPr/>
                    <a:lstStyle/>
                    <a:p>
                      <a:pPr algn="ctr">
                        <a:spcAft>
                          <a:spcPts val="0"/>
                        </a:spcAft>
                      </a:pPr>
                      <a:r>
                        <a:rPr lang="en-US" sz="1400" kern="0">
                          <a:effectLst/>
                        </a:rPr>
                        <a:t>0</a:t>
                      </a:r>
                      <a:endParaRPr lang="en-US" sz="1400" kern="0">
                        <a:effectLst/>
                      </a:endParaRPr>
                    </a:p>
                  </a:txBody>
                  <a:tcPr marL="123825" marR="123825" marT="57150" marB="57150" anchor="ctr">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en-US" sz="1400" kern="0" dirty="0">
                          <a:effectLst/>
                        </a:rPr>
                        <a:t>101H</a:t>
                      </a:r>
                      <a:endParaRPr lang="en-US" sz="1400" kern="0" dirty="0">
                        <a:effectLst/>
                      </a:endParaRPr>
                    </a:p>
                  </a:txBody>
                  <a:tcPr marL="123825" marR="123825" marT="57150" marB="57150" anchor="ctr">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en-US" sz="1400" kern="0">
                          <a:effectLst/>
                        </a:rPr>
                        <a:t>1</a:t>
                      </a:r>
                      <a:endParaRPr lang="en-US" sz="1400" kern="0">
                        <a:effectLst/>
                      </a:endParaRPr>
                    </a:p>
                  </a:txBody>
                  <a:tcPr marL="123825" marR="123825" marT="57150" marB="57150" anchor="ctr">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52200">
                <a:tc>
                  <a:txBody>
                    <a:bodyPr/>
                    <a:lstStyle/>
                    <a:p>
                      <a:pPr algn="ctr">
                        <a:spcAft>
                          <a:spcPts val="0"/>
                        </a:spcAft>
                      </a:pPr>
                      <a:r>
                        <a:rPr lang="en-US" sz="1400" kern="0">
                          <a:effectLst/>
                        </a:rPr>
                        <a:t>1</a:t>
                      </a:r>
                      <a:endParaRPr lang="en-US" sz="1400" kern="0">
                        <a:effectLst/>
                      </a:endParaRPr>
                    </a:p>
                  </a:txBody>
                  <a:tcPr marL="123825" marR="123825" marT="57150" marB="57150" anchor="ctr">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en-US" sz="1400" kern="100">
                          <a:effectLst/>
                        </a:rPr>
                        <a:t> </a:t>
                      </a:r>
                      <a:endParaRPr lang="en-US" sz="1400" kern="100">
                        <a:effectLst/>
                      </a:endParaRPr>
                    </a:p>
                  </a:txBody>
                  <a:tcPr marL="123825" marR="123825" marT="57150" marB="57150" anchor="ctr">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en-US" sz="1400" kern="0">
                          <a:effectLst/>
                        </a:rPr>
                        <a:t>0</a:t>
                      </a:r>
                      <a:endParaRPr lang="en-US" sz="1400" kern="0">
                        <a:effectLst/>
                      </a:endParaRPr>
                    </a:p>
                  </a:txBody>
                  <a:tcPr marL="123825" marR="123825" marT="57150" marB="57150" anchor="ctr">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52200">
                <a:tc>
                  <a:txBody>
                    <a:bodyPr/>
                    <a:lstStyle/>
                    <a:p>
                      <a:pPr algn="ctr">
                        <a:spcAft>
                          <a:spcPts val="0"/>
                        </a:spcAft>
                      </a:pPr>
                      <a:r>
                        <a:rPr lang="en-US" sz="1400" kern="0">
                          <a:effectLst/>
                        </a:rPr>
                        <a:t>2</a:t>
                      </a:r>
                      <a:endParaRPr lang="en-US" sz="1400" kern="0">
                        <a:effectLst/>
                      </a:endParaRPr>
                    </a:p>
                  </a:txBody>
                  <a:tcPr marL="123825" marR="123825" marT="57150" marB="57150" anchor="ctr">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en-US" sz="1400" kern="0">
                          <a:effectLst/>
                        </a:rPr>
                        <a:t>254H</a:t>
                      </a:r>
                      <a:endParaRPr lang="en-US" sz="1400" kern="0">
                        <a:effectLst/>
                      </a:endParaRPr>
                    </a:p>
                  </a:txBody>
                  <a:tcPr marL="123825" marR="123825" marT="57150" marB="57150" anchor="ctr">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spcAft>
                          <a:spcPts val="0"/>
                        </a:spcAft>
                      </a:pPr>
                      <a:r>
                        <a:rPr lang="en-US" sz="1400" kern="0" dirty="0">
                          <a:effectLst/>
                        </a:rPr>
                        <a:t>1</a:t>
                      </a:r>
                      <a:endParaRPr lang="en-US" sz="1400" kern="0" dirty="0">
                        <a:effectLst/>
                      </a:endParaRPr>
                    </a:p>
                  </a:txBody>
                  <a:tcPr marL="123825" marR="123825" marT="57150" marB="57150" anchor="ctr">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132205" y="548005"/>
            <a:ext cx="4393565" cy="521970"/>
          </a:xfrm>
          <a:prstGeom prst="rect">
            <a:avLst/>
          </a:prstGeom>
        </p:spPr>
        <p:txBody>
          <a:bodyPr wrap="square">
            <a:spAutoFit/>
          </a:bodyPr>
          <a:lstStyle/>
          <a:p>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文件内存映射（</a:t>
            </a:r>
            <a:r>
              <a:rPr lang="zh-CN" altLang="en-US" sz="2800" b="0" dirty="0">
                <a:solidFill>
                  <a:srgbClr val="7C0000"/>
                </a:solidFill>
                <a:latin typeface="方正大黑简体" panose="02000000000000000000" charset="-122"/>
                <a:ea typeface="方正大黑简体" panose="02000000000000000000" charset="-122"/>
                <a:cs typeface="方正大黑简体" panose="02000000000000000000" charset="-122"/>
              </a:rPr>
              <a:t>补充</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
        <p:nvSpPr>
          <p:cNvPr id="14" name="圆角矩形 13"/>
          <p:cNvSpPr/>
          <p:nvPr/>
        </p:nvSpPr>
        <p:spPr>
          <a:xfrm>
            <a:off x="0" y="1139825"/>
            <a:ext cx="12191365" cy="5718175"/>
          </a:xfrm>
          <a:prstGeom prst="roundRect">
            <a:avLst/>
          </a:prstGeom>
          <a:solidFill>
            <a:srgbClr val="00479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298450" y="4144645"/>
            <a:ext cx="5097145" cy="2552700"/>
          </a:xfrm>
          <a:prstGeom prst="rect">
            <a:avLst/>
          </a:prstGeom>
        </p:spPr>
        <p:txBody>
          <a:bodyPr>
            <a:noAutofit/>
          </a:bodyPr>
          <a:lstStyle/>
          <a:p>
            <a:pPr indent="0">
              <a:lnSpc>
                <a:spcPct val="150000"/>
              </a:lnSpc>
              <a:buFont typeface="Wingdings" panose="05000000000000000000" charset="0"/>
              <a:buNone/>
            </a:pPr>
            <a:r>
              <a:rPr lang="zh-CN" altLang="en-US" b="0" i="0">
                <a:solidFill>
                  <a:schemeClr val="bg1"/>
                </a:solidFill>
                <a:latin typeface="黑体" panose="02010609060101010101" charset="-122"/>
                <a:ea typeface="黑体" panose="02010609060101010101" charset="-122"/>
                <a:cs typeface="黑体" panose="02010609060101010101" charset="-122"/>
              </a:rPr>
              <a:t>核心问题： </a:t>
            </a:r>
            <a:endParaRPr lang="zh-CN" altLang="en-US" b="0" i="0">
              <a:solidFill>
                <a:schemeClr val="bg1"/>
              </a:solidFill>
              <a:latin typeface="黑体" panose="02010609060101010101" charset="-122"/>
              <a:ea typeface="黑体" panose="02010609060101010101" charset="-122"/>
              <a:cs typeface="黑体" panose="02010609060101010101" charset="-122"/>
            </a:endParaRPr>
          </a:p>
          <a:p>
            <a:pPr marL="342900" indent="-342900">
              <a:lnSpc>
                <a:spcPct val="150000"/>
              </a:lnSpc>
              <a:buFont typeface="Wingdings" panose="05000000000000000000" charset="0"/>
              <a:buChar char="p"/>
            </a:pPr>
            <a:r>
              <a:rPr lang="zh-CN" altLang="en-US" b="0" i="0">
                <a:solidFill>
                  <a:schemeClr val="bg1"/>
                </a:solidFill>
                <a:latin typeface="黑体" panose="02010609060101010101" charset="-122"/>
                <a:ea typeface="黑体" panose="02010609060101010101" charset="-122"/>
                <a:cs typeface="黑体" panose="02010609060101010101" charset="-122"/>
              </a:rPr>
              <a:t>数据拷贝开销： 数据需要从内核空间拷贝到用户空间，反之亦然，消耗</a:t>
            </a:r>
            <a:r>
              <a:rPr lang="en-US" altLang="zh-CN" b="0" i="0">
                <a:solidFill>
                  <a:schemeClr val="bg1"/>
                </a:solidFill>
                <a:latin typeface="黑体" panose="02010609060101010101" charset="-122"/>
                <a:ea typeface="黑体" panose="02010609060101010101" charset="-122"/>
                <a:cs typeface="黑体" panose="02010609060101010101" charset="-122"/>
              </a:rPr>
              <a:t>CPU</a:t>
            </a:r>
            <a:r>
              <a:rPr lang="zh-CN" altLang="en-US" b="0" i="0">
                <a:solidFill>
                  <a:schemeClr val="bg1"/>
                </a:solidFill>
                <a:latin typeface="黑体" panose="02010609060101010101" charset="-122"/>
                <a:ea typeface="黑体" panose="02010609060101010101" charset="-122"/>
                <a:cs typeface="黑体" panose="02010609060101010101" charset="-122"/>
              </a:rPr>
              <a:t>周期。 </a:t>
            </a:r>
            <a:endParaRPr lang="zh-CN" altLang="en-US" b="0" i="0">
              <a:solidFill>
                <a:schemeClr val="bg1"/>
              </a:solidFill>
              <a:latin typeface="黑体" panose="02010609060101010101" charset="-122"/>
              <a:ea typeface="黑体" panose="02010609060101010101" charset="-122"/>
              <a:cs typeface="黑体" panose="02010609060101010101" charset="-122"/>
            </a:endParaRPr>
          </a:p>
          <a:p>
            <a:pPr marL="342900" indent="-342900">
              <a:lnSpc>
                <a:spcPct val="150000"/>
              </a:lnSpc>
              <a:buFont typeface="Wingdings" panose="05000000000000000000" charset="0"/>
              <a:buChar char="p"/>
            </a:pPr>
            <a:r>
              <a:rPr lang="zh-CN" altLang="en-US" b="0" i="0">
                <a:solidFill>
                  <a:schemeClr val="bg1"/>
                </a:solidFill>
                <a:latin typeface="黑体" panose="02010609060101010101" charset="-122"/>
                <a:ea typeface="黑体" panose="02010609060101010101" charset="-122"/>
                <a:cs typeface="黑体" panose="02010609060101010101" charset="-122"/>
              </a:rPr>
              <a:t>系统调用开销： 频繁的 </a:t>
            </a:r>
            <a:r>
              <a:rPr lang="en-US" altLang="zh-CN" b="0" i="0">
                <a:solidFill>
                  <a:schemeClr val="bg1"/>
                </a:solidFill>
                <a:latin typeface="黑体" panose="02010609060101010101" charset="-122"/>
                <a:ea typeface="黑体" panose="02010609060101010101" charset="-122"/>
                <a:cs typeface="黑体" panose="02010609060101010101" charset="-122"/>
              </a:rPr>
              <a:t>read/write </a:t>
            </a:r>
            <a:r>
              <a:rPr lang="zh-CN" altLang="en-US" b="0" i="0">
                <a:solidFill>
                  <a:schemeClr val="bg1"/>
                </a:solidFill>
                <a:latin typeface="黑体" panose="02010609060101010101" charset="-122"/>
                <a:ea typeface="黑体" panose="02010609060101010101" charset="-122"/>
                <a:cs typeface="黑体" panose="02010609060101010101" charset="-122"/>
              </a:rPr>
              <a:t>调用导致大量的用户态</a:t>
            </a:r>
            <a:r>
              <a:rPr lang="en-US" altLang="zh-CN" b="0" i="0">
                <a:solidFill>
                  <a:schemeClr val="bg1"/>
                </a:solidFill>
                <a:latin typeface="黑体" panose="02010609060101010101" charset="-122"/>
                <a:ea typeface="黑体" panose="02010609060101010101" charset="-122"/>
                <a:cs typeface="黑体" panose="02010609060101010101" charset="-122"/>
              </a:rPr>
              <a:t>/</a:t>
            </a:r>
            <a:r>
              <a:rPr lang="zh-CN" altLang="en-US" b="0" i="0">
                <a:solidFill>
                  <a:schemeClr val="bg1"/>
                </a:solidFill>
                <a:latin typeface="黑体" panose="02010609060101010101" charset="-122"/>
                <a:ea typeface="黑体" panose="02010609060101010101" charset="-122"/>
                <a:cs typeface="黑体" panose="02010609060101010101" charset="-122"/>
              </a:rPr>
              <a:t>内核态切换。 </a:t>
            </a:r>
            <a:r>
              <a:rPr lang="en-US" altLang="zh-CN" b="0" i="0">
                <a:solidFill>
                  <a:schemeClr val="bg1"/>
                </a:solidFill>
                <a:latin typeface="黑体" panose="02010609060101010101" charset="-122"/>
                <a:ea typeface="黑体" panose="02010609060101010101" charset="-122"/>
                <a:cs typeface="黑体" panose="02010609060101010101" charset="-122"/>
              </a:rPr>
              <a:t> </a:t>
            </a:r>
            <a:endParaRPr lang="en-US" altLang="zh-CN" b="0" i="0">
              <a:solidFill>
                <a:schemeClr val="bg1"/>
              </a:solidFill>
              <a:latin typeface="黑体" panose="02010609060101010101" charset="-122"/>
              <a:ea typeface="黑体" panose="02010609060101010101" charset="-122"/>
              <a:cs typeface="黑体" panose="02010609060101010101" charset="-122"/>
            </a:endParaRPr>
          </a:p>
        </p:txBody>
      </p:sp>
      <p:grpSp>
        <p:nvGrpSpPr>
          <p:cNvPr id="49" name="组合 48"/>
          <p:cNvGrpSpPr/>
          <p:nvPr/>
        </p:nvGrpSpPr>
        <p:grpSpPr>
          <a:xfrm>
            <a:off x="5525770" y="1776730"/>
            <a:ext cx="6515100" cy="4250690"/>
            <a:chOff x="6273" y="1879"/>
            <a:chExt cx="10260" cy="6694"/>
          </a:xfrm>
        </p:grpSpPr>
        <p:grpSp>
          <p:nvGrpSpPr>
            <p:cNvPr id="17" name="组合 16"/>
            <p:cNvGrpSpPr/>
            <p:nvPr/>
          </p:nvGrpSpPr>
          <p:grpSpPr>
            <a:xfrm>
              <a:off x="6273" y="1879"/>
              <a:ext cx="2769" cy="6694"/>
              <a:chOff x="12922" y="1650"/>
              <a:chExt cx="2769" cy="6694"/>
            </a:xfrm>
          </p:grpSpPr>
          <p:sp>
            <p:nvSpPr>
              <p:cNvPr id="18" name="文本框 17"/>
              <p:cNvSpPr txBox="1"/>
              <p:nvPr/>
            </p:nvSpPr>
            <p:spPr>
              <a:xfrm>
                <a:off x="13411" y="1650"/>
                <a:ext cx="228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进程的虚地址空间</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nvGrpSpPr>
              <p:cNvPr id="19" name="组合 18"/>
              <p:cNvGrpSpPr/>
              <p:nvPr/>
            </p:nvGrpSpPr>
            <p:grpSpPr>
              <a:xfrm>
                <a:off x="14016" y="2286"/>
                <a:ext cx="1344" cy="6059"/>
                <a:chOff x="14016" y="2286"/>
                <a:chExt cx="1344" cy="6059"/>
              </a:xfrm>
            </p:grpSpPr>
            <p:sp>
              <p:nvSpPr>
                <p:cNvPr id="20" name="矩形 19"/>
                <p:cNvSpPr/>
                <p:nvPr/>
              </p:nvSpPr>
              <p:spPr>
                <a:xfrm>
                  <a:off x="14016" y="2286"/>
                  <a:ext cx="1344" cy="1699"/>
                </a:xfrm>
                <a:prstGeom prst="rect">
                  <a:avLst/>
                </a:prstGeom>
                <a:solidFill>
                  <a:schemeClr val="accent6">
                    <a:lumMod val="75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t>内核空间</a:t>
                  </a:r>
                  <a:endParaRPr lang="zh-CN" altLang="en-US" sz="1200" b="1"/>
                </a:p>
              </p:txBody>
            </p:sp>
            <p:sp>
              <p:nvSpPr>
                <p:cNvPr id="21" name="矩形 20"/>
                <p:cNvSpPr/>
                <p:nvPr/>
              </p:nvSpPr>
              <p:spPr>
                <a:xfrm>
                  <a:off x="14016" y="3985"/>
                  <a:ext cx="1344" cy="541"/>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栈</a:t>
                  </a:r>
                  <a:r>
                    <a:rPr lang="en-US" altLang="zh-CN" sz="1200" b="1">
                      <a:solidFill>
                        <a:schemeClr val="tx1"/>
                      </a:solidFill>
                    </a:rPr>
                    <a:t> </a:t>
                  </a:r>
                  <a:endParaRPr lang="en-US" altLang="zh-CN" sz="1200" b="1">
                    <a:solidFill>
                      <a:schemeClr val="tx1"/>
                    </a:solidFill>
                  </a:endParaRPr>
                </a:p>
              </p:txBody>
            </p:sp>
            <p:sp>
              <p:nvSpPr>
                <p:cNvPr id="22" name="矩形 21"/>
                <p:cNvSpPr/>
                <p:nvPr/>
              </p:nvSpPr>
              <p:spPr>
                <a:xfrm>
                  <a:off x="14016" y="4526"/>
                  <a:ext cx="1344" cy="1128"/>
                </a:xfrm>
                <a:prstGeom prst="rect">
                  <a:avLst/>
                </a:prstGeom>
                <a:solidFill>
                  <a:schemeClr val="bg1">
                    <a:lumMod val="95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dirty="0">
                      <a:solidFill>
                        <a:schemeClr val="tx1"/>
                      </a:solidFill>
                    </a:rPr>
                    <a:t> </a:t>
                  </a:r>
                  <a:endParaRPr lang="en-US" altLang="zh-CN" sz="1200" b="1" dirty="0">
                    <a:solidFill>
                      <a:schemeClr val="tx1"/>
                    </a:solidFill>
                  </a:endParaRPr>
                </a:p>
              </p:txBody>
            </p:sp>
            <p:sp>
              <p:nvSpPr>
                <p:cNvPr id="23" name="矩形 22"/>
                <p:cNvSpPr/>
                <p:nvPr/>
              </p:nvSpPr>
              <p:spPr>
                <a:xfrm>
                  <a:off x="14016" y="5654"/>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堆</a:t>
                  </a:r>
                  <a:r>
                    <a:rPr lang="en-US" altLang="zh-CN" sz="1200" b="1">
                      <a:solidFill>
                        <a:schemeClr val="tx1"/>
                      </a:solidFill>
                    </a:rPr>
                    <a:t> </a:t>
                  </a:r>
                  <a:endParaRPr lang="en-US" altLang="zh-CN" sz="1200" b="1">
                    <a:solidFill>
                      <a:schemeClr val="tx1"/>
                    </a:solidFill>
                  </a:endParaRPr>
                </a:p>
              </p:txBody>
            </p:sp>
            <p:sp>
              <p:nvSpPr>
                <p:cNvPr id="24" name="矩形 23"/>
                <p:cNvSpPr/>
                <p:nvPr/>
              </p:nvSpPr>
              <p:spPr>
                <a:xfrm>
                  <a:off x="14016" y="6327"/>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bss</a:t>
                  </a:r>
                  <a:r>
                    <a:rPr lang="zh-CN" altLang="en-US" sz="1200" b="1">
                      <a:solidFill>
                        <a:schemeClr val="tx1"/>
                      </a:solidFill>
                    </a:rPr>
                    <a:t>段</a:t>
                  </a:r>
                  <a:r>
                    <a:rPr lang="en-US" altLang="zh-CN" sz="1200" b="1">
                      <a:solidFill>
                        <a:schemeClr val="tx1"/>
                      </a:solidFill>
                    </a:rPr>
                    <a:t> </a:t>
                  </a:r>
                  <a:endParaRPr lang="en-US" altLang="zh-CN" sz="1200" b="1">
                    <a:solidFill>
                      <a:schemeClr val="tx1"/>
                    </a:solidFill>
                  </a:endParaRPr>
                </a:p>
              </p:txBody>
            </p:sp>
            <p:sp>
              <p:nvSpPr>
                <p:cNvPr id="25" name="矩形 24"/>
                <p:cNvSpPr/>
                <p:nvPr/>
              </p:nvSpPr>
              <p:spPr>
                <a:xfrm>
                  <a:off x="14016" y="7000"/>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数据段</a:t>
                  </a:r>
                  <a:r>
                    <a:rPr lang="en-US" altLang="zh-CN" sz="1200" b="1">
                      <a:solidFill>
                        <a:schemeClr val="tx1"/>
                      </a:solidFill>
                    </a:rPr>
                    <a:t> </a:t>
                  </a:r>
                  <a:endParaRPr lang="en-US" altLang="zh-CN" sz="1200" b="1">
                    <a:solidFill>
                      <a:schemeClr val="tx1"/>
                    </a:solidFill>
                  </a:endParaRPr>
                </a:p>
              </p:txBody>
            </p:sp>
            <p:sp>
              <p:nvSpPr>
                <p:cNvPr id="26" name="矩形 25"/>
                <p:cNvSpPr/>
                <p:nvPr/>
              </p:nvSpPr>
              <p:spPr>
                <a:xfrm>
                  <a:off x="14016" y="7673"/>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代码段</a:t>
                  </a:r>
                  <a:r>
                    <a:rPr lang="en-US" altLang="zh-CN" sz="1200" b="1">
                      <a:solidFill>
                        <a:schemeClr val="tx1"/>
                      </a:solidFill>
                    </a:rPr>
                    <a:t> </a:t>
                  </a:r>
                  <a:endParaRPr lang="en-US" altLang="zh-CN" sz="1200" b="1">
                    <a:solidFill>
                      <a:schemeClr val="tx1"/>
                    </a:solidFill>
                  </a:endParaRPr>
                </a:p>
              </p:txBody>
            </p:sp>
          </p:grpSp>
          <p:sp>
            <p:nvSpPr>
              <p:cNvPr id="27" name="左大括号 26"/>
              <p:cNvSpPr/>
              <p:nvPr/>
            </p:nvSpPr>
            <p:spPr>
              <a:xfrm>
                <a:off x="13526" y="4111"/>
                <a:ext cx="196" cy="4167"/>
              </a:xfrm>
              <a:prstGeom prst="leftBrace">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8" name="文本框 27"/>
              <p:cNvSpPr txBox="1"/>
              <p:nvPr/>
            </p:nvSpPr>
            <p:spPr>
              <a:xfrm>
                <a:off x="12922" y="5654"/>
                <a:ext cx="489"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用户空间</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grpSp>
          <p:nvGrpSpPr>
            <p:cNvPr id="29" name="组合 28"/>
            <p:cNvGrpSpPr/>
            <p:nvPr/>
          </p:nvGrpSpPr>
          <p:grpSpPr>
            <a:xfrm>
              <a:off x="11201" y="2563"/>
              <a:ext cx="2280" cy="5060"/>
              <a:chOff x="16167" y="3218"/>
              <a:chExt cx="2280" cy="5060"/>
            </a:xfrm>
          </p:grpSpPr>
          <p:sp>
            <p:nvSpPr>
              <p:cNvPr id="30" name="矩形 29"/>
              <p:cNvSpPr/>
              <p:nvPr/>
            </p:nvSpPr>
            <p:spPr>
              <a:xfrm>
                <a:off x="16635" y="3752"/>
                <a:ext cx="1344" cy="4526"/>
              </a:xfrm>
              <a:prstGeom prst="rect">
                <a:avLst/>
              </a:prstGeom>
              <a:solidFill>
                <a:schemeClr val="accent4">
                  <a:lumMod val="20000"/>
                  <a:lumOff val="8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31" name="文本框 30"/>
              <p:cNvSpPr txBox="1"/>
              <p:nvPr/>
            </p:nvSpPr>
            <p:spPr>
              <a:xfrm>
                <a:off x="16167" y="3218"/>
                <a:ext cx="228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内存</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32" name="矩形 31"/>
              <p:cNvSpPr/>
              <p:nvPr/>
            </p:nvSpPr>
            <p:spPr>
              <a:xfrm>
                <a:off x="16635" y="5400"/>
                <a:ext cx="1344" cy="541"/>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page Cache </a:t>
                </a:r>
                <a:endParaRPr lang="en-US" altLang="zh-CN" sz="1200" b="1">
                  <a:solidFill>
                    <a:schemeClr val="tx1"/>
                  </a:solidFill>
                </a:endParaRPr>
              </a:p>
            </p:txBody>
          </p:sp>
        </p:grpSp>
        <p:grpSp>
          <p:nvGrpSpPr>
            <p:cNvPr id="33" name="组合 32"/>
            <p:cNvGrpSpPr/>
            <p:nvPr/>
          </p:nvGrpSpPr>
          <p:grpSpPr>
            <a:xfrm>
              <a:off x="14253" y="1879"/>
              <a:ext cx="2280" cy="5944"/>
              <a:chOff x="16167" y="2334"/>
              <a:chExt cx="2280" cy="5944"/>
            </a:xfrm>
          </p:grpSpPr>
          <p:sp>
            <p:nvSpPr>
              <p:cNvPr id="34" name="圆柱形 33"/>
              <p:cNvSpPr/>
              <p:nvPr/>
            </p:nvSpPr>
            <p:spPr>
              <a:xfrm>
                <a:off x="16635" y="2756"/>
                <a:ext cx="1344" cy="5522"/>
              </a:xfrm>
              <a:prstGeom prst="can">
                <a:avLst/>
              </a:prstGeom>
              <a:solidFill>
                <a:schemeClr val="accent6">
                  <a:lumMod val="20000"/>
                  <a:lumOff val="8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35" name="文本框 34"/>
              <p:cNvSpPr txBox="1"/>
              <p:nvPr/>
            </p:nvSpPr>
            <p:spPr>
              <a:xfrm>
                <a:off x="16167" y="2334"/>
                <a:ext cx="228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硬盘</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36" name="矩形 35"/>
              <p:cNvSpPr/>
              <p:nvPr/>
            </p:nvSpPr>
            <p:spPr>
              <a:xfrm>
                <a:off x="16635" y="5200"/>
                <a:ext cx="1344" cy="541"/>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文件</a:t>
                </a:r>
                <a:endParaRPr lang="zh-CN" altLang="en-US" sz="1200" b="1">
                  <a:solidFill>
                    <a:schemeClr val="tx1"/>
                  </a:solidFill>
                </a:endParaRPr>
              </a:p>
            </p:txBody>
          </p:sp>
        </p:grpSp>
        <p:cxnSp>
          <p:nvCxnSpPr>
            <p:cNvPr id="37" name="直接箭头连接符 36"/>
            <p:cNvCxnSpPr/>
            <p:nvPr/>
          </p:nvCxnSpPr>
          <p:spPr>
            <a:xfrm flipH="1" flipV="1">
              <a:off x="13356" y="4765"/>
              <a:ext cx="1307" cy="16"/>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cxnSp>
          <p:nvCxnSpPr>
            <p:cNvPr id="38" name="直接箭头连接符 37"/>
            <p:cNvCxnSpPr/>
            <p:nvPr/>
          </p:nvCxnSpPr>
          <p:spPr>
            <a:xfrm>
              <a:off x="13422" y="5199"/>
              <a:ext cx="1202" cy="35"/>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sp>
          <p:nvSpPr>
            <p:cNvPr id="39" name="文本框 38"/>
            <p:cNvSpPr txBox="1"/>
            <p:nvPr/>
          </p:nvSpPr>
          <p:spPr>
            <a:xfrm>
              <a:off x="13693" y="4340"/>
              <a:ext cx="94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读取</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40" name="文本框 39"/>
            <p:cNvSpPr txBox="1"/>
            <p:nvPr/>
          </p:nvSpPr>
          <p:spPr>
            <a:xfrm>
              <a:off x="13454" y="5369"/>
              <a:ext cx="1211"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回写</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41" name="矩形 40"/>
            <p:cNvSpPr/>
            <p:nvPr/>
          </p:nvSpPr>
          <p:spPr>
            <a:xfrm>
              <a:off x="11670" y="3799"/>
              <a:ext cx="1344" cy="541"/>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buffer</a:t>
              </a:r>
              <a:endParaRPr lang="en-US" altLang="zh-CN" sz="1200" b="1">
                <a:solidFill>
                  <a:schemeClr val="tx1"/>
                </a:solidFill>
              </a:endParaRPr>
            </a:p>
          </p:txBody>
        </p:sp>
        <p:sp>
          <p:nvSpPr>
            <p:cNvPr id="42" name="矩形 41"/>
            <p:cNvSpPr/>
            <p:nvPr/>
          </p:nvSpPr>
          <p:spPr>
            <a:xfrm>
              <a:off x="9406" y="4665"/>
              <a:ext cx="1344" cy="536"/>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43" name="文本框 42"/>
            <p:cNvSpPr txBox="1"/>
            <p:nvPr/>
          </p:nvSpPr>
          <p:spPr>
            <a:xfrm>
              <a:off x="9585" y="4214"/>
              <a:ext cx="1005" cy="388"/>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页表</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44" name="矩形 43"/>
            <p:cNvSpPr/>
            <p:nvPr/>
          </p:nvSpPr>
          <p:spPr>
            <a:xfrm>
              <a:off x="9406" y="5199"/>
              <a:ext cx="1344" cy="536"/>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45" name="矩形 44"/>
            <p:cNvSpPr/>
            <p:nvPr/>
          </p:nvSpPr>
          <p:spPr>
            <a:xfrm>
              <a:off x="9406" y="5715"/>
              <a:ext cx="1344" cy="536"/>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46" name="右箭头 45"/>
            <p:cNvSpPr/>
            <p:nvPr/>
          </p:nvSpPr>
          <p:spPr>
            <a:xfrm>
              <a:off x="8759" y="5369"/>
              <a:ext cx="599" cy="220"/>
            </a:xfrm>
            <a:prstGeom prst="rightArrow">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7" name="文本框 46"/>
            <p:cNvSpPr txBox="1"/>
            <p:nvPr/>
          </p:nvSpPr>
          <p:spPr>
            <a:xfrm>
              <a:off x="10488" y="3462"/>
              <a:ext cx="1040" cy="388"/>
            </a:xfrm>
            <a:prstGeom prst="rect">
              <a:avLst/>
            </a:prstGeom>
            <a:noFill/>
          </p:spPr>
          <p:txBody>
            <a:bodyPr wrap="square" lIns="0" tIns="0" rIns="0" bIns="0" rtlCol="0" anchor="t">
              <a:noAutofit/>
            </a:bodyPr>
            <a:lstStyle/>
            <a:p>
              <a:pPr algn="ctr"/>
              <a:r>
                <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用户态</a:t>
              </a:r>
              <a:endPar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a:p>
              <a:pPr algn="ctr"/>
              <a:r>
                <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访问</a:t>
              </a:r>
              <a:endPar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48" name="右箭头 47"/>
            <p:cNvSpPr/>
            <p:nvPr/>
          </p:nvSpPr>
          <p:spPr>
            <a:xfrm rot="18180000">
              <a:off x="10434" y="4618"/>
              <a:ext cx="1536" cy="222"/>
            </a:xfrm>
            <a:prstGeom prst="rightArrow">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0" name="右弧形箭头 49"/>
            <p:cNvSpPr/>
            <p:nvPr/>
          </p:nvSpPr>
          <p:spPr>
            <a:xfrm>
              <a:off x="13005" y="4214"/>
              <a:ext cx="293" cy="932"/>
            </a:xfrm>
            <a:prstGeom prst="curvedLeftArrow">
              <a:avLst/>
            </a:prstGeom>
            <a:solidFill>
              <a:schemeClr val="accent4">
                <a:lumMod val="20000"/>
                <a:lumOff val="80000"/>
              </a:schemeClr>
            </a:solidFill>
            <a:ln>
              <a:solidFill>
                <a:srgbClr val="FFFF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51" name="右弧形箭头 50"/>
            <p:cNvSpPr/>
            <p:nvPr/>
          </p:nvSpPr>
          <p:spPr>
            <a:xfrm flipV="1">
              <a:off x="13042" y="4024"/>
              <a:ext cx="352" cy="1254"/>
            </a:xfrm>
            <a:prstGeom prst="curvedLeftArrow">
              <a:avLst/>
            </a:prstGeom>
            <a:solidFill>
              <a:schemeClr val="accent4">
                <a:lumMod val="20000"/>
                <a:lumOff val="80000"/>
              </a:schemeClr>
            </a:solidFill>
            <a:ln>
              <a:solidFill>
                <a:srgbClr val="FFFF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52" name="直接箭头连接符 51"/>
            <p:cNvCxnSpPr>
              <a:endCxn id="48" idx="3"/>
            </p:cNvCxnSpPr>
            <p:nvPr/>
          </p:nvCxnSpPr>
          <p:spPr>
            <a:xfrm>
              <a:off x="11386" y="3850"/>
              <a:ext cx="234" cy="235"/>
            </a:xfrm>
            <a:prstGeom prst="straightConnector1">
              <a:avLst/>
            </a:prstGeom>
            <a:ln>
              <a:solidFill>
                <a:srgbClr val="FFFF00"/>
              </a:solidFill>
              <a:prstDash val="sysDash"/>
              <a:tailEnd type="arrow"/>
            </a:ln>
          </p:spPr>
          <p:style>
            <a:lnRef idx="2">
              <a:schemeClr val="accent1"/>
            </a:lnRef>
            <a:fillRef idx="0">
              <a:srgbClr val="FFFFFF"/>
            </a:fillRef>
            <a:effectRef idx="0">
              <a:srgbClr val="FFFFFF"/>
            </a:effectRef>
            <a:fontRef idx="minor">
              <a:schemeClr val="tx1"/>
            </a:fontRef>
          </p:style>
        </p:cxnSp>
        <p:sp>
          <p:nvSpPr>
            <p:cNvPr id="53" name="文本框 52"/>
            <p:cNvSpPr txBox="1"/>
            <p:nvPr/>
          </p:nvSpPr>
          <p:spPr>
            <a:xfrm>
              <a:off x="10691" y="5608"/>
              <a:ext cx="991" cy="388"/>
            </a:xfrm>
            <a:prstGeom prst="rect">
              <a:avLst/>
            </a:prstGeom>
            <a:noFill/>
          </p:spPr>
          <p:txBody>
            <a:bodyPr wrap="square" lIns="0" tIns="0" rIns="0" bIns="0" rtlCol="0" anchor="t">
              <a:noAutofit/>
            </a:bodyPr>
            <a:lstStyle/>
            <a:p>
              <a:pPr algn="ctr"/>
              <a:r>
                <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内核态</a:t>
              </a:r>
              <a:endPar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a:p>
              <a:pPr algn="ctr"/>
              <a:r>
                <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访问</a:t>
              </a:r>
              <a:endPar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cxnSp>
          <p:nvCxnSpPr>
            <p:cNvPr id="54" name="直接箭头连接符 53"/>
            <p:cNvCxnSpPr>
              <a:stCxn id="53" idx="0"/>
              <a:endCxn id="32" idx="1"/>
            </p:cNvCxnSpPr>
            <p:nvPr/>
          </p:nvCxnSpPr>
          <p:spPr>
            <a:xfrm flipV="1">
              <a:off x="11187" y="5016"/>
              <a:ext cx="482" cy="592"/>
            </a:xfrm>
            <a:prstGeom prst="straightConnector1">
              <a:avLst/>
            </a:prstGeom>
            <a:ln>
              <a:solidFill>
                <a:srgbClr val="FFFF00"/>
              </a:solidFill>
              <a:prstDash val="sysDash"/>
              <a:tailEnd type="arrow"/>
            </a:ln>
          </p:spPr>
          <p:style>
            <a:lnRef idx="2">
              <a:schemeClr val="accent1"/>
            </a:lnRef>
            <a:fillRef idx="0">
              <a:srgbClr val="FFFFFF"/>
            </a:fillRef>
            <a:effectRef idx="0">
              <a:srgbClr val="FFFFFF"/>
            </a:effectRef>
            <a:fontRef idx="minor">
              <a:schemeClr val="tx1"/>
            </a:fontRef>
          </p:style>
        </p:cxnSp>
      </p:grpSp>
      <p:grpSp>
        <p:nvGrpSpPr>
          <p:cNvPr id="70" name="组合 69"/>
          <p:cNvGrpSpPr/>
          <p:nvPr/>
        </p:nvGrpSpPr>
        <p:grpSpPr>
          <a:xfrm>
            <a:off x="361315" y="2933700"/>
            <a:ext cx="4427220" cy="873760"/>
            <a:chOff x="704" y="4455"/>
            <a:chExt cx="6972" cy="1376"/>
          </a:xfrm>
        </p:grpSpPr>
        <p:grpSp>
          <p:nvGrpSpPr>
            <p:cNvPr id="57" name="组合 56"/>
            <p:cNvGrpSpPr/>
            <p:nvPr/>
          </p:nvGrpSpPr>
          <p:grpSpPr>
            <a:xfrm>
              <a:off x="704" y="4455"/>
              <a:ext cx="6973" cy="1377"/>
              <a:chOff x="345" y="2519"/>
              <a:chExt cx="6973" cy="1377"/>
            </a:xfrm>
          </p:grpSpPr>
          <p:sp>
            <p:nvSpPr>
              <p:cNvPr id="55" name="矩形 54"/>
              <p:cNvSpPr/>
              <p:nvPr/>
            </p:nvSpPr>
            <p:spPr>
              <a:xfrm>
                <a:off x="5893" y="3214"/>
                <a:ext cx="1425" cy="682"/>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latin typeface="黑体" panose="02010609060101010101" charset="-122"/>
                    <a:ea typeface="黑体" panose="02010609060101010101" charset="-122"/>
                    <a:cs typeface="黑体" panose="02010609060101010101" charset="-122"/>
                  </a:rPr>
                  <a:t> </a:t>
                </a:r>
                <a:r>
                  <a:rPr lang="zh-CN" altLang="en-US" sz="1200" b="1">
                    <a:solidFill>
                      <a:schemeClr val="tx1"/>
                    </a:solidFill>
                    <a:latin typeface="黑体" panose="02010609060101010101" charset="-122"/>
                    <a:ea typeface="黑体" panose="02010609060101010101" charset="-122"/>
                    <a:cs typeface="黑体" panose="02010609060101010101" charset="-122"/>
                  </a:rPr>
                  <a:t>用户空间缓冲区</a:t>
                </a:r>
                <a:endParaRPr lang="zh-CN" altLang="en-US" sz="1200" b="1">
                  <a:solidFill>
                    <a:schemeClr val="tx1"/>
                  </a:solidFill>
                  <a:latin typeface="黑体" panose="02010609060101010101" charset="-122"/>
                  <a:ea typeface="黑体" panose="02010609060101010101" charset="-122"/>
                  <a:cs typeface="黑体" panose="02010609060101010101" charset="-122"/>
                </a:endParaRPr>
              </a:p>
            </p:txBody>
          </p:sp>
          <p:sp>
            <p:nvSpPr>
              <p:cNvPr id="56" name="矩形 55"/>
              <p:cNvSpPr/>
              <p:nvPr/>
            </p:nvSpPr>
            <p:spPr>
              <a:xfrm>
                <a:off x="3223" y="3121"/>
                <a:ext cx="1637" cy="682"/>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latin typeface="黑体" panose="02010609060101010101" charset="-122"/>
                    <a:ea typeface="黑体" panose="02010609060101010101" charset="-122"/>
                    <a:cs typeface="黑体" panose="02010609060101010101" charset="-122"/>
                  </a:rPr>
                  <a:t> </a:t>
                </a:r>
                <a:r>
                  <a:rPr lang="zh-CN" altLang="en-US" sz="1200" b="1">
                    <a:solidFill>
                      <a:schemeClr val="tx1"/>
                    </a:solidFill>
                    <a:latin typeface="黑体" panose="02010609060101010101" charset="-122"/>
                    <a:ea typeface="黑体" panose="02010609060101010101" charset="-122"/>
                    <a:cs typeface="黑体" panose="02010609060101010101" charset="-122"/>
                  </a:rPr>
                  <a:t>内核缓冲区</a:t>
                </a:r>
                <a:endParaRPr lang="zh-CN" altLang="en-US" sz="1200" b="1">
                  <a:solidFill>
                    <a:schemeClr val="tx1"/>
                  </a:solidFill>
                  <a:latin typeface="黑体" panose="02010609060101010101" charset="-122"/>
                  <a:ea typeface="黑体" panose="02010609060101010101" charset="-122"/>
                  <a:cs typeface="黑体" panose="02010609060101010101" charset="-122"/>
                </a:endParaRPr>
              </a:p>
              <a:p>
                <a:pPr algn="ctr"/>
                <a:r>
                  <a:rPr lang="en-US" altLang="zh-CN" sz="1200" b="1">
                    <a:solidFill>
                      <a:schemeClr val="tx1"/>
                    </a:solidFill>
                    <a:latin typeface="黑体" panose="02010609060101010101" charset="-122"/>
                    <a:ea typeface="黑体" panose="02010609060101010101" charset="-122"/>
                    <a:cs typeface="黑体" panose="02010609060101010101" charset="-122"/>
                  </a:rPr>
                  <a:t>page Cache</a:t>
                </a:r>
                <a:endParaRPr lang="en-US" altLang="zh-CN" sz="1200" b="1">
                  <a:solidFill>
                    <a:schemeClr val="tx1"/>
                  </a:solidFill>
                  <a:latin typeface="黑体" panose="02010609060101010101" charset="-122"/>
                  <a:ea typeface="黑体" panose="02010609060101010101" charset="-122"/>
                  <a:cs typeface="黑体" panose="02010609060101010101" charset="-122"/>
                </a:endParaRPr>
              </a:p>
            </p:txBody>
          </p:sp>
          <p:sp>
            <p:nvSpPr>
              <p:cNvPr id="58" name="矩形 57"/>
              <p:cNvSpPr/>
              <p:nvPr/>
            </p:nvSpPr>
            <p:spPr>
              <a:xfrm>
                <a:off x="690" y="3101"/>
                <a:ext cx="1408" cy="682"/>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latin typeface="黑体" panose="02010609060101010101" charset="-122"/>
                    <a:ea typeface="黑体" panose="02010609060101010101" charset="-122"/>
                    <a:cs typeface="黑体" panose="02010609060101010101" charset="-122"/>
                  </a:rPr>
                  <a:t>磁盘文件</a:t>
                </a:r>
                <a:endParaRPr lang="zh-CN" altLang="en-US" sz="1200" b="1">
                  <a:solidFill>
                    <a:schemeClr val="tx1"/>
                  </a:solidFill>
                  <a:latin typeface="黑体" panose="02010609060101010101" charset="-122"/>
                  <a:ea typeface="黑体" panose="02010609060101010101" charset="-122"/>
                  <a:cs typeface="黑体" panose="02010609060101010101" charset="-122"/>
                </a:endParaRPr>
              </a:p>
            </p:txBody>
          </p:sp>
          <p:sp>
            <p:nvSpPr>
              <p:cNvPr id="59" name="文本框 58"/>
              <p:cNvSpPr txBox="1"/>
              <p:nvPr/>
            </p:nvSpPr>
            <p:spPr>
              <a:xfrm>
                <a:off x="345" y="2519"/>
                <a:ext cx="2280" cy="534"/>
              </a:xfrm>
              <a:prstGeom prst="rect">
                <a:avLst/>
              </a:prstGeom>
              <a:noFill/>
            </p:spPr>
            <p:txBody>
              <a:bodyPr wrap="square" lIns="0" tIns="0" rIns="0" bIns="0" rtlCol="0" anchor="t">
                <a:noAutofit/>
              </a:bodyPr>
              <a:lstStyle/>
              <a:p>
                <a:pPr algn="ctr"/>
                <a:r>
                  <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传统</a:t>
                </a:r>
                <a:r>
                  <a:rPr lang="en-US" altLang="zh-CN"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write</a:t>
                </a:r>
                <a:r>
                  <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操作</a:t>
                </a:r>
                <a:endPar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60" name="文本框 59"/>
              <p:cNvSpPr txBox="1"/>
              <p:nvPr/>
            </p:nvSpPr>
            <p:spPr>
              <a:xfrm>
                <a:off x="4761" y="2910"/>
                <a:ext cx="1186" cy="392"/>
              </a:xfrm>
              <a:prstGeom prst="rect">
                <a:avLst/>
              </a:prstGeom>
              <a:noFill/>
            </p:spPr>
            <p:txBody>
              <a:bodyPr wrap="square" lIns="0" tIns="0" rIns="0" bIns="0" rtlCol="0" anchor="t">
                <a:noAutofit/>
              </a:bodyPr>
              <a:lstStyle/>
              <a:p>
                <a:pPr algn="ctr"/>
                <a:r>
                  <a:rPr lang="en-US" sz="1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CPU</a:t>
                </a:r>
                <a:r>
                  <a:rPr lang="zh-CN" altLang="en-US" sz="1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拷贝</a:t>
                </a:r>
                <a:endParaRPr lang="zh-CN" altLang="en-US" sz="1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61" name="文本框 60"/>
              <p:cNvSpPr txBox="1"/>
              <p:nvPr/>
            </p:nvSpPr>
            <p:spPr>
              <a:xfrm>
                <a:off x="1942" y="2962"/>
                <a:ext cx="1342" cy="392"/>
              </a:xfrm>
              <a:prstGeom prst="rect">
                <a:avLst/>
              </a:prstGeom>
              <a:noFill/>
            </p:spPr>
            <p:txBody>
              <a:bodyPr wrap="square" lIns="0" tIns="0" rIns="0" bIns="0" rtlCol="0" anchor="t">
                <a:noAutofit/>
              </a:bodyPr>
              <a:lstStyle/>
              <a:p>
                <a:pPr algn="ctr"/>
                <a:r>
                  <a:rPr lang="en-US" sz="1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DMA</a:t>
                </a:r>
                <a:r>
                  <a:rPr lang="zh-CN" altLang="en-US" sz="1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拷贝</a:t>
                </a:r>
                <a:endParaRPr lang="zh-CN" altLang="en-US" sz="1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cxnSp>
          <p:nvCxnSpPr>
            <p:cNvPr id="68" name="直接箭头连接符 67"/>
            <p:cNvCxnSpPr/>
            <p:nvPr/>
          </p:nvCxnSpPr>
          <p:spPr>
            <a:xfrm>
              <a:off x="2457" y="5373"/>
              <a:ext cx="1132" cy="0"/>
            </a:xfrm>
            <a:prstGeom prst="straightConnector1">
              <a:avLst/>
            </a:prstGeom>
            <a:ln w="22225">
              <a:solidFill>
                <a:srgbClr val="FFFF00"/>
              </a:solidFill>
              <a:tailEnd type="arrow"/>
            </a:ln>
          </p:spPr>
          <p:style>
            <a:lnRef idx="2">
              <a:schemeClr val="accent1"/>
            </a:lnRef>
            <a:fillRef idx="0">
              <a:srgbClr val="FFFFFF"/>
            </a:fillRef>
            <a:effectRef idx="0">
              <a:srgbClr val="FFFFFF"/>
            </a:effectRef>
            <a:fontRef idx="minor">
              <a:schemeClr val="tx1"/>
            </a:fontRef>
          </p:style>
        </p:cxnSp>
        <p:cxnSp>
          <p:nvCxnSpPr>
            <p:cNvPr id="69" name="直接箭头连接符 68"/>
            <p:cNvCxnSpPr/>
            <p:nvPr/>
          </p:nvCxnSpPr>
          <p:spPr>
            <a:xfrm>
              <a:off x="5174" y="5373"/>
              <a:ext cx="1132" cy="0"/>
            </a:xfrm>
            <a:prstGeom prst="straightConnector1">
              <a:avLst/>
            </a:prstGeom>
            <a:ln w="22225">
              <a:solidFill>
                <a:srgbClr val="FFFF00"/>
              </a:solidFill>
              <a:tailEnd type="arrow"/>
            </a:ln>
          </p:spPr>
          <p:style>
            <a:lnRef idx="2">
              <a:schemeClr val="accent1"/>
            </a:lnRef>
            <a:fillRef idx="0">
              <a:srgbClr val="FFFFFF"/>
            </a:fillRef>
            <a:effectRef idx="0">
              <a:srgbClr val="FFFFFF"/>
            </a:effectRef>
            <a:fontRef idx="minor">
              <a:schemeClr val="tx1"/>
            </a:fontRef>
          </p:style>
        </p:cxnSp>
      </p:grpSp>
      <p:grpSp>
        <p:nvGrpSpPr>
          <p:cNvPr id="75" name="组合 74"/>
          <p:cNvGrpSpPr/>
          <p:nvPr/>
        </p:nvGrpSpPr>
        <p:grpSpPr>
          <a:xfrm>
            <a:off x="298450" y="1885950"/>
            <a:ext cx="4479290" cy="815340"/>
            <a:chOff x="605" y="2055"/>
            <a:chExt cx="7054" cy="1284"/>
          </a:xfrm>
        </p:grpSpPr>
        <p:grpSp>
          <p:nvGrpSpPr>
            <p:cNvPr id="62" name="组合 61"/>
            <p:cNvGrpSpPr/>
            <p:nvPr/>
          </p:nvGrpSpPr>
          <p:grpSpPr>
            <a:xfrm>
              <a:off x="605" y="2055"/>
              <a:ext cx="7055" cy="1284"/>
              <a:chOff x="345" y="2519"/>
              <a:chExt cx="7055" cy="1284"/>
            </a:xfrm>
          </p:grpSpPr>
          <p:sp>
            <p:nvSpPr>
              <p:cNvPr id="63" name="矩形 62"/>
              <p:cNvSpPr/>
              <p:nvPr/>
            </p:nvSpPr>
            <p:spPr>
              <a:xfrm>
                <a:off x="772" y="3121"/>
                <a:ext cx="1425" cy="682"/>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latin typeface="黑体" panose="02010609060101010101" charset="-122"/>
                    <a:ea typeface="黑体" panose="02010609060101010101" charset="-122"/>
                    <a:cs typeface="黑体" panose="02010609060101010101" charset="-122"/>
                  </a:rPr>
                  <a:t> </a:t>
                </a:r>
                <a:r>
                  <a:rPr lang="zh-CN" altLang="en-US" sz="1200" b="1">
                    <a:solidFill>
                      <a:schemeClr val="tx1"/>
                    </a:solidFill>
                    <a:latin typeface="黑体" panose="02010609060101010101" charset="-122"/>
                    <a:ea typeface="黑体" panose="02010609060101010101" charset="-122"/>
                    <a:cs typeface="黑体" panose="02010609060101010101" charset="-122"/>
                  </a:rPr>
                  <a:t>用户空间缓冲区</a:t>
                </a:r>
                <a:endParaRPr lang="zh-CN" altLang="en-US" sz="1200" b="1">
                  <a:solidFill>
                    <a:schemeClr val="tx1"/>
                  </a:solidFill>
                  <a:latin typeface="黑体" panose="02010609060101010101" charset="-122"/>
                  <a:ea typeface="黑体" panose="02010609060101010101" charset="-122"/>
                  <a:cs typeface="黑体" panose="02010609060101010101" charset="-122"/>
                </a:endParaRPr>
              </a:p>
            </p:txBody>
          </p:sp>
          <p:sp>
            <p:nvSpPr>
              <p:cNvPr id="64" name="矩形 63"/>
              <p:cNvSpPr/>
              <p:nvPr/>
            </p:nvSpPr>
            <p:spPr>
              <a:xfrm>
                <a:off x="3223" y="3121"/>
                <a:ext cx="1637" cy="682"/>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latin typeface="黑体" panose="02010609060101010101" charset="-122"/>
                    <a:ea typeface="黑体" panose="02010609060101010101" charset="-122"/>
                    <a:cs typeface="黑体" panose="02010609060101010101" charset="-122"/>
                  </a:rPr>
                  <a:t> </a:t>
                </a:r>
                <a:r>
                  <a:rPr lang="zh-CN" altLang="en-US" sz="1200" b="1">
                    <a:solidFill>
                      <a:schemeClr val="tx1"/>
                    </a:solidFill>
                    <a:latin typeface="黑体" panose="02010609060101010101" charset="-122"/>
                    <a:ea typeface="黑体" panose="02010609060101010101" charset="-122"/>
                    <a:cs typeface="黑体" panose="02010609060101010101" charset="-122"/>
                  </a:rPr>
                  <a:t>内核缓冲区</a:t>
                </a:r>
                <a:endParaRPr lang="zh-CN" altLang="en-US" sz="1200" b="1">
                  <a:solidFill>
                    <a:schemeClr val="tx1"/>
                  </a:solidFill>
                  <a:latin typeface="黑体" panose="02010609060101010101" charset="-122"/>
                  <a:ea typeface="黑体" panose="02010609060101010101" charset="-122"/>
                  <a:cs typeface="黑体" panose="02010609060101010101" charset="-122"/>
                </a:endParaRPr>
              </a:p>
              <a:p>
                <a:pPr algn="ctr"/>
                <a:r>
                  <a:rPr lang="en-US" altLang="zh-CN" sz="1200" b="1">
                    <a:solidFill>
                      <a:schemeClr val="tx1"/>
                    </a:solidFill>
                    <a:latin typeface="黑体" panose="02010609060101010101" charset="-122"/>
                    <a:ea typeface="黑体" panose="02010609060101010101" charset="-122"/>
                    <a:cs typeface="黑体" panose="02010609060101010101" charset="-122"/>
                  </a:rPr>
                  <a:t>page Cache</a:t>
                </a:r>
                <a:endParaRPr lang="en-US" altLang="zh-CN" sz="1200" b="1">
                  <a:solidFill>
                    <a:schemeClr val="tx1"/>
                  </a:solidFill>
                  <a:latin typeface="黑体" panose="02010609060101010101" charset="-122"/>
                  <a:ea typeface="黑体" panose="02010609060101010101" charset="-122"/>
                  <a:cs typeface="黑体" panose="02010609060101010101" charset="-122"/>
                </a:endParaRPr>
              </a:p>
            </p:txBody>
          </p:sp>
          <p:sp>
            <p:nvSpPr>
              <p:cNvPr id="65" name="矩形 64"/>
              <p:cNvSpPr/>
              <p:nvPr/>
            </p:nvSpPr>
            <p:spPr>
              <a:xfrm>
                <a:off x="5992" y="3121"/>
                <a:ext cx="1408" cy="682"/>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latin typeface="黑体" panose="02010609060101010101" charset="-122"/>
                    <a:ea typeface="黑体" panose="02010609060101010101" charset="-122"/>
                    <a:cs typeface="黑体" panose="02010609060101010101" charset="-122"/>
                  </a:rPr>
                  <a:t>磁盘文件</a:t>
                </a:r>
                <a:endParaRPr lang="zh-CN" altLang="en-US" sz="1200" b="1">
                  <a:solidFill>
                    <a:schemeClr val="tx1"/>
                  </a:solidFill>
                  <a:latin typeface="黑体" panose="02010609060101010101" charset="-122"/>
                  <a:ea typeface="黑体" panose="02010609060101010101" charset="-122"/>
                  <a:cs typeface="黑体" panose="02010609060101010101" charset="-122"/>
                </a:endParaRPr>
              </a:p>
            </p:txBody>
          </p:sp>
          <p:sp>
            <p:nvSpPr>
              <p:cNvPr id="66" name="文本框 65"/>
              <p:cNvSpPr txBox="1"/>
              <p:nvPr/>
            </p:nvSpPr>
            <p:spPr>
              <a:xfrm>
                <a:off x="345" y="2519"/>
                <a:ext cx="2280" cy="534"/>
              </a:xfrm>
              <a:prstGeom prst="rect">
                <a:avLst/>
              </a:prstGeom>
              <a:noFill/>
            </p:spPr>
            <p:txBody>
              <a:bodyPr wrap="square" lIns="0" tIns="0" rIns="0" bIns="0" rtlCol="0" anchor="t">
                <a:noAutofit/>
              </a:bodyPr>
              <a:lstStyle/>
              <a:p>
                <a:pPr algn="ctr"/>
                <a:r>
                  <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传统</a:t>
                </a:r>
                <a:r>
                  <a:rPr lang="en-US" altLang="zh-CN"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read</a:t>
                </a:r>
                <a:r>
                  <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操作</a:t>
                </a:r>
                <a:endParaRPr lang="zh-CN" altLang="en-US" sz="12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cxnSp>
            <p:nvCxnSpPr>
              <p:cNvPr id="71" name="直接箭头连接符 70"/>
              <p:cNvCxnSpPr>
                <a:stCxn id="65" idx="1"/>
              </p:cNvCxnSpPr>
              <p:nvPr/>
            </p:nvCxnSpPr>
            <p:spPr>
              <a:xfrm flipH="1">
                <a:off x="4860" y="3462"/>
                <a:ext cx="1132" cy="0"/>
              </a:xfrm>
              <a:prstGeom prst="straightConnector1">
                <a:avLst/>
              </a:prstGeom>
              <a:ln w="22225">
                <a:solidFill>
                  <a:srgbClr val="FFFF00"/>
                </a:solidFill>
                <a:tailEnd type="arrow"/>
              </a:ln>
            </p:spPr>
            <p:style>
              <a:lnRef idx="2">
                <a:schemeClr val="accent1"/>
              </a:lnRef>
              <a:fillRef idx="0">
                <a:srgbClr val="FFFFFF"/>
              </a:fillRef>
              <a:effectRef idx="0">
                <a:srgbClr val="FFFFFF"/>
              </a:effectRef>
              <a:fontRef idx="minor">
                <a:schemeClr val="tx1"/>
              </a:fontRef>
            </p:style>
          </p:cxnSp>
          <p:sp>
            <p:nvSpPr>
              <p:cNvPr id="72" name="文本框 71"/>
              <p:cNvSpPr txBox="1"/>
              <p:nvPr/>
            </p:nvSpPr>
            <p:spPr>
              <a:xfrm>
                <a:off x="4812" y="3070"/>
                <a:ext cx="1342" cy="624"/>
              </a:xfrm>
              <a:prstGeom prst="rect">
                <a:avLst/>
              </a:prstGeom>
              <a:noFill/>
            </p:spPr>
            <p:txBody>
              <a:bodyPr wrap="square" lIns="0" tIns="0" rIns="0" bIns="0" rtlCol="0" anchor="t">
                <a:noAutofit/>
              </a:bodyPr>
              <a:lstStyle/>
              <a:p>
                <a:pPr algn="ctr"/>
                <a:r>
                  <a:rPr lang="en-US" sz="1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DMA</a:t>
                </a:r>
                <a:r>
                  <a:rPr lang="zh-CN" altLang="en-US" sz="1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拷贝</a:t>
                </a:r>
                <a:endParaRPr lang="zh-CN" altLang="en-US" sz="1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sp>
          <p:nvSpPr>
            <p:cNvPr id="73" name="文本框 72"/>
            <p:cNvSpPr txBox="1"/>
            <p:nvPr/>
          </p:nvSpPr>
          <p:spPr>
            <a:xfrm>
              <a:off x="2289" y="2606"/>
              <a:ext cx="1342" cy="392"/>
            </a:xfrm>
            <a:prstGeom prst="rect">
              <a:avLst/>
            </a:prstGeom>
            <a:noFill/>
          </p:spPr>
          <p:txBody>
            <a:bodyPr wrap="square" lIns="0" tIns="0" rIns="0" bIns="0" rtlCol="0" anchor="t">
              <a:noAutofit/>
            </a:bodyPr>
            <a:lstStyle/>
            <a:p>
              <a:pPr algn="ctr"/>
              <a:r>
                <a:rPr lang="en-US" sz="1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CPU</a:t>
              </a:r>
              <a:r>
                <a:rPr lang="zh-CN" altLang="en-US" sz="1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拷贝</a:t>
              </a:r>
              <a:endParaRPr lang="zh-CN" altLang="en-US" sz="1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cxnSp>
          <p:nvCxnSpPr>
            <p:cNvPr id="74" name="直接箭头连接符 73"/>
            <p:cNvCxnSpPr/>
            <p:nvPr/>
          </p:nvCxnSpPr>
          <p:spPr>
            <a:xfrm flipH="1">
              <a:off x="2457" y="2998"/>
              <a:ext cx="1132" cy="0"/>
            </a:xfrm>
            <a:prstGeom prst="straightConnector1">
              <a:avLst/>
            </a:prstGeom>
            <a:ln w="22225">
              <a:solidFill>
                <a:srgbClr val="FFFF00"/>
              </a:solidFill>
              <a:tailEnd type="arrow"/>
            </a:ln>
          </p:spPr>
          <p:style>
            <a:lnRef idx="2">
              <a:schemeClr val="accent1"/>
            </a:lnRef>
            <a:fillRef idx="0">
              <a:srgbClr val="FFFFFF"/>
            </a:fillRef>
            <a:effectRef idx="0">
              <a:srgbClr val="FFFFFF"/>
            </a:effectRef>
            <a:fontRef idx="minor">
              <a:schemeClr val="tx1"/>
            </a:fontRef>
          </p:style>
        </p:cxnSp>
      </p:grpSp>
      <p:sp>
        <p:nvSpPr>
          <p:cNvPr id="67" name="文本框 66"/>
          <p:cNvSpPr txBox="1"/>
          <p:nvPr/>
        </p:nvSpPr>
        <p:spPr>
          <a:xfrm>
            <a:off x="828675" y="1278255"/>
            <a:ext cx="4874895" cy="307340"/>
          </a:xfrm>
          <a:prstGeom prst="rect">
            <a:avLst/>
          </a:prstGeom>
          <a:noFill/>
        </p:spPr>
        <p:txBody>
          <a:bodyPr wrap="square" lIns="0" tIns="0" rIns="0" bIns="0" rtlCol="0" anchor="t">
            <a:spAutoFit/>
          </a:bodyPr>
          <a:lstStyle/>
          <a:p>
            <a:pPr marL="0" indent="0"/>
            <a:r>
              <a:rPr lang="zh-CN" altLang="en-US" sz="2000" b="1" dirty="0">
                <a:solidFill>
                  <a:srgbClr val="FFFF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传统</a:t>
            </a:r>
            <a:r>
              <a:rPr lang="en-US" altLang="zh-CN" sz="2000" b="1" dirty="0">
                <a:solidFill>
                  <a:srgbClr val="FFFF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 read/write </a:t>
            </a:r>
            <a:r>
              <a:rPr lang="zh-CN" altLang="en-US" sz="2000" b="1" dirty="0">
                <a:solidFill>
                  <a:srgbClr val="FFFF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的问题</a:t>
            </a:r>
            <a:endParaRPr lang="zh-CN" altLang="en-US" sz="2000" b="1" dirty="0">
              <a:solidFill>
                <a:srgbClr val="FFFF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p:cNvSpPr/>
          <p:nvPr/>
        </p:nvSpPr>
        <p:spPr>
          <a:xfrm>
            <a:off x="0" y="1139825"/>
            <a:ext cx="12191365" cy="5718175"/>
          </a:xfrm>
          <a:prstGeom prst="roundRect">
            <a:avLst/>
          </a:prstGeom>
          <a:solidFill>
            <a:srgbClr val="00479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标题 3"/>
          <p:cNvSpPr>
            <a:spLocks noGrp="1"/>
          </p:cNvSpPr>
          <p:nvPr>
            <p:ph type="title"/>
          </p:nvPr>
        </p:nvSpPr>
        <p:spPr>
          <a:xfrm>
            <a:off x="598805" y="622935"/>
            <a:ext cx="10515600" cy="1325563"/>
          </a:xfrm>
        </p:spPr>
        <p:txBody>
          <a:bodyPr/>
          <a:lstStyle/>
          <a:p>
            <a:r>
              <a:rPr lang="en-US" altLang="zh-CN"/>
              <a:t>    </a:t>
            </a:r>
            <a:endParaRPr lang="zh-CN" altLang="en-US"/>
          </a:p>
        </p:txBody>
      </p:sp>
      <p:sp>
        <p:nvSpPr>
          <p:cNvPr id="3" name="文本框 2"/>
          <p:cNvSpPr txBox="1"/>
          <p:nvPr/>
        </p:nvSpPr>
        <p:spPr>
          <a:xfrm>
            <a:off x="598805" y="1412875"/>
            <a:ext cx="2865120" cy="307340"/>
          </a:xfrm>
          <a:prstGeom prst="rect">
            <a:avLst/>
          </a:prstGeom>
          <a:noFill/>
        </p:spPr>
        <p:txBody>
          <a:bodyPr wrap="square" lIns="0" tIns="0" rIns="0" bIns="0" rtlCol="0" anchor="t">
            <a:spAutoFit/>
          </a:bodyPr>
          <a:lstStyle/>
          <a:p>
            <a:pPr marL="0" indent="0"/>
            <a:r>
              <a:rPr lang="zh-CN" sz="2000" b="1" dirty="0">
                <a:solidFill>
                  <a:srgbClr val="FFFF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文件内存映射</a:t>
            </a:r>
            <a:endParaRPr lang="zh-CN" sz="2000" b="1" dirty="0">
              <a:solidFill>
                <a:srgbClr val="FFFF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nvGrpSpPr>
          <p:cNvPr id="10" name="组合 9"/>
          <p:cNvGrpSpPr/>
          <p:nvPr/>
        </p:nvGrpSpPr>
        <p:grpSpPr>
          <a:xfrm>
            <a:off x="5292090" y="1452245"/>
            <a:ext cx="6515100" cy="4250690"/>
            <a:chOff x="6273" y="1879"/>
            <a:chExt cx="10260" cy="6694"/>
          </a:xfrm>
        </p:grpSpPr>
        <p:grpSp>
          <p:nvGrpSpPr>
            <p:cNvPr id="2" name="组合 1"/>
            <p:cNvGrpSpPr/>
            <p:nvPr/>
          </p:nvGrpSpPr>
          <p:grpSpPr>
            <a:xfrm>
              <a:off x="6273" y="1879"/>
              <a:ext cx="2769" cy="6694"/>
              <a:chOff x="12922" y="1650"/>
              <a:chExt cx="2769" cy="6694"/>
            </a:xfrm>
          </p:grpSpPr>
          <p:sp>
            <p:nvSpPr>
              <p:cNvPr id="5" name="文本框 4"/>
              <p:cNvSpPr txBox="1"/>
              <p:nvPr/>
            </p:nvSpPr>
            <p:spPr>
              <a:xfrm>
                <a:off x="13411" y="1650"/>
                <a:ext cx="228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进程的虚地址空间</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nvGrpSpPr>
              <p:cNvPr id="7" name="组合 6"/>
              <p:cNvGrpSpPr/>
              <p:nvPr/>
            </p:nvGrpSpPr>
            <p:grpSpPr>
              <a:xfrm>
                <a:off x="14016" y="2286"/>
                <a:ext cx="1344" cy="6059"/>
                <a:chOff x="14016" y="2286"/>
                <a:chExt cx="1344" cy="6059"/>
              </a:xfrm>
            </p:grpSpPr>
            <p:sp>
              <p:nvSpPr>
                <p:cNvPr id="8" name="矩形 7"/>
                <p:cNvSpPr/>
                <p:nvPr/>
              </p:nvSpPr>
              <p:spPr>
                <a:xfrm>
                  <a:off x="14016" y="2286"/>
                  <a:ext cx="1344" cy="1699"/>
                </a:xfrm>
                <a:prstGeom prst="rect">
                  <a:avLst/>
                </a:prstGeom>
                <a:solidFill>
                  <a:schemeClr val="accent6">
                    <a:lumMod val="75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t>内核空间</a:t>
                  </a:r>
                  <a:endParaRPr lang="zh-CN" altLang="en-US" sz="1200" b="1"/>
                </a:p>
              </p:txBody>
            </p:sp>
            <p:sp>
              <p:nvSpPr>
                <p:cNvPr id="9" name="矩形 8"/>
                <p:cNvSpPr/>
                <p:nvPr/>
              </p:nvSpPr>
              <p:spPr>
                <a:xfrm>
                  <a:off x="14016" y="3985"/>
                  <a:ext cx="1344" cy="541"/>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栈</a:t>
                  </a:r>
                  <a:r>
                    <a:rPr lang="en-US" altLang="zh-CN" sz="1200" b="1">
                      <a:solidFill>
                        <a:schemeClr val="tx1"/>
                      </a:solidFill>
                    </a:rPr>
                    <a:t> </a:t>
                  </a:r>
                  <a:endParaRPr lang="en-US" altLang="zh-CN" sz="1200" b="1">
                    <a:solidFill>
                      <a:schemeClr val="tx1"/>
                    </a:solidFill>
                  </a:endParaRPr>
                </a:p>
              </p:txBody>
            </p:sp>
            <p:sp>
              <p:nvSpPr>
                <p:cNvPr id="12" name="矩形 11"/>
                <p:cNvSpPr/>
                <p:nvPr/>
              </p:nvSpPr>
              <p:spPr>
                <a:xfrm>
                  <a:off x="14016" y="4526"/>
                  <a:ext cx="1344" cy="1128"/>
                </a:xfrm>
                <a:prstGeom prst="rect">
                  <a:avLst/>
                </a:prstGeom>
                <a:solidFill>
                  <a:schemeClr val="bg1">
                    <a:lumMod val="95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dirty="0">
                    <a:solidFill>
                      <a:schemeClr val="tx1"/>
                    </a:solidFill>
                  </a:endParaRPr>
                </a:p>
                <a:p>
                  <a:pPr algn="ctr"/>
                  <a:r>
                    <a:rPr lang="en-US" altLang="zh-CN" sz="1200" b="1" dirty="0">
                      <a:solidFill>
                        <a:schemeClr val="tx1"/>
                      </a:solidFill>
                    </a:rPr>
                    <a:t> </a:t>
                  </a:r>
                  <a:endParaRPr lang="en-US" altLang="zh-CN" sz="1200" b="1" dirty="0">
                    <a:solidFill>
                      <a:schemeClr val="tx1"/>
                    </a:solidFill>
                  </a:endParaRPr>
                </a:p>
              </p:txBody>
            </p:sp>
            <p:sp>
              <p:nvSpPr>
                <p:cNvPr id="13" name="矩形 12"/>
                <p:cNvSpPr/>
                <p:nvPr/>
              </p:nvSpPr>
              <p:spPr>
                <a:xfrm>
                  <a:off x="14016" y="5654"/>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堆</a:t>
                  </a:r>
                  <a:r>
                    <a:rPr lang="en-US" altLang="zh-CN" sz="1200" b="1">
                      <a:solidFill>
                        <a:schemeClr val="tx1"/>
                      </a:solidFill>
                    </a:rPr>
                    <a:t> </a:t>
                  </a:r>
                  <a:endParaRPr lang="en-US" altLang="zh-CN" sz="1200" b="1">
                    <a:solidFill>
                      <a:schemeClr val="tx1"/>
                    </a:solidFill>
                  </a:endParaRPr>
                </a:p>
              </p:txBody>
            </p:sp>
            <p:sp>
              <p:nvSpPr>
                <p:cNvPr id="16" name="矩形 15"/>
                <p:cNvSpPr/>
                <p:nvPr/>
              </p:nvSpPr>
              <p:spPr>
                <a:xfrm>
                  <a:off x="14016" y="6327"/>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bss</a:t>
                  </a:r>
                  <a:r>
                    <a:rPr lang="zh-CN" altLang="en-US" sz="1200" b="1">
                      <a:solidFill>
                        <a:schemeClr val="tx1"/>
                      </a:solidFill>
                    </a:rPr>
                    <a:t>段</a:t>
                  </a:r>
                  <a:r>
                    <a:rPr lang="en-US" altLang="zh-CN" sz="1200" b="1">
                      <a:solidFill>
                        <a:schemeClr val="tx1"/>
                      </a:solidFill>
                    </a:rPr>
                    <a:t> </a:t>
                  </a:r>
                  <a:endParaRPr lang="en-US" altLang="zh-CN" sz="1200" b="1">
                    <a:solidFill>
                      <a:schemeClr val="tx1"/>
                    </a:solidFill>
                  </a:endParaRPr>
                </a:p>
              </p:txBody>
            </p:sp>
            <p:sp>
              <p:nvSpPr>
                <p:cNvPr id="76" name="矩形 75"/>
                <p:cNvSpPr/>
                <p:nvPr/>
              </p:nvSpPr>
              <p:spPr>
                <a:xfrm>
                  <a:off x="14016" y="7000"/>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数据段</a:t>
                  </a:r>
                  <a:r>
                    <a:rPr lang="en-US" altLang="zh-CN" sz="1200" b="1">
                      <a:solidFill>
                        <a:schemeClr val="tx1"/>
                      </a:solidFill>
                    </a:rPr>
                    <a:t> </a:t>
                  </a:r>
                  <a:endParaRPr lang="en-US" altLang="zh-CN" sz="1200" b="1">
                    <a:solidFill>
                      <a:schemeClr val="tx1"/>
                    </a:solidFill>
                  </a:endParaRPr>
                </a:p>
              </p:txBody>
            </p:sp>
            <p:sp>
              <p:nvSpPr>
                <p:cNvPr id="77" name="矩形 76"/>
                <p:cNvSpPr/>
                <p:nvPr/>
              </p:nvSpPr>
              <p:spPr>
                <a:xfrm>
                  <a:off x="14016" y="7673"/>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代码段</a:t>
                  </a:r>
                  <a:r>
                    <a:rPr lang="en-US" altLang="zh-CN" sz="1200" b="1">
                      <a:solidFill>
                        <a:schemeClr val="tx1"/>
                      </a:solidFill>
                    </a:rPr>
                    <a:t> </a:t>
                  </a:r>
                  <a:endParaRPr lang="en-US" altLang="zh-CN" sz="1200" b="1">
                    <a:solidFill>
                      <a:schemeClr val="tx1"/>
                    </a:solidFill>
                  </a:endParaRPr>
                </a:p>
              </p:txBody>
            </p:sp>
          </p:grpSp>
          <p:sp>
            <p:nvSpPr>
              <p:cNvPr id="78" name="左大括号 77"/>
              <p:cNvSpPr/>
              <p:nvPr/>
            </p:nvSpPr>
            <p:spPr>
              <a:xfrm>
                <a:off x="13526" y="4111"/>
                <a:ext cx="196" cy="4167"/>
              </a:xfrm>
              <a:prstGeom prst="leftBrace">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79" name="文本框 78"/>
              <p:cNvSpPr txBox="1"/>
              <p:nvPr/>
            </p:nvSpPr>
            <p:spPr>
              <a:xfrm>
                <a:off x="12922" y="5654"/>
                <a:ext cx="489"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用户空间</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grpSp>
          <p:nvGrpSpPr>
            <p:cNvPr id="80" name="组合 79"/>
            <p:cNvGrpSpPr/>
            <p:nvPr/>
          </p:nvGrpSpPr>
          <p:grpSpPr>
            <a:xfrm>
              <a:off x="11201" y="2563"/>
              <a:ext cx="2280" cy="5060"/>
              <a:chOff x="16167" y="3218"/>
              <a:chExt cx="2280" cy="5060"/>
            </a:xfrm>
          </p:grpSpPr>
          <p:sp>
            <p:nvSpPr>
              <p:cNvPr id="81" name="矩形 80"/>
              <p:cNvSpPr/>
              <p:nvPr/>
            </p:nvSpPr>
            <p:spPr>
              <a:xfrm>
                <a:off x="16635" y="3752"/>
                <a:ext cx="1344" cy="4526"/>
              </a:xfrm>
              <a:prstGeom prst="rect">
                <a:avLst/>
              </a:prstGeom>
              <a:solidFill>
                <a:schemeClr val="accent4">
                  <a:lumMod val="20000"/>
                  <a:lumOff val="8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82" name="文本框 81"/>
              <p:cNvSpPr txBox="1"/>
              <p:nvPr/>
            </p:nvSpPr>
            <p:spPr>
              <a:xfrm>
                <a:off x="16167" y="3218"/>
                <a:ext cx="228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内存</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83" name="矩形 82"/>
              <p:cNvSpPr/>
              <p:nvPr/>
            </p:nvSpPr>
            <p:spPr>
              <a:xfrm>
                <a:off x="16635" y="5400"/>
                <a:ext cx="1344" cy="541"/>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page Cache </a:t>
                </a:r>
                <a:endParaRPr lang="en-US" altLang="zh-CN" sz="1200" b="1">
                  <a:solidFill>
                    <a:schemeClr val="tx1"/>
                  </a:solidFill>
                </a:endParaRPr>
              </a:p>
            </p:txBody>
          </p:sp>
        </p:grpSp>
        <p:grpSp>
          <p:nvGrpSpPr>
            <p:cNvPr id="84" name="组合 83"/>
            <p:cNvGrpSpPr/>
            <p:nvPr/>
          </p:nvGrpSpPr>
          <p:grpSpPr>
            <a:xfrm>
              <a:off x="14253" y="1879"/>
              <a:ext cx="2280" cy="5944"/>
              <a:chOff x="16167" y="2334"/>
              <a:chExt cx="2280" cy="5944"/>
            </a:xfrm>
          </p:grpSpPr>
          <p:sp>
            <p:nvSpPr>
              <p:cNvPr id="85" name="圆柱形 84"/>
              <p:cNvSpPr/>
              <p:nvPr/>
            </p:nvSpPr>
            <p:spPr>
              <a:xfrm>
                <a:off x="16635" y="2756"/>
                <a:ext cx="1344" cy="5522"/>
              </a:xfrm>
              <a:prstGeom prst="can">
                <a:avLst/>
              </a:prstGeom>
              <a:solidFill>
                <a:schemeClr val="accent6">
                  <a:lumMod val="20000"/>
                  <a:lumOff val="8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86" name="文本框 85"/>
              <p:cNvSpPr txBox="1"/>
              <p:nvPr/>
            </p:nvSpPr>
            <p:spPr>
              <a:xfrm>
                <a:off x="16167" y="2334"/>
                <a:ext cx="228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硬盘</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87" name="矩形 86"/>
              <p:cNvSpPr/>
              <p:nvPr/>
            </p:nvSpPr>
            <p:spPr>
              <a:xfrm>
                <a:off x="16635" y="5200"/>
                <a:ext cx="1344" cy="541"/>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文件</a:t>
                </a:r>
                <a:endParaRPr lang="zh-CN" altLang="en-US" sz="1200" b="1">
                  <a:solidFill>
                    <a:schemeClr val="tx1"/>
                  </a:solidFill>
                </a:endParaRPr>
              </a:p>
            </p:txBody>
          </p:sp>
        </p:grpSp>
        <p:cxnSp>
          <p:nvCxnSpPr>
            <p:cNvPr id="88" name="直接箭头连接符 87"/>
            <p:cNvCxnSpPr/>
            <p:nvPr/>
          </p:nvCxnSpPr>
          <p:spPr>
            <a:xfrm flipH="1" flipV="1">
              <a:off x="13212" y="4781"/>
              <a:ext cx="1307" cy="16"/>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cxnSp>
          <p:nvCxnSpPr>
            <p:cNvPr id="89" name="直接箭头连接符 88"/>
            <p:cNvCxnSpPr/>
            <p:nvPr/>
          </p:nvCxnSpPr>
          <p:spPr>
            <a:xfrm>
              <a:off x="13266" y="5199"/>
              <a:ext cx="1202" cy="35"/>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sp>
          <p:nvSpPr>
            <p:cNvPr id="90" name="文本框 89"/>
            <p:cNvSpPr txBox="1"/>
            <p:nvPr/>
          </p:nvSpPr>
          <p:spPr>
            <a:xfrm>
              <a:off x="13397" y="4340"/>
              <a:ext cx="94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读取</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91" name="文本框 90"/>
            <p:cNvSpPr txBox="1"/>
            <p:nvPr/>
          </p:nvSpPr>
          <p:spPr>
            <a:xfrm>
              <a:off x="13262" y="5349"/>
              <a:ext cx="1211"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回写</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92" name="矩形 91"/>
            <p:cNvSpPr/>
            <p:nvPr/>
          </p:nvSpPr>
          <p:spPr>
            <a:xfrm>
              <a:off x="9406" y="4665"/>
              <a:ext cx="1344" cy="536"/>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93" name="文本框 92"/>
            <p:cNvSpPr txBox="1"/>
            <p:nvPr/>
          </p:nvSpPr>
          <p:spPr>
            <a:xfrm>
              <a:off x="9585" y="4214"/>
              <a:ext cx="1005" cy="388"/>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页表</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94" name="矩形 93"/>
            <p:cNvSpPr/>
            <p:nvPr/>
          </p:nvSpPr>
          <p:spPr>
            <a:xfrm>
              <a:off x="9406" y="5199"/>
              <a:ext cx="1344" cy="536"/>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95" name="矩形 94"/>
            <p:cNvSpPr/>
            <p:nvPr/>
          </p:nvSpPr>
          <p:spPr>
            <a:xfrm>
              <a:off x="9406" y="5715"/>
              <a:ext cx="1344" cy="536"/>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96" name="右箭头 95"/>
            <p:cNvSpPr/>
            <p:nvPr/>
          </p:nvSpPr>
          <p:spPr>
            <a:xfrm>
              <a:off x="8759" y="5369"/>
              <a:ext cx="599" cy="220"/>
            </a:xfrm>
            <a:prstGeom prst="rightArrow">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7" name="右箭头 96"/>
            <p:cNvSpPr/>
            <p:nvPr/>
          </p:nvSpPr>
          <p:spPr>
            <a:xfrm rot="20700000">
              <a:off x="10777" y="4990"/>
              <a:ext cx="902" cy="331"/>
            </a:xfrm>
            <a:prstGeom prst="rightArrow">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8" name="文本框 97"/>
            <p:cNvSpPr txBox="1"/>
            <p:nvPr/>
          </p:nvSpPr>
          <p:spPr>
            <a:xfrm>
              <a:off x="10479" y="3636"/>
              <a:ext cx="991" cy="388"/>
            </a:xfrm>
            <a:prstGeom prst="rect">
              <a:avLst/>
            </a:prstGeom>
            <a:noFill/>
          </p:spPr>
          <p:txBody>
            <a:bodyPr wrap="square" lIns="0" tIns="0" rIns="0" bIns="0" rtlCol="0" anchor="t">
              <a:noAutofit/>
            </a:bodyPr>
            <a:lstStyle/>
            <a:p>
              <a:pPr algn="ctr"/>
              <a:r>
                <a:rPr lang="zh-CN" altLang="en-US" sz="1200">
                  <a:solidFill>
                    <a:schemeClr val="accent2">
                      <a:lumMod val="60000"/>
                      <a:lumOff val="40000"/>
                    </a:schemeClr>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内核态</a:t>
              </a:r>
              <a:endParaRPr lang="zh-CN" altLang="en-US" sz="1200">
                <a:solidFill>
                  <a:schemeClr val="accent2">
                    <a:lumMod val="60000"/>
                    <a:lumOff val="40000"/>
                  </a:schemeClr>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a:p>
              <a:pPr algn="ctr"/>
              <a:r>
                <a:rPr lang="zh-CN" altLang="en-US" sz="1200">
                  <a:solidFill>
                    <a:schemeClr val="accent2">
                      <a:lumMod val="60000"/>
                      <a:lumOff val="40000"/>
                    </a:schemeClr>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访问</a:t>
              </a:r>
              <a:endParaRPr lang="zh-CN" altLang="en-US" sz="1200">
                <a:solidFill>
                  <a:schemeClr val="accent2">
                    <a:lumMod val="60000"/>
                    <a:lumOff val="40000"/>
                  </a:schemeClr>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cxnSp>
          <p:nvCxnSpPr>
            <p:cNvPr id="99" name="直接箭头连接符 98"/>
            <p:cNvCxnSpPr>
              <a:endCxn id="83" idx="1"/>
            </p:cNvCxnSpPr>
            <p:nvPr/>
          </p:nvCxnSpPr>
          <p:spPr>
            <a:xfrm>
              <a:off x="11108" y="4132"/>
              <a:ext cx="561" cy="884"/>
            </a:xfrm>
            <a:prstGeom prst="straightConnector1">
              <a:avLst/>
            </a:prstGeom>
            <a:ln>
              <a:solidFill>
                <a:srgbClr val="FFFF00"/>
              </a:solidFill>
              <a:prstDash val="sysDash"/>
              <a:tailEnd type="arrow"/>
            </a:ln>
          </p:spPr>
          <p:style>
            <a:lnRef idx="2">
              <a:schemeClr val="accent1"/>
            </a:lnRef>
            <a:fillRef idx="0">
              <a:srgbClr val="FFFFFF"/>
            </a:fillRef>
            <a:effectRef idx="0">
              <a:srgbClr val="FFFFFF"/>
            </a:effectRef>
            <a:fontRef idx="minor">
              <a:schemeClr val="tx1"/>
            </a:fontRef>
          </p:style>
        </p:cxnSp>
      </p:grpSp>
      <p:sp>
        <p:nvSpPr>
          <p:cNvPr id="100" name="文本框 99"/>
          <p:cNvSpPr txBox="1"/>
          <p:nvPr/>
        </p:nvSpPr>
        <p:spPr>
          <a:xfrm>
            <a:off x="359410" y="1886585"/>
            <a:ext cx="4504055" cy="2861310"/>
          </a:xfrm>
          <a:prstGeom prst="rect">
            <a:avLst/>
          </a:prstGeom>
        </p:spPr>
        <p:txBody>
          <a:bodyPr wrap="square">
            <a:spAutoFit/>
          </a:bodyPr>
          <a:lstStyle/>
          <a:p>
            <a:pPr marL="0" indent="0">
              <a:lnSpc>
                <a:spcPct val="150000"/>
              </a:lnSpc>
            </a:pPr>
            <a:r>
              <a:rPr lang="zh-CN" altLang="en-US"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rPr>
              <a:t>核心定义</a:t>
            </a:r>
            <a:r>
              <a:rPr lang="en-US" altLang="zh-CN"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rPr>
              <a:t> </a:t>
            </a:r>
            <a:r>
              <a:rPr lang="zh-CN" altLang="en-US"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rPr>
              <a:t> </a:t>
            </a:r>
            <a:endParaRPr lang="zh-CN" altLang="en-US"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a:p>
            <a:pPr marL="0" indent="0">
              <a:lnSpc>
                <a:spcPct val="150000"/>
              </a:lnSpc>
            </a:pPr>
            <a:r>
              <a:rPr lang="en-US" altLang="zh-CN"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rPr>
              <a:t>         </a:t>
            </a:r>
            <a:r>
              <a:rPr lang="zh-CN" altLang="en-US"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rPr>
              <a:t>将一个文件或其它对象的一段数据，直接映射到调用进程的虚拟地址空间中。 进程此后可以通过指针直接读写这段内存，而操作系统会自动将更改写回对应的文件。</a:t>
            </a:r>
            <a:endParaRPr lang="zh-CN" altLang="en-US"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p:txBody>
      </p:sp>
      <p:sp>
        <p:nvSpPr>
          <p:cNvPr id="101" name="文本框 100"/>
          <p:cNvSpPr txBox="1"/>
          <p:nvPr/>
        </p:nvSpPr>
        <p:spPr>
          <a:xfrm>
            <a:off x="703580" y="5851525"/>
            <a:ext cx="9538335" cy="645160"/>
          </a:xfrm>
          <a:prstGeom prst="rect">
            <a:avLst/>
          </a:prstGeom>
        </p:spPr>
        <p:txBody>
          <a:bodyPr wrap="square">
            <a:spAutoFit/>
          </a:bodyPr>
          <a:lstStyle/>
          <a:p>
            <a:pPr marL="0" indent="0"/>
            <a:r>
              <a:rPr lang="zh-CN" altLang="en-US" b="0" i="0">
                <a:solidFill>
                  <a:srgbClr val="FFFF00"/>
                </a:solidFill>
                <a:latin typeface="方正粗黑宋简体" panose="02000000000000000000" pitchFamily="2" charset="-122"/>
                <a:ea typeface="方正粗黑宋简体" panose="02000000000000000000" pitchFamily="2" charset="-122"/>
                <a:cs typeface="方正粗黑宋简体" panose="02000000000000000000" pitchFamily="2" charset="-122"/>
              </a:rPr>
              <a:t>“内存映射的精髓在于‘建立通道’，而不是‘搬运数据’。它让进程可以直接在自己的内存空间里操作文件。”</a:t>
            </a:r>
            <a:endParaRPr lang="zh-CN" altLang="en-US" b="0" i="0">
              <a:solidFill>
                <a:srgbClr val="FFFF00"/>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p:txBody>
      </p:sp>
      <p:sp>
        <p:nvSpPr>
          <p:cNvPr id="102" name="文本框 101"/>
          <p:cNvSpPr txBox="1"/>
          <p:nvPr/>
        </p:nvSpPr>
        <p:spPr>
          <a:xfrm>
            <a:off x="1209040" y="548005"/>
            <a:ext cx="4393565" cy="521970"/>
          </a:xfrm>
          <a:prstGeom prst="rect">
            <a:avLst/>
          </a:prstGeom>
        </p:spPr>
        <p:txBody>
          <a:bodyPr wrap="square">
            <a:spAutoFit/>
          </a:bodyPr>
          <a:lstStyle/>
          <a:p>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文件内存映射（</a:t>
            </a:r>
            <a:r>
              <a:rPr lang="zh-CN" altLang="en-US" sz="2800" b="0" dirty="0">
                <a:solidFill>
                  <a:srgbClr val="7C0000"/>
                </a:solidFill>
                <a:latin typeface="方正大黑简体" panose="02000000000000000000" charset="-122"/>
                <a:ea typeface="方正大黑简体" panose="02000000000000000000" charset="-122"/>
                <a:cs typeface="方正大黑简体" panose="02000000000000000000" charset="-122"/>
              </a:rPr>
              <a:t>补充</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p:cNvSpPr/>
          <p:nvPr/>
        </p:nvSpPr>
        <p:spPr>
          <a:xfrm>
            <a:off x="0" y="1139825"/>
            <a:ext cx="12191365" cy="5718175"/>
          </a:xfrm>
          <a:prstGeom prst="roundRect">
            <a:avLst/>
          </a:prstGeom>
          <a:solidFill>
            <a:srgbClr val="00479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标题 3"/>
          <p:cNvSpPr>
            <a:spLocks noGrp="1"/>
          </p:cNvSpPr>
          <p:nvPr/>
        </p:nvSpPr>
        <p:spPr>
          <a:xfrm>
            <a:off x="827405" y="150622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a:t>    </a:t>
            </a:r>
            <a:endParaRPr lang="zh-CN" altLang="en-US"/>
          </a:p>
        </p:txBody>
      </p:sp>
      <p:sp>
        <p:nvSpPr>
          <p:cNvPr id="17" name="文本框 16"/>
          <p:cNvSpPr txBox="1"/>
          <p:nvPr/>
        </p:nvSpPr>
        <p:spPr>
          <a:xfrm>
            <a:off x="767080" y="1520825"/>
            <a:ext cx="4874895" cy="307340"/>
          </a:xfrm>
          <a:prstGeom prst="rect">
            <a:avLst/>
          </a:prstGeom>
          <a:noFill/>
        </p:spPr>
        <p:txBody>
          <a:bodyPr wrap="square" lIns="0" tIns="0" rIns="0" bIns="0" rtlCol="0" anchor="t">
            <a:spAutoFit/>
          </a:bodyPr>
          <a:lstStyle/>
          <a:p>
            <a:pPr marL="0" indent="0"/>
            <a:r>
              <a:rPr lang="zh-CN" sz="2000" b="1" dirty="0">
                <a:solidFill>
                  <a:srgbClr val="FFFF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内存映射的过程</a:t>
            </a:r>
            <a:endParaRPr lang="zh-CN" sz="2000" b="1" dirty="0">
              <a:solidFill>
                <a:srgbClr val="FFFF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18" name="文本框 17"/>
          <p:cNvSpPr txBox="1"/>
          <p:nvPr/>
        </p:nvSpPr>
        <p:spPr>
          <a:xfrm>
            <a:off x="427355" y="2260600"/>
            <a:ext cx="1967865" cy="706755"/>
          </a:xfrm>
          <a:prstGeom prst="rect">
            <a:avLst/>
          </a:prstGeom>
          <a:ln>
            <a:noFill/>
          </a:ln>
        </p:spPr>
        <p:txBody>
          <a:bodyPr wrap="square">
            <a:spAutoFit/>
          </a:bodyPr>
          <a:lstStyle/>
          <a:p>
            <a:pPr marL="0" indent="0"/>
            <a:endParaRPr lang="en-US" altLang="zh-CN"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a:p>
            <a:pPr marL="0" indent="0"/>
            <a:r>
              <a:rPr lang="zh-CN" altLang="en-US"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rPr>
              <a:t>步骤详解：</a:t>
            </a:r>
            <a:endParaRPr lang="zh-CN" altLang="en-US"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p:txBody>
      </p:sp>
      <p:grpSp>
        <p:nvGrpSpPr>
          <p:cNvPr id="19" name="组合 18"/>
          <p:cNvGrpSpPr/>
          <p:nvPr/>
        </p:nvGrpSpPr>
        <p:grpSpPr>
          <a:xfrm>
            <a:off x="5510530" y="2322195"/>
            <a:ext cx="1758315" cy="4250690"/>
            <a:chOff x="12922" y="1650"/>
            <a:chExt cx="2769" cy="6694"/>
          </a:xfrm>
        </p:grpSpPr>
        <p:sp>
          <p:nvSpPr>
            <p:cNvPr id="53" name="文本框 52"/>
            <p:cNvSpPr txBox="1"/>
            <p:nvPr/>
          </p:nvSpPr>
          <p:spPr>
            <a:xfrm>
              <a:off x="13411" y="1650"/>
              <a:ext cx="228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进程的虚地址空间</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nvGrpSpPr>
            <p:cNvPr id="54" name="组合 53"/>
            <p:cNvGrpSpPr/>
            <p:nvPr/>
          </p:nvGrpSpPr>
          <p:grpSpPr>
            <a:xfrm>
              <a:off x="14016" y="2286"/>
              <a:ext cx="1344" cy="6059"/>
              <a:chOff x="14016" y="2286"/>
              <a:chExt cx="1344" cy="6059"/>
            </a:xfrm>
          </p:grpSpPr>
          <p:sp>
            <p:nvSpPr>
              <p:cNvPr id="58" name="矩形 57"/>
              <p:cNvSpPr/>
              <p:nvPr/>
            </p:nvSpPr>
            <p:spPr>
              <a:xfrm>
                <a:off x="14016" y="2286"/>
                <a:ext cx="1344" cy="1699"/>
              </a:xfrm>
              <a:prstGeom prst="rect">
                <a:avLst/>
              </a:prstGeom>
              <a:solidFill>
                <a:schemeClr val="accent6">
                  <a:lumMod val="75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t>内核空间</a:t>
                </a:r>
                <a:endParaRPr lang="zh-CN" altLang="en-US" sz="1200" b="1"/>
              </a:p>
            </p:txBody>
          </p:sp>
          <p:sp>
            <p:nvSpPr>
              <p:cNvPr id="71" name="矩形 70"/>
              <p:cNvSpPr/>
              <p:nvPr/>
            </p:nvSpPr>
            <p:spPr>
              <a:xfrm>
                <a:off x="14016" y="3985"/>
                <a:ext cx="1344" cy="541"/>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栈</a:t>
                </a:r>
                <a:r>
                  <a:rPr lang="en-US" altLang="zh-CN" sz="1200" b="1">
                    <a:solidFill>
                      <a:schemeClr val="tx1"/>
                    </a:solidFill>
                  </a:rPr>
                  <a:t> </a:t>
                </a:r>
                <a:endParaRPr lang="en-US" altLang="zh-CN" sz="1200" b="1">
                  <a:solidFill>
                    <a:schemeClr val="tx1"/>
                  </a:solidFill>
                </a:endParaRPr>
              </a:p>
            </p:txBody>
          </p:sp>
          <p:sp>
            <p:nvSpPr>
              <p:cNvPr id="72" name="矩形 71"/>
              <p:cNvSpPr/>
              <p:nvPr/>
            </p:nvSpPr>
            <p:spPr>
              <a:xfrm>
                <a:off x="14016" y="4526"/>
                <a:ext cx="1344" cy="1128"/>
              </a:xfrm>
              <a:prstGeom prst="rect">
                <a:avLst/>
              </a:prstGeom>
              <a:solidFill>
                <a:schemeClr val="accent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内存</a:t>
                </a:r>
                <a:endParaRPr lang="zh-CN" altLang="en-US" sz="1200" b="1">
                  <a:solidFill>
                    <a:schemeClr val="tx1"/>
                  </a:solidFill>
                </a:endParaRPr>
              </a:p>
              <a:p>
                <a:pPr algn="ctr"/>
                <a:r>
                  <a:rPr lang="zh-CN" altLang="en-US" sz="1200" b="1">
                    <a:solidFill>
                      <a:schemeClr val="tx1"/>
                    </a:solidFill>
                  </a:rPr>
                  <a:t>映射区</a:t>
                </a:r>
                <a:endParaRPr lang="zh-CN" altLang="en-US" sz="1200" b="1">
                  <a:solidFill>
                    <a:schemeClr val="tx1"/>
                  </a:solidFill>
                </a:endParaRPr>
              </a:p>
              <a:p>
                <a:pPr algn="ctr"/>
                <a:r>
                  <a:rPr lang="en-US" altLang="zh-CN" sz="1200" b="1">
                    <a:solidFill>
                      <a:schemeClr val="tx1"/>
                    </a:solidFill>
                  </a:rPr>
                  <a:t> </a:t>
                </a:r>
                <a:endParaRPr lang="en-US" altLang="zh-CN" sz="1200" b="1">
                  <a:solidFill>
                    <a:schemeClr val="tx1"/>
                  </a:solidFill>
                </a:endParaRPr>
              </a:p>
            </p:txBody>
          </p:sp>
          <p:sp>
            <p:nvSpPr>
              <p:cNvPr id="73" name="矩形 72"/>
              <p:cNvSpPr/>
              <p:nvPr/>
            </p:nvSpPr>
            <p:spPr>
              <a:xfrm>
                <a:off x="14016" y="5654"/>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堆</a:t>
                </a:r>
                <a:r>
                  <a:rPr lang="en-US" altLang="zh-CN" sz="1200" b="1">
                    <a:solidFill>
                      <a:schemeClr val="tx1"/>
                    </a:solidFill>
                  </a:rPr>
                  <a:t> </a:t>
                </a:r>
                <a:endParaRPr lang="en-US" altLang="zh-CN" sz="1200" b="1">
                  <a:solidFill>
                    <a:schemeClr val="tx1"/>
                  </a:solidFill>
                </a:endParaRPr>
              </a:p>
            </p:txBody>
          </p:sp>
          <p:sp>
            <p:nvSpPr>
              <p:cNvPr id="74" name="矩形 73"/>
              <p:cNvSpPr/>
              <p:nvPr/>
            </p:nvSpPr>
            <p:spPr>
              <a:xfrm>
                <a:off x="14016" y="6327"/>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bss</a:t>
                </a:r>
                <a:r>
                  <a:rPr lang="zh-CN" altLang="en-US" sz="1200" b="1">
                    <a:solidFill>
                      <a:schemeClr val="tx1"/>
                    </a:solidFill>
                  </a:rPr>
                  <a:t>段</a:t>
                </a:r>
                <a:r>
                  <a:rPr lang="en-US" altLang="zh-CN" sz="1200" b="1">
                    <a:solidFill>
                      <a:schemeClr val="tx1"/>
                    </a:solidFill>
                  </a:rPr>
                  <a:t> </a:t>
                </a:r>
                <a:endParaRPr lang="en-US" altLang="zh-CN" sz="1200" b="1">
                  <a:solidFill>
                    <a:schemeClr val="tx1"/>
                  </a:solidFill>
                </a:endParaRPr>
              </a:p>
            </p:txBody>
          </p:sp>
          <p:sp>
            <p:nvSpPr>
              <p:cNvPr id="75" name="矩形 74"/>
              <p:cNvSpPr/>
              <p:nvPr/>
            </p:nvSpPr>
            <p:spPr>
              <a:xfrm>
                <a:off x="14016" y="7000"/>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数据段</a:t>
                </a:r>
                <a:r>
                  <a:rPr lang="en-US" altLang="zh-CN" sz="1200" b="1">
                    <a:solidFill>
                      <a:schemeClr val="tx1"/>
                    </a:solidFill>
                  </a:rPr>
                  <a:t> </a:t>
                </a:r>
                <a:endParaRPr lang="en-US" altLang="zh-CN" sz="1200" b="1">
                  <a:solidFill>
                    <a:schemeClr val="tx1"/>
                  </a:solidFill>
                </a:endParaRPr>
              </a:p>
            </p:txBody>
          </p:sp>
          <p:sp>
            <p:nvSpPr>
              <p:cNvPr id="20" name="矩形 19"/>
              <p:cNvSpPr/>
              <p:nvPr/>
            </p:nvSpPr>
            <p:spPr>
              <a:xfrm>
                <a:off x="14016" y="7673"/>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代码段</a:t>
                </a:r>
                <a:r>
                  <a:rPr lang="en-US" altLang="zh-CN" sz="1200" b="1">
                    <a:solidFill>
                      <a:schemeClr val="tx1"/>
                    </a:solidFill>
                  </a:rPr>
                  <a:t> </a:t>
                </a:r>
                <a:endParaRPr lang="en-US" altLang="zh-CN" sz="1200" b="1">
                  <a:solidFill>
                    <a:schemeClr val="tx1"/>
                  </a:solidFill>
                </a:endParaRPr>
              </a:p>
            </p:txBody>
          </p:sp>
        </p:grpSp>
        <p:sp>
          <p:nvSpPr>
            <p:cNvPr id="21" name="左大括号 20"/>
            <p:cNvSpPr/>
            <p:nvPr/>
          </p:nvSpPr>
          <p:spPr>
            <a:xfrm>
              <a:off x="13526" y="4111"/>
              <a:ext cx="196" cy="4167"/>
            </a:xfrm>
            <a:prstGeom prst="leftBrace">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2" name="文本框 21"/>
            <p:cNvSpPr txBox="1"/>
            <p:nvPr/>
          </p:nvSpPr>
          <p:spPr>
            <a:xfrm>
              <a:off x="12922" y="5654"/>
              <a:ext cx="489"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用户空间</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sp>
        <p:nvSpPr>
          <p:cNvPr id="23" name="文本框 22"/>
          <p:cNvSpPr txBox="1"/>
          <p:nvPr/>
        </p:nvSpPr>
        <p:spPr>
          <a:xfrm>
            <a:off x="593090" y="3304540"/>
            <a:ext cx="4675505" cy="923290"/>
          </a:xfrm>
          <a:prstGeom prst="rect">
            <a:avLst/>
          </a:prstGeom>
          <a:noFill/>
        </p:spPr>
        <p:txBody>
          <a:bodyPr wrap="square" lIns="0" tIns="0" rIns="0" bIns="0" rtlCol="0" anchor="t">
            <a:spAutoFit/>
          </a:bodyPr>
          <a:lstStyle/>
          <a:p>
            <a:pPr indent="0">
              <a:buFont typeface="Wingdings" panose="05000000000000000000" charset="0"/>
              <a:buNone/>
            </a:pP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1</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、进程调用</a:t>
            </a: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 mmap()</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，内核在进程的虚拟地址空间中</a:t>
            </a: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划出一块地</a:t>
            </a: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，即预留一段地址范围。</a:t>
            </a:r>
            <a:endPar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24" name="矩形 23"/>
          <p:cNvSpPr/>
          <p:nvPr/>
        </p:nvSpPr>
        <p:spPr>
          <a:xfrm>
            <a:off x="7510145" y="4104640"/>
            <a:ext cx="853440" cy="340360"/>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25" name="文本框 24"/>
          <p:cNvSpPr txBox="1"/>
          <p:nvPr/>
        </p:nvSpPr>
        <p:spPr>
          <a:xfrm>
            <a:off x="7623810" y="3818255"/>
            <a:ext cx="638175" cy="246380"/>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页表</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26" name="矩形 25"/>
          <p:cNvSpPr/>
          <p:nvPr/>
        </p:nvSpPr>
        <p:spPr>
          <a:xfrm>
            <a:off x="7510145" y="4443730"/>
            <a:ext cx="853440" cy="340360"/>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27" name="矩形 26"/>
          <p:cNvSpPr/>
          <p:nvPr/>
        </p:nvSpPr>
        <p:spPr>
          <a:xfrm>
            <a:off x="7510145" y="4771390"/>
            <a:ext cx="853440" cy="340360"/>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28" name="右箭头 27"/>
          <p:cNvSpPr/>
          <p:nvPr/>
        </p:nvSpPr>
        <p:spPr>
          <a:xfrm>
            <a:off x="7099300" y="4551680"/>
            <a:ext cx="380365" cy="139700"/>
          </a:xfrm>
          <a:prstGeom prst="rightArrow">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9" name="组合 28"/>
          <p:cNvGrpSpPr/>
          <p:nvPr/>
        </p:nvGrpSpPr>
        <p:grpSpPr>
          <a:xfrm>
            <a:off x="8649970" y="2769870"/>
            <a:ext cx="1447800" cy="3213100"/>
            <a:chOff x="16167" y="3218"/>
            <a:chExt cx="2280" cy="5060"/>
          </a:xfrm>
        </p:grpSpPr>
        <p:sp>
          <p:nvSpPr>
            <p:cNvPr id="30" name="矩形 29"/>
            <p:cNvSpPr/>
            <p:nvPr/>
          </p:nvSpPr>
          <p:spPr>
            <a:xfrm>
              <a:off x="16635" y="3752"/>
              <a:ext cx="1344" cy="4526"/>
            </a:xfrm>
            <a:prstGeom prst="rect">
              <a:avLst/>
            </a:prstGeom>
            <a:solidFill>
              <a:schemeClr val="accent4">
                <a:lumMod val="20000"/>
                <a:lumOff val="8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31" name="文本框 30"/>
            <p:cNvSpPr txBox="1"/>
            <p:nvPr/>
          </p:nvSpPr>
          <p:spPr>
            <a:xfrm>
              <a:off x="16167" y="3218"/>
              <a:ext cx="228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内存</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sp>
        <p:nvSpPr>
          <p:cNvPr id="32" name="文本框 31"/>
          <p:cNvSpPr txBox="1"/>
          <p:nvPr/>
        </p:nvSpPr>
        <p:spPr>
          <a:xfrm>
            <a:off x="593090" y="4551680"/>
            <a:ext cx="4844415" cy="615315"/>
          </a:xfrm>
          <a:prstGeom prst="rect">
            <a:avLst/>
          </a:prstGeom>
          <a:noFill/>
        </p:spPr>
        <p:txBody>
          <a:bodyPr wrap="square" lIns="0" tIns="0" rIns="0" bIns="0" rtlCol="0" anchor="t">
            <a:spAutoFit/>
          </a:bodyPr>
          <a:lstStyle/>
          <a:p>
            <a:pPr indent="0">
              <a:buFont typeface="Wingdings" panose="05000000000000000000" charset="0"/>
              <a:buNone/>
            </a:pP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2</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、进程首次访问映射区的地址（如</a:t>
            </a: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 *ptr = 'a'</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a:t>
            </a: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CPU</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产生缺页异常（页表为空）。</a:t>
            </a:r>
            <a:endPar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33" name="文本框 32"/>
          <p:cNvSpPr txBox="1"/>
          <p:nvPr/>
        </p:nvSpPr>
        <p:spPr>
          <a:xfrm>
            <a:off x="593090" y="5607685"/>
            <a:ext cx="4675505" cy="307340"/>
          </a:xfrm>
          <a:prstGeom prst="rect">
            <a:avLst/>
          </a:prstGeom>
          <a:noFill/>
        </p:spPr>
        <p:txBody>
          <a:bodyPr wrap="square" lIns="0" tIns="0" rIns="0" bIns="0" rtlCol="0" anchor="t">
            <a:spAutoFit/>
          </a:bodyPr>
          <a:lstStyle/>
          <a:p>
            <a:pPr indent="0">
              <a:buFont typeface="Wingdings" panose="05000000000000000000" charset="0"/>
              <a:buNone/>
            </a:pP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3</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a:t>
            </a: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OS</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分配一个物理页框</a:t>
            </a:r>
            <a:endPar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34" name="矩形 33"/>
          <p:cNvSpPr/>
          <p:nvPr/>
        </p:nvSpPr>
        <p:spPr>
          <a:xfrm>
            <a:off x="6215380" y="4606925"/>
            <a:ext cx="853440" cy="257810"/>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35" name="矩形 34"/>
          <p:cNvSpPr/>
          <p:nvPr/>
        </p:nvSpPr>
        <p:spPr>
          <a:xfrm>
            <a:off x="8947150" y="4148455"/>
            <a:ext cx="853440" cy="340360"/>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page Cache </a:t>
            </a:r>
            <a:endParaRPr lang="en-US" altLang="zh-CN" sz="1200" b="1">
              <a:solidFill>
                <a:schemeClr val="tx1"/>
              </a:solidFill>
            </a:endParaRPr>
          </a:p>
        </p:txBody>
      </p:sp>
      <p:sp>
        <p:nvSpPr>
          <p:cNvPr id="36" name="文本框 35"/>
          <p:cNvSpPr txBox="1"/>
          <p:nvPr/>
        </p:nvSpPr>
        <p:spPr>
          <a:xfrm>
            <a:off x="1087120" y="548005"/>
            <a:ext cx="4393565" cy="521970"/>
          </a:xfrm>
          <a:prstGeom prst="rect">
            <a:avLst/>
          </a:prstGeom>
        </p:spPr>
        <p:txBody>
          <a:bodyPr wrap="square">
            <a:spAutoFit/>
          </a:bodyPr>
          <a:lstStyle/>
          <a:p>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文件内存映射（</a:t>
            </a:r>
            <a:r>
              <a:rPr lang="zh-CN" altLang="en-US" sz="2800" b="0" dirty="0">
                <a:solidFill>
                  <a:srgbClr val="7C0000"/>
                </a:solidFill>
                <a:latin typeface="方正大黑简体" panose="02000000000000000000" charset="-122"/>
                <a:ea typeface="方正大黑简体" panose="02000000000000000000" charset="-122"/>
                <a:cs typeface="方正大黑简体" panose="02000000000000000000" charset="-122"/>
              </a:rPr>
              <a:t>补充</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par>
                          <p:cTn id="7" fill="hold">
                            <p:stCondLst>
                              <p:cond delay="0"/>
                            </p:stCondLst>
                            <p:childTnLst>
                              <p:par>
                                <p:cTn id="8" presetID="3" presetClass="entr" presetSubtype="10" fill="hold" grpId="0" nodeType="afterEffect">
                                  <p:stCondLst>
                                    <p:cond delay="0"/>
                                  </p:stCondLst>
                                  <p:childTnLst>
                                    <p:set>
                                      <p:cBhvr>
                                        <p:cTn id="9" dur="250" fill="hold">
                                          <p:stCondLst>
                                            <p:cond delay="0"/>
                                          </p:stCondLst>
                                        </p:cTn>
                                        <p:tgtEl>
                                          <p:spTgt spid="24"/>
                                        </p:tgtEl>
                                        <p:attrNameLst>
                                          <p:attrName>style.visibility</p:attrName>
                                        </p:attrNameLst>
                                      </p:cBhvr>
                                      <p:to>
                                        <p:strVal val="visible"/>
                                      </p:to>
                                    </p:set>
                                    <p:animEffect transition="in" filter="blinds(horizontal)">
                                      <p:cBhvr>
                                        <p:cTn id="10" dur="250"/>
                                        <p:tgtEl>
                                          <p:spTgt spid="24"/>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250" fill="hold">
                                          <p:stCondLst>
                                            <p:cond delay="0"/>
                                          </p:stCondLst>
                                        </p:cTn>
                                        <p:tgtEl>
                                          <p:spTgt spid="25"/>
                                        </p:tgtEl>
                                        <p:attrNameLst>
                                          <p:attrName>style.visibility</p:attrName>
                                        </p:attrNameLst>
                                      </p:cBhvr>
                                      <p:to>
                                        <p:strVal val="visible"/>
                                      </p:to>
                                    </p:set>
                                    <p:animEffect transition="in" filter="blinds(horizontal)">
                                      <p:cBhvr>
                                        <p:cTn id="14" dur="250"/>
                                        <p:tgtEl>
                                          <p:spTgt spid="25"/>
                                        </p:tgtEl>
                                      </p:cBhvr>
                                    </p:animEffect>
                                  </p:childTnLst>
                                </p:cTn>
                              </p:par>
                            </p:childTnLst>
                          </p:cTn>
                        </p:par>
                        <p:par>
                          <p:cTn id="15" fill="hold">
                            <p:stCondLst>
                              <p:cond delay="1000"/>
                            </p:stCondLst>
                            <p:childTnLst>
                              <p:par>
                                <p:cTn id="16" presetID="3" presetClass="entr" presetSubtype="10" fill="hold" grpId="0" nodeType="afterEffect">
                                  <p:stCondLst>
                                    <p:cond delay="0"/>
                                  </p:stCondLst>
                                  <p:childTnLst>
                                    <p:set>
                                      <p:cBhvr>
                                        <p:cTn id="17" dur="250" fill="hold">
                                          <p:stCondLst>
                                            <p:cond delay="0"/>
                                          </p:stCondLst>
                                        </p:cTn>
                                        <p:tgtEl>
                                          <p:spTgt spid="26"/>
                                        </p:tgtEl>
                                        <p:attrNameLst>
                                          <p:attrName>style.visibility</p:attrName>
                                        </p:attrNameLst>
                                      </p:cBhvr>
                                      <p:to>
                                        <p:strVal val="visible"/>
                                      </p:to>
                                    </p:set>
                                    <p:animEffect transition="in" filter="blinds(horizontal)">
                                      <p:cBhvr>
                                        <p:cTn id="18" dur="250"/>
                                        <p:tgtEl>
                                          <p:spTgt spid="26"/>
                                        </p:tgtEl>
                                      </p:cBhvr>
                                    </p:animEffect>
                                  </p:childTnLst>
                                </p:cTn>
                              </p:par>
                            </p:childTnLst>
                          </p:cTn>
                        </p:par>
                        <p:par>
                          <p:cTn id="19" fill="hold">
                            <p:stCondLst>
                              <p:cond delay="1500"/>
                            </p:stCondLst>
                            <p:childTnLst>
                              <p:par>
                                <p:cTn id="20" presetID="3" presetClass="entr" presetSubtype="10" fill="hold" grpId="0" nodeType="afterEffect">
                                  <p:stCondLst>
                                    <p:cond delay="0"/>
                                  </p:stCondLst>
                                  <p:childTnLst>
                                    <p:set>
                                      <p:cBhvr>
                                        <p:cTn id="21" dur="250" fill="hold">
                                          <p:stCondLst>
                                            <p:cond delay="0"/>
                                          </p:stCondLst>
                                        </p:cTn>
                                        <p:tgtEl>
                                          <p:spTgt spid="27"/>
                                        </p:tgtEl>
                                        <p:attrNameLst>
                                          <p:attrName>style.visibility</p:attrName>
                                        </p:attrNameLst>
                                      </p:cBhvr>
                                      <p:to>
                                        <p:strVal val="visible"/>
                                      </p:to>
                                    </p:set>
                                    <p:animEffect transition="in" filter="blinds(horizontal)">
                                      <p:cBhvr>
                                        <p:cTn id="22" dur="250"/>
                                        <p:tgtEl>
                                          <p:spTgt spid="27"/>
                                        </p:tgtEl>
                                      </p:cBhvr>
                                    </p:animEffect>
                                  </p:childTnLst>
                                </p:cTn>
                              </p:par>
                            </p:childTnLst>
                          </p:cTn>
                        </p:par>
                        <p:par>
                          <p:cTn id="23" fill="hold">
                            <p:stCondLst>
                              <p:cond delay="2000"/>
                            </p:stCondLst>
                            <p:childTnLst>
                              <p:par>
                                <p:cTn id="24" presetID="3" presetClass="entr" presetSubtype="10" fill="hold" nodeType="afterEffect">
                                  <p:stCondLst>
                                    <p:cond delay="0"/>
                                  </p:stCondLst>
                                  <p:childTnLst>
                                    <p:set>
                                      <p:cBhvr>
                                        <p:cTn id="25" dur="250" fill="hold">
                                          <p:stCondLst>
                                            <p:cond delay="0"/>
                                          </p:stCondLst>
                                        </p:cTn>
                                        <p:tgtEl>
                                          <p:spTgt spid="29"/>
                                        </p:tgtEl>
                                        <p:attrNameLst>
                                          <p:attrName>style.visibility</p:attrName>
                                        </p:attrNameLst>
                                      </p:cBhvr>
                                      <p:to>
                                        <p:strVal val="visible"/>
                                      </p:to>
                                    </p:set>
                                    <p:animEffect transition="in" filter="blinds(horizontal)">
                                      <p:cBhvr>
                                        <p:cTn id="26" dur="250"/>
                                        <p:tgtEl>
                                          <p:spTgt spid="29"/>
                                        </p:tgtEl>
                                      </p:cBhvr>
                                    </p:animEffect>
                                  </p:childTnLst>
                                </p:cTn>
                              </p:par>
                            </p:childTnLst>
                          </p:cTn>
                        </p:par>
                        <p:par>
                          <p:cTn id="27" fill="hold">
                            <p:stCondLst>
                              <p:cond delay="2500"/>
                            </p:stCondLst>
                            <p:childTnLst>
                              <p:par>
                                <p:cTn id="28" presetID="3" presetClass="entr" presetSubtype="10" fill="hold" grpId="0" nodeType="afterEffect">
                                  <p:stCondLst>
                                    <p:cond delay="0"/>
                                  </p:stCondLst>
                                  <p:childTnLst>
                                    <p:set>
                                      <p:cBhvr>
                                        <p:cTn id="29" dur="250" fill="hold">
                                          <p:stCondLst>
                                            <p:cond delay="0"/>
                                          </p:stCondLst>
                                        </p:cTn>
                                        <p:tgtEl>
                                          <p:spTgt spid="28"/>
                                        </p:tgtEl>
                                        <p:attrNameLst>
                                          <p:attrName>style.visibility</p:attrName>
                                        </p:attrNameLst>
                                      </p:cBhvr>
                                      <p:to>
                                        <p:strVal val="visible"/>
                                      </p:to>
                                    </p:set>
                                    <p:animEffect transition="in" filter="blinds(horizontal)">
                                      <p:cBhvr>
                                        <p:cTn id="30" dur="25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P spid="24" grpId="0" bldLvl="0" animBg="1"/>
      <p:bldP spid="24" grpId="1" animBg="1"/>
      <p:bldP spid="25" grpId="0"/>
      <p:bldP spid="25" grpId="1"/>
      <p:bldP spid="26" grpId="0" bldLvl="0" animBg="1"/>
      <p:bldP spid="26" grpId="1" animBg="1"/>
      <p:bldP spid="27" grpId="0" bldLvl="0" animBg="1"/>
      <p:bldP spid="27" grpId="1" animBg="1"/>
      <p:bldP spid="28" grpId="0" bldLvl="0" animBg="1"/>
      <p:bldP spid="28" grpId="1" animBg="1"/>
      <p:bldP spid="32" grpId="0"/>
      <p:bldP spid="32" grpId="1"/>
      <p:bldP spid="33" grpId="0"/>
      <p:bldP spid="33" grpId="1"/>
      <p:bldP spid="34" grpId="0" bldLvl="0" animBg="1"/>
      <p:bldP spid="34" grpId="1" animBg="1"/>
      <p:bldP spid="35" grpId="0" bldLvl="0" animBg="1"/>
      <p:bldP spid="35"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p:cNvSpPr/>
          <p:nvPr/>
        </p:nvSpPr>
        <p:spPr>
          <a:xfrm>
            <a:off x="0" y="1139825"/>
            <a:ext cx="12191365" cy="5718175"/>
          </a:xfrm>
          <a:prstGeom prst="roundRect">
            <a:avLst/>
          </a:prstGeom>
          <a:solidFill>
            <a:srgbClr val="00479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标题 3"/>
          <p:cNvSpPr>
            <a:spLocks noGrp="1"/>
          </p:cNvSpPr>
          <p:nvPr/>
        </p:nvSpPr>
        <p:spPr>
          <a:xfrm>
            <a:off x="838200" y="13557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a:t>    </a:t>
            </a:r>
            <a:endParaRPr lang="zh-CN" altLang="en-US"/>
          </a:p>
        </p:txBody>
      </p:sp>
      <p:sp>
        <p:nvSpPr>
          <p:cNvPr id="3" name="文本框 2"/>
          <p:cNvSpPr txBox="1"/>
          <p:nvPr/>
        </p:nvSpPr>
        <p:spPr>
          <a:xfrm>
            <a:off x="758190" y="1518285"/>
            <a:ext cx="4874895" cy="307340"/>
          </a:xfrm>
          <a:prstGeom prst="rect">
            <a:avLst/>
          </a:prstGeom>
          <a:noFill/>
        </p:spPr>
        <p:txBody>
          <a:bodyPr wrap="square" lIns="0" tIns="0" rIns="0" bIns="0" rtlCol="0" anchor="t">
            <a:spAutoFit/>
          </a:bodyPr>
          <a:lstStyle/>
          <a:p>
            <a:pPr marL="0" indent="0"/>
            <a:r>
              <a:rPr lang="zh-CN" sz="2000" b="1" dirty="0">
                <a:solidFill>
                  <a:srgbClr val="FFFF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内存映射的过程</a:t>
            </a:r>
            <a:endParaRPr lang="zh-CN" sz="2000" b="1" dirty="0">
              <a:solidFill>
                <a:srgbClr val="FFFF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5" name="文本框 4"/>
          <p:cNvSpPr txBox="1"/>
          <p:nvPr/>
        </p:nvSpPr>
        <p:spPr>
          <a:xfrm>
            <a:off x="438150" y="2110105"/>
            <a:ext cx="1967865" cy="706755"/>
          </a:xfrm>
          <a:prstGeom prst="rect">
            <a:avLst/>
          </a:prstGeom>
          <a:ln>
            <a:noFill/>
          </a:ln>
        </p:spPr>
        <p:txBody>
          <a:bodyPr wrap="square">
            <a:spAutoFit/>
          </a:bodyPr>
          <a:lstStyle/>
          <a:p>
            <a:pPr marL="0" indent="0"/>
            <a:endParaRPr lang="en-US" altLang="zh-CN"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a:p>
            <a:pPr marL="0" indent="0"/>
            <a:r>
              <a:rPr lang="zh-CN" altLang="en-US"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rPr>
              <a:t>步骤详解：</a:t>
            </a:r>
            <a:endParaRPr lang="zh-CN" altLang="en-US" sz="2000" b="0" i="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p:txBody>
      </p:sp>
      <p:grpSp>
        <p:nvGrpSpPr>
          <p:cNvPr id="7" name="组合 6"/>
          <p:cNvGrpSpPr/>
          <p:nvPr/>
        </p:nvGrpSpPr>
        <p:grpSpPr>
          <a:xfrm>
            <a:off x="5521325" y="2171700"/>
            <a:ext cx="1758315" cy="4250690"/>
            <a:chOff x="12922" y="1650"/>
            <a:chExt cx="2769" cy="6694"/>
          </a:xfrm>
        </p:grpSpPr>
        <p:sp>
          <p:nvSpPr>
            <p:cNvPr id="8" name="文本框 7"/>
            <p:cNvSpPr txBox="1"/>
            <p:nvPr/>
          </p:nvSpPr>
          <p:spPr>
            <a:xfrm>
              <a:off x="13411" y="1650"/>
              <a:ext cx="228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进程的虚地址空间</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nvGrpSpPr>
            <p:cNvPr id="9" name="组合 8"/>
            <p:cNvGrpSpPr/>
            <p:nvPr/>
          </p:nvGrpSpPr>
          <p:grpSpPr>
            <a:xfrm>
              <a:off x="14016" y="2286"/>
              <a:ext cx="1344" cy="6059"/>
              <a:chOff x="14016" y="2286"/>
              <a:chExt cx="1344" cy="6059"/>
            </a:xfrm>
          </p:grpSpPr>
          <p:sp>
            <p:nvSpPr>
              <p:cNvPr id="10" name="矩形 9"/>
              <p:cNvSpPr/>
              <p:nvPr/>
            </p:nvSpPr>
            <p:spPr>
              <a:xfrm>
                <a:off x="14016" y="2286"/>
                <a:ext cx="1344" cy="1699"/>
              </a:xfrm>
              <a:prstGeom prst="rect">
                <a:avLst/>
              </a:prstGeom>
              <a:solidFill>
                <a:schemeClr val="accent6">
                  <a:lumMod val="75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t>内核空间</a:t>
                </a:r>
                <a:endParaRPr lang="zh-CN" altLang="en-US" sz="1200" b="1"/>
              </a:p>
            </p:txBody>
          </p:sp>
          <p:sp>
            <p:nvSpPr>
              <p:cNvPr id="12" name="矩形 11"/>
              <p:cNvSpPr/>
              <p:nvPr/>
            </p:nvSpPr>
            <p:spPr>
              <a:xfrm>
                <a:off x="14016" y="3985"/>
                <a:ext cx="1344" cy="541"/>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栈</a:t>
                </a:r>
                <a:r>
                  <a:rPr lang="en-US" altLang="zh-CN" sz="1200" b="1">
                    <a:solidFill>
                      <a:schemeClr val="tx1"/>
                    </a:solidFill>
                  </a:rPr>
                  <a:t> </a:t>
                </a:r>
                <a:endParaRPr lang="en-US" altLang="zh-CN" sz="1200" b="1">
                  <a:solidFill>
                    <a:schemeClr val="tx1"/>
                  </a:solidFill>
                </a:endParaRPr>
              </a:p>
            </p:txBody>
          </p:sp>
          <p:sp>
            <p:nvSpPr>
              <p:cNvPr id="13" name="矩形 12"/>
              <p:cNvSpPr/>
              <p:nvPr/>
            </p:nvSpPr>
            <p:spPr>
              <a:xfrm>
                <a:off x="14016" y="4526"/>
                <a:ext cx="1344" cy="1128"/>
              </a:xfrm>
              <a:prstGeom prst="rect">
                <a:avLst/>
              </a:prstGeom>
              <a:solidFill>
                <a:schemeClr val="accent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内存</a:t>
                </a:r>
                <a:endParaRPr lang="zh-CN" altLang="en-US" sz="1200" b="1">
                  <a:solidFill>
                    <a:schemeClr val="tx1"/>
                  </a:solidFill>
                </a:endParaRPr>
              </a:p>
              <a:p>
                <a:pPr algn="ctr"/>
                <a:r>
                  <a:rPr lang="zh-CN" altLang="en-US" sz="1200" b="1">
                    <a:solidFill>
                      <a:schemeClr val="tx1"/>
                    </a:solidFill>
                  </a:rPr>
                  <a:t>映射区</a:t>
                </a:r>
                <a:endParaRPr lang="zh-CN" altLang="en-US" sz="1200" b="1">
                  <a:solidFill>
                    <a:schemeClr val="tx1"/>
                  </a:solidFill>
                </a:endParaRPr>
              </a:p>
              <a:p>
                <a:pPr algn="ctr"/>
                <a:r>
                  <a:rPr lang="en-US" altLang="zh-CN" sz="1200" b="1">
                    <a:solidFill>
                      <a:schemeClr val="tx1"/>
                    </a:solidFill>
                  </a:rPr>
                  <a:t> </a:t>
                </a:r>
                <a:endParaRPr lang="en-US" altLang="zh-CN" sz="1200" b="1">
                  <a:solidFill>
                    <a:schemeClr val="tx1"/>
                  </a:solidFill>
                </a:endParaRPr>
              </a:p>
            </p:txBody>
          </p:sp>
          <p:sp>
            <p:nvSpPr>
              <p:cNvPr id="16" name="矩形 15"/>
              <p:cNvSpPr/>
              <p:nvPr/>
            </p:nvSpPr>
            <p:spPr>
              <a:xfrm>
                <a:off x="14016" y="5654"/>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堆</a:t>
                </a:r>
                <a:r>
                  <a:rPr lang="en-US" altLang="zh-CN" sz="1200" b="1">
                    <a:solidFill>
                      <a:schemeClr val="tx1"/>
                    </a:solidFill>
                  </a:rPr>
                  <a:t> </a:t>
                </a:r>
                <a:endParaRPr lang="en-US" altLang="zh-CN" sz="1200" b="1">
                  <a:solidFill>
                    <a:schemeClr val="tx1"/>
                  </a:solidFill>
                </a:endParaRPr>
              </a:p>
            </p:txBody>
          </p:sp>
          <p:sp>
            <p:nvSpPr>
              <p:cNvPr id="36" name="矩形 35"/>
              <p:cNvSpPr/>
              <p:nvPr/>
            </p:nvSpPr>
            <p:spPr>
              <a:xfrm>
                <a:off x="14016" y="6327"/>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bss</a:t>
                </a:r>
                <a:r>
                  <a:rPr lang="zh-CN" altLang="en-US" sz="1200" b="1">
                    <a:solidFill>
                      <a:schemeClr val="tx1"/>
                    </a:solidFill>
                  </a:rPr>
                  <a:t>段</a:t>
                </a:r>
                <a:r>
                  <a:rPr lang="en-US" altLang="zh-CN" sz="1200" b="1">
                    <a:solidFill>
                      <a:schemeClr val="tx1"/>
                    </a:solidFill>
                  </a:rPr>
                  <a:t> </a:t>
                </a:r>
                <a:endParaRPr lang="en-US" altLang="zh-CN" sz="1200" b="1">
                  <a:solidFill>
                    <a:schemeClr val="tx1"/>
                  </a:solidFill>
                </a:endParaRPr>
              </a:p>
            </p:txBody>
          </p:sp>
          <p:sp>
            <p:nvSpPr>
              <p:cNvPr id="37" name="矩形 36"/>
              <p:cNvSpPr/>
              <p:nvPr/>
            </p:nvSpPr>
            <p:spPr>
              <a:xfrm>
                <a:off x="14016" y="7000"/>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数据段</a:t>
                </a:r>
                <a:r>
                  <a:rPr lang="en-US" altLang="zh-CN" sz="1200" b="1">
                    <a:solidFill>
                      <a:schemeClr val="tx1"/>
                    </a:solidFill>
                  </a:rPr>
                  <a:t> </a:t>
                </a:r>
                <a:endParaRPr lang="en-US" altLang="zh-CN" sz="1200" b="1">
                  <a:solidFill>
                    <a:schemeClr val="tx1"/>
                  </a:solidFill>
                </a:endParaRPr>
              </a:p>
            </p:txBody>
          </p:sp>
          <p:sp>
            <p:nvSpPr>
              <p:cNvPr id="76" name="矩形 75"/>
              <p:cNvSpPr/>
              <p:nvPr/>
            </p:nvSpPr>
            <p:spPr>
              <a:xfrm>
                <a:off x="14016" y="7673"/>
                <a:ext cx="1344" cy="673"/>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代码段</a:t>
                </a:r>
                <a:r>
                  <a:rPr lang="en-US" altLang="zh-CN" sz="1200" b="1">
                    <a:solidFill>
                      <a:schemeClr val="tx1"/>
                    </a:solidFill>
                  </a:rPr>
                  <a:t> </a:t>
                </a:r>
                <a:endParaRPr lang="en-US" altLang="zh-CN" sz="1200" b="1">
                  <a:solidFill>
                    <a:schemeClr val="tx1"/>
                  </a:solidFill>
                </a:endParaRPr>
              </a:p>
            </p:txBody>
          </p:sp>
        </p:grpSp>
        <p:sp>
          <p:nvSpPr>
            <p:cNvPr id="77" name="左大括号 76"/>
            <p:cNvSpPr/>
            <p:nvPr/>
          </p:nvSpPr>
          <p:spPr>
            <a:xfrm>
              <a:off x="13526" y="4111"/>
              <a:ext cx="196" cy="4167"/>
            </a:xfrm>
            <a:prstGeom prst="leftBrace">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78" name="文本框 77"/>
            <p:cNvSpPr txBox="1"/>
            <p:nvPr/>
          </p:nvSpPr>
          <p:spPr>
            <a:xfrm>
              <a:off x="12922" y="5654"/>
              <a:ext cx="489"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用户空间</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sp>
        <p:nvSpPr>
          <p:cNvPr id="38" name="文本框 37"/>
          <p:cNvSpPr txBox="1"/>
          <p:nvPr/>
        </p:nvSpPr>
        <p:spPr>
          <a:xfrm>
            <a:off x="603885" y="3154045"/>
            <a:ext cx="4675505" cy="615315"/>
          </a:xfrm>
          <a:prstGeom prst="rect">
            <a:avLst/>
          </a:prstGeom>
          <a:noFill/>
        </p:spPr>
        <p:txBody>
          <a:bodyPr wrap="square" lIns="0" tIns="0" rIns="0" bIns="0" rtlCol="0" anchor="t">
            <a:spAutoFit/>
          </a:bodyPr>
          <a:lstStyle/>
          <a:p>
            <a:pPr indent="0">
              <a:buFont typeface="Wingdings" panose="05000000000000000000" charset="0"/>
              <a:buNone/>
            </a:pP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4</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a:t>
            </a: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OS</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从磁盘文件的对应位置，读入一整页数据（如</a:t>
            </a: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4KB</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）到该页框。</a:t>
            </a:r>
            <a:endPar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92" name="矩形 91"/>
          <p:cNvSpPr/>
          <p:nvPr/>
        </p:nvSpPr>
        <p:spPr>
          <a:xfrm>
            <a:off x="7520940" y="3954145"/>
            <a:ext cx="853440" cy="340360"/>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93" name="文本框 92"/>
          <p:cNvSpPr txBox="1"/>
          <p:nvPr/>
        </p:nvSpPr>
        <p:spPr>
          <a:xfrm>
            <a:off x="7634605" y="3667760"/>
            <a:ext cx="638175" cy="246380"/>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页表</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94" name="矩形 93"/>
          <p:cNvSpPr/>
          <p:nvPr/>
        </p:nvSpPr>
        <p:spPr>
          <a:xfrm>
            <a:off x="7520940" y="4293235"/>
            <a:ext cx="853440" cy="340360"/>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95" name="矩形 94"/>
          <p:cNvSpPr/>
          <p:nvPr/>
        </p:nvSpPr>
        <p:spPr>
          <a:xfrm>
            <a:off x="7520940" y="4620895"/>
            <a:ext cx="853440" cy="340360"/>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96" name="右箭头 95"/>
          <p:cNvSpPr/>
          <p:nvPr/>
        </p:nvSpPr>
        <p:spPr>
          <a:xfrm>
            <a:off x="7110095" y="4401185"/>
            <a:ext cx="380365" cy="139700"/>
          </a:xfrm>
          <a:prstGeom prst="rightArrow">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9" name="组合 78"/>
          <p:cNvGrpSpPr/>
          <p:nvPr/>
        </p:nvGrpSpPr>
        <p:grpSpPr>
          <a:xfrm>
            <a:off x="8660765" y="2619375"/>
            <a:ext cx="1447800" cy="3213100"/>
            <a:chOff x="16167" y="3218"/>
            <a:chExt cx="2280" cy="5060"/>
          </a:xfrm>
        </p:grpSpPr>
        <p:sp>
          <p:nvSpPr>
            <p:cNvPr id="80" name="矩形 79"/>
            <p:cNvSpPr/>
            <p:nvPr/>
          </p:nvSpPr>
          <p:spPr>
            <a:xfrm>
              <a:off x="16635" y="3752"/>
              <a:ext cx="1344" cy="4526"/>
            </a:xfrm>
            <a:prstGeom prst="rect">
              <a:avLst/>
            </a:prstGeom>
            <a:solidFill>
              <a:schemeClr val="accent4">
                <a:lumMod val="20000"/>
                <a:lumOff val="8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81" name="文本框 80"/>
            <p:cNvSpPr txBox="1"/>
            <p:nvPr/>
          </p:nvSpPr>
          <p:spPr>
            <a:xfrm>
              <a:off x="16167" y="3218"/>
              <a:ext cx="228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内存</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grpSp>
      <p:sp>
        <p:nvSpPr>
          <p:cNvPr id="39" name="文本框 38"/>
          <p:cNvSpPr txBox="1"/>
          <p:nvPr/>
        </p:nvSpPr>
        <p:spPr>
          <a:xfrm>
            <a:off x="603885" y="4401185"/>
            <a:ext cx="4844415" cy="615315"/>
          </a:xfrm>
          <a:prstGeom prst="rect">
            <a:avLst/>
          </a:prstGeom>
          <a:noFill/>
        </p:spPr>
        <p:txBody>
          <a:bodyPr wrap="square" lIns="0" tIns="0" rIns="0" bIns="0" rtlCol="0" anchor="t">
            <a:spAutoFit/>
          </a:bodyPr>
          <a:lstStyle/>
          <a:p>
            <a:pPr indent="0">
              <a:buFont typeface="Wingdings" panose="05000000000000000000" charset="0"/>
              <a:buNone/>
            </a:pP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5</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a:t>
            </a: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OS</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更新页表和快表，建立虚拟页到物理页框的映射。</a:t>
            </a:r>
            <a:endPar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40" name="文本框 39"/>
          <p:cNvSpPr txBox="1"/>
          <p:nvPr/>
        </p:nvSpPr>
        <p:spPr>
          <a:xfrm>
            <a:off x="603885" y="5457190"/>
            <a:ext cx="4675505" cy="307340"/>
          </a:xfrm>
          <a:prstGeom prst="rect">
            <a:avLst/>
          </a:prstGeom>
          <a:noFill/>
        </p:spPr>
        <p:txBody>
          <a:bodyPr wrap="square" lIns="0" tIns="0" rIns="0" bIns="0" rtlCol="0" anchor="t">
            <a:spAutoFit/>
          </a:bodyPr>
          <a:lstStyle/>
          <a:p>
            <a:pPr indent="0">
              <a:buFont typeface="Wingdings" panose="05000000000000000000" charset="0"/>
              <a:buNone/>
            </a:pPr>
            <a:r>
              <a:rPr lang="en-US" altLang="zh-CN"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6</a:t>
            </a:r>
            <a:r>
              <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、进程恢复执行，访问成功！</a:t>
            </a:r>
            <a:endParaRPr lang="zh-CN" altLang="en-US" sz="20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41" name="矩形 40"/>
          <p:cNvSpPr/>
          <p:nvPr/>
        </p:nvSpPr>
        <p:spPr>
          <a:xfrm>
            <a:off x="6226175" y="4456430"/>
            <a:ext cx="853440" cy="257810"/>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42" name="矩形 41"/>
          <p:cNvSpPr/>
          <p:nvPr/>
        </p:nvSpPr>
        <p:spPr>
          <a:xfrm>
            <a:off x="8957945" y="3997960"/>
            <a:ext cx="853440" cy="340360"/>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sym typeface="+mn-ea"/>
              </a:rPr>
              <a:t>page Cache </a:t>
            </a:r>
            <a:endParaRPr lang="en-US" altLang="zh-CN" sz="1200" b="1">
              <a:solidFill>
                <a:schemeClr val="tx1"/>
              </a:solidFill>
            </a:endParaRPr>
          </a:p>
        </p:txBody>
      </p:sp>
      <p:grpSp>
        <p:nvGrpSpPr>
          <p:cNvPr id="83" name="组合 82"/>
          <p:cNvGrpSpPr/>
          <p:nvPr/>
        </p:nvGrpSpPr>
        <p:grpSpPr>
          <a:xfrm>
            <a:off x="10598785" y="2185035"/>
            <a:ext cx="1447800" cy="3774440"/>
            <a:chOff x="16167" y="2334"/>
            <a:chExt cx="2280" cy="5944"/>
          </a:xfrm>
        </p:grpSpPr>
        <p:sp>
          <p:nvSpPr>
            <p:cNvPr id="84" name="圆柱形 83"/>
            <p:cNvSpPr/>
            <p:nvPr/>
          </p:nvSpPr>
          <p:spPr>
            <a:xfrm>
              <a:off x="16635" y="2756"/>
              <a:ext cx="1344" cy="5522"/>
            </a:xfrm>
            <a:prstGeom prst="can">
              <a:avLst/>
            </a:prstGeom>
            <a:solidFill>
              <a:schemeClr val="accent6">
                <a:lumMod val="20000"/>
                <a:lumOff val="8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85" name="文本框 84"/>
            <p:cNvSpPr txBox="1"/>
            <p:nvPr/>
          </p:nvSpPr>
          <p:spPr>
            <a:xfrm>
              <a:off x="16167" y="2334"/>
              <a:ext cx="2280" cy="534"/>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硬盘</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86" name="矩形 85"/>
            <p:cNvSpPr/>
            <p:nvPr/>
          </p:nvSpPr>
          <p:spPr>
            <a:xfrm>
              <a:off x="16635" y="5200"/>
              <a:ext cx="1344" cy="541"/>
            </a:xfrm>
            <a:prstGeom prst="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b="1">
                  <a:solidFill>
                    <a:schemeClr val="tx1"/>
                  </a:solidFill>
                </a:rPr>
                <a:t>文件</a:t>
              </a:r>
              <a:endParaRPr lang="zh-CN" altLang="en-US" sz="1200" b="1">
                <a:solidFill>
                  <a:schemeClr val="tx1"/>
                </a:solidFill>
              </a:endParaRPr>
            </a:p>
          </p:txBody>
        </p:sp>
      </p:grpSp>
      <p:cxnSp>
        <p:nvCxnSpPr>
          <p:cNvPr id="88" name="直接箭头连接符 87"/>
          <p:cNvCxnSpPr/>
          <p:nvPr/>
        </p:nvCxnSpPr>
        <p:spPr>
          <a:xfrm flipH="1" flipV="1">
            <a:off x="9937750" y="4109085"/>
            <a:ext cx="829945" cy="10160"/>
          </a:xfrm>
          <a:prstGeom prst="straightConnector1">
            <a:avLst/>
          </a:prstGeom>
          <a:ln>
            <a:solidFill>
              <a:schemeClr val="bg1"/>
            </a:solidFill>
            <a:tailEnd type="arrow"/>
          </a:ln>
        </p:spPr>
        <p:style>
          <a:lnRef idx="2">
            <a:schemeClr val="accent1"/>
          </a:lnRef>
          <a:fillRef idx="0">
            <a:srgbClr val="FFFFFF"/>
          </a:fillRef>
          <a:effectRef idx="0">
            <a:srgbClr val="FFFFFF"/>
          </a:effectRef>
          <a:fontRef idx="minor">
            <a:schemeClr val="tx1"/>
          </a:fontRef>
        </p:style>
      </p:cxnSp>
      <p:sp>
        <p:nvSpPr>
          <p:cNvPr id="90" name="文本框 89"/>
          <p:cNvSpPr txBox="1"/>
          <p:nvPr/>
        </p:nvSpPr>
        <p:spPr>
          <a:xfrm>
            <a:off x="10055225" y="3829050"/>
            <a:ext cx="596900" cy="339090"/>
          </a:xfrm>
          <a:prstGeom prst="rect">
            <a:avLst/>
          </a:prstGeom>
          <a:noFill/>
        </p:spPr>
        <p:txBody>
          <a:bodyPr wrap="square" lIns="0" tIns="0" rIns="0" bIns="0" rtlCol="0" anchor="t">
            <a:noAutofit/>
          </a:bodyPr>
          <a:lstStyle/>
          <a:p>
            <a:pPr algn="ctr"/>
            <a:r>
              <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读取</a:t>
            </a:r>
            <a:endParaRPr lang="zh-CN" altLang="en-US" sz="1400">
              <a:solidFill>
                <a:schemeClr val="bg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43" name="矩形 42"/>
          <p:cNvSpPr/>
          <p:nvPr/>
        </p:nvSpPr>
        <p:spPr>
          <a:xfrm>
            <a:off x="8957945" y="4008120"/>
            <a:ext cx="853440" cy="340360"/>
          </a:xfrm>
          <a:prstGeom prst="rect">
            <a:avLst/>
          </a:prstGeom>
          <a:solidFill>
            <a:schemeClr val="accent6">
              <a:lumMod val="75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sym typeface="+mn-ea"/>
              </a:rPr>
              <a:t>page Cache </a:t>
            </a:r>
            <a:endParaRPr lang="en-US" altLang="zh-CN" sz="1200" b="1">
              <a:solidFill>
                <a:schemeClr val="tx1"/>
              </a:solidFill>
            </a:endParaRPr>
          </a:p>
        </p:txBody>
      </p:sp>
      <p:sp>
        <p:nvSpPr>
          <p:cNvPr id="97" name="右箭头 96"/>
          <p:cNvSpPr/>
          <p:nvPr/>
        </p:nvSpPr>
        <p:spPr>
          <a:xfrm rot="20700000">
            <a:off x="8391525" y="4160520"/>
            <a:ext cx="572770" cy="210185"/>
          </a:xfrm>
          <a:prstGeom prst="rightArrow">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4" name="矩形 43"/>
          <p:cNvSpPr/>
          <p:nvPr/>
        </p:nvSpPr>
        <p:spPr>
          <a:xfrm>
            <a:off x="7513320" y="3957320"/>
            <a:ext cx="853440" cy="340360"/>
          </a:xfrm>
          <a:prstGeom prst="rect">
            <a:avLst/>
          </a:prstGeom>
          <a:solidFill>
            <a:schemeClr val="accent4">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b="1">
                <a:solidFill>
                  <a:schemeClr val="tx1"/>
                </a:solidFill>
              </a:rPr>
              <a:t> </a:t>
            </a:r>
            <a:endParaRPr lang="en-US" altLang="zh-CN" sz="1200" b="1">
              <a:solidFill>
                <a:schemeClr val="tx1"/>
              </a:solidFill>
            </a:endParaRPr>
          </a:p>
        </p:txBody>
      </p:sp>
      <p:sp>
        <p:nvSpPr>
          <p:cNvPr id="45" name="文本框 44"/>
          <p:cNvSpPr txBox="1"/>
          <p:nvPr/>
        </p:nvSpPr>
        <p:spPr>
          <a:xfrm>
            <a:off x="1077595" y="548005"/>
            <a:ext cx="4393565" cy="521970"/>
          </a:xfrm>
          <a:prstGeom prst="rect">
            <a:avLst/>
          </a:prstGeom>
        </p:spPr>
        <p:txBody>
          <a:bodyPr wrap="square">
            <a:spAutoFit/>
          </a:bodyPr>
          <a:lstStyle/>
          <a:p>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文件内存映射（</a:t>
            </a:r>
            <a:r>
              <a:rPr lang="zh-CN" altLang="en-US" sz="2800" b="0" dirty="0">
                <a:solidFill>
                  <a:srgbClr val="7C0000"/>
                </a:solidFill>
                <a:latin typeface="方正大黑简体" panose="02000000000000000000" charset="-122"/>
                <a:ea typeface="方正大黑简体" panose="02000000000000000000" charset="-122"/>
                <a:cs typeface="方正大黑简体" panose="02000000000000000000" charset="-122"/>
              </a:rPr>
              <a:t>补充</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3"/>
                                        </p:tgtEl>
                                        <p:attrNameLst>
                                          <p:attrName>style.visibility</p:attrName>
                                        </p:attrNameLst>
                                      </p:cBhvr>
                                      <p:to>
                                        <p:strVal val="visible"/>
                                      </p:to>
                                    </p:set>
                                  </p:childTnLst>
                                </p:cTn>
                              </p:par>
                            </p:childTnLst>
                          </p:cTn>
                        </p:par>
                        <p:par>
                          <p:cTn id="9" fill="hold">
                            <p:stCondLst>
                              <p:cond delay="0"/>
                            </p:stCondLst>
                            <p:childTnLst>
                              <p:par>
                                <p:cTn id="10" presetID="9" presetClass="entr" presetSubtype="0" fill="hold" grpId="0" nodeType="afterEffect">
                                  <p:stCondLst>
                                    <p:cond delay="0"/>
                                  </p:stCondLst>
                                  <p:childTnLst>
                                    <p:set>
                                      <p:cBhvr>
                                        <p:cTn id="11" dur="250" fill="hold">
                                          <p:stCondLst>
                                            <p:cond delay="0"/>
                                          </p:stCondLst>
                                        </p:cTn>
                                        <p:tgtEl>
                                          <p:spTgt spid="90"/>
                                        </p:tgtEl>
                                        <p:attrNameLst>
                                          <p:attrName>style.visibility</p:attrName>
                                        </p:attrNameLst>
                                      </p:cBhvr>
                                      <p:to>
                                        <p:strVal val="visible"/>
                                      </p:to>
                                    </p:set>
                                    <p:animEffect transition="in" filter="dissolve">
                                      <p:cBhvr>
                                        <p:cTn id="12" dur="250"/>
                                        <p:tgtEl>
                                          <p:spTgt spid="90"/>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250" fill="hold">
                                          <p:stCondLst>
                                            <p:cond delay="0"/>
                                          </p:stCondLst>
                                        </p:cTn>
                                        <p:tgtEl>
                                          <p:spTgt spid="88"/>
                                        </p:tgtEl>
                                        <p:attrNameLst>
                                          <p:attrName>style.visibility</p:attrName>
                                        </p:attrNameLst>
                                      </p:cBhvr>
                                      <p:to>
                                        <p:strVal val="visible"/>
                                      </p:to>
                                    </p:set>
                                    <p:animEffect transition="in" filter="dissolve">
                                      <p:cBhvr>
                                        <p:cTn id="16" dur="250"/>
                                        <p:tgtEl>
                                          <p:spTgt spid="88"/>
                                        </p:tgtEl>
                                      </p:cBhvr>
                                    </p:animEffect>
                                  </p:childTnLst>
                                </p:cTn>
                              </p:par>
                              <p:par>
                                <p:cTn id="17" presetID="1" presetClass="entr" presetSubtype="0" fill="hold" grpId="0" nodeType="withEffect">
                                  <p:stCondLst>
                                    <p:cond delay="25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39" grpId="0"/>
      <p:bldP spid="39" grpId="1"/>
      <p:bldP spid="40" grpId="0"/>
      <p:bldP spid="40" grpId="1"/>
      <p:bldP spid="90" grpId="0"/>
      <p:bldP spid="90" grpId="1"/>
      <p:bldP spid="43" grpId="0" bldLvl="0" animBg="1"/>
      <p:bldP spid="43" grpId="1" animBg="1"/>
      <p:bldP spid="97" grpId="0" bldLvl="0" animBg="1"/>
      <p:bldP spid="97" grpId="1" animBg="1"/>
      <p:bldP spid="44" grpId="0" bldLvl="0" animBg="1"/>
      <p:bldP spid="44"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98805" y="622935"/>
            <a:ext cx="10515600" cy="1325563"/>
          </a:xfrm>
        </p:spPr>
        <p:txBody>
          <a:bodyPr/>
          <a:lstStyle/>
          <a:p>
            <a:r>
              <a:rPr lang="en-US" altLang="zh-CN"/>
              <a:t>    </a:t>
            </a:r>
            <a:endParaRPr lang="zh-CN" altLang="en-US"/>
          </a:p>
        </p:txBody>
      </p:sp>
      <p:sp>
        <p:nvSpPr>
          <p:cNvPr id="17" name="文本框 16"/>
          <p:cNvSpPr txBox="1"/>
          <p:nvPr/>
        </p:nvSpPr>
        <p:spPr>
          <a:xfrm>
            <a:off x="1341755" y="1871345"/>
            <a:ext cx="9416415" cy="1630045"/>
          </a:xfrm>
          <a:prstGeom prst="rect">
            <a:avLst/>
          </a:prstGeom>
        </p:spPr>
        <p:txBody>
          <a:bodyPr wrap="square">
            <a:spAutoFit/>
          </a:bodyPr>
          <a:lstStyle/>
          <a:p>
            <a:pPr marL="342900" indent="-342900">
              <a:buFont typeface="Wingdings" panose="05000000000000000000" charset="0"/>
              <a:buChar char="u"/>
            </a:pPr>
            <a:r>
              <a:rPr lang="zh-CN" altLang="en-US"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rPr>
              <a:t>零拷贝（</a:t>
            </a:r>
            <a:r>
              <a:rPr lang="en-US" altLang="zh-CN"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rPr>
              <a:t>Zero-copy</a:t>
            </a:r>
            <a:r>
              <a:rPr lang="zh-CN" altLang="en-US"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rPr>
              <a:t>）：它避免了用户态与内核态间的数据拷贝。</a:t>
            </a:r>
            <a:endParaRPr lang="en-US" altLang="zh-CN"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a:p>
            <a:pPr marL="342900" indent="-342900">
              <a:buFont typeface="Wingdings" panose="05000000000000000000" charset="0"/>
              <a:buChar char="u"/>
            </a:pPr>
            <a:endParaRPr lang="en-US" altLang="zh-CN"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a:p>
            <a:pPr marL="342900" indent="-342900">
              <a:buFont typeface="Wingdings" panose="05000000000000000000" charset="0"/>
              <a:buChar char="u"/>
            </a:pPr>
            <a:r>
              <a:rPr lang="zh-CN" altLang="en-US"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rPr>
              <a:t>天然的进程间通信（</a:t>
            </a:r>
            <a:r>
              <a:rPr lang="en-US" altLang="zh-CN"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rPr>
              <a:t>IPC</a:t>
            </a:r>
            <a:r>
              <a:rPr lang="zh-CN" altLang="en-US"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rPr>
              <a:t>）：多个进程可以映射同一个文件。</a:t>
            </a:r>
            <a:r>
              <a:rPr lang="en-US" altLang="zh-CN"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rPr>
              <a:t> </a:t>
            </a:r>
            <a:endParaRPr lang="en-US" altLang="zh-CN"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a:p>
            <a:pPr marL="342900" indent="-342900">
              <a:buFont typeface="Wingdings" panose="05000000000000000000" charset="0"/>
              <a:buChar char="u"/>
            </a:pPr>
            <a:endParaRPr lang="en-US" altLang="zh-CN"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a:p>
            <a:pPr marL="342900" indent="-342900">
              <a:buFont typeface="Wingdings" panose="05000000000000000000" charset="0"/>
              <a:buChar char="u"/>
            </a:pPr>
            <a:r>
              <a:rPr lang="zh-CN" altLang="en-US"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rPr>
              <a:t>按需加载（</a:t>
            </a:r>
            <a:r>
              <a:rPr lang="en-US" altLang="zh-CN"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rPr>
              <a:t>On-demand Loading</a:t>
            </a:r>
            <a:r>
              <a:rPr lang="zh-CN" altLang="en-US"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rPr>
              <a:t>）：它仅加载被实际访问的部分数据到内存。</a:t>
            </a:r>
            <a:endParaRPr lang="zh-CN" altLang="en-US" sz="2000" b="0" i="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endParaRPr>
          </a:p>
        </p:txBody>
      </p:sp>
      <p:sp>
        <p:nvSpPr>
          <p:cNvPr id="18" name="文本框 17"/>
          <p:cNvSpPr txBox="1"/>
          <p:nvPr/>
        </p:nvSpPr>
        <p:spPr>
          <a:xfrm>
            <a:off x="1341755" y="1346200"/>
            <a:ext cx="3564890" cy="307340"/>
          </a:xfrm>
          <a:prstGeom prst="rect">
            <a:avLst/>
          </a:prstGeom>
          <a:noFill/>
        </p:spPr>
        <p:txBody>
          <a:bodyPr wrap="square" lIns="0" tIns="0" rIns="0" bIns="0" rtlCol="0" anchor="t">
            <a:spAutoFit/>
          </a:bodyPr>
          <a:lstStyle/>
          <a:p>
            <a:pPr marL="342900" indent="-342900">
              <a:buFont typeface="Wingdings" panose="05000000000000000000" charset="0"/>
              <a:buChar char="n"/>
            </a:pPr>
            <a:r>
              <a:rPr lang="zh-CN" altLang="en-US" sz="2000">
                <a:solidFill>
                  <a:srgbClr val="7C0000"/>
                </a:solidFill>
                <a:latin typeface="华文行楷" panose="02010800040101010101" charset="-122"/>
                <a:ea typeface="华文行楷" panose="02010800040101010101" charset="-122"/>
                <a:cs typeface="方正粗黑宋简体" panose="02000000000000000000" pitchFamily="2" charset="-122"/>
                <a:sym typeface="+mn-ea"/>
              </a:rPr>
              <a:t>文件内存映射的主要优势：</a:t>
            </a:r>
            <a:endParaRPr lang="zh-CN" altLang="en-US" sz="2000">
              <a:solidFill>
                <a:srgbClr val="7C0000"/>
              </a:solidFill>
              <a:latin typeface="华文行楷" panose="02010800040101010101" charset="-122"/>
              <a:ea typeface="华文行楷" panose="02010800040101010101" charset="-122"/>
              <a:cs typeface="方正粗黑宋简体" panose="02000000000000000000" pitchFamily="2" charset="-122"/>
              <a:sym typeface="+mn-ea"/>
            </a:endParaRPr>
          </a:p>
        </p:txBody>
      </p:sp>
      <p:sp>
        <p:nvSpPr>
          <p:cNvPr id="19" name="文本框 18"/>
          <p:cNvSpPr txBox="1"/>
          <p:nvPr/>
        </p:nvSpPr>
        <p:spPr>
          <a:xfrm>
            <a:off x="1341755" y="4075430"/>
            <a:ext cx="3564890" cy="307340"/>
          </a:xfrm>
          <a:prstGeom prst="rect">
            <a:avLst/>
          </a:prstGeom>
          <a:noFill/>
        </p:spPr>
        <p:txBody>
          <a:bodyPr wrap="square" lIns="0" tIns="0" rIns="0" bIns="0" rtlCol="0" anchor="t">
            <a:spAutoFit/>
          </a:bodyPr>
          <a:lstStyle/>
          <a:p>
            <a:pPr marL="0" indent="0"/>
            <a:r>
              <a:rPr lang="zh-CN" altLang="en-US" sz="2000" b="1">
                <a:solidFill>
                  <a:srgbClr val="7C0000"/>
                </a:solidFill>
                <a:latin typeface="华文行楷" panose="02010800040101010101" charset="-122"/>
                <a:ea typeface="华文行楷" panose="02010800040101010101" charset="-122"/>
                <a:cs typeface="方正粗黑宋简体" panose="02000000000000000000" pitchFamily="2" charset="-122"/>
                <a:sym typeface="+mn-ea"/>
              </a:rPr>
              <a:t>典型应用场景举例：</a:t>
            </a:r>
            <a:endParaRPr lang="zh-CN" altLang="en-US" sz="2000" b="1">
              <a:solidFill>
                <a:srgbClr val="7C0000"/>
              </a:solidFill>
              <a:latin typeface="华文行楷" panose="02010800040101010101" charset="-122"/>
              <a:ea typeface="华文行楷" panose="02010800040101010101" charset="-122"/>
              <a:cs typeface="方正粗黑宋简体" panose="02000000000000000000" pitchFamily="2" charset="-122"/>
              <a:sym typeface="+mn-ea"/>
            </a:endParaRPr>
          </a:p>
        </p:txBody>
      </p:sp>
      <p:sp>
        <p:nvSpPr>
          <p:cNvPr id="20" name="文本框 19"/>
          <p:cNvSpPr txBox="1"/>
          <p:nvPr/>
        </p:nvSpPr>
        <p:spPr>
          <a:xfrm>
            <a:off x="1590675" y="4619625"/>
            <a:ext cx="6676390" cy="923290"/>
          </a:xfrm>
          <a:prstGeom prst="rect">
            <a:avLst/>
          </a:prstGeom>
          <a:noFill/>
        </p:spPr>
        <p:txBody>
          <a:bodyPr wrap="square" lIns="0" tIns="0" rIns="0" bIns="0" rtlCol="0" anchor="t">
            <a:spAutoFit/>
          </a:bodyPr>
          <a:lstStyle/>
          <a:p>
            <a:pPr marL="342900" indent="-342900" algn="l">
              <a:lnSpc>
                <a:spcPct val="150000"/>
              </a:lnSpc>
              <a:buFont typeface="Wingdings" panose="05000000000000000000" charset="0"/>
              <a:buChar char="p"/>
            </a:pPr>
            <a:r>
              <a:rPr lang="zh-CN" altLang="en-US" sz="200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动态链接库</a:t>
            </a:r>
            <a:endParaRPr lang="zh-CN" altLang="en-US" sz="200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a:p>
            <a:pPr marL="342900" indent="-342900" algn="l">
              <a:lnSpc>
                <a:spcPct val="150000"/>
              </a:lnSpc>
              <a:buFont typeface="Wingdings" panose="05000000000000000000" charset="0"/>
              <a:buChar char="p"/>
            </a:pPr>
            <a:r>
              <a:rPr lang="zh-CN" altLang="en-US" sz="200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rPr>
              <a:t>进程间通信</a:t>
            </a:r>
            <a:endParaRPr lang="zh-CN" altLang="en-US" sz="2000">
              <a:solidFill>
                <a:schemeClr val="tx1"/>
              </a:solidFill>
              <a:latin typeface="方正粗黑宋简体" panose="02000000000000000000" pitchFamily="2" charset="-122"/>
              <a:ea typeface="方正粗黑宋简体" panose="02000000000000000000" pitchFamily="2" charset="-122"/>
              <a:cs typeface="方正粗黑宋简体" panose="02000000000000000000" pitchFamily="2" charset="-122"/>
              <a:sym typeface="+mn-ea"/>
            </a:endParaRPr>
          </a:p>
        </p:txBody>
      </p:sp>
      <p:sp>
        <p:nvSpPr>
          <p:cNvPr id="21" name="文本框 20"/>
          <p:cNvSpPr txBox="1"/>
          <p:nvPr/>
        </p:nvSpPr>
        <p:spPr>
          <a:xfrm>
            <a:off x="1125220" y="548005"/>
            <a:ext cx="4393565" cy="521970"/>
          </a:xfrm>
          <a:prstGeom prst="rect">
            <a:avLst/>
          </a:prstGeom>
        </p:spPr>
        <p:txBody>
          <a:bodyPr wrap="square">
            <a:spAutoFit/>
          </a:bodyPr>
          <a:lstStyle/>
          <a:p>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文件内存映射（</a:t>
            </a:r>
            <a:r>
              <a:rPr lang="zh-CN" altLang="en-US" sz="2800" b="0" dirty="0">
                <a:solidFill>
                  <a:srgbClr val="7C0000"/>
                </a:solidFill>
                <a:latin typeface="方正大黑简体" panose="02000000000000000000" charset="-122"/>
                <a:ea typeface="方正大黑简体" panose="02000000000000000000" charset="-122"/>
                <a:cs typeface="方正大黑简体" panose="02000000000000000000" charset="-122"/>
              </a:rPr>
              <a:t>补充</a:t>
            </a:r>
            <a:r>
              <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rPr>
              <a:t>）</a:t>
            </a:r>
            <a:endParaRPr lang="zh-CN" altLang="en-US" sz="2800" b="0" dirty="0">
              <a:solidFill>
                <a:srgbClr val="002060"/>
              </a:solidFill>
              <a:latin typeface="方正大黑简体" panose="02000000000000000000" charset="-122"/>
              <a:ea typeface="方正大黑简体" panose="02000000000000000000" charset="-122"/>
              <a:cs typeface="方正大黑简体" panose="02000000000000000000"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p:nvGrpSpPr>
        <p:grpSpPr>
          <a:xfrm>
            <a:off x="-81280" y="-22860"/>
            <a:ext cx="12192000" cy="6858000"/>
            <a:chOff x="0" y="0"/>
            <a:chExt cx="12192000" cy="6858000"/>
          </a:xfrm>
        </p:grpSpPr>
        <p:sp>
          <p:nvSpPr>
            <p:cNvPr id="5" name="直角三角形 4"/>
            <p:cNvSpPr/>
            <p:nvPr userDrawn="1"/>
          </p:nvSpPr>
          <p:spPr>
            <a:xfrm>
              <a:off x="0" y="3165895"/>
              <a:ext cx="3692105" cy="3692105"/>
            </a:xfrm>
            <a:prstGeom prst="rtTriangl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4B9D"/>
                </a:solidFill>
              </a:endParaRPr>
            </a:p>
          </p:txBody>
        </p:sp>
        <p:sp>
          <p:nvSpPr>
            <p:cNvPr id="6" name="直角三角形 5"/>
            <p:cNvSpPr/>
            <p:nvPr userDrawn="1"/>
          </p:nvSpPr>
          <p:spPr>
            <a:xfrm rot="10800000">
              <a:off x="8499895" y="0"/>
              <a:ext cx="3692105" cy="3692105"/>
            </a:xfrm>
            <a:prstGeom prst="rtTriangle">
              <a:avLst/>
            </a:prstGeom>
            <a:solidFill>
              <a:srgbClr val="004B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490484" y="441960"/>
              <a:ext cx="11211033" cy="6019801"/>
              <a:chOff x="490484" y="441960"/>
              <a:chExt cx="11211033" cy="6019801"/>
            </a:xfrm>
          </p:grpSpPr>
          <p:pic>
            <p:nvPicPr>
              <p:cNvPr id="8" name="图片 7"/>
              <p:cNvPicPr>
                <a:picLocks noChangeAspect="1"/>
              </p:cNvPicPr>
              <p:nvPr userDrawn="1"/>
            </p:nvPicPr>
            <p:blipFill rotWithShape="1">
              <a:blip r:embed="rId1">
                <a:extLst>
                  <a:ext uri="{28A0092B-C50C-407E-A947-70E740481C1C}">
                    <a14:useLocalDpi xmlns:a14="http://schemas.microsoft.com/office/drawing/2010/main" val="0"/>
                  </a:ext>
                </a:extLst>
              </a:blip>
              <a:srcRect l="1515" t="4277" r="530" b="14319"/>
              <a:stretch>
                <a:fillRect/>
              </a:stretch>
            </p:blipFill>
            <p:spPr>
              <a:xfrm>
                <a:off x="490484" y="441960"/>
                <a:ext cx="11211033" cy="6019801"/>
              </a:xfrm>
              <a:prstGeom prst="rect">
                <a:avLst/>
              </a:prstGeom>
              <a:effectLst>
                <a:outerShdw blurRad="355600" dist="139700" dir="2700000" algn="tl" rotWithShape="0">
                  <a:prstClr val="black">
                    <a:alpha val="61000"/>
                  </a:prstClr>
                </a:outerShdw>
              </a:effectLst>
            </p:spPr>
          </p:pic>
          <p:sp>
            <p:nvSpPr>
              <p:cNvPr id="9" name="矩形 8"/>
              <p:cNvSpPr/>
              <p:nvPr userDrawn="1"/>
            </p:nvSpPr>
            <p:spPr>
              <a:xfrm>
                <a:off x="490484" y="441960"/>
                <a:ext cx="11211032" cy="6019801"/>
              </a:xfrm>
              <a:prstGeom prst="rect">
                <a:avLst/>
              </a:prstGeom>
              <a:solidFill>
                <a:srgbClr val="FFFEF7">
                  <a:alpha val="82745"/>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solidFill>
                    <a:srgbClr val="004C9E"/>
                  </a:solidFill>
                  <a:latin typeface="微软雅黑" panose="020B0503020204020204" pitchFamily="34" charset="-122"/>
                  <a:ea typeface="微软雅黑" panose="020B0503020204020204" pitchFamily="34" charset="-122"/>
                </a:endParaRPr>
              </a:p>
            </p:txBody>
          </p:sp>
        </p:grpSp>
      </p:gr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36590" y="1252062"/>
            <a:ext cx="2917715" cy="920774"/>
          </a:xfrm>
          <a:prstGeom prst="rect">
            <a:avLst/>
          </a:prstGeom>
        </p:spPr>
      </p:pic>
      <p:sp>
        <p:nvSpPr>
          <p:cNvPr id="11" name="文本框 10"/>
          <p:cNvSpPr txBox="1"/>
          <p:nvPr/>
        </p:nvSpPr>
        <p:spPr>
          <a:xfrm>
            <a:off x="2286000" y="2788222"/>
            <a:ext cx="7620000" cy="768350"/>
          </a:xfrm>
          <a:prstGeom prst="rect">
            <a:avLst/>
          </a:prstGeom>
          <a:noFill/>
        </p:spPr>
        <p:txBody>
          <a:bodyPr wrap="square" rtlCol="0">
            <a:spAutoFit/>
          </a:bodyPr>
          <a:lstStyle/>
          <a:p>
            <a:pPr algn="ctr"/>
            <a:r>
              <a:rPr lang="zh-CN" altLang="en-US" sz="4400" b="1" dirty="0">
                <a:solidFill>
                  <a:srgbClr val="004C9E"/>
                </a:solidFill>
                <a:latin typeface="微软雅黑" panose="020B0503020204020204" pitchFamily="34" charset="-122"/>
                <a:ea typeface="微软雅黑" panose="020B0503020204020204" pitchFamily="34" charset="-122"/>
              </a:rPr>
              <a:t>本章结束</a:t>
            </a:r>
            <a:endParaRPr lang="zh-CN" altLang="en-US" sz="4400" b="1" dirty="0">
              <a:solidFill>
                <a:srgbClr val="004C9E"/>
              </a:solidFill>
              <a:latin typeface="微软雅黑" panose="020B0503020204020204" pitchFamily="34" charset="-122"/>
              <a:ea typeface="微软雅黑" panose="020B0503020204020204" pitchFamily="34" charset="-122"/>
            </a:endParaRPr>
          </a:p>
        </p:txBody>
      </p:sp>
      <p:sp>
        <p:nvSpPr>
          <p:cNvPr id="13" name="图形"/>
          <p:cNvSpPr txBox="1"/>
          <p:nvPr>
            <p:custDataLst>
              <p:tags r:id="rId3"/>
            </p:custDataLst>
          </p:nvPr>
        </p:nvSpPr>
        <p:spPr>
          <a:xfrm>
            <a:off x="4754245" y="4409440"/>
            <a:ext cx="3036570" cy="398780"/>
          </a:xfrm>
          <a:prstGeom prst="rect">
            <a:avLst/>
          </a:prstGeom>
          <a:noFill/>
        </p:spPr>
        <p:txBody>
          <a:bodyPr wrap="square" rtlCol="0" anchor="t">
            <a:spAutoFit/>
          </a:bodyPr>
          <a:lstStyle/>
          <a:p>
            <a:pPr lvl="0" algn="l">
              <a:buClrTx/>
              <a:buSzTx/>
              <a:buFontTx/>
            </a:pPr>
            <a:r>
              <a:rPr lang="zh-CN" sz="20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人民邮电出版社</a:t>
            </a:r>
            <a:r>
              <a:rPr lang="en-US" altLang="zh-CN" sz="20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  </a:t>
            </a:r>
            <a:r>
              <a:rPr lang="zh-CN" altLang="en-US" sz="20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rPr>
              <a:t>第一版</a:t>
            </a:r>
            <a:endParaRPr lang="zh-CN" altLang="en-US" sz="2000" b="1" dirty="0">
              <a:solidFill>
                <a:schemeClr val="tx1">
                  <a:lumMod val="85000"/>
                  <a:lumOff val="15000"/>
                </a:schemeClr>
              </a:solidFill>
              <a:latin typeface="Arial" panose="020B0604020202020204" pitchFamily="34" charset="0"/>
              <a:ea typeface="微软雅黑" panose="020B0503020204020204" pitchFamily="34" charset="-122"/>
              <a:cs typeface="包图粗黑体" panose="02000800000000000000" charset="-122"/>
              <a:sym typeface="Arial" panose="020B0604020202020204" pitchFamily="34" charset="0"/>
            </a:endParaRPr>
          </a:p>
        </p:txBody>
      </p:sp>
      <p:sp>
        <p:nvSpPr>
          <p:cNvPr id="16" name="图形"/>
          <p:cNvSpPr/>
          <p:nvPr>
            <p:custDataLst>
              <p:tags r:id="rId4"/>
            </p:custDataLst>
          </p:nvPr>
        </p:nvSpPr>
        <p:spPr>
          <a:xfrm>
            <a:off x="4008561" y="4330755"/>
            <a:ext cx="510566" cy="510566"/>
          </a:xfrm>
          <a:prstGeom prst="ellipse">
            <a:avLst/>
          </a:prstGeom>
          <a:solidFill>
            <a:srgbClr val="004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grpSp>
        <p:nvGrpSpPr>
          <p:cNvPr id="17" name="组合 16"/>
          <p:cNvGrpSpPr/>
          <p:nvPr/>
        </p:nvGrpSpPr>
        <p:grpSpPr>
          <a:xfrm>
            <a:off x="4087254" y="4457312"/>
            <a:ext cx="351985" cy="257452"/>
            <a:chOff x="2751138" y="4071938"/>
            <a:chExt cx="1558925" cy="1158875"/>
          </a:xfrm>
          <a:solidFill>
            <a:srgbClr val="0A0301"/>
          </a:solidFill>
        </p:grpSpPr>
        <p:sp>
          <p:nvSpPr>
            <p:cNvPr id="18" name="图形"/>
            <p:cNvSpPr/>
            <p:nvPr>
              <p:custDataLst>
                <p:tags r:id="rId5"/>
              </p:custDataLst>
            </p:nvPr>
          </p:nvSpPr>
          <p:spPr bwMode="auto">
            <a:xfrm>
              <a:off x="3770313" y="4562475"/>
              <a:ext cx="539750" cy="477838"/>
            </a:xfrm>
            <a:custGeom>
              <a:avLst/>
              <a:gdLst>
                <a:gd name="T0" fmla="*/ 255 w 340"/>
                <a:gd name="T1" fmla="*/ 0 h 301"/>
                <a:gd name="T2" fmla="*/ 136 w 340"/>
                <a:gd name="T3" fmla="*/ 99 h 301"/>
                <a:gd name="T4" fmla="*/ 28 w 340"/>
                <a:gd name="T5" fmla="*/ 8 h 301"/>
                <a:gd name="T6" fmla="*/ 28 w 340"/>
                <a:gd name="T7" fmla="*/ 8 h 301"/>
                <a:gd name="T8" fmla="*/ 14 w 340"/>
                <a:gd name="T9" fmla="*/ 31 h 301"/>
                <a:gd name="T10" fmla="*/ 0 w 340"/>
                <a:gd name="T11" fmla="*/ 50 h 301"/>
                <a:gd name="T12" fmla="*/ 0 w 340"/>
                <a:gd name="T13" fmla="*/ 50 h 301"/>
                <a:gd name="T14" fmla="*/ 24 w 340"/>
                <a:gd name="T15" fmla="*/ 70 h 301"/>
                <a:gd name="T16" fmla="*/ 47 w 340"/>
                <a:gd name="T17" fmla="*/ 95 h 301"/>
                <a:gd name="T18" fmla="*/ 68 w 340"/>
                <a:gd name="T19" fmla="*/ 122 h 301"/>
                <a:gd name="T20" fmla="*/ 84 w 340"/>
                <a:gd name="T21" fmla="*/ 149 h 301"/>
                <a:gd name="T22" fmla="*/ 99 w 340"/>
                <a:gd name="T23" fmla="*/ 180 h 301"/>
                <a:gd name="T24" fmla="*/ 109 w 340"/>
                <a:gd name="T25" fmla="*/ 213 h 301"/>
                <a:gd name="T26" fmla="*/ 115 w 340"/>
                <a:gd name="T27" fmla="*/ 248 h 301"/>
                <a:gd name="T28" fmla="*/ 117 w 340"/>
                <a:gd name="T29" fmla="*/ 283 h 301"/>
                <a:gd name="T30" fmla="*/ 117 w 340"/>
                <a:gd name="T31" fmla="*/ 283 h 301"/>
                <a:gd name="T32" fmla="*/ 115 w 340"/>
                <a:gd name="T33" fmla="*/ 301 h 301"/>
                <a:gd name="T34" fmla="*/ 115 w 340"/>
                <a:gd name="T35" fmla="*/ 301 h 301"/>
                <a:gd name="T36" fmla="*/ 136 w 340"/>
                <a:gd name="T37" fmla="*/ 301 h 301"/>
                <a:gd name="T38" fmla="*/ 136 w 340"/>
                <a:gd name="T39" fmla="*/ 301 h 301"/>
                <a:gd name="T40" fmla="*/ 167 w 340"/>
                <a:gd name="T41" fmla="*/ 299 h 301"/>
                <a:gd name="T42" fmla="*/ 200 w 340"/>
                <a:gd name="T43" fmla="*/ 293 h 301"/>
                <a:gd name="T44" fmla="*/ 233 w 340"/>
                <a:gd name="T45" fmla="*/ 285 h 301"/>
                <a:gd name="T46" fmla="*/ 266 w 340"/>
                <a:gd name="T47" fmla="*/ 270 h 301"/>
                <a:gd name="T48" fmla="*/ 282 w 340"/>
                <a:gd name="T49" fmla="*/ 262 h 301"/>
                <a:gd name="T50" fmla="*/ 295 w 340"/>
                <a:gd name="T51" fmla="*/ 252 h 301"/>
                <a:gd name="T52" fmla="*/ 307 w 340"/>
                <a:gd name="T53" fmla="*/ 242 h 301"/>
                <a:gd name="T54" fmla="*/ 319 w 340"/>
                <a:gd name="T55" fmla="*/ 229 h 301"/>
                <a:gd name="T56" fmla="*/ 328 w 340"/>
                <a:gd name="T57" fmla="*/ 217 h 301"/>
                <a:gd name="T58" fmla="*/ 334 w 340"/>
                <a:gd name="T59" fmla="*/ 204 h 301"/>
                <a:gd name="T60" fmla="*/ 338 w 340"/>
                <a:gd name="T61" fmla="*/ 190 h 301"/>
                <a:gd name="T62" fmla="*/ 340 w 340"/>
                <a:gd name="T63" fmla="*/ 176 h 301"/>
                <a:gd name="T64" fmla="*/ 340 w 340"/>
                <a:gd name="T65" fmla="*/ 176 h 301"/>
                <a:gd name="T66" fmla="*/ 338 w 340"/>
                <a:gd name="T67" fmla="*/ 149 h 301"/>
                <a:gd name="T68" fmla="*/ 334 w 340"/>
                <a:gd name="T69" fmla="*/ 122 h 301"/>
                <a:gd name="T70" fmla="*/ 328 w 340"/>
                <a:gd name="T71" fmla="*/ 97 h 301"/>
                <a:gd name="T72" fmla="*/ 317 w 340"/>
                <a:gd name="T73" fmla="*/ 74 h 301"/>
                <a:gd name="T74" fmla="*/ 305 w 340"/>
                <a:gd name="T75" fmla="*/ 54 h 301"/>
                <a:gd name="T76" fmla="*/ 290 w 340"/>
                <a:gd name="T77" fmla="*/ 33 h 301"/>
                <a:gd name="T78" fmla="*/ 274 w 340"/>
                <a:gd name="T79" fmla="*/ 15 h 301"/>
                <a:gd name="T80" fmla="*/ 255 w 340"/>
                <a:gd name="T81" fmla="*/ 0 h 301"/>
                <a:gd name="T82" fmla="*/ 255 w 340"/>
                <a:gd name="T83" fmla="*/ 0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0" h="301">
                  <a:moveTo>
                    <a:pt x="255" y="0"/>
                  </a:moveTo>
                  <a:lnTo>
                    <a:pt x="136" y="99"/>
                  </a:lnTo>
                  <a:lnTo>
                    <a:pt x="28" y="8"/>
                  </a:lnTo>
                  <a:lnTo>
                    <a:pt x="28" y="8"/>
                  </a:lnTo>
                  <a:lnTo>
                    <a:pt x="14" y="31"/>
                  </a:lnTo>
                  <a:lnTo>
                    <a:pt x="0" y="50"/>
                  </a:lnTo>
                  <a:lnTo>
                    <a:pt x="0" y="50"/>
                  </a:lnTo>
                  <a:lnTo>
                    <a:pt x="24" y="70"/>
                  </a:lnTo>
                  <a:lnTo>
                    <a:pt x="47" y="95"/>
                  </a:lnTo>
                  <a:lnTo>
                    <a:pt x="68" y="122"/>
                  </a:lnTo>
                  <a:lnTo>
                    <a:pt x="84" y="149"/>
                  </a:lnTo>
                  <a:lnTo>
                    <a:pt x="99" y="180"/>
                  </a:lnTo>
                  <a:lnTo>
                    <a:pt x="109" y="213"/>
                  </a:lnTo>
                  <a:lnTo>
                    <a:pt x="115" y="248"/>
                  </a:lnTo>
                  <a:lnTo>
                    <a:pt x="117" y="283"/>
                  </a:lnTo>
                  <a:lnTo>
                    <a:pt x="117" y="283"/>
                  </a:lnTo>
                  <a:lnTo>
                    <a:pt x="115" y="301"/>
                  </a:lnTo>
                  <a:lnTo>
                    <a:pt x="115" y="301"/>
                  </a:lnTo>
                  <a:lnTo>
                    <a:pt x="136" y="301"/>
                  </a:lnTo>
                  <a:lnTo>
                    <a:pt x="136" y="301"/>
                  </a:lnTo>
                  <a:lnTo>
                    <a:pt x="167" y="299"/>
                  </a:lnTo>
                  <a:lnTo>
                    <a:pt x="200" y="293"/>
                  </a:lnTo>
                  <a:lnTo>
                    <a:pt x="233" y="285"/>
                  </a:lnTo>
                  <a:lnTo>
                    <a:pt x="266" y="270"/>
                  </a:lnTo>
                  <a:lnTo>
                    <a:pt x="282" y="262"/>
                  </a:lnTo>
                  <a:lnTo>
                    <a:pt x="295" y="252"/>
                  </a:lnTo>
                  <a:lnTo>
                    <a:pt x="307" y="242"/>
                  </a:lnTo>
                  <a:lnTo>
                    <a:pt x="319" y="229"/>
                  </a:lnTo>
                  <a:lnTo>
                    <a:pt x="328" y="217"/>
                  </a:lnTo>
                  <a:lnTo>
                    <a:pt x="334" y="204"/>
                  </a:lnTo>
                  <a:lnTo>
                    <a:pt x="338" y="190"/>
                  </a:lnTo>
                  <a:lnTo>
                    <a:pt x="340" y="176"/>
                  </a:lnTo>
                  <a:lnTo>
                    <a:pt x="340" y="176"/>
                  </a:lnTo>
                  <a:lnTo>
                    <a:pt x="338" y="149"/>
                  </a:lnTo>
                  <a:lnTo>
                    <a:pt x="334" y="122"/>
                  </a:lnTo>
                  <a:lnTo>
                    <a:pt x="328" y="97"/>
                  </a:lnTo>
                  <a:lnTo>
                    <a:pt x="317" y="74"/>
                  </a:lnTo>
                  <a:lnTo>
                    <a:pt x="305" y="54"/>
                  </a:lnTo>
                  <a:lnTo>
                    <a:pt x="290" y="33"/>
                  </a:lnTo>
                  <a:lnTo>
                    <a:pt x="274" y="15"/>
                  </a:lnTo>
                  <a:lnTo>
                    <a:pt x="255" y="0"/>
                  </a:lnTo>
                  <a:lnTo>
                    <a:pt x="255"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19" name="图形"/>
            <p:cNvSpPr/>
            <p:nvPr>
              <p:custDataLst>
                <p:tags r:id="rId6"/>
              </p:custDataLst>
            </p:nvPr>
          </p:nvSpPr>
          <p:spPr bwMode="auto">
            <a:xfrm>
              <a:off x="3773488" y="4071938"/>
              <a:ext cx="441325" cy="450850"/>
            </a:xfrm>
            <a:custGeom>
              <a:avLst/>
              <a:gdLst>
                <a:gd name="T0" fmla="*/ 49 w 278"/>
                <a:gd name="T1" fmla="*/ 225 h 284"/>
                <a:gd name="T2" fmla="*/ 49 w 278"/>
                <a:gd name="T3" fmla="*/ 225 h 284"/>
                <a:gd name="T4" fmla="*/ 49 w 278"/>
                <a:gd name="T5" fmla="*/ 239 h 284"/>
                <a:gd name="T6" fmla="*/ 47 w 278"/>
                <a:gd name="T7" fmla="*/ 255 h 284"/>
                <a:gd name="T8" fmla="*/ 47 w 278"/>
                <a:gd name="T9" fmla="*/ 255 h 284"/>
                <a:gd name="T10" fmla="*/ 66 w 278"/>
                <a:gd name="T11" fmla="*/ 268 h 284"/>
                <a:gd name="T12" fmla="*/ 88 w 278"/>
                <a:gd name="T13" fmla="*/ 276 h 284"/>
                <a:gd name="T14" fmla="*/ 111 w 278"/>
                <a:gd name="T15" fmla="*/ 282 h 284"/>
                <a:gd name="T16" fmla="*/ 134 w 278"/>
                <a:gd name="T17" fmla="*/ 284 h 284"/>
                <a:gd name="T18" fmla="*/ 134 w 278"/>
                <a:gd name="T19" fmla="*/ 284 h 284"/>
                <a:gd name="T20" fmla="*/ 148 w 278"/>
                <a:gd name="T21" fmla="*/ 284 h 284"/>
                <a:gd name="T22" fmla="*/ 163 w 278"/>
                <a:gd name="T23" fmla="*/ 282 h 284"/>
                <a:gd name="T24" fmla="*/ 177 w 278"/>
                <a:gd name="T25" fmla="*/ 278 h 284"/>
                <a:gd name="T26" fmla="*/ 189 w 278"/>
                <a:gd name="T27" fmla="*/ 274 h 284"/>
                <a:gd name="T28" fmla="*/ 202 w 278"/>
                <a:gd name="T29" fmla="*/ 268 h 284"/>
                <a:gd name="T30" fmla="*/ 214 w 278"/>
                <a:gd name="T31" fmla="*/ 260 h 284"/>
                <a:gd name="T32" fmla="*/ 224 w 278"/>
                <a:gd name="T33" fmla="*/ 251 h 284"/>
                <a:gd name="T34" fmla="*/ 235 w 278"/>
                <a:gd name="T35" fmla="*/ 243 h 284"/>
                <a:gd name="T36" fmla="*/ 245 w 278"/>
                <a:gd name="T37" fmla="*/ 233 h 284"/>
                <a:gd name="T38" fmla="*/ 253 w 278"/>
                <a:gd name="T39" fmla="*/ 222 h 284"/>
                <a:gd name="T40" fmla="*/ 260 w 278"/>
                <a:gd name="T41" fmla="*/ 210 h 284"/>
                <a:gd name="T42" fmla="*/ 266 w 278"/>
                <a:gd name="T43" fmla="*/ 198 h 284"/>
                <a:gd name="T44" fmla="*/ 272 w 278"/>
                <a:gd name="T45" fmla="*/ 185 h 284"/>
                <a:gd name="T46" fmla="*/ 274 w 278"/>
                <a:gd name="T47" fmla="*/ 171 h 284"/>
                <a:gd name="T48" fmla="*/ 276 w 278"/>
                <a:gd name="T49" fmla="*/ 156 h 284"/>
                <a:gd name="T50" fmla="*/ 278 w 278"/>
                <a:gd name="T51" fmla="*/ 142 h 284"/>
                <a:gd name="T52" fmla="*/ 278 w 278"/>
                <a:gd name="T53" fmla="*/ 142 h 284"/>
                <a:gd name="T54" fmla="*/ 276 w 278"/>
                <a:gd name="T55" fmla="*/ 128 h 284"/>
                <a:gd name="T56" fmla="*/ 274 w 278"/>
                <a:gd name="T57" fmla="*/ 113 h 284"/>
                <a:gd name="T58" fmla="*/ 272 w 278"/>
                <a:gd name="T59" fmla="*/ 99 h 284"/>
                <a:gd name="T60" fmla="*/ 266 w 278"/>
                <a:gd name="T61" fmla="*/ 86 h 284"/>
                <a:gd name="T62" fmla="*/ 260 w 278"/>
                <a:gd name="T63" fmla="*/ 74 h 284"/>
                <a:gd name="T64" fmla="*/ 253 w 278"/>
                <a:gd name="T65" fmla="*/ 62 h 284"/>
                <a:gd name="T66" fmla="*/ 245 w 278"/>
                <a:gd name="T67" fmla="*/ 51 h 284"/>
                <a:gd name="T68" fmla="*/ 235 w 278"/>
                <a:gd name="T69" fmla="*/ 41 h 284"/>
                <a:gd name="T70" fmla="*/ 224 w 278"/>
                <a:gd name="T71" fmla="*/ 31 h 284"/>
                <a:gd name="T72" fmla="*/ 214 w 278"/>
                <a:gd name="T73" fmla="*/ 22 h 284"/>
                <a:gd name="T74" fmla="*/ 202 w 278"/>
                <a:gd name="T75" fmla="*/ 16 h 284"/>
                <a:gd name="T76" fmla="*/ 189 w 278"/>
                <a:gd name="T77" fmla="*/ 10 h 284"/>
                <a:gd name="T78" fmla="*/ 177 w 278"/>
                <a:gd name="T79" fmla="*/ 6 h 284"/>
                <a:gd name="T80" fmla="*/ 163 w 278"/>
                <a:gd name="T81" fmla="*/ 2 h 284"/>
                <a:gd name="T82" fmla="*/ 148 w 278"/>
                <a:gd name="T83" fmla="*/ 0 h 284"/>
                <a:gd name="T84" fmla="*/ 134 w 278"/>
                <a:gd name="T85" fmla="*/ 0 h 284"/>
                <a:gd name="T86" fmla="*/ 134 w 278"/>
                <a:gd name="T87" fmla="*/ 0 h 284"/>
                <a:gd name="T88" fmla="*/ 111 w 278"/>
                <a:gd name="T89" fmla="*/ 0 h 284"/>
                <a:gd name="T90" fmla="*/ 90 w 278"/>
                <a:gd name="T91" fmla="*/ 6 h 284"/>
                <a:gd name="T92" fmla="*/ 70 w 278"/>
                <a:gd name="T93" fmla="*/ 14 h 284"/>
                <a:gd name="T94" fmla="*/ 51 w 278"/>
                <a:gd name="T95" fmla="*/ 24 h 284"/>
                <a:gd name="T96" fmla="*/ 35 w 278"/>
                <a:gd name="T97" fmla="*/ 39 h 284"/>
                <a:gd name="T98" fmla="*/ 20 w 278"/>
                <a:gd name="T99" fmla="*/ 55 h 284"/>
                <a:gd name="T100" fmla="*/ 10 w 278"/>
                <a:gd name="T101" fmla="*/ 72 h 284"/>
                <a:gd name="T102" fmla="*/ 0 w 278"/>
                <a:gd name="T103" fmla="*/ 92 h 284"/>
                <a:gd name="T104" fmla="*/ 0 w 278"/>
                <a:gd name="T105" fmla="*/ 92 h 284"/>
                <a:gd name="T106" fmla="*/ 12 w 278"/>
                <a:gd name="T107" fmla="*/ 107 h 284"/>
                <a:gd name="T108" fmla="*/ 20 w 278"/>
                <a:gd name="T109" fmla="*/ 121 h 284"/>
                <a:gd name="T110" fmla="*/ 28 w 278"/>
                <a:gd name="T111" fmla="*/ 136 h 284"/>
                <a:gd name="T112" fmla="*/ 37 w 278"/>
                <a:gd name="T113" fmla="*/ 152 h 284"/>
                <a:gd name="T114" fmla="*/ 43 w 278"/>
                <a:gd name="T115" fmla="*/ 169 h 284"/>
                <a:gd name="T116" fmla="*/ 47 w 278"/>
                <a:gd name="T117" fmla="*/ 187 h 284"/>
                <a:gd name="T118" fmla="*/ 49 w 278"/>
                <a:gd name="T119" fmla="*/ 206 h 284"/>
                <a:gd name="T120" fmla="*/ 49 w 278"/>
                <a:gd name="T121" fmla="*/ 225 h 284"/>
                <a:gd name="T122" fmla="*/ 49 w 278"/>
                <a:gd name="T123" fmla="*/ 225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8" h="284">
                  <a:moveTo>
                    <a:pt x="49" y="225"/>
                  </a:moveTo>
                  <a:lnTo>
                    <a:pt x="49" y="225"/>
                  </a:lnTo>
                  <a:lnTo>
                    <a:pt x="49" y="239"/>
                  </a:lnTo>
                  <a:lnTo>
                    <a:pt x="47" y="255"/>
                  </a:lnTo>
                  <a:lnTo>
                    <a:pt x="47" y="255"/>
                  </a:lnTo>
                  <a:lnTo>
                    <a:pt x="66" y="268"/>
                  </a:lnTo>
                  <a:lnTo>
                    <a:pt x="88" y="276"/>
                  </a:lnTo>
                  <a:lnTo>
                    <a:pt x="111" y="282"/>
                  </a:lnTo>
                  <a:lnTo>
                    <a:pt x="134" y="284"/>
                  </a:lnTo>
                  <a:lnTo>
                    <a:pt x="134" y="284"/>
                  </a:lnTo>
                  <a:lnTo>
                    <a:pt x="148" y="284"/>
                  </a:lnTo>
                  <a:lnTo>
                    <a:pt x="163" y="282"/>
                  </a:lnTo>
                  <a:lnTo>
                    <a:pt x="177" y="278"/>
                  </a:lnTo>
                  <a:lnTo>
                    <a:pt x="189" y="274"/>
                  </a:lnTo>
                  <a:lnTo>
                    <a:pt x="202" y="268"/>
                  </a:lnTo>
                  <a:lnTo>
                    <a:pt x="214" y="260"/>
                  </a:lnTo>
                  <a:lnTo>
                    <a:pt x="224" y="251"/>
                  </a:lnTo>
                  <a:lnTo>
                    <a:pt x="235" y="243"/>
                  </a:lnTo>
                  <a:lnTo>
                    <a:pt x="245" y="233"/>
                  </a:lnTo>
                  <a:lnTo>
                    <a:pt x="253" y="222"/>
                  </a:lnTo>
                  <a:lnTo>
                    <a:pt x="260" y="210"/>
                  </a:lnTo>
                  <a:lnTo>
                    <a:pt x="266" y="198"/>
                  </a:lnTo>
                  <a:lnTo>
                    <a:pt x="272" y="185"/>
                  </a:lnTo>
                  <a:lnTo>
                    <a:pt x="274" y="171"/>
                  </a:lnTo>
                  <a:lnTo>
                    <a:pt x="276" y="156"/>
                  </a:lnTo>
                  <a:lnTo>
                    <a:pt x="278" y="142"/>
                  </a:lnTo>
                  <a:lnTo>
                    <a:pt x="278" y="142"/>
                  </a:lnTo>
                  <a:lnTo>
                    <a:pt x="276" y="128"/>
                  </a:lnTo>
                  <a:lnTo>
                    <a:pt x="274" y="113"/>
                  </a:lnTo>
                  <a:lnTo>
                    <a:pt x="272" y="99"/>
                  </a:lnTo>
                  <a:lnTo>
                    <a:pt x="266" y="86"/>
                  </a:lnTo>
                  <a:lnTo>
                    <a:pt x="260" y="74"/>
                  </a:lnTo>
                  <a:lnTo>
                    <a:pt x="253" y="62"/>
                  </a:lnTo>
                  <a:lnTo>
                    <a:pt x="245" y="51"/>
                  </a:lnTo>
                  <a:lnTo>
                    <a:pt x="235" y="41"/>
                  </a:lnTo>
                  <a:lnTo>
                    <a:pt x="224" y="31"/>
                  </a:lnTo>
                  <a:lnTo>
                    <a:pt x="214" y="22"/>
                  </a:lnTo>
                  <a:lnTo>
                    <a:pt x="202" y="16"/>
                  </a:lnTo>
                  <a:lnTo>
                    <a:pt x="189" y="10"/>
                  </a:lnTo>
                  <a:lnTo>
                    <a:pt x="177" y="6"/>
                  </a:lnTo>
                  <a:lnTo>
                    <a:pt x="163" y="2"/>
                  </a:lnTo>
                  <a:lnTo>
                    <a:pt x="148" y="0"/>
                  </a:lnTo>
                  <a:lnTo>
                    <a:pt x="134" y="0"/>
                  </a:lnTo>
                  <a:lnTo>
                    <a:pt x="134" y="0"/>
                  </a:lnTo>
                  <a:lnTo>
                    <a:pt x="111" y="0"/>
                  </a:lnTo>
                  <a:lnTo>
                    <a:pt x="90" y="6"/>
                  </a:lnTo>
                  <a:lnTo>
                    <a:pt x="70" y="14"/>
                  </a:lnTo>
                  <a:lnTo>
                    <a:pt x="51" y="24"/>
                  </a:lnTo>
                  <a:lnTo>
                    <a:pt x="35" y="39"/>
                  </a:lnTo>
                  <a:lnTo>
                    <a:pt x="20" y="55"/>
                  </a:lnTo>
                  <a:lnTo>
                    <a:pt x="10" y="72"/>
                  </a:lnTo>
                  <a:lnTo>
                    <a:pt x="0" y="92"/>
                  </a:lnTo>
                  <a:lnTo>
                    <a:pt x="0" y="92"/>
                  </a:lnTo>
                  <a:lnTo>
                    <a:pt x="12" y="107"/>
                  </a:lnTo>
                  <a:lnTo>
                    <a:pt x="20" y="121"/>
                  </a:lnTo>
                  <a:lnTo>
                    <a:pt x="28" y="136"/>
                  </a:lnTo>
                  <a:lnTo>
                    <a:pt x="37" y="152"/>
                  </a:lnTo>
                  <a:lnTo>
                    <a:pt x="43" y="169"/>
                  </a:lnTo>
                  <a:lnTo>
                    <a:pt x="47" y="187"/>
                  </a:lnTo>
                  <a:lnTo>
                    <a:pt x="49" y="206"/>
                  </a:lnTo>
                  <a:lnTo>
                    <a:pt x="49" y="225"/>
                  </a:lnTo>
                  <a:lnTo>
                    <a:pt x="49" y="225"/>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0" name="图形"/>
            <p:cNvSpPr/>
            <p:nvPr>
              <p:custDataLst>
                <p:tags r:id="rId7"/>
              </p:custDataLst>
            </p:nvPr>
          </p:nvSpPr>
          <p:spPr bwMode="auto">
            <a:xfrm>
              <a:off x="2751138" y="4562475"/>
              <a:ext cx="542925" cy="477838"/>
            </a:xfrm>
            <a:custGeom>
              <a:avLst/>
              <a:gdLst>
                <a:gd name="T0" fmla="*/ 204 w 342"/>
                <a:gd name="T1" fmla="*/ 301 h 301"/>
                <a:gd name="T2" fmla="*/ 204 w 342"/>
                <a:gd name="T3" fmla="*/ 301 h 301"/>
                <a:gd name="T4" fmla="*/ 225 w 342"/>
                <a:gd name="T5" fmla="*/ 301 h 301"/>
                <a:gd name="T6" fmla="*/ 225 w 342"/>
                <a:gd name="T7" fmla="*/ 301 h 301"/>
                <a:gd name="T8" fmla="*/ 225 w 342"/>
                <a:gd name="T9" fmla="*/ 283 h 301"/>
                <a:gd name="T10" fmla="*/ 225 w 342"/>
                <a:gd name="T11" fmla="*/ 283 h 301"/>
                <a:gd name="T12" fmla="*/ 227 w 342"/>
                <a:gd name="T13" fmla="*/ 248 h 301"/>
                <a:gd name="T14" fmla="*/ 233 w 342"/>
                <a:gd name="T15" fmla="*/ 213 h 301"/>
                <a:gd name="T16" fmla="*/ 243 w 342"/>
                <a:gd name="T17" fmla="*/ 180 h 301"/>
                <a:gd name="T18" fmla="*/ 256 w 342"/>
                <a:gd name="T19" fmla="*/ 149 h 301"/>
                <a:gd name="T20" fmla="*/ 272 w 342"/>
                <a:gd name="T21" fmla="*/ 122 h 301"/>
                <a:gd name="T22" fmla="*/ 293 w 342"/>
                <a:gd name="T23" fmla="*/ 95 h 301"/>
                <a:gd name="T24" fmla="*/ 316 w 342"/>
                <a:gd name="T25" fmla="*/ 70 h 301"/>
                <a:gd name="T26" fmla="*/ 342 w 342"/>
                <a:gd name="T27" fmla="*/ 50 h 301"/>
                <a:gd name="T28" fmla="*/ 342 w 342"/>
                <a:gd name="T29" fmla="*/ 50 h 301"/>
                <a:gd name="T30" fmla="*/ 326 w 342"/>
                <a:gd name="T31" fmla="*/ 31 h 301"/>
                <a:gd name="T32" fmla="*/ 313 w 342"/>
                <a:gd name="T33" fmla="*/ 8 h 301"/>
                <a:gd name="T34" fmla="*/ 204 w 342"/>
                <a:gd name="T35" fmla="*/ 99 h 301"/>
                <a:gd name="T36" fmla="*/ 84 w 342"/>
                <a:gd name="T37" fmla="*/ 0 h 301"/>
                <a:gd name="T38" fmla="*/ 84 w 342"/>
                <a:gd name="T39" fmla="*/ 0 h 301"/>
                <a:gd name="T40" fmla="*/ 66 w 342"/>
                <a:gd name="T41" fmla="*/ 15 h 301"/>
                <a:gd name="T42" fmla="*/ 49 w 342"/>
                <a:gd name="T43" fmla="*/ 33 h 301"/>
                <a:gd name="T44" fmla="*/ 35 w 342"/>
                <a:gd name="T45" fmla="*/ 54 h 301"/>
                <a:gd name="T46" fmla="*/ 23 w 342"/>
                <a:gd name="T47" fmla="*/ 74 h 301"/>
                <a:gd name="T48" fmla="*/ 14 w 342"/>
                <a:gd name="T49" fmla="*/ 97 h 301"/>
                <a:gd name="T50" fmla="*/ 6 w 342"/>
                <a:gd name="T51" fmla="*/ 122 h 301"/>
                <a:gd name="T52" fmla="*/ 2 w 342"/>
                <a:gd name="T53" fmla="*/ 149 h 301"/>
                <a:gd name="T54" fmla="*/ 0 w 342"/>
                <a:gd name="T55" fmla="*/ 176 h 301"/>
                <a:gd name="T56" fmla="*/ 0 w 342"/>
                <a:gd name="T57" fmla="*/ 176 h 301"/>
                <a:gd name="T58" fmla="*/ 2 w 342"/>
                <a:gd name="T59" fmla="*/ 190 h 301"/>
                <a:gd name="T60" fmla="*/ 6 w 342"/>
                <a:gd name="T61" fmla="*/ 204 h 301"/>
                <a:gd name="T62" fmla="*/ 12 w 342"/>
                <a:gd name="T63" fmla="*/ 217 h 301"/>
                <a:gd name="T64" fmla="*/ 23 w 342"/>
                <a:gd name="T65" fmla="*/ 229 h 301"/>
                <a:gd name="T66" fmla="*/ 33 w 342"/>
                <a:gd name="T67" fmla="*/ 242 h 301"/>
                <a:gd name="T68" fmla="*/ 45 w 342"/>
                <a:gd name="T69" fmla="*/ 252 h 301"/>
                <a:gd name="T70" fmla="*/ 60 w 342"/>
                <a:gd name="T71" fmla="*/ 262 h 301"/>
                <a:gd name="T72" fmla="*/ 74 w 342"/>
                <a:gd name="T73" fmla="*/ 270 h 301"/>
                <a:gd name="T74" fmla="*/ 107 w 342"/>
                <a:gd name="T75" fmla="*/ 285 h 301"/>
                <a:gd name="T76" fmla="*/ 140 w 342"/>
                <a:gd name="T77" fmla="*/ 293 h 301"/>
                <a:gd name="T78" fmla="*/ 173 w 342"/>
                <a:gd name="T79" fmla="*/ 299 h 301"/>
                <a:gd name="T80" fmla="*/ 204 w 342"/>
                <a:gd name="T81" fmla="*/ 301 h 301"/>
                <a:gd name="T82" fmla="*/ 204 w 342"/>
                <a:gd name="T83" fmla="*/ 30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2" h="301">
                  <a:moveTo>
                    <a:pt x="204" y="301"/>
                  </a:moveTo>
                  <a:lnTo>
                    <a:pt x="204" y="301"/>
                  </a:lnTo>
                  <a:lnTo>
                    <a:pt x="225" y="301"/>
                  </a:lnTo>
                  <a:lnTo>
                    <a:pt x="225" y="301"/>
                  </a:lnTo>
                  <a:lnTo>
                    <a:pt x="225" y="283"/>
                  </a:lnTo>
                  <a:lnTo>
                    <a:pt x="225" y="283"/>
                  </a:lnTo>
                  <a:lnTo>
                    <a:pt x="227" y="248"/>
                  </a:lnTo>
                  <a:lnTo>
                    <a:pt x="233" y="213"/>
                  </a:lnTo>
                  <a:lnTo>
                    <a:pt x="243" y="180"/>
                  </a:lnTo>
                  <a:lnTo>
                    <a:pt x="256" y="149"/>
                  </a:lnTo>
                  <a:lnTo>
                    <a:pt x="272" y="122"/>
                  </a:lnTo>
                  <a:lnTo>
                    <a:pt x="293" y="95"/>
                  </a:lnTo>
                  <a:lnTo>
                    <a:pt x="316" y="70"/>
                  </a:lnTo>
                  <a:lnTo>
                    <a:pt x="342" y="50"/>
                  </a:lnTo>
                  <a:lnTo>
                    <a:pt x="342" y="50"/>
                  </a:lnTo>
                  <a:lnTo>
                    <a:pt x="326" y="31"/>
                  </a:lnTo>
                  <a:lnTo>
                    <a:pt x="313" y="8"/>
                  </a:lnTo>
                  <a:lnTo>
                    <a:pt x="204" y="99"/>
                  </a:lnTo>
                  <a:lnTo>
                    <a:pt x="84" y="0"/>
                  </a:lnTo>
                  <a:lnTo>
                    <a:pt x="84" y="0"/>
                  </a:lnTo>
                  <a:lnTo>
                    <a:pt x="66" y="15"/>
                  </a:lnTo>
                  <a:lnTo>
                    <a:pt x="49" y="33"/>
                  </a:lnTo>
                  <a:lnTo>
                    <a:pt x="35" y="54"/>
                  </a:lnTo>
                  <a:lnTo>
                    <a:pt x="23" y="74"/>
                  </a:lnTo>
                  <a:lnTo>
                    <a:pt x="14" y="97"/>
                  </a:lnTo>
                  <a:lnTo>
                    <a:pt x="6" y="122"/>
                  </a:lnTo>
                  <a:lnTo>
                    <a:pt x="2" y="149"/>
                  </a:lnTo>
                  <a:lnTo>
                    <a:pt x="0" y="176"/>
                  </a:lnTo>
                  <a:lnTo>
                    <a:pt x="0" y="176"/>
                  </a:lnTo>
                  <a:lnTo>
                    <a:pt x="2" y="190"/>
                  </a:lnTo>
                  <a:lnTo>
                    <a:pt x="6" y="204"/>
                  </a:lnTo>
                  <a:lnTo>
                    <a:pt x="12" y="217"/>
                  </a:lnTo>
                  <a:lnTo>
                    <a:pt x="23" y="229"/>
                  </a:lnTo>
                  <a:lnTo>
                    <a:pt x="33" y="242"/>
                  </a:lnTo>
                  <a:lnTo>
                    <a:pt x="45" y="252"/>
                  </a:lnTo>
                  <a:lnTo>
                    <a:pt x="60" y="262"/>
                  </a:lnTo>
                  <a:lnTo>
                    <a:pt x="74" y="270"/>
                  </a:lnTo>
                  <a:lnTo>
                    <a:pt x="107" y="285"/>
                  </a:lnTo>
                  <a:lnTo>
                    <a:pt x="140" y="293"/>
                  </a:lnTo>
                  <a:lnTo>
                    <a:pt x="173" y="299"/>
                  </a:lnTo>
                  <a:lnTo>
                    <a:pt x="204" y="301"/>
                  </a:lnTo>
                  <a:lnTo>
                    <a:pt x="204" y="30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1" name="图形"/>
            <p:cNvSpPr/>
            <p:nvPr>
              <p:custDataLst>
                <p:tags r:id="rId8"/>
              </p:custDataLst>
            </p:nvPr>
          </p:nvSpPr>
          <p:spPr bwMode="auto">
            <a:xfrm>
              <a:off x="2849563" y="4071938"/>
              <a:ext cx="438150" cy="450850"/>
            </a:xfrm>
            <a:custGeom>
              <a:avLst/>
              <a:gdLst>
                <a:gd name="T0" fmla="*/ 142 w 276"/>
                <a:gd name="T1" fmla="*/ 284 h 284"/>
                <a:gd name="T2" fmla="*/ 142 w 276"/>
                <a:gd name="T3" fmla="*/ 284 h 284"/>
                <a:gd name="T4" fmla="*/ 167 w 276"/>
                <a:gd name="T5" fmla="*/ 282 h 284"/>
                <a:gd name="T6" fmla="*/ 190 w 276"/>
                <a:gd name="T7" fmla="*/ 276 h 284"/>
                <a:gd name="T8" fmla="*/ 210 w 276"/>
                <a:gd name="T9" fmla="*/ 268 h 284"/>
                <a:gd name="T10" fmla="*/ 229 w 276"/>
                <a:gd name="T11" fmla="*/ 255 h 284"/>
                <a:gd name="T12" fmla="*/ 229 w 276"/>
                <a:gd name="T13" fmla="*/ 255 h 284"/>
                <a:gd name="T14" fmla="*/ 229 w 276"/>
                <a:gd name="T15" fmla="*/ 239 h 284"/>
                <a:gd name="T16" fmla="*/ 227 w 276"/>
                <a:gd name="T17" fmla="*/ 225 h 284"/>
                <a:gd name="T18" fmla="*/ 227 w 276"/>
                <a:gd name="T19" fmla="*/ 225 h 284"/>
                <a:gd name="T20" fmla="*/ 229 w 276"/>
                <a:gd name="T21" fmla="*/ 206 h 284"/>
                <a:gd name="T22" fmla="*/ 231 w 276"/>
                <a:gd name="T23" fmla="*/ 187 h 284"/>
                <a:gd name="T24" fmla="*/ 235 w 276"/>
                <a:gd name="T25" fmla="*/ 169 h 284"/>
                <a:gd name="T26" fmla="*/ 241 w 276"/>
                <a:gd name="T27" fmla="*/ 152 h 284"/>
                <a:gd name="T28" fmla="*/ 247 w 276"/>
                <a:gd name="T29" fmla="*/ 136 h 284"/>
                <a:gd name="T30" fmla="*/ 256 w 276"/>
                <a:gd name="T31" fmla="*/ 121 h 284"/>
                <a:gd name="T32" fmla="*/ 266 w 276"/>
                <a:gd name="T33" fmla="*/ 107 h 284"/>
                <a:gd name="T34" fmla="*/ 276 w 276"/>
                <a:gd name="T35" fmla="*/ 92 h 284"/>
                <a:gd name="T36" fmla="*/ 276 w 276"/>
                <a:gd name="T37" fmla="*/ 92 h 284"/>
                <a:gd name="T38" fmla="*/ 268 w 276"/>
                <a:gd name="T39" fmla="*/ 72 h 284"/>
                <a:gd name="T40" fmla="*/ 256 w 276"/>
                <a:gd name="T41" fmla="*/ 55 h 284"/>
                <a:gd name="T42" fmla="*/ 241 w 276"/>
                <a:gd name="T43" fmla="*/ 39 h 284"/>
                <a:gd name="T44" fmla="*/ 225 w 276"/>
                <a:gd name="T45" fmla="*/ 24 h 284"/>
                <a:gd name="T46" fmla="*/ 206 w 276"/>
                <a:gd name="T47" fmla="*/ 14 h 284"/>
                <a:gd name="T48" fmla="*/ 185 w 276"/>
                <a:gd name="T49" fmla="*/ 6 h 284"/>
                <a:gd name="T50" fmla="*/ 165 w 276"/>
                <a:gd name="T51" fmla="*/ 0 h 284"/>
                <a:gd name="T52" fmla="*/ 142 w 276"/>
                <a:gd name="T53" fmla="*/ 0 h 284"/>
                <a:gd name="T54" fmla="*/ 142 w 276"/>
                <a:gd name="T55" fmla="*/ 0 h 284"/>
                <a:gd name="T56" fmla="*/ 128 w 276"/>
                <a:gd name="T57" fmla="*/ 0 h 284"/>
                <a:gd name="T58" fmla="*/ 113 w 276"/>
                <a:gd name="T59" fmla="*/ 2 h 284"/>
                <a:gd name="T60" fmla="*/ 99 w 276"/>
                <a:gd name="T61" fmla="*/ 6 h 284"/>
                <a:gd name="T62" fmla="*/ 86 w 276"/>
                <a:gd name="T63" fmla="*/ 10 h 284"/>
                <a:gd name="T64" fmla="*/ 74 w 276"/>
                <a:gd name="T65" fmla="*/ 16 h 284"/>
                <a:gd name="T66" fmla="*/ 62 w 276"/>
                <a:gd name="T67" fmla="*/ 22 h 284"/>
                <a:gd name="T68" fmla="*/ 51 w 276"/>
                <a:gd name="T69" fmla="*/ 31 h 284"/>
                <a:gd name="T70" fmla="*/ 41 w 276"/>
                <a:gd name="T71" fmla="*/ 41 h 284"/>
                <a:gd name="T72" fmla="*/ 31 w 276"/>
                <a:gd name="T73" fmla="*/ 51 h 284"/>
                <a:gd name="T74" fmla="*/ 22 w 276"/>
                <a:gd name="T75" fmla="*/ 62 h 284"/>
                <a:gd name="T76" fmla="*/ 16 w 276"/>
                <a:gd name="T77" fmla="*/ 74 h 284"/>
                <a:gd name="T78" fmla="*/ 10 w 276"/>
                <a:gd name="T79" fmla="*/ 86 h 284"/>
                <a:gd name="T80" fmla="*/ 6 w 276"/>
                <a:gd name="T81" fmla="*/ 99 h 284"/>
                <a:gd name="T82" fmla="*/ 2 w 276"/>
                <a:gd name="T83" fmla="*/ 113 h 284"/>
                <a:gd name="T84" fmla="*/ 0 w 276"/>
                <a:gd name="T85" fmla="*/ 128 h 284"/>
                <a:gd name="T86" fmla="*/ 0 w 276"/>
                <a:gd name="T87" fmla="*/ 142 h 284"/>
                <a:gd name="T88" fmla="*/ 0 w 276"/>
                <a:gd name="T89" fmla="*/ 142 h 284"/>
                <a:gd name="T90" fmla="*/ 0 w 276"/>
                <a:gd name="T91" fmla="*/ 156 h 284"/>
                <a:gd name="T92" fmla="*/ 2 w 276"/>
                <a:gd name="T93" fmla="*/ 171 h 284"/>
                <a:gd name="T94" fmla="*/ 6 w 276"/>
                <a:gd name="T95" fmla="*/ 185 h 284"/>
                <a:gd name="T96" fmla="*/ 10 w 276"/>
                <a:gd name="T97" fmla="*/ 198 h 284"/>
                <a:gd name="T98" fmla="*/ 16 w 276"/>
                <a:gd name="T99" fmla="*/ 210 h 284"/>
                <a:gd name="T100" fmla="*/ 22 w 276"/>
                <a:gd name="T101" fmla="*/ 222 h 284"/>
                <a:gd name="T102" fmla="*/ 31 w 276"/>
                <a:gd name="T103" fmla="*/ 233 h 284"/>
                <a:gd name="T104" fmla="*/ 41 w 276"/>
                <a:gd name="T105" fmla="*/ 243 h 284"/>
                <a:gd name="T106" fmla="*/ 51 w 276"/>
                <a:gd name="T107" fmla="*/ 251 h 284"/>
                <a:gd name="T108" fmla="*/ 62 w 276"/>
                <a:gd name="T109" fmla="*/ 260 h 284"/>
                <a:gd name="T110" fmla="*/ 74 w 276"/>
                <a:gd name="T111" fmla="*/ 268 h 284"/>
                <a:gd name="T112" fmla="*/ 86 w 276"/>
                <a:gd name="T113" fmla="*/ 274 h 284"/>
                <a:gd name="T114" fmla="*/ 99 w 276"/>
                <a:gd name="T115" fmla="*/ 278 h 284"/>
                <a:gd name="T116" fmla="*/ 113 w 276"/>
                <a:gd name="T117" fmla="*/ 282 h 284"/>
                <a:gd name="T118" fmla="*/ 128 w 276"/>
                <a:gd name="T119" fmla="*/ 284 h 284"/>
                <a:gd name="T120" fmla="*/ 142 w 276"/>
                <a:gd name="T121" fmla="*/ 284 h 284"/>
                <a:gd name="T122" fmla="*/ 142 w 276"/>
                <a:gd name="T1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6" h="284">
                  <a:moveTo>
                    <a:pt x="142" y="284"/>
                  </a:moveTo>
                  <a:lnTo>
                    <a:pt x="142" y="284"/>
                  </a:lnTo>
                  <a:lnTo>
                    <a:pt x="167" y="282"/>
                  </a:lnTo>
                  <a:lnTo>
                    <a:pt x="190" y="276"/>
                  </a:lnTo>
                  <a:lnTo>
                    <a:pt x="210" y="268"/>
                  </a:lnTo>
                  <a:lnTo>
                    <a:pt x="229" y="255"/>
                  </a:lnTo>
                  <a:lnTo>
                    <a:pt x="229" y="255"/>
                  </a:lnTo>
                  <a:lnTo>
                    <a:pt x="229" y="239"/>
                  </a:lnTo>
                  <a:lnTo>
                    <a:pt x="227" y="225"/>
                  </a:lnTo>
                  <a:lnTo>
                    <a:pt x="227" y="225"/>
                  </a:lnTo>
                  <a:lnTo>
                    <a:pt x="229" y="206"/>
                  </a:lnTo>
                  <a:lnTo>
                    <a:pt x="231" y="187"/>
                  </a:lnTo>
                  <a:lnTo>
                    <a:pt x="235" y="169"/>
                  </a:lnTo>
                  <a:lnTo>
                    <a:pt x="241" y="152"/>
                  </a:lnTo>
                  <a:lnTo>
                    <a:pt x="247" y="136"/>
                  </a:lnTo>
                  <a:lnTo>
                    <a:pt x="256" y="121"/>
                  </a:lnTo>
                  <a:lnTo>
                    <a:pt x="266" y="107"/>
                  </a:lnTo>
                  <a:lnTo>
                    <a:pt x="276" y="92"/>
                  </a:lnTo>
                  <a:lnTo>
                    <a:pt x="276" y="92"/>
                  </a:lnTo>
                  <a:lnTo>
                    <a:pt x="268" y="72"/>
                  </a:lnTo>
                  <a:lnTo>
                    <a:pt x="256" y="55"/>
                  </a:lnTo>
                  <a:lnTo>
                    <a:pt x="241" y="39"/>
                  </a:lnTo>
                  <a:lnTo>
                    <a:pt x="225" y="24"/>
                  </a:lnTo>
                  <a:lnTo>
                    <a:pt x="206" y="14"/>
                  </a:lnTo>
                  <a:lnTo>
                    <a:pt x="185" y="6"/>
                  </a:lnTo>
                  <a:lnTo>
                    <a:pt x="165" y="0"/>
                  </a:lnTo>
                  <a:lnTo>
                    <a:pt x="142" y="0"/>
                  </a:lnTo>
                  <a:lnTo>
                    <a:pt x="142" y="0"/>
                  </a:lnTo>
                  <a:lnTo>
                    <a:pt x="128" y="0"/>
                  </a:lnTo>
                  <a:lnTo>
                    <a:pt x="113" y="2"/>
                  </a:lnTo>
                  <a:lnTo>
                    <a:pt x="99" y="6"/>
                  </a:lnTo>
                  <a:lnTo>
                    <a:pt x="86" y="10"/>
                  </a:lnTo>
                  <a:lnTo>
                    <a:pt x="74" y="16"/>
                  </a:lnTo>
                  <a:lnTo>
                    <a:pt x="62" y="22"/>
                  </a:lnTo>
                  <a:lnTo>
                    <a:pt x="51" y="31"/>
                  </a:lnTo>
                  <a:lnTo>
                    <a:pt x="41" y="41"/>
                  </a:lnTo>
                  <a:lnTo>
                    <a:pt x="31" y="51"/>
                  </a:lnTo>
                  <a:lnTo>
                    <a:pt x="22" y="62"/>
                  </a:lnTo>
                  <a:lnTo>
                    <a:pt x="16" y="74"/>
                  </a:lnTo>
                  <a:lnTo>
                    <a:pt x="10" y="86"/>
                  </a:lnTo>
                  <a:lnTo>
                    <a:pt x="6" y="99"/>
                  </a:lnTo>
                  <a:lnTo>
                    <a:pt x="2" y="113"/>
                  </a:lnTo>
                  <a:lnTo>
                    <a:pt x="0" y="128"/>
                  </a:lnTo>
                  <a:lnTo>
                    <a:pt x="0" y="142"/>
                  </a:lnTo>
                  <a:lnTo>
                    <a:pt x="0" y="142"/>
                  </a:lnTo>
                  <a:lnTo>
                    <a:pt x="0" y="156"/>
                  </a:lnTo>
                  <a:lnTo>
                    <a:pt x="2" y="171"/>
                  </a:lnTo>
                  <a:lnTo>
                    <a:pt x="6" y="185"/>
                  </a:lnTo>
                  <a:lnTo>
                    <a:pt x="10" y="198"/>
                  </a:lnTo>
                  <a:lnTo>
                    <a:pt x="16" y="210"/>
                  </a:lnTo>
                  <a:lnTo>
                    <a:pt x="22" y="222"/>
                  </a:lnTo>
                  <a:lnTo>
                    <a:pt x="31" y="233"/>
                  </a:lnTo>
                  <a:lnTo>
                    <a:pt x="41" y="243"/>
                  </a:lnTo>
                  <a:lnTo>
                    <a:pt x="51" y="251"/>
                  </a:lnTo>
                  <a:lnTo>
                    <a:pt x="62" y="260"/>
                  </a:lnTo>
                  <a:lnTo>
                    <a:pt x="74" y="268"/>
                  </a:lnTo>
                  <a:lnTo>
                    <a:pt x="86" y="274"/>
                  </a:lnTo>
                  <a:lnTo>
                    <a:pt x="99" y="278"/>
                  </a:lnTo>
                  <a:lnTo>
                    <a:pt x="113" y="282"/>
                  </a:lnTo>
                  <a:lnTo>
                    <a:pt x="128" y="284"/>
                  </a:lnTo>
                  <a:lnTo>
                    <a:pt x="142" y="284"/>
                  </a:lnTo>
                  <a:lnTo>
                    <a:pt x="142" y="28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2" name="图形"/>
            <p:cNvSpPr/>
            <p:nvPr>
              <p:custDataLst>
                <p:tags r:id="rId9"/>
              </p:custDataLst>
            </p:nvPr>
          </p:nvSpPr>
          <p:spPr bwMode="auto">
            <a:xfrm>
              <a:off x="3182938" y="4710113"/>
              <a:ext cx="698500" cy="520700"/>
            </a:xfrm>
            <a:custGeom>
              <a:avLst/>
              <a:gdLst>
                <a:gd name="T0" fmla="*/ 440 w 440"/>
                <a:gd name="T1" fmla="*/ 190 h 328"/>
                <a:gd name="T2" fmla="*/ 440 w 440"/>
                <a:gd name="T3" fmla="*/ 190 h 328"/>
                <a:gd name="T4" fmla="*/ 438 w 440"/>
                <a:gd name="T5" fmla="*/ 161 h 328"/>
                <a:gd name="T6" fmla="*/ 431 w 440"/>
                <a:gd name="T7" fmla="*/ 134 h 328"/>
                <a:gd name="T8" fmla="*/ 425 w 440"/>
                <a:gd name="T9" fmla="*/ 107 h 328"/>
                <a:gd name="T10" fmla="*/ 413 w 440"/>
                <a:gd name="T11" fmla="*/ 83 h 328"/>
                <a:gd name="T12" fmla="*/ 400 w 440"/>
                <a:gd name="T13" fmla="*/ 58 h 328"/>
                <a:gd name="T14" fmla="*/ 384 w 440"/>
                <a:gd name="T15" fmla="*/ 37 h 328"/>
                <a:gd name="T16" fmla="*/ 365 w 440"/>
                <a:gd name="T17" fmla="*/ 16 h 328"/>
                <a:gd name="T18" fmla="*/ 347 w 440"/>
                <a:gd name="T19" fmla="*/ 0 h 328"/>
                <a:gd name="T20" fmla="*/ 219 w 440"/>
                <a:gd name="T21" fmla="*/ 105 h 328"/>
                <a:gd name="T22" fmla="*/ 93 w 440"/>
                <a:gd name="T23" fmla="*/ 0 h 328"/>
                <a:gd name="T24" fmla="*/ 93 w 440"/>
                <a:gd name="T25" fmla="*/ 0 h 328"/>
                <a:gd name="T26" fmla="*/ 72 w 440"/>
                <a:gd name="T27" fmla="*/ 16 h 328"/>
                <a:gd name="T28" fmla="*/ 54 w 440"/>
                <a:gd name="T29" fmla="*/ 37 h 328"/>
                <a:gd name="T30" fmla="*/ 39 w 440"/>
                <a:gd name="T31" fmla="*/ 58 h 328"/>
                <a:gd name="T32" fmla="*/ 25 w 440"/>
                <a:gd name="T33" fmla="*/ 83 h 328"/>
                <a:gd name="T34" fmla="*/ 15 w 440"/>
                <a:gd name="T35" fmla="*/ 107 h 328"/>
                <a:gd name="T36" fmla="*/ 6 w 440"/>
                <a:gd name="T37" fmla="*/ 134 h 328"/>
                <a:gd name="T38" fmla="*/ 2 w 440"/>
                <a:gd name="T39" fmla="*/ 161 h 328"/>
                <a:gd name="T40" fmla="*/ 0 w 440"/>
                <a:gd name="T41" fmla="*/ 190 h 328"/>
                <a:gd name="T42" fmla="*/ 0 w 440"/>
                <a:gd name="T43" fmla="*/ 190 h 328"/>
                <a:gd name="T44" fmla="*/ 0 w 440"/>
                <a:gd name="T45" fmla="*/ 206 h 328"/>
                <a:gd name="T46" fmla="*/ 6 w 440"/>
                <a:gd name="T47" fmla="*/ 223 h 328"/>
                <a:gd name="T48" fmla="*/ 13 w 440"/>
                <a:gd name="T49" fmla="*/ 237 h 328"/>
                <a:gd name="T50" fmla="*/ 23 w 440"/>
                <a:gd name="T51" fmla="*/ 250 h 328"/>
                <a:gd name="T52" fmla="*/ 35 w 440"/>
                <a:gd name="T53" fmla="*/ 262 h 328"/>
                <a:gd name="T54" fmla="*/ 48 w 440"/>
                <a:gd name="T55" fmla="*/ 274 h 328"/>
                <a:gd name="T56" fmla="*/ 64 w 440"/>
                <a:gd name="T57" fmla="*/ 285 h 328"/>
                <a:gd name="T58" fmla="*/ 79 w 440"/>
                <a:gd name="T59" fmla="*/ 293 h 328"/>
                <a:gd name="T60" fmla="*/ 97 w 440"/>
                <a:gd name="T61" fmla="*/ 301 h 328"/>
                <a:gd name="T62" fmla="*/ 116 w 440"/>
                <a:gd name="T63" fmla="*/ 309 h 328"/>
                <a:gd name="T64" fmla="*/ 151 w 440"/>
                <a:gd name="T65" fmla="*/ 320 h 328"/>
                <a:gd name="T66" fmla="*/ 188 w 440"/>
                <a:gd name="T67" fmla="*/ 326 h 328"/>
                <a:gd name="T68" fmla="*/ 219 w 440"/>
                <a:gd name="T69" fmla="*/ 328 h 328"/>
                <a:gd name="T70" fmla="*/ 219 w 440"/>
                <a:gd name="T71" fmla="*/ 328 h 328"/>
                <a:gd name="T72" fmla="*/ 252 w 440"/>
                <a:gd name="T73" fmla="*/ 326 h 328"/>
                <a:gd name="T74" fmla="*/ 287 w 440"/>
                <a:gd name="T75" fmla="*/ 320 h 328"/>
                <a:gd name="T76" fmla="*/ 324 w 440"/>
                <a:gd name="T77" fmla="*/ 309 h 328"/>
                <a:gd name="T78" fmla="*/ 343 w 440"/>
                <a:gd name="T79" fmla="*/ 301 h 328"/>
                <a:gd name="T80" fmla="*/ 359 w 440"/>
                <a:gd name="T81" fmla="*/ 293 h 328"/>
                <a:gd name="T82" fmla="*/ 376 w 440"/>
                <a:gd name="T83" fmla="*/ 285 h 328"/>
                <a:gd name="T84" fmla="*/ 390 w 440"/>
                <a:gd name="T85" fmla="*/ 274 h 328"/>
                <a:gd name="T86" fmla="*/ 405 w 440"/>
                <a:gd name="T87" fmla="*/ 262 h 328"/>
                <a:gd name="T88" fmla="*/ 415 w 440"/>
                <a:gd name="T89" fmla="*/ 250 h 328"/>
                <a:gd name="T90" fmla="*/ 425 w 440"/>
                <a:gd name="T91" fmla="*/ 237 h 328"/>
                <a:gd name="T92" fmla="*/ 433 w 440"/>
                <a:gd name="T93" fmla="*/ 223 h 328"/>
                <a:gd name="T94" fmla="*/ 438 w 440"/>
                <a:gd name="T95" fmla="*/ 206 h 328"/>
                <a:gd name="T96" fmla="*/ 440 w 440"/>
                <a:gd name="T97" fmla="*/ 190 h 328"/>
                <a:gd name="T98" fmla="*/ 440 w 440"/>
                <a:gd name="T99" fmla="*/ 190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40" h="328">
                  <a:moveTo>
                    <a:pt x="440" y="190"/>
                  </a:moveTo>
                  <a:lnTo>
                    <a:pt x="440" y="190"/>
                  </a:lnTo>
                  <a:lnTo>
                    <a:pt x="438" y="161"/>
                  </a:lnTo>
                  <a:lnTo>
                    <a:pt x="431" y="134"/>
                  </a:lnTo>
                  <a:lnTo>
                    <a:pt x="425" y="107"/>
                  </a:lnTo>
                  <a:lnTo>
                    <a:pt x="413" y="83"/>
                  </a:lnTo>
                  <a:lnTo>
                    <a:pt x="400" y="58"/>
                  </a:lnTo>
                  <a:lnTo>
                    <a:pt x="384" y="37"/>
                  </a:lnTo>
                  <a:lnTo>
                    <a:pt x="365" y="16"/>
                  </a:lnTo>
                  <a:lnTo>
                    <a:pt x="347" y="0"/>
                  </a:lnTo>
                  <a:lnTo>
                    <a:pt x="219" y="105"/>
                  </a:lnTo>
                  <a:lnTo>
                    <a:pt x="93" y="0"/>
                  </a:lnTo>
                  <a:lnTo>
                    <a:pt x="93" y="0"/>
                  </a:lnTo>
                  <a:lnTo>
                    <a:pt x="72" y="16"/>
                  </a:lnTo>
                  <a:lnTo>
                    <a:pt x="54" y="37"/>
                  </a:lnTo>
                  <a:lnTo>
                    <a:pt x="39" y="58"/>
                  </a:lnTo>
                  <a:lnTo>
                    <a:pt x="25" y="83"/>
                  </a:lnTo>
                  <a:lnTo>
                    <a:pt x="15" y="107"/>
                  </a:lnTo>
                  <a:lnTo>
                    <a:pt x="6" y="134"/>
                  </a:lnTo>
                  <a:lnTo>
                    <a:pt x="2" y="161"/>
                  </a:lnTo>
                  <a:lnTo>
                    <a:pt x="0" y="190"/>
                  </a:lnTo>
                  <a:lnTo>
                    <a:pt x="0" y="190"/>
                  </a:lnTo>
                  <a:lnTo>
                    <a:pt x="0" y="206"/>
                  </a:lnTo>
                  <a:lnTo>
                    <a:pt x="6" y="223"/>
                  </a:lnTo>
                  <a:lnTo>
                    <a:pt x="13" y="237"/>
                  </a:lnTo>
                  <a:lnTo>
                    <a:pt x="23" y="250"/>
                  </a:lnTo>
                  <a:lnTo>
                    <a:pt x="35" y="262"/>
                  </a:lnTo>
                  <a:lnTo>
                    <a:pt x="48" y="274"/>
                  </a:lnTo>
                  <a:lnTo>
                    <a:pt x="64" y="285"/>
                  </a:lnTo>
                  <a:lnTo>
                    <a:pt x="79" y="293"/>
                  </a:lnTo>
                  <a:lnTo>
                    <a:pt x="97" y="301"/>
                  </a:lnTo>
                  <a:lnTo>
                    <a:pt x="116" y="309"/>
                  </a:lnTo>
                  <a:lnTo>
                    <a:pt x="151" y="320"/>
                  </a:lnTo>
                  <a:lnTo>
                    <a:pt x="188" y="326"/>
                  </a:lnTo>
                  <a:lnTo>
                    <a:pt x="219" y="328"/>
                  </a:lnTo>
                  <a:lnTo>
                    <a:pt x="219" y="328"/>
                  </a:lnTo>
                  <a:lnTo>
                    <a:pt x="252" y="326"/>
                  </a:lnTo>
                  <a:lnTo>
                    <a:pt x="287" y="320"/>
                  </a:lnTo>
                  <a:lnTo>
                    <a:pt x="324" y="309"/>
                  </a:lnTo>
                  <a:lnTo>
                    <a:pt x="343" y="301"/>
                  </a:lnTo>
                  <a:lnTo>
                    <a:pt x="359" y="293"/>
                  </a:lnTo>
                  <a:lnTo>
                    <a:pt x="376" y="285"/>
                  </a:lnTo>
                  <a:lnTo>
                    <a:pt x="390" y="274"/>
                  </a:lnTo>
                  <a:lnTo>
                    <a:pt x="405" y="262"/>
                  </a:lnTo>
                  <a:lnTo>
                    <a:pt x="415" y="250"/>
                  </a:lnTo>
                  <a:lnTo>
                    <a:pt x="425" y="237"/>
                  </a:lnTo>
                  <a:lnTo>
                    <a:pt x="433" y="223"/>
                  </a:lnTo>
                  <a:lnTo>
                    <a:pt x="438" y="206"/>
                  </a:lnTo>
                  <a:lnTo>
                    <a:pt x="440" y="190"/>
                  </a:lnTo>
                  <a:lnTo>
                    <a:pt x="440" y="19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sp>
          <p:nvSpPr>
            <p:cNvPr id="23" name="图形"/>
            <p:cNvSpPr/>
            <p:nvPr>
              <p:custDataLst>
                <p:tags r:id="rId10"/>
              </p:custDataLst>
            </p:nvPr>
          </p:nvSpPr>
          <p:spPr bwMode="auto">
            <a:xfrm>
              <a:off x="3284538" y="4183063"/>
              <a:ext cx="492125" cy="487363"/>
            </a:xfrm>
            <a:custGeom>
              <a:avLst/>
              <a:gdLst>
                <a:gd name="T0" fmla="*/ 155 w 310"/>
                <a:gd name="T1" fmla="*/ 0 h 307"/>
                <a:gd name="T2" fmla="*/ 124 w 310"/>
                <a:gd name="T3" fmla="*/ 2 h 307"/>
                <a:gd name="T4" fmla="*/ 95 w 310"/>
                <a:gd name="T5" fmla="*/ 12 h 307"/>
                <a:gd name="T6" fmla="*/ 68 w 310"/>
                <a:gd name="T7" fmla="*/ 27 h 307"/>
                <a:gd name="T8" fmla="*/ 46 w 310"/>
                <a:gd name="T9" fmla="*/ 45 h 307"/>
                <a:gd name="T10" fmla="*/ 27 w 310"/>
                <a:gd name="T11" fmla="*/ 68 h 307"/>
                <a:gd name="T12" fmla="*/ 13 w 310"/>
                <a:gd name="T13" fmla="*/ 95 h 307"/>
                <a:gd name="T14" fmla="*/ 4 w 310"/>
                <a:gd name="T15" fmla="*/ 124 h 307"/>
                <a:gd name="T16" fmla="*/ 0 w 310"/>
                <a:gd name="T17" fmla="*/ 155 h 307"/>
                <a:gd name="T18" fmla="*/ 2 w 310"/>
                <a:gd name="T19" fmla="*/ 169 h 307"/>
                <a:gd name="T20" fmla="*/ 8 w 310"/>
                <a:gd name="T21" fmla="*/ 200 h 307"/>
                <a:gd name="T22" fmla="*/ 19 w 310"/>
                <a:gd name="T23" fmla="*/ 227 h 307"/>
                <a:gd name="T24" fmla="*/ 35 w 310"/>
                <a:gd name="T25" fmla="*/ 252 h 307"/>
                <a:gd name="T26" fmla="*/ 58 w 310"/>
                <a:gd name="T27" fmla="*/ 272 h 307"/>
                <a:gd name="T28" fmla="*/ 83 w 310"/>
                <a:gd name="T29" fmla="*/ 289 h 307"/>
                <a:gd name="T30" fmla="*/ 109 w 310"/>
                <a:gd name="T31" fmla="*/ 301 h 307"/>
                <a:gd name="T32" fmla="*/ 140 w 310"/>
                <a:gd name="T33" fmla="*/ 307 h 307"/>
                <a:gd name="T34" fmla="*/ 155 w 310"/>
                <a:gd name="T35" fmla="*/ 307 h 307"/>
                <a:gd name="T36" fmla="*/ 186 w 310"/>
                <a:gd name="T37" fmla="*/ 305 h 307"/>
                <a:gd name="T38" fmla="*/ 215 w 310"/>
                <a:gd name="T39" fmla="*/ 297 h 307"/>
                <a:gd name="T40" fmla="*/ 242 w 310"/>
                <a:gd name="T41" fmla="*/ 282 h 307"/>
                <a:gd name="T42" fmla="*/ 264 w 310"/>
                <a:gd name="T43" fmla="*/ 264 h 307"/>
                <a:gd name="T44" fmla="*/ 283 w 310"/>
                <a:gd name="T45" fmla="*/ 241 h 307"/>
                <a:gd name="T46" fmla="*/ 297 w 310"/>
                <a:gd name="T47" fmla="*/ 214 h 307"/>
                <a:gd name="T48" fmla="*/ 306 w 310"/>
                <a:gd name="T49" fmla="*/ 185 h 307"/>
                <a:gd name="T50" fmla="*/ 310 w 310"/>
                <a:gd name="T51" fmla="*/ 155 h 307"/>
                <a:gd name="T52" fmla="*/ 310 w 310"/>
                <a:gd name="T53" fmla="*/ 138 h 307"/>
                <a:gd name="T54" fmla="*/ 303 w 310"/>
                <a:gd name="T55" fmla="*/ 107 h 307"/>
                <a:gd name="T56" fmla="*/ 291 w 310"/>
                <a:gd name="T57" fmla="*/ 80 h 307"/>
                <a:gd name="T58" fmla="*/ 275 w 310"/>
                <a:gd name="T59" fmla="*/ 56 h 307"/>
                <a:gd name="T60" fmla="*/ 254 w 310"/>
                <a:gd name="T61" fmla="*/ 35 h 307"/>
                <a:gd name="T62" fmla="*/ 229 w 310"/>
                <a:gd name="T63" fmla="*/ 18 h 307"/>
                <a:gd name="T64" fmla="*/ 200 w 310"/>
                <a:gd name="T65" fmla="*/ 6 h 307"/>
                <a:gd name="T66" fmla="*/ 171 w 310"/>
                <a:gd name="T67" fmla="*/ 0 h 307"/>
                <a:gd name="T68" fmla="*/ 155 w 310"/>
                <a:gd name="T69"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0" h="307">
                  <a:moveTo>
                    <a:pt x="155" y="0"/>
                  </a:moveTo>
                  <a:lnTo>
                    <a:pt x="155" y="0"/>
                  </a:lnTo>
                  <a:lnTo>
                    <a:pt x="140" y="0"/>
                  </a:lnTo>
                  <a:lnTo>
                    <a:pt x="124" y="2"/>
                  </a:lnTo>
                  <a:lnTo>
                    <a:pt x="109" y="6"/>
                  </a:lnTo>
                  <a:lnTo>
                    <a:pt x="95" y="12"/>
                  </a:lnTo>
                  <a:lnTo>
                    <a:pt x="83" y="18"/>
                  </a:lnTo>
                  <a:lnTo>
                    <a:pt x="68" y="27"/>
                  </a:lnTo>
                  <a:lnTo>
                    <a:pt x="58" y="35"/>
                  </a:lnTo>
                  <a:lnTo>
                    <a:pt x="46" y="45"/>
                  </a:lnTo>
                  <a:lnTo>
                    <a:pt x="35" y="56"/>
                  </a:lnTo>
                  <a:lnTo>
                    <a:pt x="27" y="68"/>
                  </a:lnTo>
                  <a:lnTo>
                    <a:pt x="19" y="80"/>
                  </a:lnTo>
                  <a:lnTo>
                    <a:pt x="13" y="95"/>
                  </a:lnTo>
                  <a:lnTo>
                    <a:pt x="8" y="107"/>
                  </a:lnTo>
                  <a:lnTo>
                    <a:pt x="4" y="124"/>
                  </a:lnTo>
                  <a:lnTo>
                    <a:pt x="2" y="138"/>
                  </a:lnTo>
                  <a:lnTo>
                    <a:pt x="0" y="155"/>
                  </a:lnTo>
                  <a:lnTo>
                    <a:pt x="0" y="155"/>
                  </a:lnTo>
                  <a:lnTo>
                    <a:pt x="2" y="169"/>
                  </a:lnTo>
                  <a:lnTo>
                    <a:pt x="4" y="185"/>
                  </a:lnTo>
                  <a:lnTo>
                    <a:pt x="8" y="200"/>
                  </a:lnTo>
                  <a:lnTo>
                    <a:pt x="13" y="214"/>
                  </a:lnTo>
                  <a:lnTo>
                    <a:pt x="19" y="227"/>
                  </a:lnTo>
                  <a:lnTo>
                    <a:pt x="27" y="241"/>
                  </a:lnTo>
                  <a:lnTo>
                    <a:pt x="35" y="252"/>
                  </a:lnTo>
                  <a:lnTo>
                    <a:pt x="46" y="264"/>
                  </a:lnTo>
                  <a:lnTo>
                    <a:pt x="58" y="272"/>
                  </a:lnTo>
                  <a:lnTo>
                    <a:pt x="68" y="282"/>
                  </a:lnTo>
                  <a:lnTo>
                    <a:pt x="83" y="289"/>
                  </a:lnTo>
                  <a:lnTo>
                    <a:pt x="95" y="297"/>
                  </a:lnTo>
                  <a:lnTo>
                    <a:pt x="109" y="301"/>
                  </a:lnTo>
                  <a:lnTo>
                    <a:pt x="124" y="305"/>
                  </a:lnTo>
                  <a:lnTo>
                    <a:pt x="140" y="307"/>
                  </a:lnTo>
                  <a:lnTo>
                    <a:pt x="155" y="307"/>
                  </a:lnTo>
                  <a:lnTo>
                    <a:pt x="155" y="307"/>
                  </a:lnTo>
                  <a:lnTo>
                    <a:pt x="171" y="307"/>
                  </a:lnTo>
                  <a:lnTo>
                    <a:pt x="186" y="305"/>
                  </a:lnTo>
                  <a:lnTo>
                    <a:pt x="200" y="301"/>
                  </a:lnTo>
                  <a:lnTo>
                    <a:pt x="215" y="297"/>
                  </a:lnTo>
                  <a:lnTo>
                    <a:pt x="229" y="289"/>
                  </a:lnTo>
                  <a:lnTo>
                    <a:pt x="242" y="282"/>
                  </a:lnTo>
                  <a:lnTo>
                    <a:pt x="254" y="272"/>
                  </a:lnTo>
                  <a:lnTo>
                    <a:pt x="264" y="264"/>
                  </a:lnTo>
                  <a:lnTo>
                    <a:pt x="275" y="252"/>
                  </a:lnTo>
                  <a:lnTo>
                    <a:pt x="283" y="241"/>
                  </a:lnTo>
                  <a:lnTo>
                    <a:pt x="291" y="227"/>
                  </a:lnTo>
                  <a:lnTo>
                    <a:pt x="297" y="214"/>
                  </a:lnTo>
                  <a:lnTo>
                    <a:pt x="303" y="200"/>
                  </a:lnTo>
                  <a:lnTo>
                    <a:pt x="306" y="185"/>
                  </a:lnTo>
                  <a:lnTo>
                    <a:pt x="310" y="169"/>
                  </a:lnTo>
                  <a:lnTo>
                    <a:pt x="310" y="155"/>
                  </a:lnTo>
                  <a:lnTo>
                    <a:pt x="310" y="155"/>
                  </a:lnTo>
                  <a:lnTo>
                    <a:pt x="310" y="138"/>
                  </a:lnTo>
                  <a:lnTo>
                    <a:pt x="306" y="124"/>
                  </a:lnTo>
                  <a:lnTo>
                    <a:pt x="303" y="107"/>
                  </a:lnTo>
                  <a:lnTo>
                    <a:pt x="297" y="95"/>
                  </a:lnTo>
                  <a:lnTo>
                    <a:pt x="291" y="80"/>
                  </a:lnTo>
                  <a:lnTo>
                    <a:pt x="283" y="68"/>
                  </a:lnTo>
                  <a:lnTo>
                    <a:pt x="275" y="56"/>
                  </a:lnTo>
                  <a:lnTo>
                    <a:pt x="264" y="45"/>
                  </a:lnTo>
                  <a:lnTo>
                    <a:pt x="254" y="35"/>
                  </a:lnTo>
                  <a:lnTo>
                    <a:pt x="242" y="27"/>
                  </a:lnTo>
                  <a:lnTo>
                    <a:pt x="229" y="18"/>
                  </a:lnTo>
                  <a:lnTo>
                    <a:pt x="215" y="12"/>
                  </a:lnTo>
                  <a:lnTo>
                    <a:pt x="200" y="6"/>
                  </a:lnTo>
                  <a:lnTo>
                    <a:pt x="186" y="2"/>
                  </a:lnTo>
                  <a:lnTo>
                    <a:pt x="171" y="0"/>
                  </a:lnTo>
                  <a:lnTo>
                    <a:pt x="155" y="0"/>
                  </a:lnTo>
                  <a:lnTo>
                    <a:pt x="155"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gradFill>
                  <a:gsLst>
                    <a:gs pos="0">
                      <a:srgbClr val="FFEBC4"/>
                    </a:gs>
                    <a:gs pos="100000">
                      <a:srgbClr val="FEDA90"/>
                    </a:gs>
                  </a:gsLst>
                  <a:lin ang="2700000" scaled="0"/>
                </a:gradFill>
                <a:latin typeface="Arial" panose="020B0604020202020204" pitchFamily="34" charset="0"/>
                <a:ea typeface="微软雅黑" panose="020B0503020204020204" pitchFamily="34" charset="-122"/>
                <a:cs typeface="思源黑体旧字形 Light" panose="020B0300000000000000" charset="-128"/>
                <a:sym typeface="Arial" panose="020B0604020202020204" pitchFamily="34" charset="0"/>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DIAGRAM_VIRTUALLY_FRAME" val="{&quot;height&quot;:269.59999999999997,&quot;left&quot;:205.93629921259844,&quot;top&quot;:227.0586614173228,&quot;width&quot;:609.65}"/>
</p:tagLst>
</file>

<file path=ppt/tags/tag6.xml><?xml version="1.0" encoding="utf-8"?>
<p:tagLst xmlns:p="http://schemas.openxmlformats.org/presentationml/2006/main">
  <p:tag name="KSO_WM_DIAGRAM_VIRTUALLY_FRAME" val="{&quot;height&quot;:269.59999999999997,&quot;left&quot;:205.93629921259844,&quot;top&quot;:227.0586614173228,&quot;width&quot;:609.65}"/>
</p:tagLst>
</file>

<file path=ppt/tags/tag7.xml><?xml version="1.0" encoding="utf-8"?>
<p:tagLst xmlns:p="http://schemas.openxmlformats.org/presentationml/2006/main">
  <p:tag name="KSO_WM_DIAGRAM_VIRTUALLY_FRAME" val="{&quot;height&quot;:269.59999999999997,&quot;left&quot;:205.93629921259844,&quot;top&quot;:227.0586614173228,&quot;width&quot;:609.65}"/>
</p:tagLst>
</file>

<file path=ppt/tags/tag8.xml><?xml version="1.0" encoding="utf-8"?>
<p:tagLst xmlns:p="http://schemas.openxmlformats.org/presentationml/2006/main">
  <p:tag name="KSO_WM_DIAGRAM_VIRTUALLY_FRAME" val="{&quot;height&quot;:269.59999999999997,&quot;left&quot;:205.93629921259844,&quot;top&quot;:227.0586614173228,&quot;width&quot;:609.65}"/>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COMMONDATA" val="eyJoZGlkIjoiZjgxYmM2ZDY1MjAwNjU4OWM5MDU0YzMxYTkyZjA5YzcifQ=="/>
</p:tagLst>
</file>

<file path=ppt/theme/_rels/theme1.xml.rels><?xml version="1.0" encoding="UTF-8" standalone="yes"?>
<Relationships xmlns="http://schemas.openxmlformats.org/package/2006/relationships"><Relationship Id="rId1" Type="http://schemas.openxmlformats.org/officeDocument/2006/relationships/image" Target="../media/image3.svg"/></Relationships>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txDef>
      <a:spPr>
        <a:ln>
          <a:solidFill>
            <a:schemeClr val="bg1"/>
          </a:solidFill>
        </a:ln>
      </a:spPr>
      <a:bodyPr wrap="square">
        <a:spAutoFit/>
      </a:bodyPr>
      <a:lstStyle>
        <a:defPPr marL="214630" indent="-214630">
          <a:buFont typeface="Wingdings" panose="05000000000000000000" pitchFamily="2" charset="2"/>
          <a:buBlip>
            <a:blip xmlns:r="http://schemas.openxmlformats.org/officeDocument/2006/relationships" r:embed="rId1"/>
          </a:buBlip>
          <a:defRPr lang="zh-CN" altLang="zh-CN" sz="2000" b="1" dirty="0">
            <a:solidFill>
              <a:schemeClr val="tx1"/>
            </a:solidFill>
            <a:latin typeface="黑体" panose="02010609060101010101" charset="-122"/>
            <a:ea typeface="黑体" panose="02010609060101010101" charset="-122"/>
            <a:cs typeface="黑体" panose="02010609060101010101" charset="-122"/>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15504</Words>
  <Application>WPS 演示</Application>
  <PresentationFormat>宽屏</PresentationFormat>
  <Paragraphs>1612</Paragraphs>
  <Slides>80</Slides>
  <Notes>1</Notes>
  <HiddenSlides>0</HiddenSlides>
  <MMClips>0</MMClips>
  <ScaleCrop>false</ScaleCrop>
  <HeadingPairs>
    <vt:vector size="6" baseType="variant">
      <vt:variant>
        <vt:lpstr>已用的字体</vt:lpstr>
      </vt:variant>
      <vt:variant>
        <vt:i4>36</vt:i4>
      </vt:variant>
      <vt:variant>
        <vt:lpstr>主题</vt:lpstr>
      </vt:variant>
      <vt:variant>
        <vt:i4>1</vt:i4>
      </vt:variant>
      <vt:variant>
        <vt:lpstr>幻灯片标题</vt:lpstr>
      </vt:variant>
      <vt:variant>
        <vt:i4>80</vt:i4>
      </vt:variant>
    </vt:vector>
  </HeadingPairs>
  <TitlesOfParts>
    <vt:vector size="117" baseType="lpstr">
      <vt:lpstr>Arial</vt:lpstr>
      <vt:lpstr>宋体</vt:lpstr>
      <vt:lpstr>Wingdings</vt:lpstr>
      <vt:lpstr>黑体</vt:lpstr>
      <vt:lpstr>微软雅黑</vt:lpstr>
      <vt:lpstr>汉仪铸字美心体简</vt:lpstr>
      <vt:lpstr>包图粗黑体</vt:lpstr>
      <vt:lpstr>方正大黑简体</vt:lpstr>
      <vt:lpstr>Times New Roman</vt:lpstr>
      <vt:lpstr>DotumChe</vt:lpstr>
      <vt:lpstr>华文行楷</vt:lpstr>
      <vt:lpstr>等线</vt:lpstr>
      <vt:lpstr>Calibri</vt:lpstr>
      <vt:lpstr>思源黑体旧字形 Light</vt:lpstr>
      <vt:lpstr>quote-cjk-patch</vt:lpstr>
      <vt:lpstr>Segoe Print</vt:lpstr>
      <vt:lpstr>Wingdings</vt:lpstr>
      <vt:lpstr>Arial Unicode MS</vt:lpstr>
      <vt:lpstr>等线 Light</vt:lpstr>
      <vt:lpstr>方正粗黑宋简体</vt:lpstr>
      <vt:lpstr>华文仿宋</vt:lpstr>
      <vt:lpstr>华文琥珀</vt:lpstr>
      <vt:lpstr>Helvetica</vt:lpstr>
      <vt:lpstr>unset</vt:lpstr>
      <vt:lpstr>华文楷体</vt:lpstr>
      <vt:lpstr>Cambria Math</vt:lpstr>
      <vt:lpstr>Malgun Gothic</vt:lpstr>
      <vt:lpstr>DotumChe</vt:lpstr>
      <vt:lpstr>quote-cjk-patch</vt:lpstr>
      <vt:lpstr>unset</vt:lpstr>
      <vt:lpstr>包图粗黑体</vt:lpstr>
      <vt:lpstr>思源黑体旧字形 Light</vt:lpstr>
      <vt:lpstr>汉标粗黑体</vt:lpstr>
      <vt:lpstr>方正宝黑体 简 Light</vt:lpstr>
      <vt:lpstr>Helvetica LT Pro</vt:lpstr>
      <vt:lpstr>Sweetie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    </vt:lpstr>
      <vt:lpstr>PowerPoint 演示文稿</vt:lpstr>
    </vt:vector>
  </TitlesOfParts>
  <Company>P R 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User</dc:creator>
  <cp:lastModifiedBy>Ouyang</cp:lastModifiedBy>
  <cp:revision>311</cp:revision>
  <dcterms:created xsi:type="dcterms:W3CDTF">2024-10-27T04:46:00Z</dcterms:created>
  <dcterms:modified xsi:type="dcterms:W3CDTF">2026-09-13T04:39:49Z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922DA675900D4BCD86B0E3E65B0A7806</vt:lpwstr>
  </property>
  <property fmtid="{D5CDD505-2E9C-101B-9397-08002B2CF9AE}" pid="3" name="KSOProductBuildVer">
    <vt:lpwstr>2052-12.1.0.28505</vt:lpwstr>
  </property>
</Properties>
</file>