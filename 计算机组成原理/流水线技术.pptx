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3"/>
  </p:notesMasterIdLst>
  <p:sldIdLst>
    <p:sldId id="419" r:id="rId2"/>
    <p:sldId id="303" r:id="rId3"/>
    <p:sldId id="256" r:id="rId4"/>
    <p:sldId id="257" r:id="rId5"/>
    <p:sldId id="259" r:id="rId6"/>
    <p:sldId id="305" r:id="rId7"/>
    <p:sldId id="318" r:id="rId8"/>
    <p:sldId id="420" r:id="rId9"/>
    <p:sldId id="306" r:id="rId10"/>
    <p:sldId id="319" r:id="rId11"/>
    <p:sldId id="320" r:id="rId12"/>
    <p:sldId id="316" r:id="rId13"/>
    <p:sldId id="317" r:id="rId14"/>
    <p:sldId id="260" r:id="rId15"/>
    <p:sldId id="307" r:id="rId16"/>
    <p:sldId id="321" r:id="rId17"/>
    <p:sldId id="279" r:id="rId18"/>
    <p:sldId id="280" r:id="rId19"/>
    <p:sldId id="421" r:id="rId20"/>
    <p:sldId id="467" r:id="rId21"/>
    <p:sldId id="466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465" r:id="rId40"/>
    <p:sldId id="298" r:id="rId41"/>
    <p:sldId id="322" r:id="rId42"/>
    <p:sldId id="299" r:id="rId43"/>
    <p:sldId id="323" r:id="rId44"/>
    <p:sldId id="324" r:id="rId45"/>
    <p:sldId id="335" r:id="rId46"/>
    <p:sldId id="326" r:id="rId47"/>
    <p:sldId id="468" r:id="rId48"/>
    <p:sldId id="334" r:id="rId49"/>
    <p:sldId id="469" r:id="rId50"/>
    <p:sldId id="327" r:id="rId51"/>
    <p:sldId id="328" r:id="rId52"/>
    <p:sldId id="329" r:id="rId53"/>
    <p:sldId id="331" r:id="rId54"/>
    <p:sldId id="332" r:id="rId55"/>
    <p:sldId id="333" r:id="rId56"/>
    <p:sldId id="356" r:id="rId57"/>
    <p:sldId id="357" r:id="rId58"/>
    <p:sldId id="470" r:id="rId59"/>
    <p:sldId id="358" r:id="rId60"/>
    <p:sldId id="359" r:id="rId61"/>
    <p:sldId id="361" r:id="rId62"/>
    <p:sldId id="363" r:id="rId63"/>
    <p:sldId id="364" r:id="rId64"/>
    <p:sldId id="373" r:id="rId65"/>
    <p:sldId id="366" r:id="rId66"/>
    <p:sldId id="367" r:id="rId67"/>
    <p:sldId id="368" r:id="rId68"/>
    <p:sldId id="369" r:id="rId69"/>
    <p:sldId id="370" r:id="rId70"/>
    <p:sldId id="371" r:id="rId71"/>
    <p:sldId id="340" r:id="rId72"/>
    <p:sldId id="341" r:id="rId73"/>
    <p:sldId id="342" r:id="rId74"/>
    <p:sldId id="344" r:id="rId75"/>
    <p:sldId id="345" r:id="rId76"/>
    <p:sldId id="346" r:id="rId77"/>
    <p:sldId id="473" r:id="rId78"/>
    <p:sldId id="349" r:id="rId79"/>
    <p:sldId id="350" r:id="rId80"/>
    <p:sldId id="351" r:id="rId81"/>
    <p:sldId id="474" r:id="rId82"/>
    <p:sldId id="352" r:id="rId83"/>
    <p:sldId id="353" r:id="rId84"/>
    <p:sldId id="354" r:id="rId85"/>
    <p:sldId id="355" r:id="rId86"/>
    <p:sldId id="374" r:id="rId87"/>
    <p:sldId id="422" r:id="rId88"/>
    <p:sldId id="423" r:id="rId89"/>
    <p:sldId id="424" r:id="rId90"/>
    <p:sldId id="425" r:id="rId91"/>
    <p:sldId id="426" r:id="rId92"/>
    <p:sldId id="427" r:id="rId93"/>
    <p:sldId id="428" r:id="rId94"/>
    <p:sldId id="429" r:id="rId95"/>
    <p:sldId id="430" r:id="rId96"/>
    <p:sldId id="431" r:id="rId97"/>
    <p:sldId id="432" r:id="rId98"/>
    <p:sldId id="433" r:id="rId99"/>
    <p:sldId id="434" r:id="rId100"/>
    <p:sldId id="435" r:id="rId101"/>
    <p:sldId id="436" r:id="rId102"/>
    <p:sldId id="437" r:id="rId103"/>
    <p:sldId id="438" r:id="rId104"/>
    <p:sldId id="439" r:id="rId105"/>
    <p:sldId id="440" r:id="rId106"/>
    <p:sldId id="441" r:id="rId107"/>
    <p:sldId id="442" r:id="rId108"/>
    <p:sldId id="443" r:id="rId109"/>
    <p:sldId id="444" r:id="rId110"/>
    <p:sldId id="445" r:id="rId111"/>
    <p:sldId id="446" r:id="rId112"/>
    <p:sldId id="447" r:id="rId113"/>
    <p:sldId id="448" r:id="rId114"/>
    <p:sldId id="449" r:id="rId115"/>
    <p:sldId id="450" r:id="rId116"/>
    <p:sldId id="451" r:id="rId117"/>
    <p:sldId id="452" r:id="rId118"/>
    <p:sldId id="453" r:id="rId119"/>
    <p:sldId id="454" r:id="rId120"/>
    <p:sldId id="471" r:id="rId121"/>
    <p:sldId id="456" r:id="rId122"/>
    <p:sldId id="457" r:id="rId123"/>
    <p:sldId id="458" r:id="rId124"/>
    <p:sldId id="475" r:id="rId125"/>
    <p:sldId id="472" r:id="rId126"/>
    <p:sldId id="459" r:id="rId127"/>
    <p:sldId id="460" r:id="rId128"/>
    <p:sldId id="461" r:id="rId129"/>
    <p:sldId id="462" r:id="rId130"/>
    <p:sldId id="463" r:id="rId131"/>
    <p:sldId id="464" r:id="rId13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321" autoAdjust="0"/>
  </p:normalViewPr>
  <p:slideViewPr>
    <p:cSldViewPr>
      <p:cViewPr>
        <p:scale>
          <a:sx n="50" d="100"/>
          <a:sy n="50" d="100"/>
        </p:scale>
        <p:origin x="-1267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0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13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-5400000" vert="horz"/>
          <a:lstStyle/>
          <a:p>
            <a:pPr algn="ctr">
              <a:defRPr sz="1781" b="1" i="0" u="none" strike="noStrike" baseline="0">
                <a:solidFill>
                  <a:schemeClr val="tx1"/>
                </a:solidFill>
                <a:latin typeface="宋体"/>
                <a:ea typeface="宋体"/>
                <a:cs typeface="宋体"/>
              </a:defRPr>
            </a:pPr>
            <a:r>
              <a:rPr lang="en-US" altLang="en-US"/>
              <a:t>Fraction of loads that cause a stall</a:t>
            </a:r>
          </a:p>
        </c:rich>
      </c:tx>
      <c:layout>
        <c:manualLayout>
          <c:xMode val="edge"/>
          <c:yMode val="edge"/>
          <c:x val="1.0025062656641603E-2"/>
          <c:y val="0.19789473684210526"/>
        </c:manualLayout>
      </c:layout>
      <c:overlay val="0"/>
      <c:spPr>
        <a:noFill/>
        <a:ln w="27411">
          <a:noFill/>
        </a:ln>
      </c:spPr>
    </c:title>
    <c:autoTitleDeleted val="0"/>
    <c:view3D>
      <c:rotX val="15"/>
      <c:hPercent val="60"/>
      <c:rotY val="20"/>
      <c:depthPercent val="100"/>
      <c:rAngAx val="1"/>
    </c:view3D>
    <c:floor>
      <c:thickness val="0"/>
      <c:spPr>
        <a:solidFill>
          <a:srgbClr val="C0C0C0"/>
        </a:solidFill>
        <a:ln w="3175">
          <a:solidFill>
            <a:schemeClr val="tx1"/>
          </a:solidFill>
          <a:prstDash val="solid"/>
        </a:ln>
      </c:spPr>
    </c:floor>
    <c:sideWall>
      <c:thickness val="0"/>
      <c:spPr>
        <a:noFill/>
        <a:ln w="12700">
          <a:solidFill>
            <a:schemeClr val="tx1"/>
          </a:solidFill>
          <a:prstDash val="solid"/>
        </a:ln>
      </c:spPr>
    </c:sideWall>
    <c:backWall>
      <c:thickness val="0"/>
      <c:spPr>
        <a:noFill/>
        <a:ln w="12700">
          <a:solidFill>
            <a:schemeClr val="tx1"/>
          </a:solidFill>
          <a:prstDash val="solid"/>
        </a:ln>
      </c:spPr>
    </c:backWall>
    <c:plotArea>
      <c:layout>
        <c:manualLayout>
          <c:layoutTarget val="inner"/>
          <c:xMode val="edge"/>
          <c:yMode val="edge"/>
          <c:x val="0.13283208020050125"/>
          <c:y val="2.5263157894736842E-2"/>
          <c:w val="0.8671679197994987"/>
          <c:h val="0.74526315789473685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Fraction of loads that cause a stall</c:v>
                </c:pt>
              </c:strCache>
            </c:strRef>
          </c:tx>
          <c:spPr>
            <a:solidFill>
              <a:schemeClr val="accent1"/>
            </a:solidFill>
            <a:ln w="13705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1.2424820736417224E-2"/>
                  <c:y val="-7.363080564468232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6357939777652025E-3"/>
                  <c:y val="-2.285280332904668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7.1373721473670633E-3"/>
                  <c:y val="-1.78346670312436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1.3608767170357611E-3"/>
                  <c:y val="3.978877301216371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6.8624548866375659E-3"/>
                  <c:y val="-3.152554248678734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3.5922251204667205E-3"/>
                  <c:y val="4.32135212615519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6.5876595146968494E-3"/>
                  <c:y val="-4.0997005054237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3.3173078597373345E-3"/>
                  <c:y val="-6.467566147286453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8"/>
              <c:layout>
                <c:manualLayout>
                  <c:x val="1.3002109256466615E-3"/>
                  <c:y val="6.16401280008198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layout>
                <c:manualLayout>
                  <c:x val="5.9033120085995221E-3"/>
                  <c:y val="-5.78302237450921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 w="27411">
                <a:noFill/>
              </a:ln>
            </c:spPr>
            <c:txPr>
              <a:bodyPr/>
              <a:lstStyle/>
              <a:p>
                <a:pPr algn="l">
                  <a:defRPr sz="2158" b="1" i="0" u="none" strike="noStrike" baseline="0">
                    <a:solidFill>
                      <a:schemeClr val="tx1"/>
                    </a:solidFill>
                    <a:latin typeface="宋体"/>
                    <a:ea typeface="宋体"/>
                    <a:cs typeface="宋体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Sheet1!$B$1:$K$1</c:f>
              <c:strCache>
                <c:ptCount val="10"/>
                <c:pt idx="0">
                  <c:v>compress</c:v>
                </c:pt>
                <c:pt idx="1">
                  <c:v>eqntott</c:v>
                </c:pt>
                <c:pt idx="2">
                  <c:v>espresso</c:v>
                </c:pt>
                <c:pt idx="3">
                  <c:v>gcc</c:v>
                </c:pt>
                <c:pt idx="4">
                  <c:v>li</c:v>
                </c:pt>
                <c:pt idx="5">
                  <c:v>doduc</c:v>
                </c:pt>
                <c:pt idx="6">
                  <c:v>ear</c:v>
                </c:pt>
                <c:pt idx="7">
                  <c:v>hydro2d</c:v>
                </c:pt>
                <c:pt idx="8">
                  <c:v>mdijdp</c:v>
                </c:pt>
                <c:pt idx="9">
                  <c:v>su2cor</c:v>
                </c:pt>
              </c:strCache>
            </c:strRef>
          </c:cat>
          <c:val>
            <c:numRef>
              <c:f>Sheet1!$B$2:$K$2</c:f>
              <c:numCache>
                <c:formatCode>0%</c:formatCode>
                <c:ptCount val="10"/>
                <c:pt idx="0">
                  <c:v>0.24</c:v>
                </c:pt>
                <c:pt idx="1">
                  <c:v>0.41</c:v>
                </c:pt>
                <c:pt idx="2">
                  <c:v>0.12</c:v>
                </c:pt>
                <c:pt idx="3">
                  <c:v>0.23</c:v>
                </c:pt>
                <c:pt idx="4">
                  <c:v>0.24</c:v>
                </c:pt>
                <c:pt idx="5">
                  <c:v>0.2</c:v>
                </c:pt>
                <c:pt idx="6">
                  <c:v>0.2</c:v>
                </c:pt>
                <c:pt idx="7">
                  <c:v>0.1</c:v>
                </c:pt>
                <c:pt idx="8">
                  <c:v>0.1</c:v>
                </c:pt>
                <c:pt idx="9">
                  <c:v>0.04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0"/>
        <c:shape val="box"/>
        <c:axId val="145620992"/>
        <c:axId val="145622528"/>
        <c:axId val="0"/>
      </c:bar3DChart>
      <c:catAx>
        <c:axId val="145620992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low"/>
        <c:spPr>
          <a:ln w="3426">
            <a:solidFill>
              <a:schemeClr val="tx1"/>
            </a:solidFill>
            <a:prstDash val="solid"/>
          </a:ln>
        </c:spPr>
        <c:txPr>
          <a:bodyPr rot="-2700000" vert="horz"/>
          <a:lstStyle/>
          <a:p>
            <a:pPr>
              <a:defRPr sz="1942" b="1" i="0" u="none" strike="noStrike" baseline="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pPr>
            <a:endParaRPr lang="zh-CN"/>
          </a:p>
        </c:txPr>
        <c:crossAx val="145622528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45622528"/>
        <c:scaling>
          <c:orientation val="minMax"/>
        </c:scaling>
        <c:delete val="0"/>
        <c:axPos val="l"/>
        <c:numFmt formatCode="0%" sourceLinked="1"/>
        <c:majorTickMark val="in"/>
        <c:minorTickMark val="none"/>
        <c:tickLblPos val="nextTo"/>
        <c:spPr>
          <a:ln w="3426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942" b="1" i="0" u="none" strike="noStrike" baseline="0">
                <a:solidFill>
                  <a:schemeClr val="tx1"/>
                </a:solidFill>
                <a:latin typeface="楷体_GB2312"/>
                <a:ea typeface="楷体_GB2312"/>
                <a:cs typeface="楷体_GB2312"/>
              </a:defRPr>
            </a:pPr>
            <a:endParaRPr lang="zh-CN"/>
          </a:p>
        </c:txPr>
        <c:crossAx val="145620992"/>
        <c:crosses val="autoZero"/>
        <c:crossBetween val="between"/>
      </c:valAx>
      <c:spPr>
        <a:noFill/>
        <a:ln w="27411">
          <a:noFill/>
        </a:ln>
      </c:spPr>
    </c:plotArea>
    <c:plotVisOnly val="1"/>
    <c:dispBlanksAs val="gap"/>
    <c:showDLblsOverMax val="0"/>
  </c:chart>
  <c:spPr>
    <a:solidFill>
      <a:srgbClr val="EAEAEA"/>
    </a:solidFill>
    <a:ln>
      <a:noFill/>
    </a:ln>
  </c:spPr>
  <c:txPr>
    <a:bodyPr/>
    <a:lstStyle/>
    <a:p>
      <a:pPr>
        <a:defRPr sz="1942" b="1" i="0" u="none" strike="noStrike" baseline="0">
          <a:solidFill>
            <a:schemeClr val="tx1"/>
          </a:solidFill>
          <a:latin typeface="楷体_GB2312"/>
          <a:ea typeface="楷体_GB2312"/>
          <a:cs typeface="楷体_GB2312"/>
        </a:defRPr>
      </a:pPr>
      <a:endParaRPr lang="zh-CN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C8241-7424-436D-BB9F-7FC90EE87323}" type="datetimeFigureOut">
              <a:rPr lang="zh-CN" altLang="en-US" smtClean="0"/>
              <a:pPr/>
              <a:t>2016/3/30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FCA71-80E0-4622-8E1C-ECC3B1C416D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095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3FCA71-80E0-4622-8E1C-ECC3B1C416DA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EA63EE-21F8-4ED0-93C2-E988B1948178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701675"/>
            <a:ext cx="4584700" cy="3438525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0062" y="4350031"/>
            <a:ext cx="5013148" cy="4140117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4DC998-90DB-43C1-9370-933AF627286B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4113" y="701675"/>
            <a:ext cx="4584700" cy="3438525"/>
          </a:xfrm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0062" y="4350031"/>
            <a:ext cx="5013148" cy="4140117"/>
          </a:xfrm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6063E-6A11-4458-BEE5-A9CE6ABE25EF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C8587-1F74-40CB-9B76-17090BC7E0AD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56080-476D-4482-9B4E-CFE1CFA7493E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08A-7A8C-4B64-B8A1-5F8AD8E9D9B1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23113-F7C2-4BA3-ADF6-3B02FA840FD7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4ADF7-8CAE-42D4-978E-B8D58715CF7D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41DF1-7A72-4285-8283-D03777BE1C5A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6A373-E214-426D-B355-6BBB0B96415D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25E0-EDAB-46DB-A400-B1058BDC9500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A75C8-B090-4FE9-9877-7474E9512C27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9EB2C-AAB3-4FE3-BF0E-2958F377A972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AF0F4-BD12-400A-B8AE-DA5F0AB1B4B3}" type="datetime1">
              <a:rPr lang="zh-CN" altLang="en-US" smtClean="0"/>
              <a:t>2016/3/30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jpeg"/><Relationship Id="rId5" Type="http://schemas.openxmlformats.org/officeDocument/2006/relationships/image" Target="../media/image2.png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9.w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1.wmf"/><Relationship Id="rId4" Type="http://schemas.openxmlformats.org/officeDocument/2006/relationships/oleObject" Target="../embeddings/Microsoft_Word_97_-_2003_Document1.doc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2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5.wmf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3.w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4.wmf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0.wmf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0.wmf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37.wmf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8.wmf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3.wmf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5.emf"/><Relationship Id="rId4" Type="http://schemas.openxmlformats.org/officeDocument/2006/relationships/oleObject" Target="../embeddings/Microsoft_Word_97_-_2003_Document2.doc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46.emf"/><Relationship Id="rId4" Type="http://schemas.openxmlformats.org/officeDocument/2006/relationships/oleObject" Target="../embeddings/Microsoft_Word_97_-_2003_Document3.doc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48.wmf"/><Relationship Id="rId4" Type="http://schemas.openxmlformats.org/officeDocument/2006/relationships/oleObject" Target="../embeddings/Microsoft_Word_97_-_2003_Document4.doc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49.wmf"/><Relationship Id="rId4" Type="http://schemas.openxmlformats.org/officeDocument/2006/relationships/oleObject" Target="../embeddings/Microsoft_Word_97_-_2003_Document5.doc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642938" y="428625"/>
            <a:ext cx="7993062" cy="766763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altLang="zh-CN" sz="44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 </a:t>
            </a:r>
            <a:r>
              <a:rPr lang="zh-CN" altLang="en-US" sz="44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课程内容</a:t>
            </a:r>
            <a:endParaRPr lang="en-US" altLang="zh-CN" sz="4400" b="1" kern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11138" y="1556792"/>
            <a:ext cx="8424862" cy="3838575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kern="0" dirty="0"/>
              <a:t>第</a:t>
            </a:r>
            <a:r>
              <a:rPr lang="en-US" altLang="zh-CN" sz="2800" b="1" kern="0" dirty="0"/>
              <a:t>1</a:t>
            </a:r>
            <a:r>
              <a:rPr lang="zh-CN" altLang="en-US" sz="2800" b="1" kern="0" dirty="0"/>
              <a:t>章  计算机设计基础</a:t>
            </a:r>
            <a:endParaRPr lang="en-US" altLang="zh-CN" sz="2800" b="1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kern="0" dirty="0"/>
              <a:t>第</a:t>
            </a:r>
            <a:r>
              <a:rPr lang="en-US" altLang="zh-CN" sz="2800" b="1" kern="0" dirty="0"/>
              <a:t>2</a:t>
            </a:r>
            <a:r>
              <a:rPr lang="zh-CN" altLang="en-US" sz="2800" b="1" kern="0" dirty="0"/>
              <a:t>章  附录</a:t>
            </a:r>
            <a:r>
              <a:rPr lang="en-US" altLang="zh-CN" sz="2800" b="1" kern="0" dirty="0"/>
              <a:t>B  </a:t>
            </a:r>
            <a:r>
              <a:rPr lang="zh-CN" altLang="en-US" sz="2800" b="1" kern="0" dirty="0"/>
              <a:t>指令系统原理与实例</a:t>
            </a:r>
            <a:endParaRPr lang="en-US" altLang="zh-CN" sz="2800" b="1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kern="0" dirty="0">
                <a:solidFill>
                  <a:srgbClr val="FF0000"/>
                </a:solidFill>
              </a:rPr>
              <a:t>第</a:t>
            </a:r>
            <a:r>
              <a:rPr lang="en-US" altLang="zh-CN" sz="2800" b="1" kern="0" dirty="0">
                <a:solidFill>
                  <a:srgbClr val="FF0000"/>
                </a:solidFill>
              </a:rPr>
              <a:t>3</a:t>
            </a:r>
            <a:r>
              <a:rPr lang="zh-CN" altLang="en-US" sz="2800" b="1" kern="0" dirty="0">
                <a:solidFill>
                  <a:srgbClr val="FF0000"/>
                </a:solidFill>
              </a:rPr>
              <a:t>章  附录</a:t>
            </a:r>
            <a:r>
              <a:rPr lang="en-US" altLang="zh-CN" sz="2800" b="1" kern="0" dirty="0">
                <a:solidFill>
                  <a:srgbClr val="FF0000"/>
                </a:solidFill>
              </a:rPr>
              <a:t>A  </a:t>
            </a:r>
            <a:r>
              <a:rPr lang="zh-CN" altLang="en-US" sz="2800" b="1" kern="0" dirty="0">
                <a:solidFill>
                  <a:srgbClr val="FF0000"/>
                </a:solidFill>
              </a:rPr>
              <a:t>流水线：基础和中级</a:t>
            </a:r>
            <a:r>
              <a:rPr lang="zh-CN" altLang="en-US" sz="2800" b="1" kern="0" dirty="0" smtClean="0">
                <a:solidFill>
                  <a:srgbClr val="FF0000"/>
                </a:solidFill>
              </a:rPr>
              <a:t>概念，</a:t>
            </a:r>
            <a:endParaRPr lang="en-US" altLang="zh-CN" sz="2800" b="1" kern="0" dirty="0" smtClean="0">
              <a:solidFill>
                <a:srgbClr val="FF0000"/>
              </a:solidFill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en-US" altLang="zh-CN" sz="2800" b="1" kern="0" dirty="0">
                <a:solidFill>
                  <a:srgbClr val="FF0000"/>
                </a:solidFill>
              </a:rPr>
              <a:t> </a:t>
            </a:r>
            <a:r>
              <a:rPr lang="en-US" altLang="zh-CN" sz="2800" b="1" kern="0" dirty="0" smtClean="0">
                <a:solidFill>
                  <a:srgbClr val="FF0000"/>
                </a:solidFill>
              </a:rPr>
              <a:t>                </a:t>
            </a:r>
            <a:r>
              <a:rPr lang="zh-CN" altLang="en-US" sz="2800" b="1" kern="0" dirty="0" smtClean="0">
                <a:solidFill>
                  <a:srgbClr val="FF0000"/>
                </a:solidFill>
              </a:rPr>
              <a:t>流水线</a:t>
            </a:r>
            <a:r>
              <a:rPr lang="zh-CN" altLang="en-US" sz="2800" b="1" kern="0" dirty="0">
                <a:solidFill>
                  <a:srgbClr val="FF0000"/>
                </a:solidFill>
              </a:rPr>
              <a:t>模型</a:t>
            </a:r>
            <a:r>
              <a:rPr lang="zh-CN" altLang="en-US" sz="2800" b="1" kern="0" dirty="0" smtClean="0">
                <a:solidFill>
                  <a:srgbClr val="FF0000"/>
                </a:solidFill>
              </a:rPr>
              <a:t>机</a:t>
            </a:r>
            <a:endParaRPr lang="en-US" altLang="zh-CN" sz="2800" b="1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kern="0" dirty="0"/>
              <a:t>第</a:t>
            </a:r>
            <a:r>
              <a:rPr lang="en-US" altLang="zh-CN" sz="2800" b="1" kern="0" dirty="0"/>
              <a:t>4</a:t>
            </a:r>
            <a:r>
              <a:rPr lang="zh-CN" altLang="en-US" sz="2800" b="1" kern="0" dirty="0"/>
              <a:t>章  指令级并行及其开发（</a:t>
            </a:r>
            <a:r>
              <a:rPr lang="zh-CN" altLang="en-US" sz="2800" b="1" kern="0" dirty="0">
                <a:solidFill>
                  <a:srgbClr val="C00000"/>
                </a:solidFill>
              </a:rPr>
              <a:t>教材第</a:t>
            </a:r>
            <a:r>
              <a:rPr lang="en-US" altLang="zh-CN" sz="2800" b="1" kern="0" dirty="0">
                <a:solidFill>
                  <a:srgbClr val="C00000"/>
                </a:solidFill>
              </a:rPr>
              <a:t>2</a:t>
            </a:r>
            <a:r>
              <a:rPr lang="zh-CN" altLang="en-US" sz="2800" b="1" kern="0" dirty="0">
                <a:solidFill>
                  <a:srgbClr val="C00000"/>
                </a:solidFill>
              </a:rPr>
              <a:t>章</a:t>
            </a:r>
            <a:r>
              <a:rPr lang="zh-CN" altLang="en-US" sz="2800" b="1" kern="0" dirty="0"/>
              <a:t>）</a:t>
            </a:r>
            <a:endParaRPr lang="en-US" altLang="zh-CN" sz="2800" b="1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kern="0" dirty="0"/>
              <a:t>第</a:t>
            </a:r>
            <a:r>
              <a:rPr lang="en-US" altLang="zh-CN" sz="2800" b="1" kern="0" dirty="0"/>
              <a:t>5</a:t>
            </a:r>
            <a:r>
              <a:rPr lang="zh-CN" altLang="en-US" sz="2800" b="1" kern="0" dirty="0"/>
              <a:t>章  附录</a:t>
            </a:r>
            <a:r>
              <a:rPr lang="en-US" altLang="zh-CN" sz="2800" b="1" kern="0" dirty="0"/>
              <a:t>C  </a:t>
            </a:r>
            <a:r>
              <a:rPr lang="zh-CN" altLang="en-US" sz="2800" b="1" kern="0" dirty="0"/>
              <a:t>存储层次结构回顾</a:t>
            </a:r>
            <a:endParaRPr lang="en-US" altLang="zh-CN" sz="2800" b="1" kern="0" dirty="0"/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defRPr/>
            </a:pPr>
            <a:r>
              <a:rPr lang="zh-CN" altLang="en-US" sz="2800" b="1" kern="0" dirty="0"/>
              <a:t>                存储器层次结构设计</a:t>
            </a:r>
            <a:endParaRPr lang="en-US" altLang="zh-CN" sz="2800" b="1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r>
              <a:rPr lang="zh-CN" altLang="en-US" sz="2800" b="1" kern="0" dirty="0"/>
              <a:t>第</a:t>
            </a:r>
            <a:r>
              <a:rPr lang="en-US" altLang="zh-CN" sz="2800" b="1" kern="0" dirty="0"/>
              <a:t>6</a:t>
            </a:r>
            <a:r>
              <a:rPr lang="zh-CN" altLang="en-US" sz="2800" b="1" kern="0" dirty="0"/>
              <a:t>章  多处理器和线程级并行（</a:t>
            </a:r>
            <a:r>
              <a:rPr lang="zh-CN" altLang="en-US" sz="2800" b="1" kern="0" dirty="0">
                <a:solidFill>
                  <a:srgbClr val="C00000"/>
                </a:solidFill>
              </a:rPr>
              <a:t>教材第</a:t>
            </a:r>
            <a:r>
              <a:rPr lang="en-US" altLang="zh-CN" sz="2800" b="1" kern="0" dirty="0">
                <a:solidFill>
                  <a:srgbClr val="C00000"/>
                </a:solidFill>
              </a:rPr>
              <a:t>4</a:t>
            </a:r>
            <a:r>
              <a:rPr lang="zh-CN" altLang="en-US" sz="2800" b="1" kern="0" dirty="0">
                <a:solidFill>
                  <a:srgbClr val="C00000"/>
                </a:solidFill>
              </a:rPr>
              <a:t>章</a:t>
            </a:r>
            <a:r>
              <a:rPr lang="zh-CN" altLang="en-US" sz="2800" b="1" kern="0" dirty="0"/>
              <a:t>）</a:t>
            </a:r>
            <a:endParaRPr lang="en-US" altLang="zh-CN" sz="2800" b="1" kern="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70000"/>
              <a:buFont typeface="Wingdings" pitchFamily="2" charset="2"/>
              <a:buChar char="n"/>
              <a:defRPr/>
            </a:pPr>
            <a:endParaRPr lang="en-US" altLang="zh-CN" sz="2800" b="1" kern="0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644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>
          <a:xfrm>
            <a:off x="755650" y="476250"/>
            <a:ext cx="7467600" cy="936625"/>
          </a:xfrm>
          <a:prstGeom prst="rect">
            <a:avLst/>
          </a:prstGeom>
          <a:noFill/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附录</a:t>
            </a:r>
            <a:r>
              <a:rPr kumimoji="0" lang="en-US" altLang="zh-CN" sz="44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    </a:t>
            </a:r>
            <a:r>
              <a:rPr kumimoji="0" lang="zh-CN" altLang="en-US" sz="4400" b="1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流水线</a:t>
            </a:r>
            <a:r>
              <a:rPr kumimoji="0" lang="zh-CN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技术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857224" y="1785926"/>
            <a:ext cx="7858180" cy="4013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 eaLnBrk="1" hangingPunct="1">
              <a:lnSpc>
                <a:spcPct val="130000"/>
              </a:lnSpc>
            </a:pPr>
            <a:r>
              <a:rPr lang="en-US" altLang="zh-CN" sz="2800" b="1" dirty="0" smtClean="0">
                <a:latin typeface="黑体" pitchFamily="2" charset="-122"/>
              </a:rPr>
              <a:t>A.1</a:t>
            </a:r>
            <a:r>
              <a:rPr lang="en-US" altLang="zh-CN" sz="2800" b="1" dirty="0">
                <a:latin typeface="黑体" pitchFamily="2" charset="-122"/>
              </a:rPr>
              <a:t>	</a:t>
            </a:r>
            <a:r>
              <a:rPr lang="zh-CN" altLang="en-US" sz="2800" b="1" dirty="0">
                <a:latin typeface="黑体" pitchFamily="2" charset="-122"/>
              </a:rPr>
              <a:t>流水线的基本概念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 smtClean="0">
                <a:latin typeface="黑体" pitchFamily="2" charset="-122"/>
              </a:rPr>
              <a:t>A.2</a:t>
            </a:r>
            <a:r>
              <a:rPr lang="en-US" altLang="zh-CN" sz="2800" b="1" dirty="0">
                <a:latin typeface="黑体" pitchFamily="2" charset="-122"/>
              </a:rPr>
              <a:t>	</a:t>
            </a:r>
            <a:r>
              <a:rPr lang="zh-CN" altLang="en-US" sz="2800" b="1" dirty="0" smtClean="0">
                <a:latin typeface="黑体" pitchFamily="2" charset="-122"/>
              </a:rPr>
              <a:t>流水线的主要障碍</a:t>
            </a:r>
            <a:r>
              <a:rPr lang="en-US" altLang="zh-CN" sz="2800" b="1" dirty="0" smtClean="0">
                <a:latin typeface="黑体" pitchFamily="2" charset="-122"/>
              </a:rPr>
              <a:t>---</a:t>
            </a:r>
            <a:r>
              <a:rPr lang="zh-CN" altLang="en-US" sz="2800" b="1" dirty="0" smtClean="0">
                <a:latin typeface="黑体" pitchFamily="2" charset="-122"/>
              </a:rPr>
              <a:t>流水线冒险（相关）</a:t>
            </a:r>
            <a:endParaRPr lang="zh-CN" altLang="en-US" sz="2800" b="1" dirty="0">
              <a:latin typeface="黑体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 smtClean="0">
                <a:solidFill>
                  <a:srgbClr val="C00000"/>
                </a:solidFill>
                <a:latin typeface="黑体" pitchFamily="2" charset="-122"/>
              </a:rPr>
              <a:t>A.3</a:t>
            </a:r>
            <a:r>
              <a:rPr lang="en-US" altLang="zh-CN" sz="2800" b="1" dirty="0">
                <a:solidFill>
                  <a:srgbClr val="C00000"/>
                </a:solidFill>
                <a:latin typeface="黑体" pitchFamily="2" charset="-122"/>
              </a:rPr>
              <a:t>	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2" charset="-122"/>
              </a:rPr>
              <a:t>流水线处理机及其设计流水线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2" charset="-122"/>
              </a:rPr>
              <a:t>的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2" charset="-122"/>
              </a:rPr>
              <a:t>相关</a:t>
            </a:r>
            <a:endParaRPr lang="en-US" altLang="zh-CN" sz="2800" b="1" dirty="0" smtClean="0">
              <a:solidFill>
                <a:srgbClr val="C00000"/>
              </a:solidFill>
              <a:latin typeface="黑体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黑体" pitchFamily="2" charset="-122"/>
              </a:rPr>
              <a:t> </a:t>
            </a:r>
            <a:r>
              <a:rPr lang="en-US" altLang="zh-CN" sz="2800" b="1" dirty="0" smtClean="0">
                <a:solidFill>
                  <a:srgbClr val="C00000"/>
                </a:solidFill>
                <a:latin typeface="黑体" pitchFamily="2" charset="-122"/>
              </a:rPr>
              <a:t>    </a:t>
            </a:r>
            <a:r>
              <a:rPr lang="zh-CN" altLang="en-US" sz="2800" b="1" dirty="0" smtClean="0">
                <a:solidFill>
                  <a:srgbClr val="C00000"/>
                </a:solidFill>
                <a:latin typeface="黑体" pitchFamily="2" charset="-122"/>
              </a:rPr>
              <a:t>（李亚民教材相关内容）</a:t>
            </a:r>
            <a:endParaRPr lang="zh-CN" altLang="en-US" sz="2800" b="1" dirty="0">
              <a:solidFill>
                <a:srgbClr val="C00000"/>
              </a:solidFill>
              <a:latin typeface="黑体" pitchFamily="2" charset="-122"/>
            </a:endParaRPr>
          </a:p>
          <a:p>
            <a:pPr algn="l" eaLnBrk="1" hangingPunct="1">
              <a:lnSpc>
                <a:spcPct val="130000"/>
              </a:lnSpc>
            </a:pPr>
            <a:r>
              <a:rPr lang="en-US" altLang="zh-CN" sz="2800" b="1" dirty="0" smtClean="0">
                <a:latin typeface="黑体" pitchFamily="2" charset="-122"/>
              </a:rPr>
              <a:t>A.4</a:t>
            </a:r>
            <a:r>
              <a:rPr lang="en-US" altLang="zh-CN" sz="2800" b="1" dirty="0">
                <a:latin typeface="黑体" pitchFamily="2" charset="-122"/>
              </a:rPr>
              <a:t>	</a:t>
            </a:r>
            <a:r>
              <a:rPr lang="zh-CN" altLang="en-US" sz="2800" b="1" dirty="0" smtClean="0">
                <a:latin typeface="黑体" pitchFamily="2" charset="-122"/>
              </a:rPr>
              <a:t>异常事件处理</a:t>
            </a:r>
            <a:endParaRPr lang="zh-CN" altLang="en-US" sz="2800" b="1" dirty="0">
              <a:latin typeface="黑体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800" b="1" dirty="0" smtClean="0">
                <a:latin typeface="黑体" pitchFamily="2" charset="-122"/>
              </a:rPr>
              <a:t>A.5  </a:t>
            </a:r>
            <a:r>
              <a:rPr lang="zh-CN" altLang="en-US" sz="2800" b="1" dirty="0" smtClean="0">
                <a:latin typeface="黑体" pitchFamily="2" charset="-122"/>
              </a:rPr>
              <a:t>扩展流水线到多周期操作</a:t>
            </a:r>
            <a:endParaRPr lang="zh-CN" altLang="en-US" sz="2800" b="1" dirty="0">
              <a:latin typeface="黑体" pitchFamily="2" charset="-122"/>
            </a:endParaRPr>
          </a:p>
          <a:p>
            <a:pPr algn="l" eaLnBrk="1" hangingPunct="1">
              <a:lnSpc>
                <a:spcPct val="130000"/>
              </a:lnSpc>
            </a:pPr>
            <a:endParaRPr lang="en-US" altLang="zh-CN" sz="2800" dirty="0">
              <a:latin typeface="黑体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ED7024-E659-4A10-AA9A-9BBF4A5D674C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457200" y="1752600"/>
            <a:ext cx="7901014" cy="4038600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一、什么是流水线</a:t>
            </a:r>
            <a:r>
              <a:rPr lang="en-US" altLang="zh-CN" b="1" dirty="0" smtClean="0">
                <a:solidFill>
                  <a:srgbClr val="C00000"/>
                </a:solidFill>
                <a:latin typeface="Comic Sans MS" pitchFamily="66" charset="0"/>
              </a:rPr>
              <a:t>?</a:t>
            </a:r>
            <a:endParaRPr lang="en-US" altLang="zh-CN" b="1" dirty="0">
              <a:solidFill>
                <a:srgbClr val="C00000"/>
              </a:solidFill>
              <a:latin typeface="Comic Sans MS" pitchFamily="66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二、</a:t>
            </a:r>
            <a:r>
              <a:rPr lang="en-US" altLang="zh-CN" b="1" dirty="0" smtClean="0">
                <a:solidFill>
                  <a:srgbClr val="C00000"/>
                </a:solidFill>
                <a:latin typeface="Comic Sans MS" pitchFamily="66" charset="0"/>
              </a:rPr>
              <a:t>RISC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指令系统特点</a:t>
            </a:r>
            <a:endParaRPr lang="en-US" altLang="zh-CN" b="1" dirty="0">
              <a:solidFill>
                <a:srgbClr val="C00000"/>
              </a:solidFill>
              <a:latin typeface="Comic Sans MS" pitchFamily="66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三、非流水线方式下</a:t>
            </a:r>
            <a:r>
              <a:rPr lang="en-US" altLang="zh-CN" b="1" dirty="0" smtClean="0">
                <a:solidFill>
                  <a:srgbClr val="C00000"/>
                </a:solidFill>
                <a:latin typeface="Comic Sans MS" pitchFamily="66" charset="0"/>
              </a:rPr>
              <a:t>RISC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指令系统的实现</a:t>
            </a:r>
            <a:endParaRPr lang="en-US" altLang="zh-CN" b="1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四、经典</a:t>
            </a:r>
            <a:r>
              <a:rPr lang="en-US" altLang="zh-CN" b="1" dirty="0" smtClean="0">
                <a:solidFill>
                  <a:srgbClr val="C00000"/>
                </a:solidFill>
                <a:latin typeface="Comic Sans MS" pitchFamily="66" charset="0"/>
              </a:rPr>
              <a:t>5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段流水线</a:t>
            </a:r>
            <a:r>
              <a:rPr lang="en-US" altLang="zh-CN" b="1" dirty="0" smtClean="0">
                <a:solidFill>
                  <a:srgbClr val="C00000"/>
                </a:solidFill>
                <a:latin typeface="Comic Sans MS" pitchFamily="66" charset="0"/>
              </a:rPr>
              <a:t>RISC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处理器</a:t>
            </a:r>
            <a:endParaRPr lang="en-US" altLang="zh-CN" b="1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五、流水线的基本性能</a:t>
            </a:r>
            <a:endParaRPr lang="en-US" altLang="zh-CN" b="1" dirty="0">
              <a:solidFill>
                <a:srgbClr val="C00000"/>
              </a:solidFill>
              <a:latin typeface="Comic Sans MS" pitchFamily="66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43042" y="571480"/>
            <a:ext cx="5918608" cy="9725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dirty="0" smtClean="0">
                <a:latin typeface="黑体" pitchFamily="2" charset="-122"/>
              </a:rPr>
              <a:t>A.1	 </a:t>
            </a:r>
            <a:r>
              <a:rPr lang="zh-CN" altLang="en-US" sz="4400" b="1" dirty="0" smtClean="0">
                <a:latin typeface="黑体" pitchFamily="2" charset="-122"/>
              </a:rPr>
              <a:t>流水线的基本概念</a:t>
            </a:r>
            <a:endParaRPr lang="zh-CN" altLang="en-US" sz="4400" b="1" dirty="0">
              <a:latin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F34E9F-99C4-4205-9099-E47A1F16450D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1429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 smtClean="0"/>
              <a:t>一、什么是流水线？</a:t>
            </a:r>
            <a:endParaRPr lang="en-US" altLang="zh-CN" b="1" dirty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428736"/>
            <a:ext cx="8629680" cy="41148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en-US" altLang="zh-CN" i="1" dirty="0"/>
              <a:t>    </a:t>
            </a:r>
            <a:r>
              <a:rPr lang="en-US" altLang="zh-CN" i="1" dirty="0" smtClean="0"/>
              <a:t>       </a:t>
            </a:r>
            <a:r>
              <a:rPr lang="zh-CN" altLang="en-US" b="1" dirty="0" smtClean="0">
                <a:solidFill>
                  <a:srgbClr val="FF0000"/>
                </a:solidFill>
              </a:rPr>
              <a:t>流水线</a:t>
            </a:r>
            <a:r>
              <a:rPr lang="zh-CN" altLang="en-US" b="1" dirty="0" smtClean="0"/>
              <a:t>是利用执行指令操作之间的并行性，实现</a:t>
            </a:r>
            <a:r>
              <a:rPr lang="zh-CN" altLang="en-US" b="1" i="1" dirty="0" smtClean="0">
                <a:solidFill>
                  <a:srgbClr val="C00000"/>
                </a:solidFill>
              </a:rPr>
              <a:t>多条指令重叠执行</a:t>
            </a:r>
            <a:r>
              <a:rPr lang="zh-CN" altLang="en-US" b="1" dirty="0" smtClean="0"/>
              <a:t>的技术。</a:t>
            </a:r>
            <a:endParaRPr lang="en-US" altLang="zh-CN" b="1" dirty="0" smtClean="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b="1" i="1" dirty="0" smtClean="0">
                <a:solidFill>
                  <a:srgbClr val="00B050"/>
                </a:solidFill>
                <a:latin typeface="Arial"/>
              </a:rPr>
              <a:t>“</a:t>
            </a:r>
            <a:r>
              <a:rPr lang="zh-CN" altLang="en-US" b="1" i="1" dirty="0" smtClean="0">
                <a:solidFill>
                  <a:srgbClr val="00B050"/>
                </a:solidFill>
                <a:latin typeface="Arial"/>
              </a:rPr>
              <a:t>在前一条指令执行完毕之前开始执行本条指令。”</a:t>
            </a:r>
            <a:endParaRPr lang="en-US" altLang="zh-CN" b="1" i="1" dirty="0">
              <a:solidFill>
                <a:srgbClr val="00B050"/>
              </a:solidFill>
              <a:latin typeface="Times New Roman" pitchFamily="18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</a:rPr>
              <a:t>       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</a:rPr>
              <a:t>   </a:t>
            </a:r>
            <a:r>
              <a:rPr lang="zh-CN" altLang="en-US" b="1" dirty="0" smtClean="0">
                <a:solidFill>
                  <a:srgbClr val="000000"/>
                </a:solidFill>
                <a:latin typeface="Times New Roman" pitchFamily="18" charset="0"/>
              </a:rPr>
              <a:t>当今，流水线是实现更快</a:t>
            </a:r>
            <a:r>
              <a:rPr lang="en-US" altLang="zh-CN" b="1" dirty="0" smtClean="0">
                <a:solidFill>
                  <a:srgbClr val="000000"/>
                </a:solidFill>
                <a:latin typeface="Times New Roman" pitchFamily="18" charset="0"/>
              </a:rPr>
              <a:t>CPU</a:t>
            </a:r>
            <a:r>
              <a:rPr lang="zh-CN" altLang="en-US" b="1" dirty="0" smtClean="0">
                <a:solidFill>
                  <a:srgbClr val="000000"/>
                </a:solidFill>
                <a:latin typeface="Times New Roman" pitchFamily="18" charset="0"/>
              </a:rPr>
              <a:t>的</a:t>
            </a:r>
            <a:r>
              <a:rPr lang="zh-CN" altLang="en-US" b="1" i="1" dirty="0" smtClean="0">
                <a:solidFill>
                  <a:srgbClr val="C00000"/>
                </a:solidFill>
                <a:latin typeface="Times New Roman" pitchFamily="18" charset="0"/>
              </a:rPr>
              <a:t>基本和关键</a:t>
            </a:r>
            <a:r>
              <a:rPr lang="zh-CN" altLang="en-US" b="1" dirty="0" smtClean="0">
                <a:solidFill>
                  <a:srgbClr val="000000"/>
                </a:solidFill>
                <a:latin typeface="Times New Roman" pitchFamily="18" charset="0"/>
              </a:rPr>
              <a:t>技术。</a:t>
            </a:r>
            <a:endParaRPr lang="en-US" altLang="zh-CN" b="1" dirty="0"/>
          </a:p>
        </p:txBody>
      </p:sp>
      <p:sp>
        <p:nvSpPr>
          <p:cNvPr id="109572" name="Text Box 4"/>
          <p:cNvSpPr txBox="1">
            <a:spLocks noChangeArrowheads="1"/>
          </p:cNvSpPr>
          <p:nvPr/>
        </p:nvSpPr>
        <p:spPr bwMode="auto">
          <a:xfrm>
            <a:off x="533400" y="5715016"/>
            <a:ext cx="8610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i="1" dirty="0" smtClean="0">
                <a:solidFill>
                  <a:schemeClr val="accent2"/>
                </a:solidFill>
              </a:rPr>
              <a:t>不仅是实现</a:t>
            </a:r>
            <a:r>
              <a:rPr lang="en-US" altLang="zh-CN" sz="2800" b="1" i="1" dirty="0" smtClean="0">
                <a:solidFill>
                  <a:schemeClr val="accent2"/>
                </a:solidFill>
              </a:rPr>
              <a:t>CPU</a:t>
            </a:r>
            <a:r>
              <a:rPr lang="en-US" altLang="zh-CN" sz="2800" b="1" i="1" dirty="0">
                <a:solidFill>
                  <a:schemeClr val="accent2"/>
                </a:solidFill>
              </a:rPr>
              <a:t>: </a:t>
            </a:r>
            <a:r>
              <a:rPr lang="en-US" altLang="zh-CN" sz="2800" b="1" i="1" dirty="0" smtClean="0">
                <a:solidFill>
                  <a:srgbClr val="0070C0"/>
                </a:solidFill>
              </a:rPr>
              <a:t>12</a:t>
            </a:r>
            <a:r>
              <a:rPr lang="zh-CN" altLang="en-US" sz="2800" b="1" i="1" dirty="0" smtClean="0">
                <a:solidFill>
                  <a:srgbClr val="0070C0"/>
                </a:solidFill>
              </a:rPr>
              <a:t>级流水线</a:t>
            </a:r>
            <a:r>
              <a:rPr lang="zh-CN" altLang="en-US" sz="2800" b="1" i="1" dirty="0" smtClean="0">
                <a:solidFill>
                  <a:schemeClr val="accent2"/>
                </a:solidFill>
              </a:rPr>
              <a:t>用于几何变换的</a:t>
            </a:r>
            <a:r>
              <a:rPr lang="en-US" altLang="zh-CN" sz="2800" b="1" i="1" dirty="0" smtClean="0">
                <a:solidFill>
                  <a:schemeClr val="accent2"/>
                </a:solidFill>
              </a:rPr>
              <a:t>GPU</a:t>
            </a:r>
            <a:r>
              <a:rPr lang="zh-CN" altLang="en-US" sz="2800" b="1" i="1" dirty="0" smtClean="0">
                <a:solidFill>
                  <a:schemeClr val="accent2"/>
                </a:solidFill>
              </a:rPr>
              <a:t>中。</a:t>
            </a:r>
            <a:endParaRPr lang="en-US" altLang="zh-CN" sz="2800" b="1" i="1" dirty="0">
              <a:solidFill>
                <a:schemeClr val="accent2"/>
              </a:solidFill>
            </a:endParaRPr>
          </a:p>
        </p:txBody>
      </p:sp>
      <p:sp>
        <p:nvSpPr>
          <p:cNvPr id="109577" name="Oval 9"/>
          <p:cNvSpPr>
            <a:spLocks noChangeArrowheads="1"/>
          </p:cNvSpPr>
          <p:nvPr/>
        </p:nvSpPr>
        <p:spPr bwMode="auto">
          <a:xfrm>
            <a:off x="4071934" y="3571876"/>
            <a:ext cx="2357454" cy="1000132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9582" name="Oval 14"/>
          <p:cNvSpPr>
            <a:spLocks noChangeArrowheads="1"/>
          </p:cNvSpPr>
          <p:nvPr/>
        </p:nvSpPr>
        <p:spPr bwMode="auto">
          <a:xfrm>
            <a:off x="7000892" y="1500174"/>
            <a:ext cx="1643074" cy="6858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9" name="直接箭头连接符 8"/>
          <p:cNvCxnSpPr>
            <a:stCxn id="109577" idx="5"/>
          </p:cNvCxnSpPr>
          <p:nvPr/>
        </p:nvCxnSpPr>
        <p:spPr>
          <a:xfrm rot="16200000" flipH="1">
            <a:off x="6362129" y="4147560"/>
            <a:ext cx="360780" cy="91674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3768" y="4643446"/>
            <a:ext cx="1000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FF0000"/>
                </a:solidFill>
              </a:rPr>
              <a:t>目标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2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B32047-6C6D-4FFC-9296-8D54D3287415}" type="slidenum">
              <a:rPr lang="en-US" altLang="zh-CN"/>
              <a:pPr/>
              <a:t>5</a:t>
            </a:fld>
            <a:endParaRPr lang="en-US" altLang="zh-CN"/>
          </a:p>
        </p:txBody>
      </p:sp>
      <p:graphicFrame>
        <p:nvGraphicFramePr>
          <p:cNvPr id="28673" name="Object 1"/>
          <p:cNvGraphicFramePr>
            <a:graphicFrameLocks noChangeAspect="1"/>
          </p:cNvGraphicFramePr>
          <p:nvPr/>
        </p:nvGraphicFramePr>
        <p:xfrm>
          <a:off x="500034" y="1285860"/>
          <a:ext cx="80010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8" name="Image" r:id="rId4" imgW="30132245" imgH="16937143" progId="">
                  <p:embed/>
                </p:oleObj>
              </mc:Choice>
              <mc:Fallback>
                <p:oleObj name="Image" r:id="rId4" imgW="30132245" imgH="16937143" progId="">
                  <p:embed/>
                  <p:pic>
                    <p:nvPicPr>
                      <p:cNvPr id="0" name="Picture 1" descr="蓝色面巾纸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34" y="1285860"/>
                        <a:ext cx="8001000" cy="5029200"/>
                      </a:xfrm>
                      <a:prstGeom prst="rect">
                        <a:avLst/>
                      </a:prstGeom>
                      <a:blipFill dpi="0" rotWithShape="0">
                        <a:blip r:embed="rId6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57158" y="214290"/>
            <a:ext cx="8501122" cy="1137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例：假定一条指令的执行分为三个阶段：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取指令、分析、执行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  <a:p>
            <a:pPr>
              <a:lnSpc>
                <a:spcPct val="150000"/>
              </a:lnSpc>
            </a:pPr>
            <a:r>
              <a:rPr lang="zh-CN" altLang="en-US" sz="2400" b="1" dirty="0" smtClean="0"/>
              <a:t>下图表示了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三种</a:t>
            </a:r>
            <a:r>
              <a:rPr lang="zh-CN" altLang="en-US" sz="2400" b="1" dirty="0" smtClean="0"/>
              <a:t>执行方式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相邻指令间</a:t>
            </a:r>
            <a:r>
              <a:rPr lang="zh-CN" altLang="en-US" sz="2400" b="1" dirty="0" smtClean="0"/>
              <a:t>的时序关系。</a:t>
            </a:r>
            <a:endParaRPr lang="zh-CN" altLang="en-US" sz="2400" b="1" dirty="0"/>
          </a:p>
        </p:txBody>
      </p:sp>
      <p:cxnSp>
        <p:nvCxnSpPr>
          <p:cNvPr id="18" name="直接箭头连接符 17"/>
          <p:cNvCxnSpPr/>
          <p:nvPr/>
        </p:nvCxnSpPr>
        <p:spPr>
          <a:xfrm rot="10800000" flipV="1">
            <a:off x="1000100" y="4857760"/>
            <a:ext cx="857256" cy="428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28596" y="5286388"/>
            <a:ext cx="1643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流水段（级）：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70C0"/>
                </a:solidFill>
              </a:rPr>
              <a:t>完成一条指令的一部分操作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2786050" y="2143116"/>
            <a:ext cx="1214446" cy="16430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7" idx="3"/>
          </p:cNvCxnSpPr>
          <p:nvPr/>
        </p:nvCxnSpPr>
        <p:spPr>
          <a:xfrm rot="5400000">
            <a:off x="2683227" y="3505515"/>
            <a:ext cx="240622" cy="3207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00232" y="3714752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并行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57818" y="4214818"/>
            <a:ext cx="207170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</a:t>
            </a:r>
            <a:r>
              <a:rPr lang="zh-CN" altLang="en-US" dirty="0" smtClean="0">
                <a:solidFill>
                  <a:srgbClr val="FF0000"/>
                </a:solidFill>
              </a:rPr>
              <a:t>机器周期 </a:t>
            </a:r>
            <a:r>
              <a:rPr lang="en-US" altLang="zh-CN" dirty="0" smtClean="0">
                <a:solidFill>
                  <a:srgbClr val="0070C0"/>
                </a:solidFill>
              </a:rPr>
              <a:t>30ns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27" name="右大括号 26"/>
          <p:cNvSpPr/>
          <p:nvPr/>
        </p:nvSpPr>
        <p:spPr>
          <a:xfrm rot="16200000">
            <a:off x="5786446" y="3929066"/>
            <a:ext cx="428628" cy="157163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右大括号 11"/>
          <p:cNvSpPr/>
          <p:nvPr/>
        </p:nvSpPr>
        <p:spPr>
          <a:xfrm rot="5400000">
            <a:off x="6143636" y="214290"/>
            <a:ext cx="500066" cy="37862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000760" y="2357430"/>
            <a:ext cx="7143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70C0"/>
                </a:solidFill>
              </a:rPr>
              <a:t>90ns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052756" y="1844660"/>
            <a:ext cx="9652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767268" y="1844660"/>
            <a:ext cx="749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6410342" y="1844660"/>
            <a:ext cx="749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1695434" y="1844660"/>
            <a:ext cx="534987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195236" y="1344594"/>
            <a:ext cx="1928826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 smtClean="0"/>
              <a:t>指令流入</a:t>
            </a:r>
            <a:endParaRPr lang="en-US" altLang="zh-CN" sz="2400" dirty="0"/>
          </a:p>
        </p:txBody>
      </p:sp>
      <p:grpSp>
        <p:nvGrpSpPr>
          <p:cNvPr id="27" name="Group 27"/>
          <p:cNvGrpSpPr>
            <a:grpSpLocks/>
          </p:cNvGrpSpPr>
          <p:nvPr/>
        </p:nvGrpSpPr>
        <p:grpSpPr bwMode="auto">
          <a:xfrm>
            <a:off x="2232032" y="1071546"/>
            <a:ext cx="809625" cy="1408112"/>
            <a:chOff x="363" y="403"/>
            <a:chExt cx="363" cy="403"/>
          </a:xfrm>
        </p:grpSpPr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363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zh-CN" altLang="en-US" sz="2400" dirty="0" smtClean="0"/>
                <a:t>取指</a:t>
              </a:r>
              <a:endParaRPr lang="en-US" altLang="zh-CN" sz="2400" dirty="0" smtClean="0"/>
            </a:p>
            <a:p>
              <a:r>
                <a:rPr lang="zh-CN" altLang="en-US" sz="2400" dirty="0" smtClean="0"/>
                <a:t>令</a:t>
              </a:r>
              <a:endParaRPr lang="en-US" altLang="zh-CN" sz="2400" dirty="0" smtClean="0"/>
            </a:p>
            <a:p>
              <a:r>
                <a:rPr lang="zh-CN" altLang="en-US" sz="2400" dirty="0" smtClean="0"/>
                <a:t>部件</a:t>
              </a:r>
              <a:endParaRPr lang="en-US" altLang="zh-CN" sz="2400" dirty="0"/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363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30"/>
          <p:cNvGrpSpPr>
            <a:grpSpLocks/>
          </p:cNvGrpSpPr>
          <p:nvPr/>
        </p:nvGrpSpPr>
        <p:grpSpPr bwMode="auto">
          <a:xfrm>
            <a:off x="3952882" y="1071546"/>
            <a:ext cx="809625" cy="1408112"/>
            <a:chOff x="1134" y="403"/>
            <a:chExt cx="363" cy="403"/>
          </a:xfrm>
        </p:grpSpPr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1134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zh-CN" altLang="en-US" sz="2400" dirty="0" smtClean="0"/>
                <a:t>分析</a:t>
              </a:r>
              <a:endParaRPr lang="en-US" altLang="zh-CN" sz="2400" dirty="0" smtClean="0"/>
            </a:p>
            <a:p>
              <a:endParaRPr lang="en-US" altLang="zh-CN" sz="2400" dirty="0" smtClean="0"/>
            </a:p>
            <a:p>
              <a:r>
                <a:rPr lang="zh-CN" altLang="en-US" sz="2400" dirty="0" smtClean="0"/>
                <a:t>部件</a:t>
              </a:r>
              <a:endParaRPr lang="en-US" altLang="zh-CN" sz="2400" dirty="0"/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1134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Group 33"/>
          <p:cNvGrpSpPr>
            <a:grpSpLocks/>
          </p:cNvGrpSpPr>
          <p:nvPr/>
        </p:nvGrpSpPr>
        <p:grpSpPr bwMode="auto">
          <a:xfrm>
            <a:off x="5572132" y="1071546"/>
            <a:ext cx="809625" cy="1408112"/>
            <a:chOff x="1860" y="403"/>
            <a:chExt cx="363" cy="403"/>
          </a:xfrm>
        </p:grpSpPr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1860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zh-CN" altLang="en-US" sz="2400" dirty="0" smtClean="0"/>
                <a:t>执行</a:t>
              </a:r>
              <a:endParaRPr lang="en-US" altLang="zh-CN" sz="2400" dirty="0" smtClean="0"/>
            </a:p>
            <a:p>
              <a:endParaRPr lang="en-US" altLang="zh-CN" sz="2400" dirty="0" smtClean="0"/>
            </a:p>
            <a:p>
              <a:r>
                <a:rPr lang="zh-CN" altLang="en-US" sz="2400" dirty="0" smtClean="0"/>
                <a:t>部件</a:t>
              </a:r>
              <a:endParaRPr lang="en-US" altLang="zh-CN" sz="2400" dirty="0"/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1860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" name="Rectangle 39"/>
          <p:cNvSpPr>
            <a:spLocks noChangeArrowheads="1"/>
          </p:cNvSpPr>
          <p:nvPr/>
        </p:nvSpPr>
        <p:spPr bwMode="auto">
          <a:xfrm>
            <a:off x="7196160" y="1416032"/>
            <a:ext cx="1785950" cy="65880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 eaLnBrk="1" hangingPunct="1"/>
            <a:r>
              <a:rPr lang="en-US" altLang="zh-CN" sz="2400" dirty="0"/>
              <a:t> </a:t>
            </a:r>
            <a:r>
              <a:rPr lang="zh-CN" altLang="en-US" sz="2400" dirty="0" smtClean="0"/>
              <a:t>指令流出</a:t>
            </a:r>
            <a:endParaRPr lang="zh-CN" altLang="en-US" sz="2800" dirty="0"/>
          </a:p>
          <a:p>
            <a:pPr algn="l"/>
            <a:endParaRPr lang="en-US" altLang="zh-CN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57158" y="214290"/>
            <a:ext cx="5929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二次重叠执行方式的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指令流水线：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428992" y="1000108"/>
            <a:ext cx="71438" cy="1643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072066" y="1000108"/>
            <a:ext cx="71438" cy="1643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stCxn id="22" idx="0"/>
          </p:cNvCxnSpPr>
          <p:nvPr/>
        </p:nvCxnSpPr>
        <p:spPr>
          <a:xfrm rot="5400000" flipH="1" flipV="1">
            <a:off x="5554272" y="339307"/>
            <a:ext cx="214314" cy="11072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86512" y="500042"/>
            <a:ext cx="18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流水线锁存器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pic>
        <p:nvPicPr>
          <p:cNvPr id="23" name="Picture 4" descr="E:\English_arch\d113asse0100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90" y="3357562"/>
            <a:ext cx="4214810" cy="2500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 Box 6"/>
          <p:cNvSpPr txBox="1">
            <a:spLocks noChangeArrowheads="1"/>
          </p:cNvSpPr>
          <p:nvPr/>
        </p:nvSpPr>
        <p:spPr bwMode="auto">
          <a:xfrm>
            <a:off x="4786282" y="5873115"/>
            <a:ext cx="4357718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latin typeface="Comic Sans MS" pitchFamily="66" charset="0"/>
              </a:rPr>
              <a:t>1913</a:t>
            </a:r>
            <a:r>
              <a:rPr lang="zh-CN" altLang="en-US" sz="2000" b="1" dirty="0" smtClean="0">
                <a:latin typeface="Comic Sans MS" pitchFamily="66" charset="0"/>
              </a:rPr>
              <a:t>年福特密歇根工厂移动装配线</a:t>
            </a:r>
            <a:endParaRPr lang="en-US" altLang="zh-CN" sz="2000" b="1" dirty="0" smtClean="0">
              <a:latin typeface="Comic Sans MS" pitchFamily="66" charset="0"/>
            </a:endParaRPr>
          </a:p>
          <a:p>
            <a:r>
              <a:rPr lang="en-US" altLang="zh-CN" sz="2000" b="1" dirty="0" smtClean="0">
                <a:latin typeface="Comic Sans MS" pitchFamily="66" charset="0"/>
              </a:rPr>
              <a:t>            </a:t>
            </a:r>
            <a:r>
              <a:rPr lang="zh-CN" altLang="en-US" sz="2000" b="1" dirty="0" smtClean="0">
                <a:latin typeface="Comic Sans MS" pitchFamily="66" charset="0"/>
              </a:rPr>
              <a:t>（</a:t>
            </a:r>
            <a:r>
              <a:rPr lang="en-US" altLang="zh-CN" sz="2000" b="1" dirty="0" smtClean="0">
                <a:latin typeface="Comic Sans MS" pitchFamily="66" charset="0"/>
              </a:rPr>
              <a:t>84 </a:t>
            </a:r>
            <a:r>
              <a:rPr lang="zh-CN" altLang="en-US" sz="2000" b="1" dirty="0" smtClean="0">
                <a:latin typeface="Comic Sans MS" pitchFamily="66" charset="0"/>
              </a:rPr>
              <a:t>个步骤）</a:t>
            </a:r>
            <a:endParaRPr lang="en-US" altLang="zh-CN" sz="2000" b="1" dirty="0">
              <a:latin typeface="Comic Sans MS" pitchFamily="66" charset="0"/>
            </a:endParaRPr>
          </a:p>
          <a:p>
            <a:pPr eaLnBrk="1" hangingPunct="1"/>
            <a:endParaRPr lang="en-US" altLang="zh-CN" b="0" dirty="0"/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214282" y="3714752"/>
            <a:ext cx="4381496" cy="207170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6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类似于工厂的自动装配线：</a:t>
            </a:r>
            <a:r>
              <a:rPr kumimoji="0" lang="zh-CN" altLang="en-US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由工人、机器、装配件构成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，通过工人不断对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产品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进行装配直至完成。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38" name="灯片编号占位符 3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/>
          <p:cNvSpPr>
            <a:spLocks noChangeShapeType="1"/>
          </p:cNvSpPr>
          <p:nvPr/>
        </p:nvSpPr>
        <p:spPr bwMode="auto">
          <a:xfrm>
            <a:off x="3052756" y="1844660"/>
            <a:ext cx="965200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4767268" y="1844660"/>
            <a:ext cx="749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6410342" y="1844660"/>
            <a:ext cx="749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1695434" y="1844660"/>
            <a:ext cx="534987" cy="31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195236" y="1344594"/>
            <a:ext cx="1928826" cy="461665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 smtClean="0"/>
              <a:t>指令流入</a:t>
            </a:r>
            <a:endParaRPr lang="en-US" altLang="zh-CN" sz="2400" dirty="0"/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2232032" y="1071546"/>
            <a:ext cx="809625" cy="1408112"/>
            <a:chOff x="363" y="403"/>
            <a:chExt cx="363" cy="403"/>
          </a:xfrm>
        </p:grpSpPr>
        <p:sp>
          <p:nvSpPr>
            <p:cNvPr id="28" name="Rectangle 28"/>
            <p:cNvSpPr>
              <a:spLocks noChangeArrowheads="1"/>
            </p:cNvSpPr>
            <p:nvPr/>
          </p:nvSpPr>
          <p:spPr bwMode="auto">
            <a:xfrm>
              <a:off x="363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zh-CN" altLang="en-US" sz="2400" dirty="0" smtClean="0"/>
                <a:t>取指</a:t>
              </a:r>
              <a:endParaRPr lang="en-US" altLang="zh-CN" sz="2400" dirty="0" smtClean="0"/>
            </a:p>
            <a:p>
              <a:r>
                <a:rPr lang="zh-CN" altLang="en-US" sz="2400" dirty="0" smtClean="0"/>
                <a:t>令</a:t>
              </a:r>
              <a:endParaRPr lang="en-US" altLang="zh-CN" sz="2400" dirty="0" smtClean="0"/>
            </a:p>
            <a:p>
              <a:r>
                <a:rPr lang="zh-CN" altLang="en-US" sz="2400" dirty="0" smtClean="0"/>
                <a:t>部件</a:t>
              </a:r>
              <a:endParaRPr lang="en-US" altLang="zh-CN" sz="2400" dirty="0"/>
            </a:p>
          </p:txBody>
        </p:sp>
        <p:sp>
          <p:nvSpPr>
            <p:cNvPr id="29" name="Rectangle 29"/>
            <p:cNvSpPr>
              <a:spLocks noChangeArrowheads="1"/>
            </p:cNvSpPr>
            <p:nvPr/>
          </p:nvSpPr>
          <p:spPr bwMode="auto">
            <a:xfrm>
              <a:off x="363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3952882" y="1071546"/>
            <a:ext cx="809625" cy="1408112"/>
            <a:chOff x="1134" y="403"/>
            <a:chExt cx="363" cy="403"/>
          </a:xfrm>
        </p:grpSpPr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1134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zh-CN" altLang="en-US" sz="2400" dirty="0" smtClean="0"/>
                <a:t>分析</a:t>
              </a:r>
              <a:endParaRPr lang="en-US" altLang="zh-CN" sz="2400" dirty="0" smtClean="0"/>
            </a:p>
            <a:p>
              <a:endParaRPr lang="en-US" altLang="zh-CN" sz="2400" dirty="0" smtClean="0"/>
            </a:p>
            <a:p>
              <a:r>
                <a:rPr lang="zh-CN" altLang="en-US" sz="2400" dirty="0" smtClean="0"/>
                <a:t>部件</a:t>
              </a:r>
              <a:endParaRPr lang="en-US" altLang="zh-CN" sz="2400" dirty="0"/>
            </a:p>
          </p:txBody>
        </p:sp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1134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33"/>
          <p:cNvGrpSpPr>
            <a:grpSpLocks/>
          </p:cNvGrpSpPr>
          <p:nvPr/>
        </p:nvGrpSpPr>
        <p:grpSpPr bwMode="auto">
          <a:xfrm>
            <a:off x="5572132" y="1071546"/>
            <a:ext cx="809625" cy="1408112"/>
            <a:chOff x="1860" y="403"/>
            <a:chExt cx="363" cy="403"/>
          </a:xfrm>
        </p:grpSpPr>
        <p:sp>
          <p:nvSpPr>
            <p:cNvPr id="34" name="Rectangle 34"/>
            <p:cNvSpPr>
              <a:spLocks noChangeArrowheads="1"/>
            </p:cNvSpPr>
            <p:nvPr/>
          </p:nvSpPr>
          <p:spPr bwMode="auto">
            <a:xfrm>
              <a:off x="1860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r>
                <a:rPr lang="zh-CN" altLang="en-US" sz="2400" dirty="0" smtClean="0"/>
                <a:t>执行</a:t>
              </a:r>
              <a:endParaRPr lang="en-US" altLang="zh-CN" sz="2400" dirty="0" smtClean="0"/>
            </a:p>
            <a:p>
              <a:endParaRPr lang="en-US" altLang="zh-CN" sz="2400" dirty="0" smtClean="0"/>
            </a:p>
            <a:p>
              <a:r>
                <a:rPr lang="zh-CN" altLang="en-US" sz="2400" dirty="0" smtClean="0"/>
                <a:t>部件</a:t>
              </a:r>
              <a:endParaRPr lang="en-US" altLang="zh-CN" sz="2400" dirty="0"/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1860" y="403"/>
              <a:ext cx="363" cy="40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" name="Rectangle 39"/>
          <p:cNvSpPr>
            <a:spLocks noChangeArrowheads="1"/>
          </p:cNvSpPr>
          <p:nvPr/>
        </p:nvSpPr>
        <p:spPr bwMode="auto">
          <a:xfrm>
            <a:off x="7196160" y="1416032"/>
            <a:ext cx="1785950" cy="658803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 eaLnBrk="1" hangingPunct="1"/>
            <a:r>
              <a:rPr lang="en-US" altLang="zh-CN" sz="2400" dirty="0"/>
              <a:t> </a:t>
            </a:r>
            <a:r>
              <a:rPr lang="zh-CN" altLang="en-US" sz="2400" dirty="0" smtClean="0"/>
              <a:t>指令流出</a:t>
            </a:r>
            <a:endParaRPr lang="zh-CN" altLang="en-US" sz="2800" dirty="0"/>
          </a:p>
          <a:p>
            <a:pPr algn="l"/>
            <a:endParaRPr lang="en-US" altLang="zh-CN" sz="2400" dirty="0"/>
          </a:p>
        </p:txBody>
      </p:sp>
      <p:sp>
        <p:nvSpPr>
          <p:cNvPr id="40" name="TextBox 39"/>
          <p:cNvSpPr txBox="1"/>
          <p:nvPr/>
        </p:nvSpPr>
        <p:spPr>
          <a:xfrm>
            <a:off x="357158" y="214290"/>
            <a:ext cx="5929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/>
              <a:t>二次重叠执行方式的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指令流水线：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0034" y="2643182"/>
            <a:ext cx="77867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机器周期（流水线周期）：</a:t>
            </a:r>
            <a:r>
              <a:rPr lang="zh-CN" altLang="en-US" sz="2400" b="1" dirty="0" smtClean="0"/>
              <a:t>指令沿流水线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移动一个流水段</a:t>
            </a:r>
            <a:r>
              <a:rPr lang="zh-CN" altLang="en-US" sz="2400" b="1" dirty="0" smtClean="0"/>
              <a:t>的时间。长度取决于最慢的流水段，一般是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一个时钟周期</a:t>
            </a:r>
            <a:r>
              <a:rPr lang="zh-CN" altLang="en-US" sz="2400" b="1" dirty="0" smtClean="0"/>
              <a:t>（有时是两个时钟周期）。</a:t>
            </a:r>
            <a:endParaRPr lang="en-US" altLang="zh-CN" sz="2400" b="1" dirty="0" smtClean="0"/>
          </a:p>
          <a:p>
            <a:pPr>
              <a:lnSpc>
                <a:spcPct val="150000"/>
              </a:lnSpc>
            </a:pPr>
            <a:r>
              <a:rPr lang="zh-CN" altLang="en-US" sz="2400" b="1" i="1" dirty="0" smtClean="0">
                <a:solidFill>
                  <a:srgbClr val="FF0000"/>
                </a:solidFill>
              </a:rPr>
              <a:t>每个流水线周期</a:t>
            </a:r>
            <a:r>
              <a:rPr lang="zh-CN" altLang="en-US" sz="2400" b="1" i="1" dirty="0" smtClean="0">
                <a:solidFill>
                  <a:srgbClr val="00B050"/>
                </a:solidFill>
              </a:rPr>
              <a:t>从指令流水线流出一条指令。</a:t>
            </a:r>
            <a:endParaRPr lang="en-US" altLang="zh-CN" sz="2400" b="1" i="1" dirty="0" smtClean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</a:rPr>
              <a:t>吞吐量：</a:t>
            </a:r>
            <a:r>
              <a:rPr lang="zh-CN" altLang="en-US" sz="2400" b="1" dirty="0" smtClean="0"/>
              <a:t>单位时间从流水线流出的指令数。</a:t>
            </a:r>
            <a:endParaRPr lang="zh-CN" altLang="en-US" sz="2400" b="1" dirty="0"/>
          </a:p>
        </p:txBody>
      </p:sp>
      <p:sp>
        <p:nvSpPr>
          <p:cNvPr id="20" name="矩形 19"/>
          <p:cNvSpPr/>
          <p:nvPr/>
        </p:nvSpPr>
        <p:spPr>
          <a:xfrm>
            <a:off x="3428992" y="1000108"/>
            <a:ext cx="71438" cy="1643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072066" y="1000108"/>
            <a:ext cx="71438" cy="16430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>
            <a:stCxn id="22" idx="0"/>
          </p:cNvCxnSpPr>
          <p:nvPr/>
        </p:nvCxnSpPr>
        <p:spPr>
          <a:xfrm rot="5400000" flipH="1" flipV="1">
            <a:off x="5554272" y="339307"/>
            <a:ext cx="214314" cy="11072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286512" y="500042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流水线寄存器</a:t>
            </a:r>
            <a:endParaRPr lang="en-US" altLang="zh-CN" b="1" dirty="0" smtClean="0">
              <a:solidFill>
                <a:srgbClr val="0070C0"/>
              </a:solidFill>
            </a:endParaRPr>
          </a:p>
          <a:p>
            <a:r>
              <a:rPr lang="zh-CN" altLang="en-US" b="1" dirty="0" smtClean="0">
                <a:solidFill>
                  <a:srgbClr val="0070C0"/>
                </a:solidFill>
              </a:rPr>
              <a:t>（锁存器）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4" name="灯片编号占位符 3"/>
          <p:cNvSpPr txBox="1">
            <a:spLocks/>
          </p:cNvSpPr>
          <p:nvPr/>
        </p:nvSpPr>
        <p:spPr>
          <a:xfrm>
            <a:off x="3104432" y="576318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B32047-6C6D-4FFC-9296-8D54D3287415}" type="slidenum">
              <a:rPr lang="en-US" altLang="zh-CN" smtClean="0"/>
              <a:pPr/>
              <a:t>8</a:t>
            </a:fld>
            <a:endParaRPr lang="en-US" altLang="zh-CN"/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381366"/>
              </p:ext>
            </p:extLst>
          </p:nvPr>
        </p:nvGraphicFramePr>
        <p:xfrm>
          <a:off x="480266" y="692696"/>
          <a:ext cx="80010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983" name="Image" r:id="rId3" imgW="30132245" imgH="16937143" progId="">
                  <p:embed/>
                </p:oleObj>
              </mc:Choice>
              <mc:Fallback>
                <p:oleObj name="Image" r:id="rId3" imgW="30132245" imgH="1693714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266" y="692696"/>
                        <a:ext cx="8001000" cy="5029200"/>
                      </a:xfrm>
                      <a:prstGeom prst="rect">
                        <a:avLst/>
                      </a:prstGeom>
                      <a:blipFill dpi="0" rotWithShape="0">
                        <a:blip r:embed="rId5"/>
                        <a:srcRect/>
                        <a:tile tx="0" ty="0" sx="100000" sy="100000" flip="none" algn="tl"/>
                      </a:blip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箭头连接符 5"/>
          <p:cNvCxnSpPr/>
          <p:nvPr/>
        </p:nvCxnSpPr>
        <p:spPr>
          <a:xfrm rot="10800000" flipV="1">
            <a:off x="980332" y="4264596"/>
            <a:ext cx="857256" cy="4286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8828" y="4693224"/>
            <a:ext cx="1643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流水段（级）：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70C0"/>
                </a:solidFill>
              </a:rPr>
              <a:t>完成一条指令的一部分操作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2766282" y="1549952"/>
            <a:ext cx="1214446" cy="164307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</p:cNvCxnSpPr>
          <p:nvPr/>
        </p:nvCxnSpPr>
        <p:spPr>
          <a:xfrm rot="5400000">
            <a:off x="2663459" y="2912351"/>
            <a:ext cx="240622" cy="32072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80464" y="3121588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并行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8050" y="3621654"/>
            <a:ext cx="207170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</a:t>
            </a:r>
            <a:r>
              <a:rPr lang="zh-CN" altLang="en-US" dirty="0" smtClean="0">
                <a:solidFill>
                  <a:srgbClr val="FF0000"/>
                </a:solidFill>
              </a:rPr>
              <a:t>机器周期 </a:t>
            </a:r>
            <a:r>
              <a:rPr lang="en-US" altLang="zh-CN" dirty="0" smtClean="0">
                <a:solidFill>
                  <a:srgbClr val="0070C0"/>
                </a:solidFill>
              </a:rPr>
              <a:t>30ns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2" name="右大括号 11"/>
          <p:cNvSpPr/>
          <p:nvPr/>
        </p:nvSpPr>
        <p:spPr>
          <a:xfrm rot="16200000">
            <a:off x="5766678" y="3335902"/>
            <a:ext cx="428628" cy="157163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大括号 12"/>
          <p:cNvSpPr/>
          <p:nvPr/>
        </p:nvSpPr>
        <p:spPr>
          <a:xfrm rot="5400000">
            <a:off x="6123868" y="-378874"/>
            <a:ext cx="500066" cy="378621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980992" y="1764266"/>
            <a:ext cx="71438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70C0"/>
                </a:solidFill>
              </a:rPr>
              <a:t>90ns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56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472" y="785794"/>
            <a:ext cx="77867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/>
              <a:t>流水线设计者：平衡每个流水段的时间，使之等长。</a:t>
            </a:r>
            <a:endParaRPr lang="en-US" altLang="zh-CN" sz="2400" b="1" dirty="0" smtClean="0"/>
          </a:p>
          <a:p>
            <a:pPr>
              <a:lnSpc>
                <a:spcPct val="150000"/>
              </a:lnSpc>
            </a:pPr>
            <a:r>
              <a:rPr lang="zh-CN" altLang="en-US" sz="2400" b="1" dirty="0" smtClean="0"/>
              <a:t>因此，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每条指令在流水线的平均时间</a:t>
            </a:r>
            <a:r>
              <a:rPr lang="zh-CN" altLang="en-US" sz="2400" b="1" dirty="0" smtClean="0"/>
              <a:t>在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理想</a:t>
            </a:r>
            <a:r>
              <a:rPr lang="zh-CN" altLang="en-US" sz="2400" b="1" dirty="0" smtClean="0"/>
              <a:t>情况下为：</a:t>
            </a:r>
            <a:endParaRPr lang="zh-CN" altLang="en-US" sz="2400" b="1" dirty="0"/>
          </a:p>
        </p:txBody>
      </p:sp>
      <p:grpSp>
        <p:nvGrpSpPr>
          <p:cNvPr id="7" name="组合 6"/>
          <p:cNvGrpSpPr/>
          <p:nvPr/>
        </p:nvGrpSpPr>
        <p:grpSpPr>
          <a:xfrm>
            <a:off x="1785918" y="2214554"/>
            <a:ext cx="4929222" cy="1200329"/>
            <a:chOff x="1714480" y="2500306"/>
            <a:chExt cx="4929222" cy="1200329"/>
          </a:xfrm>
        </p:grpSpPr>
        <p:sp>
          <p:nvSpPr>
            <p:cNvPr id="3" name="TextBox 2"/>
            <p:cNvSpPr txBox="1"/>
            <p:nvPr/>
          </p:nvSpPr>
          <p:spPr>
            <a:xfrm>
              <a:off x="1785918" y="2500306"/>
              <a:ext cx="485778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 smtClean="0">
                  <a:solidFill>
                    <a:srgbClr val="0070C0"/>
                  </a:solidFill>
                </a:rPr>
                <a:t>非流水线机器平均指令执行时间</a:t>
              </a:r>
              <a:endParaRPr lang="en-US" altLang="zh-CN" sz="2400" b="1" i="1" dirty="0" smtClean="0">
                <a:solidFill>
                  <a:srgbClr val="0070C0"/>
                </a:solidFill>
              </a:endParaRPr>
            </a:p>
            <a:p>
              <a:endParaRPr lang="en-US" altLang="zh-CN" sz="2400" b="1" dirty="0" smtClean="0">
                <a:solidFill>
                  <a:srgbClr val="0070C0"/>
                </a:solidFill>
              </a:endParaRPr>
            </a:p>
            <a:p>
              <a:r>
                <a:rPr lang="zh-CN" altLang="en-US" sz="2400" b="1" dirty="0" smtClean="0">
                  <a:solidFill>
                    <a:srgbClr val="0070C0"/>
                  </a:solidFill>
                </a:rPr>
                <a:t>              </a:t>
              </a:r>
              <a:r>
                <a:rPr lang="zh-CN" altLang="en-US" sz="2400" b="1" i="1" dirty="0" smtClean="0">
                  <a:solidFill>
                    <a:srgbClr val="0070C0"/>
                  </a:solidFill>
                </a:rPr>
                <a:t>流水线机器段数</a:t>
              </a:r>
              <a:endParaRPr lang="zh-CN" altLang="en-US" sz="2400" b="1" i="1" dirty="0">
                <a:solidFill>
                  <a:srgbClr val="0070C0"/>
                </a:solidFill>
              </a:endParaRPr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1714480" y="3143248"/>
              <a:ext cx="4929222" cy="1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285720" y="4572008"/>
            <a:ext cx="857256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</a:rPr>
              <a:t>理想情况：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流水线的加速比</a:t>
            </a:r>
            <a:r>
              <a:rPr lang="zh-CN" altLang="en-US" sz="2400" b="1" dirty="0" smtClean="0"/>
              <a:t>等于流水线机器的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段数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  <a:p>
            <a:endParaRPr lang="en-US" altLang="zh-CN" sz="2400" b="1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2400" b="1" dirty="0" smtClean="0"/>
              <a:t> 流水线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减少了</a:t>
            </a:r>
            <a:r>
              <a:rPr lang="zh-CN" altLang="en-US" sz="2400" b="1" dirty="0" smtClean="0"/>
              <a:t>指令执行的平均时间（减少了</a:t>
            </a:r>
            <a:r>
              <a:rPr lang="en-US" altLang="zh-CN" sz="2400" b="1" dirty="0" smtClean="0"/>
              <a:t>CPI</a:t>
            </a:r>
            <a:r>
              <a:rPr lang="zh-CN" altLang="en-US" sz="2400" b="1" dirty="0" smtClean="0"/>
              <a:t>或时钟周期）</a:t>
            </a:r>
            <a:endParaRPr lang="en-US" altLang="zh-CN" sz="2400" b="1" dirty="0" smtClean="0"/>
          </a:p>
          <a:p>
            <a:pPr>
              <a:buFont typeface="Wingdings" pitchFamily="2" charset="2"/>
              <a:buChar char="Ø"/>
            </a:pPr>
            <a:r>
              <a:rPr lang="zh-CN" altLang="en-US" sz="2400" b="1" dirty="0" smtClean="0"/>
              <a:t> 流水线技术（硬件实现）对编程者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透明</a:t>
            </a:r>
            <a:endParaRPr lang="en-US" altLang="zh-CN" sz="2400" b="1" dirty="0" smtClean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  <p:sp>
        <p:nvSpPr>
          <p:cNvPr id="11" name="矩形标注 10"/>
          <p:cNvSpPr/>
          <p:nvPr/>
        </p:nvSpPr>
        <p:spPr>
          <a:xfrm>
            <a:off x="5520215" y="3068960"/>
            <a:ext cx="3618416" cy="1145562"/>
          </a:xfrm>
          <a:prstGeom prst="wedgeRectCallout">
            <a:avLst>
              <a:gd name="adj1" fmla="val -109673"/>
              <a:gd name="adj2" fmla="val 827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>
            <a:stCxn id="4" idx="1"/>
            <a:endCxn id="4" idx="3"/>
          </p:cNvCxnSpPr>
          <p:nvPr/>
        </p:nvCxnSpPr>
        <p:spPr>
          <a:xfrm>
            <a:off x="5467433" y="3561402"/>
            <a:ext cx="3438762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67433" y="3068959"/>
            <a:ext cx="3438762" cy="98488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非流水线机器平均指令执行时间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endParaRPr lang="en-US" altLang="zh-CN" sz="2000" b="1" dirty="0">
              <a:solidFill>
                <a:schemeClr val="bg1"/>
              </a:solidFill>
            </a:endParaRPr>
          </a:p>
          <a:p>
            <a:r>
              <a:rPr lang="en-US" altLang="zh-CN" sz="2000" b="1" dirty="0" smtClean="0">
                <a:solidFill>
                  <a:schemeClr val="bg1"/>
                </a:solidFill>
              </a:rPr>
              <a:t>   </a:t>
            </a:r>
            <a:r>
              <a:rPr lang="zh-CN" altLang="en-US" b="1" dirty="0" smtClean="0">
                <a:solidFill>
                  <a:schemeClr val="bg1"/>
                </a:solidFill>
              </a:rPr>
              <a:t>流水线机器平均指令执行时间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A348D9-850C-4DE2-AE26-DF04674C88EE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流水线特点</a:t>
            </a:r>
            <a:endParaRPr lang="en-US" altLang="zh-CN" sz="4000" b="1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458200" cy="4953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一个流水线类似自动装配线</a:t>
            </a:r>
            <a:endParaRPr lang="en-US" altLang="zh-CN" sz="2400" b="1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一个流水线有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多个段</a:t>
            </a:r>
            <a:r>
              <a:rPr lang="zh-CN" altLang="en-US" sz="2400" b="1" dirty="0" smtClean="0">
                <a:solidFill>
                  <a:srgbClr val="FF3300"/>
                </a:solidFill>
                <a:latin typeface="Comic Sans MS" pitchFamily="66" charset="0"/>
              </a:rPr>
              <a:t>（级），</a:t>
            </a:r>
            <a:r>
              <a:rPr lang="zh-CN" altLang="en-US" sz="2400" b="1" dirty="0" smtClean="0">
                <a:latin typeface="Comic Sans MS" pitchFamily="66" charset="0"/>
              </a:rPr>
              <a:t>段间有</a:t>
            </a:r>
            <a:r>
              <a:rPr lang="zh-CN" altLang="en-US" sz="2400" b="1" dirty="0" smtClean="0">
                <a:solidFill>
                  <a:srgbClr val="FF3300"/>
                </a:solidFill>
                <a:latin typeface="Comic Sans MS" pitchFamily="66" charset="0"/>
              </a:rPr>
              <a:t>流水线寄存器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每个流水段执行指令或操作的</a:t>
            </a:r>
            <a:r>
              <a:rPr lang="zh-CN" altLang="en-US" sz="2400" b="1" dirty="0" smtClean="0">
                <a:solidFill>
                  <a:srgbClr val="FF3300"/>
                </a:solidFill>
                <a:latin typeface="Comic Sans MS" pitchFamily="66" charset="0"/>
              </a:rPr>
              <a:t>不同部分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流水段之间采用</a:t>
            </a:r>
            <a:r>
              <a:rPr lang="zh-CN" altLang="en-US" sz="2400" b="1" dirty="0" smtClean="0">
                <a:solidFill>
                  <a:srgbClr val="FF3300"/>
                </a:solidFill>
                <a:latin typeface="Comic Sans MS" pitchFamily="66" charset="0"/>
              </a:rPr>
              <a:t>同步时钟控制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一条指令或操作从流水线一端进入，经过各段，从另一端流出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流水线是开发串行指令流中</a:t>
            </a:r>
            <a:r>
              <a:rPr lang="zh-CN" altLang="en-US" sz="2400" b="1" dirty="0" smtClean="0">
                <a:solidFill>
                  <a:srgbClr val="FF3300"/>
                </a:solidFill>
                <a:latin typeface="Comic Sans MS" pitchFamily="66" charset="0"/>
              </a:rPr>
              <a:t>并行性</a:t>
            </a:r>
            <a:r>
              <a:rPr lang="zh-CN" altLang="en-US" sz="2400" b="1" dirty="0" smtClean="0">
                <a:latin typeface="Comic Sans MS" pitchFamily="66" charset="0"/>
              </a:rPr>
              <a:t>的一种实现技术</a:t>
            </a:r>
            <a:endParaRPr lang="en-US" altLang="zh-CN" sz="2400" b="1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EBAFFA-A137-4AE5-AF66-1B28C0FFD3C8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为什么采用流水线：结论</a:t>
            </a:r>
            <a:endParaRPr lang="en-US" altLang="zh-CN" sz="4000" b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114800"/>
          </a:xfrm>
        </p:spPr>
        <p:txBody>
          <a:bodyPr/>
          <a:lstStyle/>
          <a:p>
            <a:r>
              <a:rPr lang="zh-CN" altLang="en-US" sz="2800" b="1" dirty="0" smtClean="0"/>
              <a:t>制造</a:t>
            </a:r>
            <a:r>
              <a:rPr lang="zh-CN" altLang="en-US" b="1" dirty="0" smtClean="0">
                <a:solidFill>
                  <a:srgbClr val="FF3300"/>
                </a:solidFill>
              </a:rPr>
              <a:t>快速</a:t>
            </a:r>
            <a:r>
              <a:rPr lang="en-US" altLang="zh-CN" sz="2800" b="1" dirty="0" smtClean="0"/>
              <a:t>CPU</a:t>
            </a:r>
            <a:r>
              <a:rPr lang="zh-CN" altLang="en-US" sz="2800" b="1" dirty="0" smtClean="0"/>
              <a:t>的关键技术：减少</a:t>
            </a:r>
            <a:r>
              <a:rPr lang="en-US" altLang="zh-CN" sz="2800" b="1" dirty="0" smtClean="0">
                <a:solidFill>
                  <a:srgbClr val="FF3300"/>
                </a:solidFill>
              </a:rPr>
              <a:t> </a:t>
            </a:r>
            <a:r>
              <a:rPr lang="en-US" altLang="zh-CN" b="1" dirty="0" err="1">
                <a:solidFill>
                  <a:srgbClr val="FF3300"/>
                </a:solidFill>
              </a:rPr>
              <a:t>CPUtime</a:t>
            </a:r>
            <a:r>
              <a:rPr lang="en-US" altLang="zh-CN" b="1" dirty="0"/>
              <a:t>.</a:t>
            </a:r>
          </a:p>
          <a:p>
            <a:endParaRPr lang="en-US" altLang="zh-CN" sz="2800" b="1" dirty="0"/>
          </a:p>
          <a:p>
            <a:r>
              <a:rPr lang="zh-CN" altLang="en-US" sz="2800" b="1" dirty="0" smtClean="0"/>
              <a:t>改进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吞吐量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 smtClean="0"/>
              <a:t>改进资源</a:t>
            </a:r>
            <a:r>
              <a:rPr lang="zh-CN" altLang="en-US" sz="2800" b="1" dirty="0" smtClean="0">
                <a:solidFill>
                  <a:srgbClr val="FF3300"/>
                </a:solidFill>
              </a:rPr>
              <a:t>利用率</a:t>
            </a:r>
            <a:endParaRPr lang="en-US" altLang="zh-CN" sz="2800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550765-C7D4-40DD-A7C8-A19D65E1C2D1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为什么不开发</a:t>
            </a:r>
            <a:r>
              <a:rPr lang="en-US" altLang="zh-CN" sz="4000" b="1" dirty="0" smtClean="0"/>
              <a:t> 50</a:t>
            </a:r>
            <a:r>
              <a:rPr lang="zh-CN" altLang="en-US" sz="4000" b="1" dirty="0" smtClean="0"/>
              <a:t>段流水线</a:t>
            </a:r>
            <a:r>
              <a:rPr lang="en-US" altLang="zh-CN" sz="4000" b="1" dirty="0" smtClean="0"/>
              <a:t>?</a:t>
            </a:r>
            <a:endParaRPr lang="en-US" altLang="zh-CN" sz="4000" b="1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71452" y="1228708"/>
            <a:ext cx="7848600" cy="766754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latin typeface="Comic Sans MS" pitchFamily="66" charset="0"/>
              </a:rPr>
              <a:t>有些操作不能分为更细的逻辑实现</a:t>
            </a:r>
            <a:endParaRPr lang="en-US" altLang="zh-CN" b="1" dirty="0">
              <a:latin typeface="Comic Sans MS" pitchFamily="66" charset="0"/>
            </a:endParaRPr>
          </a:p>
          <a:p>
            <a:endParaRPr lang="en-US" altLang="zh-CN" dirty="0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8" y="1833554"/>
            <a:ext cx="51054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8" y="3586154"/>
            <a:ext cx="518160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9942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5357818" y="2214554"/>
            <a:ext cx="3352800" cy="2438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 b="1"/>
              <a:t>5 stages    OK</a:t>
            </a:r>
          </a:p>
          <a:p>
            <a:pPr>
              <a:buFontTx/>
              <a:buNone/>
            </a:pPr>
            <a:endParaRPr lang="en-US" altLang="zh-CN" sz="2400" b="1"/>
          </a:p>
          <a:p>
            <a:pPr>
              <a:buFontTx/>
              <a:buNone/>
            </a:pPr>
            <a:endParaRPr lang="en-US" altLang="zh-CN" sz="2400" b="1"/>
          </a:p>
          <a:p>
            <a:pPr>
              <a:buFontTx/>
              <a:buNone/>
            </a:pPr>
            <a:endParaRPr lang="en-US" altLang="zh-CN" sz="2400" b="1"/>
          </a:p>
          <a:p>
            <a:pPr>
              <a:buFontTx/>
              <a:buNone/>
            </a:pPr>
            <a:r>
              <a:rPr lang="en-US" altLang="zh-CN" sz="2400" b="1"/>
              <a:t>50 stages   </a:t>
            </a:r>
            <a:r>
              <a:rPr lang="en-US" altLang="zh-CN" sz="2400" b="1">
                <a:solidFill>
                  <a:srgbClr val="FF3300"/>
                </a:solidFill>
              </a:rPr>
              <a:t>NO. Sorry!</a:t>
            </a:r>
            <a:endParaRPr lang="en-US" altLang="zh-CN" sz="2400" b="1"/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85720" y="5072074"/>
            <a:ext cx="9072626" cy="1500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流水线锁存器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不是免费的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，要占据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面积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，且有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延迟。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         机器周期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&gt;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锁存器延迟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+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时钟偏移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3A1E31-8284-4C9B-AB95-5F724624290C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流水线段数实例</a:t>
            </a:r>
            <a:endParaRPr lang="en-US" altLang="zh-CN" sz="40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57298"/>
            <a:ext cx="9877468" cy="4800600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Comic Sans MS" pitchFamily="66" charset="0"/>
              </a:rPr>
              <a:t>E.g., Intel</a:t>
            </a:r>
          </a:p>
          <a:p>
            <a:pPr lvl="1"/>
            <a:r>
              <a:rPr lang="en-US" altLang="zh-CN" sz="2400" b="1" dirty="0">
                <a:solidFill>
                  <a:srgbClr val="000000"/>
                </a:solidFill>
                <a:latin typeface="Comic Sans MS" pitchFamily="66" charset="0"/>
              </a:rPr>
              <a:t>Pentium III, Pentium 4: 20+ stages</a:t>
            </a: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正在执行的指令超过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20 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条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时钟频率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(&gt;</a:t>
            </a:r>
            <a:r>
              <a:rPr lang="en-US" altLang="zh-CN" sz="2400" b="1" dirty="0">
                <a:solidFill>
                  <a:srgbClr val="000000"/>
                </a:solidFill>
                <a:latin typeface="Comic Sans MS" pitchFamily="66" charset="0"/>
              </a:rPr>
              <a:t>1GHz)</a:t>
            </a: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高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 IPC</a:t>
            </a:r>
          </a:p>
          <a:p>
            <a:pPr marL="457200" lvl="1" indent="0"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Comic Sans MS" pitchFamily="66" charset="0"/>
              </a:rPr>
              <a:t> 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  </a:t>
            </a:r>
            <a:r>
              <a:rPr lang="zh-CN" altLang="en-US" sz="1900" b="1" dirty="0" smtClean="0">
                <a:solidFill>
                  <a:srgbClr val="000000"/>
                </a:solidFill>
                <a:latin typeface="Comic Sans MS" pitchFamily="66" charset="0"/>
              </a:rPr>
              <a:t>（每个时钟周期执行的指令数）</a:t>
            </a:r>
            <a:endParaRPr lang="en-US" altLang="zh-CN" sz="1900" b="1" dirty="0">
              <a:solidFill>
                <a:srgbClr val="000000"/>
              </a:solidFill>
              <a:latin typeface="Comic Sans MS" pitchFamily="66" charset="0"/>
            </a:endParaRPr>
          </a:p>
          <a:p>
            <a:endParaRPr lang="en-US" altLang="zh-CN" sz="2000" b="1" dirty="0">
              <a:solidFill>
                <a:srgbClr val="000000"/>
              </a:solidFill>
              <a:latin typeface="Comic Sans MS" pitchFamily="66" charset="0"/>
            </a:endParaRPr>
          </a:p>
          <a:p>
            <a:endParaRPr lang="en-US" altLang="zh-CN" sz="2000" b="1" dirty="0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zh-CN" altLang="en-US" sz="2800" b="1" dirty="0" smtClean="0">
                <a:solidFill>
                  <a:srgbClr val="000000"/>
                </a:solidFill>
                <a:latin typeface="Comic Sans MS" pitchFamily="66" charset="0"/>
              </a:rPr>
              <a:t>太多的段数</a:t>
            </a:r>
            <a:r>
              <a:rPr lang="en-US" altLang="zh-CN" sz="2800" b="1" dirty="0" smtClean="0">
                <a:solidFill>
                  <a:srgbClr val="000000"/>
                </a:solidFill>
                <a:latin typeface="Comic Sans MS" pitchFamily="66" charset="0"/>
              </a:rPr>
              <a:t>:</a:t>
            </a:r>
            <a:endParaRPr lang="en-US" altLang="zh-CN" sz="28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非常复杂</a:t>
            </a:r>
            <a:endParaRPr lang="en-US" altLang="zh-CN" sz="2400" b="1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处理正在执行指令之间</a:t>
            </a:r>
            <a:endParaRPr lang="en-US" altLang="zh-CN" sz="2400" b="1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buNone/>
            </a:pP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   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的冒险（相关）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控制逻辑很大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</p:txBody>
      </p:sp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6" y="2643182"/>
            <a:ext cx="4429124" cy="4214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24C318-8E56-4222-8D93-8231BA1FB9B3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 smtClean="0">
                <a:latin typeface="Comic Sans MS" pitchFamily="66" charset="0"/>
              </a:rPr>
              <a:t>二、</a:t>
            </a:r>
            <a:r>
              <a:rPr lang="en-US" altLang="zh-CN" b="1" dirty="0" smtClean="0">
                <a:latin typeface="Comic Sans MS" pitchFamily="66" charset="0"/>
              </a:rPr>
              <a:t>RISC</a:t>
            </a:r>
            <a:r>
              <a:rPr lang="zh-CN" altLang="en-US" b="1" dirty="0" smtClean="0">
                <a:latin typeface="Comic Sans MS" pitchFamily="66" charset="0"/>
              </a:rPr>
              <a:t>指令系统特点</a:t>
            </a:r>
            <a:endParaRPr lang="en-US" altLang="zh-CN" b="1" dirty="0">
              <a:latin typeface="Comic Sans MS" pitchFamily="66" charset="0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>
              <a:lnSpc>
                <a:spcPts val="3700"/>
              </a:lnSpc>
              <a:buNone/>
            </a:pPr>
            <a:r>
              <a:rPr lang="en-US" altLang="zh-CN" b="1" dirty="0" smtClean="0">
                <a:latin typeface="Arial"/>
              </a:rPr>
              <a:t>RISC</a:t>
            </a:r>
            <a:r>
              <a:rPr lang="zh-CN" altLang="en-US" b="1" dirty="0" smtClean="0">
                <a:latin typeface="Arial"/>
              </a:rPr>
              <a:t>系统结构有以下</a:t>
            </a:r>
            <a:r>
              <a:rPr lang="zh-CN" altLang="en-US" b="1" dirty="0" smtClean="0">
                <a:solidFill>
                  <a:srgbClr val="FF0000"/>
                </a:solidFill>
                <a:latin typeface="Arial"/>
              </a:rPr>
              <a:t>几个关键特点</a:t>
            </a:r>
            <a:r>
              <a:rPr lang="zh-CN" altLang="en-US" b="1" dirty="0" smtClean="0">
                <a:latin typeface="Arial"/>
              </a:rPr>
              <a:t>：</a:t>
            </a:r>
            <a:endParaRPr lang="en-US" altLang="zh-CN" b="1" dirty="0" smtClean="0">
              <a:latin typeface="宋体" pitchFamily="2" charset="-122"/>
            </a:endParaRPr>
          </a:p>
          <a:p>
            <a:pPr lvl="1">
              <a:lnSpc>
                <a:spcPts val="3700"/>
              </a:lnSpc>
            </a:pPr>
            <a:r>
              <a:rPr lang="zh-CN" altLang="en-US" b="1" dirty="0" smtClean="0"/>
              <a:t>所有参加</a:t>
            </a:r>
            <a:r>
              <a:rPr lang="zh-CN" altLang="en-US" b="1" dirty="0" smtClean="0">
                <a:solidFill>
                  <a:srgbClr val="C00000"/>
                </a:solidFill>
              </a:rPr>
              <a:t>运算的数据来自寄存器，结果也写入寄存器</a:t>
            </a:r>
            <a:r>
              <a:rPr lang="zh-CN" altLang="en-US" b="1" dirty="0" smtClean="0"/>
              <a:t>。寄存器为</a:t>
            </a:r>
            <a:r>
              <a:rPr lang="en-US" altLang="zh-CN" b="1" dirty="0" smtClean="0"/>
              <a:t>32/64</a:t>
            </a:r>
            <a:r>
              <a:rPr lang="zh-CN" altLang="en-US" b="1" dirty="0" smtClean="0"/>
              <a:t>位。</a:t>
            </a:r>
            <a:endParaRPr lang="en-US" altLang="zh-CN" b="1" dirty="0" smtClean="0"/>
          </a:p>
          <a:p>
            <a:pPr lvl="1">
              <a:lnSpc>
                <a:spcPts val="3700"/>
              </a:lnSpc>
            </a:pPr>
            <a:r>
              <a:rPr lang="zh-CN" altLang="en-US" b="1" dirty="0" smtClean="0"/>
              <a:t>访存只有</a:t>
            </a:r>
            <a:r>
              <a:rPr lang="en-US" altLang="zh-CN" b="1" dirty="0" smtClean="0">
                <a:solidFill>
                  <a:srgbClr val="0070C0"/>
                </a:solidFill>
              </a:rPr>
              <a:t>load</a:t>
            </a:r>
            <a:r>
              <a:rPr lang="zh-CN" altLang="en-US" b="1" dirty="0" smtClean="0">
                <a:solidFill>
                  <a:srgbClr val="0070C0"/>
                </a:solidFill>
              </a:rPr>
              <a:t>和</a:t>
            </a:r>
            <a:r>
              <a:rPr lang="en-US" altLang="zh-CN" b="1" dirty="0" smtClean="0">
                <a:solidFill>
                  <a:srgbClr val="0070C0"/>
                </a:solidFill>
              </a:rPr>
              <a:t>store</a:t>
            </a:r>
            <a:r>
              <a:rPr lang="zh-CN" altLang="en-US" b="1" dirty="0" smtClean="0"/>
              <a:t>指令</a:t>
            </a:r>
            <a:endParaRPr lang="en-US" altLang="zh-CN" b="1" dirty="0" smtClean="0"/>
          </a:p>
          <a:p>
            <a:pPr lvl="1">
              <a:lnSpc>
                <a:spcPts val="3700"/>
              </a:lnSpc>
            </a:pPr>
            <a:r>
              <a:rPr lang="zh-CN" altLang="en-US" b="1" dirty="0" smtClean="0"/>
              <a:t>指令的</a:t>
            </a:r>
            <a:r>
              <a:rPr lang="zh-CN" altLang="en-US" b="1" dirty="0" smtClean="0">
                <a:solidFill>
                  <a:srgbClr val="00B050"/>
                </a:solidFill>
              </a:rPr>
              <a:t>数量较少</a:t>
            </a:r>
            <a:r>
              <a:rPr lang="zh-CN" altLang="en-US" b="1" dirty="0" smtClean="0"/>
              <a:t>，所有</a:t>
            </a:r>
            <a:r>
              <a:rPr lang="zh-CN" altLang="en-US" b="1" dirty="0" smtClean="0">
                <a:solidFill>
                  <a:srgbClr val="00B050"/>
                </a:solidFill>
              </a:rPr>
              <a:t>指令长度相同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 lvl="1">
              <a:lnSpc>
                <a:spcPts val="3700"/>
              </a:lnSpc>
              <a:buNone/>
            </a:pPr>
            <a:r>
              <a:rPr lang="zh-CN" altLang="en-US" b="1" dirty="0" smtClean="0"/>
              <a:t>这种结构可以有效地</a:t>
            </a:r>
            <a:r>
              <a:rPr lang="zh-CN" altLang="en-US" b="1" i="1" dirty="0" smtClean="0">
                <a:solidFill>
                  <a:srgbClr val="FF0000"/>
                </a:solidFill>
              </a:rPr>
              <a:t>简化流水线的实现</a:t>
            </a:r>
            <a:r>
              <a:rPr lang="zh-CN" altLang="en-US" b="1" i="1" dirty="0" smtClean="0"/>
              <a:t>。</a:t>
            </a:r>
            <a:endParaRPr lang="en-US" altLang="zh-CN" b="1" i="1" dirty="0" smtClean="0"/>
          </a:p>
          <a:p>
            <a:pPr lvl="1">
              <a:lnSpc>
                <a:spcPts val="3700"/>
              </a:lnSpc>
              <a:buNone/>
            </a:pPr>
            <a:endParaRPr lang="en-US" altLang="zh-CN" b="1" i="1" dirty="0" smtClean="0"/>
          </a:p>
          <a:p>
            <a:pPr lvl="1">
              <a:lnSpc>
                <a:spcPts val="3700"/>
              </a:lnSpc>
              <a:buNone/>
            </a:pPr>
            <a:r>
              <a:rPr lang="en-US" altLang="zh-CN" b="1" i="1" dirty="0" smtClean="0">
                <a:solidFill>
                  <a:schemeClr val="accent6">
                    <a:lumMod val="75000"/>
                  </a:schemeClr>
                </a:solidFill>
              </a:rPr>
              <a:t>MIPS</a:t>
            </a:r>
            <a:r>
              <a:rPr lang="zh-CN" altLang="en-US" b="1" i="1" dirty="0" smtClean="0">
                <a:solidFill>
                  <a:schemeClr val="accent6">
                    <a:lumMod val="75000"/>
                  </a:schemeClr>
                </a:solidFill>
              </a:rPr>
              <a:t>系统</a:t>
            </a:r>
            <a:r>
              <a:rPr lang="zh-CN" altLang="en-US" b="1" i="1" dirty="0" smtClean="0"/>
              <a:t>是</a:t>
            </a:r>
            <a:r>
              <a:rPr lang="zh-CN" altLang="en-US" b="1" i="1" dirty="0" smtClean="0">
                <a:solidFill>
                  <a:schemeClr val="accent6">
                    <a:lumMod val="75000"/>
                  </a:schemeClr>
                </a:solidFill>
              </a:rPr>
              <a:t>默认的  </a:t>
            </a:r>
            <a:r>
              <a:rPr lang="en-US" altLang="zh-CN" b="1" dirty="0" smtClean="0"/>
              <a:t>RISC</a:t>
            </a:r>
            <a:r>
              <a:rPr lang="zh-CN" altLang="en-US" b="1" dirty="0" smtClean="0"/>
              <a:t>系统结构。</a:t>
            </a:r>
            <a:endParaRPr lang="en-US" altLang="zh-CN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14290"/>
            <a:ext cx="8786842" cy="1143000"/>
          </a:xfrm>
        </p:spPr>
        <p:txBody>
          <a:bodyPr>
            <a:normAutofit fontScale="90000"/>
          </a:bodyPr>
          <a:lstStyle/>
          <a:p>
            <a:r>
              <a:rPr lang="zh-CN" altLang="en-US" b="1" dirty="0" smtClean="0">
                <a:latin typeface="Comic Sans MS" pitchFamily="66" charset="0"/>
              </a:rPr>
              <a:t>三、</a:t>
            </a:r>
            <a:r>
              <a:rPr lang="zh-CN" altLang="en-US" sz="4000" b="1" dirty="0" smtClean="0">
                <a:solidFill>
                  <a:srgbClr val="C00000"/>
                </a:solidFill>
              </a:rPr>
              <a:t>非流水线方式下</a:t>
            </a:r>
            <a:r>
              <a:rPr lang="en-US" altLang="zh-CN" sz="4000" b="1" dirty="0" smtClean="0"/>
              <a:t>RISC</a:t>
            </a:r>
            <a:r>
              <a:rPr lang="zh-CN" altLang="en-US" sz="4000" b="1" dirty="0" smtClean="0"/>
              <a:t>指令系统的实现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16" y="1378752"/>
            <a:ext cx="8715404" cy="4525963"/>
          </a:xfrm>
        </p:spPr>
        <p:txBody>
          <a:bodyPr/>
          <a:lstStyle/>
          <a:p>
            <a:pPr>
              <a:lnSpc>
                <a:spcPts val="3700"/>
              </a:lnSpc>
              <a:buNone/>
            </a:pPr>
            <a:r>
              <a:rPr lang="zh-CN" altLang="en-US" sz="2800" b="1" dirty="0" smtClean="0"/>
              <a:t>      假定指令系统是</a:t>
            </a:r>
            <a:r>
              <a:rPr lang="en-US" altLang="zh-CN" sz="2800" b="1" dirty="0" smtClean="0"/>
              <a:t>MIPS</a:t>
            </a:r>
            <a:r>
              <a:rPr lang="zh-CN" altLang="en-US" sz="2800" b="1" dirty="0" smtClean="0"/>
              <a:t>的一个定点子集：</a:t>
            </a:r>
            <a:endParaRPr lang="en-US" altLang="zh-CN" sz="2800" b="1" dirty="0" smtClean="0"/>
          </a:p>
          <a:p>
            <a:pPr>
              <a:lnSpc>
                <a:spcPts val="3700"/>
              </a:lnSpc>
              <a:buNone/>
            </a:pPr>
            <a:r>
              <a:rPr lang="en-US" altLang="zh-CN" sz="2800" b="1" dirty="0">
                <a:solidFill>
                  <a:srgbClr val="0070C0"/>
                </a:solidFill>
              </a:rPr>
              <a:t> 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            load/store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指令，</a:t>
            </a:r>
            <a:r>
              <a:rPr lang="en-US" altLang="zh-CN" sz="2800" b="1" dirty="0" smtClean="0">
                <a:solidFill>
                  <a:srgbClr val="0070C0"/>
                </a:solidFill>
              </a:rPr>
              <a:t>ALU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指令，转移指令。</a:t>
            </a:r>
            <a:endParaRPr lang="en-US" altLang="zh-CN" sz="2800" b="1" dirty="0" smtClean="0">
              <a:solidFill>
                <a:srgbClr val="0070C0"/>
              </a:solidFill>
            </a:endParaRPr>
          </a:p>
          <a:p>
            <a:pPr>
              <a:lnSpc>
                <a:spcPts val="3700"/>
              </a:lnSpc>
              <a:buNone/>
            </a:pPr>
            <a:r>
              <a:rPr lang="zh-CN" altLang="en-US" sz="2800" b="1" dirty="0" smtClean="0"/>
              <a:t>    一条指令的执行过程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（多周期）</a:t>
            </a:r>
            <a:r>
              <a:rPr lang="zh-CN" altLang="en-US" sz="2800" b="1" dirty="0" smtClean="0"/>
              <a:t>最多需要</a:t>
            </a:r>
            <a:r>
              <a:rPr lang="en-US" altLang="zh-CN" sz="2800" b="1" dirty="0" smtClean="0"/>
              <a:t>5</a:t>
            </a:r>
            <a:r>
              <a:rPr lang="zh-CN" altLang="en-US" sz="2800" b="1" dirty="0" smtClean="0"/>
              <a:t>个时钟周期：</a:t>
            </a:r>
            <a:endParaRPr lang="zh-CN" altLang="en-US" sz="2800" b="1" dirty="0"/>
          </a:p>
        </p:txBody>
      </p:sp>
      <p:sp>
        <p:nvSpPr>
          <p:cNvPr id="4" name="Rectangle 112"/>
          <p:cNvSpPr>
            <a:spLocks noChangeArrowheads="1"/>
          </p:cNvSpPr>
          <p:nvPr/>
        </p:nvSpPr>
        <p:spPr bwMode="auto">
          <a:xfrm>
            <a:off x="928662" y="4714884"/>
            <a:ext cx="6318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Load</a:t>
            </a:r>
          </a:p>
        </p:txBody>
      </p:sp>
      <p:sp>
        <p:nvSpPr>
          <p:cNvPr id="5" name="Rectangle 113"/>
          <p:cNvSpPr>
            <a:spLocks noChangeArrowheads="1"/>
          </p:cNvSpPr>
          <p:nvPr/>
        </p:nvSpPr>
        <p:spPr bwMode="auto">
          <a:xfrm>
            <a:off x="4738662" y="4714884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Store</a:t>
            </a:r>
          </a:p>
        </p:txBody>
      </p:sp>
      <p:sp>
        <p:nvSpPr>
          <p:cNvPr id="6" name="Line 114"/>
          <p:cNvSpPr>
            <a:spLocks noChangeShapeType="1"/>
          </p:cNvSpPr>
          <p:nvPr/>
        </p:nvSpPr>
        <p:spPr bwMode="auto">
          <a:xfrm flipV="1">
            <a:off x="4759300" y="4111634"/>
            <a:ext cx="0" cy="9398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137"/>
          <p:cNvSpPr>
            <a:spLocks noChangeShapeType="1"/>
          </p:cNvSpPr>
          <p:nvPr/>
        </p:nvSpPr>
        <p:spPr bwMode="auto">
          <a:xfrm flipV="1">
            <a:off x="7807300" y="4098934"/>
            <a:ext cx="0" cy="9398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60"/>
          <p:cNvSpPr>
            <a:spLocks noChangeArrowheads="1"/>
          </p:cNvSpPr>
          <p:nvPr/>
        </p:nvSpPr>
        <p:spPr bwMode="auto">
          <a:xfrm>
            <a:off x="7786662" y="4714884"/>
            <a:ext cx="768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R-type</a:t>
            </a:r>
          </a:p>
        </p:txBody>
      </p:sp>
      <p:sp>
        <p:nvSpPr>
          <p:cNvPr id="9" name="Line 188"/>
          <p:cNvSpPr>
            <a:spLocks noChangeShapeType="1"/>
          </p:cNvSpPr>
          <p:nvPr/>
        </p:nvSpPr>
        <p:spPr bwMode="auto">
          <a:xfrm flipV="1">
            <a:off x="949300" y="4645034"/>
            <a:ext cx="0" cy="3810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" name="Group 257"/>
          <p:cNvGrpSpPr>
            <a:grpSpLocks/>
          </p:cNvGrpSpPr>
          <p:nvPr/>
        </p:nvGrpSpPr>
        <p:grpSpPr bwMode="auto">
          <a:xfrm>
            <a:off x="395262" y="3641734"/>
            <a:ext cx="8542338" cy="1225550"/>
            <a:chOff x="192" y="2226"/>
            <a:chExt cx="5381" cy="772"/>
          </a:xfrm>
        </p:grpSpPr>
        <p:grpSp>
          <p:nvGrpSpPr>
            <p:cNvPr id="11" name="Group 258"/>
            <p:cNvGrpSpPr>
              <a:grpSpLocks/>
            </p:cNvGrpSpPr>
            <p:nvPr/>
          </p:nvGrpSpPr>
          <p:grpSpPr bwMode="auto">
            <a:xfrm>
              <a:off x="541" y="2226"/>
              <a:ext cx="2400" cy="544"/>
              <a:chOff x="541" y="2112"/>
              <a:chExt cx="2400" cy="544"/>
            </a:xfrm>
          </p:grpSpPr>
          <p:sp>
            <p:nvSpPr>
              <p:cNvPr id="75" name="Line 259"/>
              <p:cNvSpPr>
                <a:spLocks noChangeShapeType="1"/>
              </p:cNvSpPr>
              <p:nvPr/>
            </p:nvSpPr>
            <p:spPr bwMode="auto">
              <a:xfrm flipV="1">
                <a:off x="541" y="2120"/>
                <a:ext cx="0" cy="536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Line 260"/>
              <p:cNvSpPr>
                <a:spLocks noChangeShapeType="1"/>
              </p:cNvSpPr>
              <p:nvPr/>
            </p:nvSpPr>
            <p:spPr bwMode="auto">
              <a:xfrm flipV="1">
                <a:off x="2941" y="2112"/>
                <a:ext cx="0" cy="544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" name="Group 261"/>
            <p:cNvGrpSpPr>
              <a:grpSpLocks/>
            </p:cNvGrpSpPr>
            <p:nvPr/>
          </p:nvGrpSpPr>
          <p:grpSpPr bwMode="auto">
            <a:xfrm>
              <a:off x="192" y="2544"/>
              <a:ext cx="5381" cy="454"/>
              <a:chOff x="192" y="2444"/>
              <a:chExt cx="5381" cy="454"/>
            </a:xfrm>
          </p:grpSpPr>
          <p:sp>
            <p:nvSpPr>
              <p:cNvPr id="13" name="Rectangle 262"/>
              <p:cNvSpPr>
                <a:spLocks noChangeArrowheads="1"/>
              </p:cNvSpPr>
              <p:nvPr/>
            </p:nvSpPr>
            <p:spPr bwMode="auto">
              <a:xfrm>
                <a:off x="192" y="2688"/>
                <a:ext cx="31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Clk</a:t>
                </a:r>
              </a:p>
            </p:txBody>
          </p:sp>
          <p:sp>
            <p:nvSpPr>
              <p:cNvPr id="14" name="Line 263"/>
              <p:cNvSpPr>
                <a:spLocks noChangeShapeType="1"/>
              </p:cNvSpPr>
              <p:nvPr/>
            </p:nvSpPr>
            <p:spPr bwMode="auto">
              <a:xfrm>
                <a:off x="5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Line 264"/>
              <p:cNvSpPr>
                <a:spLocks noChangeShapeType="1"/>
              </p:cNvSpPr>
              <p:nvPr/>
            </p:nvSpPr>
            <p:spPr bwMode="auto">
              <a:xfrm>
                <a:off x="5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265"/>
              <p:cNvSpPr>
                <a:spLocks noChangeShapeType="1"/>
              </p:cNvSpPr>
              <p:nvPr/>
            </p:nvSpPr>
            <p:spPr bwMode="auto">
              <a:xfrm flipV="1">
                <a:off x="7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Line 266"/>
              <p:cNvSpPr>
                <a:spLocks noChangeShapeType="1"/>
              </p:cNvSpPr>
              <p:nvPr/>
            </p:nvSpPr>
            <p:spPr bwMode="auto">
              <a:xfrm>
                <a:off x="7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Line 267"/>
              <p:cNvSpPr>
                <a:spLocks noChangeShapeType="1"/>
              </p:cNvSpPr>
              <p:nvPr/>
            </p:nvSpPr>
            <p:spPr bwMode="auto">
              <a:xfrm>
                <a:off x="10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268"/>
              <p:cNvSpPr>
                <a:spLocks noChangeShapeType="1"/>
              </p:cNvSpPr>
              <p:nvPr/>
            </p:nvSpPr>
            <p:spPr bwMode="auto">
              <a:xfrm>
                <a:off x="3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Rectangle 269"/>
              <p:cNvSpPr>
                <a:spLocks noChangeArrowheads="1"/>
              </p:cNvSpPr>
              <p:nvPr/>
            </p:nvSpPr>
            <p:spPr bwMode="auto">
              <a:xfrm>
                <a:off x="52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1</a:t>
                </a:r>
              </a:p>
            </p:txBody>
          </p:sp>
          <p:sp>
            <p:nvSpPr>
              <p:cNvPr id="21" name="Line 270"/>
              <p:cNvSpPr>
                <a:spLocks noChangeShapeType="1"/>
              </p:cNvSpPr>
              <p:nvPr/>
            </p:nvSpPr>
            <p:spPr bwMode="auto">
              <a:xfrm>
                <a:off x="10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71"/>
              <p:cNvSpPr>
                <a:spLocks noChangeShapeType="1"/>
              </p:cNvSpPr>
              <p:nvPr/>
            </p:nvSpPr>
            <p:spPr bwMode="auto">
              <a:xfrm flipV="1">
                <a:off x="12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72"/>
              <p:cNvSpPr>
                <a:spLocks noChangeShapeType="1"/>
              </p:cNvSpPr>
              <p:nvPr/>
            </p:nvSpPr>
            <p:spPr bwMode="auto">
              <a:xfrm>
                <a:off x="12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73"/>
              <p:cNvSpPr>
                <a:spLocks noChangeShapeType="1"/>
              </p:cNvSpPr>
              <p:nvPr/>
            </p:nvSpPr>
            <p:spPr bwMode="auto">
              <a:xfrm>
                <a:off x="15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274"/>
              <p:cNvSpPr>
                <a:spLocks noChangeShapeType="1"/>
              </p:cNvSpPr>
              <p:nvPr/>
            </p:nvSpPr>
            <p:spPr bwMode="auto">
              <a:xfrm flipV="1">
                <a:off x="10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Rectangle 275"/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2</a:t>
                </a:r>
              </a:p>
            </p:txBody>
          </p:sp>
          <p:sp>
            <p:nvSpPr>
              <p:cNvPr id="27" name="Line 276"/>
              <p:cNvSpPr>
                <a:spLocks noChangeShapeType="1"/>
              </p:cNvSpPr>
              <p:nvPr/>
            </p:nvSpPr>
            <p:spPr bwMode="auto">
              <a:xfrm>
                <a:off x="15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Line 277"/>
              <p:cNvSpPr>
                <a:spLocks noChangeShapeType="1"/>
              </p:cNvSpPr>
              <p:nvPr/>
            </p:nvSpPr>
            <p:spPr bwMode="auto">
              <a:xfrm flipV="1">
                <a:off x="17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Line 278"/>
              <p:cNvSpPr>
                <a:spLocks noChangeShapeType="1"/>
              </p:cNvSpPr>
              <p:nvPr/>
            </p:nvSpPr>
            <p:spPr bwMode="auto">
              <a:xfrm>
                <a:off x="17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Line 279"/>
              <p:cNvSpPr>
                <a:spLocks noChangeShapeType="1"/>
              </p:cNvSpPr>
              <p:nvPr/>
            </p:nvSpPr>
            <p:spPr bwMode="auto">
              <a:xfrm>
                <a:off x="19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Line 280"/>
              <p:cNvSpPr>
                <a:spLocks noChangeShapeType="1"/>
              </p:cNvSpPr>
              <p:nvPr/>
            </p:nvSpPr>
            <p:spPr bwMode="auto">
              <a:xfrm flipV="1">
                <a:off x="15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Rectangle 281"/>
              <p:cNvSpPr>
                <a:spLocks noChangeArrowheads="1"/>
              </p:cNvSpPr>
              <p:nvPr/>
            </p:nvSpPr>
            <p:spPr bwMode="auto">
              <a:xfrm>
                <a:off x="148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3</a:t>
                </a:r>
              </a:p>
            </p:txBody>
          </p:sp>
          <p:sp>
            <p:nvSpPr>
              <p:cNvPr id="33" name="Line 282"/>
              <p:cNvSpPr>
                <a:spLocks noChangeShapeType="1"/>
              </p:cNvSpPr>
              <p:nvPr/>
            </p:nvSpPr>
            <p:spPr bwMode="auto">
              <a:xfrm>
                <a:off x="19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Line 283"/>
              <p:cNvSpPr>
                <a:spLocks noChangeShapeType="1"/>
              </p:cNvSpPr>
              <p:nvPr/>
            </p:nvSpPr>
            <p:spPr bwMode="auto">
              <a:xfrm flipV="1">
                <a:off x="22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Line 284"/>
              <p:cNvSpPr>
                <a:spLocks noChangeShapeType="1"/>
              </p:cNvSpPr>
              <p:nvPr/>
            </p:nvSpPr>
            <p:spPr bwMode="auto">
              <a:xfrm>
                <a:off x="22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Line 285"/>
              <p:cNvSpPr>
                <a:spLocks noChangeShapeType="1"/>
              </p:cNvSpPr>
              <p:nvPr/>
            </p:nvSpPr>
            <p:spPr bwMode="auto">
              <a:xfrm>
                <a:off x="24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Line 286"/>
              <p:cNvSpPr>
                <a:spLocks noChangeShapeType="1"/>
              </p:cNvSpPr>
              <p:nvPr/>
            </p:nvSpPr>
            <p:spPr bwMode="auto">
              <a:xfrm flipV="1">
                <a:off x="19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Rectangle 287"/>
              <p:cNvSpPr>
                <a:spLocks noChangeArrowheads="1"/>
              </p:cNvSpPr>
              <p:nvPr/>
            </p:nvSpPr>
            <p:spPr bwMode="auto">
              <a:xfrm>
                <a:off x="196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4</a:t>
                </a:r>
              </a:p>
            </p:txBody>
          </p:sp>
          <p:sp>
            <p:nvSpPr>
              <p:cNvPr id="39" name="Line 288"/>
              <p:cNvSpPr>
                <a:spLocks noChangeShapeType="1"/>
              </p:cNvSpPr>
              <p:nvPr/>
            </p:nvSpPr>
            <p:spPr bwMode="auto">
              <a:xfrm>
                <a:off x="24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Line 289"/>
              <p:cNvSpPr>
                <a:spLocks noChangeShapeType="1"/>
              </p:cNvSpPr>
              <p:nvPr/>
            </p:nvSpPr>
            <p:spPr bwMode="auto">
              <a:xfrm flipV="1">
                <a:off x="27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290"/>
              <p:cNvSpPr>
                <a:spLocks noChangeShapeType="1"/>
              </p:cNvSpPr>
              <p:nvPr/>
            </p:nvSpPr>
            <p:spPr bwMode="auto">
              <a:xfrm>
                <a:off x="27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291"/>
              <p:cNvSpPr>
                <a:spLocks noChangeShapeType="1"/>
              </p:cNvSpPr>
              <p:nvPr/>
            </p:nvSpPr>
            <p:spPr bwMode="auto">
              <a:xfrm>
                <a:off x="29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292"/>
              <p:cNvSpPr>
                <a:spLocks noChangeShapeType="1"/>
              </p:cNvSpPr>
              <p:nvPr/>
            </p:nvSpPr>
            <p:spPr bwMode="auto">
              <a:xfrm flipV="1">
                <a:off x="24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Rectangle 293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5</a:t>
                </a:r>
              </a:p>
            </p:txBody>
          </p:sp>
          <p:sp>
            <p:nvSpPr>
              <p:cNvPr id="45" name="Line 294"/>
              <p:cNvSpPr>
                <a:spLocks noChangeShapeType="1"/>
              </p:cNvSpPr>
              <p:nvPr/>
            </p:nvSpPr>
            <p:spPr bwMode="auto">
              <a:xfrm>
                <a:off x="29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Line 295"/>
              <p:cNvSpPr>
                <a:spLocks noChangeShapeType="1"/>
              </p:cNvSpPr>
              <p:nvPr/>
            </p:nvSpPr>
            <p:spPr bwMode="auto">
              <a:xfrm flipV="1">
                <a:off x="31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Line 296"/>
              <p:cNvSpPr>
                <a:spLocks noChangeShapeType="1"/>
              </p:cNvSpPr>
              <p:nvPr/>
            </p:nvSpPr>
            <p:spPr bwMode="auto">
              <a:xfrm>
                <a:off x="31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8" name="Line 297"/>
              <p:cNvSpPr>
                <a:spLocks noChangeShapeType="1"/>
              </p:cNvSpPr>
              <p:nvPr/>
            </p:nvSpPr>
            <p:spPr bwMode="auto">
              <a:xfrm>
                <a:off x="34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9" name="Rectangle 298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dirty="0"/>
                  <a:t>Cycle 6</a:t>
                </a:r>
              </a:p>
            </p:txBody>
          </p:sp>
          <p:sp>
            <p:nvSpPr>
              <p:cNvPr id="50" name="Line 299"/>
              <p:cNvSpPr>
                <a:spLocks noChangeShapeType="1"/>
              </p:cNvSpPr>
              <p:nvPr/>
            </p:nvSpPr>
            <p:spPr bwMode="auto">
              <a:xfrm>
                <a:off x="34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Line 300"/>
              <p:cNvSpPr>
                <a:spLocks noChangeShapeType="1"/>
              </p:cNvSpPr>
              <p:nvPr/>
            </p:nvSpPr>
            <p:spPr bwMode="auto">
              <a:xfrm flipV="1">
                <a:off x="36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Line 301"/>
              <p:cNvSpPr>
                <a:spLocks noChangeShapeType="1"/>
              </p:cNvSpPr>
              <p:nvPr/>
            </p:nvSpPr>
            <p:spPr bwMode="auto">
              <a:xfrm>
                <a:off x="36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Line 302"/>
              <p:cNvSpPr>
                <a:spLocks noChangeShapeType="1"/>
              </p:cNvSpPr>
              <p:nvPr/>
            </p:nvSpPr>
            <p:spPr bwMode="auto">
              <a:xfrm>
                <a:off x="39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Line 303"/>
              <p:cNvSpPr>
                <a:spLocks noChangeShapeType="1"/>
              </p:cNvSpPr>
              <p:nvPr/>
            </p:nvSpPr>
            <p:spPr bwMode="auto">
              <a:xfrm flipV="1">
                <a:off x="34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Rectangle 304"/>
              <p:cNvSpPr>
                <a:spLocks noChangeArrowheads="1"/>
              </p:cNvSpPr>
              <p:nvPr/>
            </p:nvSpPr>
            <p:spPr bwMode="auto">
              <a:xfrm>
                <a:off x="340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7</a:t>
                </a:r>
              </a:p>
            </p:txBody>
          </p:sp>
          <p:sp>
            <p:nvSpPr>
              <p:cNvPr id="56" name="Line 305"/>
              <p:cNvSpPr>
                <a:spLocks noChangeShapeType="1"/>
              </p:cNvSpPr>
              <p:nvPr/>
            </p:nvSpPr>
            <p:spPr bwMode="auto">
              <a:xfrm>
                <a:off x="39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Line 306"/>
              <p:cNvSpPr>
                <a:spLocks noChangeShapeType="1"/>
              </p:cNvSpPr>
              <p:nvPr/>
            </p:nvSpPr>
            <p:spPr bwMode="auto">
              <a:xfrm flipV="1">
                <a:off x="41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307"/>
              <p:cNvSpPr>
                <a:spLocks noChangeShapeType="1"/>
              </p:cNvSpPr>
              <p:nvPr/>
            </p:nvSpPr>
            <p:spPr bwMode="auto">
              <a:xfrm>
                <a:off x="41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308"/>
              <p:cNvSpPr>
                <a:spLocks noChangeShapeType="1"/>
              </p:cNvSpPr>
              <p:nvPr/>
            </p:nvSpPr>
            <p:spPr bwMode="auto">
              <a:xfrm>
                <a:off x="43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0" name="Line 309"/>
              <p:cNvSpPr>
                <a:spLocks noChangeShapeType="1"/>
              </p:cNvSpPr>
              <p:nvPr/>
            </p:nvSpPr>
            <p:spPr bwMode="auto">
              <a:xfrm flipV="1">
                <a:off x="39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" name="Rectangle 310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8</a:t>
                </a:r>
              </a:p>
            </p:txBody>
          </p:sp>
          <p:sp>
            <p:nvSpPr>
              <p:cNvPr id="62" name="Line 311"/>
              <p:cNvSpPr>
                <a:spLocks noChangeShapeType="1"/>
              </p:cNvSpPr>
              <p:nvPr/>
            </p:nvSpPr>
            <p:spPr bwMode="auto">
              <a:xfrm>
                <a:off x="43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312"/>
              <p:cNvSpPr>
                <a:spLocks noChangeShapeType="1"/>
              </p:cNvSpPr>
              <p:nvPr/>
            </p:nvSpPr>
            <p:spPr bwMode="auto">
              <a:xfrm flipV="1">
                <a:off x="46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313"/>
              <p:cNvSpPr>
                <a:spLocks noChangeShapeType="1"/>
              </p:cNvSpPr>
              <p:nvPr/>
            </p:nvSpPr>
            <p:spPr bwMode="auto">
              <a:xfrm>
                <a:off x="46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314"/>
              <p:cNvSpPr>
                <a:spLocks noChangeShapeType="1"/>
              </p:cNvSpPr>
              <p:nvPr/>
            </p:nvSpPr>
            <p:spPr bwMode="auto">
              <a:xfrm>
                <a:off x="48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315"/>
              <p:cNvSpPr>
                <a:spLocks noChangeShapeType="1"/>
              </p:cNvSpPr>
              <p:nvPr/>
            </p:nvSpPr>
            <p:spPr bwMode="auto">
              <a:xfrm flipV="1">
                <a:off x="43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Rectangle 316"/>
              <p:cNvSpPr>
                <a:spLocks noChangeArrowheads="1"/>
              </p:cNvSpPr>
              <p:nvPr/>
            </p:nvSpPr>
            <p:spPr bwMode="auto">
              <a:xfrm>
                <a:off x="436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9</a:t>
                </a:r>
              </a:p>
            </p:txBody>
          </p:sp>
          <p:sp>
            <p:nvSpPr>
              <p:cNvPr id="68" name="Line 317"/>
              <p:cNvSpPr>
                <a:spLocks noChangeShapeType="1"/>
              </p:cNvSpPr>
              <p:nvPr/>
            </p:nvSpPr>
            <p:spPr bwMode="auto">
              <a:xfrm>
                <a:off x="48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9" name="Line 318"/>
              <p:cNvSpPr>
                <a:spLocks noChangeShapeType="1"/>
              </p:cNvSpPr>
              <p:nvPr/>
            </p:nvSpPr>
            <p:spPr bwMode="auto">
              <a:xfrm flipV="1">
                <a:off x="51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319"/>
              <p:cNvSpPr>
                <a:spLocks noChangeShapeType="1"/>
              </p:cNvSpPr>
              <p:nvPr/>
            </p:nvSpPr>
            <p:spPr bwMode="auto">
              <a:xfrm>
                <a:off x="51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Line 320"/>
              <p:cNvSpPr>
                <a:spLocks noChangeShapeType="1"/>
              </p:cNvSpPr>
              <p:nvPr/>
            </p:nvSpPr>
            <p:spPr bwMode="auto">
              <a:xfrm>
                <a:off x="53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Line 321"/>
              <p:cNvSpPr>
                <a:spLocks noChangeShapeType="1"/>
              </p:cNvSpPr>
              <p:nvPr/>
            </p:nvSpPr>
            <p:spPr bwMode="auto">
              <a:xfrm flipV="1">
                <a:off x="48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Rectangle 322"/>
              <p:cNvSpPr>
                <a:spLocks noChangeArrowheads="1"/>
              </p:cNvSpPr>
              <p:nvPr/>
            </p:nvSpPr>
            <p:spPr bwMode="auto">
              <a:xfrm>
                <a:off x="4800" y="2448"/>
                <a:ext cx="58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10</a:t>
                </a:r>
              </a:p>
            </p:txBody>
          </p:sp>
          <p:sp>
            <p:nvSpPr>
              <p:cNvPr id="74" name="Line 323"/>
              <p:cNvSpPr>
                <a:spLocks noChangeShapeType="1"/>
              </p:cNvSpPr>
              <p:nvPr/>
            </p:nvSpPr>
            <p:spPr bwMode="auto">
              <a:xfrm>
                <a:off x="53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77" name="Rectangle 324"/>
          <p:cNvSpPr>
            <a:spLocks noChangeArrowheads="1"/>
          </p:cNvSpPr>
          <p:nvPr/>
        </p:nvSpPr>
        <p:spPr bwMode="auto">
          <a:xfrm>
            <a:off x="357158" y="3143248"/>
            <a:ext cx="51816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zh-CN" sz="1800" i="1" u="sng" dirty="0" err="1">
                <a:solidFill>
                  <a:srgbClr val="FF0000"/>
                </a:solidFill>
                <a:latin typeface="Arial" charset="0"/>
              </a:rPr>
              <a:t>Multip</a:t>
            </a:r>
            <a:r>
              <a:rPr lang="en-US" altLang="zh-CN" sz="1800" i="1" u="sng" dirty="0">
                <a:solidFill>
                  <a:srgbClr val="FF0000"/>
                </a:solidFill>
                <a:latin typeface="Arial" charset="0"/>
              </a:rPr>
              <a:t>-Cycle Implementation:</a:t>
            </a:r>
            <a:r>
              <a:rPr lang="en-US" altLang="zh-CN" sz="1800" i="1" dirty="0">
                <a:solidFill>
                  <a:srgbClr val="FF0000"/>
                </a:solidFill>
                <a:latin typeface="Arial" charset="0"/>
              </a:rPr>
              <a:t>     </a:t>
            </a:r>
            <a:r>
              <a:rPr lang="en-US" altLang="zh-CN" sz="1800" dirty="0">
                <a:solidFill>
                  <a:srgbClr val="FF3300"/>
                </a:solidFill>
                <a:latin typeface="Comic Sans MS" pitchFamily="66" charset="0"/>
              </a:rPr>
              <a:t>CPI=5,   </a:t>
            </a:r>
            <a:r>
              <a:rPr lang="en-US" altLang="zh-CN" sz="1800" i="1" u="sng" dirty="0">
                <a:solidFill>
                  <a:schemeClr val="accent2"/>
                </a:solidFill>
                <a:latin typeface="Arial" charset="0"/>
              </a:rPr>
              <a:t> </a:t>
            </a:r>
            <a:endParaRPr lang="en-US" altLang="zh-CN" sz="1800" i="1" u="sng" dirty="0">
              <a:solidFill>
                <a:srgbClr val="000099"/>
              </a:solidFill>
              <a:latin typeface="Arial" charset="0"/>
            </a:endParaRPr>
          </a:p>
        </p:txBody>
      </p:sp>
      <p:grpSp>
        <p:nvGrpSpPr>
          <p:cNvPr id="78" name="Group 411"/>
          <p:cNvGrpSpPr>
            <a:grpSpLocks/>
          </p:cNvGrpSpPr>
          <p:nvPr/>
        </p:nvGrpSpPr>
        <p:grpSpPr bwMode="auto">
          <a:xfrm>
            <a:off x="960412" y="5013334"/>
            <a:ext cx="7602538" cy="333375"/>
            <a:chOff x="548" y="1824"/>
            <a:chExt cx="4789" cy="210"/>
          </a:xfrm>
        </p:grpSpPr>
        <p:grpSp>
          <p:nvGrpSpPr>
            <p:cNvPr id="79" name="Group 379"/>
            <p:cNvGrpSpPr>
              <a:grpSpLocks/>
            </p:cNvGrpSpPr>
            <p:nvPr/>
          </p:nvGrpSpPr>
          <p:grpSpPr bwMode="auto">
            <a:xfrm>
              <a:off x="548" y="1824"/>
              <a:ext cx="2384" cy="210"/>
              <a:chOff x="1496" y="3836"/>
              <a:chExt cx="2384" cy="210"/>
            </a:xfrm>
          </p:grpSpPr>
          <p:grpSp>
            <p:nvGrpSpPr>
              <p:cNvPr id="96" name="Group 380"/>
              <p:cNvGrpSpPr>
                <a:grpSpLocks/>
              </p:cNvGrpSpPr>
              <p:nvPr/>
            </p:nvGrpSpPr>
            <p:grpSpPr bwMode="auto">
              <a:xfrm>
                <a:off x="1496" y="3836"/>
                <a:ext cx="464" cy="210"/>
                <a:chOff x="1496" y="3836"/>
                <a:chExt cx="464" cy="210"/>
              </a:xfrm>
            </p:grpSpPr>
            <p:sp>
              <p:nvSpPr>
                <p:cNvPr id="109" name="Rectangle 381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0" name="Rectangle 382"/>
                <p:cNvSpPr>
                  <a:spLocks noChangeArrowheads="1"/>
                </p:cNvSpPr>
                <p:nvPr/>
              </p:nvSpPr>
              <p:spPr bwMode="auto">
                <a:xfrm>
                  <a:off x="1523" y="3836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97" name="Group 383"/>
              <p:cNvGrpSpPr>
                <a:grpSpLocks/>
              </p:cNvGrpSpPr>
              <p:nvPr/>
            </p:nvGrpSpPr>
            <p:grpSpPr bwMode="auto">
              <a:xfrm>
                <a:off x="1976" y="3836"/>
                <a:ext cx="464" cy="210"/>
                <a:chOff x="1976" y="3836"/>
                <a:chExt cx="464" cy="210"/>
              </a:xfrm>
            </p:grpSpPr>
            <p:sp>
              <p:nvSpPr>
                <p:cNvPr id="107" name="Rectangle 384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8" name="Rectangle 385"/>
                <p:cNvSpPr>
                  <a:spLocks noChangeArrowheads="1"/>
                </p:cNvSpPr>
                <p:nvPr/>
              </p:nvSpPr>
              <p:spPr bwMode="auto">
                <a:xfrm>
                  <a:off x="2051" y="3836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98" name="Group 386"/>
              <p:cNvGrpSpPr>
                <a:grpSpLocks/>
              </p:cNvGrpSpPr>
              <p:nvPr/>
            </p:nvGrpSpPr>
            <p:grpSpPr bwMode="auto">
              <a:xfrm>
                <a:off x="2456" y="3836"/>
                <a:ext cx="464" cy="210"/>
                <a:chOff x="2456" y="3836"/>
                <a:chExt cx="464" cy="210"/>
              </a:xfrm>
            </p:grpSpPr>
            <p:sp>
              <p:nvSpPr>
                <p:cNvPr id="105" name="Rectangle 387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6" name="Rectangle 388"/>
                <p:cNvSpPr>
                  <a:spLocks noChangeArrowheads="1"/>
                </p:cNvSpPr>
                <p:nvPr/>
              </p:nvSpPr>
              <p:spPr bwMode="auto">
                <a:xfrm>
                  <a:off x="2483" y="3836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99" name="Group 389"/>
              <p:cNvGrpSpPr>
                <a:grpSpLocks/>
              </p:cNvGrpSpPr>
              <p:nvPr/>
            </p:nvGrpSpPr>
            <p:grpSpPr bwMode="auto">
              <a:xfrm>
                <a:off x="2936" y="3836"/>
                <a:ext cx="468" cy="210"/>
                <a:chOff x="2936" y="3836"/>
                <a:chExt cx="468" cy="210"/>
              </a:xfrm>
            </p:grpSpPr>
            <p:sp>
              <p:nvSpPr>
                <p:cNvPr id="103" name="Rectangle 390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4" name="Rectangle 391"/>
                <p:cNvSpPr>
                  <a:spLocks noChangeArrowheads="1"/>
                </p:cNvSpPr>
                <p:nvPr/>
              </p:nvSpPr>
              <p:spPr bwMode="auto">
                <a:xfrm>
                  <a:off x="2963" y="3836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100" name="Group 392"/>
              <p:cNvGrpSpPr>
                <a:grpSpLocks/>
              </p:cNvGrpSpPr>
              <p:nvPr/>
            </p:nvGrpSpPr>
            <p:grpSpPr bwMode="auto">
              <a:xfrm>
                <a:off x="3416" y="3836"/>
                <a:ext cx="464" cy="210"/>
                <a:chOff x="3416" y="3836"/>
                <a:chExt cx="464" cy="210"/>
              </a:xfrm>
            </p:grpSpPr>
            <p:sp>
              <p:nvSpPr>
                <p:cNvPr id="101" name="Rectangle 393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" name="Rectangle 394"/>
                <p:cNvSpPr>
                  <a:spLocks noChangeArrowheads="1"/>
                </p:cNvSpPr>
                <p:nvPr/>
              </p:nvSpPr>
              <p:spPr bwMode="auto">
                <a:xfrm>
                  <a:off x="3491" y="3836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  <p:grpSp>
          <p:nvGrpSpPr>
            <p:cNvPr id="80" name="Group 395"/>
            <p:cNvGrpSpPr>
              <a:grpSpLocks/>
            </p:cNvGrpSpPr>
            <p:nvPr/>
          </p:nvGrpSpPr>
          <p:grpSpPr bwMode="auto">
            <a:xfrm>
              <a:off x="2953" y="1824"/>
              <a:ext cx="2384" cy="210"/>
              <a:chOff x="1496" y="3836"/>
              <a:chExt cx="2384" cy="210"/>
            </a:xfrm>
          </p:grpSpPr>
          <p:grpSp>
            <p:nvGrpSpPr>
              <p:cNvPr id="81" name="Group 396"/>
              <p:cNvGrpSpPr>
                <a:grpSpLocks/>
              </p:cNvGrpSpPr>
              <p:nvPr/>
            </p:nvGrpSpPr>
            <p:grpSpPr bwMode="auto">
              <a:xfrm>
                <a:off x="1496" y="3836"/>
                <a:ext cx="464" cy="210"/>
                <a:chOff x="1496" y="3836"/>
                <a:chExt cx="464" cy="210"/>
              </a:xfrm>
            </p:grpSpPr>
            <p:sp>
              <p:nvSpPr>
                <p:cNvPr id="94" name="Rectangle 397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5" name="Rectangle 398"/>
                <p:cNvSpPr>
                  <a:spLocks noChangeArrowheads="1"/>
                </p:cNvSpPr>
                <p:nvPr/>
              </p:nvSpPr>
              <p:spPr bwMode="auto">
                <a:xfrm>
                  <a:off x="1523" y="3836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82" name="Group 399"/>
              <p:cNvGrpSpPr>
                <a:grpSpLocks/>
              </p:cNvGrpSpPr>
              <p:nvPr/>
            </p:nvGrpSpPr>
            <p:grpSpPr bwMode="auto">
              <a:xfrm>
                <a:off x="1976" y="3836"/>
                <a:ext cx="464" cy="210"/>
                <a:chOff x="1976" y="3836"/>
                <a:chExt cx="464" cy="210"/>
              </a:xfrm>
            </p:grpSpPr>
            <p:sp>
              <p:nvSpPr>
                <p:cNvPr id="92" name="Rectangle 400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Rectangle 401"/>
                <p:cNvSpPr>
                  <a:spLocks noChangeArrowheads="1"/>
                </p:cNvSpPr>
                <p:nvPr/>
              </p:nvSpPr>
              <p:spPr bwMode="auto">
                <a:xfrm>
                  <a:off x="2051" y="3836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83" name="Group 402"/>
              <p:cNvGrpSpPr>
                <a:grpSpLocks/>
              </p:cNvGrpSpPr>
              <p:nvPr/>
            </p:nvGrpSpPr>
            <p:grpSpPr bwMode="auto">
              <a:xfrm>
                <a:off x="2456" y="3836"/>
                <a:ext cx="464" cy="210"/>
                <a:chOff x="2456" y="3836"/>
                <a:chExt cx="464" cy="210"/>
              </a:xfrm>
            </p:grpSpPr>
            <p:sp>
              <p:nvSpPr>
                <p:cNvPr id="90" name="Rectangle 403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Rectangle 404"/>
                <p:cNvSpPr>
                  <a:spLocks noChangeArrowheads="1"/>
                </p:cNvSpPr>
                <p:nvPr/>
              </p:nvSpPr>
              <p:spPr bwMode="auto">
                <a:xfrm>
                  <a:off x="2483" y="3836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84" name="Group 405"/>
              <p:cNvGrpSpPr>
                <a:grpSpLocks/>
              </p:cNvGrpSpPr>
              <p:nvPr/>
            </p:nvGrpSpPr>
            <p:grpSpPr bwMode="auto">
              <a:xfrm>
                <a:off x="2936" y="3836"/>
                <a:ext cx="468" cy="210"/>
                <a:chOff x="2936" y="3836"/>
                <a:chExt cx="468" cy="210"/>
              </a:xfrm>
            </p:grpSpPr>
            <p:sp>
              <p:nvSpPr>
                <p:cNvPr id="88" name="Rectangle 406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Rectangle 407"/>
                <p:cNvSpPr>
                  <a:spLocks noChangeArrowheads="1"/>
                </p:cNvSpPr>
                <p:nvPr/>
              </p:nvSpPr>
              <p:spPr bwMode="auto">
                <a:xfrm>
                  <a:off x="2963" y="3836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85" name="Group 408"/>
              <p:cNvGrpSpPr>
                <a:grpSpLocks/>
              </p:cNvGrpSpPr>
              <p:nvPr/>
            </p:nvGrpSpPr>
            <p:grpSpPr bwMode="auto">
              <a:xfrm>
                <a:off x="3416" y="3836"/>
                <a:ext cx="464" cy="210"/>
                <a:chOff x="3416" y="3836"/>
                <a:chExt cx="464" cy="210"/>
              </a:xfrm>
            </p:grpSpPr>
            <p:sp>
              <p:nvSpPr>
                <p:cNvPr id="86" name="Rectangle 409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Rectangle 410"/>
                <p:cNvSpPr>
                  <a:spLocks noChangeArrowheads="1"/>
                </p:cNvSpPr>
                <p:nvPr/>
              </p:nvSpPr>
              <p:spPr bwMode="auto">
                <a:xfrm>
                  <a:off x="3491" y="3836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</p:grpSp>
      <p:sp>
        <p:nvSpPr>
          <p:cNvPr id="111" name="TextBox 110"/>
          <p:cNvSpPr txBox="1"/>
          <p:nvPr/>
        </p:nvSpPr>
        <p:spPr>
          <a:xfrm>
            <a:off x="1571604" y="6143644"/>
            <a:ext cx="6858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1" dirty="0" smtClean="0">
                <a:solidFill>
                  <a:srgbClr val="7030A0"/>
                </a:solidFill>
              </a:rPr>
              <a:t>（非流水线单周期指令系统实现不介绍）</a:t>
            </a:r>
            <a:endParaRPr lang="zh-CN" altLang="en-US" sz="2800" b="1" i="1" dirty="0">
              <a:solidFill>
                <a:srgbClr val="7030A0"/>
              </a:solidFill>
            </a:endParaRPr>
          </a:p>
        </p:txBody>
      </p:sp>
      <p:sp>
        <p:nvSpPr>
          <p:cNvPr id="112" name="灯片编号占位符 1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67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3600" b="1" dirty="0" smtClean="0"/>
              <a:t>多周期实现</a:t>
            </a:r>
            <a:r>
              <a:rPr lang="en-US" altLang="zh-CN" sz="3600" b="1" dirty="0" smtClean="0"/>
              <a:t/>
            </a:r>
            <a:br>
              <a:rPr lang="en-US" altLang="zh-CN" sz="3600" b="1" dirty="0" smtClean="0"/>
            </a:br>
            <a:r>
              <a:rPr lang="en-US" altLang="zh-CN" sz="2800" b="1" dirty="0" smtClean="0"/>
              <a:t>Multi-cycle </a:t>
            </a:r>
            <a:r>
              <a:rPr lang="en-US" altLang="zh-CN" sz="2800" b="1" dirty="0"/>
              <a:t>implementation</a:t>
            </a:r>
          </a:p>
        </p:txBody>
      </p:sp>
      <p:pic>
        <p:nvPicPr>
          <p:cNvPr id="35847" name="Picture 7" descr="E:\English_arch\611\chap3_1.files\chap3_1-2new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5344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接连接符 3"/>
          <p:cNvCxnSpPr/>
          <p:nvPr/>
        </p:nvCxnSpPr>
        <p:spPr>
          <a:xfrm>
            <a:off x="4499992" y="4509120"/>
            <a:ext cx="0" cy="64807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>
            <a:off x="4499992" y="5122452"/>
            <a:ext cx="241226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5536" y="6313825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</a:rPr>
              <a:t>例：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Load  r1, 10 ( r4 ) 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8E9B5D-EA94-4146-9C19-5CCA116D0503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85720" y="714356"/>
            <a:ext cx="8534400" cy="5143536"/>
          </a:xfrm>
        </p:spPr>
        <p:txBody>
          <a:bodyPr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Comic Sans MS" pitchFamily="66" charset="0"/>
              </a:rPr>
              <a:t>5</a:t>
            </a:r>
            <a:r>
              <a:rPr lang="zh-CN" altLang="en-US" b="1" dirty="0" smtClean="0">
                <a:latin typeface="Comic Sans MS" pitchFamily="66" charset="0"/>
              </a:rPr>
              <a:t>个周期</a:t>
            </a:r>
            <a:endParaRPr lang="en-US" altLang="zh-CN" b="1" dirty="0">
              <a:latin typeface="Comic Sans MS" pitchFamily="66" charset="0"/>
            </a:endParaRPr>
          </a:p>
          <a:p>
            <a:pPr lvl="1">
              <a:lnSpc>
                <a:spcPct val="160000"/>
              </a:lnSpc>
            </a:pPr>
            <a:r>
              <a:rPr lang="en-US" altLang="zh-CN" b="1" dirty="0">
                <a:solidFill>
                  <a:srgbClr val="FF3300"/>
                </a:solidFill>
                <a:latin typeface="Comic Sans MS" pitchFamily="66" charset="0"/>
              </a:rPr>
              <a:t>IF</a:t>
            </a:r>
            <a:r>
              <a:rPr lang="en-US" altLang="zh-CN" b="1" dirty="0">
                <a:latin typeface="Comic Sans MS" pitchFamily="66" charset="0"/>
              </a:rPr>
              <a:t>: Instruction fetch cycle</a:t>
            </a:r>
          </a:p>
          <a:p>
            <a:pPr lvl="2">
              <a:lnSpc>
                <a:spcPct val="160000"/>
              </a:lnSpc>
            </a:pPr>
            <a:r>
              <a:rPr lang="zh-CN" altLang="en-US" sz="2000" b="1" dirty="0" smtClean="0">
                <a:latin typeface="Comic Sans MS" pitchFamily="66" charset="0"/>
              </a:rPr>
              <a:t>按照</a:t>
            </a:r>
            <a:r>
              <a:rPr lang="en-US" altLang="zh-CN" sz="2000" b="1" dirty="0" smtClean="0">
                <a:latin typeface="Comic Sans MS" pitchFamily="66" charset="0"/>
              </a:rPr>
              <a:t> </a:t>
            </a:r>
            <a:r>
              <a:rPr lang="en-US" altLang="zh-CN" sz="2000" b="1" dirty="0">
                <a:latin typeface="Comic Sans MS" pitchFamily="66" charset="0"/>
              </a:rPr>
              <a:t>PC </a:t>
            </a:r>
            <a:r>
              <a:rPr lang="zh-CN" altLang="en-US" sz="2000" b="1" dirty="0" smtClean="0">
                <a:latin typeface="Comic Sans MS" pitchFamily="66" charset="0"/>
              </a:rPr>
              <a:t>内容访问指令存储器，取出指令</a:t>
            </a:r>
            <a:endParaRPr lang="en-US" altLang="zh-CN" sz="2000" b="1" dirty="0">
              <a:latin typeface="Comic Sans MS" pitchFamily="66" charset="0"/>
            </a:endParaRPr>
          </a:p>
          <a:p>
            <a:pPr lvl="2">
              <a:lnSpc>
                <a:spcPct val="160000"/>
              </a:lnSpc>
            </a:pPr>
            <a:r>
              <a:rPr lang="en-US" altLang="zh-CN" sz="2000" b="1" dirty="0" smtClean="0">
                <a:latin typeface="Comic Sans MS" pitchFamily="66" charset="0"/>
              </a:rPr>
              <a:t>PC+4</a:t>
            </a:r>
            <a:r>
              <a:rPr lang="en-US" altLang="zh-CN" sz="2000" b="1" dirty="0" smtClean="0">
                <a:latin typeface="宋体"/>
              </a:rPr>
              <a:t>→</a:t>
            </a:r>
            <a:r>
              <a:rPr lang="en-US" altLang="zh-CN" sz="2000" b="1" dirty="0" smtClean="0">
                <a:latin typeface="Comic Sans MS" pitchFamily="66" charset="0"/>
              </a:rPr>
              <a:t>NPC</a:t>
            </a:r>
            <a:r>
              <a:rPr lang="zh-CN" altLang="en-US" sz="2000" b="1" dirty="0" smtClean="0">
                <a:latin typeface="Comic Sans MS" pitchFamily="66" charset="0"/>
              </a:rPr>
              <a:t>，以获取下一条指令地址</a:t>
            </a:r>
            <a:endParaRPr lang="en-US" altLang="zh-CN" sz="2000" b="1" dirty="0">
              <a:latin typeface="Comic Sans MS" pitchFamily="66" charset="0"/>
            </a:endParaRPr>
          </a:p>
          <a:p>
            <a:pPr lvl="1">
              <a:lnSpc>
                <a:spcPct val="160000"/>
              </a:lnSpc>
            </a:pPr>
            <a:r>
              <a:rPr lang="en-US" altLang="zh-CN" b="1" dirty="0">
                <a:solidFill>
                  <a:srgbClr val="FF3300"/>
                </a:solidFill>
                <a:latin typeface="Comic Sans MS" pitchFamily="66" charset="0"/>
              </a:rPr>
              <a:t>ID</a:t>
            </a:r>
            <a:r>
              <a:rPr lang="en-US" altLang="zh-CN" b="1" dirty="0">
                <a:latin typeface="Comic Sans MS" pitchFamily="66" charset="0"/>
              </a:rPr>
              <a:t>: Instruction decode/ register fetch cycle</a:t>
            </a:r>
          </a:p>
          <a:p>
            <a:pPr lvl="2">
              <a:lnSpc>
                <a:spcPct val="160000"/>
              </a:lnSpc>
            </a:pPr>
            <a:r>
              <a:rPr lang="zh-CN" altLang="en-US" sz="2000" b="1" dirty="0" smtClean="0">
                <a:latin typeface="Comic Sans MS" pitchFamily="66" charset="0"/>
              </a:rPr>
              <a:t>指令译码</a:t>
            </a:r>
            <a:endParaRPr lang="en-US" altLang="zh-CN" sz="2000" b="1" dirty="0" smtClean="0">
              <a:latin typeface="Comic Sans MS" pitchFamily="66" charset="0"/>
            </a:endParaRPr>
          </a:p>
          <a:p>
            <a:pPr lvl="2">
              <a:lnSpc>
                <a:spcPct val="160000"/>
              </a:lnSpc>
            </a:pPr>
            <a:r>
              <a:rPr lang="zh-CN" altLang="en-US" sz="2000" b="1" dirty="0" smtClean="0">
                <a:latin typeface="Comic Sans MS" pitchFamily="66" charset="0"/>
              </a:rPr>
              <a:t>读寄存器</a:t>
            </a:r>
            <a:endParaRPr lang="en-US" altLang="zh-CN" sz="2000" b="1" dirty="0" smtClean="0">
              <a:latin typeface="Comic Sans MS" pitchFamily="66" charset="0"/>
            </a:endParaRPr>
          </a:p>
          <a:p>
            <a:pPr lvl="2">
              <a:lnSpc>
                <a:spcPct val="160000"/>
              </a:lnSpc>
            </a:pPr>
            <a:r>
              <a:rPr lang="zh-CN" altLang="en-US" sz="2000" b="1" dirty="0" smtClean="0">
                <a:latin typeface="Comic Sans MS" pitchFamily="66" charset="0"/>
              </a:rPr>
              <a:t>如果需要，符号扩展指令中的位移量</a:t>
            </a:r>
            <a:endParaRPr lang="en-US" altLang="zh-CN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93959B9-64A6-446F-8D23-ED50764932D0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785794"/>
            <a:ext cx="8229600" cy="5857916"/>
          </a:xfrm>
        </p:spPr>
        <p:txBody>
          <a:bodyPr>
            <a:normAutofit/>
          </a:bodyPr>
          <a:lstStyle/>
          <a:p>
            <a:pPr lvl="1">
              <a:lnSpc>
                <a:spcPts val="3500"/>
              </a:lnSpc>
            </a:pPr>
            <a:r>
              <a:rPr lang="en-US" altLang="zh-CN" dirty="0">
                <a:solidFill>
                  <a:srgbClr val="FF3300"/>
                </a:solidFill>
                <a:latin typeface="Comic Sans MS" pitchFamily="66" charset="0"/>
              </a:rPr>
              <a:t>EX</a:t>
            </a:r>
            <a:r>
              <a:rPr lang="en-US" altLang="zh-CN" dirty="0">
                <a:latin typeface="Comic Sans MS" pitchFamily="66" charset="0"/>
              </a:rPr>
              <a:t>: Execution/ effective address cycle </a:t>
            </a:r>
          </a:p>
          <a:p>
            <a:pPr lvl="2">
              <a:lnSpc>
                <a:spcPts val="3500"/>
              </a:lnSpc>
            </a:pPr>
            <a:r>
              <a:rPr lang="en-US" altLang="zh-CN" sz="2000" b="1" dirty="0" smtClean="0">
                <a:latin typeface="Comic Sans MS" pitchFamily="66" charset="0"/>
              </a:rPr>
              <a:t>Load/Store:</a:t>
            </a:r>
            <a:r>
              <a:rPr lang="en-US" altLang="zh-CN" sz="2000" dirty="0" smtClean="0">
                <a:latin typeface="Comic Sans MS" pitchFamily="66" charset="0"/>
              </a:rPr>
              <a:t> </a:t>
            </a:r>
            <a:r>
              <a:rPr lang="zh-CN" altLang="en-US" sz="2000" b="1" dirty="0" smtClean="0">
                <a:latin typeface="Comic Sans MS" pitchFamily="66" charset="0"/>
              </a:rPr>
              <a:t>计算数据存储器有效地址</a:t>
            </a:r>
            <a:endParaRPr lang="en-US" altLang="zh-CN" sz="2000" b="1" dirty="0">
              <a:latin typeface="Comic Sans MS" pitchFamily="66" charset="0"/>
            </a:endParaRPr>
          </a:p>
          <a:p>
            <a:pPr lvl="2">
              <a:lnSpc>
                <a:spcPts val="3500"/>
              </a:lnSpc>
            </a:pPr>
            <a:r>
              <a:rPr lang="en-US" altLang="zh-CN" sz="2000" b="1" dirty="0">
                <a:latin typeface="Comic Sans MS" pitchFamily="66" charset="0"/>
              </a:rPr>
              <a:t>R-R/ R-I  ALU:</a:t>
            </a:r>
            <a:r>
              <a:rPr lang="en-US" altLang="zh-CN" sz="2000" dirty="0">
                <a:latin typeface="Comic Sans MS" pitchFamily="66" charset="0"/>
              </a:rPr>
              <a:t> </a:t>
            </a:r>
            <a:r>
              <a:rPr lang="zh-CN" altLang="en-US" sz="2000" b="1" dirty="0" smtClean="0">
                <a:latin typeface="Comic Sans MS" pitchFamily="66" charset="0"/>
              </a:rPr>
              <a:t>执行运算操作</a:t>
            </a:r>
            <a:endParaRPr lang="en-US" altLang="zh-CN" sz="2000" b="1" dirty="0">
              <a:latin typeface="Comic Sans MS" pitchFamily="66" charset="0"/>
            </a:endParaRPr>
          </a:p>
          <a:p>
            <a:pPr lvl="2">
              <a:lnSpc>
                <a:spcPts val="3500"/>
              </a:lnSpc>
            </a:pPr>
            <a:r>
              <a:rPr lang="en-US" altLang="zh-CN" sz="2000" b="1" dirty="0">
                <a:latin typeface="Comic Sans MS" pitchFamily="66" charset="0"/>
              </a:rPr>
              <a:t>Branch:</a:t>
            </a:r>
            <a:r>
              <a:rPr lang="en-US" altLang="zh-CN" sz="2000" dirty="0">
                <a:latin typeface="Comic Sans MS" pitchFamily="66" charset="0"/>
              </a:rPr>
              <a:t> </a:t>
            </a:r>
            <a:r>
              <a:rPr lang="zh-CN" altLang="en-US" sz="2000" dirty="0" smtClean="0">
                <a:latin typeface="Comic Sans MS" pitchFamily="66" charset="0"/>
              </a:rPr>
              <a:t>做</a:t>
            </a:r>
            <a:r>
              <a:rPr lang="zh-CN" altLang="en-US" sz="2000" b="1" dirty="0" smtClean="0">
                <a:latin typeface="Comic Sans MS" pitchFamily="66" charset="0"/>
              </a:rPr>
              <a:t>“</a:t>
            </a:r>
            <a:r>
              <a:rPr lang="en-US" altLang="zh-CN" sz="2000" b="1" dirty="0" smtClean="0">
                <a:latin typeface="Comic Sans MS" pitchFamily="66" charset="0"/>
              </a:rPr>
              <a:t>=0</a:t>
            </a:r>
            <a:r>
              <a:rPr lang="zh-CN" altLang="en-US" sz="2000" b="1" dirty="0" smtClean="0">
                <a:latin typeface="Comic Sans MS" pitchFamily="66" charset="0"/>
              </a:rPr>
              <a:t>？”测试，如果条件满足计算目标地址送</a:t>
            </a:r>
            <a:r>
              <a:rPr lang="en-US" altLang="zh-CN" sz="2000" b="1" dirty="0" smtClean="0">
                <a:latin typeface="Comic Sans MS" pitchFamily="66" charset="0"/>
              </a:rPr>
              <a:t>PC</a:t>
            </a:r>
            <a:endParaRPr lang="en-US" altLang="zh-CN" sz="2000" b="1" dirty="0">
              <a:latin typeface="Comic Sans MS" pitchFamily="66" charset="0"/>
            </a:endParaRPr>
          </a:p>
          <a:p>
            <a:pPr lvl="1">
              <a:lnSpc>
                <a:spcPts val="3500"/>
              </a:lnSpc>
            </a:pPr>
            <a:r>
              <a:rPr lang="en-US" altLang="zh-CN" dirty="0">
                <a:solidFill>
                  <a:srgbClr val="FF3300"/>
                </a:solidFill>
                <a:latin typeface="Comic Sans MS" pitchFamily="66" charset="0"/>
              </a:rPr>
              <a:t>MEM</a:t>
            </a:r>
            <a:r>
              <a:rPr lang="en-US" altLang="zh-CN" dirty="0">
                <a:latin typeface="Comic Sans MS" pitchFamily="66" charset="0"/>
              </a:rPr>
              <a:t>: Memory access</a:t>
            </a:r>
          </a:p>
          <a:p>
            <a:pPr lvl="2">
              <a:lnSpc>
                <a:spcPts val="3500"/>
              </a:lnSpc>
            </a:pPr>
            <a:r>
              <a:rPr lang="en-US" altLang="zh-CN" sz="2000" b="1" dirty="0">
                <a:latin typeface="Comic Sans MS" pitchFamily="66" charset="0"/>
              </a:rPr>
              <a:t>Load:</a:t>
            </a:r>
            <a:r>
              <a:rPr lang="en-US" altLang="zh-CN" dirty="0">
                <a:latin typeface="Comic Sans MS" pitchFamily="66" charset="0"/>
              </a:rPr>
              <a:t> </a:t>
            </a:r>
            <a:r>
              <a:rPr lang="zh-CN" altLang="en-US" sz="2000" b="1" dirty="0" smtClean="0">
                <a:latin typeface="Comic Sans MS" pitchFamily="66" charset="0"/>
              </a:rPr>
              <a:t>送有效地址到数据存储器，取数据</a:t>
            </a:r>
            <a:endParaRPr lang="en-US" altLang="zh-CN" sz="2000" b="1" dirty="0">
              <a:latin typeface="Comic Sans MS" pitchFamily="66" charset="0"/>
            </a:endParaRPr>
          </a:p>
          <a:p>
            <a:pPr lvl="2">
              <a:lnSpc>
                <a:spcPts val="3500"/>
              </a:lnSpc>
            </a:pPr>
            <a:r>
              <a:rPr lang="en-US" altLang="zh-CN" sz="2000" b="1" dirty="0">
                <a:latin typeface="Comic Sans MS" pitchFamily="66" charset="0"/>
              </a:rPr>
              <a:t>Store:</a:t>
            </a:r>
            <a:r>
              <a:rPr lang="en-US" altLang="zh-CN" dirty="0">
                <a:latin typeface="Comic Sans MS" pitchFamily="66" charset="0"/>
              </a:rPr>
              <a:t> </a:t>
            </a:r>
            <a:r>
              <a:rPr lang="zh-CN" altLang="en-US" sz="2000" b="1" dirty="0" smtClean="0">
                <a:latin typeface="Comic Sans MS" pitchFamily="66" charset="0"/>
              </a:rPr>
              <a:t>写</a:t>
            </a:r>
            <a:r>
              <a:rPr lang="en-US" altLang="zh-CN" sz="2000" b="1" dirty="0" smtClean="0">
                <a:latin typeface="Comic Sans MS" pitchFamily="66" charset="0"/>
              </a:rPr>
              <a:t>ID</a:t>
            </a:r>
            <a:r>
              <a:rPr lang="zh-CN" altLang="en-US" sz="2000" b="1" dirty="0" smtClean="0">
                <a:latin typeface="Comic Sans MS" pitchFamily="66" charset="0"/>
              </a:rPr>
              <a:t>读出数据到有效地址单元中</a:t>
            </a:r>
            <a:r>
              <a:rPr lang="en-US" altLang="zh-CN" sz="2000" b="1" dirty="0" smtClean="0">
                <a:latin typeface="Comic Sans MS" pitchFamily="66" charset="0"/>
              </a:rPr>
              <a:t>   </a:t>
            </a:r>
            <a:endParaRPr lang="en-US" altLang="zh-CN" sz="2000" b="1" dirty="0">
              <a:latin typeface="Comic Sans MS" pitchFamily="66" charset="0"/>
            </a:endParaRPr>
          </a:p>
          <a:p>
            <a:pPr lvl="1">
              <a:lnSpc>
                <a:spcPts val="3500"/>
              </a:lnSpc>
            </a:pPr>
            <a:r>
              <a:rPr lang="en-US" altLang="zh-CN" dirty="0">
                <a:solidFill>
                  <a:srgbClr val="FF3300"/>
                </a:solidFill>
                <a:latin typeface="Comic Sans MS" pitchFamily="66" charset="0"/>
              </a:rPr>
              <a:t>WB</a:t>
            </a:r>
            <a:r>
              <a:rPr lang="en-US" altLang="zh-CN" dirty="0">
                <a:latin typeface="Comic Sans MS" pitchFamily="66" charset="0"/>
              </a:rPr>
              <a:t>: Write-back cycle</a:t>
            </a:r>
          </a:p>
          <a:p>
            <a:pPr lvl="2">
              <a:lnSpc>
                <a:spcPts val="3500"/>
              </a:lnSpc>
            </a:pPr>
            <a:r>
              <a:rPr lang="en-US" altLang="zh-CN" sz="2000" b="1" dirty="0">
                <a:latin typeface="Comic Sans MS" pitchFamily="66" charset="0"/>
              </a:rPr>
              <a:t>Load or ALU: </a:t>
            </a:r>
            <a:r>
              <a:rPr lang="zh-CN" altLang="en-US" sz="2000" b="1" dirty="0" smtClean="0">
                <a:latin typeface="Comic Sans MS" pitchFamily="66" charset="0"/>
              </a:rPr>
              <a:t>写结果到寄存器堆</a:t>
            </a:r>
            <a:r>
              <a:rPr lang="en-US" altLang="zh-CN" dirty="0" smtClean="0">
                <a:latin typeface="Comic Sans MS" pitchFamily="66" charset="0"/>
              </a:rPr>
              <a:t> </a:t>
            </a:r>
            <a:endParaRPr lang="en-US" altLang="zh-CN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2C348B-F6C7-4585-885E-C30847DA5D5F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675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3600" b="1" dirty="0" smtClean="0"/>
              <a:t>多周期实现</a:t>
            </a:r>
            <a:r>
              <a:rPr lang="en-US" altLang="zh-CN" sz="3600" b="1" dirty="0" smtClean="0"/>
              <a:t/>
            </a:r>
            <a:br>
              <a:rPr lang="en-US" altLang="zh-CN" sz="3600" b="1" dirty="0" smtClean="0"/>
            </a:br>
            <a:r>
              <a:rPr lang="en-US" altLang="zh-CN" sz="2800" b="1" dirty="0" smtClean="0"/>
              <a:t>Multi-cycle </a:t>
            </a:r>
            <a:r>
              <a:rPr lang="en-US" altLang="zh-CN" sz="2800" b="1" dirty="0"/>
              <a:t>implementation</a:t>
            </a:r>
          </a:p>
        </p:txBody>
      </p:sp>
      <p:pic>
        <p:nvPicPr>
          <p:cNvPr id="35847" name="Picture 7" descr="E:\English_arch\611\chap3_1.files\chap3_1-2new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5344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36749" y="6324600"/>
            <a:ext cx="46085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C00000"/>
                </a:solidFill>
              </a:rPr>
              <a:t>例：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add  r1, r2, r3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；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r2 + r3  -</a:t>
            </a:r>
            <a:r>
              <a:rPr lang="en-US" altLang="zh-CN" sz="2400" b="1" dirty="0" smtClean="0">
                <a:solidFill>
                  <a:srgbClr val="C00000"/>
                </a:solidFill>
                <a:latin typeface="Algerian"/>
              </a:rPr>
              <a:t> &gt; </a:t>
            </a:r>
            <a:r>
              <a:rPr lang="en-US" altLang="zh-CN" sz="2400" b="1" dirty="0">
                <a:solidFill>
                  <a:srgbClr val="C00000"/>
                </a:solidFill>
              </a:rPr>
              <a:t>r1</a:t>
            </a:r>
            <a:r>
              <a:rPr lang="en-US" altLang="zh-CN" sz="2400" b="1" dirty="0" smtClean="0">
                <a:solidFill>
                  <a:srgbClr val="C00000"/>
                </a:solidFill>
                <a:latin typeface="Algerian"/>
              </a:rPr>
              <a:t> 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64088" y="6324600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</a:rPr>
              <a:t>例：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Load  r1, 10 ( r4 ) 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499992" y="4509120"/>
            <a:ext cx="0" cy="648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4499992" y="5122452"/>
            <a:ext cx="241226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50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2C348B-F6C7-4585-885E-C30847DA5D5F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多周期实现</a:t>
            </a:r>
            <a:endParaRPr lang="en-US" altLang="zh-CN" b="1" dirty="0"/>
          </a:p>
        </p:txBody>
      </p:sp>
      <p:pic>
        <p:nvPicPr>
          <p:cNvPr id="35847" name="Picture 7" descr="E:\English_arch\611\chap3_1.files\chap3_1-2new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5344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4499992" y="4509120"/>
            <a:ext cx="0" cy="648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4499992" y="5122452"/>
            <a:ext cx="241226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7544" y="6298585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</a:rPr>
              <a:t>例：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store  20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（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r2</a:t>
            </a:r>
            <a:r>
              <a:rPr lang="zh-CN" altLang="en-US" sz="2400" b="1" dirty="0" smtClean="0">
                <a:solidFill>
                  <a:srgbClr val="0070C0"/>
                </a:solidFill>
              </a:rPr>
              <a:t>），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r3 </a:t>
            </a:r>
            <a:endParaRPr lang="zh-CN" altLang="en-US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028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2C348B-F6C7-4585-885E-C30847DA5D5F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多周期实现</a:t>
            </a:r>
            <a:endParaRPr lang="en-US" altLang="zh-CN" b="1" dirty="0"/>
          </a:p>
        </p:txBody>
      </p:sp>
      <p:pic>
        <p:nvPicPr>
          <p:cNvPr id="35847" name="Picture 7" descr="E:\English_arch\611\chap3_1.files\chap3_1-2new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5344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4499992" y="4509120"/>
            <a:ext cx="0" cy="648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4499992" y="5122452"/>
            <a:ext cx="241226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7544" y="6298585"/>
            <a:ext cx="7272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0070C0"/>
                </a:solidFill>
              </a:rPr>
              <a:t>例：</a:t>
            </a:r>
            <a:r>
              <a:rPr lang="en-US" altLang="zh-CN" sz="2400" b="1" dirty="0" smtClean="0">
                <a:solidFill>
                  <a:srgbClr val="0070C0"/>
                </a:solidFill>
              </a:rPr>
              <a:t>BEQ  r1, 24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；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if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r1= r0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，</a:t>
            </a:r>
            <a:r>
              <a:rPr lang="en-US" altLang="zh-CN" sz="2400" b="1" dirty="0">
                <a:solidFill>
                  <a:srgbClr val="C00000"/>
                </a:solidFill>
              </a:rPr>
              <a:t>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（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NPC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）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+ 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24  </a:t>
            </a:r>
            <a:r>
              <a:rPr lang="en-US" altLang="zh-CN" sz="2400" b="1" dirty="0">
                <a:solidFill>
                  <a:srgbClr val="C00000"/>
                </a:solidFill>
              </a:rPr>
              <a:t>-</a:t>
            </a:r>
            <a:r>
              <a:rPr lang="en-US" altLang="zh-CN" sz="2400" b="1" dirty="0">
                <a:solidFill>
                  <a:srgbClr val="C00000"/>
                </a:solidFill>
                <a:latin typeface="Algerian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Algerian"/>
              </a:rPr>
              <a:t>&gt; </a:t>
            </a:r>
            <a:r>
              <a:rPr lang="en-US" altLang="zh-CN" sz="2400" dirty="0" smtClean="0">
                <a:solidFill>
                  <a:srgbClr val="C00000"/>
                </a:solidFill>
                <a:latin typeface="Algerian"/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PC</a:t>
            </a:r>
            <a:r>
              <a:rPr lang="en-US" altLang="zh-CN" sz="2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CN" altLang="en-US" sz="2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028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2947947" y="5561022"/>
            <a:ext cx="2895600" cy="365125"/>
          </a:xfrm>
        </p:spPr>
        <p:txBody>
          <a:bodyPr/>
          <a:lstStyle/>
          <a:p>
            <a:fld id="{83673661-8A15-459F-B7C1-6766607557A7}" type="slidenum">
              <a:rPr lang="en-US" altLang="zh-CN"/>
              <a:pPr/>
              <a:t>22</a:t>
            </a:fld>
            <a:endParaRPr lang="en-US" altLang="zh-CN"/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32" y="0"/>
            <a:ext cx="6143668" cy="857232"/>
          </a:xfrm>
        </p:spPr>
        <p:txBody>
          <a:bodyPr>
            <a:normAutofit/>
          </a:bodyPr>
          <a:lstStyle/>
          <a:p>
            <a:pPr algn="l"/>
            <a:r>
              <a:rPr lang="en-US" altLang="zh-CN" sz="3200" dirty="0"/>
              <a:t>Single-cycle </a:t>
            </a:r>
            <a:r>
              <a:rPr lang="en-US" altLang="zh-CN" sz="3200" dirty="0" smtClean="0"/>
              <a:t>implementation</a:t>
            </a:r>
            <a:r>
              <a:rPr lang="zh-CN" altLang="en-US" sz="3200" dirty="0" smtClean="0"/>
              <a:t>（参考）</a:t>
            </a:r>
            <a:endParaRPr lang="en-US" altLang="zh-CN" sz="3200" dirty="0"/>
          </a:p>
        </p:txBody>
      </p:sp>
      <p:pic>
        <p:nvPicPr>
          <p:cNvPr id="37892" name="Picture 4" descr="E:\English_arch\611\chap3_1.files\a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72" y="714356"/>
            <a:ext cx="7786742" cy="3929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0" y="3214686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b="0" dirty="0">
                <a:solidFill>
                  <a:srgbClr val="FF3300"/>
                </a:solidFill>
                <a:latin typeface="Comic Sans MS" pitchFamily="66" charset="0"/>
              </a:rPr>
              <a:t>seldom used !</a:t>
            </a:r>
            <a:endParaRPr lang="en-US" altLang="zh-CN" b="0" dirty="0"/>
          </a:p>
        </p:txBody>
      </p:sp>
      <p:sp>
        <p:nvSpPr>
          <p:cNvPr id="7" name="Rectangle 150"/>
          <p:cNvSpPr>
            <a:spLocks noChangeArrowheads="1"/>
          </p:cNvSpPr>
          <p:nvPr/>
        </p:nvSpPr>
        <p:spPr bwMode="auto">
          <a:xfrm>
            <a:off x="642910" y="4786322"/>
            <a:ext cx="67056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zh-CN" sz="1800" i="1" u="sng">
                <a:solidFill>
                  <a:schemeClr val="accent2"/>
                </a:solidFill>
                <a:latin typeface="Arial" charset="0"/>
              </a:rPr>
              <a:t>Single Cycle Implementation:</a:t>
            </a:r>
            <a:r>
              <a:rPr lang="en-US" altLang="zh-CN" sz="1800" i="1">
                <a:solidFill>
                  <a:schemeClr val="accent2"/>
                </a:solidFill>
                <a:latin typeface="Arial" charset="0"/>
              </a:rPr>
              <a:t>     </a:t>
            </a:r>
            <a:r>
              <a:rPr lang="en-US" altLang="zh-CN" sz="1800">
                <a:solidFill>
                  <a:srgbClr val="FF3300"/>
                </a:solidFill>
                <a:latin typeface="Comic Sans MS" pitchFamily="66" charset="0"/>
              </a:rPr>
              <a:t>CPI=1,   long clock cycle</a:t>
            </a:r>
            <a:r>
              <a:rPr lang="en-US" altLang="zh-CN" sz="1800" i="1" u="sng">
                <a:solidFill>
                  <a:schemeClr val="accent2"/>
                </a:solidFill>
                <a:latin typeface="Arial" charset="0"/>
              </a:rPr>
              <a:t> </a:t>
            </a:r>
            <a:endParaRPr lang="en-US" altLang="zh-CN" sz="1800" i="1" u="sng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8" name="Line 135"/>
          <p:cNvSpPr>
            <a:spLocks noChangeShapeType="1"/>
          </p:cNvSpPr>
          <p:nvPr/>
        </p:nvSpPr>
        <p:spPr bwMode="auto">
          <a:xfrm>
            <a:off x="828648" y="5561022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136"/>
          <p:cNvSpPr>
            <a:spLocks noChangeShapeType="1"/>
          </p:cNvSpPr>
          <p:nvPr/>
        </p:nvSpPr>
        <p:spPr bwMode="auto">
          <a:xfrm>
            <a:off x="1196948" y="5573722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139"/>
          <p:cNvSpPr>
            <a:spLocks noChangeShapeType="1"/>
          </p:cNvSpPr>
          <p:nvPr/>
        </p:nvSpPr>
        <p:spPr bwMode="auto">
          <a:xfrm>
            <a:off x="4778348" y="5573722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40"/>
          <p:cNvSpPr>
            <a:spLocks noChangeShapeType="1"/>
          </p:cNvSpPr>
          <p:nvPr/>
        </p:nvSpPr>
        <p:spPr bwMode="auto">
          <a:xfrm flipV="1">
            <a:off x="8499448" y="5167322"/>
            <a:ext cx="0" cy="15494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41"/>
          <p:cNvSpPr>
            <a:spLocks noChangeShapeType="1"/>
          </p:cNvSpPr>
          <p:nvPr/>
        </p:nvSpPr>
        <p:spPr bwMode="auto">
          <a:xfrm>
            <a:off x="8512148" y="5573722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42"/>
          <p:cNvSpPr>
            <a:spLocks noChangeShapeType="1"/>
          </p:cNvSpPr>
          <p:nvPr/>
        </p:nvSpPr>
        <p:spPr bwMode="auto">
          <a:xfrm>
            <a:off x="1209648" y="5789622"/>
            <a:ext cx="187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43"/>
          <p:cNvSpPr>
            <a:spLocks noChangeShapeType="1"/>
          </p:cNvSpPr>
          <p:nvPr/>
        </p:nvSpPr>
        <p:spPr bwMode="auto">
          <a:xfrm>
            <a:off x="3114648" y="5561022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44"/>
          <p:cNvSpPr>
            <a:spLocks noChangeShapeType="1"/>
          </p:cNvSpPr>
          <p:nvPr/>
        </p:nvSpPr>
        <p:spPr bwMode="auto">
          <a:xfrm>
            <a:off x="3101948" y="5573722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45"/>
          <p:cNvSpPr>
            <a:spLocks noChangeShapeType="1"/>
          </p:cNvSpPr>
          <p:nvPr/>
        </p:nvSpPr>
        <p:spPr bwMode="auto">
          <a:xfrm>
            <a:off x="4791048" y="5789622"/>
            <a:ext cx="187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46"/>
          <p:cNvSpPr>
            <a:spLocks noChangeShapeType="1"/>
          </p:cNvSpPr>
          <p:nvPr/>
        </p:nvSpPr>
        <p:spPr bwMode="auto">
          <a:xfrm>
            <a:off x="6696048" y="5561022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47"/>
          <p:cNvSpPr>
            <a:spLocks noChangeShapeType="1"/>
          </p:cNvSpPr>
          <p:nvPr/>
        </p:nvSpPr>
        <p:spPr bwMode="auto">
          <a:xfrm>
            <a:off x="6683348" y="5573722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48"/>
          <p:cNvSpPr>
            <a:spLocks noChangeShapeType="1"/>
          </p:cNvSpPr>
          <p:nvPr/>
        </p:nvSpPr>
        <p:spPr bwMode="auto">
          <a:xfrm>
            <a:off x="8601048" y="5789622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Rectangle 149"/>
          <p:cNvSpPr>
            <a:spLocks noChangeArrowheads="1"/>
          </p:cNvSpPr>
          <p:nvPr/>
        </p:nvSpPr>
        <p:spPr bwMode="auto">
          <a:xfrm>
            <a:off x="719110" y="5554672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Clk</a:t>
            </a:r>
          </a:p>
        </p:txBody>
      </p:sp>
      <p:sp>
        <p:nvSpPr>
          <p:cNvPr id="21" name="Rectangle 151"/>
          <p:cNvSpPr>
            <a:spLocks noChangeArrowheads="1"/>
          </p:cNvSpPr>
          <p:nvPr/>
        </p:nvSpPr>
        <p:spPr bwMode="auto">
          <a:xfrm>
            <a:off x="1176310" y="6081722"/>
            <a:ext cx="355600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152"/>
          <p:cNvSpPr>
            <a:spLocks noChangeArrowheads="1"/>
          </p:cNvSpPr>
          <p:nvPr/>
        </p:nvSpPr>
        <p:spPr bwMode="auto">
          <a:xfrm>
            <a:off x="4757710" y="6081722"/>
            <a:ext cx="370840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153"/>
          <p:cNvSpPr>
            <a:spLocks noChangeArrowheads="1"/>
          </p:cNvSpPr>
          <p:nvPr/>
        </p:nvSpPr>
        <p:spPr bwMode="auto">
          <a:xfrm>
            <a:off x="2514573" y="6062672"/>
            <a:ext cx="6318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Load</a:t>
            </a:r>
          </a:p>
        </p:txBody>
      </p:sp>
      <p:sp>
        <p:nvSpPr>
          <p:cNvPr id="24" name="Rectangle 154"/>
          <p:cNvSpPr>
            <a:spLocks noChangeArrowheads="1"/>
          </p:cNvSpPr>
          <p:nvPr/>
        </p:nvSpPr>
        <p:spPr bwMode="auto">
          <a:xfrm>
            <a:off x="6324573" y="6062672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Store</a:t>
            </a:r>
          </a:p>
        </p:txBody>
      </p:sp>
      <p:sp>
        <p:nvSpPr>
          <p:cNvPr id="25" name="Line 155"/>
          <p:cNvSpPr>
            <a:spLocks noChangeShapeType="1"/>
          </p:cNvSpPr>
          <p:nvPr/>
        </p:nvSpPr>
        <p:spPr bwMode="auto">
          <a:xfrm flipV="1">
            <a:off x="7793010" y="6056322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Rectangle 156"/>
          <p:cNvSpPr>
            <a:spLocks noChangeArrowheads="1"/>
          </p:cNvSpPr>
          <p:nvPr/>
        </p:nvSpPr>
        <p:spPr bwMode="auto">
          <a:xfrm>
            <a:off x="7772373" y="6062672"/>
            <a:ext cx="723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Waste</a:t>
            </a:r>
          </a:p>
        </p:txBody>
      </p:sp>
      <p:sp>
        <p:nvSpPr>
          <p:cNvPr id="27" name="Line 178"/>
          <p:cNvSpPr>
            <a:spLocks noChangeShapeType="1"/>
          </p:cNvSpPr>
          <p:nvPr/>
        </p:nvSpPr>
        <p:spPr bwMode="auto">
          <a:xfrm flipV="1">
            <a:off x="1196948" y="5243522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179"/>
          <p:cNvSpPr>
            <a:spLocks noChangeArrowheads="1"/>
          </p:cNvSpPr>
          <p:nvPr/>
        </p:nvSpPr>
        <p:spPr bwMode="auto">
          <a:xfrm>
            <a:off x="2700310" y="5249872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Cycle 1</a:t>
            </a:r>
          </a:p>
        </p:txBody>
      </p:sp>
      <p:sp>
        <p:nvSpPr>
          <p:cNvPr id="29" name="Line 180"/>
          <p:cNvSpPr>
            <a:spLocks noChangeShapeType="1"/>
          </p:cNvSpPr>
          <p:nvPr/>
        </p:nvSpPr>
        <p:spPr bwMode="auto">
          <a:xfrm flipV="1">
            <a:off x="4778348" y="5243522"/>
            <a:ext cx="0" cy="3302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181"/>
          <p:cNvSpPr>
            <a:spLocks noChangeShapeType="1"/>
          </p:cNvSpPr>
          <p:nvPr/>
        </p:nvSpPr>
        <p:spPr bwMode="auto">
          <a:xfrm flipV="1">
            <a:off x="8512148" y="5243522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182"/>
          <p:cNvSpPr>
            <a:spLocks noChangeArrowheads="1"/>
          </p:cNvSpPr>
          <p:nvPr/>
        </p:nvSpPr>
        <p:spPr bwMode="auto">
          <a:xfrm>
            <a:off x="6281710" y="5249872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Cycle 2</a:t>
            </a:r>
          </a:p>
        </p:txBody>
      </p:sp>
      <p:sp>
        <p:nvSpPr>
          <p:cNvPr id="32" name="Line 183"/>
          <p:cNvSpPr>
            <a:spLocks noChangeShapeType="1"/>
          </p:cNvSpPr>
          <p:nvPr/>
        </p:nvSpPr>
        <p:spPr bwMode="auto">
          <a:xfrm>
            <a:off x="1209648" y="5408622"/>
            <a:ext cx="142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Line 184"/>
          <p:cNvSpPr>
            <a:spLocks noChangeShapeType="1"/>
          </p:cNvSpPr>
          <p:nvPr/>
        </p:nvSpPr>
        <p:spPr bwMode="auto">
          <a:xfrm>
            <a:off x="4791048" y="5408622"/>
            <a:ext cx="142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185"/>
          <p:cNvSpPr>
            <a:spLocks noChangeShapeType="1"/>
          </p:cNvSpPr>
          <p:nvPr/>
        </p:nvSpPr>
        <p:spPr bwMode="auto">
          <a:xfrm flipH="1">
            <a:off x="7051648" y="5408622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Line 186"/>
          <p:cNvSpPr>
            <a:spLocks noChangeShapeType="1"/>
          </p:cNvSpPr>
          <p:nvPr/>
        </p:nvSpPr>
        <p:spPr bwMode="auto">
          <a:xfrm flipH="1">
            <a:off x="3546448" y="5408622"/>
            <a:ext cx="109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Line 187"/>
          <p:cNvSpPr>
            <a:spLocks noChangeShapeType="1"/>
          </p:cNvSpPr>
          <p:nvPr/>
        </p:nvSpPr>
        <p:spPr bwMode="auto">
          <a:xfrm flipV="1">
            <a:off x="1214414" y="5308600"/>
            <a:ext cx="0" cy="15494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Line 187"/>
          <p:cNvSpPr>
            <a:spLocks noChangeShapeType="1"/>
          </p:cNvSpPr>
          <p:nvPr/>
        </p:nvSpPr>
        <p:spPr bwMode="auto">
          <a:xfrm flipV="1">
            <a:off x="4786314" y="5308600"/>
            <a:ext cx="0" cy="15494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多周期实现</a:t>
            </a:r>
            <a:endParaRPr lang="en-US" altLang="zh-CN" b="1" dirty="0"/>
          </a:p>
        </p:txBody>
      </p:sp>
      <p:pic>
        <p:nvPicPr>
          <p:cNvPr id="35847" name="Picture 7" descr="E:\English_arch\611\chap3_1.files\chap3_1-2new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371600"/>
            <a:ext cx="8534400" cy="495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直接连接符 5"/>
          <p:cNvCxnSpPr/>
          <p:nvPr/>
        </p:nvCxnSpPr>
        <p:spPr>
          <a:xfrm>
            <a:off x="4499992" y="4509120"/>
            <a:ext cx="0" cy="648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4499992" y="5122452"/>
            <a:ext cx="2412268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B8CD1A-B0DB-45D1-B3CB-956FFC10B530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672" y="260648"/>
            <a:ext cx="5297016" cy="990600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 smtClean="0"/>
              <a:t>多周期实现的特点</a:t>
            </a:r>
            <a:endParaRPr lang="en-US" altLang="zh-CN" b="1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953000"/>
          </a:xfrm>
        </p:spPr>
        <p:txBody>
          <a:bodyPr/>
          <a:lstStyle/>
          <a:p>
            <a:r>
              <a:rPr lang="zh-CN" altLang="en-US" b="1" dirty="0" smtClean="0">
                <a:latin typeface="Comic Sans MS" pitchFamily="66" charset="0"/>
              </a:rPr>
              <a:t>数据路径中的</a:t>
            </a:r>
            <a:r>
              <a:rPr lang="zh-CN" altLang="en-US" b="1" dirty="0" smtClean="0">
                <a:solidFill>
                  <a:srgbClr val="FF3300"/>
                </a:solidFill>
                <a:latin typeface="Comic Sans MS" pitchFamily="66" charset="0"/>
              </a:rPr>
              <a:t>暂存器</a:t>
            </a:r>
            <a:r>
              <a:rPr lang="zh-CN" altLang="en-US" b="1" dirty="0" smtClean="0">
                <a:latin typeface="Comic Sans MS" pitchFamily="66" charset="0"/>
              </a:rPr>
              <a:t>易于实现流水线</a:t>
            </a:r>
            <a:endParaRPr lang="en-US" altLang="zh-CN" b="1" dirty="0">
              <a:latin typeface="Comic Sans MS" pitchFamily="66" charset="0"/>
            </a:endParaRPr>
          </a:p>
          <a:p>
            <a:r>
              <a:rPr lang="zh-CN" altLang="en-US" b="1" dirty="0" smtClean="0">
                <a:latin typeface="Comic Sans MS" pitchFamily="66" charset="0"/>
              </a:rPr>
              <a:t>注意：</a:t>
            </a:r>
            <a:r>
              <a:rPr lang="en-US" altLang="zh-CN" b="1" dirty="0" smtClean="0">
                <a:latin typeface="Comic Sans MS" pitchFamily="66" charset="0"/>
              </a:rPr>
              <a:t>branch</a:t>
            </a:r>
            <a:r>
              <a:rPr lang="zh-CN" altLang="en-US" b="1" dirty="0" smtClean="0">
                <a:latin typeface="Comic Sans MS" pitchFamily="66" charset="0"/>
              </a:rPr>
              <a:t>和</a:t>
            </a:r>
            <a:r>
              <a:rPr lang="en-US" altLang="zh-CN" b="1" dirty="0" smtClean="0">
                <a:latin typeface="Comic Sans MS" pitchFamily="66" charset="0"/>
              </a:rPr>
              <a:t>Store</a:t>
            </a:r>
            <a:r>
              <a:rPr lang="zh-CN" altLang="en-US" b="1" dirty="0" smtClean="0">
                <a:latin typeface="Comic Sans MS" pitchFamily="66" charset="0"/>
              </a:rPr>
              <a:t>指令花费</a:t>
            </a:r>
            <a:r>
              <a:rPr lang="en-US" altLang="zh-CN" b="1" dirty="0" smtClean="0">
                <a:latin typeface="Comic Sans MS" pitchFamily="66" charset="0"/>
              </a:rPr>
              <a:t> </a:t>
            </a:r>
            <a:r>
              <a:rPr lang="en-US" altLang="zh-CN" b="1" dirty="0">
                <a:solidFill>
                  <a:srgbClr val="FF3300"/>
                </a:solidFill>
                <a:latin typeface="Comic Sans MS" pitchFamily="66" charset="0"/>
              </a:rPr>
              <a:t>4</a:t>
            </a:r>
            <a:r>
              <a:rPr lang="en-US" altLang="zh-CN" b="1" dirty="0">
                <a:latin typeface="Comic Sans MS" pitchFamily="66" charset="0"/>
              </a:rPr>
              <a:t> clock cycles. </a:t>
            </a:r>
          </a:p>
          <a:p>
            <a:pPr lvl="1"/>
            <a:r>
              <a:rPr lang="zh-CN" altLang="en-US" sz="2400" b="1" dirty="0" smtClean="0">
                <a:latin typeface="Comic Sans MS" pitchFamily="66" charset="0"/>
              </a:rPr>
              <a:t>假定</a:t>
            </a:r>
            <a:r>
              <a:rPr lang="en-US" altLang="zh-CN" sz="2400" b="1" dirty="0" smtClean="0">
                <a:latin typeface="Comic Sans MS" pitchFamily="66" charset="0"/>
              </a:rPr>
              <a:t> branch</a:t>
            </a:r>
            <a:r>
              <a:rPr lang="zh-CN" altLang="en-US" sz="2400" b="1" dirty="0" smtClean="0">
                <a:latin typeface="Comic Sans MS" pitchFamily="66" charset="0"/>
              </a:rPr>
              <a:t>执行频率</a:t>
            </a:r>
            <a:r>
              <a:rPr lang="en-US" altLang="zh-CN" sz="2400" b="1" dirty="0" smtClean="0">
                <a:latin typeface="Comic Sans MS" pitchFamily="66" charset="0"/>
              </a:rPr>
              <a:t> 12%</a:t>
            </a:r>
            <a:r>
              <a:rPr lang="zh-CN" altLang="en-US" sz="2400" b="1" dirty="0" smtClean="0">
                <a:latin typeface="Comic Sans MS" pitchFamily="66" charset="0"/>
              </a:rPr>
              <a:t>，</a:t>
            </a:r>
            <a:r>
              <a:rPr lang="en-US" altLang="zh-CN" sz="2400" b="1" dirty="0" smtClean="0">
                <a:latin typeface="Comic Sans MS" pitchFamily="66" charset="0"/>
              </a:rPr>
              <a:t> store </a:t>
            </a:r>
            <a:r>
              <a:rPr lang="zh-CN" altLang="en-US" sz="2400" b="1" dirty="0" smtClean="0">
                <a:latin typeface="Comic Sans MS" pitchFamily="66" charset="0"/>
              </a:rPr>
              <a:t>执行频率</a:t>
            </a:r>
            <a:r>
              <a:rPr lang="en-US" altLang="zh-CN" sz="2400" b="1" dirty="0" smtClean="0">
                <a:latin typeface="Comic Sans MS" pitchFamily="66" charset="0"/>
              </a:rPr>
              <a:t>10</a:t>
            </a:r>
            <a:r>
              <a:rPr lang="en-US" altLang="zh-CN" sz="2400" b="1" dirty="0">
                <a:latin typeface="Comic Sans MS" pitchFamily="66" charset="0"/>
              </a:rPr>
              <a:t>%, CPI </a:t>
            </a:r>
            <a:r>
              <a:rPr lang="zh-CN" altLang="en-US" sz="2400" b="1" dirty="0" smtClean="0">
                <a:latin typeface="Comic Sans MS" pitchFamily="66" charset="0"/>
              </a:rPr>
              <a:t>是</a:t>
            </a:r>
            <a:r>
              <a:rPr lang="en-US" altLang="zh-CN" sz="2400" b="1" dirty="0" smtClean="0">
                <a:latin typeface="Comic Sans MS" pitchFamily="66" charset="0"/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  <a:latin typeface="Comic Sans MS" pitchFamily="66" charset="0"/>
              </a:rPr>
              <a:t>4.78</a:t>
            </a:r>
            <a:r>
              <a:rPr lang="en-US" altLang="zh-CN" sz="2400" b="1" dirty="0">
                <a:latin typeface="Comic Sans MS" pitchFamily="66" charset="0"/>
              </a:rPr>
              <a:t>.</a:t>
            </a:r>
            <a:r>
              <a:rPr lang="en-US" altLang="zh-CN" sz="2400" b="1" dirty="0"/>
              <a:t> </a:t>
            </a:r>
            <a:endParaRPr lang="en-US" altLang="zh-CN" sz="2400" b="1" dirty="0" smtClean="0"/>
          </a:p>
          <a:p>
            <a:pPr marL="457200" lvl="1" indent="0">
              <a:buNone/>
            </a:pPr>
            <a:endParaRPr lang="en-US" altLang="zh-CN" sz="2400" b="1" dirty="0"/>
          </a:p>
          <a:p>
            <a:r>
              <a:rPr lang="zh-CN" altLang="en-US" b="1" dirty="0" smtClean="0">
                <a:latin typeface="Comic Sans MS" pitchFamily="66" charset="0"/>
              </a:rPr>
              <a:t>这种实现是</a:t>
            </a:r>
            <a:r>
              <a:rPr lang="zh-CN" altLang="en-US" b="1" dirty="0" smtClean="0">
                <a:solidFill>
                  <a:srgbClr val="FF3300"/>
                </a:solidFill>
                <a:latin typeface="Comic Sans MS" pitchFamily="66" charset="0"/>
              </a:rPr>
              <a:t>没有优化的</a:t>
            </a:r>
            <a:r>
              <a:rPr lang="en-US" altLang="zh-CN" b="1" dirty="0" smtClean="0">
                <a:latin typeface="Comic Sans MS" pitchFamily="66" charset="0"/>
              </a:rPr>
              <a:t>. </a:t>
            </a:r>
            <a:endParaRPr lang="en-US" altLang="zh-CN" sz="3600" b="1" dirty="0"/>
          </a:p>
        </p:txBody>
      </p:sp>
      <p:sp>
        <p:nvSpPr>
          <p:cNvPr id="2" name="矩形 1"/>
          <p:cNvSpPr/>
          <p:nvPr/>
        </p:nvSpPr>
        <p:spPr>
          <a:xfrm>
            <a:off x="1187624" y="3908063"/>
            <a:ext cx="77048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latin typeface="Comic Sans MS" pitchFamily="66" charset="0"/>
              </a:rPr>
              <a:t>4</a:t>
            </a:r>
            <a:r>
              <a:rPr lang="en-US" altLang="zh-CN" sz="2400" b="1" dirty="0">
                <a:latin typeface="Comic Sans MS" pitchFamily="66" charset="0"/>
              </a:rPr>
              <a:t>×</a:t>
            </a:r>
            <a:r>
              <a:rPr lang="zh-CN" altLang="en-US" sz="2400" b="1" dirty="0">
                <a:latin typeface="Comic Sans MS" pitchFamily="66" charset="0"/>
              </a:rPr>
              <a:t>（</a:t>
            </a:r>
            <a:r>
              <a:rPr lang="en-US" altLang="zh-CN" sz="2400" b="1" dirty="0" smtClean="0">
                <a:latin typeface="Comic Sans MS" pitchFamily="66" charset="0"/>
              </a:rPr>
              <a:t>12</a:t>
            </a:r>
            <a:r>
              <a:rPr lang="zh-CN" altLang="en-US" sz="2400" b="1" dirty="0" smtClean="0">
                <a:latin typeface="Comic Sans MS" pitchFamily="66" charset="0"/>
              </a:rPr>
              <a:t>％＋</a:t>
            </a:r>
            <a:r>
              <a:rPr lang="en-US" altLang="zh-CN" sz="2400" b="1" dirty="0" smtClean="0">
                <a:latin typeface="Comic Sans MS" pitchFamily="66" charset="0"/>
              </a:rPr>
              <a:t>10</a:t>
            </a:r>
            <a:r>
              <a:rPr lang="zh-CN" altLang="en-US" sz="2400" b="1" dirty="0" smtClean="0">
                <a:latin typeface="Comic Sans MS" pitchFamily="66" charset="0"/>
              </a:rPr>
              <a:t>％）＋ </a:t>
            </a:r>
            <a:r>
              <a:rPr lang="en-US" altLang="zh-CN" sz="2400" b="1" dirty="0" smtClean="0">
                <a:latin typeface="Comic Sans MS" pitchFamily="66" charset="0"/>
              </a:rPr>
              <a:t>5×78%</a:t>
            </a:r>
            <a:r>
              <a:rPr lang="zh-CN" altLang="en-US" sz="2400" b="1" dirty="0" smtClean="0">
                <a:latin typeface="Comic Sans MS" pitchFamily="66" charset="0"/>
              </a:rPr>
              <a:t>＝</a:t>
            </a:r>
            <a:r>
              <a:rPr lang="en-US" altLang="zh-CN" sz="2400" b="1" dirty="0" smtClean="0">
                <a:solidFill>
                  <a:srgbClr val="FF0000"/>
                </a:solidFill>
                <a:latin typeface="Comic Sans MS" pitchFamily="66" charset="0"/>
              </a:rPr>
              <a:t>4.78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B9A9EB-7242-423E-947B-4CEC9D470C26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72" y="357166"/>
            <a:ext cx="8001000" cy="9906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solidFill>
                  <a:srgbClr val="C00000"/>
                </a:solidFill>
              </a:rPr>
              <a:t>怎样改进多周期实现的性能？</a:t>
            </a:r>
            <a:endParaRPr lang="en-US" altLang="zh-CN" sz="4000" b="1" dirty="0">
              <a:solidFill>
                <a:srgbClr val="C00000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428736"/>
            <a:ext cx="8686800" cy="490063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 smtClean="0">
                <a:latin typeface="Comic Sans MS" pitchFamily="66" charset="0"/>
              </a:rPr>
              <a:t>对于</a:t>
            </a:r>
            <a:r>
              <a:rPr lang="en-US" altLang="zh-CN" sz="2600" b="1" dirty="0" smtClean="0">
                <a:solidFill>
                  <a:srgbClr val="FF3300"/>
                </a:solidFill>
                <a:latin typeface="Comic Sans MS" pitchFamily="66" charset="0"/>
              </a:rPr>
              <a:t>branch</a:t>
            </a:r>
            <a:r>
              <a:rPr lang="en-US" altLang="zh-CN" sz="2600" b="1" dirty="0">
                <a:latin typeface="Comic Sans MS" pitchFamily="66" charset="0"/>
              </a:rPr>
              <a:t>, </a:t>
            </a:r>
            <a:r>
              <a:rPr lang="zh-CN" altLang="en-US" sz="2600" b="1" dirty="0" smtClean="0">
                <a:latin typeface="Comic Sans MS" pitchFamily="66" charset="0"/>
              </a:rPr>
              <a:t>将“</a:t>
            </a:r>
            <a:r>
              <a:rPr lang="en-US" altLang="zh-CN" sz="2600" b="1" dirty="0" smtClean="0">
                <a:latin typeface="Comic Sans MS" pitchFamily="66" charset="0"/>
              </a:rPr>
              <a:t>=0</a:t>
            </a:r>
            <a:r>
              <a:rPr lang="zh-CN" altLang="en-US" sz="2600" b="1" dirty="0" smtClean="0">
                <a:latin typeface="Comic Sans MS" pitchFamily="66" charset="0"/>
              </a:rPr>
              <a:t>？”测试和计算可能的转移目标地址提前到</a:t>
            </a:r>
            <a:r>
              <a:rPr lang="en-US" altLang="zh-CN" sz="2600" b="1" dirty="0" smtClean="0">
                <a:solidFill>
                  <a:srgbClr val="FF3300"/>
                </a:solidFill>
                <a:latin typeface="Comic Sans MS" pitchFamily="66" charset="0"/>
              </a:rPr>
              <a:t>ID</a:t>
            </a:r>
            <a:r>
              <a:rPr lang="en-US" altLang="zh-CN" sz="2600" b="1" dirty="0">
                <a:latin typeface="Comic Sans MS" pitchFamily="66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zh-CN" altLang="en-US" sz="2600" b="1" dirty="0" smtClean="0">
                <a:latin typeface="Comic Sans MS" pitchFamily="66" charset="0"/>
              </a:rPr>
              <a:t>完成</a:t>
            </a:r>
            <a:r>
              <a:rPr lang="en-US" altLang="zh-CN" sz="2600" b="1" dirty="0" smtClean="0">
                <a:latin typeface="Comic Sans MS" pitchFamily="66" charset="0"/>
              </a:rPr>
              <a:t> </a:t>
            </a:r>
            <a:r>
              <a:rPr lang="en-US" altLang="zh-CN" sz="2600" b="1" dirty="0">
                <a:latin typeface="Comic Sans MS" pitchFamily="66" charset="0"/>
              </a:rPr>
              <a:t>ALU </a:t>
            </a:r>
            <a:r>
              <a:rPr lang="zh-CN" altLang="en-US" sz="2600" b="1" dirty="0" smtClean="0">
                <a:latin typeface="Comic Sans MS" pitchFamily="66" charset="0"/>
              </a:rPr>
              <a:t>指令在</a:t>
            </a:r>
            <a:r>
              <a:rPr lang="en-US" altLang="zh-CN" sz="2600" b="1" dirty="0" smtClean="0">
                <a:latin typeface="Comic Sans MS" pitchFamily="66" charset="0"/>
              </a:rPr>
              <a:t>MEM </a:t>
            </a:r>
            <a:r>
              <a:rPr lang="en-US" altLang="zh-CN" sz="2600" b="1" dirty="0">
                <a:latin typeface="Comic Sans MS" pitchFamily="66" charset="0"/>
              </a:rPr>
              <a:t>cycle </a:t>
            </a:r>
          </a:p>
          <a:p>
            <a:pPr>
              <a:lnSpc>
                <a:spcPct val="150000"/>
              </a:lnSpc>
            </a:pPr>
            <a:r>
              <a:rPr lang="en-US" altLang="zh-CN" sz="2600" b="1" dirty="0" smtClean="0">
                <a:latin typeface="Comic Sans MS" pitchFamily="66" charset="0"/>
              </a:rPr>
              <a:t>branch </a:t>
            </a:r>
            <a:r>
              <a:rPr lang="zh-CN" altLang="en-US" sz="2600" b="1" dirty="0" smtClean="0">
                <a:latin typeface="Comic Sans MS" pitchFamily="66" charset="0"/>
              </a:rPr>
              <a:t>指令占</a:t>
            </a:r>
            <a:r>
              <a:rPr lang="en-US" altLang="zh-CN" sz="2600" b="1" dirty="0" smtClean="0">
                <a:solidFill>
                  <a:srgbClr val="FF3300"/>
                </a:solidFill>
                <a:latin typeface="Comic Sans MS" pitchFamily="66" charset="0"/>
              </a:rPr>
              <a:t>2</a:t>
            </a:r>
            <a:r>
              <a:rPr lang="en-US" altLang="zh-CN" sz="2600" b="1" dirty="0" smtClean="0">
                <a:latin typeface="Comic Sans MS" pitchFamily="66" charset="0"/>
              </a:rPr>
              <a:t> </a:t>
            </a:r>
            <a:r>
              <a:rPr lang="en-US" altLang="zh-CN" sz="2600" b="1" dirty="0">
                <a:latin typeface="Comic Sans MS" pitchFamily="66" charset="0"/>
              </a:rPr>
              <a:t>cycles, store </a:t>
            </a:r>
            <a:r>
              <a:rPr lang="zh-CN" altLang="en-US" sz="2600" b="1" dirty="0" smtClean="0">
                <a:latin typeface="Comic Sans MS" pitchFamily="66" charset="0"/>
              </a:rPr>
              <a:t>和</a:t>
            </a:r>
            <a:r>
              <a:rPr lang="en-US" altLang="zh-CN" sz="2600" b="1" dirty="0" smtClean="0">
                <a:latin typeface="Comic Sans MS" pitchFamily="66" charset="0"/>
              </a:rPr>
              <a:t> </a:t>
            </a:r>
            <a:r>
              <a:rPr lang="en-US" altLang="zh-CN" sz="2600" b="1" dirty="0">
                <a:latin typeface="Comic Sans MS" pitchFamily="66" charset="0"/>
              </a:rPr>
              <a:t>ALU </a:t>
            </a:r>
            <a:r>
              <a:rPr lang="zh-CN" altLang="en-US" sz="2600" b="1" dirty="0" smtClean="0">
                <a:latin typeface="Comic Sans MS" pitchFamily="66" charset="0"/>
              </a:rPr>
              <a:t>指令占</a:t>
            </a:r>
            <a:r>
              <a:rPr lang="en-US" altLang="zh-CN" sz="2600" b="1" dirty="0" smtClean="0">
                <a:latin typeface="Comic Sans MS" pitchFamily="66" charset="0"/>
              </a:rPr>
              <a:t> </a:t>
            </a:r>
            <a:r>
              <a:rPr lang="en-US" altLang="zh-CN" sz="2600" b="1" dirty="0" smtClean="0">
                <a:solidFill>
                  <a:srgbClr val="FF3300"/>
                </a:solidFill>
                <a:latin typeface="Comic Sans MS" pitchFamily="66" charset="0"/>
              </a:rPr>
              <a:t>4</a:t>
            </a:r>
            <a:r>
              <a:rPr lang="en-US" altLang="zh-CN" sz="2600" b="1" dirty="0" smtClean="0">
                <a:latin typeface="Comic Sans MS" pitchFamily="66" charset="0"/>
              </a:rPr>
              <a:t> </a:t>
            </a:r>
            <a:r>
              <a:rPr lang="en-US" altLang="zh-CN" sz="2600" b="1" dirty="0">
                <a:latin typeface="Comic Sans MS" pitchFamily="66" charset="0"/>
              </a:rPr>
              <a:t>cycles, </a:t>
            </a:r>
            <a:r>
              <a:rPr lang="zh-CN" altLang="en-US" sz="2600" b="1" dirty="0" smtClean="0">
                <a:latin typeface="Comic Sans MS" pitchFamily="66" charset="0"/>
              </a:rPr>
              <a:t>只有</a:t>
            </a:r>
            <a:r>
              <a:rPr lang="en-US" altLang="zh-CN" sz="2600" b="1" dirty="0" smtClean="0">
                <a:latin typeface="Comic Sans MS" pitchFamily="66" charset="0"/>
              </a:rPr>
              <a:t>load </a:t>
            </a:r>
            <a:r>
              <a:rPr lang="zh-CN" altLang="en-US" sz="2600" b="1" dirty="0" smtClean="0">
                <a:latin typeface="Comic Sans MS" pitchFamily="66" charset="0"/>
              </a:rPr>
              <a:t>指令占</a:t>
            </a:r>
            <a:r>
              <a:rPr lang="en-US" altLang="zh-CN" sz="2600" b="1" dirty="0" smtClean="0">
                <a:latin typeface="Comic Sans MS" pitchFamily="66" charset="0"/>
              </a:rPr>
              <a:t> </a:t>
            </a:r>
            <a:r>
              <a:rPr lang="en-US" altLang="zh-CN" sz="2600" b="1" dirty="0">
                <a:latin typeface="Comic Sans MS" pitchFamily="66" charset="0"/>
              </a:rPr>
              <a:t>5 cycles.  </a:t>
            </a:r>
          </a:p>
          <a:p>
            <a:pPr>
              <a:lnSpc>
                <a:spcPct val="150000"/>
              </a:lnSpc>
            </a:pPr>
            <a:r>
              <a:rPr lang="en-US" altLang="zh-CN" sz="2600" b="1" dirty="0">
                <a:latin typeface="Comic Sans MS" pitchFamily="66" charset="0"/>
              </a:rPr>
              <a:t>CPI </a:t>
            </a:r>
            <a:r>
              <a:rPr lang="zh-CN" altLang="en-US" sz="2600" b="1" dirty="0" smtClean="0">
                <a:latin typeface="Comic Sans MS" pitchFamily="66" charset="0"/>
              </a:rPr>
              <a:t>降到</a:t>
            </a:r>
            <a:r>
              <a:rPr lang="en-US" altLang="zh-CN" sz="2600" b="1" dirty="0" smtClean="0">
                <a:solidFill>
                  <a:srgbClr val="FF3300"/>
                </a:solidFill>
                <a:latin typeface="Comic Sans MS" pitchFamily="66" charset="0"/>
              </a:rPr>
              <a:t>4.07</a:t>
            </a:r>
            <a:r>
              <a:rPr lang="en-US" altLang="zh-CN" sz="2600" b="1" dirty="0" smtClean="0">
                <a:latin typeface="Comic Sans MS" pitchFamily="66" charset="0"/>
              </a:rPr>
              <a:t> </a:t>
            </a:r>
            <a:r>
              <a:rPr lang="zh-CN" altLang="en-US" sz="2600" b="1" dirty="0" smtClean="0">
                <a:latin typeface="Comic Sans MS" pitchFamily="66" charset="0"/>
              </a:rPr>
              <a:t>，假定</a:t>
            </a:r>
            <a:r>
              <a:rPr lang="en-US" altLang="zh-CN" sz="2600" b="1" dirty="0" smtClean="0">
                <a:latin typeface="Comic Sans MS" pitchFamily="66" charset="0"/>
              </a:rPr>
              <a:t>ALU</a:t>
            </a:r>
            <a:r>
              <a:rPr lang="zh-CN" altLang="en-US" sz="2600" b="1" dirty="0" smtClean="0">
                <a:latin typeface="Comic Sans MS" pitchFamily="66" charset="0"/>
              </a:rPr>
              <a:t>指令操作频率</a:t>
            </a:r>
            <a:r>
              <a:rPr lang="en-US" altLang="zh-CN" sz="2600" b="1" dirty="0" smtClean="0">
                <a:latin typeface="Comic Sans MS" pitchFamily="66" charset="0"/>
              </a:rPr>
              <a:t>47%</a:t>
            </a:r>
            <a:endParaRPr lang="en-US" altLang="zh-CN" sz="26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sz="2600" b="1" dirty="0">
                <a:latin typeface="Comic Sans MS" pitchFamily="66" charset="0"/>
              </a:rPr>
              <a:t>    </a:t>
            </a:r>
            <a:r>
              <a:rPr lang="en-US" altLang="zh-CN" sz="2600" b="1" dirty="0" smtClean="0">
                <a:latin typeface="Comic Sans MS" pitchFamily="66" charset="0"/>
              </a:rPr>
              <a:t>2×12</a:t>
            </a:r>
            <a:r>
              <a:rPr lang="zh-CN" altLang="en-US" sz="2600" b="1" dirty="0">
                <a:latin typeface="Comic Sans MS" pitchFamily="66" charset="0"/>
              </a:rPr>
              <a:t>％ ＋</a:t>
            </a:r>
            <a:r>
              <a:rPr lang="en-US" altLang="zh-CN" sz="2600" b="1" dirty="0">
                <a:latin typeface="Comic Sans MS" pitchFamily="66" charset="0"/>
              </a:rPr>
              <a:t>4×</a:t>
            </a:r>
            <a:r>
              <a:rPr lang="zh-CN" altLang="en-US" sz="2600" b="1" dirty="0">
                <a:latin typeface="Comic Sans MS" pitchFamily="66" charset="0"/>
              </a:rPr>
              <a:t>（</a:t>
            </a:r>
            <a:r>
              <a:rPr lang="en-US" altLang="zh-CN" sz="2600" b="1" dirty="0">
                <a:latin typeface="Comic Sans MS" pitchFamily="66" charset="0"/>
              </a:rPr>
              <a:t>10</a:t>
            </a:r>
            <a:r>
              <a:rPr lang="zh-CN" altLang="en-US" sz="2600" b="1" dirty="0">
                <a:latin typeface="Comic Sans MS" pitchFamily="66" charset="0"/>
              </a:rPr>
              <a:t>％＋</a:t>
            </a:r>
            <a:r>
              <a:rPr lang="en-US" altLang="zh-CN" sz="2600" b="1" dirty="0">
                <a:latin typeface="Comic Sans MS" pitchFamily="66" charset="0"/>
              </a:rPr>
              <a:t>47</a:t>
            </a:r>
            <a:r>
              <a:rPr lang="zh-CN" altLang="en-US" sz="2600" b="1" dirty="0">
                <a:latin typeface="Comic Sans MS" pitchFamily="66" charset="0"/>
              </a:rPr>
              <a:t>％）＋ </a:t>
            </a:r>
            <a:r>
              <a:rPr lang="en-US" altLang="zh-CN" sz="2600" b="1" dirty="0">
                <a:latin typeface="Comic Sans MS" pitchFamily="66" charset="0"/>
              </a:rPr>
              <a:t>31%×5</a:t>
            </a:r>
            <a:r>
              <a:rPr lang="zh-CN" altLang="en-US" sz="2600" b="1" dirty="0">
                <a:latin typeface="Comic Sans MS" pitchFamily="66" charset="0"/>
              </a:rPr>
              <a:t>＝</a:t>
            </a:r>
            <a:r>
              <a:rPr lang="en-US" altLang="zh-CN" sz="2600" b="1" dirty="0">
                <a:latin typeface="Comic Sans MS" pitchFamily="66" charset="0"/>
              </a:rPr>
              <a:t>4.07</a:t>
            </a:r>
            <a:endParaRPr lang="en-US" altLang="zh-CN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B46156-9764-4598-8127-606F88ECBB9D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zh-CN" altLang="en-US" b="1" dirty="0" smtClean="0"/>
              <a:t>优化的多周期实现</a:t>
            </a:r>
            <a:endParaRPr kumimoji="0" lang="en-US" altLang="zh-CN" b="1" dirty="0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0" y="1323975"/>
            <a:ext cx="9144000" cy="5157788"/>
            <a:chOff x="0" y="834"/>
            <a:chExt cx="5760" cy="3249"/>
          </a:xfrm>
        </p:grpSpPr>
        <p:graphicFrame>
          <p:nvGraphicFramePr>
            <p:cNvPr id="49156" name="Object 4"/>
            <p:cNvGraphicFramePr>
              <a:graphicFrameLocks noChangeAspect="1"/>
            </p:cNvGraphicFramePr>
            <p:nvPr/>
          </p:nvGraphicFramePr>
          <p:xfrm>
            <a:off x="0" y="834"/>
            <a:ext cx="5760" cy="29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1" name="Picture" r:id="rId3" imgW="4972050" imgH="2847975" progId="Word.Picture.8">
                    <p:embed/>
                  </p:oleObj>
                </mc:Choice>
                <mc:Fallback>
                  <p:oleObj name="Picture" r:id="rId3" imgW="4972050" imgH="2847975" progId="Word.Picture.8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834"/>
                          <a:ext cx="5760" cy="29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157" name="Rectangle 5"/>
            <p:cNvSpPr>
              <a:spLocks noChangeArrowheads="1"/>
            </p:cNvSpPr>
            <p:nvPr/>
          </p:nvSpPr>
          <p:spPr bwMode="auto">
            <a:xfrm>
              <a:off x="384" y="3840"/>
              <a:ext cx="240" cy="24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158" name="Text Box 6"/>
            <p:cNvSpPr txBox="1">
              <a:spLocks noChangeArrowheads="1"/>
            </p:cNvSpPr>
            <p:nvPr/>
          </p:nvSpPr>
          <p:spPr bwMode="auto">
            <a:xfrm>
              <a:off x="576" y="3795"/>
              <a:ext cx="2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b="0">
                  <a:latin typeface="Comic Sans MS" pitchFamily="66" charset="0"/>
                </a:rPr>
                <a:t>Temporary storage locations</a:t>
              </a:r>
              <a:endParaRPr lang="en-US" altLang="zh-CN" b="0"/>
            </a:p>
          </p:txBody>
        </p:sp>
      </p:grpSp>
      <p:cxnSp>
        <p:nvCxnSpPr>
          <p:cNvPr id="9" name="直接连接符 8"/>
          <p:cNvCxnSpPr/>
          <p:nvPr/>
        </p:nvCxnSpPr>
        <p:spPr>
          <a:xfrm>
            <a:off x="4644008" y="4509120"/>
            <a:ext cx="0" cy="6480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4644008" y="5122452"/>
            <a:ext cx="2016224" cy="0"/>
          </a:xfrm>
          <a:prstGeom prst="straightConnector1">
            <a:avLst/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flipV="1">
            <a:off x="6660232" y="4833156"/>
            <a:ext cx="0" cy="28929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660232" y="4833156"/>
            <a:ext cx="504056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0F572FC-E55F-4CA5-8953-0DB4755019AE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改进硬件冗余</a:t>
            </a:r>
            <a:endParaRPr lang="en-US" altLang="zh-CN" b="1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6482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C00000"/>
                </a:solidFill>
                <a:latin typeface="Comic Sans MS" pitchFamily="66" charset="0"/>
              </a:rPr>
              <a:t>ALU 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可以共享</a:t>
            </a:r>
            <a:r>
              <a:rPr lang="en-US" altLang="zh-CN" b="1" dirty="0" smtClean="0">
                <a:solidFill>
                  <a:srgbClr val="C00000"/>
                </a:solidFill>
                <a:latin typeface="Comic Sans MS" pitchFamily="66" charset="0"/>
              </a:rPr>
              <a:t> </a:t>
            </a:r>
            <a:endParaRPr lang="en-US" altLang="zh-CN" b="1" dirty="0">
              <a:solidFill>
                <a:srgbClr val="C00000"/>
              </a:solidFill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数据和指令存储器可以合并</a:t>
            </a:r>
            <a:r>
              <a:rPr lang="zh-CN" altLang="en-US" b="1" dirty="0" smtClean="0">
                <a:latin typeface="Comic Sans MS" pitchFamily="66" charset="0"/>
              </a:rPr>
              <a:t>，因为访问发生在不同的时钟周期</a:t>
            </a:r>
            <a:endParaRPr lang="en-US" altLang="zh-CN" b="1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D79262-DCE0-460A-964C-8B14A7439EB8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四、</a:t>
            </a:r>
            <a:r>
              <a:rPr lang="zh-CN" altLang="en-US" b="1" dirty="0" smtClean="0">
                <a:latin typeface="Comic Sans MS" pitchFamily="66" charset="0"/>
              </a:rPr>
              <a:t>经典</a:t>
            </a:r>
            <a:r>
              <a:rPr lang="en-US" altLang="zh-CN" b="1" dirty="0" smtClean="0">
                <a:latin typeface="Comic Sans MS" pitchFamily="66" charset="0"/>
              </a:rPr>
              <a:t>5</a:t>
            </a:r>
            <a:r>
              <a:rPr lang="zh-CN" altLang="en-US" b="1" dirty="0" smtClean="0">
                <a:latin typeface="Comic Sans MS" pitchFamily="66" charset="0"/>
              </a:rPr>
              <a:t>段流水线</a:t>
            </a:r>
            <a:r>
              <a:rPr lang="en-US" altLang="zh-CN" b="1" dirty="0" smtClean="0">
                <a:latin typeface="Comic Sans MS" pitchFamily="66" charset="0"/>
              </a:rPr>
              <a:t>RISC</a:t>
            </a:r>
            <a:r>
              <a:rPr lang="zh-CN" altLang="en-US" b="1" dirty="0" smtClean="0">
                <a:latin typeface="Comic Sans MS" pitchFamily="66" charset="0"/>
              </a:rPr>
              <a:t>处理器</a:t>
            </a:r>
            <a:endParaRPr lang="en-US" altLang="zh-CN" b="1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71600"/>
            <a:ext cx="8892480" cy="50292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rgbClr val="C00000"/>
                </a:solidFill>
                <a:latin typeface="Comic Sans MS" pitchFamily="66" charset="0"/>
              </a:rPr>
              <a:t>5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个段</a:t>
            </a:r>
            <a:r>
              <a:rPr lang="zh-CN" altLang="en-US" sz="2400" b="1" dirty="0" smtClean="0">
                <a:latin typeface="Comic Sans MS" pitchFamily="66" charset="0"/>
              </a:rPr>
              <a:t>构成了一个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指令流水线</a:t>
            </a:r>
            <a:r>
              <a:rPr lang="zh-CN" altLang="en-US" sz="2400" b="1" dirty="0" smtClean="0">
                <a:latin typeface="Comic Sans MS" pitchFamily="66" charset="0"/>
              </a:rPr>
              <a:t>，一条指令经过每个段。</a:t>
            </a:r>
            <a:r>
              <a:rPr lang="en-US" altLang="zh-CN" sz="2400" b="1" dirty="0" smtClean="0">
                <a:latin typeface="Comic Sans MS" pitchFamily="66" charset="0"/>
              </a:rPr>
              <a:t> 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Comic Sans MS" pitchFamily="66" charset="0"/>
              </a:rPr>
              <a:t>CPI 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减少到</a:t>
            </a:r>
            <a:r>
              <a:rPr lang="en-US" altLang="zh-CN" sz="2400" b="1" dirty="0" smtClean="0">
                <a:solidFill>
                  <a:srgbClr val="C00000"/>
                </a:solidFill>
                <a:latin typeface="Comic Sans MS" pitchFamily="66" charset="0"/>
              </a:rPr>
              <a:t>1</a:t>
            </a:r>
            <a:r>
              <a:rPr lang="zh-CN" altLang="en-US" sz="2400" b="1" dirty="0" smtClean="0">
                <a:latin typeface="Comic Sans MS" pitchFamily="66" charset="0"/>
              </a:rPr>
              <a:t>，因为平均每个时钟周期发射或完成一条指令。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在任意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时钟周期</a:t>
            </a:r>
            <a:r>
              <a:rPr lang="zh-CN" altLang="en-US" sz="2400" b="1" dirty="0" smtClean="0">
                <a:latin typeface="Comic Sans MS" pitchFamily="66" charset="0"/>
              </a:rPr>
              <a:t>，在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每个流水段正执行一条指令的部分</a:t>
            </a:r>
            <a:r>
              <a:rPr lang="zh-CN" altLang="en-US" sz="2400" b="1" dirty="0" smtClean="0">
                <a:latin typeface="Comic Sans MS" pitchFamily="66" charset="0"/>
              </a:rPr>
              <a:t>。</a:t>
            </a:r>
            <a:r>
              <a:rPr lang="en-US" altLang="zh-CN" sz="2400" b="1" dirty="0" smtClean="0">
                <a:latin typeface="Comic Sans MS" pitchFamily="66" charset="0"/>
              </a:rPr>
              <a:t> </a:t>
            </a:r>
            <a:endParaRPr lang="en-US" altLang="zh-CN" sz="2400" b="1" dirty="0">
              <a:latin typeface="Comic Sans MS" pitchFamily="66" charset="0"/>
            </a:endParaRPr>
          </a:p>
          <a:p>
            <a:endParaRPr lang="en-US" altLang="zh-CN" sz="2400" dirty="0">
              <a:latin typeface="Comic Sans MS" pitchFamily="66" charset="0"/>
            </a:endParaRPr>
          </a:p>
          <a:p>
            <a:endParaRPr lang="en-US" altLang="zh-CN" sz="2400" dirty="0">
              <a:latin typeface="Comic Sans MS" pitchFamily="66" charset="0"/>
            </a:endParaRPr>
          </a:p>
          <a:p>
            <a:endParaRPr lang="en-US" altLang="zh-CN" sz="2400" dirty="0">
              <a:latin typeface="Comic Sans MS" pitchFamily="66" charset="0"/>
            </a:endParaRPr>
          </a:p>
          <a:p>
            <a:endParaRPr lang="en-US" altLang="zh-CN" sz="2400" dirty="0">
              <a:latin typeface="Comic Sans MS" pitchFamily="66" charset="0"/>
            </a:endParaRPr>
          </a:p>
          <a:p>
            <a:endParaRPr lang="en-US" altLang="zh-CN" sz="2400" dirty="0">
              <a:latin typeface="Comic Sans MS" pitchFamily="66" charset="0"/>
            </a:endParaRPr>
          </a:p>
          <a:p>
            <a:r>
              <a:rPr lang="en-US" altLang="zh-CN" sz="2400" dirty="0">
                <a:solidFill>
                  <a:schemeClr val="tx2"/>
                </a:solidFill>
                <a:latin typeface="Comic Sans MS" pitchFamily="66" charset="0"/>
              </a:rPr>
              <a:t>Ideally, performance is increased</a:t>
            </a:r>
            <a:r>
              <a:rPr lang="en-US" altLang="zh-CN" sz="2400" dirty="0">
                <a:solidFill>
                  <a:srgbClr val="FF3300"/>
                </a:solidFill>
                <a:latin typeface="Comic Sans MS" pitchFamily="66" charset="0"/>
              </a:rPr>
              <a:t> five fold </a:t>
            </a:r>
            <a:r>
              <a:rPr lang="en-US" altLang="zh-CN" sz="2400" dirty="0">
                <a:solidFill>
                  <a:schemeClr val="tx2"/>
                </a:solidFill>
                <a:latin typeface="Comic Sans MS" pitchFamily="66" charset="0"/>
              </a:rPr>
              <a:t>!</a:t>
            </a:r>
            <a:r>
              <a:rPr lang="en-US" altLang="zh-CN" sz="2400" dirty="0">
                <a:latin typeface="Comic Sans MS" pitchFamily="66" charset="0"/>
              </a:rPr>
              <a:t>  </a:t>
            </a:r>
            <a:endParaRPr lang="en-US" altLang="zh-CN" sz="2800" dirty="0">
              <a:latin typeface="Comic Sans MS" pitchFamily="66" charset="0"/>
            </a:endParaRPr>
          </a:p>
        </p:txBody>
      </p:sp>
      <p:pic>
        <p:nvPicPr>
          <p:cNvPr id="45061" name="Picture 5" descr="E:\English_arch\611\chap3_1.files\chap3_1-3new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357562"/>
            <a:ext cx="7096148" cy="292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19EF53-A9D2-498C-A683-9C09DA0EAD21}" type="slidenum">
              <a:rPr lang="en-US" altLang="zh-CN"/>
              <a:pPr/>
              <a:t>29</a:t>
            </a:fld>
            <a:endParaRPr lang="en-US" altLang="zh-CN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81000" y="1524000"/>
            <a:ext cx="8305800" cy="4724400"/>
            <a:chOff x="240" y="960"/>
            <a:chExt cx="5232" cy="2976"/>
          </a:xfrm>
        </p:grpSpPr>
        <p:pic>
          <p:nvPicPr>
            <p:cNvPr id="47111" name="Picture 7" descr="E:\English_arch\611\chap3_4.files\chap3_4-5new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960"/>
              <a:ext cx="5232" cy="2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3110" y="3002"/>
              <a:ext cx="2254" cy="934"/>
              <a:chOff x="3110" y="3002"/>
              <a:chExt cx="2254" cy="934"/>
            </a:xfrm>
          </p:grpSpPr>
          <p:sp>
            <p:nvSpPr>
              <p:cNvPr id="47117" name="Text Box 13"/>
              <p:cNvSpPr txBox="1">
                <a:spLocks noChangeArrowheads="1"/>
              </p:cNvSpPr>
              <p:nvPr/>
            </p:nvSpPr>
            <p:spPr bwMode="auto">
              <a:xfrm>
                <a:off x="3110" y="3002"/>
                <a:ext cx="5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>
                    <a:solidFill>
                      <a:srgbClr val="339966"/>
                    </a:solidFill>
                  </a:rPr>
                  <a:t>store</a:t>
                </a:r>
                <a:endParaRPr lang="en-US" altLang="zh-CN" b="0"/>
              </a:p>
            </p:txBody>
          </p:sp>
          <p:sp>
            <p:nvSpPr>
              <p:cNvPr id="47118" name="Text Box 14"/>
              <p:cNvSpPr txBox="1">
                <a:spLocks noChangeArrowheads="1"/>
              </p:cNvSpPr>
              <p:nvPr/>
            </p:nvSpPr>
            <p:spPr bwMode="auto">
              <a:xfrm>
                <a:off x="4896" y="3648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>
                    <a:solidFill>
                      <a:srgbClr val="339966"/>
                    </a:solidFill>
                  </a:rPr>
                  <a:t>load</a:t>
                </a:r>
                <a:endParaRPr lang="en-US" altLang="zh-CN" b="0"/>
              </a:p>
            </p:txBody>
          </p:sp>
        </p:grpSp>
      </p:grpSp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 smtClean="0"/>
              <a:t>5-</a:t>
            </a:r>
            <a:r>
              <a:rPr lang="zh-CN" altLang="en-US" b="1" dirty="0" smtClean="0"/>
              <a:t>段流水线</a:t>
            </a:r>
            <a:r>
              <a:rPr lang="en-US" altLang="zh-CN" b="1" dirty="0" smtClean="0"/>
              <a:t> </a:t>
            </a:r>
            <a:r>
              <a:rPr lang="en-US" altLang="zh-CN" b="1" dirty="0"/>
              <a:t>MIPS </a:t>
            </a:r>
            <a:r>
              <a:rPr lang="zh-CN" altLang="en-US" b="1" dirty="0" smtClean="0"/>
              <a:t>数据通路</a:t>
            </a:r>
            <a:endParaRPr lang="en-US" altLang="zh-CN" b="1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381000" y="5410200"/>
            <a:ext cx="3657600" cy="914400"/>
            <a:chOff x="240" y="3408"/>
            <a:chExt cx="2304" cy="576"/>
          </a:xfrm>
        </p:grpSpPr>
        <p:sp>
          <p:nvSpPr>
            <p:cNvPr id="47112" name="Text Box 8"/>
            <p:cNvSpPr txBox="1">
              <a:spLocks noChangeArrowheads="1"/>
            </p:cNvSpPr>
            <p:nvPr/>
          </p:nvSpPr>
          <p:spPr bwMode="auto">
            <a:xfrm>
              <a:off x="240" y="3408"/>
              <a:ext cx="83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0" rIns="18000" bIns="0">
              <a:spAutoFit/>
            </a:bodyPr>
            <a:lstStyle/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pipeline </a:t>
              </a:r>
            </a:p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registers or </a:t>
              </a:r>
              <a:endParaRPr lang="en-US" altLang="zh-CN">
                <a:solidFill>
                  <a:srgbClr val="FF00FF"/>
                </a:solidFill>
              </a:endParaRPr>
            </a:p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latches</a:t>
              </a:r>
              <a:r>
                <a:rPr lang="en-US" altLang="zh-CN" sz="2000" b="0"/>
                <a:t>  </a:t>
              </a:r>
            </a:p>
          </p:txBody>
        </p:sp>
        <p:sp>
          <p:nvSpPr>
            <p:cNvPr id="47113" name="Line 9"/>
            <p:cNvSpPr>
              <a:spLocks noChangeShapeType="1"/>
            </p:cNvSpPr>
            <p:nvPr/>
          </p:nvSpPr>
          <p:spPr bwMode="auto">
            <a:xfrm flipV="1">
              <a:off x="912" y="3456"/>
              <a:ext cx="624" cy="192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4" name="Line 10"/>
            <p:cNvSpPr>
              <a:spLocks noChangeShapeType="1"/>
            </p:cNvSpPr>
            <p:nvPr/>
          </p:nvSpPr>
          <p:spPr bwMode="auto">
            <a:xfrm flipV="1">
              <a:off x="1008" y="3456"/>
              <a:ext cx="1536" cy="24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2C40A7-9B8F-45AF-B341-10876C3DC76A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流水线怎样减少执行时间？</a:t>
            </a:r>
            <a:endParaRPr lang="en-US" altLang="zh-CN" sz="4000" b="1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1500174"/>
            <a:ext cx="8543956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 dirty="0"/>
              <a:t>   </a:t>
            </a:r>
            <a:r>
              <a:rPr lang="zh-CN" altLang="en-US" b="1" dirty="0" smtClean="0"/>
              <a:t>对比不同串行实现的机器：</a:t>
            </a:r>
            <a:endParaRPr lang="en-US" altLang="zh-CN" dirty="0">
              <a:latin typeface="Comic Sans MS" pitchFamily="66" charset="0"/>
            </a:endParaRPr>
          </a:p>
          <a:p>
            <a:r>
              <a:rPr lang="zh-CN" altLang="en-US" sz="2800" b="1" dirty="0" smtClean="0">
                <a:latin typeface="Comic Sans MS" pitchFamily="66" charset="0"/>
              </a:rPr>
              <a:t>每条指令执行用一个时钟周期的机器（单周期实现）</a:t>
            </a:r>
            <a:endParaRPr lang="en-US" altLang="zh-CN" sz="2800" b="1" dirty="0"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latin typeface="Comic Sans MS" pitchFamily="66" charset="0"/>
              </a:rPr>
              <a:t>流水线减少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时钟周期的长度（时间）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 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lvl="1"/>
            <a:endParaRPr lang="en-US" altLang="zh-CN" b="1" dirty="0">
              <a:latin typeface="Comic Sans MS" pitchFamily="66" charset="0"/>
            </a:endParaRPr>
          </a:p>
          <a:p>
            <a:r>
              <a:rPr lang="zh-CN" altLang="en-US" sz="2800" b="1" dirty="0" smtClean="0">
                <a:solidFill>
                  <a:srgbClr val="C00000"/>
                </a:solidFill>
                <a:latin typeface="Comic Sans MS" pitchFamily="66" charset="0"/>
              </a:rPr>
              <a:t>每条指令执行用多个时钟周期的机器（</a:t>
            </a:r>
            <a:r>
              <a:rPr lang="zh-CN" altLang="en-US" sz="2800" b="1" dirty="0" smtClean="0">
                <a:latin typeface="Comic Sans MS" pitchFamily="66" charset="0"/>
              </a:rPr>
              <a:t>多周期实现）</a:t>
            </a:r>
            <a:endParaRPr lang="en-US" altLang="zh-CN" b="1" dirty="0"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latin typeface="Comic Sans MS" pitchFamily="66" charset="0"/>
              </a:rPr>
              <a:t>流水线减少</a:t>
            </a:r>
            <a:r>
              <a:rPr lang="en-US" altLang="zh-CN" sz="2400" b="1" dirty="0" smtClean="0">
                <a:solidFill>
                  <a:srgbClr val="FF3300"/>
                </a:solidFill>
                <a:latin typeface="Comic Sans MS" pitchFamily="66" charset="0"/>
              </a:rPr>
              <a:t>CPI</a:t>
            </a:r>
            <a:r>
              <a:rPr lang="en-US" altLang="zh-CN" sz="2400" b="1" dirty="0">
                <a:latin typeface="Comic Sans MS" pitchFamily="66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6C3635C-9258-4C2C-9231-F21D72DE9BD9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单周期实现</a:t>
            </a:r>
            <a:r>
              <a:rPr lang="zh-CN" altLang="en-US" b="1" dirty="0" smtClean="0"/>
              <a:t>比较</a:t>
            </a:r>
            <a:r>
              <a:rPr lang="zh-CN" altLang="en-US" b="1" dirty="0" smtClean="0">
                <a:solidFill>
                  <a:srgbClr val="FF0000"/>
                </a:solidFill>
              </a:rPr>
              <a:t>流水线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grpSp>
        <p:nvGrpSpPr>
          <p:cNvPr id="2" name="Group 193"/>
          <p:cNvGrpSpPr>
            <a:grpSpLocks/>
          </p:cNvGrpSpPr>
          <p:nvPr/>
        </p:nvGrpSpPr>
        <p:grpSpPr bwMode="auto">
          <a:xfrm>
            <a:off x="304800" y="4876800"/>
            <a:ext cx="5894388" cy="1247775"/>
            <a:chOff x="192" y="2928"/>
            <a:chExt cx="3713" cy="786"/>
          </a:xfrm>
        </p:grpSpPr>
        <p:sp>
          <p:nvSpPr>
            <p:cNvPr id="53331" name="Rectangle 83"/>
            <p:cNvSpPr>
              <a:spLocks noChangeArrowheads="1"/>
            </p:cNvSpPr>
            <p:nvPr/>
          </p:nvSpPr>
          <p:spPr bwMode="auto">
            <a:xfrm>
              <a:off x="192" y="2928"/>
              <a:ext cx="3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/>
                <a:t>Load</a:t>
              </a:r>
            </a:p>
          </p:txBody>
        </p:sp>
        <p:grpSp>
          <p:nvGrpSpPr>
            <p:cNvPr id="3" name="Group 84"/>
            <p:cNvGrpSpPr>
              <a:grpSpLocks/>
            </p:cNvGrpSpPr>
            <p:nvPr/>
          </p:nvGrpSpPr>
          <p:grpSpPr bwMode="auto">
            <a:xfrm>
              <a:off x="549" y="2928"/>
              <a:ext cx="2384" cy="210"/>
              <a:chOff x="488" y="3260"/>
              <a:chExt cx="2384" cy="210"/>
            </a:xfrm>
          </p:grpSpPr>
          <p:grpSp>
            <p:nvGrpSpPr>
              <p:cNvPr id="4" name="Group 85"/>
              <p:cNvGrpSpPr>
                <a:grpSpLocks/>
              </p:cNvGrpSpPr>
              <p:nvPr/>
            </p:nvGrpSpPr>
            <p:grpSpPr bwMode="auto">
              <a:xfrm>
                <a:off x="488" y="3260"/>
                <a:ext cx="464" cy="210"/>
                <a:chOff x="488" y="3260"/>
                <a:chExt cx="464" cy="210"/>
              </a:xfrm>
            </p:grpSpPr>
            <p:sp>
              <p:nvSpPr>
                <p:cNvPr id="53334" name="Rectangle 86"/>
                <p:cNvSpPr>
                  <a:spLocks noChangeArrowheads="1"/>
                </p:cNvSpPr>
                <p:nvPr/>
              </p:nvSpPr>
              <p:spPr bwMode="auto">
                <a:xfrm>
                  <a:off x="48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5" name="Rectangle 87"/>
                <p:cNvSpPr>
                  <a:spLocks noChangeArrowheads="1"/>
                </p:cNvSpPr>
                <p:nvPr/>
              </p:nvSpPr>
              <p:spPr bwMode="auto">
                <a:xfrm>
                  <a:off x="515" y="3260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5" name="Group 88"/>
              <p:cNvGrpSpPr>
                <a:grpSpLocks/>
              </p:cNvGrpSpPr>
              <p:nvPr/>
            </p:nvGrpSpPr>
            <p:grpSpPr bwMode="auto">
              <a:xfrm>
                <a:off x="968" y="3260"/>
                <a:ext cx="464" cy="210"/>
                <a:chOff x="968" y="3260"/>
                <a:chExt cx="464" cy="210"/>
              </a:xfrm>
            </p:grpSpPr>
            <p:sp>
              <p:nvSpPr>
                <p:cNvPr id="53337" name="Rectangle 89"/>
                <p:cNvSpPr>
                  <a:spLocks noChangeArrowheads="1"/>
                </p:cNvSpPr>
                <p:nvPr/>
              </p:nvSpPr>
              <p:spPr bwMode="auto">
                <a:xfrm>
                  <a:off x="96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38" name="Rectangle 90"/>
                <p:cNvSpPr>
                  <a:spLocks noChangeArrowheads="1"/>
                </p:cNvSpPr>
                <p:nvPr/>
              </p:nvSpPr>
              <p:spPr bwMode="auto">
                <a:xfrm>
                  <a:off x="1043" y="3260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6" name="Group 91"/>
              <p:cNvGrpSpPr>
                <a:grpSpLocks/>
              </p:cNvGrpSpPr>
              <p:nvPr/>
            </p:nvGrpSpPr>
            <p:grpSpPr bwMode="auto">
              <a:xfrm>
                <a:off x="1448" y="3260"/>
                <a:ext cx="464" cy="210"/>
                <a:chOff x="1448" y="3260"/>
                <a:chExt cx="464" cy="210"/>
              </a:xfrm>
            </p:grpSpPr>
            <p:sp>
              <p:nvSpPr>
                <p:cNvPr id="53340" name="Rectangle 92"/>
                <p:cNvSpPr>
                  <a:spLocks noChangeArrowheads="1"/>
                </p:cNvSpPr>
                <p:nvPr/>
              </p:nvSpPr>
              <p:spPr bwMode="auto">
                <a:xfrm>
                  <a:off x="144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1" name="Rectangle 93"/>
                <p:cNvSpPr>
                  <a:spLocks noChangeArrowheads="1"/>
                </p:cNvSpPr>
                <p:nvPr/>
              </p:nvSpPr>
              <p:spPr bwMode="auto">
                <a:xfrm>
                  <a:off x="1475" y="3260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7" name="Group 94"/>
              <p:cNvGrpSpPr>
                <a:grpSpLocks/>
              </p:cNvGrpSpPr>
              <p:nvPr/>
            </p:nvGrpSpPr>
            <p:grpSpPr bwMode="auto">
              <a:xfrm>
                <a:off x="1928" y="3260"/>
                <a:ext cx="468" cy="210"/>
                <a:chOff x="1928" y="3260"/>
                <a:chExt cx="468" cy="210"/>
              </a:xfrm>
            </p:grpSpPr>
            <p:sp>
              <p:nvSpPr>
                <p:cNvPr id="53343" name="Rectangle 95"/>
                <p:cNvSpPr>
                  <a:spLocks noChangeArrowheads="1"/>
                </p:cNvSpPr>
                <p:nvPr/>
              </p:nvSpPr>
              <p:spPr bwMode="auto">
                <a:xfrm>
                  <a:off x="192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4" name="Rectangle 96"/>
                <p:cNvSpPr>
                  <a:spLocks noChangeArrowheads="1"/>
                </p:cNvSpPr>
                <p:nvPr/>
              </p:nvSpPr>
              <p:spPr bwMode="auto">
                <a:xfrm>
                  <a:off x="1955" y="3260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8" name="Group 97"/>
              <p:cNvGrpSpPr>
                <a:grpSpLocks/>
              </p:cNvGrpSpPr>
              <p:nvPr/>
            </p:nvGrpSpPr>
            <p:grpSpPr bwMode="auto">
              <a:xfrm>
                <a:off x="2408" y="3260"/>
                <a:ext cx="464" cy="210"/>
                <a:chOff x="2408" y="3260"/>
                <a:chExt cx="464" cy="210"/>
              </a:xfrm>
            </p:grpSpPr>
            <p:sp>
              <p:nvSpPr>
                <p:cNvPr id="53346" name="Rectangle 98"/>
                <p:cNvSpPr>
                  <a:spLocks noChangeArrowheads="1"/>
                </p:cNvSpPr>
                <p:nvPr/>
              </p:nvSpPr>
              <p:spPr bwMode="auto">
                <a:xfrm>
                  <a:off x="240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47" name="Rectangle 99"/>
                <p:cNvSpPr>
                  <a:spLocks noChangeArrowheads="1"/>
                </p:cNvSpPr>
                <p:nvPr/>
              </p:nvSpPr>
              <p:spPr bwMode="auto">
                <a:xfrm>
                  <a:off x="2483" y="3260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  <p:grpSp>
          <p:nvGrpSpPr>
            <p:cNvPr id="9" name="Group 115"/>
            <p:cNvGrpSpPr>
              <a:grpSpLocks/>
            </p:cNvGrpSpPr>
            <p:nvPr/>
          </p:nvGrpSpPr>
          <p:grpSpPr bwMode="auto">
            <a:xfrm>
              <a:off x="1029" y="3216"/>
              <a:ext cx="2384" cy="210"/>
              <a:chOff x="968" y="3548"/>
              <a:chExt cx="2384" cy="210"/>
            </a:xfrm>
          </p:grpSpPr>
          <p:grpSp>
            <p:nvGrpSpPr>
              <p:cNvPr id="10" name="Group 116"/>
              <p:cNvGrpSpPr>
                <a:grpSpLocks/>
              </p:cNvGrpSpPr>
              <p:nvPr/>
            </p:nvGrpSpPr>
            <p:grpSpPr bwMode="auto">
              <a:xfrm>
                <a:off x="968" y="3548"/>
                <a:ext cx="464" cy="210"/>
                <a:chOff x="968" y="3548"/>
                <a:chExt cx="464" cy="210"/>
              </a:xfrm>
            </p:grpSpPr>
            <p:sp>
              <p:nvSpPr>
                <p:cNvPr id="53365" name="Rectangle 117"/>
                <p:cNvSpPr>
                  <a:spLocks noChangeArrowheads="1"/>
                </p:cNvSpPr>
                <p:nvPr/>
              </p:nvSpPr>
              <p:spPr bwMode="auto">
                <a:xfrm>
                  <a:off x="96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6" name="Rectangle 118"/>
                <p:cNvSpPr>
                  <a:spLocks noChangeArrowheads="1"/>
                </p:cNvSpPr>
                <p:nvPr/>
              </p:nvSpPr>
              <p:spPr bwMode="auto">
                <a:xfrm>
                  <a:off x="995" y="3548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11" name="Group 119"/>
              <p:cNvGrpSpPr>
                <a:grpSpLocks/>
              </p:cNvGrpSpPr>
              <p:nvPr/>
            </p:nvGrpSpPr>
            <p:grpSpPr bwMode="auto">
              <a:xfrm>
                <a:off x="1448" y="3548"/>
                <a:ext cx="464" cy="210"/>
                <a:chOff x="1448" y="3548"/>
                <a:chExt cx="464" cy="210"/>
              </a:xfrm>
            </p:grpSpPr>
            <p:sp>
              <p:nvSpPr>
                <p:cNvPr id="53368" name="Rectangle 120"/>
                <p:cNvSpPr>
                  <a:spLocks noChangeArrowheads="1"/>
                </p:cNvSpPr>
                <p:nvPr/>
              </p:nvSpPr>
              <p:spPr bwMode="auto">
                <a:xfrm>
                  <a:off x="144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69" name="Rectangle 121"/>
                <p:cNvSpPr>
                  <a:spLocks noChangeArrowheads="1"/>
                </p:cNvSpPr>
                <p:nvPr/>
              </p:nvSpPr>
              <p:spPr bwMode="auto">
                <a:xfrm>
                  <a:off x="1523" y="3548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12" name="Group 122"/>
              <p:cNvGrpSpPr>
                <a:grpSpLocks/>
              </p:cNvGrpSpPr>
              <p:nvPr/>
            </p:nvGrpSpPr>
            <p:grpSpPr bwMode="auto">
              <a:xfrm>
                <a:off x="1928" y="3548"/>
                <a:ext cx="464" cy="210"/>
                <a:chOff x="1928" y="3548"/>
                <a:chExt cx="464" cy="210"/>
              </a:xfrm>
            </p:grpSpPr>
            <p:sp>
              <p:nvSpPr>
                <p:cNvPr id="53371" name="Rectangle 123"/>
                <p:cNvSpPr>
                  <a:spLocks noChangeArrowheads="1"/>
                </p:cNvSpPr>
                <p:nvPr/>
              </p:nvSpPr>
              <p:spPr bwMode="auto">
                <a:xfrm>
                  <a:off x="192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2" name="Rectangle 124"/>
                <p:cNvSpPr>
                  <a:spLocks noChangeArrowheads="1"/>
                </p:cNvSpPr>
                <p:nvPr/>
              </p:nvSpPr>
              <p:spPr bwMode="auto">
                <a:xfrm>
                  <a:off x="1955" y="3548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13" name="Group 125"/>
              <p:cNvGrpSpPr>
                <a:grpSpLocks/>
              </p:cNvGrpSpPr>
              <p:nvPr/>
            </p:nvGrpSpPr>
            <p:grpSpPr bwMode="auto">
              <a:xfrm>
                <a:off x="2408" y="3548"/>
                <a:ext cx="468" cy="210"/>
                <a:chOff x="2408" y="3548"/>
                <a:chExt cx="468" cy="210"/>
              </a:xfrm>
            </p:grpSpPr>
            <p:sp>
              <p:nvSpPr>
                <p:cNvPr id="53374" name="Rectangle 126"/>
                <p:cNvSpPr>
                  <a:spLocks noChangeArrowheads="1"/>
                </p:cNvSpPr>
                <p:nvPr/>
              </p:nvSpPr>
              <p:spPr bwMode="auto">
                <a:xfrm>
                  <a:off x="240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5" name="Rectangle 127"/>
                <p:cNvSpPr>
                  <a:spLocks noChangeArrowheads="1"/>
                </p:cNvSpPr>
                <p:nvPr/>
              </p:nvSpPr>
              <p:spPr bwMode="auto">
                <a:xfrm>
                  <a:off x="2435" y="3548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14" name="Group 128"/>
              <p:cNvGrpSpPr>
                <a:grpSpLocks/>
              </p:cNvGrpSpPr>
              <p:nvPr/>
            </p:nvGrpSpPr>
            <p:grpSpPr bwMode="auto">
              <a:xfrm>
                <a:off x="2888" y="3548"/>
                <a:ext cx="464" cy="210"/>
                <a:chOff x="2888" y="3548"/>
                <a:chExt cx="464" cy="210"/>
              </a:xfrm>
            </p:grpSpPr>
            <p:sp>
              <p:nvSpPr>
                <p:cNvPr id="53377" name="Rectangle 129"/>
                <p:cNvSpPr>
                  <a:spLocks noChangeArrowheads="1"/>
                </p:cNvSpPr>
                <p:nvPr/>
              </p:nvSpPr>
              <p:spPr bwMode="auto">
                <a:xfrm>
                  <a:off x="288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378" name="Rectangle 130"/>
                <p:cNvSpPr>
                  <a:spLocks noChangeArrowheads="1"/>
                </p:cNvSpPr>
                <p:nvPr/>
              </p:nvSpPr>
              <p:spPr bwMode="auto">
                <a:xfrm>
                  <a:off x="2963" y="3548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  <p:sp>
          <p:nvSpPr>
            <p:cNvPr id="53379" name="Rectangle 131"/>
            <p:cNvSpPr>
              <a:spLocks noChangeArrowheads="1"/>
            </p:cNvSpPr>
            <p:nvPr/>
          </p:nvSpPr>
          <p:spPr bwMode="auto">
            <a:xfrm>
              <a:off x="672" y="3216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/>
                <a:t>Store</a:t>
              </a:r>
            </a:p>
          </p:txBody>
        </p:sp>
        <p:grpSp>
          <p:nvGrpSpPr>
            <p:cNvPr id="15" name="Group 161"/>
            <p:cNvGrpSpPr>
              <a:grpSpLocks/>
            </p:cNvGrpSpPr>
            <p:nvPr/>
          </p:nvGrpSpPr>
          <p:grpSpPr bwMode="auto">
            <a:xfrm>
              <a:off x="1521" y="3504"/>
              <a:ext cx="2384" cy="210"/>
              <a:chOff x="1496" y="3836"/>
              <a:chExt cx="2384" cy="210"/>
            </a:xfrm>
          </p:grpSpPr>
          <p:grpSp>
            <p:nvGrpSpPr>
              <p:cNvPr id="16" name="Group 162"/>
              <p:cNvGrpSpPr>
                <a:grpSpLocks/>
              </p:cNvGrpSpPr>
              <p:nvPr/>
            </p:nvGrpSpPr>
            <p:grpSpPr bwMode="auto">
              <a:xfrm>
                <a:off x="1496" y="3836"/>
                <a:ext cx="464" cy="210"/>
                <a:chOff x="1496" y="3836"/>
                <a:chExt cx="464" cy="210"/>
              </a:xfrm>
            </p:grpSpPr>
            <p:sp>
              <p:nvSpPr>
                <p:cNvPr id="53411" name="Rectangle 163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2" name="Rectangle 164"/>
                <p:cNvSpPr>
                  <a:spLocks noChangeArrowheads="1"/>
                </p:cNvSpPr>
                <p:nvPr/>
              </p:nvSpPr>
              <p:spPr bwMode="auto">
                <a:xfrm>
                  <a:off x="1523" y="3836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17" name="Group 165"/>
              <p:cNvGrpSpPr>
                <a:grpSpLocks/>
              </p:cNvGrpSpPr>
              <p:nvPr/>
            </p:nvGrpSpPr>
            <p:grpSpPr bwMode="auto">
              <a:xfrm>
                <a:off x="1976" y="3836"/>
                <a:ext cx="464" cy="210"/>
                <a:chOff x="1976" y="3836"/>
                <a:chExt cx="464" cy="210"/>
              </a:xfrm>
            </p:grpSpPr>
            <p:sp>
              <p:nvSpPr>
                <p:cNvPr id="53414" name="Rectangle 166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5" name="Rectangle 167"/>
                <p:cNvSpPr>
                  <a:spLocks noChangeArrowheads="1"/>
                </p:cNvSpPr>
                <p:nvPr/>
              </p:nvSpPr>
              <p:spPr bwMode="auto">
                <a:xfrm>
                  <a:off x="2051" y="3836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18" name="Group 168"/>
              <p:cNvGrpSpPr>
                <a:grpSpLocks/>
              </p:cNvGrpSpPr>
              <p:nvPr/>
            </p:nvGrpSpPr>
            <p:grpSpPr bwMode="auto">
              <a:xfrm>
                <a:off x="2456" y="3836"/>
                <a:ext cx="464" cy="210"/>
                <a:chOff x="2456" y="3836"/>
                <a:chExt cx="464" cy="210"/>
              </a:xfrm>
            </p:grpSpPr>
            <p:sp>
              <p:nvSpPr>
                <p:cNvPr id="53417" name="Rectangle 169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18" name="Rectangle 170"/>
                <p:cNvSpPr>
                  <a:spLocks noChangeArrowheads="1"/>
                </p:cNvSpPr>
                <p:nvPr/>
              </p:nvSpPr>
              <p:spPr bwMode="auto">
                <a:xfrm>
                  <a:off x="2483" y="3836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19" name="Group 171"/>
              <p:cNvGrpSpPr>
                <a:grpSpLocks/>
              </p:cNvGrpSpPr>
              <p:nvPr/>
            </p:nvGrpSpPr>
            <p:grpSpPr bwMode="auto">
              <a:xfrm>
                <a:off x="2936" y="3836"/>
                <a:ext cx="468" cy="210"/>
                <a:chOff x="2936" y="3836"/>
                <a:chExt cx="468" cy="210"/>
              </a:xfrm>
            </p:grpSpPr>
            <p:sp>
              <p:nvSpPr>
                <p:cNvPr id="53420" name="Rectangle 172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1" name="Rectangle 173"/>
                <p:cNvSpPr>
                  <a:spLocks noChangeArrowheads="1"/>
                </p:cNvSpPr>
                <p:nvPr/>
              </p:nvSpPr>
              <p:spPr bwMode="auto">
                <a:xfrm>
                  <a:off x="2963" y="3836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20" name="Group 174"/>
              <p:cNvGrpSpPr>
                <a:grpSpLocks/>
              </p:cNvGrpSpPr>
              <p:nvPr/>
            </p:nvGrpSpPr>
            <p:grpSpPr bwMode="auto">
              <a:xfrm>
                <a:off x="3416" y="3836"/>
                <a:ext cx="464" cy="210"/>
                <a:chOff x="3416" y="3836"/>
                <a:chExt cx="464" cy="210"/>
              </a:xfrm>
            </p:grpSpPr>
            <p:sp>
              <p:nvSpPr>
                <p:cNvPr id="53423" name="Rectangle 175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424" name="Rectangle 176"/>
                <p:cNvSpPr>
                  <a:spLocks noChangeArrowheads="1"/>
                </p:cNvSpPr>
                <p:nvPr/>
              </p:nvSpPr>
              <p:spPr bwMode="auto">
                <a:xfrm>
                  <a:off x="3491" y="3836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  <p:sp>
          <p:nvSpPr>
            <p:cNvPr id="53425" name="Rectangle 177"/>
            <p:cNvSpPr>
              <a:spLocks noChangeArrowheads="1"/>
            </p:cNvSpPr>
            <p:nvPr/>
          </p:nvSpPr>
          <p:spPr bwMode="auto">
            <a:xfrm>
              <a:off x="1056" y="3504"/>
              <a:ext cx="4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/>
                <a:t>R-type</a:t>
              </a:r>
            </a:p>
          </p:txBody>
        </p:sp>
      </p:grpSp>
      <p:sp>
        <p:nvSpPr>
          <p:cNvPr id="53398" name="Rectangle 150"/>
          <p:cNvSpPr>
            <a:spLocks noChangeArrowheads="1"/>
          </p:cNvSpPr>
          <p:nvPr/>
        </p:nvSpPr>
        <p:spPr bwMode="auto">
          <a:xfrm>
            <a:off x="304800" y="1524000"/>
            <a:ext cx="67056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zh-CN" sz="1800" i="1" u="sng">
                <a:solidFill>
                  <a:schemeClr val="accent2"/>
                </a:solidFill>
                <a:latin typeface="Arial" charset="0"/>
              </a:rPr>
              <a:t>Single Cycle Implementation:</a:t>
            </a:r>
            <a:r>
              <a:rPr lang="en-US" altLang="zh-CN" sz="1800" i="1">
                <a:solidFill>
                  <a:schemeClr val="accent2"/>
                </a:solidFill>
                <a:latin typeface="Arial" charset="0"/>
              </a:rPr>
              <a:t>     </a:t>
            </a:r>
            <a:r>
              <a:rPr lang="en-US" altLang="zh-CN" sz="1800">
                <a:solidFill>
                  <a:srgbClr val="FF3300"/>
                </a:solidFill>
                <a:latin typeface="Comic Sans MS" pitchFamily="66" charset="0"/>
              </a:rPr>
              <a:t>CPI=1,   long clock cycle</a:t>
            </a:r>
            <a:r>
              <a:rPr lang="en-US" altLang="zh-CN" sz="1800" i="1" u="sng">
                <a:solidFill>
                  <a:schemeClr val="accent2"/>
                </a:solidFill>
                <a:latin typeface="Arial" charset="0"/>
              </a:rPr>
              <a:t> </a:t>
            </a:r>
            <a:endParaRPr lang="en-US" altLang="zh-CN" sz="1800" i="1" u="sng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53383" name="Line 135"/>
          <p:cNvSpPr>
            <a:spLocks noChangeShapeType="1"/>
          </p:cNvSpPr>
          <p:nvPr/>
        </p:nvSpPr>
        <p:spPr bwMode="auto">
          <a:xfrm>
            <a:off x="490538" y="22987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84" name="Line 136"/>
          <p:cNvSpPr>
            <a:spLocks noChangeShapeType="1"/>
          </p:cNvSpPr>
          <p:nvPr/>
        </p:nvSpPr>
        <p:spPr bwMode="auto">
          <a:xfrm>
            <a:off x="858838" y="23114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87" name="Line 139"/>
          <p:cNvSpPr>
            <a:spLocks noChangeShapeType="1"/>
          </p:cNvSpPr>
          <p:nvPr/>
        </p:nvSpPr>
        <p:spPr bwMode="auto">
          <a:xfrm>
            <a:off x="4440238" y="23114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88" name="Line 140"/>
          <p:cNvSpPr>
            <a:spLocks noChangeShapeType="1"/>
          </p:cNvSpPr>
          <p:nvPr/>
        </p:nvSpPr>
        <p:spPr bwMode="auto">
          <a:xfrm flipV="1">
            <a:off x="8161338" y="1905000"/>
            <a:ext cx="0" cy="15494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89" name="Line 141"/>
          <p:cNvSpPr>
            <a:spLocks noChangeShapeType="1"/>
          </p:cNvSpPr>
          <p:nvPr/>
        </p:nvSpPr>
        <p:spPr bwMode="auto">
          <a:xfrm>
            <a:off x="8174038" y="23114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0" name="Line 142"/>
          <p:cNvSpPr>
            <a:spLocks noChangeShapeType="1"/>
          </p:cNvSpPr>
          <p:nvPr/>
        </p:nvSpPr>
        <p:spPr bwMode="auto">
          <a:xfrm>
            <a:off x="871538" y="2527300"/>
            <a:ext cx="187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1" name="Line 143"/>
          <p:cNvSpPr>
            <a:spLocks noChangeShapeType="1"/>
          </p:cNvSpPr>
          <p:nvPr/>
        </p:nvSpPr>
        <p:spPr bwMode="auto">
          <a:xfrm>
            <a:off x="2776538" y="2298700"/>
            <a:ext cx="165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2" name="Line 144"/>
          <p:cNvSpPr>
            <a:spLocks noChangeShapeType="1"/>
          </p:cNvSpPr>
          <p:nvPr/>
        </p:nvSpPr>
        <p:spPr bwMode="auto">
          <a:xfrm>
            <a:off x="2763838" y="23114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3" name="Line 145"/>
          <p:cNvSpPr>
            <a:spLocks noChangeShapeType="1"/>
          </p:cNvSpPr>
          <p:nvPr/>
        </p:nvSpPr>
        <p:spPr bwMode="auto">
          <a:xfrm>
            <a:off x="4452938" y="2527300"/>
            <a:ext cx="187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4" name="Line 146"/>
          <p:cNvSpPr>
            <a:spLocks noChangeShapeType="1"/>
          </p:cNvSpPr>
          <p:nvPr/>
        </p:nvSpPr>
        <p:spPr bwMode="auto">
          <a:xfrm>
            <a:off x="6357938" y="2298700"/>
            <a:ext cx="180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5" name="Line 147"/>
          <p:cNvSpPr>
            <a:spLocks noChangeShapeType="1"/>
          </p:cNvSpPr>
          <p:nvPr/>
        </p:nvSpPr>
        <p:spPr bwMode="auto">
          <a:xfrm>
            <a:off x="6345238" y="2311400"/>
            <a:ext cx="0" cy="20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6" name="Line 148"/>
          <p:cNvSpPr>
            <a:spLocks noChangeShapeType="1"/>
          </p:cNvSpPr>
          <p:nvPr/>
        </p:nvSpPr>
        <p:spPr bwMode="auto">
          <a:xfrm>
            <a:off x="8262938" y="2527300"/>
            <a:ext cx="355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397" name="Rectangle 149"/>
          <p:cNvSpPr>
            <a:spLocks noChangeArrowheads="1"/>
          </p:cNvSpPr>
          <p:nvPr/>
        </p:nvSpPr>
        <p:spPr bwMode="auto">
          <a:xfrm>
            <a:off x="381000" y="2292350"/>
            <a:ext cx="496888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Clk</a:t>
            </a:r>
          </a:p>
        </p:txBody>
      </p:sp>
      <p:sp>
        <p:nvSpPr>
          <p:cNvPr id="53399" name="Rectangle 151"/>
          <p:cNvSpPr>
            <a:spLocks noChangeArrowheads="1"/>
          </p:cNvSpPr>
          <p:nvPr/>
        </p:nvSpPr>
        <p:spPr bwMode="auto">
          <a:xfrm>
            <a:off x="838200" y="2819400"/>
            <a:ext cx="355600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00" name="Rectangle 152"/>
          <p:cNvSpPr>
            <a:spLocks noChangeArrowheads="1"/>
          </p:cNvSpPr>
          <p:nvPr/>
        </p:nvSpPr>
        <p:spPr bwMode="auto">
          <a:xfrm>
            <a:off x="4419600" y="2819400"/>
            <a:ext cx="370840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01" name="Rectangle 153"/>
          <p:cNvSpPr>
            <a:spLocks noChangeArrowheads="1"/>
          </p:cNvSpPr>
          <p:nvPr/>
        </p:nvSpPr>
        <p:spPr bwMode="auto">
          <a:xfrm>
            <a:off x="2176463" y="2800350"/>
            <a:ext cx="6318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Load</a:t>
            </a:r>
          </a:p>
        </p:txBody>
      </p:sp>
      <p:sp>
        <p:nvSpPr>
          <p:cNvPr id="53402" name="Rectangle 154"/>
          <p:cNvSpPr>
            <a:spLocks noChangeArrowheads="1"/>
          </p:cNvSpPr>
          <p:nvPr/>
        </p:nvSpPr>
        <p:spPr bwMode="auto">
          <a:xfrm>
            <a:off x="5986463" y="2800350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Store</a:t>
            </a:r>
          </a:p>
        </p:txBody>
      </p:sp>
      <p:sp>
        <p:nvSpPr>
          <p:cNvPr id="53403" name="Line 155"/>
          <p:cNvSpPr>
            <a:spLocks noChangeShapeType="1"/>
          </p:cNvSpPr>
          <p:nvPr/>
        </p:nvSpPr>
        <p:spPr bwMode="auto">
          <a:xfrm flipV="1">
            <a:off x="7454900" y="27940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04" name="Rectangle 156"/>
          <p:cNvSpPr>
            <a:spLocks noChangeArrowheads="1"/>
          </p:cNvSpPr>
          <p:nvPr/>
        </p:nvSpPr>
        <p:spPr bwMode="auto">
          <a:xfrm>
            <a:off x="7434263" y="2800350"/>
            <a:ext cx="7239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Waste</a:t>
            </a:r>
          </a:p>
        </p:txBody>
      </p:sp>
      <p:sp>
        <p:nvSpPr>
          <p:cNvPr id="53426" name="Line 178"/>
          <p:cNvSpPr>
            <a:spLocks noChangeShapeType="1"/>
          </p:cNvSpPr>
          <p:nvPr/>
        </p:nvSpPr>
        <p:spPr bwMode="auto">
          <a:xfrm flipV="1">
            <a:off x="858838" y="19812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27" name="Rectangle 179"/>
          <p:cNvSpPr>
            <a:spLocks noChangeArrowheads="1"/>
          </p:cNvSpPr>
          <p:nvPr/>
        </p:nvSpPr>
        <p:spPr bwMode="auto">
          <a:xfrm>
            <a:off x="2362200" y="198755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Cycle 1</a:t>
            </a:r>
          </a:p>
        </p:txBody>
      </p:sp>
      <p:sp>
        <p:nvSpPr>
          <p:cNvPr id="53428" name="Line 180"/>
          <p:cNvSpPr>
            <a:spLocks noChangeShapeType="1"/>
          </p:cNvSpPr>
          <p:nvPr/>
        </p:nvSpPr>
        <p:spPr bwMode="auto">
          <a:xfrm flipV="1">
            <a:off x="4440238" y="1981200"/>
            <a:ext cx="0" cy="3302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29" name="Line 181"/>
          <p:cNvSpPr>
            <a:spLocks noChangeShapeType="1"/>
          </p:cNvSpPr>
          <p:nvPr/>
        </p:nvSpPr>
        <p:spPr bwMode="auto">
          <a:xfrm flipV="1">
            <a:off x="8174038" y="1981200"/>
            <a:ext cx="0" cy="33020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0" name="Rectangle 182"/>
          <p:cNvSpPr>
            <a:spLocks noChangeArrowheads="1"/>
          </p:cNvSpPr>
          <p:nvPr/>
        </p:nvSpPr>
        <p:spPr bwMode="auto">
          <a:xfrm>
            <a:off x="5943600" y="1987550"/>
            <a:ext cx="8191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Cycle 2</a:t>
            </a:r>
          </a:p>
        </p:txBody>
      </p:sp>
      <p:sp>
        <p:nvSpPr>
          <p:cNvPr id="53431" name="Line 183"/>
          <p:cNvSpPr>
            <a:spLocks noChangeShapeType="1"/>
          </p:cNvSpPr>
          <p:nvPr/>
        </p:nvSpPr>
        <p:spPr bwMode="auto">
          <a:xfrm>
            <a:off x="871538" y="2146300"/>
            <a:ext cx="142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2" name="Line 184"/>
          <p:cNvSpPr>
            <a:spLocks noChangeShapeType="1"/>
          </p:cNvSpPr>
          <p:nvPr/>
        </p:nvSpPr>
        <p:spPr bwMode="auto">
          <a:xfrm>
            <a:off x="4452938" y="2146300"/>
            <a:ext cx="142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3" name="Line 185"/>
          <p:cNvSpPr>
            <a:spLocks noChangeShapeType="1"/>
          </p:cNvSpPr>
          <p:nvPr/>
        </p:nvSpPr>
        <p:spPr bwMode="auto">
          <a:xfrm flipH="1">
            <a:off x="6713538" y="2146300"/>
            <a:ext cx="147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4" name="Line 186"/>
          <p:cNvSpPr>
            <a:spLocks noChangeShapeType="1"/>
          </p:cNvSpPr>
          <p:nvPr/>
        </p:nvSpPr>
        <p:spPr bwMode="auto">
          <a:xfrm flipH="1">
            <a:off x="3208338" y="2146300"/>
            <a:ext cx="1092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5" name="Line 187"/>
          <p:cNvSpPr>
            <a:spLocks noChangeShapeType="1"/>
          </p:cNvSpPr>
          <p:nvPr/>
        </p:nvSpPr>
        <p:spPr bwMode="auto">
          <a:xfrm flipV="1">
            <a:off x="4440238" y="2286000"/>
            <a:ext cx="0" cy="15494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439" name="Rectangle 191"/>
          <p:cNvSpPr>
            <a:spLocks noChangeArrowheads="1"/>
          </p:cNvSpPr>
          <p:nvPr/>
        </p:nvSpPr>
        <p:spPr bwMode="auto">
          <a:xfrm>
            <a:off x="304800" y="3505200"/>
            <a:ext cx="85344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zh-CN" sz="1800" i="1" u="sng">
                <a:solidFill>
                  <a:schemeClr val="accent2"/>
                </a:solidFill>
                <a:latin typeface="Arial" charset="0"/>
              </a:rPr>
              <a:t>Pipeline Implementation: </a:t>
            </a:r>
            <a:r>
              <a:rPr lang="en-US" altLang="zh-CN" sz="1800" i="1">
                <a:solidFill>
                  <a:schemeClr val="accent2"/>
                </a:solidFill>
                <a:latin typeface="Arial" charset="0"/>
              </a:rPr>
              <a:t>    </a:t>
            </a:r>
            <a:r>
              <a:rPr lang="en-US" altLang="zh-CN" sz="1800">
                <a:solidFill>
                  <a:srgbClr val="FF3300"/>
                </a:solidFill>
                <a:latin typeface="Comic Sans MS" pitchFamily="66" charset="0"/>
              </a:rPr>
              <a:t>CPI=1, clock cycle </a:t>
            </a:r>
            <a:r>
              <a:rPr lang="en-US" altLang="zh-CN" sz="1800">
                <a:solidFill>
                  <a:srgbClr val="FF3300"/>
                </a:solidFill>
                <a:latin typeface="Comic Sans MS" pitchFamily="66" charset="0"/>
                <a:sym typeface="Symbol" pitchFamily="18" charset="2"/>
              </a:rPr>
              <a:t>  long clock cycle/5</a:t>
            </a:r>
            <a:endParaRPr lang="en-US" altLang="zh-CN" sz="1800" i="1" u="sng">
              <a:solidFill>
                <a:srgbClr val="000099"/>
              </a:solidFill>
              <a:latin typeface="Arial" charset="0"/>
            </a:endParaRPr>
          </a:p>
        </p:txBody>
      </p:sp>
      <p:grpSp>
        <p:nvGrpSpPr>
          <p:cNvPr id="21" name="Group 258"/>
          <p:cNvGrpSpPr>
            <a:grpSpLocks/>
          </p:cNvGrpSpPr>
          <p:nvPr/>
        </p:nvGrpSpPr>
        <p:grpSpPr bwMode="auto">
          <a:xfrm>
            <a:off x="304800" y="3533775"/>
            <a:ext cx="8542338" cy="1225550"/>
            <a:chOff x="192" y="2226"/>
            <a:chExt cx="5381" cy="772"/>
          </a:xfrm>
        </p:grpSpPr>
        <p:grpSp>
          <p:nvGrpSpPr>
            <p:cNvPr id="22" name="Group 257"/>
            <p:cNvGrpSpPr>
              <a:grpSpLocks/>
            </p:cNvGrpSpPr>
            <p:nvPr/>
          </p:nvGrpSpPr>
          <p:grpSpPr bwMode="auto">
            <a:xfrm>
              <a:off x="541" y="2226"/>
              <a:ext cx="2400" cy="544"/>
              <a:chOff x="541" y="2112"/>
              <a:chExt cx="2400" cy="544"/>
            </a:xfrm>
          </p:grpSpPr>
          <p:sp>
            <p:nvSpPr>
              <p:cNvPr id="53259" name="Line 11"/>
              <p:cNvSpPr>
                <a:spLocks noChangeShapeType="1"/>
              </p:cNvSpPr>
              <p:nvPr/>
            </p:nvSpPr>
            <p:spPr bwMode="auto">
              <a:xfrm flipV="1">
                <a:off x="541" y="2120"/>
                <a:ext cx="0" cy="536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386" name="Line 138"/>
              <p:cNvSpPr>
                <a:spLocks noChangeShapeType="1"/>
              </p:cNvSpPr>
              <p:nvPr/>
            </p:nvSpPr>
            <p:spPr bwMode="auto">
              <a:xfrm flipV="1">
                <a:off x="2941" y="2112"/>
                <a:ext cx="0" cy="544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" name="Group 256"/>
            <p:cNvGrpSpPr>
              <a:grpSpLocks/>
            </p:cNvGrpSpPr>
            <p:nvPr/>
          </p:nvGrpSpPr>
          <p:grpSpPr bwMode="auto">
            <a:xfrm>
              <a:off x="192" y="2544"/>
              <a:ext cx="5381" cy="454"/>
              <a:chOff x="192" y="2444"/>
              <a:chExt cx="5381" cy="454"/>
            </a:xfrm>
          </p:grpSpPr>
          <p:sp>
            <p:nvSpPr>
              <p:cNvPr id="53442" name="Rectangle 194"/>
              <p:cNvSpPr>
                <a:spLocks noChangeArrowheads="1"/>
              </p:cNvSpPr>
              <p:nvPr/>
            </p:nvSpPr>
            <p:spPr bwMode="auto">
              <a:xfrm>
                <a:off x="192" y="2688"/>
                <a:ext cx="31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Clk</a:t>
                </a:r>
              </a:p>
            </p:txBody>
          </p:sp>
          <p:sp>
            <p:nvSpPr>
              <p:cNvPr id="53443" name="Line 195"/>
              <p:cNvSpPr>
                <a:spLocks noChangeShapeType="1"/>
              </p:cNvSpPr>
              <p:nvPr/>
            </p:nvSpPr>
            <p:spPr bwMode="auto">
              <a:xfrm>
                <a:off x="5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4" name="Line 196"/>
              <p:cNvSpPr>
                <a:spLocks noChangeShapeType="1"/>
              </p:cNvSpPr>
              <p:nvPr/>
            </p:nvSpPr>
            <p:spPr bwMode="auto">
              <a:xfrm>
                <a:off x="5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5" name="Line 197"/>
              <p:cNvSpPr>
                <a:spLocks noChangeShapeType="1"/>
              </p:cNvSpPr>
              <p:nvPr/>
            </p:nvSpPr>
            <p:spPr bwMode="auto">
              <a:xfrm flipV="1">
                <a:off x="7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6" name="Line 198"/>
              <p:cNvSpPr>
                <a:spLocks noChangeShapeType="1"/>
              </p:cNvSpPr>
              <p:nvPr/>
            </p:nvSpPr>
            <p:spPr bwMode="auto">
              <a:xfrm>
                <a:off x="7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7" name="Line 199"/>
              <p:cNvSpPr>
                <a:spLocks noChangeShapeType="1"/>
              </p:cNvSpPr>
              <p:nvPr/>
            </p:nvSpPr>
            <p:spPr bwMode="auto">
              <a:xfrm>
                <a:off x="10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8" name="Line 200"/>
              <p:cNvSpPr>
                <a:spLocks noChangeShapeType="1"/>
              </p:cNvSpPr>
              <p:nvPr/>
            </p:nvSpPr>
            <p:spPr bwMode="auto">
              <a:xfrm>
                <a:off x="3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49" name="Rectangle 201"/>
              <p:cNvSpPr>
                <a:spLocks noChangeArrowheads="1"/>
              </p:cNvSpPr>
              <p:nvPr/>
            </p:nvSpPr>
            <p:spPr bwMode="auto">
              <a:xfrm>
                <a:off x="52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1</a:t>
                </a:r>
              </a:p>
            </p:txBody>
          </p:sp>
          <p:sp>
            <p:nvSpPr>
              <p:cNvPr id="53450" name="Line 202"/>
              <p:cNvSpPr>
                <a:spLocks noChangeShapeType="1"/>
              </p:cNvSpPr>
              <p:nvPr/>
            </p:nvSpPr>
            <p:spPr bwMode="auto">
              <a:xfrm>
                <a:off x="10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1" name="Line 203"/>
              <p:cNvSpPr>
                <a:spLocks noChangeShapeType="1"/>
              </p:cNvSpPr>
              <p:nvPr/>
            </p:nvSpPr>
            <p:spPr bwMode="auto">
              <a:xfrm flipV="1">
                <a:off x="12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2" name="Line 204"/>
              <p:cNvSpPr>
                <a:spLocks noChangeShapeType="1"/>
              </p:cNvSpPr>
              <p:nvPr/>
            </p:nvSpPr>
            <p:spPr bwMode="auto">
              <a:xfrm>
                <a:off x="12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3" name="Line 205"/>
              <p:cNvSpPr>
                <a:spLocks noChangeShapeType="1"/>
              </p:cNvSpPr>
              <p:nvPr/>
            </p:nvSpPr>
            <p:spPr bwMode="auto">
              <a:xfrm>
                <a:off x="15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4" name="Line 206"/>
              <p:cNvSpPr>
                <a:spLocks noChangeShapeType="1"/>
              </p:cNvSpPr>
              <p:nvPr/>
            </p:nvSpPr>
            <p:spPr bwMode="auto">
              <a:xfrm flipV="1">
                <a:off x="10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5" name="Rectangle 207"/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2</a:t>
                </a:r>
              </a:p>
            </p:txBody>
          </p:sp>
          <p:sp>
            <p:nvSpPr>
              <p:cNvPr id="53456" name="Line 208"/>
              <p:cNvSpPr>
                <a:spLocks noChangeShapeType="1"/>
              </p:cNvSpPr>
              <p:nvPr/>
            </p:nvSpPr>
            <p:spPr bwMode="auto">
              <a:xfrm>
                <a:off x="15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7" name="Line 209"/>
              <p:cNvSpPr>
                <a:spLocks noChangeShapeType="1"/>
              </p:cNvSpPr>
              <p:nvPr/>
            </p:nvSpPr>
            <p:spPr bwMode="auto">
              <a:xfrm flipV="1">
                <a:off x="17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8" name="Line 210"/>
              <p:cNvSpPr>
                <a:spLocks noChangeShapeType="1"/>
              </p:cNvSpPr>
              <p:nvPr/>
            </p:nvSpPr>
            <p:spPr bwMode="auto">
              <a:xfrm>
                <a:off x="17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59" name="Line 211"/>
              <p:cNvSpPr>
                <a:spLocks noChangeShapeType="1"/>
              </p:cNvSpPr>
              <p:nvPr/>
            </p:nvSpPr>
            <p:spPr bwMode="auto">
              <a:xfrm>
                <a:off x="19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0" name="Line 212"/>
              <p:cNvSpPr>
                <a:spLocks noChangeShapeType="1"/>
              </p:cNvSpPr>
              <p:nvPr/>
            </p:nvSpPr>
            <p:spPr bwMode="auto">
              <a:xfrm flipV="1">
                <a:off x="15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1" name="Rectangle 213"/>
              <p:cNvSpPr>
                <a:spLocks noChangeArrowheads="1"/>
              </p:cNvSpPr>
              <p:nvPr/>
            </p:nvSpPr>
            <p:spPr bwMode="auto">
              <a:xfrm>
                <a:off x="148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3</a:t>
                </a:r>
              </a:p>
            </p:txBody>
          </p:sp>
          <p:sp>
            <p:nvSpPr>
              <p:cNvPr id="53462" name="Line 214"/>
              <p:cNvSpPr>
                <a:spLocks noChangeShapeType="1"/>
              </p:cNvSpPr>
              <p:nvPr/>
            </p:nvSpPr>
            <p:spPr bwMode="auto">
              <a:xfrm>
                <a:off x="19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3" name="Line 215"/>
              <p:cNvSpPr>
                <a:spLocks noChangeShapeType="1"/>
              </p:cNvSpPr>
              <p:nvPr/>
            </p:nvSpPr>
            <p:spPr bwMode="auto">
              <a:xfrm flipV="1">
                <a:off x="22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4" name="Line 216"/>
              <p:cNvSpPr>
                <a:spLocks noChangeShapeType="1"/>
              </p:cNvSpPr>
              <p:nvPr/>
            </p:nvSpPr>
            <p:spPr bwMode="auto">
              <a:xfrm>
                <a:off x="22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5" name="Line 217"/>
              <p:cNvSpPr>
                <a:spLocks noChangeShapeType="1"/>
              </p:cNvSpPr>
              <p:nvPr/>
            </p:nvSpPr>
            <p:spPr bwMode="auto">
              <a:xfrm>
                <a:off x="24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6" name="Line 218"/>
              <p:cNvSpPr>
                <a:spLocks noChangeShapeType="1"/>
              </p:cNvSpPr>
              <p:nvPr/>
            </p:nvSpPr>
            <p:spPr bwMode="auto">
              <a:xfrm flipV="1">
                <a:off x="19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7" name="Rectangle 219"/>
              <p:cNvSpPr>
                <a:spLocks noChangeArrowheads="1"/>
              </p:cNvSpPr>
              <p:nvPr/>
            </p:nvSpPr>
            <p:spPr bwMode="auto">
              <a:xfrm>
                <a:off x="196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4</a:t>
                </a:r>
              </a:p>
            </p:txBody>
          </p:sp>
          <p:sp>
            <p:nvSpPr>
              <p:cNvPr id="53468" name="Line 220"/>
              <p:cNvSpPr>
                <a:spLocks noChangeShapeType="1"/>
              </p:cNvSpPr>
              <p:nvPr/>
            </p:nvSpPr>
            <p:spPr bwMode="auto">
              <a:xfrm>
                <a:off x="24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69" name="Line 221"/>
              <p:cNvSpPr>
                <a:spLocks noChangeShapeType="1"/>
              </p:cNvSpPr>
              <p:nvPr/>
            </p:nvSpPr>
            <p:spPr bwMode="auto">
              <a:xfrm flipV="1">
                <a:off x="27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0" name="Line 222"/>
              <p:cNvSpPr>
                <a:spLocks noChangeShapeType="1"/>
              </p:cNvSpPr>
              <p:nvPr/>
            </p:nvSpPr>
            <p:spPr bwMode="auto">
              <a:xfrm>
                <a:off x="27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1" name="Line 223"/>
              <p:cNvSpPr>
                <a:spLocks noChangeShapeType="1"/>
              </p:cNvSpPr>
              <p:nvPr/>
            </p:nvSpPr>
            <p:spPr bwMode="auto">
              <a:xfrm>
                <a:off x="29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2" name="Line 224"/>
              <p:cNvSpPr>
                <a:spLocks noChangeShapeType="1"/>
              </p:cNvSpPr>
              <p:nvPr/>
            </p:nvSpPr>
            <p:spPr bwMode="auto">
              <a:xfrm flipV="1">
                <a:off x="24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3" name="Rectangle 225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5</a:t>
                </a:r>
              </a:p>
            </p:txBody>
          </p:sp>
          <p:sp>
            <p:nvSpPr>
              <p:cNvPr id="53474" name="Line 226"/>
              <p:cNvSpPr>
                <a:spLocks noChangeShapeType="1"/>
              </p:cNvSpPr>
              <p:nvPr/>
            </p:nvSpPr>
            <p:spPr bwMode="auto">
              <a:xfrm>
                <a:off x="29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5" name="Line 227"/>
              <p:cNvSpPr>
                <a:spLocks noChangeShapeType="1"/>
              </p:cNvSpPr>
              <p:nvPr/>
            </p:nvSpPr>
            <p:spPr bwMode="auto">
              <a:xfrm flipV="1">
                <a:off x="31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6" name="Line 228"/>
              <p:cNvSpPr>
                <a:spLocks noChangeShapeType="1"/>
              </p:cNvSpPr>
              <p:nvPr/>
            </p:nvSpPr>
            <p:spPr bwMode="auto">
              <a:xfrm>
                <a:off x="31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7" name="Line 229"/>
              <p:cNvSpPr>
                <a:spLocks noChangeShapeType="1"/>
              </p:cNvSpPr>
              <p:nvPr/>
            </p:nvSpPr>
            <p:spPr bwMode="auto">
              <a:xfrm>
                <a:off x="34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78" name="Rectangle 230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6</a:t>
                </a:r>
              </a:p>
            </p:txBody>
          </p:sp>
          <p:sp>
            <p:nvSpPr>
              <p:cNvPr id="53479" name="Line 231"/>
              <p:cNvSpPr>
                <a:spLocks noChangeShapeType="1"/>
              </p:cNvSpPr>
              <p:nvPr/>
            </p:nvSpPr>
            <p:spPr bwMode="auto">
              <a:xfrm>
                <a:off x="34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0" name="Line 232"/>
              <p:cNvSpPr>
                <a:spLocks noChangeShapeType="1"/>
              </p:cNvSpPr>
              <p:nvPr/>
            </p:nvSpPr>
            <p:spPr bwMode="auto">
              <a:xfrm flipV="1">
                <a:off x="36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1" name="Line 233"/>
              <p:cNvSpPr>
                <a:spLocks noChangeShapeType="1"/>
              </p:cNvSpPr>
              <p:nvPr/>
            </p:nvSpPr>
            <p:spPr bwMode="auto">
              <a:xfrm>
                <a:off x="36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2" name="Line 234"/>
              <p:cNvSpPr>
                <a:spLocks noChangeShapeType="1"/>
              </p:cNvSpPr>
              <p:nvPr/>
            </p:nvSpPr>
            <p:spPr bwMode="auto">
              <a:xfrm>
                <a:off x="39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3" name="Line 235"/>
              <p:cNvSpPr>
                <a:spLocks noChangeShapeType="1"/>
              </p:cNvSpPr>
              <p:nvPr/>
            </p:nvSpPr>
            <p:spPr bwMode="auto">
              <a:xfrm flipV="1">
                <a:off x="34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4" name="Rectangle 236"/>
              <p:cNvSpPr>
                <a:spLocks noChangeArrowheads="1"/>
              </p:cNvSpPr>
              <p:nvPr/>
            </p:nvSpPr>
            <p:spPr bwMode="auto">
              <a:xfrm>
                <a:off x="340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7</a:t>
                </a:r>
              </a:p>
            </p:txBody>
          </p:sp>
          <p:sp>
            <p:nvSpPr>
              <p:cNvPr id="53485" name="Line 237"/>
              <p:cNvSpPr>
                <a:spLocks noChangeShapeType="1"/>
              </p:cNvSpPr>
              <p:nvPr/>
            </p:nvSpPr>
            <p:spPr bwMode="auto">
              <a:xfrm>
                <a:off x="39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6" name="Line 238"/>
              <p:cNvSpPr>
                <a:spLocks noChangeShapeType="1"/>
              </p:cNvSpPr>
              <p:nvPr/>
            </p:nvSpPr>
            <p:spPr bwMode="auto">
              <a:xfrm flipV="1">
                <a:off x="41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7" name="Line 239"/>
              <p:cNvSpPr>
                <a:spLocks noChangeShapeType="1"/>
              </p:cNvSpPr>
              <p:nvPr/>
            </p:nvSpPr>
            <p:spPr bwMode="auto">
              <a:xfrm>
                <a:off x="41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8" name="Line 240"/>
              <p:cNvSpPr>
                <a:spLocks noChangeShapeType="1"/>
              </p:cNvSpPr>
              <p:nvPr/>
            </p:nvSpPr>
            <p:spPr bwMode="auto">
              <a:xfrm>
                <a:off x="43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89" name="Line 241"/>
              <p:cNvSpPr>
                <a:spLocks noChangeShapeType="1"/>
              </p:cNvSpPr>
              <p:nvPr/>
            </p:nvSpPr>
            <p:spPr bwMode="auto">
              <a:xfrm flipV="1">
                <a:off x="39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0" name="Rectangle 242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8</a:t>
                </a:r>
              </a:p>
            </p:txBody>
          </p:sp>
          <p:sp>
            <p:nvSpPr>
              <p:cNvPr id="53491" name="Line 243"/>
              <p:cNvSpPr>
                <a:spLocks noChangeShapeType="1"/>
              </p:cNvSpPr>
              <p:nvPr/>
            </p:nvSpPr>
            <p:spPr bwMode="auto">
              <a:xfrm>
                <a:off x="43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2" name="Line 244"/>
              <p:cNvSpPr>
                <a:spLocks noChangeShapeType="1"/>
              </p:cNvSpPr>
              <p:nvPr/>
            </p:nvSpPr>
            <p:spPr bwMode="auto">
              <a:xfrm flipV="1">
                <a:off x="46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3" name="Line 245"/>
              <p:cNvSpPr>
                <a:spLocks noChangeShapeType="1"/>
              </p:cNvSpPr>
              <p:nvPr/>
            </p:nvSpPr>
            <p:spPr bwMode="auto">
              <a:xfrm>
                <a:off x="46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4" name="Line 246"/>
              <p:cNvSpPr>
                <a:spLocks noChangeShapeType="1"/>
              </p:cNvSpPr>
              <p:nvPr/>
            </p:nvSpPr>
            <p:spPr bwMode="auto">
              <a:xfrm>
                <a:off x="48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5" name="Line 247"/>
              <p:cNvSpPr>
                <a:spLocks noChangeShapeType="1"/>
              </p:cNvSpPr>
              <p:nvPr/>
            </p:nvSpPr>
            <p:spPr bwMode="auto">
              <a:xfrm flipV="1">
                <a:off x="43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6" name="Rectangle 248"/>
              <p:cNvSpPr>
                <a:spLocks noChangeArrowheads="1"/>
              </p:cNvSpPr>
              <p:nvPr/>
            </p:nvSpPr>
            <p:spPr bwMode="auto">
              <a:xfrm>
                <a:off x="436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9</a:t>
                </a:r>
              </a:p>
            </p:txBody>
          </p:sp>
          <p:sp>
            <p:nvSpPr>
              <p:cNvPr id="53497" name="Line 249"/>
              <p:cNvSpPr>
                <a:spLocks noChangeShapeType="1"/>
              </p:cNvSpPr>
              <p:nvPr/>
            </p:nvSpPr>
            <p:spPr bwMode="auto">
              <a:xfrm>
                <a:off x="48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8" name="Line 250"/>
              <p:cNvSpPr>
                <a:spLocks noChangeShapeType="1"/>
              </p:cNvSpPr>
              <p:nvPr/>
            </p:nvSpPr>
            <p:spPr bwMode="auto">
              <a:xfrm flipV="1">
                <a:off x="51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499" name="Line 251"/>
              <p:cNvSpPr>
                <a:spLocks noChangeShapeType="1"/>
              </p:cNvSpPr>
              <p:nvPr/>
            </p:nvSpPr>
            <p:spPr bwMode="auto">
              <a:xfrm>
                <a:off x="51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0" name="Line 252"/>
              <p:cNvSpPr>
                <a:spLocks noChangeShapeType="1"/>
              </p:cNvSpPr>
              <p:nvPr/>
            </p:nvSpPr>
            <p:spPr bwMode="auto">
              <a:xfrm>
                <a:off x="53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1" name="Line 253"/>
              <p:cNvSpPr>
                <a:spLocks noChangeShapeType="1"/>
              </p:cNvSpPr>
              <p:nvPr/>
            </p:nvSpPr>
            <p:spPr bwMode="auto">
              <a:xfrm flipV="1">
                <a:off x="48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502" name="Rectangle 254"/>
              <p:cNvSpPr>
                <a:spLocks noChangeArrowheads="1"/>
              </p:cNvSpPr>
              <p:nvPr/>
            </p:nvSpPr>
            <p:spPr bwMode="auto">
              <a:xfrm>
                <a:off x="4800" y="2448"/>
                <a:ext cx="58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10</a:t>
                </a:r>
              </a:p>
            </p:txBody>
          </p:sp>
          <p:sp>
            <p:nvSpPr>
              <p:cNvPr id="53503" name="Line 255"/>
              <p:cNvSpPr>
                <a:spLocks noChangeShapeType="1"/>
              </p:cNvSpPr>
              <p:nvPr/>
            </p:nvSpPr>
            <p:spPr bwMode="auto">
              <a:xfrm>
                <a:off x="53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C28170-7DB6-4F25-8686-7720C7F75AA5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54384" name="Rectangle 112"/>
          <p:cNvSpPr>
            <a:spLocks noChangeArrowheads="1"/>
          </p:cNvSpPr>
          <p:nvPr/>
        </p:nvSpPr>
        <p:spPr bwMode="auto">
          <a:xfrm>
            <a:off x="838200" y="2597150"/>
            <a:ext cx="6318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Load</a:t>
            </a:r>
          </a:p>
        </p:txBody>
      </p:sp>
      <p:sp>
        <p:nvSpPr>
          <p:cNvPr id="54385" name="Rectangle 113"/>
          <p:cNvSpPr>
            <a:spLocks noChangeArrowheads="1"/>
          </p:cNvSpPr>
          <p:nvPr/>
        </p:nvSpPr>
        <p:spPr bwMode="auto">
          <a:xfrm>
            <a:off x="4648200" y="2597150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Store</a:t>
            </a:r>
          </a:p>
        </p:txBody>
      </p:sp>
      <p:sp>
        <p:nvSpPr>
          <p:cNvPr id="54386" name="Line 114"/>
          <p:cNvSpPr>
            <a:spLocks noChangeShapeType="1"/>
          </p:cNvSpPr>
          <p:nvPr/>
        </p:nvSpPr>
        <p:spPr bwMode="auto">
          <a:xfrm flipV="1">
            <a:off x="4668838" y="1993900"/>
            <a:ext cx="0" cy="9398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05" name="Line 133"/>
          <p:cNvSpPr>
            <a:spLocks noChangeShapeType="1"/>
          </p:cNvSpPr>
          <p:nvPr/>
        </p:nvSpPr>
        <p:spPr bwMode="auto">
          <a:xfrm flipV="1">
            <a:off x="858838" y="3200400"/>
            <a:ext cx="0" cy="3937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06" name="Line 134"/>
          <p:cNvSpPr>
            <a:spLocks noChangeShapeType="1"/>
          </p:cNvSpPr>
          <p:nvPr/>
        </p:nvSpPr>
        <p:spPr bwMode="auto">
          <a:xfrm flipV="1">
            <a:off x="4668838" y="3213100"/>
            <a:ext cx="0" cy="7874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09" name="Line 137"/>
          <p:cNvSpPr>
            <a:spLocks noChangeShapeType="1"/>
          </p:cNvSpPr>
          <p:nvPr/>
        </p:nvSpPr>
        <p:spPr bwMode="auto">
          <a:xfrm flipV="1">
            <a:off x="7716838" y="1981200"/>
            <a:ext cx="0" cy="9398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432" name="Rectangle 160"/>
          <p:cNvSpPr>
            <a:spLocks noChangeArrowheads="1"/>
          </p:cNvSpPr>
          <p:nvPr/>
        </p:nvSpPr>
        <p:spPr bwMode="auto">
          <a:xfrm>
            <a:off x="7696200" y="2597150"/>
            <a:ext cx="76835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/>
              <a:t>R-type</a:t>
            </a:r>
          </a:p>
        </p:txBody>
      </p:sp>
      <p:sp>
        <p:nvSpPr>
          <p:cNvPr id="54460" name="Line 188"/>
          <p:cNvSpPr>
            <a:spLocks noChangeShapeType="1"/>
          </p:cNvSpPr>
          <p:nvPr/>
        </p:nvSpPr>
        <p:spPr bwMode="auto">
          <a:xfrm flipV="1">
            <a:off x="858838" y="2527300"/>
            <a:ext cx="0" cy="381000"/>
          </a:xfrm>
          <a:prstGeom prst="line">
            <a:avLst/>
          </a:prstGeom>
          <a:noFill/>
          <a:ln w="25400">
            <a:solidFill>
              <a:srgbClr val="990033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89"/>
          <p:cNvGrpSpPr>
            <a:grpSpLocks/>
          </p:cNvGrpSpPr>
          <p:nvPr/>
        </p:nvGrpSpPr>
        <p:grpSpPr bwMode="auto">
          <a:xfrm>
            <a:off x="304800" y="3505200"/>
            <a:ext cx="8542338" cy="1225550"/>
            <a:chOff x="192" y="2226"/>
            <a:chExt cx="5381" cy="772"/>
          </a:xfrm>
        </p:grpSpPr>
        <p:grpSp>
          <p:nvGrpSpPr>
            <p:cNvPr id="3" name="Group 190"/>
            <p:cNvGrpSpPr>
              <a:grpSpLocks/>
            </p:cNvGrpSpPr>
            <p:nvPr/>
          </p:nvGrpSpPr>
          <p:grpSpPr bwMode="auto">
            <a:xfrm>
              <a:off x="541" y="2226"/>
              <a:ext cx="2400" cy="544"/>
              <a:chOff x="541" y="2112"/>
              <a:chExt cx="2400" cy="544"/>
            </a:xfrm>
          </p:grpSpPr>
          <p:sp>
            <p:nvSpPr>
              <p:cNvPr id="54463" name="Line 191"/>
              <p:cNvSpPr>
                <a:spLocks noChangeShapeType="1"/>
              </p:cNvSpPr>
              <p:nvPr/>
            </p:nvSpPr>
            <p:spPr bwMode="auto">
              <a:xfrm flipV="1">
                <a:off x="541" y="2120"/>
                <a:ext cx="0" cy="536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64" name="Line 192"/>
              <p:cNvSpPr>
                <a:spLocks noChangeShapeType="1"/>
              </p:cNvSpPr>
              <p:nvPr/>
            </p:nvSpPr>
            <p:spPr bwMode="auto">
              <a:xfrm flipV="1">
                <a:off x="2941" y="2112"/>
                <a:ext cx="0" cy="544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" name="Group 193"/>
            <p:cNvGrpSpPr>
              <a:grpSpLocks/>
            </p:cNvGrpSpPr>
            <p:nvPr/>
          </p:nvGrpSpPr>
          <p:grpSpPr bwMode="auto">
            <a:xfrm>
              <a:off x="192" y="2544"/>
              <a:ext cx="5381" cy="454"/>
              <a:chOff x="192" y="2444"/>
              <a:chExt cx="5381" cy="454"/>
            </a:xfrm>
          </p:grpSpPr>
          <p:sp>
            <p:nvSpPr>
              <p:cNvPr id="54466" name="Rectangle 194"/>
              <p:cNvSpPr>
                <a:spLocks noChangeArrowheads="1"/>
              </p:cNvSpPr>
              <p:nvPr/>
            </p:nvSpPr>
            <p:spPr bwMode="auto">
              <a:xfrm>
                <a:off x="192" y="2688"/>
                <a:ext cx="31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Clk</a:t>
                </a:r>
              </a:p>
            </p:txBody>
          </p:sp>
          <p:sp>
            <p:nvSpPr>
              <p:cNvPr id="54467" name="Line 195"/>
              <p:cNvSpPr>
                <a:spLocks noChangeShapeType="1"/>
              </p:cNvSpPr>
              <p:nvPr/>
            </p:nvSpPr>
            <p:spPr bwMode="auto">
              <a:xfrm>
                <a:off x="5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68" name="Line 196"/>
              <p:cNvSpPr>
                <a:spLocks noChangeShapeType="1"/>
              </p:cNvSpPr>
              <p:nvPr/>
            </p:nvSpPr>
            <p:spPr bwMode="auto">
              <a:xfrm>
                <a:off x="5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69" name="Line 197"/>
              <p:cNvSpPr>
                <a:spLocks noChangeShapeType="1"/>
              </p:cNvSpPr>
              <p:nvPr/>
            </p:nvSpPr>
            <p:spPr bwMode="auto">
              <a:xfrm flipV="1">
                <a:off x="7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0" name="Line 198"/>
              <p:cNvSpPr>
                <a:spLocks noChangeShapeType="1"/>
              </p:cNvSpPr>
              <p:nvPr/>
            </p:nvSpPr>
            <p:spPr bwMode="auto">
              <a:xfrm>
                <a:off x="7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1" name="Line 199"/>
              <p:cNvSpPr>
                <a:spLocks noChangeShapeType="1"/>
              </p:cNvSpPr>
              <p:nvPr/>
            </p:nvSpPr>
            <p:spPr bwMode="auto">
              <a:xfrm>
                <a:off x="10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2" name="Line 200"/>
              <p:cNvSpPr>
                <a:spLocks noChangeShapeType="1"/>
              </p:cNvSpPr>
              <p:nvPr/>
            </p:nvSpPr>
            <p:spPr bwMode="auto">
              <a:xfrm>
                <a:off x="3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3" name="Rectangle 201"/>
              <p:cNvSpPr>
                <a:spLocks noChangeArrowheads="1"/>
              </p:cNvSpPr>
              <p:nvPr/>
            </p:nvSpPr>
            <p:spPr bwMode="auto">
              <a:xfrm>
                <a:off x="52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1</a:t>
                </a:r>
              </a:p>
            </p:txBody>
          </p:sp>
          <p:sp>
            <p:nvSpPr>
              <p:cNvPr id="54474" name="Line 202"/>
              <p:cNvSpPr>
                <a:spLocks noChangeShapeType="1"/>
              </p:cNvSpPr>
              <p:nvPr/>
            </p:nvSpPr>
            <p:spPr bwMode="auto">
              <a:xfrm>
                <a:off x="10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5" name="Line 203"/>
              <p:cNvSpPr>
                <a:spLocks noChangeShapeType="1"/>
              </p:cNvSpPr>
              <p:nvPr/>
            </p:nvSpPr>
            <p:spPr bwMode="auto">
              <a:xfrm flipV="1">
                <a:off x="12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6" name="Line 204"/>
              <p:cNvSpPr>
                <a:spLocks noChangeShapeType="1"/>
              </p:cNvSpPr>
              <p:nvPr/>
            </p:nvSpPr>
            <p:spPr bwMode="auto">
              <a:xfrm>
                <a:off x="12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7" name="Line 205"/>
              <p:cNvSpPr>
                <a:spLocks noChangeShapeType="1"/>
              </p:cNvSpPr>
              <p:nvPr/>
            </p:nvSpPr>
            <p:spPr bwMode="auto">
              <a:xfrm>
                <a:off x="15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8" name="Line 206"/>
              <p:cNvSpPr>
                <a:spLocks noChangeShapeType="1"/>
              </p:cNvSpPr>
              <p:nvPr/>
            </p:nvSpPr>
            <p:spPr bwMode="auto">
              <a:xfrm flipV="1">
                <a:off x="10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79" name="Rectangle 207"/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2</a:t>
                </a:r>
              </a:p>
            </p:txBody>
          </p:sp>
          <p:sp>
            <p:nvSpPr>
              <p:cNvPr id="54480" name="Line 208"/>
              <p:cNvSpPr>
                <a:spLocks noChangeShapeType="1"/>
              </p:cNvSpPr>
              <p:nvPr/>
            </p:nvSpPr>
            <p:spPr bwMode="auto">
              <a:xfrm>
                <a:off x="15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1" name="Line 209"/>
              <p:cNvSpPr>
                <a:spLocks noChangeShapeType="1"/>
              </p:cNvSpPr>
              <p:nvPr/>
            </p:nvSpPr>
            <p:spPr bwMode="auto">
              <a:xfrm flipV="1">
                <a:off x="17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2" name="Line 210"/>
              <p:cNvSpPr>
                <a:spLocks noChangeShapeType="1"/>
              </p:cNvSpPr>
              <p:nvPr/>
            </p:nvSpPr>
            <p:spPr bwMode="auto">
              <a:xfrm>
                <a:off x="17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3" name="Line 211"/>
              <p:cNvSpPr>
                <a:spLocks noChangeShapeType="1"/>
              </p:cNvSpPr>
              <p:nvPr/>
            </p:nvSpPr>
            <p:spPr bwMode="auto">
              <a:xfrm>
                <a:off x="19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4" name="Line 212"/>
              <p:cNvSpPr>
                <a:spLocks noChangeShapeType="1"/>
              </p:cNvSpPr>
              <p:nvPr/>
            </p:nvSpPr>
            <p:spPr bwMode="auto">
              <a:xfrm flipV="1">
                <a:off x="15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5" name="Rectangle 213"/>
              <p:cNvSpPr>
                <a:spLocks noChangeArrowheads="1"/>
              </p:cNvSpPr>
              <p:nvPr/>
            </p:nvSpPr>
            <p:spPr bwMode="auto">
              <a:xfrm>
                <a:off x="148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3</a:t>
                </a:r>
              </a:p>
            </p:txBody>
          </p:sp>
          <p:sp>
            <p:nvSpPr>
              <p:cNvPr id="54486" name="Line 214"/>
              <p:cNvSpPr>
                <a:spLocks noChangeShapeType="1"/>
              </p:cNvSpPr>
              <p:nvPr/>
            </p:nvSpPr>
            <p:spPr bwMode="auto">
              <a:xfrm>
                <a:off x="19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7" name="Line 215"/>
              <p:cNvSpPr>
                <a:spLocks noChangeShapeType="1"/>
              </p:cNvSpPr>
              <p:nvPr/>
            </p:nvSpPr>
            <p:spPr bwMode="auto">
              <a:xfrm flipV="1">
                <a:off x="22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8" name="Line 216"/>
              <p:cNvSpPr>
                <a:spLocks noChangeShapeType="1"/>
              </p:cNvSpPr>
              <p:nvPr/>
            </p:nvSpPr>
            <p:spPr bwMode="auto">
              <a:xfrm>
                <a:off x="22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89" name="Line 217"/>
              <p:cNvSpPr>
                <a:spLocks noChangeShapeType="1"/>
              </p:cNvSpPr>
              <p:nvPr/>
            </p:nvSpPr>
            <p:spPr bwMode="auto">
              <a:xfrm>
                <a:off x="24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0" name="Line 218"/>
              <p:cNvSpPr>
                <a:spLocks noChangeShapeType="1"/>
              </p:cNvSpPr>
              <p:nvPr/>
            </p:nvSpPr>
            <p:spPr bwMode="auto">
              <a:xfrm flipV="1">
                <a:off x="19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1" name="Rectangle 219"/>
              <p:cNvSpPr>
                <a:spLocks noChangeArrowheads="1"/>
              </p:cNvSpPr>
              <p:nvPr/>
            </p:nvSpPr>
            <p:spPr bwMode="auto">
              <a:xfrm>
                <a:off x="196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4</a:t>
                </a:r>
              </a:p>
            </p:txBody>
          </p:sp>
          <p:sp>
            <p:nvSpPr>
              <p:cNvPr id="54492" name="Line 220"/>
              <p:cNvSpPr>
                <a:spLocks noChangeShapeType="1"/>
              </p:cNvSpPr>
              <p:nvPr/>
            </p:nvSpPr>
            <p:spPr bwMode="auto">
              <a:xfrm>
                <a:off x="24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3" name="Line 221"/>
              <p:cNvSpPr>
                <a:spLocks noChangeShapeType="1"/>
              </p:cNvSpPr>
              <p:nvPr/>
            </p:nvSpPr>
            <p:spPr bwMode="auto">
              <a:xfrm flipV="1">
                <a:off x="27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4" name="Line 222"/>
              <p:cNvSpPr>
                <a:spLocks noChangeShapeType="1"/>
              </p:cNvSpPr>
              <p:nvPr/>
            </p:nvSpPr>
            <p:spPr bwMode="auto">
              <a:xfrm>
                <a:off x="27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5" name="Line 223"/>
              <p:cNvSpPr>
                <a:spLocks noChangeShapeType="1"/>
              </p:cNvSpPr>
              <p:nvPr/>
            </p:nvSpPr>
            <p:spPr bwMode="auto">
              <a:xfrm>
                <a:off x="29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6" name="Line 224"/>
              <p:cNvSpPr>
                <a:spLocks noChangeShapeType="1"/>
              </p:cNvSpPr>
              <p:nvPr/>
            </p:nvSpPr>
            <p:spPr bwMode="auto">
              <a:xfrm flipV="1">
                <a:off x="24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7" name="Rectangle 225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5</a:t>
                </a:r>
              </a:p>
            </p:txBody>
          </p:sp>
          <p:sp>
            <p:nvSpPr>
              <p:cNvPr id="54498" name="Line 226"/>
              <p:cNvSpPr>
                <a:spLocks noChangeShapeType="1"/>
              </p:cNvSpPr>
              <p:nvPr/>
            </p:nvSpPr>
            <p:spPr bwMode="auto">
              <a:xfrm>
                <a:off x="29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499" name="Line 227"/>
              <p:cNvSpPr>
                <a:spLocks noChangeShapeType="1"/>
              </p:cNvSpPr>
              <p:nvPr/>
            </p:nvSpPr>
            <p:spPr bwMode="auto">
              <a:xfrm flipV="1">
                <a:off x="31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0" name="Line 228"/>
              <p:cNvSpPr>
                <a:spLocks noChangeShapeType="1"/>
              </p:cNvSpPr>
              <p:nvPr/>
            </p:nvSpPr>
            <p:spPr bwMode="auto">
              <a:xfrm>
                <a:off x="31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1" name="Line 229"/>
              <p:cNvSpPr>
                <a:spLocks noChangeShapeType="1"/>
              </p:cNvSpPr>
              <p:nvPr/>
            </p:nvSpPr>
            <p:spPr bwMode="auto">
              <a:xfrm>
                <a:off x="34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2" name="Rectangle 230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6</a:t>
                </a:r>
              </a:p>
            </p:txBody>
          </p:sp>
          <p:sp>
            <p:nvSpPr>
              <p:cNvPr id="54503" name="Line 231"/>
              <p:cNvSpPr>
                <a:spLocks noChangeShapeType="1"/>
              </p:cNvSpPr>
              <p:nvPr/>
            </p:nvSpPr>
            <p:spPr bwMode="auto">
              <a:xfrm>
                <a:off x="34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4" name="Line 232"/>
              <p:cNvSpPr>
                <a:spLocks noChangeShapeType="1"/>
              </p:cNvSpPr>
              <p:nvPr/>
            </p:nvSpPr>
            <p:spPr bwMode="auto">
              <a:xfrm flipV="1">
                <a:off x="36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5" name="Line 233"/>
              <p:cNvSpPr>
                <a:spLocks noChangeShapeType="1"/>
              </p:cNvSpPr>
              <p:nvPr/>
            </p:nvSpPr>
            <p:spPr bwMode="auto">
              <a:xfrm>
                <a:off x="36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6" name="Line 234"/>
              <p:cNvSpPr>
                <a:spLocks noChangeShapeType="1"/>
              </p:cNvSpPr>
              <p:nvPr/>
            </p:nvSpPr>
            <p:spPr bwMode="auto">
              <a:xfrm>
                <a:off x="39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7" name="Line 235"/>
              <p:cNvSpPr>
                <a:spLocks noChangeShapeType="1"/>
              </p:cNvSpPr>
              <p:nvPr/>
            </p:nvSpPr>
            <p:spPr bwMode="auto">
              <a:xfrm flipV="1">
                <a:off x="34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08" name="Rectangle 236"/>
              <p:cNvSpPr>
                <a:spLocks noChangeArrowheads="1"/>
              </p:cNvSpPr>
              <p:nvPr/>
            </p:nvSpPr>
            <p:spPr bwMode="auto">
              <a:xfrm>
                <a:off x="340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7</a:t>
                </a:r>
              </a:p>
            </p:txBody>
          </p:sp>
          <p:sp>
            <p:nvSpPr>
              <p:cNvPr id="54509" name="Line 237"/>
              <p:cNvSpPr>
                <a:spLocks noChangeShapeType="1"/>
              </p:cNvSpPr>
              <p:nvPr/>
            </p:nvSpPr>
            <p:spPr bwMode="auto">
              <a:xfrm>
                <a:off x="39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0" name="Line 238"/>
              <p:cNvSpPr>
                <a:spLocks noChangeShapeType="1"/>
              </p:cNvSpPr>
              <p:nvPr/>
            </p:nvSpPr>
            <p:spPr bwMode="auto">
              <a:xfrm flipV="1">
                <a:off x="41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1" name="Line 239"/>
              <p:cNvSpPr>
                <a:spLocks noChangeShapeType="1"/>
              </p:cNvSpPr>
              <p:nvPr/>
            </p:nvSpPr>
            <p:spPr bwMode="auto">
              <a:xfrm>
                <a:off x="41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2" name="Line 240"/>
              <p:cNvSpPr>
                <a:spLocks noChangeShapeType="1"/>
              </p:cNvSpPr>
              <p:nvPr/>
            </p:nvSpPr>
            <p:spPr bwMode="auto">
              <a:xfrm>
                <a:off x="43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3" name="Line 241"/>
              <p:cNvSpPr>
                <a:spLocks noChangeShapeType="1"/>
              </p:cNvSpPr>
              <p:nvPr/>
            </p:nvSpPr>
            <p:spPr bwMode="auto">
              <a:xfrm flipV="1">
                <a:off x="39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4" name="Rectangle 242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8</a:t>
                </a:r>
              </a:p>
            </p:txBody>
          </p:sp>
          <p:sp>
            <p:nvSpPr>
              <p:cNvPr id="54515" name="Line 243"/>
              <p:cNvSpPr>
                <a:spLocks noChangeShapeType="1"/>
              </p:cNvSpPr>
              <p:nvPr/>
            </p:nvSpPr>
            <p:spPr bwMode="auto">
              <a:xfrm>
                <a:off x="43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6" name="Line 244"/>
              <p:cNvSpPr>
                <a:spLocks noChangeShapeType="1"/>
              </p:cNvSpPr>
              <p:nvPr/>
            </p:nvSpPr>
            <p:spPr bwMode="auto">
              <a:xfrm flipV="1">
                <a:off x="46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7" name="Line 245"/>
              <p:cNvSpPr>
                <a:spLocks noChangeShapeType="1"/>
              </p:cNvSpPr>
              <p:nvPr/>
            </p:nvSpPr>
            <p:spPr bwMode="auto">
              <a:xfrm>
                <a:off x="46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8" name="Line 246"/>
              <p:cNvSpPr>
                <a:spLocks noChangeShapeType="1"/>
              </p:cNvSpPr>
              <p:nvPr/>
            </p:nvSpPr>
            <p:spPr bwMode="auto">
              <a:xfrm>
                <a:off x="48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19" name="Line 247"/>
              <p:cNvSpPr>
                <a:spLocks noChangeShapeType="1"/>
              </p:cNvSpPr>
              <p:nvPr/>
            </p:nvSpPr>
            <p:spPr bwMode="auto">
              <a:xfrm flipV="1">
                <a:off x="43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0" name="Rectangle 248"/>
              <p:cNvSpPr>
                <a:spLocks noChangeArrowheads="1"/>
              </p:cNvSpPr>
              <p:nvPr/>
            </p:nvSpPr>
            <p:spPr bwMode="auto">
              <a:xfrm>
                <a:off x="436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9</a:t>
                </a:r>
              </a:p>
            </p:txBody>
          </p:sp>
          <p:sp>
            <p:nvSpPr>
              <p:cNvPr id="54521" name="Line 249"/>
              <p:cNvSpPr>
                <a:spLocks noChangeShapeType="1"/>
              </p:cNvSpPr>
              <p:nvPr/>
            </p:nvSpPr>
            <p:spPr bwMode="auto">
              <a:xfrm>
                <a:off x="48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2" name="Line 250"/>
              <p:cNvSpPr>
                <a:spLocks noChangeShapeType="1"/>
              </p:cNvSpPr>
              <p:nvPr/>
            </p:nvSpPr>
            <p:spPr bwMode="auto">
              <a:xfrm flipV="1">
                <a:off x="51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3" name="Line 251"/>
              <p:cNvSpPr>
                <a:spLocks noChangeShapeType="1"/>
              </p:cNvSpPr>
              <p:nvPr/>
            </p:nvSpPr>
            <p:spPr bwMode="auto">
              <a:xfrm>
                <a:off x="51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4" name="Line 252"/>
              <p:cNvSpPr>
                <a:spLocks noChangeShapeType="1"/>
              </p:cNvSpPr>
              <p:nvPr/>
            </p:nvSpPr>
            <p:spPr bwMode="auto">
              <a:xfrm>
                <a:off x="53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5" name="Line 253"/>
              <p:cNvSpPr>
                <a:spLocks noChangeShapeType="1"/>
              </p:cNvSpPr>
              <p:nvPr/>
            </p:nvSpPr>
            <p:spPr bwMode="auto">
              <a:xfrm flipV="1">
                <a:off x="48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26" name="Rectangle 254"/>
              <p:cNvSpPr>
                <a:spLocks noChangeArrowheads="1"/>
              </p:cNvSpPr>
              <p:nvPr/>
            </p:nvSpPr>
            <p:spPr bwMode="auto">
              <a:xfrm>
                <a:off x="4800" y="2448"/>
                <a:ext cx="58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10</a:t>
                </a:r>
              </a:p>
            </p:txBody>
          </p:sp>
          <p:sp>
            <p:nvSpPr>
              <p:cNvPr id="54527" name="Line 255"/>
              <p:cNvSpPr>
                <a:spLocks noChangeShapeType="1"/>
              </p:cNvSpPr>
              <p:nvPr/>
            </p:nvSpPr>
            <p:spPr bwMode="auto">
              <a:xfrm>
                <a:off x="53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257"/>
          <p:cNvGrpSpPr>
            <a:grpSpLocks/>
          </p:cNvGrpSpPr>
          <p:nvPr/>
        </p:nvGrpSpPr>
        <p:grpSpPr bwMode="auto">
          <a:xfrm>
            <a:off x="304800" y="1524000"/>
            <a:ext cx="8542338" cy="1225550"/>
            <a:chOff x="192" y="2226"/>
            <a:chExt cx="5381" cy="772"/>
          </a:xfrm>
        </p:grpSpPr>
        <p:grpSp>
          <p:nvGrpSpPr>
            <p:cNvPr id="6" name="Group 258"/>
            <p:cNvGrpSpPr>
              <a:grpSpLocks/>
            </p:cNvGrpSpPr>
            <p:nvPr/>
          </p:nvGrpSpPr>
          <p:grpSpPr bwMode="auto">
            <a:xfrm>
              <a:off x="541" y="2226"/>
              <a:ext cx="2400" cy="544"/>
              <a:chOff x="541" y="2112"/>
              <a:chExt cx="2400" cy="544"/>
            </a:xfrm>
          </p:grpSpPr>
          <p:sp>
            <p:nvSpPr>
              <p:cNvPr id="54531" name="Line 259"/>
              <p:cNvSpPr>
                <a:spLocks noChangeShapeType="1"/>
              </p:cNvSpPr>
              <p:nvPr/>
            </p:nvSpPr>
            <p:spPr bwMode="auto">
              <a:xfrm flipV="1">
                <a:off x="541" y="2120"/>
                <a:ext cx="0" cy="536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2" name="Line 260"/>
              <p:cNvSpPr>
                <a:spLocks noChangeShapeType="1"/>
              </p:cNvSpPr>
              <p:nvPr/>
            </p:nvSpPr>
            <p:spPr bwMode="auto">
              <a:xfrm flipV="1">
                <a:off x="2941" y="2112"/>
                <a:ext cx="0" cy="544"/>
              </a:xfrm>
              <a:prstGeom prst="line">
                <a:avLst/>
              </a:prstGeom>
              <a:noFill/>
              <a:ln w="25400">
                <a:solidFill>
                  <a:srgbClr val="990033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Group 261"/>
            <p:cNvGrpSpPr>
              <a:grpSpLocks/>
            </p:cNvGrpSpPr>
            <p:nvPr/>
          </p:nvGrpSpPr>
          <p:grpSpPr bwMode="auto">
            <a:xfrm>
              <a:off x="192" y="2544"/>
              <a:ext cx="5381" cy="454"/>
              <a:chOff x="192" y="2444"/>
              <a:chExt cx="5381" cy="454"/>
            </a:xfrm>
          </p:grpSpPr>
          <p:sp>
            <p:nvSpPr>
              <p:cNvPr id="54534" name="Rectangle 262"/>
              <p:cNvSpPr>
                <a:spLocks noChangeArrowheads="1"/>
              </p:cNvSpPr>
              <p:nvPr/>
            </p:nvSpPr>
            <p:spPr bwMode="auto">
              <a:xfrm>
                <a:off x="192" y="2688"/>
                <a:ext cx="313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Clk</a:t>
                </a:r>
              </a:p>
            </p:txBody>
          </p:sp>
          <p:sp>
            <p:nvSpPr>
              <p:cNvPr id="54535" name="Line 263"/>
              <p:cNvSpPr>
                <a:spLocks noChangeShapeType="1"/>
              </p:cNvSpPr>
              <p:nvPr/>
            </p:nvSpPr>
            <p:spPr bwMode="auto">
              <a:xfrm>
                <a:off x="5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6" name="Line 264"/>
              <p:cNvSpPr>
                <a:spLocks noChangeShapeType="1"/>
              </p:cNvSpPr>
              <p:nvPr/>
            </p:nvSpPr>
            <p:spPr bwMode="auto">
              <a:xfrm>
                <a:off x="5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7" name="Line 265"/>
              <p:cNvSpPr>
                <a:spLocks noChangeShapeType="1"/>
              </p:cNvSpPr>
              <p:nvPr/>
            </p:nvSpPr>
            <p:spPr bwMode="auto">
              <a:xfrm flipV="1">
                <a:off x="7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8" name="Line 266"/>
              <p:cNvSpPr>
                <a:spLocks noChangeShapeType="1"/>
              </p:cNvSpPr>
              <p:nvPr/>
            </p:nvSpPr>
            <p:spPr bwMode="auto">
              <a:xfrm>
                <a:off x="7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39" name="Line 267"/>
              <p:cNvSpPr>
                <a:spLocks noChangeShapeType="1"/>
              </p:cNvSpPr>
              <p:nvPr/>
            </p:nvSpPr>
            <p:spPr bwMode="auto">
              <a:xfrm>
                <a:off x="10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0" name="Line 268"/>
              <p:cNvSpPr>
                <a:spLocks noChangeShapeType="1"/>
              </p:cNvSpPr>
              <p:nvPr/>
            </p:nvSpPr>
            <p:spPr bwMode="auto">
              <a:xfrm>
                <a:off x="3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1" name="Rectangle 269"/>
              <p:cNvSpPr>
                <a:spLocks noChangeArrowheads="1"/>
              </p:cNvSpPr>
              <p:nvPr/>
            </p:nvSpPr>
            <p:spPr bwMode="auto">
              <a:xfrm>
                <a:off x="52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1</a:t>
                </a:r>
              </a:p>
            </p:txBody>
          </p:sp>
          <p:sp>
            <p:nvSpPr>
              <p:cNvPr id="54542" name="Line 270"/>
              <p:cNvSpPr>
                <a:spLocks noChangeShapeType="1"/>
              </p:cNvSpPr>
              <p:nvPr/>
            </p:nvSpPr>
            <p:spPr bwMode="auto">
              <a:xfrm>
                <a:off x="10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3" name="Line 271"/>
              <p:cNvSpPr>
                <a:spLocks noChangeShapeType="1"/>
              </p:cNvSpPr>
              <p:nvPr/>
            </p:nvSpPr>
            <p:spPr bwMode="auto">
              <a:xfrm flipV="1">
                <a:off x="12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4" name="Line 272"/>
              <p:cNvSpPr>
                <a:spLocks noChangeShapeType="1"/>
              </p:cNvSpPr>
              <p:nvPr/>
            </p:nvSpPr>
            <p:spPr bwMode="auto">
              <a:xfrm>
                <a:off x="12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5" name="Line 273"/>
              <p:cNvSpPr>
                <a:spLocks noChangeShapeType="1"/>
              </p:cNvSpPr>
              <p:nvPr/>
            </p:nvSpPr>
            <p:spPr bwMode="auto">
              <a:xfrm>
                <a:off x="15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6" name="Line 274"/>
              <p:cNvSpPr>
                <a:spLocks noChangeShapeType="1"/>
              </p:cNvSpPr>
              <p:nvPr/>
            </p:nvSpPr>
            <p:spPr bwMode="auto">
              <a:xfrm flipV="1">
                <a:off x="10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7" name="Rectangle 275"/>
              <p:cNvSpPr>
                <a:spLocks noChangeArrowheads="1"/>
              </p:cNvSpPr>
              <p:nvPr/>
            </p:nvSpPr>
            <p:spPr bwMode="auto">
              <a:xfrm>
                <a:off x="100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2</a:t>
                </a:r>
              </a:p>
            </p:txBody>
          </p:sp>
          <p:sp>
            <p:nvSpPr>
              <p:cNvPr id="54548" name="Line 276"/>
              <p:cNvSpPr>
                <a:spLocks noChangeShapeType="1"/>
              </p:cNvSpPr>
              <p:nvPr/>
            </p:nvSpPr>
            <p:spPr bwMode="auto">
              <a:xfrm>
                <a:off x="15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49" name="Line 277"/>
              <p:cNvSpPr>
                <a:spLocks noChangeShapeType="1"/>
              </p:cNvSpPr>
              <p:nvPr/>
            </p:nvSpPr>
            <p:spPr bwMode="auto">
              <a:xfrm flipV="1">
                <a:off x="17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0" name="Line 278"/>
              <p:cNvSpPr>
                <a:spLocks noChangeShapeType="1"/>
              </p:cNvSpPr>
              <p:nvPr/>
            </p:nvSpPr>
            <p:spPr bwMode="auto">
              <a:xfrm>
                <a:off x="17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1" name="Line 279"/>
              <p:cNvSpPr>
                <a:spLocks noChangeShapeType="1"/>
              </p:cNvSpPr>
              <p:nvPr/>
            </p:nvSpPr>
            <p:spPr bwMode="auto">
              <a:xfrm>
                <a:off x="19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2" name="Line 280"/>
              <p:cNvSpPr>
                <a:spLocks noChangeShapeType="1"/>
              </p:cNvSpPr>
              <p:nvPr/>
            </p:nvSpPr>
            <p:spPr bwMode="auto">
              <a:xfrm flipV="1">
                <a:off x="15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3" name="Rectangle 281"/>
              <p:cNvSpPr>
                <a:spLocks noChangeArrowheads="1"/>
              </p:cNvSpPr>
              <p:nvPr/>
            </p:nvSpPr>
            <p:spPr bwMode="auto">
              <a:xfrm>
                <a:off x="148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3</a:t>
                </a:r>
              </a:p>
            </p:txBody>
          </p:sp>
          <p:sp>
            <p:nvSpPr>
              <p:cNvPr id="54554" name="Line 282"/>
              <p:cNvSpPr>
                <a:spLocks noChangeShapeType="1"/>
              </p:cNvSpPr>
              <p:nvPr/>
            </p:nvSpPr>
            <p:spPr bwMode="auto">
              <a:xfrm>
                <a:off x="19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5" name="Line 283"/>
              <p:cNvSpPr>
                <a:spLocks noChangeShapeType="1"/>
              </p:cNvSpPr>
              <p:nvPr/>
            </p:nvSpPr>
            <p:spPr bwMode="auto">
              <a:xfrm flipV="1">
                <a:off x="22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6" name="Line 284"/>
              <p:cNvSpPr>
                <a:spLocks noChangeShapeType="1"/>
              </p:cNvSpPr>
              <p:nvPr/>
            </p:nvSpPr>
            <p:spPr bwMode="auto">
              <a:xfrm>
                <a:off x="22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7" name="Line 285"/>
              <p:cNvSpPr>
                <a:spLocks noChangeShapeType="1"/>
              </p:cNvSpPr>
              <p:nvPr/>
            </p:nvSpPr>
            <p:spPr bwMode="auto">
              <a:xfrm>
                <a:off x="24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8" name="Line 286"/>
              <p:cNvSpPr>
                <a:spLocks noChangeShapeType="1"/>
              </p:cNvSpPr>
              <p:nvPr/>
            </p:nvSpPr>
            <p:spPr bwMode="auto">
              <a:xfrm flipV="1">
                <a:off x="19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59" name="Rectangle 287"/>
              <p:cNvSpPr>
                <a:spLocks noChangeArrowheads="1"/>
              </p:cNvSpPr>
              <p:nvPr/>
            </p:nvSpPr>
            <p:spPr bwMode="auto">
              <a:xfrm>
                <a:off x="196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4</a:t>
                </a:r>
              </a:p>
            </p:txBody>
          </p:sp>
          <p:sp>
            <p:nvSpPr>
              <p:cNvPr id="54560" name="Line 288"/>
              <p:cNvSpPr>
                <a:spLocks noChangeShapeType="1"/>
              </p:cNvSpPr>
              <p:nvPr/>
            </p:nvSpPr>
            <p:spPr bwMode="auto">
              <a:xfrm>
                <a:off x="24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1" name="Line 289"/>
              <p:cNvSpPr>
                <a:spLocks noChangeShapeType="1"/>
              </p:cNvSpPr>
              <p:nvPr/>
            </p:nvSpPr>
            <p:spPr bwMode="auto">
              <a:xfrm flipV="1">
                <a:off x="27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2" name="Line 290"/>
              <p:cNvSpPr>
                <a:spLocks noChangeShapeType="1"/>
              </p:cNvSpPr>
              <p:nvPr/>
            </p:nvSpPr>
            <p:spPr bwMode="auto">
              <a:xfrm>
                <a:off x="27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3" name="Line 291"/>
              <p:cNvSpPr>
                <a:spLocks noChangeShapeType="1"/>
              </p:cNvSpPr>
              <p:nvPr/>
            </p:nvSpPr>
            <p:spPr bwMode="auto">
              <a:xfrm>
                <a:off x="29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4" name="Line 292"/>
              <p:cNvSpPr>
                <a:spLocks noChangeShapeType="1"/>
              </p:cNvSpPr>
              <p:nvPr/>
            </p:nvSpPr>
            <p:spPr bwMode="auto">
              <a:xfrm flipV="1">
                <a:off x="24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5" name="Rectangle 293"/>
              <p:cNvSpPr>
                <a:spLocks noChangeArrowheads="1"/>
              </p:cNvSpPr>
              <p:nvPr/>
            </p:nvSpPr>
            <p:spPr bwMode="auto">
              <a:xfrm>
                <a:off x="244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5</a:t>
                </a:r>
              </a:p>
            </p:txBody>
          </p:sp>
          <p:sp>
            <p:nvSpPr>
              <p:cNvPr id="54566" name="Line 294"/>
              <p:cNvSpPr>
                <a:spLocks noChangeShapeType="1"/>
              </p:cNvSpPr>
              <p:nvPr/>
            </p:nvSpPr>
            <p:spPr bwMode="auto">
              <a:xfrm>
                <a:off x="29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7" name="Line 295"/>
              <p:cNvSpPr>
                <a:spLocks noChangeShapeType="1"/>
              </p:cNvSpPr>
              <p:nvPr/>
            </p:nvSpPr>
            <p:spPr bwMode="auto">
              <a:xfrm flipV="1">
                <a:off x="318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8" name="Line 296"/>
              <p:cNvSpPr>
                <a:spLocks noChangeShapeType="1"/>
              </p:cNvSpPr>
              <p:nvPr/>
            </p:nvSpPr>
            <p:spPr bwMode="auto">
              <a:xfrm>
                <a:off x="318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69" name="Line 297"/>
              <p:cNvSpPr>
                <a:spLocks noChangeShapeType="1"/>
              </p:cNvSpPr>
              <p:nvPr/>
            </p:nvSpPr>
            <p:spPr bwMode="auto">
              <a:xfrm>
                <a:off x="342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0" name="Rectangle 298"/>
              <p:cNvSpPr>
                <a:spLocks noChangeArrowheads="1"/>
              </p:cNvSpPr>
              <p:nvPr/>
            </p:nvSpPr>
            <p:spPr bwMode="auto">
              <a:xfrm>
                <a:off x="292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dirty="0"/>
                  <a:t>Cycle 6</a:t>
                </a:r>
              </a:p>
            </p:txBody>
          </p:sp>
          <p:sp>
            <p:nvSpPr>
              <p:cNvPr id="54571" name="Line 299"/>
              <p:cNvSpPr>
                <a:spLocks noChangeShapeType="1"/>
              </p:cNvSpPr>
              <p:nvPr/>
            </p:nvSpPr>
            <p:spPr bwMode="auto">
              <a:xfrm>
                <a:off x="342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2" name="Line 300"/>
              <p:cNvSpPr>
                <a:spLocks noChangeShapeType="1"/>
              </p:cNvSpPr>
              <p:nvPr/>
            </p:nvSpPr>
            <p:spPr bwMode="auto">
              <a:xfrm flipV="1">
                <a:off x="366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3" name="Line 301"/>
              <p:cNvSpPr>
                <a:spLocks noChangeShapeType="1"/>
              </p:cNvSpPr>
              <p:nvPr/>
            </p:nvSpPr>
            <p:spPr bwMode="auto">
              <a:xfrm>
                <a:off x="366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4" name="Line 302"/>
              <p:cNvSpPr>
                <a:spLocks noChangeShapeType="1"/>
              </p:cNvSpPr>
              <p:nvPr/>
            </p:nvSpPr>
            <p:spPr bwMode="auto">
              <a:xfrm>
                <a:off x="390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5" name="Line 303"/>
              <p:cNvSpPr>
                <a:spLocks noChangeShapeType="1"/>
              </p:cNvSpPr>
              <p:nvPr/>
            </p:nvSpPr>
            <p:spPr bwMode="auto">
              <a:xfrm flipV="1">
                <a:off x="342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6" name="Rectangle 304"/>
              <p:cNvSpPr>
                <a:spLocks noChangeArrowheads="1"/>
              </p:cNvSpPr>
              <p:nvPr/>
            </p:nvSpPr>
            <p:spPr bwMode="auto">
              <a:xfrm>
                <a:off x="340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7</a:t>
                </a:r>
              </a:p>
            </p:txBody>
          </p:sp>
          <p:sp>
            <p:nvSpPr>
              <p:cNvPr id="54577" name="Line 305"/>
              <p:cNvSpPr>
                <a:spLocks noChangeShapeType="1"/>
              </p:cNvSpPr>
              <p:nvPr/>
            </p:nvSpPr>
            <p:spPr bwMode="auto">
              <a:xfrm>
                <a:off x="390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8" name="Line 306"/>
              <p:cNvSpPr>
                <a:spLocks noChangeShapeType="1"/>
              </p:cNvSpPr>
              <p:nvPr/>
            </p:nvSpPr>
            <p:spPr bwMode="auto">
              <a:xfrm flipV="1">
                <a:off x="414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79" name="Line 307"/>
              <p:cNvSpPr>
                <a:spLocks noChangeShapeType="1"/>
              </p:cNvSpPr>
              <p:nvPr/>
            </p:nvSpPr>
            <p:spPr bwMode="auto">
              <a:xfrm>
                <a:off x="414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0" name="Line 308"/>
              <p:cNvSpPr>
                <a:spLocks noChangeShapeType="1"/>
              </p:cNvSpPr>
              <p:nvPr/>
            </p:nvSpPr>
            <p:spPr bwMode="auto">
              <a:xfrm>
                <a:off x="438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1" name="Line 309"/>
              <p:cNvSpPr>
                <a:spLocks noChangeShapeType="1"/>
              </p:cNvSpPr>
              <p:nvPr/>
            </p:nvSpPr>
            <p:spPr bwMode="auto">
              <a:xfrm flipV="1">
                <a:off x="390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2" name="Rectangle 310"/>
              <p:cNvSpPr>
                <a:spLocks noChangeArrowheads="1"/>
              </p:cNvSpPr>
              <p:nvPr/>
            </p:nvSpPr>
            <p:spPr bwMode="auto">
              <a:xfrm>
                <a:off x="388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8</a:t>
                </a:r>
              </a:p>
            </p:txBody>
          </p:sp>
          <p:sp>
            <p:nvSpPr>
              <p:cNvPr id="54583" name="Line 311"/>
              <p:cNvSpPr>
                <a:spLocks noChangeShapeType="1"/>
              </p:cNvSpPr>
              <p:nvPr/>
            </p:nvSpPr>
            <p:spPr bwMode="auto">
              <a:xfrm>
                <a:off x="438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4" name="Line 312"/>
              <p:cNvSpPr>
                <a:spLocks noChangeShapeType="1"/>
              </p:cNvSpPr>
              <p:nvPr/>
            </p:nvSpPr>
            <p:spPr bwMode="auto">
              <a:xfrm flipV="1">
                <a:off x="462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5" name="Line 313"/>
              <p:cNvSpPr>
                <a:spLocks noChangeShapeType="1"/>
              </p:cNvSpPr>
              <p:nvPr/>
            </p:nvSpPr>
            <p:spPr bwMode="auto">
              <a:xfrm>
                <a:off x="462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6" name="Line 314"/>
              <p:cNvSpPr>
                <a:spLocks noChangeShapeType="1"/>
              </p:cNvSpPr>
              <p:nvPr/>
            </p:nvSpPr>
            <p:spPr bwMode="auto">
              <a:xfrm>
                <a:off x="486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7" name="Line 315"/>
              <p:cNvSpPr>
                <a:spLocks noChangeShapeType="1"/>
              </p:cNvSpPr>
              <p:nvPr/>
            </p:nvSpPr>
            <p:spPr bwMode="auto">
              <a:xfrm flipV="1">
                <a:off x="438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88" name="Rectangle 316"/>
              <p:cNvSpPr>
                <a:spLocks noChangeArrowheads="1"/>
              </p:cNvSpPr>
              <p:nvPr/>
            </p:nvSpPr>
            <p:spPr bwMode="auto">
              <a:xfrm>
                <a:off x="4368" y="2448"/>
                <a:ext cx="516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9</a:t>
                </a:r>
              </a:p>
            </p:txBody>
          </p:sp>
          <p:sp>
            <p:nvSpPr>
              <p:cNvPr id="54589" name="Line 317"/>
              <p:cNvSpPr>
                <a:spLocks noChangeShapeType="1"/>
              </p:cNvSpPr>
              <p:nvPr/>
            </p:nvSpPr>
            <p:spPr bwMode="auto">
              <a:xfrm>
                <a:off x="486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0" name="Line 318"/>
              <p:cNvSpPr>
                <a:spLocks noChangeShapeType="1"/>
              </p:cNvSpPr>
              <p:nvPr/>
            </p:nvSpPr>
            <p:spPr bwMode="auto">
              <a:xfrm flipV="1">
                <a:off x="5101" y="2684"/>
                <a:ext cx="0" cy="16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1" name="Line 319"/>
              <p:cNvSpPr>
                <a:spLocks noChangeShapeType="1"/>
              </p:cNvSpPr>
              <p:nvPr/>
            </p:nvSpPr>
            <p:spPr bwMode="auto">
              <a:xfrm>
                <a:off x="5109" y="2692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2" name="Line 320"/>
              <p:cNvSpPr>
                <a:spLocks noChangeShapeType="1"/>
              </p:cNvSpPr>
              <p:nvPr/>
            </p:nvSpPr>
            <p:spPr bwMode="auto">
              <a:xfrm>
                <a:off x="5341" y="2700"/>
                <a:ext cx="0" cy="12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3" name="Line 321"/>
              <p:cNvSpPr>
                <a:spLocks noChangeShapeType="1"/>
              </p:cNvSpPr>
              <p:nvPr/>
            </p:nvSpPr>
            <p:spPr bwMode="auto">
              <a:xfrm flipV="1">
                <a:off x="4861" y="2444"/>
                <a:ext cx="0" cy="20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594" name="Rectangle 322"/>
              <p:cNvSpPr>
                <a:spLocks noChangeArrowheads="1"/>
              </p:cNvSpPr>
              <p:nvPr/>
            </p:nvSpPr>
            <p:spPr bwMode="auto">
              <a:xfrm>
                <a:off x="4800" y="2448"/>
                <a:ext cx="580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/>
                  <a:t>Cycle 10</a:t>
                </a:r>
              </a:p>
            </p:txBody>
          </p:sp>
          <p:sp>
            <p:nvSpPr>
              <p:cNvPr id="54595" name="Line 323"/>
              <p:cNvSpPr>
                <a:spLocks noChangeShapeType="1"/>
              </p:cNvSpPr>
              <p:nvPr/>
            </p:nvSpPr>
            <p:spPr bwMode="auto">
              <a:xfrm>
                <a:off x="5349" y="2836"/>
                <a:ext cx="22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4596" name="Rectangle 324"/>
          <p:cNvSpPr>
            <a:spLocks noChangeArrowheads="1"/>
          </p:cNvSpPr>
          <p:nvPr/>
        </p:nvSpPr>
        <p:spPr bwMode="auto">
          <a:xfrm>
            <a:off x="304800" y="1447800"/>
            <a:ext cx="51816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zh-CN" sz="1800" i="1" u="sng">
                <a:solidFill>
                  <a:schemeClr val="accent2"/>
                </a:solidFill>
                <a:latin typeface="Arial" charset="0"/>
              </a:rPr>
              <a:t>Multip-Cycle Implementation:</a:t>
            </a:r>
            <a:r>
              <a:rPr lang="en-US" altLang="zh-CN" sz="1800" i="1">
                <a:solidFill>
                  <a:schemeClr val="accent2"/>
                </a:solidFill>
                <a:latin typeface="Arial" charset="0"/>
              </a:rPr>
              <a:t>     </a:t>
            </a:r>
            <a:r>
              <a:rPr lang="en-US" altLang="zh-CN" sz="1800">
                <a:solidFill>
                  <a:srgbClr val="FF3300"/>
                </a:solidFill>
                <a:latin typeface="Comic Sans MS" pitchFamily="66" charset="0"/>
              </a:rPr>
              <a:t>CPI=5,   </a:t>
            </a:r>
            <a:r>
              <a:rPr lang="en-US" altLang="zh-CN" sz="1800" i="1" u="sng">
                <a:solidFill>
                  <a:schemeClr val="accent2"/>
                </a:solidFill>
                <a:latin typeface="Arial" charset="0"/>
              </a:rPr>
              <a:t> </a:t>
            </a:r>
            <a:endParaRPr lang="en-US" altLang="zh-CN" sz="1800" i="1" u="sng">
              <a:solidFill>
                <a:srgbClr val="000099"/>
              </a:solidFill>
              <a:latin typeface="Arial" charset="0"/>
            </a:endParaRPr>
          </a:p>
        </p:txBody>
      </p:sp>
      <p:sp>
        <p:nvSpPr>
          <p:cNvPr id="54597" name="Rectangle 325"/>
          <p:cNvSpPr>
            <a:spLocks noChangeArrowheads="1"/>
          </p:cNvSpPr>
          <p:nvPr/>
        </p:nvSpPr>
        <p:spPr bwMode="auto">
          <a:xfrm>
            <a:off x="381000" y="3429000"/>
            <a:ext cx="4038600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altLang="zh-CN" sz="1800" i="1" u="sng">
                <a:solidFill>
                  <a:schemeClr val="accent2"/>
                </a:solidFill>
                <a:latin typeface="Arial" charset="0"/>
              </a:rPr>
              <a:t>Pipeline Implementation: </a:t>
            </a:r>
            <a:r>
              <a:rPr lang="en-US" altLang="zh-CN" sz="1800" i="1">
                <a:solidFill>
                  <a:schemeClr val="accent2"/>
                </a:solidFill>
                <a:latin typeface="Arial" charset="0"/>
              </a:rPr>
              <a:t>    </a:t>
            </a:r>
            <a:r>
              <a:rPr lang="en-US" altLang="zh-CN" sz="1800">
                <a:solidFill>
                  <a:srgbClr val="FF3300"/>
                </a:solidFill>
                <a:latin typeface="Comic Sans MS" pitchFamily="66" charset="0"/>
              </a:rPr>
              <a:t>CPI=1, </a:t>
            </a:r>
            <a:endParaRPr lang="en-US" altLang="zh-CN" sz="1800" i="1" u="sng">
              <a:solidFill>
                <a:srgbClr val="000099"/>
              </a:solidFill>
              <a:latin typeface="Arial" charset="0"/>
            </a:endParaRPr>
          </a:p>
        </p:txBody>
      </p:sp>
      <p:grpSp>
        <p:nvGrpSpPr>
          <p:cNvPr id="8" name="Group 412"/>
          <p:cNvGrpSpPr>
            <a:grpSpLocks/>
          </p:cNvGrpSpPr>
          <p:nvPr/>
        </p:nvGrpSpPr>
        <p:grpSpPr bwMode="auto">
          <a:xfrm>
            <a:off x="304800" y="4876800"/>
            <a:ext cx="5894388" cy="1247775"/>
            <a:chOff x="192" y="3072"/>
            <a:chExt cx="3713" cy="786"/>
          </a:xfrm>
        </p:grpSpPr>
        <p:sp>
          <p:nvSpPr>
            <p:cNvPr id="54600" name="Rectangle 328"/>
            <p:cNvSpPr>
              <a:spLocks noChangeArrowheads="1"/>
            </p:cNvSpPr>
            <p:nvPr/>
          </p:nvSpPr>
          <p:spPr bwMode="auto">
            <a:xfrm>
              <a:off x="192" y="3072"/>
              <a:ext cx="39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/>
                <a:t>Load</a:t>
              </a:r>
            </a:p>
          </p:txBody>
        </p:sp>
        <p:grpSp>
          <p:nvGrpSpPr>
            <p:cNvPr id="9" name="Group 329"/>
            <p:cNvGrpSpPr>
              <a:grpSpLocks/>
            </p:cNvGrpSpPr>
            <p:nvPr/>
          </p:nvGrpSpPr>
          <p:grpSpPr bwMode="auto">
            <a:xfrm>
              <a:off x="549" y="3072"/>
              <a:ext cx="2384" cy="210"/>
              <a:chOff x="488" y="3260"/>
              <a:chExt cx="2384" cy="210"/>
            </a:xfrm>
          </p:grpSpPr>
          <p:grpSp>
            <p:nvGrpSpPr>
              <p:cNvPr id="10" name="Group 330"/>
              <p:cNvGrpSpPr>
                <a:grpSpLocks/>
              </p:cNvGrpSpPr>
              <p:nvPr/>
            </p:nvGrpSpPr>
            <p:grpSpPr bwMode="auto">
              <a:xfrm>
                <a:off x="488" y="3260"/>
                <a:ext cx="464" cy="210"/>
                <a:chOff x="488" y="3260"/>
                <a:chExt cx="464" cy="210"/>
              </a:xfrm>
            </p:grpSpPr>
            <p:sp>
              <p:nvSpPr>
                <p:cNvPr id="54603" name="Rectangle 331"/>
                <p:cNvSpPr>
                  <a:spLocks noChangeArrowheads="1"/>
                </p:cNvSpPr>
                <p:nvPr/>
              </p:nvSpPr>
              <p:spPr bwMode="auto">
                <a:xfrm>
                  <a:off x="48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04" name="Rectangle 332"/>
                <p:cNvSpPr>
                  <a:spLocks noChangeArrowheads="1"/>
                </p:cNvSpPr>
                <p:nvPr/>
              </p:nvSpPr>
              <p:spPr bwMode="auto">
                <a:xfrm>
                  <a:off x="515" y="3260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11" name="Group 333"/>
              <p:cNvGrpSpPr>
                <a:grpSpLocks/>
              </p:cNvGrpSpPr>
              <p:nvPr/>
            </p:nvGrpSpPr>
            <p:grpSpPr bwMode="auto">
              <a:xfrm>
                <a:off x="968" y="3260"/>
                <a:ext cx="464" cy="210"/>
                <a:chOff x="968" y="3260"/>
                <a:chExt cx="464" cy="210"/>
              </a:xfrm>
            </p:grpSpPr>
            <p:sp>
              <p:nvSpPr>
                <p:cNvPr id="54606" name="Rectangle 334"/>
                <p:cNvSpPr>
                  <a:spLocks noChangeArrowheads="1"/>
                </p:cNvSpPr>
                <p:nvPr/>
              </p:nvSpPr>
              <p:spPr bwMode="auto">
                <a:xfrm>
                  <a:off x="96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07" name="Rectangle 335"/>
                <p:cNvSpPr>
                  <a:spLocks noChangeArrowheads="1"/>
                </p:cNvSpPr>
                <p:nvPr/>
              </p:nvSpPr>
              <p:spPr bwMode="auto">
                <a:xfrm>
                  <a:off x="1043" y="3260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12" name="Group 336"/>
              <p:cNvGrpSpPr>
                <a:grpSpLocks/>
              </p:cNvGrpSpPr>
              <p:nvPr/>
            </p:nvGrpSpPr>
            <p:grpSpPr bwMode="auto">
              <a:xfrm>
                <a:off x="1448" y="3260"/>
                <a:ext cx="464" cy="210"/>
                <a:chOff x="1448" y="3260"/>
                <a:chExt cx="464" cy="210"/>
              </a:xfrm>
            </p:grpSpPr>
            <p:sp>
              <p:nvSpPr>
                <p:cNvPr id="54609" name="Rectangle 337"/>
                <p:cNvSpPr>
                  <a:spLocks noChangeArrowheads="1"/>
                </p:cNvSpPr>
                <p:nvPr/>
              </p:nvSpPr>
              <p:spPr bwMode="auto">
                <a:xfrm>
                  <a:off x="144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10" name="Rectangle 338"/>
                <p:cNvSpPr>
                  <a:spLocks noChangeArrowheads="1"/>
                </p:cNvSpPr>
                <p:nvPr/>
              </p:nvSpPr>
              <p:spPr bwMode="auto">
                <a:xfrm>
                  <a:off x="1475" y="3260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13" name="Group 339"/>
              <p:cNvGrpSpPr>
                <a:grpSpLocks/>
              </p:cNvGrpSpPr>
              <p:nvPr/>
            </p:nvGrpSpPr>
            <p:grpSpPr bwMode="auto">
              <a:xfrm>
                <a:off x="1928" y="3260"/>
                <a:ext cx="468" cy="210"/>
                <a:chOff x="1928" y="3260"/>
                <a:chExt cx="468" cy="210"/>
              </a:xfrm>
            </p:grpSpPr>
            <p:sp>
              <p:nvSpPr>
                <p:cNvPr id="54612" name="Rectangle 340"/>
                <p:cNvSpPr>
                  <a:spLocks noChangeArrowheads="1"/>
                </p:cNvSpPr>
                <p:nvPr/>
              </p:nvSpPr>
              <p:spPr bwMode="auto">
                <a:xfrm>
                  <a:off x="192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13" name="Rectangle 341"/>
                <p:cNvSpPr>
                  <a:spLocks noChangeArrowheads="1"/>
                </p:cNvSpPr>
                <p:nvPr/>
              </p:nvSpPr>
              <p:spPr bwMode="auto">
                <a:xfrm>
                  <a:off x="1955" y="3260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14" name="Group 342"/>
              <p:cNvGrpSpPr>
                <a:grpSpLocks/>
              </p:cNvGrpSpPr>
              <p:nvPr/>
            </p:nvGrpSpPr>
            <p:grpSpPr bwMode="auto">
              <a:xfrm>
                <a:off x="2408" y="3260"/>
                <a:ext cx="464" cy="210"/>
                <a:chOff x="2408" y="3260"/>
                <a:chExt cx="464" cy="210"/>
              </a:xfrm>
            </p:grpSpPr>
            <p:sp>
              <p:nvSpPr>
                <p:cNvPr id="54615" name="Rectangle 343"/>
                <p:cNvSpPr>
                  <a:spLocks noChangeArrowheads="1"/>
                </p:cNvSpPr>
                <p:nvPr/>
              </p:nvSpPr>
              <p:spPr bwMode="auto">
                <a:xfrm>
                  <a:off x="2408" y="3272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16" name="Rectangle 344"/>
                <p:cNvSpPr>
                  <a:spLocks noChangeArrowheads="1"/>
                </p:cNvSpPr>
                <p:nvPr/>
              </p:nvSpPr>
              <p:spPr bwMode="auto">
                <a:xfrm>
                  <a:off x="2483" y="3260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  <p:grpSp>
          <p:nvGrpSpPr>
            <p:cNvPr id="15" name="Group 345"/>
            <p:cNvGrpSpPr>
              <a:grpSpLocks/>
            </p:cNvGrpSpPr>
            <p:nvPr/>
          </p:nvGrpSpPr>
          <p:grpSpPr bwMode="auto">
            <a:xfrm>
              <a:off x="1029" y="3360"/>
              <a:ext cx="2384" cy="210"/>
              <a:chOff x="968" y="3548"/>
              <a:chExt cx="2384" cy="210"/>
            </a:xfrm>
          </p:grpSpPr>
          <p:grpSp>
            <p:nvGrpSpPr>
              <p:cNvPr id="16" name="Group 346"/>
              <p:cNvGrpSpPr>
                <a:grpSpLocks/>
              </p:cNvGrpSpPr>
              <p:nvPr/>
            </p:nvGrpSpPr>
            <p:grpSpPr bwMode="auto">
              <a:xfrm>
                <a:off x="968" y="3548"/>
                <a:ext cx="464" cy="210"/>
                <a:chOff x="968" y="3548"/>
                <a:chExt cx="464" cy="210"/>
              </a:xfrm>
            </p:grpSpPr>
            <p:sp>
              <p:nvSpPr>
                <p:cNvPr id="54619" name="Rectangle 347"/>
                <p:cNvSpPr>
                  <a:spLocks noChangeArrowheads="1"/>
                </p:cNvSpPr>
                <p:nvPr/>
              </p:nvSpPr>
              <p:spPr bwMode="auto">
                <a:xfrm>
                  <a:off x="96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20" name="Rectangle 348"/>
                <p:cNvSpPr>
                  <a:spLocks noChangeArrowheads="1"/>
                </p:cNvSpPr>
                <p:nvPr/>
              </p:nvSpPr>
              <p:spPr bwMode="auto">
                <a:xfrm>
                  <a:off x="995" y="3548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17" name="Group 349"/>
              <p:cNvGrpSpPr>
                <a:grpSpLocks/>
              </p:cNvGrpSpPr>
              <p:nvPr/>
            </p:nvGrpSpPr>
            <p:grpSpPr bwMode="auto">
              <a:xfrm>
                <a:off x="1448" y="3548"/>
                <a:ext cx="464" cy="210"/>
                <a:chOff x="1448" y="3548"/>
                <a:chExt cx="464" cy="210"/>
              </a:xfrm>
            </p:grpSpPr>
            <p:sp>
              <p:nvSpPr>
                <p:cNvPr id="54622" name="Rectangle 350"/>
                <p:cNvSpPr>
                  <a:spLocks noChangeArrowheads="1"/>
                </p:cNvSpPr>
                <p:nvPr/>
              </p:nvSpPr>
              <p:spPr bwMode="auto">
                <a:xfrm>
                  <a:off x="144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23" name="Rectangle 351"/>
                <p:cNvSpPr>
                  <a:spLocks noChangeArrowheads="1"/>
                </p:cNvSpPr>
                <p:nvPr/>
              </p:nvSpPr>
              <p:spPr bwMode="auto">
                <a:xfrm>
                  <a:off x="1523" y="3548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18" name="Group 352"/>
              <p:cNvGrpSpPr>
                <a:grpSpLocks/>
              </p:cNvGrpSpPr>
              <p:nvPr/>
            </p:nvGrpSpPr>
            <p:grpSpPr bwMode="auto">
              <a:xfrm>
                <a:off x="1928" y="3548"/>
                <a:ext cx="464" cy="210"/>
                <a:chOff x="1928" y="3548"/>
                <a:chExt cx="464" cy="210"/>
              </a:xfrm>
            </p:grpSpPr>
            <p:sp>
              <p:nvSpPr>
                <p:cNvPr id="54625" name="Rectangle 353"/>
                <p:cNvSpPr>
                  <a:spLocks noChangeArrowheads="1"/>
                </p:cNvSpPr>
                <p:nvPr/>
              </p:nvSpPr>
              <p:spPr bwMode="auto">
                <a:xfrm>
                  <a:off x="192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26" name="Rectangle 354"/>
                <p:cNvSpPr>
                  <a:spLocks noChangeArrowheads="1"/>
                </p:cNvSpPr>
                <p:nvPr/>
              </p:nvSpPr>
              <p:spPr bwMode="auto">
                <a:xfrm>
                  <a:off x="1955" y="3548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19" name="Group 355"/>
              <p:cNvGrpSpPr>
                <a:grpSpLocks/>
              </p:cNvGrpSpPr>
              <p:nvPr/>
            </p:nvGrpSpPr>
            <p:grpSpPr bwMode="auto">
              <a:xfrm>
                <a:off x="2408" y="3548"/>
                <a:ext cx="468" cy="210"/>
                <a:chOff x="2408" y="3548"/>
                <a:chExt cx="468" cy="210"/>
              </a:xfrm>
            </p:grpSpPr>
            <p:sp>
              <p:nvSpPr>
                <p:cNvPr id="54628" name="Rectangle 356"/>
                <p:cNvSpPr>
                  <a:spLocks noChangeArrowheads="1"/>
                </p:cNvSpPr>
                <p:nvPr/>
              </p:nvSpPr>
              <p:spPr bwMode="auto">
                <a:xfrm>
                  <a:off x="240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29" name="Rectangle 357"/>
                <p:cNvSpPr>
                  <a:spLocks noChangeArrowheads="1"/>
                </p:cNvSpPr>
                <p:nvPr/>
              </p:nvSpPr>
              <p:spPr bwMode="auto">
                <a:xfrm>
                  <a:off x="2435" y="3548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20" name="Group 358"/>
              <p:cNvGrpSpPr>
                <a:grpSpLocks/>
              </p:cNvGrpSpPr>
              <p:nvPr/>
            </p:nvGrpSpPr>
            <p:grpSpPr bwMode="auto">
              <a:xfrm>
                <a:off x="2888" y="3548"/>
                <a:ext cx="464" cy="210"/>
                <a:chOff x="2888" y="3548"/>
                <a:chExt cx="464" cy="210"/>
              </a:xfrm>
            </p:grpSpPr>
            <p:sp>
              <p:nvSpPr>
                <p:cNvPr id="54631" name="Rectangle 359"/>
                <p:cNvSpPr>
                  <a:spLocks noChangeArrowheads="1"/>
                </p:cNvSpPr>
                <p:nvPr/>
              </p:nvSpPr>
              <p:spPr bwMode="auto">
                <a:xfrm>
                  <a:off x="2888" y="3560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32" name="Rectangle 360"/>
                <p:cNvSpPr>
                  <a:spLocks noChangeArrowheads="1"/>
                </p:cNvSpPr>
                <p:nvPr/>
              </p:nvSpPr>
              <p:spPr bwMode="auto">
                <a:xfrm>
                  <a:off x="2963" y="3548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  <p:sp>
          <p:nvSpPr>
            <p:cNvPr id="54633" name="Rectangle 361"/>
            <p:cNvSpPr>
              <a:spLocks noChangeArrowheads="1"/>
            </p:cNvSpPr>
            <p:nvPr/>
          </p:nvSpPr>
          <p:spPr bwMode="auto">
            <a:xfrm>
              <a:off x="672" y="3360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/>
                <a:t>Store</a:t>
              </a:r>
            </a:p>
          </p:txBody>
        </p:sp>
        <p:grpSp>
          <p:nvGrpSpPr>
            <p:cNvPr id="21" name="Group 362"/>
            <p:cNvGrpSpPr>
              <a:grpSpLocks/>
            </p:cNvGrpSpPr>
            <p:nvPr/>
          </p:nvGrpSpPr>
          <p:grpSpPr bwMode="auto">
            <a:xfrm>
              <a:off x="1521" y="3648"/>
              <a:ext cx="2384" cy="210"/>
              <a:chOff x="1496" y="3836"/>
              <a:chExt cx="2384" cy="210"/>
            </a:xfrm>
          </p:grpSpPr>
          <p:grpSp>
            <p:nvGrpSpPr>
              <p:cNvPr id="22" name="Group 363"/>
              <p:cNvGrpSpPr>
                <a:grpSpLocks/>
              </p:cNvGrpSpPr>
              <p:nvPr/>
            </p:nvGrpSpPr>
            <p:grpSpPr bwMode="auto">
              <a:xfrm>
                <a:off x="1496" y="3836"/>
                <a:ext cx="464" cy="210"/>
                <a:chOff x="1496" y="3836"/>
                <a:chExt cx="464" cy="210"/>
              </a:xfrm>
            </p:grpSpPr>
            <p:sp>
              <p:nvSpPr>
                <p:cNvPr id="54636" name="Rectangle 364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37" name="Rectangle 365"/>
                <p:cNvSpPr>
                  <a:spLocks noChangeArrowheads="1"/>
                </p:cNvSpPr>
                <p:nvPr/>
              </p:nvSpPr>
              <p:spPr bwMode="auto">
                <a:xfrm>
                  <a:off x="1523" y="3836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23" name="Group 366"/>
              <p:cNvGrpSpPr>
                <a:grpSpLocks/>
              </p:cNvGrpSpPr>
              <p:nvPr/>
            </p:nvGrpSpPr>
            <p:grpSpPr bwMode="auto">
              <a:xfrm>
                <a:off x="1976" y="3836"/>
                <a:ext cx="464" cy="210"/>
                <a:chOff x="1976" y="3836"/>
                <a:chExt cx="464" cy="210"/>
              </a:xfrm>
            </p:grpSpPr>
            <p:sp>
              <p:nvSpPr>
                <p:cNvPr id="54639" name="Rectangle 367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40" name="Rectangle 368"/>
                <p:cNvSpPr>
                  <a:spLocks noChangeArrowheads="1"/>
                </p:cNvSpPr>
                <p:nvPr/>
              </p:nvSpPr>
              <p:spPr bwMode="auto">
                <a:xfrm>
                  <a:off x="2051" y="3836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24" name="Group 369"/>
              <p:cNvGrpSpPr>
                <a:grpSpLocks/>
              </p:cNvGrpSpPr>
              <p:nvPr/>
            </p:nvGrpSpPr>
            <p:grpSpPr bwMode="auto">
              <a:xfrm>
                <a:off x="2456" y="3836"/>
                <a:ext cx="464" cy="210"/>
                <a:chOff x="2456" y="3836"/>
                <a:chExt cx="464" cy="210"/>
              </a:xfrm>
            </p:grpSpPr>
            <p:sp>
              <p:nvSpPr>
                <p:cNvPr id="54642" name="Rectangle 370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43" name="Rectangle 371"/>
                <p:cNvSpPr>
                  <a:spLocks noChangeArrowheads="1"/>
                </p:cNvSpPr>
                <p:nvPr/>
              </p:nvSpPr>
              <p:spPr bwMode="auto">
                <a:xfrm>
                  <a:off x="2483" y="3836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25" name="Group 372"/>
              <p:cNvGrpSpPr>
                <a:grpSpLocks/>
              </p:cNvGrpSpPr>
              <p:nvPr/>
            </p:nvGrpSpPr>
            <p:grpSpPr bwMode="auto">
              <a:xfrm>
                <a:off x="2936" y="3836"/>
                <a:ext cx="468" cy="210"/>
                <a:chOff x="2936" y="3836"/>
                <a:chExt cx="468" cy="210"/>
              </a:xfrm>
            </p:grpSpPr>
            <p:sp>
              <p:nvSpPr>
                <p:cNvPr id="54645" name="Rectangle 373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46" name="Rectangle 374"/>
                <p:cNvSpPr>
                  <a:spLocks noChangeArrowheads="1"/>
                </p:cNvSpPr>
                <p:nvPr/>
              </p:nvSpPr>
              <p:spPr bwMode="auto">
                <a:xfrm>
                  <a:off x="2963" y="3836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26" name="Group 375"/>
              <p:cNvGrpSpPr>
                <a:grpSpLocks/>
              </p:cNvGrpSpPr>
              <p:nvPr/>
            </p:nvGrpSpPr>
            <p:grpSpPr bwMode="auto">
              <a:xfrm>
                <a:off x="3416" y="3836"/>
                <a:ext cx="464" cy="210"/>
                <a:chOff x="3416" y="3836"/>
                <a:chExt cx="464" cy="210"/>
              </a:xfrm>
            </p:grpSpPr>
            <p:sp>
              <p:nvSpPr>
                <p:cNvPr id="54648" name="Rectangle 376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49" name="Rectangle 377"/>
                <p:cNvSpPr>
                  <a:spLocks noChangeArrowheads="1"/>
                </p:cNvSpPr>
                <p:nvPr/>
              </p:nvSpPr>
              <p:spPr bwMode="auto">
                <a:xfrm>
                  <a:off x="3491" y="3836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  <p:sp>
          <p:nvSpPr>
            <p:cNvPr id="54650" name="Rectangle 378"/>
            <p:cNvSpPr>
              <a:spLocks noChangeArrowheads="1"/>
            </p:cNvSpPr>
            <p:nvPr/>
          </p:nvSpPr>
          <p:spPr bwMode="auto">
            <a:xfrm>
              <a:off x="1056" y="3648"/>
              <a:ext cx="484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/>
                <a:t>R-type</a:t>
              </a:r>
            </a:p>
          </p:txBody>
        </p:sp>
      </p:grpSp>
      <p:grpSp>
        <p:nvGrpSpPr>
          <p:cNvPr id="27" name="Group 411"/>
          <p:cNvGrpSpPr>
            <a:grpSpLocks/>
          </p:cNvGrpSpPr>
          <p:nvPr/>
        </p:nvGrpSpPr>
        <p:grpSpPr bwMode="auto">
          <a:xfrm>
            <a:off x="869950" y="2895600"/>
            <a:ext cx="7602538" cy="333375"/>
            <a:chOff x="548" y="1824"/>
            <a:chExt cx="4789" cy="210"/>
          </a:xfrm>
        </p:grpSpPr>
        <p:grpSp>
          <p:nvGrpSpPr>
            <p:cNvPr id="28" name="Group 379"/>
            <p:cNvGrpSpPr>
              <a:grpSpLocks/>
            </p:cNvGrpSpPr>
            <p:nvPr/>
          </p:nvGrpSpPr>
          <p:grpSpPr bwMode="auto">
            <a:xfrm>
              <a:off x="548" y="1824"/>
              <a:ext cx="2384" cy="210"/>
              <a:chOff x="1496" y="3836"/>
              <a:chExt cx="2384" cy="210"/>
            </a:xfrm>
          </p:grpSpPr>
          <p:grpSp>
            <p:nvGrpSpPr>
              <p:cNvPr id="29" name="Group 380"/>
              <p:cNvGrpSpPr>
                <a:grpSpLocks/>
              </p:cNvGrpSpPr>
              <p:nvPr/>
            </p:nvGrpSpPr>
            <p:grpSpPr bwMode="auto">
              <a:xfrm>
                <a:off x="1496" y="3836"/>
                <a:ext cx="464" cy="210"/>
                <a:chOff x="1496" y="3836"/>
                <a:chExt cx="464" cy="210"/>
              </a:xfrm>
            </p:grpSpPr>
            <p:sp>
              <p:nvSpPr>
                <p:cNvPr id="54653" name="Rectangle 381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54" name="Rectangle 382"/>
                <p:cNvSpPr>
                  <a:spLocks noChangeArrowheads="1"/>
                </p:cNvSpPr>
                <p:nvPr/>
              </p:nvSpPr>
              <p:spPr bwMode="auto">
                <a:xfrm>
                  <a:off x="1523" y="3836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30" name="Group 383"/>
              <p:cNvGrpSpPr>
                <a:grpSpLocks/>
              </p:cNvGrpSpPr>
              <p:nvPr/>
            </p:nvGrpSpPr>
            <p:grpSpPr bwMode="auto">
              <a:xfrm>
                <a:off x="1976" y="3836"/>
                <a:ext cx="464" cy="210"/>
                <a:chOff x="1976" y="3836"/>
                <a:chExt cx="464" cy="210"/>
              </a:xfrm>
            </p:grpSpPr>
            <p:sp>
              <p:nvSpPr>
                <p:cNvPr id="54656" name="Rectangle 384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57" name="Rectangle 385"/>
                <p:cNvSpPr>
                  <a:spLocks noChangeArrowheads="1"/>
                </p:cNvSpPr>
                <p:nvPr/>
              </p:nvSpPr>
              <p:spPr bwMode="auto">
                <a:xfrm>
                  <a:off x="2051" y="3836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31" name="Group 386"/>
              <p:cNvGrpSpPr>
                <a:grpSpLocks/>
              </p:cNvGrpSpPr>
              <p:nvPr/>
            </p:nvGrpSpPr>
            <p:grpSpPr bwMode="auto">
              <a:xfrm>
                <a:off x="2456" y="3836"/>
                <a:ext cx="464" cy="210"/>
                <a:chOff x="2456" y="3836"/>
                <a:chExt cx="464" cy="210"/>
              </a:xfrm>
            </p:grpSpPr>
            <p:sp>
              <p:nvSpPr>
                <p:cNvPr id="54659" name="Rectangle 387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60" name="Rectangle 388"/>
                <p:cNvSpPr>
                  <a:spLocks noChangeArrowheads="1"/>
                </p:cNvSpPr>
                <p:nvPr/>
              </p:nvSpPr>
              <p:spPr bwMode="auto">
                <a:xfrm>
                  <a:off x="2483" y="3836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54465" name="Group 389"/>
              <p:cNvGrpSpPr>
                <a:grpSpLocks/>
              </p:cNvGrpSpPr>
              <p:nvPr/>
            </p:nvGrpSpPr>
            <p:grpSpPr bwMode="auto">
              <a:xfrm>
                <a:off x="2936" y="3836"/>
                <a:ext cx="468" cy="210"/>
                <a:chOff x="2936" y="3836"/>
                <a:chExt cx="468" cy="210"/>
              </a:xfrm>
            </p:grpSpPr>
            <p:sp>
              <p:nvSpPr>
                <p:cNvPr id="54662" name="Rectangle 390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63" name="Rectangle 391"/>
                <p:cNvSpPr>
                  <a:spLocks noChangeArrowheads="1"/>
                </p:cNvSpPr>
                <p:nvPr/>
              </p:nvSpPr>
              <p:spPr bwMode="auto">
                <a:xfrm>
                  <a:off x="2963" y="3836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54528" name="Group 392"/>
              <p:cNvGrpSpPr>
                <a:grpSpLocks/>
              </p:cNvGrpSpPr>
              <p:nvPr/>
            </p:nvGrpSpPr>
            <p:grpSpPr bwMode="auto">
              <a:xfrm>
                <a:off x="3416" y="3836"/>
                <a:ext cx="464" cy="210"/>
                <a:chOff x="3416" y="3836"/>
                <a:chExt cx="464" cy="210"/>
              </a:xfrm>
            </p:grpSpPr>
            <p:sp>
              <p:nvSpPr>
                <p:cNvPr id="54665" name="Rectangle 393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66" name="Rectangle 394"/>
                <p:cNvSpPr>
                  <a:spLocks noChangeArrowheads="1"/>
                </p:cNvSpPr>
                <p:nvPr/>
              </p:nvSpPr>
              <p:spPr bwMode="auto">
                <a:xfrm>
                  <a:off x="3491" y="3836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  <p:grpSp>
          <p:nvGrpSpPr>
            <p:cNvPr id="54529" name="Group 395"/>
            <p:cNvGrpSpPr>
              <a:grpSpLocks/>
            </p:cNvGrpSpPr>
            <p:nvPr/>
          </p:nvGrpSpPr>
          <p:grpSpPr bwMode="auto">
            <a:xfrm>
              <a:off x="2953" y="1824"/>
              <a:ext cx="2384" cy="210"/>
              <a:chOff x="1496" y="3836"/>
              <a:chExt cx="2384" cy="210"/>
            </a:xfrm>
          </p:grpSpPr>
          <p:grpSp>
            <p:nvGrpSpPr>
              <p:cNvPr id="54530" name="Group 396"/>
              <p:cNvGrpSpPr>
                <a:grpSpLocks/>
              </p:cNvGrpSpPr>
              <p:nvPr/>
            </p:nvGrpSpPr>
            <p:grpSpPr bwMode="auto">
              <a:xfrm>
                <a:off x="1496" y="3836"/>
                <a:ext cx="464" cy="210"/>
                <a:chOff x="1496" y="3836"/>
                <a:chExt cx="464" cy="210"/>
              </a:xfrm>
            </p:grpSpPr>
            <p:sp>
              <p:nvSpPr>
                <p:cNvPr id="54669" name="Rectangle 397"/>
                <p:cNvSpPr>
                  <a:spLocks noChangeArrowheads="1"/>
                </p:cNvSpPr>
                <p:nvPr/>
              </p:nvSpPr>
              <p:spPr bwMode="auto">
                <a:xfrm>
                  <a:off x="149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70" name="Rectangle 398"/>
                <p:cNvSpPr>
                  <a:spLocks noChangeArrowheads="1"/>
                </p:cNvSpPr>
                <p:nvPr/>
              </p:nvSpPr>
              <p:spPr bwMode="auto">
                <a:xfrm>
                  <a:off x="1523" y="3836"/>
                  <a:ext cx="242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IF</a:t>
                  </a:r>
                </a:p>
              </p:txBody>
            </p:sp>
          </p:grpSp>
          <p:grpSp>
            <p:nvGrpSpPr>
              <p:cNvPr id="54533" name="Group 399"/>
              <p:cNvGrpSpPr>
                <a:grpSpLocks/>
              </p:cNvGrpSpPr>
              <p:nvPr/>
            </p:nvGrpSpPr>
            <p:grpSpPr bwMode="auto">
              <a:xfrm>
                <a:off x="1976" y="3836"/>
                <a:ext cx="464" cy="210"/>
                <a:chOff x="1976" y="3836"/>
                <a:chExt cx="464" cy="210"/>
              </a:xfrm>
            </p:grpSpPr>
            <p:sp>
              <p:nvSpPr>
                <p:cNvPr id="54672" name="Rectangle 400"/>
                <p:cNvSpPr>
                  <a:spLocks noChangeArrowheads="1"/>
                </p:cNvSpPr>
                <p:nvPr/>
              </p:nvSpPr>
              <p:spPr bwMode="auto">
                <a:xfrm>
                  <a:off x="197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73" name="Rectangle 401"/>
                <p:cNvSpPr>
                  <a:spLocks noChangeArrowheads="1"/>
                </p:cNvSpPr>
                <p:nvPr/>
              </p:nvSpPr>
              <p:spPr bwMode="auto">
                <a:xfrm>
                  <a:off x="2051" y="3836"/>
                  <a:ext cx="25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ID</a:t>
                  </a:r>
                </a:p>
              </p:txBody>
            </p:sp>
          </p:grpSp>
          <p:grpSp>
            <p:nvGrpSpPr>
              <p:cNvPr id="54598" name="Group 402"/>
              <p:cNvGrpSpPr>
                <a:grpSpLocks/>
              </p:cNvGrpSpPr>
              <p:nvPr/>
            </p:nvGrpSpPr>
            <p:grpSpPr bwMode="auto">
              <a:xfrm>
                <a:off x="2456" y="3836"/>
                <a:ext cx="464" cy="210"/>
                <a:chOff x="2456" y="3836"/>
                <a:chExt cx="464" cy="210"/>
              </a:xfrm>
            </p:grpSpPr>
            <p:sp>
              <p:nvSpPr>
                <p:cNvPr id="54675" name="Rectangle 403"/>
                <p:cNvSpPr>
                  <a:spLocks noChangeArrowheads="1"/>
                </p:cNvSpPr>
                <p:nvPr/>
              </p:nvSpPr>
              <p:spPr bwMode="auto">
                <a:xfrm>
                  <a:off x="245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76" name="Rectangle 404"/>
                <p:cNvSpPr>
                  <a:spLocks noChangeArrowheads="1"/>
                </p:cNvSpPr>
                <p:nvPr/>
              </p:nvSpPr>
              <p:spPr bwMode="auto">
                <a:xfrm>
                  <a:off x="2483" y="3836"/>
                  <a:ext cx="29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EX</a:t>
                  </a:r>
                </a:p>
              </p:txBody>
            </p:sp>
          </p:grpSp>
          <p:grpSp>
            <p:nvGrpSpPr>
              <p:cNvPr id="54599" name="Group 405"/>
              <p:cNvGrpSpPr>
                <a:grpSpLocks/>
              </p:cNvGrpSpPr>
              <p:nvPr/>
            </p:nvGrpSpPr>
            <p:grpSpPr bwMode="auto">
              <a:xfrm>
                <a:off x="2936" y="3836"/>
                <a:ext cx="468" cy="210"/>
                <a:chOff x="2936" y="3836"/>
                <a:chExt cx="468" cy="210"/>
              </a:xfrm>
            </p:grpSpPr>
            <p:sp>
              <p:nvSpPr>
                <p:cNvPr id="54678" name="Rectangle 406"/>
                <p:cNvSpPr>
                  <a:spLocks noChangeArrowheads="1"/>
                </p:cNvSpPr>
                <p:nvPr/>
              </p:nvSpPr>
              <p:spPr bwMode="auto">
                <a:xfrm>
                  <a:off x="293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79" name="Rectangle 407"/>
                <p:cNvSpPr>
                  <a:spLocks noChangeArrowheads="1"/>
                </p:cNvSpPr>
                <p:nvPr/>
              </p:nvSpPr>
              <p:spPr bwMode="auto">
                <a:xfrm>
                  <a:off x="2963" y="3836"/>
                  <a:ext cx="441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MEM</a:t>
                  </a:r>
                </a:p>
              </p:txBody>
            </p:sp>
          </p:grpSp>
          <p:grpSp>
            <p:nvGrpSpPr>
              <p:cNvPr id="54601" name="Group 408"/>
              <p:cNvGrpSpPr>
                <a:grpSpLocks/>
              </p:cNvGrpSpPr>
              <p:nvPr/>
            </p:nvGrpSpPr>
            <p:grpSpPr bwMode="auto">
              <a:xfrm>
                <a:off x="3416" y="3836"/>
                <a:ext cx="464" cy="210"/>
                <a:chOff x="3416" y="3836"/>
                <a:chExt cx="464" cy="210"/>
              </a:xfrm>
            </p:grpSpPr>
            <p:sp>
              <p:nvSpPr>
                <p:cNvPr id="54681" name="Rectangle 409"/>
                <p:cNvSpPr>
                  <a:spLocks noChangeArrowheads="1"/>
                </p:cNvSpPr>
                <p:nvPr/>
              </p:nvSpPr>
              <p:spPr bwMode="auto">
                <a:xfrm>
                  <a:off x="3416" y="3848"/>
                  <a:ext cx="464" cy="176"/>
                </a:xfrm>
                <a:prstGeom prst="rect">
                  <a:avLst/>
                </a:prstGeom>
                <a:noFill/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682" name="Rectangle 410"/>
                <p:cNvSpPr>
                  <a:spLocks noChangeArrowheads="1"/>
                </p:cNvSpPr>
                <p:nvPr/>
              </p:nvSpPr>
              <p:spPr bwMode="auto">
                <a:xfrm>
                  <a:off x="3491" y="3836"/>
                  <a:ext cx="3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/>
                    <a:t>WB</a:t>
                  </a:r>
                </a:p>
              </p:txBody>
            </p:sp>
          </p:grpSp>
        </p:grpSp>
      </p:grpSp>
      <p:sp>
        <p:nvSpPr>
          <p:cNvPr id="2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多周期实现</a:t>
            </a:r>
            <a:r>
              <a:rPr lang="zh-CN" altLang="en-US" b="1" dirty="0" smtClean="0"/>
              <a:t>比较</a:t>
            </a:r>
            <a:r>
              <a:rPr lang="zh-CN" altLang="en-US" b="1" dirty="0" smtClean="0">
                <a:solidFill>
                  <a:srgbClr val="FF0000"/>
                </a:solidFill>
              </a:rPr>
              <a:t>流水线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F36044-DCED-49C8-9260-91D44438AF52}" type="slidenum">
              <a:rPr lang="en-US" altLang="zh-CN"/>
              <a:pPr/>
              <a:t>33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1524000"/>
            <a:ext cx="8305800" cy="4724400"/>
            <a:chOff x="240" y="960"/>
            <a:chExt cx="5232" cy="2976"/>
          </a:xfrm>
        </p:grpSpPr>
        <p:pic>
          <p:nvPicPr>
            <p:cNvPr id="52227" name="Picture 3" descr="E:\English_arch\611\chap3_4.files\chap3_4-5new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960"/>
              <a:ext cx="5232" cy="2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3110" y="3002"/>
              <a:ext cx="2254" cy="934"/>
              <a:chOff x="3110" y="3002"/>
              <a:chExt cx="2254" cy="934"/>
            </a:xfrm>
          </p:grpSpPr>
          <p:sp>
            <p:nvSpPr>
              <p:cNvPr id="52229" name="Text Box 5"/>
              <p:cNvSpPr txBox="1">
                <a:spLocks noChangeArrowheads="1"/>
              </p:cNvSpPr>
              <p:nvPr/>
            </p:nvSpPr>
            <p:spPr bwMode="auto">
              <a:xfrm>
                <a:off x="3110" y="3002"/>
                <a:ext cx="5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>
                    <a:solidFill>
                      <a:srgbClr val="339966"/>
                    </a:solidFill>
                  </a:rPr>
                  <a:t>store</a:t>
                </a:r>
                <a:endParaRPr lang="en-US" altLang="zh-CN" b="0"/>
              </a:p>
            </p:txBody>
          </p:sp>
          <p:sp>
            <p:nvSpPr>
              <p:cNvPr id="52230" name="Text Box 6"/>
              <p:cNvSpPr txBox="1">
                <a:spLocks noChangeArrowheads="1"/>
              </p:cNvSpPr>
              <p:nvPr/>
            </p:nvSpPr>
            <p:spPr bwMode="auto">
              <a:xfrm>
                <a:off x="4896" y="3648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dirty="0">
                    <a:solidFill>
                      <a:srgbClr val="339966"/>
                    </a:solidFill>
                  </a:rPr>
                  <a:t>load</a:t>
                </a:r>
                <a:endParaRPr lang="en-US" altLang="zh-CN" b="0" dirty="0"/>
              </a:p>
            </p:txBody>
          </p:sp>
        </p:grpSp>
      </p:grpSp>
      <p:sp>
        <p:nvSpPr>
          <p:cNvPr id="522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流水线真如此简单吗？</a:t>
            </a:r>
            <a:endParaRPr lang="en-US" altLang="zh-CN" b="1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381000" y="5410200"/>
            <a:ext cx="3657600" cy="914400"/>
            <a:chOff x="240" y="3408"/>
            <a:chExt cx="2304" cy="576"/>
          </a:xfrm>
        </p:grpSpPr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240" y="3408"/>
              <a:ext cx="83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0" rIns="18000" bIns="0">
              <a:spAutoFit/>
            </a:bodyPr>
            <a:lstStyle/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pipeline </a:t>
              </a:r>
            </a:p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registers or </a:t>
              </a:r>
              <a:endParaRPr lang="en-US" altLang="zh-CN">
                <a:solidFill>
                  <a:srgbClr val="FF00FF"/>
                </a:solidFill>
              </a:endParaRPr>
            </a:p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latches</a:t>
              </a:r>
              <a:r>
                <a:rPr lang="en-US" altLang="zh-CN" sz="2000" b="0"/>
                <a:t>  </a:t>
              </a:r>
            </a:p>
          </p:txBody>
        </p:sp>
        <p:sp>
          <p:nvSpPr>
            <p:cNvPr id="52234" name="Line 10"/>
            <p:cNvSpPr>
              <a:spLocks noChangeShapeType="1"/>
            </p:cNvSpPr>
            <p:nvPr/>
          </p:nvSpPr>
          <p:spPr bwMode="auto">
            <a:xfrm flipV="1">
              <a:off x="912" y="3456"/>
              <a:ext cx="624" cy="192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5" name="Line 11"/>
            <p:cNvSpPr>
              <a:spLocks noChangeShapeType="1"/>
            </p:cNvSpPr>
            <p:nvPr/>
          </p:nvSpPr>
          <p:spPr bwMode="auto">
            <a:xfrm flipV="1">
              <a:off x="1008" y="3456"/>
              <a:ext cx="1536" cy="24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3184525" y="5334000"/>
            <a:ext cx="3067050" cy="1096963"/>
            <a:chOff x="2006" y="3360"/>
            <a:chExt cx="1932" cy="691"/>
          </a:xfrm>
        </p:grpSpPr>
        <p:sp>
          <p:nvSpPr>
            <p:cNvPr id="52237" name="Text Box 13"/>
            <p:cNvSpPr txBox="1">
              <a:spLocks noChangeArrowheads="1"/>
            </p:cNvSpPr>
            <p:nvPr/>
          </p:nvSpPr>
          <p:spPr bwMode="auto">
            <a:xfrm>
              <a:off x="2006" y="3801"/>
              <a:ext cx="19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</a:rPr>
                <a:t>Why need to add this line?</a:t>
              </a:r>
              <a:endParaRPr lang="en-US" altLang="zh-CN" b="0"/>
            </a:p>
          </p:txBody>
        </p:sp>
        <p:sp>
          <p:nvSpPr>
            <p:cNvPr id="52238" name="Line 14"/>
            <p:cNvSpPr>
              <a:spLocks noChangeShapeType="1"/>
            </p:cNvSpPr>
            <p:nvPr/>
          </p:nvSpPr>
          <p:spPr bwMode="auto">
            <a:xfrm flipV="1">
              <a:off x="3024" y="3360"/>
              <a:ext cx="192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0DA352D-F2DF-4ABA-B057-98681FA46DA1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785786" y="285728"/>
            <a:ext cx="8001000" cy="9906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/>
              <a:t>引入流水线后出现的问题</a:t>
            </a:r>
            <a:endParaRPr lang="en-US" altLang="zh-CN" sz="4000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4422"/>
            <a:ext cx="8482042" cy="206217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Tx/>
              <a:buNone/>
            </a:pPr>
            <a:r>
              <a:rPr lang="zh-CN" altLang="en-US" sz="2800" b="1" dirty="0" smtClean="0">
                <a:latin typeface="Comic Sans MS" pitchFamily="66" charset="0"/>
              </a:rPr>
              <a:t>注意：</a:t>
            </a:r>
            <a:r>
              <a:rPr lang="zh-CN" altLang="en-US" sz="2800" b="1" dirty="0" smtClean="0">
                <a:solidFill>
                  <a:srgbClr val="C00000"/>
                </a:solidFill>
                <a:latin typeface="Comic Sans MS" pitchFamily="66" charset="0"/>
              </a:rPr>
              <a:t>在同一时钟周期</a:t>
            </a:r>
            <a:r>
              <a:rPr lang="zh-CN" altLang="en-US" sz="2800" b="1" dirty="0" smtClean="0">
                <a:solidFill>
                  <a:srgbClr val="0070C0"/>
                </a:solidFill>
                <a:latin typeface="Comic Sans MS" pitchFamily="66" charset="0"/>
              </a:rPr>
              <a:t>不同操作</a:t>
            </a:r>
            <a:r>
              <a:rPr lang="zh-CN" altLang="en-US" sz="2800" b="1" dirty="0" smtClean="0">
                <a:solidFill>
                  <a:srgbClr val="C00000"/>
                </a:solidFill>
                <a:latin typeface="Comic Sans MS" pitchFamily="66" charset="0"/>
              </a:rPr>
              <a:t>不能使用同一数据通路资源。</a:t>
            </a:r>
            <a:r>
              <a:rPr lang="en-US" altLang="zh-CN" sz="2800" b="1" dirty="0" smtClean="0">
                <a:solidFill>
                  <a:schemeClr val="accent2"/>
                </a:solidFill>
                <a:latin typeface="Comic Sans MS" pitchFamily="66" charset="0"/>
              </a:rPr>
              <a:t>(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结构冒险</a:t>
            </a:r>
            <a:r>
              <a:rPr lang="en-US" altLang="zh-CN" sz="2800" b="1" dirty="0" smtClean="0">
                <a:solidFill>
                  <a:srgbClr val="FF0000"/>
                </a:solidFill>
                <a:latin typeface="Comic Sans MS" pitchFamily="66" charset="0"/>
              </a:rPr>
              <a:t>structure </a:t>
            </a:r>
            <a:r>
              <a:rPr lang="en-US" altLang="zh-CN" sz="2800" b="1" dirty="0">
                <a:solidFill>
                  <a:srgbClr val="FF3300"/>
                </a:solidFill>
                <a:latin typeface="Comic Sans MS" pitchFamily="66" charset="0"/>
              </a:rPr>
              <a:t>hazard</a:t>
            </a:r>
            <a:r>
              <a:rPr lang="en-US" altLang="zh-CN" sz="2800" b="1" dirty="0">
                <a:solidFill>
                  <a:schemeClr val="accent2"/>
                </a:solidFill>
                <a:latin typeface="Comic Sans MS" pitchFamily="66" charset="0"/>
              </a:rPr>
              <a:t>)</a:t>
            </a:r>
            <a:endParaRPr lang="en-US" altLang="zh-CN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有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访问存储器冲突</a:t>
            </a:r>
            <a:r>
              <a:rPr lang="zh-CN" altLang="en-US" sz="2800" b="1" dirty="0" smtClean="0">
                <a:latin typeface="Comic Sans MS" pitchFamily="66" charset="0"/>
              </a:rPr>
              <a:t>！</a:t>
            </a:r>
            <a:r>
              <a:rPr lang="en-US" altLang="zh-CN" sz="2800" b="1" dirty="0" smtClean="0">
                <a:latin typeface="Comic Sans MS" pitchFamily="66" charset="0"/>
              </a:rPr>
              <a:t> </a:t>
            </a:r>
            <a:endParaRPr lang="en-US" altLang="zh-CN" sz="2800" b="1" dirty="0">
              <a:latin typeface="Comic Sans MS" pitchFamily="66" charset="0"/>
            </a:endParaRPr>
          </a:p>
          <a:p>
            <a:endParaRPr lang="en-US" altLang="zh-CN" dirty="0">
              <a:latin typeface="Comic Sans MS" pitchFamily="66" charset="0"/>
            </a:endParaRPr>
          </a:p>
          <a:p>
            <a:pPr lvl="1"/>
            <a:endParaRPr lang="en-US" altLang="zh-CN" dirty="0"/>
          </a:p>
        </p:txBody>
      </p:sp>
      <p:grpSp>
        <p:nvGrpSpPr>
          <p:cNvPr id="2" name="Group 170"/>
          <p:cNvGrpSpPr>
            <a:grpSpLocks/>
          </p:cNvGrpSpPr>
          <p:nvPr/>
        </p:nvGrpSpPr>
        <p:grpSpPr bwMode="auto">
          <a:xfrm>
            <a:off x="762000" y="3200400"/>
            <a:ext cx="7454900" cy="3252788"/>
            <a:chOff x="480" y="1776"/>
            <a:chExt cx="4696" cy="2049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825" y="2231"/>
              <a:ext cx="340" cy="259"/>
              <a:chOff x="2624" y="1200"/>
              <a:chExt cx="340" cy="294"/>
            </a:xfrm>
          </p:grpSpPr>
          <p:sp>
            <p:nvSpPr>
              <p:cNvPr id="55302" name="Freeform 6"/>
              <p:cNvSpPr>
                <a:spLocks/>
              </p:cNvSpPr>
              <p:nvPr/>
            </p:nvSpPr>
            <p:spPr bwMode="auto">
              <a:xfrm>
                <a:off x="2816" y="1205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2624" y="1200"/>
                <a:ext cx="340" cy="289"/>
                <a:chOff x="2624" y="1200"/>
                <a:chExt cx="340" cy="289"/>
              </a:xfrm>
            </p:grpSpPr>
            <p:sp>
              <p:nvSpPr>
                <p:cNvPr id="55304" name="Freeform 8"/>
                <p:cNvSpPr>
                  <a:spLocks/>
                </p:cNvSpPr>
                <p:nvPr/>
              </p:nvSpPr>
              <p:spPr bwMode="auto">
                <a:xfrm>
                  <a:off x="2624" y="1200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05" name="Freeform 9"/>
                <p:cNvSpPr>
                  <a:spLocks/>
                </p:cNvSpPr>
                <p:nvPr/>
              </p:nvSpPr>
              <p:spPr bwMode="auto">
                <a:xfrm>
                  <a:off x="2793" y="1200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2825" y="3457"/>
              <a:ext cx="340" cy="259"/>
              <a:chOff x="2624" y="2592"/>
              <a:chExt cx="340" cy="294"/>
            </a:xfrm>
          </p:grpSpPr>
          <p:sp>
            <p:nvSpPr>
              <p:cNvPr id="55307" name="Freeform 11"/>
              <p:cNvSpPr>
                <a:spLocks/>
              </p:cNvSpPr>
              <p:nvPr/>
            </p:nvSpPr>
            <p:spPr bwMode="auto">
              <a:xfrm>
                <a:off x="2816" y="2597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2624" y="2592"/>
                <a:ext cx="340" cy="289"/>
                <a:chOff x="2624" y="2592"/>
                <a:chExt cx="340" cy="289"/>
              </a:xfrm>
            </p:grpSpPr>
            <p:sp>
              <p:nvSpPr>
                <p:cNvPr id="55309" name="Freeform 13"/>
                <p:cNvSpPr>
                  <a:spLocks/>
                </p:cNvSpPr>
                <p:nvPr/>
              </p:nvSpPr>
              <p:spPr bwMode="auto">
                <a:xfrm>
                  <a:off x="2624" y="2592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10" name="Freeform 14"/>
                <p:cNvSpPr>
                  <a:spLocks/>
                </p:cNvSpPr>
                <p:nvPr/>
              </p:nvSpPr>
              <p:spPr bwMode="auto">
                <a:xfrm>
                  <a:off x="2793" y="2592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5311" name="Rectangle 15"/>
            <p:cNvSpPr>
              <a:spLocks noChangeArrowheads="1"/>
            </p:cNvSpPr>
            <p:nvPr/>
          </p:nvSpPr>
          <p:spPr bwMode="auto">
            <a:xfrm>
              <a:off x="2806" y="3459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Mem</a:t>
              </a:r>
            </a:p>
          </p:txBody>
        </p:sp>
        <p:sp>
          <p:nvSpPr>
            <p:cNvPr id="55312" name="Rectangle 16"/>
            <p:cNvSpPr>
              <a:spLocks noChangeArrowheads="1"/>
            </p:cNvSpPr>
            <p:nvPr/>
          </p:nvSpPr>
          <p:spPr bwMode="auto">
            <a:xfrm>
              <a:off x="480" y="2251"/>
              <a:ext cx="226" cy="1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I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n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s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t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r.</a:t>
              </a:r>
            </a:p>
            <a:p>
              <a:pPr algn="ctr">
                <a:lnSpc>
                  <a:spcPct val="80000"/>
                </a:lnSpc>
              </a:pPr>
              <a:endParaRPr lang="en-US" altLang="zh-CN" sz="1800" b="0" i="1">
                <a:latin typeface="Arial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O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r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d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e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r</a:t>
              </a:r>
            </a:p>
          </p:txBody>
        </p:sp>
        <p:sp>
          <p:nvSpPr>
            <p:cNvPr id="55313" name="Line 17"/>
            <p:cNvSpPr>
              <a:spLocks noChangeShapeType="1"/>
            </p:cNvSpPr>
            <p:nvPr/>
          </p:nvSpPr>
          <p:spPr bwMode="auto">
            <a:xfrm flipH="1">
              <a:off x="768" y="2256"/>
              <a:ext cx="0" cy="1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>
              <a:off x="1200" y="2016"/>
              <a:ext cx="3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15" name="Rectangle 19"/>
            <p:cNvSpPr>
              <a:spLocks noChangeArrowheads="1"/>
            </p:cNvSpPr>
            <p:nvPr/>
          </p:nvSpPr>
          <p:spPr bwMode="auto">
            <a:xfrm>
              <a:off x="2400" y="1776"/>
              <a:ext cx="1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800" b="0" i="1">
                  <a:latin typeface="Arial" charset="0"/>
                </a:rPr>
                <a:t>Time (clock cycles)</a:t>
              </a:r>
            </a:p>
          </p:txBody>
        </p:sp>
        <p:sp>
          <p:nvSpPr>
            <p:cNvPr id="55316" name="Rectangle 20"/>
            <p:cNvSpPr>
              <a:spLocks noChangeArrowheads="1"/>
            </p:cNvSpPr>
            <p:nvPr/>
          </p:nvSpPr>
          <p:spPr bwMode="auto">
            <a:xfrm>
              <a:off x="780" y="2321"/>
              <a:ext cx="65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0">
                  <a:latin typeface="Comic Sans MS" pitchFamily="66" charset="0"/>
                </a:rPr>
                <a:t>Ld/St</a:t>
              </a:r>
              <a:endParaRPr lang="en-US" altLang="zh-CN" sz="2800">
                <a:latin typeface="Arial" charset="0"/>
              </a:endParaRPr>
            </a:p>
          </p:txBody>
        </p:sp>
        <p:sp>
          <p:nvSpPr>
            <p:cNvPr id="55317" name="Rectangle 21"/>
            <p:cNvSpPr>
              <a:spLocks noChangeArrowheads="1"/>
            </p:cNvSpPr>
            <p:nvPr/>
          </p:nvSpPr>
          <p:spPr bwMode="auto">
            <a:xfrm>
              <a:off x="764" y="2687"/>
              <a:ext cx="73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0">
                  <a:latin typeface="Comic Sans MS" pitchFamily="66" charset="0"/>
                </a:rPr>
                <a:t>Instr 1</a:t>
              </a:r>
              <a:endParaRPr lang="en-US" altLang="zh-CN" sz="2800">
                <a:latin typeface="Arial" charset="0"/>
              </a:endParaRPr>
            </a:p>
          </p:txBody>
        </p:sp>
        <p:sp>
          <p:nvSpPr>
            <p:cNvPr id="55318" name="Rectangle 22"/>
            <p:cNvSpPr>
              <a:spLocks noChangeArrowheads="1"/>
            </p:cNvSpPr>
            <p:nvPr/>
          </p:nvSpPr>
          <p:spPr bwMode="auto">
            <a:xfrm>
              <a:off x="756" y="3096"/>
              <a:ext cx="76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0">
                  <a:latin typeface="Comic Sans MS" pitchFamily="66" charset="0"/>
                </a:rPr>
                <a:t>Instr 2</a:t>
              </a:r>
              <a:endParaRPr lang="en-US" altLang="zh-CN" sz="2800">
                <a:latin typeface="Arial" charset="0"/>
              </a:endParaRPr>
            </a:p>
          </p:txBody>
        </p:sp>
        <p:sp>
          <p:nvSpPr>
            <p:cNvPr id="55319" name="Rectangle 23"/>
            <p:cNvSpPr>
              <a:spLocks noChangeArrowheads="1"/>
            </p:cNvSpPr>
            <p:nvPr/>
          </p:nvSpPr>
          <p:spPr bwMode="auto">
            <a:xfrm>
              <a:off x="799" y="3474"/>
              <a:ext cx="76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0">
                  <a:latin typeface="Comic Sans MS" pitchFamily="66" charset="0"/>
                </a:rPr>
                <a:t>Instr 3</a:t>
              </a:r>
              <a:endParaRPr lang="en-US" altLang="zh-CN" sz="2800">
                <a:latin typeface="Arial" charset="0"/>
              </a:endParaRPr>
            </a:p>
          </p:txBody>
        </p:sp>
        <p:grpSp>
          <p:nvGrpSpPr>
            <p:cNvPr id="7" name="Group 168"/>
            <p:cNvGrpSpPr>
              <a:grpSpLocks/>
            </p:cNvGrpSpPr>
            <p:nvPr/>
          </p:nvGrpSpPr>
          <p:grpSpPr bwMode="auto">
            <a:xfrm>
              <a:off x="1920" y="2064"/>
              <a:ext cx="3024" cy="1728"/>
              <a:chOff x="1929" y="1985"/>
              <a:chExt cx="3024" cy="2479"/>
            </a:xfrm>
          </p:grpSpPr>
          <p:sp>
            <p:nvSpPr>
              <p:cNvPr id="55321" name="Line 25"/>
              <p:cNvSpPr>
                <a:spLocks noChangeShapeType="1"/>
              </p:cNvSpPr>
              <p:nvPr/>
            </p:nvSpPr>
            <p:spPr bwMode="auto">
              <a:xfrm>
                <a:off x="192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2" name="Line 26"/>
              <p:cNvSpPr>
                <a:spLocks noChangeShapeType="1"/>
              </p:cNvSpPr>
              <p:nvPr/>
            </p:nvSpPr>
            <p:spPr bwMode="auto">
              <a:xfrm>
                <a:off x="236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3" name="Line 27"/>
              <p:cNvSpPr>
                <a:spLocks noChangeShapeType="1"/>
              </p:cNvSpPr>
              <p:nvPr/>
            </p:nvSpPr>
            <p:spPr bwMode="auto">
              <a:xfrm>
                <a:off x="279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4" name="Line 28"/>
              <p:cNvSpPr>
                <a:spLocks noChangeShapeType="1"/>
              </p:cNvSpPr>
              <p:nvPr/>
            </p:nvSpPr>
            <p:spPr bwMode="auto">
              <a:xfrm>
                <a:off x="3225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5" name="Line 29"/>
              <p:cNvSpPr>
                <a:spLocks noChangeShapeType="1"/>
              </p:cNvSpPr>
              <p:nvPr/>
            </p:nvSpPr>
            <p:spPr bwMode="auto">
              <a:xfrm>
                <a:off x="3657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6" name="Line 30"/>
              <p:cNvSpPr>
                <a:spLocks noChangeShapeType="1"/>
              </p:cNvSpPr>
              <p:nvPr/>
            </p:nvSpPr>
            <p:spPr bwMode="auto">
              <a:xfrm>
                <a:off x="408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7" name="Line 31"/>
              <p:cNvSpPr>
                <a:spLocks noChangeShapeType="1"/>
              </p:cNvSpPr>
              <p:nvPr/>
            </p:nvSpPr>
            <p:spPr bwMode="auto">
              <a:xfrm>
                <a:off x="452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28" name="Line 32"/>
              <p:cNvSpPr>
                <a:spLocks noChangeShapeType="1"/>
              </p:cNvSpPr>
              <p:nvPr/>
            </p:nvSpPr>
            <p:spPr bwMode="auto">
              <a:xfrm>
                <a:off x="495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33"/>
            <p:cNvGrpSpPr>
              <a:grpSpLocks/>
            </p:cNvGrpSpPr>
            <p:nvPr/>
          </p:nvGrpSpPr>
          <p:grpSpPr bwMode="auto">
            <a:xfrm>
              <a:off x="2457" y="2189"/>
              <a:ext cx="226" cy="423"/>
              <a:chOff x="2256" y="1152"/>
              <a:chExt cx="226" cy="481"/>
            </a:xfrm>
          </p:grpSpPr>
          <p:sp>
            <p:nvSpPr>
              <p:cNvPr id="55330" name="Freeform 34"/>
              <p:cNvSpPr>
                <a:spLocks/>
              </p:cNvSpPr>
              <p:nvPr/>
            </p:nvSpPr>
            <p:spPr bwMode="auto">
              <a:xfrm>
                <a:off x="2269" y="1152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31" name="Rectangle 35"/>
              <p:cNvSpPr>
                <a:spLocks noChangeArrowheads="1"/>
              </p:cNvSpPr>
              <p:nvPr/>
            </p:nvSpPr>
            <p:spPr bwMode="auto">
              <a:xfrm rot="5400000">
                <a:off x="2147" y="1296"/>
                <a:ext cx="42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ALU</a:t>
                </a:r>
              </a:p>
            </p:txBody>
          </p:sp>
        </p:grpSp>
        <p:grpSp>
          <p:nvGrpSpPr>
            <p:cNvPr id="9" name="Group 36"/>
            <p:cNvGrpSpPr>
              <a:grpSpLocks/>
            </p:cNvGrpSpPr>
            <p:nvPr/>
          </p:nvGrpSpPr>
          <p:grpSpPr bwMode="auto">
            <a:xfrm>
              <a:off x="1525" y="2273"/>
              <a:ext cx="406" cy="255"/>
              <a:chOff x="1324" y="1248"/>
              <a:chExt cx="406" cy="289"/>
            </a:xfrm>
          </p:grpSpPr>
          <p:sp>
            <p:nvSpPr>
              <p:cNvPr id="55333" name="Rectangle 37"/>
              <p:cNvSpPr>
                <a:spLocks noChangeArrowheads="1"/>
              </p:cNvSpPr>
              <p:nvPr/>
            </p:nvSpPr>
            <p:spPr bwMode="auto">
              <a:xfrm>
                <a:off x="1324" y="1250"/>
                <a:ext cx="40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Mem</a:t>
                </a:r>
              </a:p>
            </p:txBody>
          </p:sp>
          <p:grpSp>
            <p:nvGrpSpPr>
              <p:cNvPr id="10" name="Group 38"/>
              <p:cNvGrpSpPr>
                <a:grpSpLocks/>
              </p:cNvGrpSpPr>
              <p:nvPr/>
            </p:nvGrpSpPr>
            <p:grpSpPr bwMode="auto">
              <a:xfrm>
                <a:off x="1343" y="1248"/>
                <a:ext cx="340" cy="289"/>
                <a:chOff x="1343" y="1248"/>
                <a:chExt cx="340" cy="289"/>
              </a:xfrm>
            </p:grpSpPr>
            <p:sp>
              <p:nvSpPr>
                <p:cNvPr id="55335" name="Freeform 39"/>
                <p:cNvSpPr>
                  <a:spLocks/>
                </p:cNvSpPr>
                <p:nvPr/>
              </p:nvSpPr>
              <p:spPr bwMode="auto">
                <a:xfrm>
                  <a:off x="1343" y="1248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36" name="Freeform 40"/>
                <p:cNvSpPr>
                  <a:spLocks/>
                </p:cNvSpPr>
                <p:nvPr/>
              </p:nvSpPr>
              <p:spPr bwMode="auto">
                <a:xfrm>
                  <a:off x="1512" y="1248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5337" name="Rectangle 41"/>
            <p:cNvSpPr>
              <a:spLocks noChangeArrowheads="1"/>
            </p:cNvSpPr>
            <p:nvPr/>
          </p:nvSpPr>
          <p:spPr bwMode="auto">
            <a:xfrm>
              <a:off x="1985" y="2280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Reg</a:t>
              </a:r>
            </a:p>
          </p:txBody>
        </p:sp>
        <p:grpSp>
          <p:nvGrpSpPr>
            <p:cNvPr id="11" name="Group 42"/>
            <p:cNvGrpSpPr>
              <a:grpSpLocks/>
            </p:cNvGrpSpPr>
            <p:nvPr/>
          </p:nvGrpSpPr>
          <p:grpSpPr bwMode="auto">
            <a:xfrm>
              <a:off x="2004" y="2273"/>
              <a:ext cx="296" cy="255"/>
              <a:chOff x="1803" y="1248"/>
              <a:chExt cx="296" cy="289"/>
            </a:xfrm>
          </p:grpSpPr>
          <p:sp>
            <p:nvSpPr>
              <p:cNvPr id="55339" name="Freeform 43"/>
              <p:cNvSpPr>
                <a:spLocks/>
              </p:cNvSpPr>
              <p:nvPr/>
            </p:nvSpPr>
            <p:spPr bwMode="auto">
              <a:xfrm>
                <a:off x="1803" y="1248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0" name="Freeform 44"/>
              <p:cNvSpPr>
                <a:spLocks/>
              </p:cNvSpPr>
              <p:nvPr/>
            </p:nvSpPr>
            <p:spPr bwMode="auto">
              <a:xfrm>
                <a:off x="1951" y="1248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341" name="Line 45"/>
            <p:cNvSpPr>
              <a:spLocks noChangeShapeType="1"/>
            </p:cNvSpPr>
            <p:nvPr/>
          </p:nvSpPr>
          <p:spPr bwMode="auto">
            <a:xfrm>
              <a:off x="1889" y="240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2" name="Freeform 46"/>
            <p:cNvSpPr>
              <a:spLocks/>
            </p:cNvSpPr>
            <p:nvPr/>
          </p:nvSpPr>
          <p:spPr bwMode="auto">
            <a:xfrm>
              <a:off x="1951" y="2316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43" name="Line 47"/>
            <p:cNvSpPr>
              <a:spLocks noChangeShapeType="1"/>
            </p:cNvSpPr>
            <p:nvPr/>
          </p:nvSpPr>
          <p:spPr bwMode="auto">
            <a:xfrm>
              <a:off x="2305" y="2316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44" name="Rectangle 48"/>
            <p:cNvSpPr>
              <a:spLocks noChangeArrowheads="1"/>
            </p:cNvSpPr>
            <p:nvPr/>
          </p:nvSpPr>
          <p:spPr bwMode="auto">
            <a:xfrm>
              <a:off x="2802" y="2275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Mem</a:t>
              </a:r>
            </a:p>
          </p:txBody>
        </p:sp>
        <p:sp>
          <p:nvSpPr>
            <p:cNvPr id="55345" name="Rectangle 49"/>
            <p:cNvSpPr>
              <a:spLocks noChangeArrowheads="1"/>
            </p:cNvSpPr>
            <p:nvPr/>
          </p:nvSpPr>
          <p:spPr bwMode="auto">
            <a:xfrm>
              <a:off x="3294" y="2275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Reg</a:t>
              </a:r>
            </a:p>
          </p:txBody>
        </p:sp>
        <p:grpSp>
          <p:nvGrpSpPr>
            <p:cNvPr id="12" name="Group 50"/>
            <p:cNvGrpSpPr>
              <a:grpSpLocks/>
            </p:cNvGrpSpPr>
            <p:nvPr/>
          </p:nvGrpSpPr>
          <p:grpSpPr bwMode="auto">
            <a:xfrm>
              <a:off x="3321" y="2273"/>
              <a:ext cx="284" cy="255"/>
              <a:chOff x="3120" y="1248"/>
              <a:chExt cx="284" cy="289"/>
            </a:xfrm>
          </p:grpSpPr>
          <p:sp>
            <p:nvSpPr>
              <p:cNvPr id="55347" name="Freeform 51"/>
              <p:cNvSpPr>
                <a:spLocks/>
              </p:cNvSpPr>
              <p:nvPr/>
            </p:nvSpPr>
            <p:spPr bwMode="auto">
              <a:xfrm>
                <a:off x="3120" y="1248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48" name="Freeform 52"/>
              <p:cNvSpPr>
                <a:spLocks/>
              </p:cNvSpPr>
              <p:nvPr/>
            </p:nvSpPr>
            <p:spPr bwMode="auto">
              <a:xfrm>
                <a:off x="3261" y="1248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349" name="Line 53"/>
            <p:cNvSpPr>
              <a:spLocks noChangeShapeType="1"/>
            </p:cNvSpPr>
            <p:nvPr/>
          </p:nvSpPr>
          <p:spPr bwMode="auto">
            <a:xfrm>
              <a:off x="3174" y="2400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50" name="Line 54"/>
            <p:cNvSpPr>
              <a:spLocks noChangeShapeType="1"/>
            </p:cNvSpPr>
            <p:nvPr/>
          </p:nvSpPr>
          <p:spPr bwMode="auto">
            <a:xfrm>
              <a:off x="2690" y="2400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51" name="Freeform 55"/>
            <p:cNvSpPr>
              <a:spLocks/>
            </p:cNvSpPr>
            <p:nvPr/>
          </p:nvSpPr>
          <p:spPr bwMode="auto">
            <a:xfrm>
              <a:off x="2811" y="2400"/>
              <a:ext cx="431" cy="170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52" name="Line 56"/>
            <p:cNvSpPr>
              <a:spLocks noChangeShapeType="1"/>
            </p:cNvSpPr>
            <p:nvPr/>
          </p:nvSpPr>
          <p:spPr bwMode="auto">
            <a:xfrm>
              <a:off x="2305" y="2485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353" name="Freeform 57"/>
            <p:cNvSpPr>
              <a:spLocks/>
            </p:cNvSpPr>
            <p:nvPr/>
          </p:nvSpPr>
          <p:spPr bwMode="auto">
            <a:xfrm>
              <a:off x="2398" y="2396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58"/>
            <p:cNvGrpSpPr>
              <a:grpSpLocks/>
            </p:cNvGrpSpPr>
            <p:nvPr/>
          </p:nvGrpSpPr>
          <p:grpSpPr bwMode="auto">
            <a:xfrm>
              <a:off x="1952" y="2583"/>
              <a:ext cx="2124" cy="452"/>
              <a:chOff x="1751" y="1600"/>
              <a:chExt cx="2124" cy="513"/>
            </a:xfrm>
          </p:grpSpPr>
          <p:grpSp>
            <p:nvGrpSpPr>
              <p:cNvPr id="14" name="Group 59"/>
              <p:cNvGrpSpPr>
                <a:grpSpLocks/>
              </p:cNvGrpSpPr>
              <p:nvPr/>
            </p:nvGrpSpPr>
            <p:grpSpPr bwMode="auto">
              <a:xfrm>
                <a:off x="2685" y="1600"/>
                <a:ext cx="224" cy="481"/>
                <a:chOff x="2685" y="1600"/>
                <a:chExt cx="224" cy="481"/>
              </a:xfrm>
            </p:grpSpPr>
            <p:sp>
              <p:nvSpPr>
                <p:cNvPr id="55356" name="Freeform 60"/>
                <p:cNvSpPr>
                  <a:spLocks/>
                </p:cNvSpPr>
                <p:nvPr/>
              </p:nvSpPr>
              <p:spPr bwMode="auto">
                <a:xfrm>
                  <a:off x="2696" y="1600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57" name="Rectangle 61"/>
                <p:cNvSpPr>
                  <a:spLocks noChangeArrowheads="1"/>
                </p:cNvSpPr>
                <p:nvPr/>
              </p:nvSpPr>
              <p:spPr bwMode="auto">
                <a:xfrm rot="5400000">
                  <a:off x="2576" y="1745"/>
                  <a:ext cx="4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>
                      <a:latin typeface="Arial" charset="0"/>
                    </a:rPr>
                    <a:t>ALU</a:t>
                  </a:r>
                </a:p>
              </p:txBody>
            </p:sp>
          </p:grpSp>
          <p:grpSp>
            <p:nvGrpSpPr>
              <p:cNvPr id="15" name="Group 62"/>
              <p:cNvGrpSpPr>
                <a:grpSpLocks/>
              </p:cNvGrpSpPr>
              <p:nvPr/>
            </p:nvGrpSpPr>
            <p:grpSpPr bwMode="auto">
              <a:xfrm>
                <a:off x="1751" y="1696"/>
                <a:ext cx="406" cy="289"/>
                <a:chOff x="1751" y="1696"/>
                <a:chExt cx="406" cy="289"/>
              </a:xfrm>
            </p:grpSpPr>
            <p:sp>
              <p:nvSpPr>
                <p:cNvPr id="55359" name="Rectangle 63"/>
                <p:cNvSpPr>
                  <a:spLocks noChangeArrowheads="1"/>
                </p:cNvSpPr>
                <p:nvPr/>
              </p:nvSpPr>
              <p:spPr bwMode="auto">
                <a:xfrm>
                  <a:off x="1751" y="1698"/>
                  <a:ext cx="406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>
                      <a:latin typeface="Arial" charset="0"/>
                    </a:rPr>
                    <a:t>Mem</a:t>
                  </a:r>
                </a:p>
              </p:txBody>
            </p:sp>
            <p:grpSp>
              <p:nvGrpSpPr>
                <p:cNvPr id="16" name="Group 64"/>
                <p:cNvGrpSpPr>
                  <a:grpSpLocks/>
                </p:cNvGrpSpPr>
                <p:nvPr/>
              </p:nvGrpSpPr>
              <p:grpSpPr bwMode="auto">
                <a:xfrm>
                  <a:off x="1770" y="1696"/>
                  <a:ext cx="340" cy="289"/>
                  <a:chOff x="1770" y="1696"/>
                  <a:chExt cx="340" cy="289"/>
                </a:xfrm>
              </p:grpSpPr>
              <p:sp>
                <p:nvSpPr>
                  <p:cNvPr id="55361" name="Freeform 65"/>
                  <p:cNvSpPr>
                    <a:spLocks/>
                  </p:cNvSpPr>
                  <p:nvPr/>
                </p:nvSpPr>
                <p:spPr bwMode="auto">
                  <a:xfrm>
                    <a:off x="1770" y="1696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362" name="Freeform 66"/>
                  <p:cNvSpPr>
                    <a:spLocks/>
                  </p:cNvSpPr>
                  <p:nvPr/>
                </p:nvSpPr>
                <p:spPr bwMode="auto">
                  <a:xfrm>
                    <a:off x="1939" y="1696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5363" name="Rectangle 67"/>
              <p:cNvSpPr>
                <a:spLocks noChangeArrowheads="1"/>
              </p:cNvSpPr>
              <p:nvPr/>
            </p:nvSpPr>
            <p:spPr bwMode="auto">
              <a:xfrm>
                <a:off x="2211" y="1703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17" name="Group 68"/>
              <p:cNvGrpSpPr>
                <a:grpSpLocks/>
              </p:cNvGrpSpPr>
              <p:nvPr/>
            </p:nvGrpSpPr>
            <p:grpSpPr bwMode="auto">
              <a:xfrm>
                <a:off x="2230" y="1696"/>
                <a:ext cx="296" cy="289"/>
                <a:chOff x="2230" y="1696"/>
                <a:chExt cx="296" cy="289"/>
              </a:xfrm>
            </p:grpSpPr>
            <p:sp>
              <p:nvSpPr>
                <p:cNvPr id="55365" name="Freeform 69"/>
                <p:cNvSpPr>
                  <a:spLocks/>
                </p:cNvSpPr>
                <p:nvPr/>
              </p:nvSpPr>
              <p:spPr bwMode="auto">
                <a:xfrm>
                  <a:off x="2230" y="1696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66" name="Freeform 70"/>
                <p:cNvSpPr>
                  <a:spLocks/>
                </p:cNvSpPr>
                <p:nvPr/>
              </p:nvSpPr>
              <p:spPr bwMode="auto">
                <a:xfrm>
                  <a:off x="2378" y="1696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67" name="Line 71"/>
              <p:cNvSpPr>
                <a:spLocks noChangeShapeType="1"/>
              </p:cNvSpPr>
              <p:nvPr/>
            </p:nvSpPr>
            <p:spPr bwMode="auto">
              <a:xfrm>
                <a:off x="2115" y="1840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68" name="Freeform 72"/>
              <p:cNvSpPr>
                <a:spLocks/>
              </p:cNvSpPr>
              <p:nvPr/>
            </p:nvSpPr>
            <p:spPr bwMode="auto">
              <a:xfrm>
                <a:off x="2177" y="1744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69" name="Line 73"/>
              <p:cNvSpPr>
                <a:spLocks noChangeShapeType="1"/>
              </p:cNvSpPr>
              <p:nvPr/>
            </p:nvSpPr>
            <p:spPr bwMode="auto">
              <a:xfrm>
                <a:off x="2531" y="174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70" name="Rectangle 74"/>
              <p:cNvSpPr>
                <a:spLocks noChangeArrowheads="1"/>
              </p:cNvSpPr>
              <p:nvPr/>
            </p:nvSpPr>
            <p:spPr bwMode="auto">
              <a:xfrm>
                <a:off x="3028" y="1696"/>
                <a:ext cx="406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Mem</a:t>
                </a:r>
              </a:p>
            </p:txBody>
          </p:sp>
          <p:grpSp>
            <p:nvGrpSpPr>
              <p:cNvPr id="18" name="Group 75"/>
              <p:cNvGrpSpPr>
                <a:grpSpLocks/>
              </p:cNvGrpSpPr>
              <p:nvPr/>
            </p:nvGrpSpPr>
            <p:grpSpPr bwMode="auto">
              <a:xfrm>
                <a:off x="3079" y="1696"/>
                <a:ext cx="325" cy="289"/>
                <a:chOff x="3079" y="1696"/>
                <a:chExt cx="325" cy="289"/>
              </a:xfrm>
            </p:grpSpPr>
            <p:sp>
              <p:nvSpPr>
                <p:cNvPr id="55372" name="Freeform 76"/>
                <p:cNvSpPr>
                  <a:spLocks/>
                </p:cNvSpPr>
                <p:nvPr/>
              </p:nvSpPr>
              <p:spPr bwMode="auto">
                <a:xfrm>
                  <a:off x="3079" y="1696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73" name="Freeform 77"/>
                <p:cNvSpPr>
                  <a:spLocks/>
                </p:cNvSpPr>
                <p:nvPr/>
              </p:nvSpPr>
              <p:spPr bwMode="auto">
                <a:xfrm>
                  <a:off x="3240" y="1696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74" name="Rectangle 78"/>
              <p:cNvSpPr>
                <a:spLocks noChangeArrowheads="1"/>
              </p:cNvSpPr>
              <p:nvPr/>
            </p:nvSpPr>
            <p:spPr bwMode="auto">
              <a:xfrm>
                <a:off x="3520" y="1696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19" name="Group 79"/>
              <p:cNvGrpSpPr>
                <a:grpSpLocks/>
              </p:cNvGrpSpPr>
              <p:nvPr/>
            </p:nvGrpSpPr>
            <p:grpSpPr bwMode="auto">
              <a:xfrm>
                <a:off x="3547" y="1696"/>
                <a:ext cx="284" cy="289"/>
                <a:chOff x="3547" y="1696"/>
                <a:chExt cx="284" cy="289"/>
              </a:xfrm>
            </p:grpSpPr>
            <p:sp>
              <p:nvSpPr>
                <p:cNvPr id="55376" name="Freeform 80"/>
                <p:cNvSpPr>
                  <a:spLocks/>
                </p:cNvSpPr>
                <p:nvPr/>
              </p:nvSpPr>
              <p:spPr bwMode="auto">
                <a:xfrm>
                  <a:off x="3547" y="1696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77" name="Freeform 81"/>
                <p:cNvSpPr>
                  <a:spLocks/>
                </p:cNvSpPr>
                <p:nvPr/>
              </p:nvSpPr>
              <p:spPr bwMode="auto">
                <a:xfrm>
                  <a:off x="3688" y="1696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78" name="Line 82"/>
              <p:cNvSpPr>
                <a:spLocks noChangeShapeType="1"/>
              </p:cNvSpPr>
              <p:nvPr/>
            </p:nvSpPr>
            <p:spPr bwMode="auto">
              <a:xfrm>
                <a:off x="3400" y="1840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79" name="Line 83"/>
              <p:cNvSpPr>
                <a:spLocks noChangeShapeType="1"/>
              </p:cNvSpPr>
              <p:nvPr/>
            </p:nvSpPr>
            <p:spPr bwMode="auto">
              <a:xfrm>
                <a:off x="2916" y="1840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80" name="Freeform 84"/>
              <p:cNvSpPr>
                <a:spLocks/>
              </p:cNvSpPr>
              <p:nvPr/>
            </p:nvSpPr>
            <p:spPr bwMode="auto">
              <a:xfrm>
                <a:off x="3037" y="1840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81" name="Line 85"/>
              <p:cNvSpPr>
                <a:spLocks noChangeShapeType="1"/>
              </p:cNvSpPr>
              <p:nvPr/>
            </p:nvSpPr>
            <p:spPr bwMode="auto">
              <a:xfrm>
                <a:off x="2531" y="1936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82" name="Freeform 86"/>
              <p:cNvSpPr>
                <a:spLocks/>
              </p:cNvSpPr>
              <p:nvPr/>
            </p:nvSpPr>
            <p:spPr bwMode="auto">
              <a:xfrm>
                <a:off x="2624" y="1835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87"/>
            <p:cNvGrpSpPr>
              <a:grpSpLocks/>
            </p:cNvGrpSpPr>
            <p:nvPr/>
          </p:nvGrpSpPr>
          <p:grpSpPr bwMode="auto">
            <a:xfrm>
              <a:off x="2379" y="2978"/>
              <a:ext cx="2124" cy="451"/>
              <a:chOff x="2178" y="2048"/>
              <a:chExt cx="2124" cy="513"/>
            </a:xfrm>
          </p:grpSpPr>
          <p:grpSp>
            <p:nvGrpSpPr>
              <p:cNvPr id="21" name="Group 88"/>
              <p:cNvGrpSpPr>
                <a:grpSpLocks/>
              </p:cNvGrpSpPr>
              <p:nvPr/>
            </p:nvGrpSpPr>
            <p:grpSpPr bwMode="auto">
              <a:xfrm>
                <a:off x="3110" y="2048"/>
                <a:ext cx="226" cy="481"/>
                <a:chOff x="3110" y="2048"/>
                <a:chExt cx="226" cy="481"/>
              </a:xfrm>
            </p:grpSpPr>
            <p:sp>
              <p:nvSpPr>
                <p:cNvPr id="55385" name="Freeform 89"/>
                <p:cNvSpPr>
                  <a:spLocks/>
                </p:cNvSpPr>
                <p:nvPr/>
              </p:nvSpPr>
              <p:spPr bwMode="auto">
                <a:xfrm>
                  <a:off x="3123" y="2048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86" name="Rectangle 90"/>
                <p:cNvSpPr>
                  <a:spLocks noChangeArrowheads="1"/>
                </p:cNvSpPr>
                <p:nvPr/>
              </p:nvSpPr>
              <p:spPr bwMode="auto">
                <a:xfrm rot="5400000">
                  <a:off x="3001" y="2192"/>
                  <a:ext cx="428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>
                      <a:latin typeface="Arial" charset="0"/>
                    </a:rPr>
                    <a:t>ALU</a:t>
                  </a:r>
                </a:p>
              </p:txBody>
            </p:sp>
          </p:grpSp>
          <p:grpSp>
            <p:nvGrpSpPr>
              <p:cNvPr id="22" name="Group 91"/>
              <p:cNvGrpSpPr>
                <a:grpSpLocks/>
              </p:cNvGrpSpPr>
              <p:nvPr/>
            </p:nvGrpSpPr>
            <p:grpSpPr bwMode="auto">
              <a:xfrm>
                <a:off x="2178" y="2144"/>
                <a:ext cx="406" cy="289"/>
                <a:chOff x="2178" y="2144"/>
                <a:chExt cx="406" cy="289"/>
              </a:xfrm>
            </p:grpSpPr>
            <p:sp>
              <p:nvSpPr>
                <p:cNvPr id="55388" name="Rectangle 92"/>
                <p:cNvSpPr>
                  <a:spLocks noChangeArrowheads="1"/>
                </p:cNvSpPr>
                <p:nvPr/>
              </p:nvSpPr>
              <p:spPr bwMode="auto">
                <a:xfrm>
                  <a:off x="2178" y="2146"/>
                  <a:ext cx="406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>
                      <a:latin typeface="Arial" charset="0"/>
                    </a:rPr>
                    <a:t>Mem</a:t>
                  </a:r>
                </a:p>
              </p:txBody>
            </p:sp>
            <p:grpSp>
              <p:nvGrpSpPr>
                <p:cNvPr id="23" name="Group 93"/>
                <p:cNvGrpSpPr>
                  <a:grpSpLocks/>
                </p:cNvGrpSpPr>
                <p:nvPr/>
              </p:nvGrpSpPr>
              <p:grpSpPr bwMode="auto">
                <a:xfrm>
                  <a:off x="2197" y="2144"/>
                  <a:ext cx="340" cy="289"/>
                  <a:chOff x="2197" y="2144"/>
                  <a:chExt cx="340" cy="289"/>
                </a:xfrm>
              </p:grpSpPr>
              <p:sp>
                <p:nvSpPr>
                  <p:cNvPr id="55390" name="Freeform 94"/>
                  <p:cNvSpPr>
                    <a:spLocks/>
                  </p:cNvSpPr>
                  <p:nvPr/>
                </p:nvSpPr>
                <p:spPr bwMode="auto">
                  <a:xfrm>
                    <a:off x="2197" y="2144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5391" name="Freeform 95"/>
                  <p:cNvSpPr>
                    <a:spLocks/>
                  </p:cNvSpPr>
                  <p:nvPr/>
                </p:nvSpPr>
                <p:spPr bwMode="auto">
                  <a:xfrm>
                    <a:off x="2366" y="2144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5392" name="Rectangle 96"/>
              <p:cNvSpPr>
                <a:spLocks noChangeArrowheads="1"/>
              </p:cNvSpPr>
              <p:nvPr/>
            </p:nvSpPr>
            <p:spPr bwMode="auto">
              <a:xfrm>
                <a:off x="2638" y="2152"/>
                <a:ext cx="355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24" name="Group 97"/>
              <p:cNvGrpSpPr>
                <a:grpSpLocks/>
              </p:cNvGrpSpPr>
              <p:nvPr/>
            </p:nvGrpSpPr>
            <p:grpSpPr bwMode="auto">
              <a:xfrm>
                <a:off x="2657" y="2144"/>
                <a:ext cx="296" cy="289"/>
                <a:chOff x="2657" y="2144"/>
                <a:chExt cx="296" cy="289"/>
              </a:xfrm>
            </p:grpSpPr>
            <p:sp>
              <p:nvSpPr>
                <p:cNvPr id="55394" name="Freeform 98"/>
                <p:cNvSpPr>
                  <a:spLocks/>
                </p:cNvSpPr>
                <p:nvPr/>
              </p:nvSpPr>
              <p:spPr bwMode="auto">
                <a:xfrm>
                  <a:off x="2657" y="2144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395" name="Freeform 99"/>
                <p:cNvSpPr>
                  <a:spLocks/>
                </p:cNvSpPr>
                <p:nvPr/>
              </p:nvSpPr>
              <p:spPr bwMode="auto">
                <a:xfrm>
                  <a:off x="2805" y="2144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396" name="Line 100"/>
              <p:cNvSpPr>
                <a:spLocks noChangeShapeType="1"/>
              </p:cNvSpPr>
              <p:nvPr/>
            </p:nvSpPr>
            <p:spPr bwMode="auto">
              <a:xfrm>
                <a:off x="2542" y="2288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97" name="Freeform 101"/>
              <p:cNvSpPr>
                <a:spLocks/>
              </p:cNvSpPr>
              <p:nvPr/>
            </p:nvSpPr>
            <p:spPr bwMode="auto">
              <a:xfrm>
                <a:off x="2604" y="2192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398" name="Line 102"/>
              <p:cNvSpPr>
                <a:spLocks noChangeShapeType="1"/>
              </p:cNvSpPr>
              <p:nvPr/>
            </p:nvSpPr>
            <p:spPr bwMode="auto">
              <a:xfrm>
                <a:off x="2958" y="2192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399" name="Rectangle 103"/>
              <p:cNvSpPr>
                <a:spLocks noChangeArrowheads="1"/>
              </p:cNvSpPr>
              <p:nvPr/>
            </p:nvSpPr>
            <p:spPr bwMode="auto">
              <a:xfrm>
                <a:off x="3455" y="2146"/>
                <a:ext cx="406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Mem</a:t>
                </a:r>
              </a:p>
            </p:txBody>
          </p:sp>
          <p:grpSp>
            <p:nvGrpSpPr>
              <p:cNvPr id="25" name="Group 104"/>
              <p:cNvGrpSpPr>
                <a:grpSpLocks/>
              </p:cNvGrpSpPr>
              <p:nvPr/>
            </p:nvGrpSpPr>
            <p:grpSpPr bwMode="auto">
              <a:xfrm>
                <a:off x="3506" y="2144"/>
                <a:ext cx="325" cy="289"/>
                <a:chOff x="3506" y="2144"/>
                <a:chExt cx="325" cy="289"/>
              </a:xfrm>
            </p:grpSpPr>
            <p:sp>
              <p:nvSpPr>
                <p:cNvPr id="55401" name="Freeform 105"/>
                <p:cNvSpPr>
                  <a:spLocks/>
                </p:cNvSpPr>
                <p:nvPr/>
              </p:nvSpPr>
              <p:spPr bwMode="auto">
                <a:xfrm>
                  <a:off x="3506" y="2144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402" name="Freeform 106"/>
                <p:cNvSpPr>
                  <a:spLocks/>
                </p:cNvSpPr>
                <p:nvPr/>
              </p:nvSpPr>
              <p:spPr bwMode="auto">
                <a:xfrm>
                  <a:off x="3667" y="2144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403" name="Rectangle 107"/>
              <p:cNvSpPr>
                <a:spLocks noChangeArrowheads="1"/>
              </p:cNvSpPr>
              <p:nvPr/>
            </p:nvSpPr>
            <p:spPr bwMode="auto">
              <a:xfrm>
                <a:off x="3947" y="2146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26" name="Group 108"/>
              <p:cNvGrpSpPr>
                <a:grpSpLocks/>
              </p:cNvGrpSpPr>
              <p:nvPr/>
            </p:nvGrpSpPr>
            <p:grpSpPr bwMode="auto">
              <a:xfrm>
                <a:off x="3974" y="2144"/>
                <a:ext cx="284" cy="289"/>
                <a:chOff x="3974" y="2144"/>
                <a:chExt cx="284" cy="289"/>
              </a:xfrm>
            </p:grpSpPr>
            <p:sp>
              <p:nvSpPr>
                <p:cNvPr id="55405" name="Freeform 109"/>
                <p:cNvSpPr>
                  <a:spLocks/>
                </p:cNvSpPr>
                <p:nvPr/>
              </p:nvSpPr>
              <p:spPr bwMode="auto">
                <a:xfrm>
                  <a:off x="3974" y="2144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406" name="Freeform 110"/>
                <p:cNvSpPr>
                  <a:spLocks/>
                </p:cNvSpPr>
                <p:nvPr/>
              </p:nvSpPr>
              <p:spPr bwMode="auto">
                <a:xfrm>
                  <a:off x="4115" y="2144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5407" name="Line 111"/>
              <p:cNvSpPr>
                <a:spLocks noChangeShapeType="1"/>
              </p:cNvSpPr>
              <p:nvPr/>
            </p:nvSpPr>
            <p:spPr bwMode="auto">
              <a:xfrm>
                <a:off x="3827" y="2288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408" name="Line 112"/>
              <p:cNvSpPr>
                <a:spLocks noChangeShapeType="1"/>
              </p:cNvSpPr>
              <p:nvPr/>
            </p:nvSpPr>
            <p:spPr bwMode="auto">
              <a:xfrm>
                <a:off x="3343" y="2288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409" name="Freeform 113"/>
              <p:cNvSpPr>
                <a:spLocks/>
              </p:cNvSpPr>
              <p:nvPr/>
            </p:nvSpPr>
            <p:spPr bwMode="auto">
              <a:xfrm>
                <a:off x="3464" y="2288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0" name="Line 114"/>
              <p:cNvSpPr>
                <a:spLocks noChangeShapeType="1"/>
              </p:cNvSpPr>
              <p:nvPr/>
            </p:nvSpPr>
            <p:spPr bwMode="auto">
              <a:xfrm>
                <a:off x="2958" y="238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411" name="Freeform 115"/>
              <p:cNvSpPr>
                <a:spLocks/>
              </p:cNvSpPr>
              <p:nvPr/>
            </p:nvSpPr>
            <p:spPr bwMode="auto">
              <a:xfrm>
                <a:off x="3051" y="2283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116"/>
            <p:cNvGrpSpPr>
              <a:grpSpLocks/>
            </p:cNvGrpSpPr>
            <p:nvPr/>
          </p:nvGrpSpPr>
          <p:grpSpPr bwMode="auto">
            <a:xfrm>
              <a:off x="3740" y="3372"/>
              <a:ext cx="224" cy="424"/>
              <a:chOff x="3539" y="2496"/>
              <a:chExt cx="224" cy="481"/>
            </a:xfrm>
          </p:grpSpPr>
          <p:sp>
            <p:nvSpPr>
              <p:cNvPr id="55413" name="Freeform 117"/>
              <p:cNvSpPr>
                <a:spLocks/>
              </p:cNvSpPr>
              <p:nvPr/>
            </p:nvSpPr>
            <p:spPr bwMode="auto">
              <a:xfrm>
                <a:off x="3550" y="2496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4" name="Rectangle 118"/>
              <p:cNvSpPr>
                <a:spLocks noChangeArrowheads="1"/>
              </p:cNvSpPr>
              <p:nvPr/>
            </p:nvSpPr>
            <p:spPr bwMode="auto">
              <a:xfrm rot="5400000">
                <a:off x="3430" y="2641"/>
                <a:ext cx="42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ALU</a:t>
                </a:r>
              </a:p>
            </p:txBody>
          </p:sp>
        </p:grpSp>
        <p:sp>
          <p:nvSpPr>
            <p:cNvPr id="55415" name="Rectangle 119"/>
            <p:cNvSpPr>
              <a:spLocks noChangeArrowheads="1"/>
            </p:cNvSpPr>
            <p:nvPr/>
          </p:nvSpPr>
          <p:spPr bwMode="auto">
            <a:xfrm>
              <a:off x="3266" y="3463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Reg</a:t>
              </a:r>
            </a:p>
          </p:txBody>
        </p:sp>
        <p:grpSp>
          <p:nvGrpSpPr>
            <p:cNvPr id="28" name="Group 120"/>
            <p:cNvGrpSpPr>
              <a:grpSpLocks/>
            </p:cNvGrpSpPr>
            <p:nvPr/>
          </p:nvGrpSpPr>
          <p:grpSpPr bwMode="auto">
            <a:xfrm>
              <a:off x="3285" y="3457"/>
              <a:ext cx="296" cy="254"/>
              <a:chOff x="3084" y="2592"/>
              <a:chExt cx="296" cy="289"/>
            </a:xfrm>
          </p:grpSpPr>
          <p:sp>
            <p:nvSpPr>
              <p:cNvPr id="55417" name="Freeform 121"/>
              <p:cNvSpPr>
                <a:spLocks/>
              </p:cNvSpPr>
              <p:nvPr/>
            </p:nvSpPr>
            <p:spPr bwMode="auto">
              <a:xfrm>
                <a:off x="3084" y="2592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18" name="Freeform 122"/>
              <p:cNvSpPr>
                <a:spLocks/>
              </p:cNvSpPr>
              <p:nvPr/>
            </p:nvSpPr>
            <p:spPr bwMode="auto">
              <a:xfrm>
                <a:off x="3232" y="2592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419" name="Line 123"/>
            <p:cNvSpPr>
              <a:spLocks noChangeShapeType="1"/>
            </p:cNvSpPr>
            <p:nvPr/>
          </p:nvSpPr>
          <p:spPr bwMode="auto">
            <a:xfrm>
              <a:off x="3170" y="3584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20" name="Freeform 124"/>
            <p:cNvSpPr>
              <a:spLocks/>
            </p:cNvSpPr>
            <p:nvPr/>
          </p:nvSpPr>
          <p:spPr bwMode="auto">
            <a:xfrm>
              <a:off x="3232" y="3499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21" name="Line 125"/>
            <p:cNvSpPr>
              <a:spLocks noChangeShapeType="1"/>
            </p:cNvSpPr>
            <p:nvPr/>
          </p:nvSpPr>
          <p:spPr bwMode="auto">
            <a:xfrm>
              <a:off x="3586" y="3499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22" name="Rectangle 126"/>
            <p:cNvSpPr>
              <a:spLocks noChangeArrowheads="1"/>
            </p:cNvSpPr>
            <p:nvPr/>
          </p:nvSpPr>
          <p:spPr bwMode="auto">
            <a:xfrm>
              <a:off x="4083" y="3459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Mem</a:t>
              </a:r>
            </a:p>
          </p:txBody>
        </p:sp>
        <p:grpSp>
          <p:nvGrpSpPr>
            <p:cNvPr id="29" name="Group 127"/>
            <p:cNvGrpSpPr>
              <a:grpSpLocks/>
            </p:cNvGrpSpPr>
            <p:nvPr/>
          </p:nvGrpSpPr>
          <p:grpSpPr bwMode="auto">
            <a:xfrm>
              <a:off x="4134" y="3457"/>
              <a:ext cx="325" cy="254"/>
              <a:chOff x="3933" y="2592"/>
              <a:chExt cx="325" cy="289"/>
            </a:xfrm>
          </p:grpSpPr>
          <p:sp>
            <p:nvSpPr>
              <p:cNvPr id="55424" name="Freeform 128"/>
              <p:cNvSpPr>
                <a:spLocks/>
              </p:cNvSpPr>
              <p:nvPr/>
            </p:nvSpPr>
            <p:spPr bwMode="auto">
              <a:xfrm>
                <a:off x="3933" y="2592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5" name="Freeform 129"/>
              <p:cNvSpPr>
                <a:spLocks/>
              </p:cNvSpPr>
              <p:nvPr/>
            </p:nvSpPr>
            <p:spPr bwMode="auto">
              <a:xfrm>
                <a:off x="4094" y="2592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426" name="Rectangle 130"/>
            <p:cNvSpPr>
              <a:spLocks noChangeArrowheads="1"/>
            </p:cNvSpPr>
            <p:nvPr/>
          </p:nvSpPr>
          <p:spPr bwMode="auto">
            <a:xfrm>
              <a:off x="4575" y="3459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Reg</a:t>
              </a:r>
            </a:p>
          </p:txBody>
        </p:sp>
        <p:grpSp>
          <p:nvGrpSpPr>
            <p:cNvPr id="30" name="Group 131"/>
            <p:cNvGrpSpPr>
              <a:grpSpLocks/>
            </p:cNvGrpSpPr>
            <p:nvPr/>
          </p:nvGrpSpPr>
          <p:grpSpPr bwMode="auto">
            <a:xfrm>
              <a:off x="4602" y="3457"/>
              <a:ext cx="284" cy="254"/>
              <a:chOff x="4401" y="2592"/>
              <a:chExt cx="284" cy="289"/>
            </a:xfrm>
          </p:grpSpPr>
          <p:sp>
            <p:nvSpPr>
              <p:cNvPr id="55428" name="Freeform 132"/>
              <p:cNvSpPr>
                <a:spLocks/>
              </p:cNvSpPr>
              <p:nvPr/>
            </p:nvSpPr>
            <p:spPr bwMode="auto">
              <a:xfrm>
                <a:off x="4401" y="2592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429" name="Freeform 133"/>
              <p:cNvSpPr>
                <a:spLocks/>
              </p:cNvSpPr>
              <p:nvPr/>
            </p:nvSpPr>
            <p:spPr bwMode="auto">
              <a:xfrm>
                <a:off x="4542" y="2592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430" name="Line 134"/>
            <p:cNvSpPr>
              <a:spLocks noChangeShapeType="1"/>
            </p:cNvSpPr>
            <p:nvPr/>
          </p:nvSpPr>
          <p:spPr bwMode="auto">
            <a:xfrm>
              <a:off x="4455" y="3584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31" name="Line 135"/>
            <p:cNvSpPr>
              <a:spLocks noChangeShapeType="1"/>
            </p:cNvSpPr>
            <p:nvPr/>
          </p:nvSpPr>
          <p:spPr bwMode="auto">
            <a:xfrm>
              <a:off x="3971" y="3584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32" name="Freeform 136"/>
            <p:cNvSpPr>
              <a:spLocks/>
            </p:cNvSpPr>
            <p:nvPr/>
          </p:nvSpPr>
          <p:spPr bwMode="auto">
            <a:xfrm>
              <a:off x="4092" y="3584"/>
              <a:ext cx="431" cy="169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433" name="Line 137"/>
            <p:cNvSpPr>
              <a:spLocks noChangeShapeType="1"/>
            </p:cNvSpPr>
            <p:nvPr/>
          </p:nvSpPr>
          <p:spPr bwMode="auto">
            <a:xfrm>
              <a:off x="3586" y="3668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434" name="Freeform 138"/>
            <p:cNvSpPr>
              <a:spLocks/>
            </p:cNvSpPr>
            <p:nvPr/>
          </p:nvSpPr>
          <p:spPr bwMode="auto">
            <a:xfrm>
              <a:off x="3679" y="3579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3025D9-A424-423D-989B-85EEC18A5F75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dirty="0" smtClean="0"/>
              <a:t>分离的数据存储器和指令存储器</a:t>
            </a:r>
            <a:endParaRPr lang="en-US" altLang="zh-CN" sz="3200" b="1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534400" cy="541020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Comic Sans MS" pitchFamily="66" charset="0"/>
              </a:rPr>
              <a:t>使用分开的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指令</a:t>
            </a:r>
            <a:r>
              <a:rPr lang="en-US" altLang="zh-CN" sz="2800" b="1" dirty="0" smtClean="0">
                <a:solidFill>
                  <a:srgbClr val="FF0000"/>
                </a:solidFill>
                <a:latin typeface="Comic Sans MS" pitchFamily="66" charset="0"/>
              </a:rPr>
              <a:t>cache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和数据</a:t>
            </a:r>
            <a:r>
              <a:rPr lang="en-US" altLang="zh-CN" sz="2800" b="1" dirty="0" smtClean="0">
                <a:solidFill>
                  <a:srgbClr val="FF0000"/>
                </a:solidFill>
                <a:latin typeface="Comic Sans MS" pitchFamily="66" charset="0"/>
              </a:rPr>
              <a:t>cache</a:t>
            </a:r>
            <a:endParaRPr lang="en-US" altLang="zh-CN" sz="2800" b="1" dirty="0">
              <a:solidFill>
                <a:srgbClr val="FF0000"/>
              </a:solidFill>
              <a:latin typeface="Comic Sans MS" pitchFamily="66" charset="0"/>
            </a:endParaRPr>
          </a:p>
          <a:p>
            <a:endParaRPr lang="en-US" altLang="zh-CN" sz="2800" dirty="0">
              <a:latin typeface="Comic Sans MS" pitchFamily="66" charset="0"/>
            </a:endParaRPr>
          </a:p>
          <a:p>
            <a:endParaRPr lang="en-US" altLang="zh-CN" sz="2800" dirty="0">
              <a:latin typeface="Comic Sans MS" pitchFamily="66" charset="0"/>
            </a:endParaRPr>
          </a:p>
          <a:p>
            <a:endParaRPr lang="en-US" altLang="zh-CN" sz="2800" dirty="0">
              <a:latin typeface="Comic Sans MS" pitchFamily="66" charset="0"/>
            </a:endParaRPr>
          </a:p>
          <a:p>
            <a:endParaRPr lang="en-US" altLang="zh-CN" sz="2800" dirty="0">
              <a:latin typeface="Comic Sans MS" pitchFamily="66" charset="0"/>
            </a:endParaRPr>
          </a:p>
          <a:p>
            <a:endParaRPr lang="en-US" altLang="zh-CN" sz="2800" dirty="0">
              <a:latin typeface="Comic Sans MS" pitchFamily="66" charset="0"/>
            </a:endParaRPr>
          </a:p>
          <a:p>
            <a:endParaRPr lang="en-US" altLang="zh-CN" sz="2800" dirty="0" smtClean="0">
              <a:latin typeface="Comic Sans MS" pitchFamily="66" charset="0"/>
            </a:endParaRPr>
          </a:p>
          <a:p>
            <a:pPr>
              <a:spcBef>
                <a:spcPct val="80000"/>
              </a:spcBef>
            </a:pPr>
            <a:r>
              <a:rPr lang="zh-CN" altLang="en-US" sz="2800" b="1" dirty="0" smtClean="0">
                <a:latin typeface="Comic Sans MS" pitchFamily="66" charset="0"/>
              </a:rPr>
              <a:t>如果时钟周期不变，流水线存储系统的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带宽必须是非流水线的</a:t>
            </a:r>
            <a:r>
              <a:rPr lang="en-US" altLang="zh-CN" sz="2800" b="1" dirty="0" smtClean="0">
                <a:solidFill>
                  <a:srgbClr val="FF0000"/>
                </a:solidFill>
                <a:latin typeface="Comic Sans MS" pitchFamily="66" charset="0"/>
              </a:rPr>
              <a:t>5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倍。</a:t>
            </a:r>
            <a:endParaRPr lang="en-US" altLang="zh-CN" dirty="0">
              <a:solidFill>
                <a:srgbClr val="FF0000"/>
              </a:solidFill>
              <a:latin typeface="Comic Sans MS" pitchFamily="66" charset="0"/>
            </a:endParaRPr>
          </a:p>
        </p:txBody>
      </p:sp>
      <p:grpSp>
        <p:nvGrpSpPr>
          <p:cNvPr id="2" name="Group 139"/>
          <p:cNvGrpSpPr>
            <a:grpSpLocks/>
          </p:cNvGrpSpPr>
          <p:nvPr/>
        </p:nvGrpSpPr>
        <p:grpSpPr bwMode="auto">
          <a:xfrm>
            <a:off x="1143000" y="1981200"/>
            <a:ext cx="7454900" cy="3252788"/>
            <a:chOff x="720" y="1248"/>
            <a:chExt cx="4696" cy="2049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3094" y="1728"/>
              <a:ext cx="317" cy="259"/>
              <a:chOff x="2624" y="1200"/>
              <a:chExt cx="340" cy="294"/>
            </a:xfrm>
          </p:grpSpPr>
          <p:sp>
            <p:nvSpPr>
              <p:cNvPr id="57350" name="Freeform 6"/>
              <p:cNvSpPr>
                <a:spLocks/>
              </p:cNvSpPr>
              <p:nvPr/>
            </p:nvSpPr>
            <p:spPr bwMode="auto">
              <a:xfrm>
                <a:off x="2816" y="1205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2624" y="1200"/>
                <a:ext cx="340" cy="289"/>
                <a:chOff x="2624" y="1200"/>
                <a:chExt cx="340" cy="289"/>
              </a:xfrm>
            </p:grpSpPr>
            <p:sp>
              <p:nvSpPr>
                <p:cNvPr id="57352" name="Freeform 8"/>
                <p:cNvSpPr>
                  <a:spLocks/>
                </p:cNvSpPr>
                <p:nvPr/>
              </p:nvSpPr>
              <p:spPr bwMode="auto">
                <a:xfrm>
                  <a:off x="2624" y="1200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53" name="Freeform 9"/>
                <p:cNvSpPr>
                  <a:spLocks/>
                </p:cNvSpPr>
                <p:nvPr/>
              </p:nvSpPr>
              <p:spPr bwMode="auto">
                <a:xfrm>
                  <a:off x="2793" y="1200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3072" y="2928"/>
              <a:ext cx="340" cy="259"/>
              <a:chOff x="2624" y="2592"/>
              <a:chExt cx="340" cy="294"/>
            </a:xfrm>
          </p:grpSpPr>
          <p:sp>
            <p:nvSpPr>
              <p:cNvPr id="57355" name="Freeform 11"/>
              <p:cNvSpPr>
                <a:spLocks/>
              </p:cNvSpPr>
              <p:nvPr/>
            </p:nvSpPr>
            <p:spPr bwMode="auto">
              <a:xfrm>
                <a:off x="2816" y="2597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rgbClr val="FF0000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2624" y="2592"/>
                <a:ext cx="340" cy="289"/>
                <a:chOff x="2624" y="2592"/>
                <a:chExt cx="340" cy="289"/>
              </a:xfrm>
            </p:grpSpPr>
            <p:sp>
              <p:nvSpPr>
                <p:cNvPr id="57357" name="Freeform 13"/>
                <p:cNvSpPr>
                  <a:spLocks/>
                </p:cNvSpPr>
                <p:nvPr/>
              </p:nvSpPr>
              <p:spPr bwMode="auto">
                <a:xfrm>
                  <a:off x="2624" y="2592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solidFill>
                  <a:srgbClr val="FF0000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58" name="Freeform 14"/>
                <p:cNvSpPr>
                  <a:spLocks/>
                </p:cNvSpPr>
                <p:nvPr/>
              </p:nvSpPr>
              <p:spPr bwMode="auto">
                <a:xfrm>
                  <a:off x="2793" y="2592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solidFill>
                  <a:srgbClr val="FF0000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7359" name="Rectangle 15"/>
            <p:cNvSpPr>
              <a:spLocks noChangeArrowheads="1"/>
            </p:cNvSpPr>
            <p:nvPr/>
          </p:nvSpPr>
          <p:spPr bwMode="auto">
            <a:xfrm>
              <a:off x="3046" y="2931"/>
              <a:ext cx="25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IM</a:t>
              </a:r>
            </a:p>
          </p:txBody>
        </p:sp>
        <p:sp>
          <p:nvSpPr>
            <p:cNvPr id="57360" name="Rectangle 16"/>
            <p:cNvSpPr>
              <a:spLocks noChangeArrowheads="1"/>
            </p:cNvSpPr>
            <p:nvPr/>
          </p:nvSpPr>
          <p:spPr bwMode="auto">
            <a:xfrm>
              <a:off x="720" y="1723"/>
              <a:ext cx="226" cy="1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I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n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s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t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r.</a:t>
              </a:r>
            </a:p>
            <a:p>
              <a:pPr algn="ctr">
                <a:lnSpc>
                  <a:spcPct val="80000"/>
                </a:lnSpc>
              </a:pPr>
              <a:endParaRPr lang="en-US" altLang="zh-CN" sz="1800" b="0" i="1">
                <a:latin typeface="Arial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O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r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d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e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b="0" i="1">
                  <a:latin typeface="Arial" charset="0"/>
                </a:rPr>
                <a:t>r</a:t>
              </a:r>
            </a:p>
          </p:txBody>
        </p:sp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 flipH="1">
              <a:off x="1008" y="1728"/>
              <a:ext cx="0" cy="1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2" name="Line 18"/>
            <p:cNvSpPr>
              <a:spLocks noChangeShapeType="1"/>
            </p:cNvSpPr>
            <p:nvPr/>
          </p:nvSpPr>
          <p:spPr bwMode="auto">
            <a:xfrm>
              <a:off x="1440" y="1488"/>
              <a:ext cx="3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63" name="Rectangle 19"/>
            <p:cNvSpPr>
              <a:spLocks noChangeArrowheads="1"/>
            </p:cNvSpPr>
            <p:nvPr/>
          </p:nvSpPr>
          <p:spPr bwMode="auto">
            <a:xfrm>
              <a:off x="2640" y="1248"/>
              <a:ext cx="1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800" b="0" i="1">
                  <a:latin typeface="Arial" charset="0"/>
                </a:rPr>
                <a:t>Time (clock cycles)</a:t>
              </a:r>
            </a:p>
          </p:txBody>
        </p:sp>
        <p:sp>
          <p:nvSpPr>
            <p:cNvPr id="57364" name="Rectangle 20"/>
            <p:cNvSpPr>
              <a:spLocks noChangeArrowheads="1"/>
            </p:cNvSpPr>
            <p:nvPr/>
          </p:nvSpPr>
          <p:spPr bwMode="auto">
            <a:xfrm>
              <a:off x="1020" y="1793"/>
              <a:ext cx="65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0">
                  <a:latin typeface="Comic Sans MS" pitchFamily="66" charset="0"/>
                </a:rPr>
                <a:t>Ld/St</a:t>
              </a:r>
              <a:endParaRPr lang="en-US" altLang="zh-CN" sz="2800">
                <a:latin typeface="Arial" charset="0"/>
              </a:endParaRPr>
            </a:p>
          </p:txBody>
        </p:sp>
        <p:sp>
          <p:nvSpPr>
            <p:cNvPr id="57365" name="Rectangle 21"/>
            <p:cNvSpPr>
              <a:spLocks noChangeArrowheads="1"/>
            </p:cNvSpPr>
            <p:nvPr/>
          </p:nvSpPr>
          <p:spPr bwMode="auto">
            <a:xfrm>
              <a:off x="1004" y="2159"/>
              <a:ext cx="73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0">
                  <a:latin typeface="Comic Sans MS" pitchFamily="66" charset="0"/>
                </a:rPr>
                <a:t>Instr 1</a:t>
              </a:r>
              <a:endParaRPr lang="en-US" altLang="zh-CN" sz="2800">
                <a:latin typeface="Arial" charset="0"/>
              </a:endParaRPr>
            </a:p>
          </p:txBody>
        </p:sp>
        <p:sp>
          <p:nvSpPr>
            <p:cNvPr id="57366" name="Rectangle 22"/>
            <p:cNvSpPr>
              <a:spLocks noChangeArrowheads="1"/>
            </p:cNvSpPr>
            <p:nvPr/>
          </p:nvSpPr>
          <p:spPr bwMode="auto">
            <a:xfrm>
              <a:off x="996" y="2568"/>
              <a:ext cx="76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0">
                  <a:latin typeface="Comic Sans MS" pitchFamily="66" charset="0"/>
                </a:rPr>
                <a:t>Instr 2</a:t>
              </a:r>
              <a:endParaRPr lang="en-US" altLang="zh-CN" sz="2800">
                <a:latin typeface="Arial" charset="0"/>
              </a:endParaRPr>
            </a:p>
          </p:txBody>
        </p:sp>
        <p:sp>
          <p:nvSpPr>
            <p:cNvPr id="57367" name="Rectangle 23"/>
            <p:cNvSpPr>
              <a:spLocks noChangeArrowheads="1"/>
            </p:cNvSpPr>
            <p:nvPr/>
          </p:nvSpPr>
          <p:spPr bwMode="auto">
            <a:xfrm>
              <a:off x="1039" y="2946"/>
              <a:ext cx="76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b="0">
                  <a:latin typeface="Comic Sans MS" pitchFamily="66" charset="0"/>
                </a:rPr>
                <a:t>Instr 3</a:t>
              </a:r>
            </a:p>
          </p:txBody>
        </p:sp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2160" y="1536"/>
              <a:ext cx="3024" cy="1728"/>
              <a:chOff x="1929" y="1985"/>
              <a:chExt cx="3024" cy="2479"/>
            </a:xfrm>
          </p:grpSpPr>
          <p:sp>
            <p:nvSpPr>
              <p:cNvPr id="57369" name="Line 25"/>
              <p:cNvSpPr>
                <a:spLocks noChangeShapeType="1"/>
              </p:cNvSpPr>
              <p:nvPr/>
            </p:nvSpPr>
            <p:spPr bwMode="auto">
              <a:xfrm>
                <a:off x="192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0" name="Line 26"/>
              <p:cNvSpPr>
                <a:spLocks noChangeShapeType="1"/>
              </p:cNvSpPr>
              <p:nvPr/>
            </p:nvSpPr>
            <p:spPr bwMode="auto">
              <a:xfrm>
                <a:off x="236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1" name="Line 27"/>
              <p:cNvSpPr>
                <a:spLocks noChangeShapeType="1"/>
              </p:cNvSpPr>
              <p:nvPr/>
            </p:nvSpPr>
            <p:spPr bwMode="auto">
              <a:xfrm>
                <a:off x="279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2" name="Line 28"/>
              <p:cNvSpPr>
                <a:spLocks noChangeShapeType="1"/>
              </p:cNvSpPr>
              <p:nvPr/>
            </p:nvSpPr>
            <p:spPr bwMode="auto">
              <a:xfrm>
                <a:off x="3225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3" name="Line 29"/>
              <p:cNvSpPr>
                <a:spLocks noChangeShapeType="1"/>
              </p:cNvSpPr>
              <p:nvPr/>
            </p:nvSpPr>
            <p:spPr bwMode="auto">
              <a:xfrm>
                <a:off x="3657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4" name="Line 30"/>
              <p:cNvSpPr>
                <a:spLocks noChangeShapeType="1"/>
              </p:cNvSpPr>
              <p:nvPr/>
            </p:nvSpPr>
            <p:spPr bwMode="auto">
              <a:xfrm>
                <a:off x="408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5" name="Line 31"/>
              <p:cNvSpPr>
                <a:spLocks noChangeShapeType="1"/>
              </p:cNvSpPr>
              <p:nvPr/>
            </p:nvSpPr>
            <p:spPr bwMode="auto">
              <a:xfrm>
                <a:off x="452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376" name="Line 32"/>
              <p:cNvSpPr>
                <a:spLocks noChangeShapeType="1"/>
              </p:cNvSpPr>
              <p:nvPr/>
            </p:nvSpPr>
            <p:spPr bwMode="auto">
              <a:xfrm>
                <a:off x="495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33"/>
            <p:cNvGrpSpPr>
              <a:grpSpLocks/>
            </p:cNvGrpSpPr>
            <p:nvPr/>
          </p:nvGrpSpPr>
          <p:grpSpPr bwMode="auto">
            <a:xfrm>
              <a:off x="2697" y="1661"/>
              <a:ext cx="226" cy="423"/>
              <a:chOff x="2256" y="1152"/>
              <a:chExt cx="226" cy="481"/>
            </a:xfrm>
          </p:grpSpPr>
          <p:sp>
            <p:nvSpPr>
              <p:cNvPr id="57378" name="Freeform 34"/>
              <p:cNvSpPr>
                <a:spLocks/>
              </p:cNvSpPr>
              <p:nvPr/>
            </p:nvSpPr>
            <p:spPr bwMode="auto">
              <a:xfrm>
                <a:off x="2269" y="1152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79" name="Rectangle 35"/>
              <p:cNvSpPr>
                <a:spLocks noChangeArrowheads="1"/>
              </p:cNvSpPr>
              <p:nvPr/>
            </p:nvSpPr>
            <p:spPr bwMode="auto">
              <a:xfrm rot="5400000">
                <a:off x="2147" y="1296"/>
                <a:ext cx="42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ALU</a:t>
                </a:r>
              </a:p>
            </p:txBody>
          </p:sp>
        </p:grpSp>
        <p:grpSp>
          <p:nvGrpSpPr>
            <p:cNvPr id="9" name="Group 36"/>
            <p:cNvGrpSpPr>
              <a:grpSpLocks/>
            </p:cNvGrpSpPr>
            <p:nvPr/>
          </p:nvGrpSpPr>
          <p:grpSpPr bwMode="auto">
            <a:xfrm>
              <a:off x="1765" y="1745"/>
              <a:ext cx="359" cy="255"/>
              <a:chOff x="1324" y="1248"/>
              <a:chExt cx="359" cy="289"/>
            </a:xfrm>
          </p:grpSpPr>
          <p:sp>
            <p:nvSpPr>
              <p:cNvPr id="57381" name="Rectangle 37"/>
              <p:cNvSpPr>
                <a:spLocks noChangeArrowheads="1"/>
              </p:cNvSpPr>
              <p:nvPr/>
            </p:nvSpPr>
            <p:spPr bwMode="auto">
              <a:xfrm>
                <a:off x="1324" y="1250"/>
                <a:ext cx="257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IM</a:t>
                </a:r>
              </a:p>
            </p:txBody>
          </p:sp>
          <p:grpSp>
            <p:nvGrpSpPr>
              <p:cNvPr id="10" name="Group 38"/>
              <p:cNvGrpSpPr>
                <a:grpSpLocks/>
              </p:cNvGrpSpPr>
              <p:nvPr/>
            </p:nvGrpSpPr>
            <p:grpSpPr bwMode="auto">
              <a:xfrm>
                <a:off x="1343" y="1248"/>
                <a:ext cx="340" cy="289"/>
                <a:chOff x="1343" y="1248"/>
                <a:chExt cx="340" cy="289"/>
              </a:xfrm>
            </p:grpSpPr>
            <p:sp>
              <p:nvSpPr>
                <p:cNvPr id="57383" name="Freeform 39"/>
                <p:cNvSpPr>
                  <a:spLocks/>
                </p:cNvSpPr>
                <p:nvPr/>
              </p:nvSpPr>
              <p:spPr bwMode="auto">
                <a:xfrm>
                  <a:off x="1343" y="1248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384" name="Freeform 40"/>
                <p:cNvSpPr>
                  <a:spLocks/>
                </p:cNvSpPr>
                <p:nvPr/>
              </p:nvSpPr>
              <p:spPr bwMode="auto">
                <a:xfrm>
                  <a:off x="1512" y="1248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57385" name="Rectangle 41"/>
            <p:cNvSpPr>
              <a:spLocks noChangeArrowheads="1"/>
            </p:cNvSpPr>
            <p:nvPr/>
          </p:nvSpPr>
          <p:spPr bwMode="auto">
            <a:xfrm>
              <a:off x="2225" y="1752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Reg</a:t>
              </a:r>
            </a:p>
          </p:txBody>
        </p:sp>
        <p:grpSp>
          <p:nvGrpSpPr>
            <p:cNvPr id="11" name="Group 42"/>
            <p:cNvGrpSpPr>
              <a:grpSpLocks/>
            </p:cNvGrpSpPr>
            <p:nvPr/>
          </p:nvGrpSpPr>
          <p:grpSpPr bwMode="auto">
            <a:xfrm>
              <a:off x="2244" y="1745"/>
              <a:ext cx="296" cy="255"/>
              <a:chOff x="1803" y="1248"/>
              <a:chExt cx="296" cy="289"/>
            </a:xfrm>
          </p:grpSpPr>
          <p:sp>
            <p:nvSpPr>
              <p:cNvPr id="57387" name="Freeform 43"/>
              <p:cNvSpPr>
                <a:spLocks/>
              </p:cNvSpPr>
              <p:nvPr/>
            </p:nvSpPr>
            <p:spPr bwMode="auto">
              <a:xfrm>
                <a:off x="1803" y="1248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88" name="Freeform 44"/>
              <p:cNvSpPr>
                <a:spLocks/>
              </p:cNvSpPr>
              <p:nvPr/>
            </p:nvSpPr>
            <p:spPr bwMode="auto">
              <a:xfrm>
                <a:off x="1951" y="1248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89" name="Line 45"/>
            <p:cNvSpPr>
              <a:spLocks noChangeShapeType="1"/>
            </p:cNvSpPr>
            <p:nvPr/>
          </p:nvSpPr>
          <p:spPr bwMode="auto">
            <a:xfrm>
              <a:off x="2129" y="1872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90" name="Freeform 46"/>
            <p:cNvSpPr>
              <a:spLocks/>
            </p:cNvSpPr>
            <p:nvPr/>
          </p:nvSpPr>
          <p:spPr bwMode="auto">
            <a:xfrm>
              <a:off x="2191" y="1788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91" name="Line 47"/>
            <p:cNvSpPr>
              <a:spLocks noChangeShapeType="1"/>
            </p:cNvSpPr>
            <p:nvPr/>
          </p:nvSpPr>
          <p:spPr bwMode="auto">
            <a:xfrm>
              <a:off x="2545" y="1788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92" name="Rectangle 48"/>
            <p:cNvSpPr>
              <a:spLocks noChangeArrowheads="1"/>
            </p:cNvSpPr>
            <p:nvPr/>
          </p:nvSpPr>
          <p:spPr bwMode="auto">
            <a:xfrm>
              <a:off x="3120" y="1776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DM</a:t>
              </a:r>
            </a:p>
          </p:txBody>
        </p:sp>
        <p:sp>
          <p:nvSpPr>
            <p:cNvPr id="57393" name="Rectangle 49"/>
            <p:cNvSpPr>
              <a:spLocks noChangeArrowheads="1"/>
            </p:cNvSpPr>
            <p:nvPr/>
          </p:nvSpPr>
          <p:spPr bwMode="auto">
            <a:xfrm>
              <a:off x="3534" y="1747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Reg</a:t>
              </a:r>
            </a:p>
          </p:txBody>
        </p:sp>
        <p:grpSp>
          <p:nvGrpSpPr>
            <p:cNvPr id="12" name="Group 50"/>
            <p:cNvGrpSpPr>
              <a:grpSpLocks/>
            </p:cNvGrpSpPr>
            <p:nvPr/>
          </p:nvGrpSpPr>
          <p:grpSpPr bwMode="auto">
            <a:xfrm>
              <a:off x="3561" y="1745"/>
              <a:ext cx="284" cy="255"/>
              <a:chOff x="3120" y="1248"/>
              <a:chExt cx="284" cy="289"/>
            </a:xfrm>
          </p:grpSpPr>
          <p:sp>
            <p:nvSpPr>
              <p:cNvPr id="57395" name="Freeform 51"/>
              <p:cNvSpPr>
                <a:spLocks/>
              </p:cNvSpPr>
              <p:nvPr/>
            </p:nvSpPr>
            <p:spPr bwMode="auto">
              <a:xfrm>
                <a:off x="3120" y="1248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396" name="Freeform 52"/>
              <p:cNvSpPr>
                <a:spLocks/>
              </p:cNvSpPr>
              <p:nvPr/>
            </p:nvSpPr>
            <p:spPr bwMode="auto">
              <a:xfrm>
                <a:off x="3261" y="1248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97" name="Line 53"/>
            <p:cNvSpPr>
              <a:spLocks noChangeShapeType="1"/>
            </p:cNvSpPr>
            <p:nvPr/>
          </p:nvSpPr>
          <p:spPr bwMode="auto">
            <a:xfrm>
              <a:off x="3414" y="1872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98" name="Line 54"/>
            <p:cNvSpPr>
              <a:spLocks noChangeShapeType="1"/>
            </p:cNvSpPr>
            <p:nvPr/>
          </p:nvSpPr>
          <p:spPr bwMode="auto">
            <a:xfrm>
              <a:off x="2930" y="1872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399" name="Freeform 55"/>
            <p:cNvSpPr>
              <a:spLocks/>
            </p:cNvSpPr>
            <p:nvPr/>
          </p:nvSpPr>
          <p:spPr bwMode="auto">
            <a:xfrm>
              <a:off x="3051" y="1872"/>
              <a:ext cx="431" cy="170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00" name="Line 56"/>
            <p:cNvSpPr>
              <a:spLocks noChangeShapeType="1"/>
            </p:cNvSpPr>
            <p:nvPr/>
          </p:nvSpPr>
          <p:spPr bwMode="auto">
            <a:xfrm>
              <a:off x="2545" y="1957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01" name="Freeform 57"/>
            <p:cNvSpPr>
              <a:spLocks/>
            </p:cNvSpPr>
            <p:nvPr/>
          </p:nvSpPr>
          <p:spPr bwMode="auto">
            <a:xfrm>
              <a:off x="2638" y="1868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58"/>
            <p:cNvGrpSpPr>
              <a:grpSpLocks/>
            </p:cNvGrpSpPr>
            <p:nvPr/>
          </p:nvGrpSpPr>
          <p:grpSpPr bwMode="auto">
            <a:xfrm>
              <a:off x="2192" y="2055"/>
              <a:ext cx="2124" cy="452"/>
              <a:chOff x="1751" y="1600"/>
              <a:chExt cx="2124" cy="513"/>
            </a:xfrm>
          </p:grpSpPr>
          <p:grpSp>
            <p:nvGrpSpPr>
              <p:cNvPr id="14" name="Group 59"/>
              <p:cNvGrpSpPr>
                <a:grpSpLocks/>
              </p:cNvGrpSpPr>
              <p:nvPr/>
            </p:nvGrpSpPr>
            <p:grpSpPr bwMode="auto">
              <a:xfrm>
                <a:off x="2685" y="1600"/>
                <a:ext cx="224" cy="481"/>
                <a:chOff x="2685" y="1600"/>
                <a:chExt cx="224" cy="481"/>
              </a:xfrm>
            </p:grpSpPr>
            <p:sp>
              <p:nvSpPr>
                <p:cNvPr id="57404" name="Freeform 60"/>
                <p:cNvSpPr>
                  <a:spLocks/>
                </p:cNvSpPr>
                <p:nvPr/>
              </p:nvSpPr>
              <p:spPr bwMode="auto">
                <a:xfrm>
                  <a:off x="2696" y="1600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05" name="Rectangle 61"/>
                <p:cNvSpPr>
                  <a:spLocks noChangeArrowheads="1"/>
                </p:cNvSpPr>
                <p:nvPr/>
              </p:nvSpPr>
              <p:spPr bwMode="auto">
                <a:xfrm rot="5400000">
                  <a:off x="2576" y="1745"/>
                  <a:ext cx="4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>
                      <a:latin typeface="Arial" charset="0"/>
                    </a:rPr>
                    <a:t>ALU</a:t>
                  </a:r>
                </a:p>
              </p:txBody>
            </p:sp>
          </p:grpSp>
          <p:grpSp>
            <p:nvGrpSpPr>
              <p:cNvPr id="15" name="Group 62"/>
              <p:cNvGrpSpPr>
                <a:grpSpLocks/>
              </p:cNvGrpSpPr>
              <p:nvPr/>
            </p:nvGrpSpPr>
            <p:grpSpPr bwMode="auto">
              <a:xfrm>
                <a:off x="1751" y="1696"/>
                <a:ext cx="359" cy="289"/>
                <a:chOff x="1751" y="1696"/>
                <a:chExt cx="359" cy="289"/>
              </a:xfrm>
            </p:grpSpPr>
            <p:sp>
              <p:nvSpPr>
                <p:cNvPr id="57407" name="Rectangle 63"/>
                <p:cNvSpPr>
                  <a:spLocks noChangeArrowheads="1"/>
                </p:cNvSpPr>
                <p:nvPr/>
              </p:nvSpPr>
              <p:spPr bwMode="auto">
                <a:xfrm>
                  <a:off x="1751" y="1701"/>
                  <a:ext cx="257" cy="2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>
                      <a:latin typeface="Arial" charset="0"/>
                    </a:rPr>
                    <a:t>IM</a:t>
                  </a:r>
                </a:p>
              </p:txBody>
            </p:sp>
            <p:grpSp>
              <p:nvGrpSpPr>
                <p:cNvPr id="16" name="Group 64"/>
                <p:cNvGrpSpPr>
                  <a:grpSpLocks/>
                </p:cNvGrpSpPr>
                <p:nvPr/>
              </p:nvGrpSpPr>
              <p:grpSpPr bwMode="auto">
                <a:xfrm>
                  <a:off x="1770" y="1696"/>
                  <a:ext cx="340" cy="289"/>
                  <a:chOff x="1770" y="1696"/>
                  <a:chExt cx="340" cy="289"/>
                </a:xfrm>
              </p:grpSpPr>
              <p:sp>
                <p:nvSpPr>
                  <p:cNvPr id="57409" name="Freeform 65"/>
                  <p:cNvSpPr>
                    <a:spLocks/>
                  </p:cNvSpPr>
                  <p:nvPr/>
                </p:nvSpPr>
                <p:spPr bwMode="auto">
                  <a:xfrm>
                    <a:off x="1770" y="1696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10" name="Freeform 66"/>
                  <p:cNvSpPr>
                    <a:spLocks/>
                  </p:cNvSpPr>
                  <p:nvPr/>
                </p:nvSpPr>
                <p:spPr bwMode="auto">
                  <a:xfrm>
                    <a:off x="1939" y="1696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7411" name="Rectangle 67"/>
              <p:cNvSpPr>
                <a:spLocks noChangeArrowheads="1"/>
              </p:cNvSpPr>
              <p:nvPr/>
            </p:nvSpPr>
            <p:spPr bwMode="auto">
              <a:xfrm>
                <a:off x="2211" y="1703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17" name="Group 68"/>
              <p:cNvGrpSpPr>
                <a:grpSpLocks/>
              </p:cNvGrpSpPr>
              <p:nvPr/>
            </p:nvGrpSpPr>
            <p:grpSpPr bwMode="auto">
              <a:xfrm>
                <a:off x="2230" y="1696"/>
                <a:ext cx="296" cy="289"/>
                <a:chOff x="2230" y="1696"/>
                <a:chExt cx="296" cy="289"/>
              </a:xfrm>
            </p:grpSpPr>
            <p:sp>
              <p:nvSpPr>
                <p:cNvPr id="57413" name="Freeform 69"/>
                <p:cNvSpPr>
                  <a:spLocks/>
                </p:cNvSpPr>
                <p:nvPr/>
              </p:nvSpPr>
              <p:spPr bwMode="auto">
                <a:xfrm>
                  <a:off x="2230" y="1696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14" name="Freeform 70"/>
                <p:cNvSpPr>
                  <a:spLocks/>
                </p:cNvSpPr>
                <p:nvPr/>
              </p:nvSpPr>
              <p:spPr bwMode="auto">
                <a:xfrm>
                  <a:off x="2378" y="1696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15" name="Line 71"/>
              <p:cNvSpPr>
                <a:spLocks noChangeShapeType="1"/>
              </p:cNvSpPr>
              <p:nvPr/>
            </p:nvSpPr>
            <p:spPr bwMode="auto">
              <a:xfrm>
                <a:off x="2115" y="1840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16" name="Freeform 72"/>
              <p:cNvSpPr>
                <a:spLocks/>
              </p:cNvSpPr>
              <p:nvPr/>
            </p:nvSpPr>
            <p:spPr bwMode="auto">
              <a:xfrm>
                <a:off x="2177" y="1744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17" name="Line 73"/>
              <p:cNvSpPr>
                <a:spLocks noChangeShapeType="1"/>
              </p:cNvSpPr>
              <p:nvPr/>
            </p:nvSpPr>
            <p:spPr bwMode="auto">
              <a:xfrm>
                <a:off x="2531" y="174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18" name="Rectangle 74"/>
              <p:cNvSpPr>
                <a:spLocks noChangeArrowheads="1"/>
              </p:cNvSpPr>
              <p:nvPr/>
            </p:nvSpPr>
            <p:spPr bwMode="auto">
              <a:xfrm>
                <a:off x="3028" y="1696"/>
                <a:ext cx="313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DM</a:t>
                </a:r>
              </a:p>
            </p:txBody>
          </p:sp>
          <p:grpSp>
            <p:nvGrpSpPr>
              <p:cNvPr id="18" name="Group 75"/>
              <p:cNvGrpSpPr>
                <a:grpSpLocks/>
              </p:cNvGrpSpPr>
              <p:nvPr/>
            </p:nvGrpSpPr>
            <p:grpSpPr bwMode="auto">
              <a:xfrm>
                <a:off x="3079" y="1696"/>
                <a:ext cx="325" cy="289"/>
                <a:chOff x="3079" y="1696"/>
                <a:chExt cx="325" cy="289"/>
              </a:xfrm>
            </p:grpSpPr>
            <p:sp>
              <p:nvSpPr>
                <p:cNvPr id="57420" name="Freeform 76"/>
                <p:cNvSpPr>
                  <a:spLocks/>
                </p:cNvSpPr>
                <p:nvPr/>
              </p:nvSpPr>
              <p:spPr bwMode="auto">
                <a:xfrm>
                  <a:off x="3079" y="1696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21" name="Freeform 77"/>
                <p:cNvSpPr>
                  <a:spLocks/>
                </p:cNvSpPr>
                <p:nvPr/>
              </p:nvSpPr>
              <p:spPr bwMode="auto">
                <a:xfrm>
                  <a:off x="3240" y="1696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22" name="Rectangle 78"/>
              <p:cNvSpPr>
                <a:spLocks noChangeArrowheads="1"/>
              </p:cNvSpPr>
              <p:nvPr/>
            </p:nvSpPr>
            <p:spPr bwMode="auto">
              <a:xfrm>
                <a:off x="3520" y="1696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19" name="Group 79"/>
              <p:cNvGrpSpPr>
                <a:grpSpLocks/>
              </p:cNvGrpSpPr>
              <p:nvPr/>
            </p:nvGrpSpPr>
            <p:grpSpPr bwMode="auto">
              <a:xfrm>
                <a:off x="3547" y="1696"/>
                <a:ext cx="284" cy="289"/>
                <a:chOff x="3547" y="1696"/>
                <a:chExt cx="284" cy="289"/>
              </a:xfrm>
            </p:grpSpPr>
            <p:sp>
              <p:nvSpPr>
                <p:cNvPr id="57424" name="Freeform 80"/>
                <p:cNvSpPr>
                  <a:spLocks/>
                </p:cNvSpPr>
                <p:nvPr/>
              </p:nvSpPr>
              <p:spPr bwMode="auto">
                <a:xfrm>
                  <a:off x="3547" y="1696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25" name="Freeform 81"/>
                <p:cNvSpPr>
                  <a:spLocks/>
                </p:cNvSpPr>
                <p:nvPr/>
              </p:nvSpPr>
              <p:spPr bwMode="auto">
                <a:xfrm>
                  <a:off x="3688" y="1696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26" name="Line 82"/>
              <p:cNvSpPr>
                <a:spLocks noChangeShapeType="1"/>
              </p:cNvSpPr>
              <p:nvPr/>
            </p:nvSpPr>
            <p:spPr bwMode="auto">
              <a:xfrm>
                <a:off x="3400" y="1840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27" name="Line 83"/>
              <p:cNvSpPr>
                <a:spLocks noChangeShapeType="1"/>
              </p:cNvSpPr>
              <p:nvPr/>
            </p:nvSpPr>
            <p:spPr bwMode="auto">
              <a:xfrm>
                <a:off x="2916" y="1840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28" name="Freeform 84"/>
              <p:cNvSpPr>
                <a:spLocks/>
              </p:cNvSpPr>
              <p:nvPr/>
            </p:nvSpPr>
            <p:spPr bwMode="auto">
              <a:xfrm>
                <a:off x="3037" y="1840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29" name="Line 85"/>
              <p:cNvSpPr>
                <a:spLocks noChangeShapeType="1"/>
              </p:cNvSpPr>
              <p:nvPr/>
            </p:nvSpPr>
            <p:spPr bwMode="auto">
              <a:xfrm>
                <a:off x="2531" y="1936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30" name="Freeform 86"/>
              <p:cNvSpPr>
                <a:spLocks/>
              </p:cNvSpPr>
              <p:nvPr/>
            </p:nvSpPr>
            <p:spPr bwMode="auto">
              <a:xfrm>
                <a:off x="2624" y="1835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87"/>
            <p:cNvGrpSpPr>
              <a:grpSpLocks/>
            </p:cNvGrpSpPr>
            <p:nvPr/>
          </p:nvGrpSpPr>
          <p:grpSpPr bwMode="auto">
            <a:xfrm>
              <a:off x="2619" y="2450"/>
              <a:ext cx="2124" cy="451"/>
              <a:chOff x="2178" y="2048"/>
              <a:chExt cx="2124" cy="513"/>
            </a:xfrm>
          </p:grpSpPr>
          <p:grpSp>
            <p:nvGrpSpPr>
              <p:cNvPr id="21" name="Group 88"/>
              <p:cNvGrpSpPr>
                <a:grpSpLocks/>
              </p:cNvGrpSpPr>
              <p:nvPr/>
            </p:nvGrpSpPr>
            <p:grpSpPr bwMode="auto">
              <a:xfrm>
                <a:off x="3110" y="2048"/>
                <a:ext cx="226" cy="481"/>
                <a:chOff x="3110" y="2048"/>
                <a:chExt cx="226" cy="481"/>
              </a:xfrm>
            </p:grpSpPr>
            <p:sp>
              <p:nvSpPr>
                <p:cNvPr id="57433" name="Freeform 89"/>
                <p:cNvSpPr>
                  <a:spLocks/>
                </p:cNvSpPr>
                <p:nvPr/>
              </p:nvSpPr>
              <p:spPr bwMode="auto">
                <a:xfrm>
                  <a:off x="3123" y="2048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34" name="Rectangle 90"/>
                <p:cNvSpPr>
                  <a:spLocks noChangeArrowheads="1"/>
                </p:cNvSpPr>
                <p:nvPr/>
              </p:nvSpPr>
              <p:spPr bwMode="auto">
                <a:xfrm rot="5400000">
                  <a:off x="3001" y="2192"/>
                  <a:ext cx="428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>
                      <a:latin typeface="Arial" charset="0"/>
                    </a:rPr>
                    <a:t>ALU</a:t>
                  </a:r>
                </a:p>
              </p:txBody>
            </p:sp>
          </p:grpSp>
          <p:grpSp>
            <p:nvGrpSpPr>
              <p:cNvPr id="22" name="Group 91"/>
              <p:cNvGrpSpPr>
                <a:grpSpLocks/>
              </p:cNvGrpSpPr>
              <p:nvPr/>
            </p:nvGrpSpPr>
            <p:grpSpPr bwMode="auto">
              <a:xfrm>
                <a:off x="2178" y="2144"/>
                <a:ext cx="359" cy="289"/>
                <a:chOff x="2178" y="2144"/>
                <a:chExt cx="359" cy="289"/>
              </a:xfrm>
            </p:grpSpPr>
            <p:sp>
              <p:nvSpPr>
                <p:cNvPr id="57436" name="Rectangle 92"/>
                <p:cNvSpPr>
                  <a:spLocks noChangeArrowheads="1"/>
                </p:cNvSpPr>
                <p:nvPr/>
              </p:nvSpPr>
              <p:spPr bwMode="auto">
                <a:xfrm>
                  <a:off x="2178" y="2146"/>
                  <a:ext cx="257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>
                      <a:latin typeface="Arial" charset="0"/>
                    </a:rPr>
                    <a:t>IM</a:t>
                  </a:r>
                </a:p>
              </p:txBody>
            </p:sp>
            <p:grpSp>
              <p:nvGrpSpPr>
                <p:cNvPr id="23" name="Group 93"/>
                <p:cNvGrpSpPr>
                  <a:grpSpLocks/>
                </p:cNvGrpSpPr>
                <p:nvPr/>
              </p:nvGrpSpPr>
              <p:grpSpPr bwMode="auto">
                <a:xfrm>
                  <a:off x="2197" y="2144"/>
                  <a:ext cx="340" cy="289"/>
                  <a:chOff x="2197" y="2144"/>
                  <a:chExt cx="340" cy="289"/>
                </a:xfrm>
              </p:grpSpPr>
              <p:sp>
                <p:nvSpPr>
                  <p:cNvPr id="57438" name="Freeform 94"/>
                  <p:cNvSpPr>
                    <a:spLocks/>
                  </p:cNvSpPr>
                  <p:nvPr/>
                </p:nvSpPr>
                <p:spPr bwMode="auto">
                  <a:xfrm>
                    <a:off x="2197" y="2144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439" name="Freeform 95"/>
                  <p:cNvSpPr>
                    <a:spLocks/>
                  </p:cNvSpPr>
                  <p:nvPr/>
                </p:nvSpPr>
                <p:spPr bwMode="auto">
                  <a:xfrm>
                    <a:off x="2366" y="2144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7440" name="Rectangle 96"/>
              <p:cNvSpPr>
                <a:spLocks noChangeArrowheads="1"/>
              </p:cNvSpPr>
              <p:nvPr/>
            </p:nvSpPr>
            <p:spPr bwMode="auto">
              <a:xfrm>
                <a:off x="2638" y="2152"/>
                <a:ext cx="355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24" name="Group 97"/>
              <p:cNvGrpSpPr>
                <a:grpSpLocks/>
              </p:cNvGrpSpPr>
              <p:nvPr/>
            </p:nvGrpSpPr>
            <p:grpSpPr bwMode="auto">
              <a:xfrm>
                <a:off x="2657" y="2144"/>
                <a:ext cx="296" cy="289"/>
                <a:chOff x="2657" y="2144"/>
                <a:chExt cx="296" cy="289"/>
              </a:xfrm>
            </p:grpSpPr>
            <p:sp>
              <p:nvSpPr>
                <p:cNvPr id="57442" name="Freeform 98"/>
                <p:cNvSpPr>
                  <a:spLocks/>
                </p:cNvSpPr>
                <p:nvPr/>
              </p:nvSpPr>
              <p:spPr bwMode="auto">
                <a:xfrm>
                  <a:off x="2657" y="2144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43" name="Freeform 99"/>
                <p:cNvSpPr>
                  <a:spLocks/>
                </p:cNvSpPr>
                <p:nvPr/>
              </p:nvSpPr>
              <p:spPr bwMode="auto">
                <a:xfrm>
                  <a:off x="2805" y="2144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44" name="Line 100"/>
              <p:cNvSpPr>
                <a:spLocks noChangeShapeType="1"/>
              </p:cNvSpPr>
              <p:nvPr/>
            </p:nvSpPr>
            <p:spPr bwMode="auto">
              <a:xfrm>
                <a:off x="2542" y="2288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45" name="Freeform 101"/>
              <p:cNvSpPr>
                <a:spLocks/>
              </p:cNvSpPr>
              <p:nvPr/>
            </p:nvSpPr>
            <p:spPr bwMode="auto">
              <a:xfrm>
                <a:off x="2604" y="2192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46" name="Line 102"/>
              <p:cNvSpPr>
                <a:spLocks noChangeShapeType="1"/>
              </p:cNvSpPr>
              <p:nvPr/>
            </p:nvSpPr>
            <p:spPr bwMode="auto">
              <a:xfrm>
                <a:off x="2958" y="2192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47" name="Rectangle 103"/>
              <p:cNvSpPr>
                <a:spLocks noChangeArrowheads="1"/>
              </p:cNvSpPr>
              <p:nvPr/>
            </p:nvSpPr>
            <p:spPr bwMode="auto">
              <a:xfrm>
                <a:off x="3455" y="2146"/>
                <a:ext cx="313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DM</a:t>
                </a:r>
              </a:p>
            </p:txBody>
          </p:sp>
          <p:grpSp>
            <p:nvGrpSpPr>
              <p:cNvPr id="25" name="Group 104"/>
              <p:cNvGrpSpPr>
                <a:grpSpLocks/>
              </p:cNvGrpSpPr>
              <p:nvPr/>
            </p:nvGrpSpPr>
            <p:grpSpPr bwMode="auto">
              <a:xfrm>
                <a:off x="3506" y="2144"/>
                <a:ext cx="325" cy="289"/>
                <a:chOff x="3506" y="2144"/>
                <a:chExt cx="325" cy="289"/>
              </a:xfrm>
            </p:grpSpPr>
            <p:sp>
              <p:nvSpPr>
                <p:cNvPr id="57449" name="Freeform 105"/>
                <p:cNvSpPr>
                  <a:spLocks/>
                </p:cNvSpPr>
                <p:nvPr/>
              </p:nvSpPr>
              <p:spPr bwMode="auto">
                <a:xfrm>
                  <a:off x="3506" y="2144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50" name="Freeform 106"/>
                <p:cNvSpPr>
                  <a:spLocks/>
                </p:cNvSpPr>
                <p:nvPr/>
              </p:nvSpPr>
              <p:spPr bwMode="auto">
                <a:xfrm>
                  <a:off x="3667" y="2144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51" name="Rectangle 107"/>
              <p:cNvSpPr>
                <a:spLocks noChangeArrowheads="1"/>
              </p:cNvSpPr>
              <p:nvPr/>
            </p:nvSpPr>
            <p:spPr bwMode="auto">
              <a:xfrm>
                <a:off x="3947" y="2146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26" name="Group 108"/>
              <p:cNvGrpSpPr>
                <a:grpSpLocks/>
              </p:cNvGrpSpPr>
              <p:nvPr/>
            </p:nvGrpSpPr>
            <p:grpSpPr bwMode="auto">
              <a:xfrm>
                <a:off x="3974" y="2144"/>
                <a:ext cx="284" cy="289"/>
                <a:chOff x="3974" y="2144"/>
                <a:chExt cx="284" cy="289"/>
              </a:xfrm>
            </p:grpSpPr>
            <p:sp>
              <p:nvSpPr>
                <p:cNvPr id="57453" name="Freeform 109"/>
                <p:cNvSpPr>
                  <a:spLocks/>
                </p:cNvSpPr>
                <p:nvPr/>
              </p:nvSpPr>
              <p:spPr bwMode="auto">
                <a:xfrm>
                  <a:off x="3974" y="2144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454" name="Freeform 110"/>
                <p:cNvSpPr>
                  <a:spLocks/>
                </p:cNvSpPr>
                <p:nvPr/>
              </p:nvSpPr>
              <p:spPr bwMode="auto">
                <a:xfrm>
                  <a:off x="4115" y="2144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455" name="Line 111"/>
              <p:cNvSpPr>
                <a:spLocks noChangeShapeType="1"/>
              </p:cNvSpPr>
              <p:nvPr/>
            </p:nvSpPr>
            <p:spPr bwMode="auto">
              <a:xfrm>
                <a:off x="3827" y="2288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56" name="Line 112"/>
              <p:cNvSpPr>
                <a:spLocks noChangeShapeType="1"/>
              </p:cNvSpPr>
              <p:nvPr/>
            </p:nvSpPr>
            <p:spPr bwMode="auto">
              <a:xfrm>
                <a:off x="3343" y="2288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57" name="Freeform 113"/>
              <p:cNvSpPr>
                <a:spLocks/>
              </p:cNvSpPr>
              <p:nvPr/>
            </p:nvSpPr>
            <p:spPr bwMode="auto">
              <a:xfrm>
                <a:off x="3464" y="2288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58" name="Line 114"/>
              <p:cNvSpPr>
                <a:spLocks noChangeShapeType="1"/>
              </p:cNvSpPr>
              <p:nvPr/>
            </p:nvSpPr>
            <p:spPr bwMode="auto">
              <a:xfrm>
                <a:off x="2958" y="238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459" name="Freeform 115"/>
              <p:cNvSpPr>
                <a:spLocks/>
              </p:cNvSpPr>
              <p:nvPr/>
            </p:nvSpPr>
            <p:spPr bwMode="auto">
              <a:xfrm>
                <a:off x="3051" y="2283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116"/>
            <p:cNvGrpSpPr>
              <a:grpSpLocks/>
            </p:cNvGrpSpPr>
            <p:nvPr/>
          </p:nvGrpSpPr>
          <p:grpSpPr bwMode="auto">
            <a:xfrm>
              <a:off x="3980" y="2844"/>
              <a:ext cx="224" cy="424"/>
              <a:chOff x="3539" y="2496"/>
              <a:chExt cx="224" cy="481"/>
            </a:xfrm>
          </p:grpSpPr>
          <p:sp>
            <p:nvSpPr>
              <p:cNvPr id="57461" name="Freeform 117"/>
              <p:cNvSpPr>
                <a:spLocks/>
              </p:cNvSpPr>
              <p:nvPr/>
            </p:nvSpPr>
            <p:spPr bwMode="auto">
              <a:xfrm>
                <a:off x="3550" y="2496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62" name="Rectangle 118"/>
              <p:cNvSpPr>
                <a:spLocks noChangeArrowheads="1"/>
              </p:cNvSpPr>
              <p:nvPr/>
            </p:nvSpPr>
            <p:spPr bwMode="auto">
              <a:xfrm rot="5400000">
                <a:off x="3430" y="2641"/>
                <a:ext cx="42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>
                    <a:latin typeface="Arial" charset="0"/>
                  </a:rPr>
                  <a:t>ALU</a:t>
                </a:r>
              </a:p>
            </p:txBody>
          </p:sp>
        </p:grpSp>
        <p:sp>
          <p:nvSpPr>
            <p:cNvPr id="57463" name="Rectangle 119"/>
            <p:cNvSpPr>
              <a:spLocks noChangeArrowheads="1"/>
            </p:cNvSpPr>
            <p:nvPr/>
          </p:nvSpPr>
          <p:spPr bwMode="auto">
            <a:xfrm>
              <a:off x="3506" y="2935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Reg</a:t>
              </a:r>
            </a:p>
          </p:txBody>
        </p:sp>
        <p:grpSp>
          <p:nvGrpSpPr>
            <p:cNvPr id="28" name="Group 120"/>
            <p:cNvGrpSpPr>
              <a:grpSpLocks/>
            </p:cNvGrpSpPr>
            <p:nvPr/>
          </p:nvGrpSpPr>
          <p:grpSpPr bwMode="auto">
            <a:xfrm>
              <a:off x="3525" y="2929"/>
              <a:ext cx="296" cy="254"/>
              <a:chOff x="3084" y="2592"/>
              <a:chExt cx="296" cy="289"/>
            </a:xfrm>
          </p:grpSpPr>
          <p:sp>
            <p:nvSpPr>
              <p:cNvPr id="57465" name="Freeform 121"/>
              <p:cNvSpPr>
                <a:spLocks/>
              </p:cNvSpPr>
              <p:nvPr/>
            </p:nvSpPr>
            <p:spPr bwMode="auto">
              <a:xfrm>
                <a:off x="3084" y="2592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66" name="Freeform 122"/>
              <p:cNvSpPr>
                <a:spLocks/>
              </p:cNvSpPr>
              <p:nvPr/>
            </p:nvSpPr>
            <p:spPr bwMode="auto">
              <a:xfrm>
                <a:off x="3232" y="2592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467" name="Line 123"/>
            <p:cNvSpPr>
              <a:spLocks noChangeShapeType="1"/>
            </p:cNvSpPr>
            <p:nvPr/>
          </p:nvSpPr>
          <p:spPr bwMode="auto">
            <a:xfrm>
              <a:off x="3410" y="305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68" name="Freeform 124"/>
            <p:cNvSpPr>
              <a:spLocks/>
            </p:cNvSpPr>
            <p:nvPr/>
          </p:nvSpPr>
          <p:spPr bwMode="auto">
            <a:xfrm>
              <a:off x="3472" y="2971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69" name="Line 125"/>
            <p:cNvSpPr>
              <a:spLocks noChangeShapeType="1"/>
            </p:cNvSpPr>
            <p:nvPr/>
          </p:nvSpPr>
          <p:spPr bwMode="auto">
            <a:xfrm>
              <a:off x="3826" y="2971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70" name="Rectangle 126"/>
            <p:cNvSpPr>
              <a:spLocks noChangeArrowheads="1"/>
            </p:cNvSpPr>
            <p:nvPr/>
          </p:nvSpPr>
          <p:spPr bwMode="auto">
            <a:xfrm>
              <a:off x="4323" y="2931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DM</a:t>
              </a:r>
            </a:p>
          </p:txBody>
        </p:sp>
        <p:grpSp>
          <p:nvGrpSpPr>
            <p:cNvPr id="29" name="Group 127"/>
            <p:cNvGrpSpPr>
              <a:grpSpLocks/>
            </p:cNvGrpSpPr>
            <p:nvPr/>
          </p:nvGrpSpPr>
          <p:grpSpPr bwMode="auto">
            <a:xfrm>
              <a:off x="4374" y="2929"/>
              <a:ext cx="325" cy="254"/>
              <a:chOff x="3933" y="2592"/>
              <a:chExt cx="325" cy="289"/>
            </a:xfrm>
          </p:grpSpPr>
          <p:sp>
            <p:nvSpPr>
              <p:cNvPr id="57472" name="Freeform 128"/>
              <p:cNvSpPr>
                <a:spLocks/>
              </p:cNvSpPr>
              <p:nvPr/>
            </p:nvSpPr>
            <p:spPr bwMode="auto">
              <a:xfrm>
                <a:off x="3933" y="2592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73" name="Freeform 129"/>
              <p:cNvSpPr>
                <a:spLocks/>
              </p:cNvSpPr>
              <p:nvPr/>
            </p:nvSpPr>
            <p:spPr bwMode="auto">
              <a:xfrm>
                <a:off x="4094" y="2592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474" name="Rectangle 130"/>
            <p:cNvSpPr>
              <a:spLocks noChangeArrowheads="1"/>
            </p:cNvSpPr>
            <p:nvPr/>
          </p:nvSpPr>
          <p:spPr bwMode="auto">
            <a:xfrm>
              <a:off x="4815" y="2931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>
                  <a:latin typeface="Arial" charset="0"/>
                </a:rPr>
                <a:t>Reg</a:t>
              </a:r>
            </a:p>
          </p:txBody>
        </p:sp>
        <p:grpSp>
          <p:nvGrpSpPr>
            <p:cNvPr id="30" name="Group 131"/>
            <p:cNvGrpSpPr>
              <a:grpSpLocks/>
            </p:cNvGrpSpPr>
            <p:nvPr/>
          </p:nvGrpSpPr>
          <p:grpSpPr bwMode="auto">
            <a:xfrm>
              <a:off x="4842" y="2929"/>
              <a:ext cx="284" cy="254"/>
              <a:chOff x="4401" y="2592"/>
              <a:chExt cx="284" cy="289"/>
            </a:xfrm>
          </p:grpSpPr>
          <p:sp>
            <p:nvSpPr>
              <p:cNvPr id="57476" name="Freeform 132"/>
              <p:cNvSpPr>
                <a:spLocks/>
              </p:cNvSpPr>
              <p:nvPr/>
            </p:nvSpPr>
            <p:spPr bwMode="auto">
              <a:xfrm>
                <a:off x="4401" y="2592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477" name="Freeform 133"/>
              <p:cNvSpPr>
                <a:spLocks/>
              </p:cNvSpPr>
              <p:nvPr/>
            </p:nvSpPr>
            <p:spPr bwMode="auto">
              <a:xfrm>
                <a:off x="4542" y="2592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478" name="Line 134"/>
            <p:cNvSpPr>
              <a:spLocks noChangeShapeType="1"/>
            </p:cNvSpPr>
            <p:nvPr/>
          </p:nvSpPr>
          <p:spPr bwMode="auto">
            <a:xfrm>
              <a:off x="4695" y="3056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79" name="Line 135"/>
            <p:cNvSpPr>
              <a:spLocks noChangeShapeType="1"/>
            </p:cNvSpPr>
            <p:nvPr/>
          </p:nvSpPr>
          <p:spPr bwMode="auto">
            <a:xfrm>
              <a:off x="4211" y="3056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80" name="Freeform 136"/>
            <p:cNvSpPr>
              <a:spLocks/>
            </p:cNvSpPr>
            <p:nvPr/>
          </p:nvSpPr>
          <p:spPr bwMode="auto">
            <a:xfrm>
              <a:off x="4332" y="3056"/>
              <a:ext cx="431" cy="169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481" name="Line 137"/>
            <p:cNvSpPr>
              <a:spLocks noChangeShapeType="1"/>
            </p:cNvSpPr>
            <p:nvPr/>
          </p:nvSpPr>
          <p:spPr bwMode="auto">
            <a:xfrm>
              <a:off x="3826" y="3140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482" name="Freeform 138"/>
            <p:cNvSpPr>
              <a:spLocks/>
            </p:cNvSpPr>
            <p:nvPr/>
          </p:nvSpPr>
          <p:spPr bwMode="auto">
            <a:xfrm>
              <a:off x="3919" y="3051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D332145-2B83-45C1-A714-5B5CCA55D41E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285728"/>
            <a:ext cx="8001000" cy="9906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/>
              <a:t>寄存器冲突！</a:t>
            </a:r>
            <a:endParaRPr lang="en-US" altLang="zh-CN" sz="4000" b="1" dirty="0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04800" y="1524000"/>
            <a:ext cx="8534400" cy="4800600"/>
            <a:chOff x="672" y="1536"/>
            <a:chExt cx="4512" cy="2448"/>
          </a:xfrm>
        </p:grpSpPr>
        <p:pic>
          <p:nvPicPr>
            <p:cNvPr id="56324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1536"/>
              <a:ext cx="4512" cy="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6325" name="Rectangle 5"/>
            <p:cNvSpPr>
              <a:spLocks noChangeArrowheads="1"/>
            </p:cNvSpPr>
            <p:nvPr/>
          </p:nvSpPr>
          <p:spPr bwMode="auto">
            <a:xfrm>
              <a:off x="4368" y="3840"/>
              <a:ext cx="240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158F8B-6551-436E-B24C-AEA07C295253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b="1" smtClean="0"/>
              <a:t>重新设计寄存器堆资源</a:t>
            </a:r>
            <a:endParaRPr lang="en-US" altLang="zh-CN" b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2984"/>
            <a:ext cx="8229600" cy="6215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允许在一个时钟周期</a:t>
            </a:r>
            <a:r>
              <a:rPr lang="en-US" altLang="zh-CN" sz="2800" b="1" dirty="0" smtClean="0">
                <a:solidFill>
                  <a:srgbClr val="FF0000"/>
                </a:solidFill>
                <a:latin typeface="Comic Sans MS" pitchFamily="66" charset="0"/>
              </a:rPr>
              <a:t>WB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段先写，</a:t>
            </a:r>
            <a:r>
              <a:rPr lang="en-US" altLang="zh-CN" sz="2800" b="1" dirty="0" smtClean="0">
                <a:solidFill>
                  <a:srgbClr val="FF0000"/>
                </a:solidFill>
                <a:latin typeface="Comic Sans MS" pitchFamily="66" charset="0"/>
              </a:rPr>
              <a:t>ID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段后读</a:t>
            </a:r>
            <a:endParaRPr lang="en-US" altLang="zh-CN" sz="2800" b="1" dirty="0">
              <a:solidFill>
                <a:srgbClr val="FF0000"/>
              </a:solidFill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endParaRPr lang="en-US" altLang="zh-CN" sz="2800" b="1" dirty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endParaRPr lang="en-US" altLang="zh-CN" sz="2400" b="1" dirty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endParaRPr lang="en-US" altLang="zh-CN" sz="2400" b="1" dirty="0" smtClean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每个时钟周期完成</a:t>
            </a:r>
            <a:r>
              <a:rPr lang="en-US" altLang="zh-CN" sz="2400" b="1" dirty="0" smtClean="0">
                <a:latin typeface="Comic Sans MS" pitchFamily="66" charset="0"/>
              </a:rPr>
              <a:t>2</a:t>
            </a:r>
            <a:r>
              <a:rPr lang="zh-CN" altLang="en-US" sz="2400" b="1" dirty="0" smtClean="0">
                <a:latin typeface="Comic Sans MS" pitchFamily="66" charset="0"/>
              </a:rPr>
              <a:t>个读和一个写</a:t>
            </a:r>
            <a:endParaRPr lang="en-US" altLang="zh-CN" sz="2400" b="1" dirty="0" smtClean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需要提供</a:t>
            </a:r>
            <a:r>
              <a:rPr lang="en-US" altLang="zh-CN" sz="2400" b="1" dirty="0" smtClean="0">
                <a:latin typeface="Comic Sans MS" pitchFamily="66" charset="0"/>
              </a:rPr>
              <a:t>2</a:t>
            </a:r>
            <a:r>
              <a:rPr lang="zh-CN" altLang="en-US" sz="2400" b="1" dirty="0" smtClean="0">
                <a:latin typeface="Comic Sans MS" pitchFamily="66" charset="0"/>
              </a:rPr>
              <a:t>个读端口和一个写端口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当写和读同一个寄存器会发生什么？</a:t>
            </a:r>
            <a:r>
              <a:rPr lang="en-US" altLang="zh-CN" sz="2800" b="1" dirty="0" smtClean="0">
                <a:latin typeface="Comic Sans MS" pitchFamily="66" charset="0"/>
              </a:rPr>
              <a:t>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800" b="1" dirty="0" smtClean="0">
                <a:latin typeface="Comic Sans MS" pitchFamily="66" charset="0"/>
              </a:rPr>
              <a:t>    </a:t>
            </a:r>
            <a:r>
              <a:rPr lang="en-US" altLang="zh-CN" sz="2800" b="1" dirty="0" smtClean="0">
                <a:solidFill>
                  <a:srgbClr val="FF0000"/>
                </a:solidFill>
                <a:latin typeface="Comic Sans MS" pitchFamily="66" charset="0"/>
              </a:rPr>
              <a:t>(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数据冒险</a:t>
            </a:r>
            <a:r>
              <a:rPr lang="en-US" altLang="zh-CN" sz="2800" b="1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altLang="zh-CN" sz="2800" b="1" dirty="0">
                <a:solidFill>
                  <a:srgbClr val="FF3300"/>
                </a:solidFill>
                <a:latin typeface="Comic Sans MS" pitchFamily="66" charset="0"/>
              </a:rPr>
              <a:t>Data hazard</a:t>
            </a:r>
            <a:r>
              <a:rPr lang="en-US" altLang="zh-CN" sz="2800" b="1" dirty="0">
                <a:latin typeface="Comic Sans MS" pitchFamily="66" charset="0"/>
              </a:rPr>
              <a:t> )</a:t>
            </a:r>
          </a:p>
        </p:txBody>
      </p:sp>
      <p:pic>
        <p:nvPicPr>
          <p:cNvPr id="5837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38" y="1857364"/>
            <a:ext cx="7010400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03B5B4A-0D02-475D-BE8C-63D6E2111256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当更新</a:t>
            </a:r>
            <a:r>
              <a:rPr lang="en-US" altLang="zh-CN" b="1" dirty="0" smtClean="0"/>
              <a:t>PC</a:t>
            </a:r>
            <a:r>
              <a:rPr lang="zh-CN" altLang="en-US" b="1" dirty="0" smtClean="0"/>
              <a:t>时产生冲突</a:t>
            </a:r>
            <a:endParaRPr lang="en-US" altLang="zh-CN" b="1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534400" cy="46482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每个时钟周期</a:t>
            </a:r>
            <a:r>
              <a:rPr lang="zh-CN" altLang="en-US" sz="2800" b="1" dirty="0" smtClean="0">
                <a:latin typeface="Comic Sans MS" pitchFamily="66" charset="0"/>
              </a:rPr>
              <a:t>必须</a:t>
            </a:r>
            <a:r>
              <a:rPr lang="zh-CN" altLang="en-US" sz="2800" b="1" dirty="0" smtClean="0">
                <a:solidFill>
                  <a:schemeClr val="accent2">
                    <a:lumMod val="75000"/>
                  </a:schemeClr>
                </a:solidFill>
                <a:latin typeface="Comic Sans MS" pitchFamily="66" charset="0"/>
              </a:rPr>
              <a:t>增量</a:t>
            </a: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omic Sans MS" pitchFamily="66" charset="0"/>
              </a:rPr>
              <a:t>PC</a:t>
            </a:r>
            <a:r>
              <a:rPr lang="zh-CN" altLang="en-US" sz="2800" b="1" dirty="0" smtClean="0">
                <a:solidFill>
                  <a:schemeClr val="accent2">
                    <a:lumMod val="75000"/>
                  </a:schemeClr>
                </a:solidFill>
                <a:latin typeface="Comic Sans MS" pitchFamily="66" charset="0"/>
              </a:rPr>
              <a:t>并存储到</a:t>
            </a:r>
            <a:r>
              <a:rPr lang="en-US" altLang="zh-CN" sz="2800" b="1" dirty="0" smtClean="0">
                <a:solidFill>
                  <a:schemeClr val="accent2">
                    <a:lumMod val="75000"/>
                  </a:schemeClr>
                </a:solidFill>
                <a:latin typeface="Comic Sans MS" pitchFamily="66" charset="0"/>
              </a:rPr>
              <a:t>PC</a:t>
            </a: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遇到转移指令怎么办？</a:t>
            </a:r>
            <a:endParaRPr lang="en-US" altLang="zh-CN" sz="2800" b="1" dirty="0">
              <a:latin typeface="Comic Sans MS" pitchFamily="66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转移可能会改变</a:t>
            </a:r>
            <a:r>
              <a:rPr lang="en-US" altLang="zh-CN" sz="2400" b="1" dirty="0" smtClean="0">
                <a:latin typeface="Comic Sans MS" pitchFamily="66" charset="0"/>
              </a:rPr>
              <a:t>PC</a:t>
            </a:r>
            <a:r>
              <a:rPr lang="zh-CN" altLang="en-US" sz="2400" b="1" dirty="0" smtClean="0">
                <a:latin typeface="Comic Sans MS" pitchFamily="66" charset="0"/>
              </a:rPr>
              <a:t>的值</a:t>
            </a:r>
            <a:r>
              <a:rPr lang="en-US" altLang="zh-CN" sz="2400" b="1" dirty="0" smtClean="0">
                <a:latin typeface="Comic Sans MS" pitchFamily="66" charset="0"/>
              </a:rPr>
              <a:t>—— </a:t>
            </a:r>
            <a:r>
              <a:rPr lang="zh-CN" altLang="en-US" sz="2400" b="1" dirty="0" smtClean="0">
                <a:latin typeface="Comic Sans MS" pitchFamily="66" charset="0"/>
              </a:rPr>
              <a:t>但是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条件要等到</a:t>
            </a:r>
            <a:r>
              <a:rPr lang="en-US" altLang="zh-CN" sz="2400" b="1" dirty="0" smtClean="0">
                <a:solidFill>
                  <a:srgbClr val="FF0000"/>
                </a:solidFill>
                <a:latin typeface="Comic Sans MS" pitchFamily="66" charset="0"/>
              </a:rPr>
              <a:t>ID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段</a:t>
            </a:r>
            <a:r>
              <a:rPr lang="zh-CN" altLang="en-US" sz="2400" b="1" dirty="0" smtClean="0">
                <a:latin typeface="Comic Sans MS" pitchFamily="66" charset="0"/>
              </a:rPr>
              <a:t>才能得到！</a:t>
            </a:r>
            <a:endParaRPr lang="en-US" altLang="zh-CN" sz="2400" b="1" dirty="0">
              <a:latin typeface="Comic Sans MS" pitchFamily="66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如果转移发生，在</a:t>
            </a:r>
            <a:r>
              <a:rPr lang="en-US" altLang="zh-CN" sz="2400" b="1" dirty="0" smtClean="0">
                <a:latin typeface="Comic Sans MS" pitchFamily="66" charset="0"/>
              </a:rPr>
              <a:t>IF</a:t>
            </a:r>
            <a:r>
              <a:rPr lang="zh-CN" altLang="en-US" sz="2400" b="1" dirty="0" smtClean="0">
                <a:latin typeface="Comic Sans MS" pitchFamily="66" charset="0"/>
              </a:rPr>
              <a:t>段取到的转移指令其后的指令是无效的！</a:t>
            </a:r>
            <a:r>
              <a:rPr lang="en-US" altLang="zh-CN" sz="2400" b="1" dirty="0" smtClean="0">
                <a:latin typeface="Comic Sans MS" pitchFamily="66" charset="0"/>
              </a:rPr>
              <a:t> 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这是一个需要处理的严重问题，称为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控制冒险</a:t>
            </a:r>
            <a:r>
              <a:rPr lang="en-US" altLang="zh-CN" sz="2800" b="1" dirty="0" smtClean="0">
                <a:latin typeface="Comic Sans MS" pitchFamily="66" charset="0"/>
              </a:rPr>
              <a:t> ( </a:t>
            </a:r>
            <a:r>
              <a:rPr lang="en-US" altLang="zh-CN" sz="2800" b="1" dirty="0" smtClean="0">
                <a:solidFill>
                  <a:srgbClr val="FF3300"/>
                </a:solidFill>
                <a:latin typeface="Comic Sans MS" pitchFamily="66" charset="0"/>
              </a:rPr>
              <a:t>Control hazard</a:t>
            </a:r>
            <a:r>
              <a:rPr lang="en-US" altLang="zh-CN" sz="2800" b="1" dirty="0" smtClean="0">
                <a:latin typeface="Comic Sans MS" pitchFamily="66" charset="0"/>
              </a:rPr>
              <a:t> ) </a:t>
            </a:r>
            <a:r>
              <a:rPr lang="zh-CN" altLang="en-US" sz="2800" b="1" dirty="0" smtClean="0">
                <a:latin typeface="Comic Sans MS" pitchFamily="66" charset="0"/>
              </a:rPr>
              <a:t>。</a:t>
            </a:r>
            <a:r>
              <a:rPr lang="zh-CN" altLang="en-US" sz="2800" b="1" dirty="0" smtClean="0"/>
              <a:t>稍后会讨论。</a:t>
            </a:r>
            <a:endParaRPr lang="en-US" altLang="zh-C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F36044-DCED-49C8-9260-91D44438AF52}" type="slidenum">
              <a:rPr lang="en-US" altLang="zh-CN"/>
              <a:pPr/>
              <a:t>39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1524000"/>
            <a:ext cx="8305800" cy="4724400"/>
            <a:chOff x="240" y="960"/>
            <a:chExt cx="5232" cy="2976"/>
          </a:xfrm>
        </p:grpSpPr>
        <p:pic>
          <p:nvPicPr>
            <p:cNvPr id="52227" name="Picture 3" descr="E:\English_arch\611\chap3_4.files\chap3_4-5new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960"/>
              <a:ext cx="5232" cy="2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3110" y="3002"/>
              <a:ext cx="2254" cy="934"/>
              <a:chOff x="3110" y="3002"/>
              <a:chExt cx="2254" cy="934"/>
            </a:xfrm>
          </p:grpSpPr>
          <p:sp>
            <p:nvSpPr>
              <p:cNvPr id="52229" name="Text Box 5"/>
              <p:cNvSpPr txBox="1">
                <a:spLocks noChangeArrowheads="1"/>
              </p:cNvSpPr>
              <p:nvPr/>
            </p:nvSpPr>
            <p:spPr bwMode="auto">
              <a:xfrm>
                <a:off x="3110" y="3002"/>
                <a:ext cx="5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>
                    <a:solidFill>
                      <a:srgbClr val="339966"/>
                    </a:solidFill>
                  </a:rPr>
                  <a:t>store</a:t>
                </a:r>
                <a:endParaRPr lang="en-US" altLang="zh-CN" b="0"/>
              </a:p>
            </p:txBody>
          </p:sp>
          <p:sp>
            <p:nvSpPr>
              <p:cNvPr id="52230" name="Text Box 6"/>
              <p:cNvSpPr txBox="1">
                <a:spLocks noChangeArrowheads="1"/>
              </p:cNvSpPr>
              <p:nvPr/>
            </p:nvSpPr>
            <p:spPr bwMode="auto">
              <a:xfrm>
                <a:off x="4896" y="3648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dirty="0">
                    <a:solidFill>
                      <a:srgbClr val="339966"/>
                    </a:solidFill>
                  </a:rPr>
                  <a:t>load</a:t>
                </a:r>
                <a:endParaRPr lang="en-US" altLang="zh-CN" b="0" dirty="0"/>
              </a:p>
            </p:txBody>
          </p:sp>
        </p:grpSp>
      </p:grpSp>
      <p:sp>
        <p:nvSpPr>
          <p:cNvPr id="522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流水线模型</a:t>
            </a:r>
            <a:endParaRPr lang="en-US" altLang="zh-CN" b="1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381000" y="5410200"/>
            <a:ext cx="3657600" cy="914400"/>
            <a:chOff x="240" y="3408"/>
            <a:chExt cx="2304" cy="576"/>
          </a:xfrm>
        </p:grpSpPr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240" y="3408"/>
              <a:ext cx="83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0" rIns="18000" bIns="0">
              <a:spAutoFit/>
            </a:bodyPr>
            <a:lstStyle/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pipeline </a:t>
              </a:r>
            </a:p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registers or </a:t>
              </a:r>
              <a:endParaRPr lang="en-US" altLang="zh-CN">
                <a:solidFill>
                  <a:srgbClr val="FF00FF"/>
                </a:solidFill>
              </a:endParaRPr>
            </a:p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latches</a:t>
              </a:r>
              <a:r>
                <a:rPr lang="en-US" altLang="zh-CN" sz="2000" b="0"/>
                <a:t>  </a:t>
              </a:r>
            </a:p>
          </p:txBody>
        </p:sp>
        <p:sp>
          <p:nvSpPr>
            <p:cNvPr id="52234" name="Line 10"/>
            <p:cNvSpPr>
              <a:spLocks noChangeShapeType="1"/>
            </p:cNvSpPr>
            <p:nvPr/>
          </p:nvSpPr>
          <p:spPr bwMode="auto">
            <a:xfrm flipV="1">
              <a:off x="912" y="3456"/>
              <a:ext cx="624" cy="192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5" name="Line 11"/>
            <p:cNvSpPr>
              <a:spLocks noChangeShapeType="1"/>
            </p:cNvSpPr>
            <p:nvPr/>
          </p:nvSpPr>
          <p:spPr bwMode="auto">
            <a:xfrm flipV="1">
              <a:off x="1008" y="3456"/>
              <a:ext cx="1536" cy="24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3184525" y="5334000"/>
            <a:ext cx="3067050" cy="1096963"/>
            <a:chOff x="2006" y="3360"/>
            <a:chExt cx="1932" cy="691"/>
          </a:xfrm>
        </p:grpSpPr>
        <p:sp>
          <p:nvSpPr>
            <p:cNvPr id="52237" name="Text Box 13"/>
            <p:cNvSpPr txBox="1">
              <a:spLocks noChangeArrowheads="1"/>
            </p:cNvSpPr>
            <p:nvPr/>
          </p:nvSpPr>
          <p:spPr bwMode="auto">
            <a:xfrm>
              <a:off x="2006" y="3801"/>
              <a:ext cx="19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</a:rPr>
                <a:t>Why need to add this line?</a:t>
              </a:r>
              <a:endParaRPr lang="en-US" altLang="zh-CN" b="0"/>
            </a:p>
          </p:txBody>
        </p:sp>
        <p:sp>
          <p:nvSpPr>
            <p:cNvPr id="52238" name="Line 14"/>
            <p:cNvSpPr>
              <a:spLocks noChangeShapeType="1"/>
            </p:cNvSpPr>
            <p:nvPr/>
          </p:nvSpPr>
          <p:spPr bwMode="auto">
            <a:xfrm flipV="1">
              <a:off x="3024" y="3360"/>
              <a:ext cx="192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1444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898370-F5A6-47B8-B7A5-FDB4DA9408BE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571472" y="428604"/>
            <a:ext cx="8001000" cy="9906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/>
              <a:t>流水线寄存器必须引入吗？</a:t>
            </a:r>
            <a:endParaRPr lang="en-US" altLang="zh-CN" sz="4000" b="1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保证处在不同段的指令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不会相互干扰</a:t>
            </a:r>
            <a:r>
              <a:rPr lang="en-US" altLang="zh-CN" sz="2400" b="1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endParaRPr lang="en-US" altLang="zh-CN" sz="2400" b="1" dirty="0">
              <a:solidFill>
                <a:srgbClr val="FF0000"/>
              </a:solidFill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通过流水线寄存器，不同段能够一个接一个形成流水线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流水线寄存器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数目</a:t>
            </a:r>
            <a:r>
              <a:rPr lang="zh-CN" altLang="en-US" sz="2400" b="1" dirty="0" smtClean="0">
                <a:latin typeface="Comic Sans MS" pitchFamily="66" charset="0"/>
              </a:rPr>
              <a:t>比多周期实现机器多得多</a:t>
            </a:r>
            <a:endParaRPr lang="en-US" altLang="zh-CN" sz="2800" b="1" dirty="0">
              <a:latin typeface="Comic Sans MS" pitchFamily="66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latin typeface="Comic Sans MS" pitchFamily="66" charset="0"/>
              </a:rPr>
              <a:t>IR:  </a:t>
            </a:r>
            <a:r>
              <a:rPr lang="en-US" altLang="zh-CN" sz="2000" b="1" u="sng" dirty="0">
                <a:latin typeface="Comic Sans MS" pitchFamily="66" charset="0"/>
              </a:rPr>
              <a:t>IF/ID.IR</a:t>
            </a:r>
            <a:r>
              <a:rPr lang="en-US" altLang="zh-CN" sz="2000" b="1" dirty="0">
                <a:latin typeface="Comic Sans MS" pitchFamily="66" charset="0"/>
              </a:rPr>
              <a:t>; </a:t>
            </a:r>
            <a:r>
              <a:rPr lang="en-US" altLang="zh-CN" sz="2000" b="1" u="sng" dirty="0">
                <a:latin typeface="Comic Sans MS" pitchFamily="66" charset="0"/>
              </a:rPr>
              <a:t>ID/EX.IR</a:t>
            </a:r>
            <a:r>
              <a:rPr lang="en-US" altLang="zh-CN" sz="2000" b="1" dirty="0">
                <a:latin typeface="Comic Sans MS" pitchFamily="66" charset="0"/>
              </a:rPr>
              <a:t>; </a:t>
            </a:r>
            <a:r>
              <a:rPr lang="en-US" altLang="zh-CN" sz="2000" b="1" u="sng" dirty="0">
                <a:latin typeface="Comic Sans MS" pitchFamily="66" charset="0"/>
              </a:rPr>
              <a:t>EX/DM.IR</a:t>
            </a:r>
            <a:r>
              <a:rPr lang="en-US" altLang="zh-CN" sz="2000" b="1" dirty="0">
                <a:latin typeface="Comic Sans MS" pitchFamily="66" charset="0"/>
              </a:rPr>
              <a:t>;  </a:t>
            </a:r>
            <a:r>
              <a:rPr lang="en-US" altLang="zh-CN" sz="2000" b="1" u="sng" dirty="0">
                <a:latin typeface="Comic Sans MS" pitchFamily="66" charset="0"/>
              </a:rPr>
              <a:t>DM/WB.IR</a:t>
            </a:r>
            <a:endParaRPr lang="en-US" altLang="zh-CN" sz="2000" b="1" dirty="0">
              <a:latin typeface="Comic Sans MS" pitchFamily="66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1" dirty="0">
                <a:latin typeface="Comic Sans MS" pitchFamily="66" charset="0"/>
              </a:rPr>
              <a:t>B:    </a:t>
            </a:r>
            <a:r>
              <a:rPr lang="en-US" altLang="zh-CN" sz="2000" b="1" u="sng" dirty="0">
                <a:latin typeface="Comic Sans MS" pitchFamily="66" charset="0"/>
              </a:rPr>
              <a:t>ID/EX.B</a:t>
            </a:r>
            <a:r>
              <a:rPr lang="en-US" altLang="zh-CN" sz="2000" b="1" dirty="0">
                <a:latin typeface="Comic Sans MS" pitchFamily="66" charset="0"/>
              </a:rPr>
              <a:t>;  </a:t>
            </a:r>
            <a:r>
              <a:rPr lang="en-US" altLang="zh-CN" sz="2000" b="1" u="sng" dirty="0">
                <a:latin typeface="Comic Sans MS" pitchFamily="66" charset="0"/>
              </a:rPr>
              <a:t>EX/DM.B</a:t>
            </a:r>
            <a:endParaRPr lang="en-US" altLang="zh-CN" sz="2000" b="1" dirty="0">
              <a:latin typeface="Comic Sans MS" pitchFamily="66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b="1" dirty="0" err="1">
                <a:latin typeface="Comic Sans MS" pitchFamily="66" charset="0"/>
              </a:rPr>
              <a:t>ALUoutput</a:t>
            </a:r>
            <a:r>
              <a:rPr lang="en-US" altLang="zh-CN" sz="2000" b="1" dirty="0">
                <a:latin typeface="Comic Sans MS" pitchFamily="66" charset="0"/>
              </a:rPr>
              <a:t>:  </a:t>
            </a:r>
            <a:r>
              <a:rPr lang="en-US" altLang="zh-CN" sz="2000" b="1" u="sng" dirty="0">
                <a:latin typeface="Comic Sans MS" pitchFamily="66" charset="0"/>
              </a:rPr>
              <a:t>EX/</a:t>
            </a:r>
            <a:r>
              <a:rPr lang="en-US" altLang="zh-CN" sz="2000" b="1" u="sng" dirty="0" err="1">
                <a:latin typeface="Comic Sans MS" pitchFamily="66" charset="0"/>
              </a:rPr>
              <a:t>DM.ALUoutput</a:t>
            </a:r>
            <a:r>
              <a:rPr lang="en-US" altLang="zh-CN" sz="2000" b="1" dirty="0">
                <a:latin typeface="Comic Sans MS" pitchFamily="66" charset="0"/>
              </a:rPr>
              <a:t>, </a:t>
            </a:r>
            <a:r>
              <a:rPr lang="en-US" altLang="zh-CN" sz="2000" b="1" u="sng" dirty="0">
                <a:latin typeface="Comic Sans MS" pitchFamily="66" charset="0"/>
              </a:rPr>
              <a:t>DM/</a:t>
            </a:r>
            <a:r>
              <a:rPr lang="en-US" altLang="zh-CN" sz="2000" b="1" u="sng" dirty="0" err="1">
                <a:latin typeface="Comic Sans MS" pitchFamily="66" charset="0"/>
              </a:rPr>
              <a:t>WB.ALUoutput</a:t>
            </a:r>
            <a:endParaRPr lang="en-US" altLang="zh-CN" sz="2000" b="1" u="sng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任何后面段需要的值</a:t>
            </a:r>
            <a:r>
              <a:rPr lang="zh-CN" altLang="en-US" sz="2400" b="1" dirty="0" smtClean="0">
                <a:solidFill>
                  <a:srgbClr val="0033CC"/>
                </a:solidFill>
                <a:latin typeface="Comic Sans MS" pitchFamily="66" charset="0"/>
              </a:rPr>
              <a:t>必须放在流水线寄存器中，而且会复制到其后的寄存器中直到不需要为止。</a:t>
            </a:r>
            <a:endParaRPr lang="en-US" altLang="zh-CN" sz="2800" b="1" u="sng" dirty="0">
              <a:solidFill>
                <a:srgbClr val="0033CC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9F36044-DCED-49C8-9260-91D44438AF52}" type="slidenum">
              <a:rPr lang="en-US" altLang="zh-CN"/>
              <a:pPr/>
              <a:t>41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81000" y="1524000"/>
            <a:ext cx="8305800" cy="4724400"/>
            <a:chOff x="240" y="960"/>
            <a:chExt cx="5232" cy="2976"/>
          </a:xfrm>
        </p:grpSpPr>
        <p:pic>
          <p:nvPicPr>
            <p:cNvPr id="52227" name="Picture 3" descr="E:\English_arch\611\chap3_4.files\chap3_4-5new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960"/>
              <a:ext cx="5232" cy="2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3110" y="3002"/>
              <a:ext cx="2254" cy="934"/>
              <a:chOff x="3110" y="3002"/>
              <a:chExt cx="2254" cy="934"/>
            </a:xfrm>
          </p:grpSpPr>
          <p:sp>
            <p:nvSpPr>
              <p:cNvPr id="52229" name="Text Box 5"/>
              <p:cNvSpPr txBox="1">
                <a:spLocks noChangeArrowheads="1"/>
              </p:cNvSpPr>
              <p:nvPr/>
            </p:nvSpPr>
            <p:spPr bwMode="auto">
              <a:xfrm>
                <a:off x="3110" y="3002"/>
                <a:ext cx="5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>
                    <a:solidFill>
                      <a:srgbClr val="339966"/>
                    </a:solidFill>
                  </a:rPr>
                  <a:t>store</a:t>
                </a:r>
                <a:endParaRPr lang="en-US" altLang="zh-CN" b="0"/>
              </a:p>
            </p:txBody>
          </p:sp>
          <p:sp>
            <p:nvSpPr>
              <p:cNvPr id="52230" name="Text Box 6"/>
              <p:cNvSpPr txBox="1">
                <a:spLocks noChangeArrowheads="1"/>
              </p:cNvSpPr>
              <p:nvPr/>
            </p:nvSpPr>
            <p:spPr bwMode="auto">
              <a:xfrm>
                <a:off x="4896" y="3648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en-US" altLang="zh-CN" dirty="0">
                    <a:solidFill>
                      <a:srgbClr val="339966"/>
                    </a:solidFill>
                  </a:rPr>
                  <a:t>load</a:t>
                </a:r>
                <a:endParaRPr lang="en-US" altLang="zh-CN" b="0" dirty="0"/>
              </a:p>
            </p:txBody>
          </p:sp>
        </p:grpSp>
      </p:grpSp>
      <p:sp>
        <p:nvSpPr>
          <p:cNvPr id="522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流水线模型</a:t>
            </a:r>
            <a:endParaRPr lang="en-US" altLang="zh-CN" b="1" dirty="0">
              <a:solidFill>
                <a:srgbClr val="000000"/>
              </a:solidFill>
              <a:latin typeface="Arial" charset="0"/>
            </a:endParaRP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381000" y="5410200"/>
            <a:ext cx="3657600" cy="914400"/>
            <a:chOff x="240" y="3408"/>
            <a:chExt cx="2304" cy="576"/>
          </a:xfrm>
        </p:grpSpPr>
        <p:sp>
          <p:nvSpPr>
            <p:cNvPr id="52233" name="Text Box 9"/>
            <p:cNvSpPr txBox="1">
              <a:spLocks noChangeArrowheads="1"/>
            </p:cNvSpPr>
            <p:nvPr/>
          </p:nvSpPr>
          <p:spPr bwMode="auto">
            <a:xfrm>
              <a:off x="240" y="3408"/>
              <a:ext cx="838" cy="5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tIns="0" rIns="18000" bIns="0">
              <a:spAutoFit/>
            </a:bodyPr>
            <a:lstStyle/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pipeline </a:t>
              </a:r>
            </a:p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registers or </a:t>
              </a:r>
              <a:endParaRPr lang="en-US" altLang="zh-CN">
                <a:solidFill>
                  <a:srgbClr val="FF00FF"/>
                </a:solidFill>
              </a:endParaRPr>
            </a:p>
            <a:p>
              <a:pPr eaLnBrk="1" hangingPunct="1"/>
              <a:r>
                <a:rPr lang="en-US" altLang="zh-CN" sz="2000">
                  <a:solidFill>
                    <a:srgbClr val="FF00FF"/>
                  </a:solidFill>
                </a:rPr>
                <a:t>latches</a:t>
              </a:r>
              <a:r>
                <a:rPr lang="en-US" altLang="zh-CN" sz="2000" b="0"/>
                <a:t>  </a:t>
              </a:r>
            </a:p>
          </p:txBody>
        </p:sp>
        <p:sp>
          <p:nvSpPr>
            <p:cNvPr id="52234" name="Line 10"/>
            <p:cNvSpPr>
              <a:spLocks noChangeShapeType="1"/>
            </p:cNvSpPr>
            <p:nvPr/>
          </p:nvSpPr>
          <p:spPr bwMode="auto">
            <a:xfrm flipV="1">
              <a:off x="912" y="3456"/>
              <a:ext cx="624" cy="192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235" name="Line 11"/>
            <p:cNvSpPr>
              <a:spLocks noChangeShapeType="1"/>
            </p:cNvSpPr>
            <p:nvPr/>
          </p:nvSpPr>
          <p:spPr bwMode="auto">
            <a:xfrm flipV="1">
              <a:off x="1008" y="3456"/>
              <a:ext cx="1536" cy="240"/>
            </a:xfrm>
            <a:prstGeom prst="line">
              <a:avLst/>
            </a:prstGeom>
            <a:noFill/>
            <a:ln w="28575">
              <a:solidFill>
                <a:srgbClr val="FF00FF"/>
              </a:solidFill>
              <a:prstDash val="sysDot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3184525" y="5334000"/>
            <a:ext cx="3067050" cy="1096963"/>
            <a:chOff x="2006" y="3360"/>
            <a:chExt cx="1932" cy="691"/>
          </a:xfrm>
        </p:grpSpPr>
        <p:sp>
          <p:nvSpPr>
            <p:cNvPr id="52237" name="Text Box 13"/>
            <p:cNvSpPr txBox="1">
              <a:spLocks noChangeArrowheads="1"/>
            </p:cNvSpPr>
            <p:nvPr/>
          </p:nvSpPr>
          <p:spPr bwMode="auto">
            <a:xfrm>
              <a:off x="2006" y="3801"/>
              <a:ext cx="19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000">
                  <a:solidFill>
                    <a:srgbClr val="FF3300"/>
                  </a:solidFill>
                </a:rPr>
                <a:t>Why need to add this line?</a:t>
              </a:r>
              <a:endParaRPr lang="en-US" altLang="zh-CN" b="0"/>
            </a:p>
          </p:txBody>
        </p:sp>
        <p:sp>
          <p:nvSpPr>
            <p:cNvPr id="52238" name="Line 14"/>
            <p:cNvSpPr>
              <a:spLocks noChangeShapeType="1"/>
            </p:cNvSpPr>
            <p:nvPr/>
          </p:nvSpPr>
          <p:spPr bwMode="auto">
            <a:xfrm flipV="1">
              <a:off x="3024" y="3360"/>
              <a:ext cx="192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prstDash val="dash"/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2857488" y="6492875"/>
            <a:ext cx="2895600" cy="365125"/>
          </a:xfrm>
        </p:spPr>
        <p:txBody>
          <a:bodyPr/>
          <a:lstStyle/>
          <a:p>
            <a:fld id="{6B82DA53-1720-4993-B7B2-605597858F6C}" type="slidenum">
              <a:rPr lang="en-US" altLang="zh-CN"/>
              <a:pPr/>
              <a:t>42</a:t>
            </a:fld>
            <a:endParaRPr lang="en-US" altLang="zh-CN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>
              <a:lnSpc>
                <a:spcPct val="150000"/>
              </a:lnSpc>
            </a:pPr>
            <a:r>
              <a:rPr lang="zh-CN" altLang="en-US" b="1" dirty="0" smtClean="0">
                <a:latin typeface="Comic Sans MS" pitchFamily="66" charset="0"/>
              </a:rPr>
              <a:t>五、流水线的基本性能</a:t>
            </a:r>
            <a:endParaRPr lang="en-US" altLang="zh-CN" b="1" dirty="0">
              <a:latin typeface="Comic Sans MS" pitchFamily="66" charset="0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2000240"/>
            <a:ext cx="8715404" cy="3643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b="1" dirty="0" smtClean="0">
                <a:solidFill>
                  <a:srgbClr val="FF3300"/>
                </a:solidFill>
                <a:latin typeface="Comic Sans MS" pitchFamily="66" charset="0"/>
              </a:rPr>
              <a:t> 流水线增大了</a:t>
            </a:r>
            <a:r>
              <a:rPr lang="zh-CN" altLang="en-US" b="1" dirty="0" smtClean="0">
                <a:latin typeface="Comic Sans MS" pitchFamily="66" charset="0"/>
              </a:rPr>
              <a:t>吞吐量（</a:t>
            </a:r>
            <a:r>
              <a:rPr lang="zh-CN" altLang="en-US" sz="2800" b="1" dirty="0" smtClean="0">
                <a:latin typeface="Comic Sans MS" pitchFamily="66" charset="0"/>
              </a:rPr>
              <a:t>单位时间完成的指令条数）</a:t>
            </a:r>
            <a:endParaRPr lang="en-US" altLang="zh-CN" sz="2800" b="1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800" b="1" dirty="0" smtClean="0">
                <a:latin typeface="Comic Sans MS" pitchFamily="66" charset="0"/>
              </a:rPr>
              <a:t>       吞吐量大，程序运行更快，总的执行时间变短，尽管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每一条指令的执行时间并没有加快</a:t>
            </a:r>
            <a:r>
              <a:rPr lang="zh-CN" altLang="en-US" sz="2800" b="1" dirty="0" smtClean="0">
                <a:latin typeface="Comic Sans MS" pitchFamily="66" charset="0"/>
              </a:rPr>
              <a:t>！</a:t>
            </a:r>
            <a:endParaRPr lang="en-US" altLang="zh-CN" sz="2800" b="1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82DA53-1720-4993-B7B2-605597858F6C}" type="slidenum">
              <a:rPr lang="en-US" altLang="zh-CN"/>
              <a:pPr/>
              <a:t>43</a:t>
            </a:fld>
            <a:endParaRPr lang="en-US" altLang="zh-CN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4000" b="1" dirty="0" smtClean="0">
                <a:latin typeface="Comic Sans MS" pitchFamily="66" charset="0"/>
              </a:rPr>
              <a:t>       影响流水线性能的因素</a:t>
            </a:r>
            <a:endParaRPr lang="en-US" altLang="zh-CN" sz="4000" b="1" dirty="0">
              <a:latin typeface="Comic Sans MS" pitchFamily="66" charset="0"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34400" cy="47244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3300"/>
                </a:solidFill>
                <a:latin typeface="Comic Sans MS" pitchFamily="66" charset="0"/>
              </a:rPr>
              <a:t>延迟：</a:t>
            </a:r>
            <a:r>
              <a:rPr lang="zh-CN" altLang="en-US" sz="2400" b="1" dirty="0" smtClean="0">
                <a:latin typeface="Comic Sans MS" pitchFamily="66" charset="0"/>
              </a:rPr>
              <a:t>每条指令的执行时间没有减少，而且附加的一些控制会比非流水线实现增加开销。</a:t>
            </a:r>
            <a:endParaRPr lang="en-US" altLang="zh-CN" sz="2400" b="1" dirty="0" smtClean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不平衡：</a:t>
            </a:r>
            <a:r>
              <a:rPr lang="en-US" altLang="zh-CN" sz="2400" b="1" dirty="0" smtClean="0">
                <a:latin typeface="Comic Sans MS" pitchFamily="66" charset="0"/>
              </a:rPr>
              <a:t> </a:t>
            </a:r>
            <a:r>
              <a:rPr lang="zh-CN" altLang="en-US" sz="2400" b="1" dirty="0" smtClean="0">
                <a:latin typeface="Comic Sans MS" pitchFamily="66" charset="0"/>
              </a:rPr>
              <a:t>各段时间以最慢的为基准，会降低性能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附加开销</a:t>
            </a:r>
            <a:r>
              <a:rPr lang="zh-CN" altLang="en-US" sz="2400" b="1" dirty="0" smtClean="0">
                <a:latin typeface="Comic Sans MS" pitchFamily="66" charset="0"/>
              </a:rPr>
              <a:t>：流水线寄存器延迟和时钟偏移，限制了时钟周期频率。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流水线冒险（相关）：串行机器是不产生冒险的，</a:t>
            </a:r>
            <a:r>
              <a:rPr lang="zh-CN" altLang="en-US" sz="2400" b="1" dirty="0" smtClean="0">
                <a:latin typeface="Comic Sans MS" pitchFamily="66" charset="0"/>
              </a:rPr>
              <a:t>冒险是达到理想性能的主要障碍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“填充”</a:t>
            </a:r>
            <a:r>
              <a:rPr lang="zh-CN" altLang="en-US" sz="2400" b="1" dirty="0" smtClean="0">
                <a:latin typeface="Comic Sans MS" pitchFamily="66" charset="0"/>
              </a:rPr>
              <a:t>流水线和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“排空”</a:t>
            </a:r>
            <a:r>
              <a:rPr lang="zh-CN" altLang="en-US" sz="2400" b="1" dirty="0" smtClean="0">
                <a:latin typeface="Comic Sans MS" pitchFamily="66" charset="0"/>
              </a:rPr>
              <a:t>流水线也会减少加速比</a:t>
            </a:r>
            <a:endParaRPr lang="en-US" altLang="zh-CN" sz="2400" b="1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16632"/>
            <a:ext cx="9144000" cy="1714480"/>
          </a:xfrm>
        </p:spPr>
        <p:txBody>
          <a:bodyPr>
            <a:normAutofit/>
          </a:bodyPr>
          <a:lstStyle/>
          <a:p>
            <a:r>
              <a:rPr lang="en-US" altLang="zh-CN" sz="3600" b="1" dirty="0" smtClean="0">
                <a:latin typeface="黑体" pitchFamily="2" charset="-122"/>
              </a:rPr>
              <a:t>A.2 </a:t>
            </a:r>
            <a:r>
              <a:rPr lang="zh-CN" altLang="en-US" sz="3600" b="1" dirty="0" smtClean="0">
                <a:latin typeface="黑体" pitchFamily="2" charset="-122"/>
              </a:rPr>
              <a:t>流水线的主要障碍</a:t>
            </a:r>
            <a:r>
              <a:rPr lang="en-US" altLang="zh-CN" sz="3600" b="1" dirty="0" smtClean="0">
                <a:latin typeface="黑体" pitchFamily="2" charset="-122"/>
              </a:rPr>
              <a:t>—</a:t>
            </a:r>
            <a:r>
              <a:rPr lang="zh-CN" altLang="en-US" sz="3600" b="1" dirty="0" smtClean="0">
                <a:latin typeface="黑体" pitchFamily="2" charset="-122"/>
              </a:rPr>
              <a:t>流水线冒险</a:t>
            </a:r>
            <a:r>
              <a:rPr lang="zh-CN" altLang="en-US" sz="2700" b="1" dirty="0" smtClean="0">
                <a:latin typeface="黑体" pitchFamily="2" charset="-122"/>
              </a:rPr>
              <a:t>（相关）</a:t>
            </a:r>
            <a:br>
              <a:rPr lang="zh-CN" altLang="en-US" sz="2700" b="1" dirty="0" smtClean="0">
                <a:latin typeface="黑体" pitchFamily="2" charset="-122"/>
              </a:rPr>
            </a:br>
            <a:endParaRPr lang="zh-CN" altLang="en-US" sz="2700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14348" y="1571612"/>
            <a:ext cx="7358114" cy="428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一、冒险分类与有停顿流水线性能</a:t>
            </a:r>
            <a:endParaRPr lang="en-US" altLang="zh-CN" sz="3200" b="1" dirty="0" smtClean="0">
              <a:latin typeface="Comic Sans MS" pitchFamily="66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3200" b="1" dirty="0" smtClean="0">
                <a:latin typeface="Comic Sans MS" pitchFamily="66" charset="0"/>
              </a:rPr>
              <a:t>二、结构冒险</a:t>
            </a:r>
            <a:endParaRPr lang="en-US" altLang="zh-CN" sz="3200" b="1" dirty="0" smtClean="0">
              <a:latin typeface="Comic Sans MS" pitchFamily="66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三、数据冒险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3200" b="1" dirty="0" smtClean="0">
                <a:latin typeface="Comic Sans MS" pitchFamily="66" charset="0"/>
              </a:rPr>
              <a:t>四、控制冒险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85728"/>
            <a:ext cx="8501090" cy="1143008"/>
          </a:xfrm>
        </p:spPr>
        <p:txBody>
          <a:bodyPr>
            <a:normAutofit fontScale="90000"/>
          </a:bodyPr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b="1" dirty="0" smtClean="0">
                <a:latin typeface="Comic Sans MS" pitchFamily="66" charset="0"/>
              </a:rPr>
              <a:t>一、冒险分类与有停顿流水线性能</a:t>
            </a:r>
            <a:endParaRPr lang="en-US" altLang="zh-CN" b="1" dirty="0" smtClean="0">
              <a:latin typeface="Comic Sans MS" pitchFamily="66" charset="0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5720" y="1357298"/>
            <a:ext cx="8534400" cy="51435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ts val="3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回顾：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流水线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ts val="3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以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重叠方式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执行指令，制造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快速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CPU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的实现技术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减少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CPUtime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, </a:t>
            </a: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改进吞吐量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ts val="3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流水线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理想加速比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：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流水线的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段数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ts val="3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3200" b="1" dirty="0" smtClean="0">
                <a:solidFill>
                  <a:schemeClr val="accent2"/>
                </a:solidFill>
                <a:latin typeface="Comic Sans MS" pitchFamily="66" charset="0"/>
              </a:rPr>
              <a:t>从执行每条指令用</a:t>
            </a:r>
            <a:r>
              <a:rPr lang="zh-CN" altLang="en-US" sz="3200" b="1" dirty="0" smtClean="0">
                <a:solidFill>
                  <a:srgbClr val="0033CC"/>
                </a:solidFill>
                <a:latin typeface="Comic Sans MS" pitchFamily="66" charset="0"/>
              </a:rPr>
              <a:t>多周期</a:t>
            </a:r>
            <a:r>
              <a:rPr lang="zh-CN" altLang="en-US" sz="3200" b="1" dirty="0" smtClean="0">
                <a:solidFill>
                  <a:schemeClr val="accent2"/>
                </a:solidFill>
                <a:latin typeface="Comic Sans MS" pitchFamily="66" charset="0"/>
              </a:rPr>
              <a:t>的机器角度：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ts val="38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流水线减少了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CPI</a:t>
            </a: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.</a:t>
            </a:r>
            <a:r>
              <a:rPr kumimoji="0" lang="en-US" altLang="zh-CN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冒险分类</a:t>
            </a:r>
            <a:endParaRPr lang="en-US" altLang="zh-CN" sz="4000" b="1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357298"/>
            <a:ext cx="8610600" cy="5257816"/>
          </a:xfrm>
        </p:spPr>
        <p:txBody>
          <a:bodyPr>
            <a:normAutofit fontScale="92500"/>
          </a:bodyPr>
          <a:lstStyle/>
          <a:p>
            <a:pPr>
              <a:lnSpc>
                <a:spcPts val="34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冒险</a:t>
            </a:r>
            <a:r>
              <a:rPr lang="zh-CN" altLang="en-US" sz="2800" b="1" dirty="0" smtClean="0">
                <a:latin typeface="Comic Sans MS" pitchFamily="66" charset="0"/>
              </a:rPr>
              <a:t>出现时：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避免</a:t>
            </a:r>
            <a:r>
              <a:rPr lang="zh-CN" altLang="en-US" sz="2400" b="1" dirty="0" smtClean="0">
                <a:latin typeface="Comic Sans MS" pitchFamily="66" charset="0"/>
              </a:rPr>
              <a:t>流水线上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有冒险的指令</a:t>
            </a:r>
            <a:r>
              <a:rPr lang="zh-CN" altLang="en-US" sz="2400" b="1" dirty="0" smtClean="0">
                <a:solidFill>
                  <a:srgbClr val="0070C0"/>
                </a:solidFill>
                <a:latin typeface="Comic Sans MS" pitchFamily="66" charset="0"/>
              </a:rPr>
              <a:t>执行下一个流水段</a:t>
            </a:r>
            <a:endParaRPr lang="en-US" altLang="zh-CN" sz="2800" b="1" dirty="0">
              <a:solidFill>
                <a:srgbClr val="0070C0"/>
              </a:solidFill>
              <a:latin typeface="Comic Sans MS" pitchFamily="66" charset="0"/>
            </a:endParaRPr>
          </a:p>
          <a:p>
            <a:pPr>
              <a:lnSpc>
                <a:spcPts val="3400"/>
              </a:lnSpc>
              <a:spcBef>
                <a:spcPct val="50000"/>
              </a:spcBef>
            </a:pPr>
            <a:r>
              <a:rPr lang="zh-CN" altLang="en-US" sz="2800" b="1" dirty="0" smtClean="0">
                <a:latin typeface="Comic Sans MS" pitchFamily="66" charset="0"/>
              </a:rPr>
              <a:t>冒险分类</a:t>
            </a:r>
            <a:endParaRPr lang="en-US" altLang="zh-CN" sz="2800" b="1" dirty="0" smtClean="0">
              <a:latin typeface="Comic Sans MS" pitchFamily="66" charset="0"/>
            </a:endParaRPr>
          </a:p>
          <a:p>
            <a:pPr lvl="1">
              <a:lnSpc>
                <a:spcPts val="34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结构冒险</a:t>
            </a:r>
            <a:r>
              <a:rPr lang="en-US" altLang="zh-CN" sz="2400" b="1" dirty="0" smtClean="0">
                <a:solidFill>
                  <a:srgbClr val="C00000"/>
                </a:solidFill>
              </a:rPr>
              <a:t> 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2">
              <a:lnSpc>
                <a:spcPts val="3400"/>
              </a:lnSpc>
            </a:pPr>
            <a:r>
              <a:rPr lang="zh-CN" altLang="en-US" b="1" dirty="0" smtClean="0">
                <a:latin typeface="Comic Sans MS" pitchFamily="66" charset="0"/>
              </a:rPr>
              <a:t>指令重叠执行时，发生硬件资源冲突</a:t>
            </a:r>
            <a:r>
              <a:rPr lang="en-US" altLang="zh-CN" b="1" dirty="0" smtClean="0"/>
              <a:t> </a:t>
            </a:r>
            <a:endParaRPr lang="en-US" altLang="zh-CN" b="1" dirty="0"/>
          </a:p>
          <a:p>
            <a:pPr lvl="1">
              <a:lnSpc>
                <a:spcPts val="34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数据冒险</a:t>
            </a:r>
            <a:endParaRPr lang="en-US" altLang="zh-CN" sz="2400" b="1" dirty="0">
              <a:solidFill>
                <a:srgbClr val="C00000"/>
              </a:solidFill>
              <a:latin typeface="Comic Sans MS" pitchFamily="66" charset="0"/>
            </a:endParaRPr>
          </a:p>
          <a:p>
            <a:pPr lvl="2">
              <a:lnSpc>
                <a:spcPts val="3400"/>
              </a:lnSpc>
            </a:pPr>
            <a:r>
              <a:rPr lang="zh-CN" altLang="en-US" b="1" dirty="0" smtClean="0">
                <a:latin typeface="Comic Sans MS" pitchFamily="66" charset="0"/>
              </a:rPr>
              <a:t>几条指令重叠执行时，一条指令依赖前面指令的结果却没有准备好（还没有计算或存储）</a:t>
            </a:r>
            <a:endParaRPr lang="en-US" altLang="zh-CN" b="1" dirty="0"/>
          </a:p>
          <a:p>
            <a:pPr lvl="1">
              <a:lnSpc>
                <a:spcPts val="3400"/>
              </a:lnSpc>
            </a:pP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控制冒险</a:t>
            </a:r>
            <a:r>
              <a:rPr lang="en-US" altLang="zh-CN" sz="2400" b="1" dirty="0" smtClean="0">
                <a:solidFill>
                  <a:srgbClr val="C00000"/>
                </a:solidFill>
                <a:latin typeface="Comic Sans MS" pitchFamily="66" charset="0"/>
              </a:rPr>
              <a:t> 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：（</a:t>
            </a:r>
            <a:r>
              <a:rPr lang="zh-CN" altLang="en-US" sz="2400" b="1" dirty="0" smtClean="0">
                <a:solidFill>
                  <a:srgbClr val="0070C0"/>
                </a:solidFill>
                <a:latin typeface="Comic Sans MS" pitchFamily="66" charset="0"/>
              </a:rPr>
              <a:t>流水线执行转移指令时）</a:t>
            </a:r>
            <a:endParaRPr lang="en-US" altLang="zh-CN" sz="2400" b="1" dirty="0" smtClean="0">
              <a:solidFill>
                <a:srgbClr val="0070C0"/>
              </a:solidFill>
              <a:latin typeface="Comic Sans MS" pitchFamily="66" charset="0"/>
            </a:endParaRPr>
          </a:p>
          <a:p>
            <a:pPr lvl="2">
              <a:lnSpc>
                <a:spcPts val="3400"/>
              </a:lnSpc>
            </a:pPr>
            <a:r>
              <a:rPr lang="zh-CN" altLang="en-US" b="1" dirty="0">
                <a:latin typeface="Comic Sans MS" pitchFamily="66" charset="0"/>
              </a:rPr>
              <a:t>进入下一个时钟周期时，转移条件和</a:t>
            </a:r>
            <a:r>
              <a:rPr lang="zh-CN" altLang="en-US" b="1" dirty="0" smtClean="0">
                <a:latin typeface="Comic Sans MS" pitchFamily="66" charset="0"/>
              </a:rPr>
              <a:t>转移目标</a:t>
            </a:r>
            <a:r>
              <a:rPr lang="en-US" altLang="zh-CN" b="1" dirty="0" smtClean="0">
                <a:latin typeface="Comic Sans MS" pitchFamily="66" charset="0"/>
              </a:rPr>
              <a:t>PC</a:t>
            </a:r>
            <a:r>
              <a:rPr lang="zh-CN" altLang="en-US" b="1" dirty="0">
                <a:latin typeface="Comic Sans MS" pitchFamily="66" charset="0"/>
              </a:rPr>
              <a:t>不能按时提供给</a:t>
            </a:r>
            <a:r>
              <a:rPr lang="en-US" altLang="zh-CN" b="1" dirty="0">
                <a:latin typeface="Comic Sans MS" pitchFamily="66" charset="0"/>
              </a:rPr>
              <a:t>IF</a:t>
            </a:r>
            <a:r>
              <a:rPr lang="zh-CN" altLang="en-US" b="1" dirty="0">
                <a:latin typeface="Comic Sans MS" pitchFamily="66" charset="0"/>
              </a:rPr>
              <a:t>段</a:t>
            </a:r>
            <a:r>
              <a:rPr lang="zh-CN" altLang="en-US" b="1" dirty="0" smtClean="0">
                <a:latin typeface="Comic Sans MS" pitchFamily="66" charset="0"/>
              </a:rPr>
              <a:t>取指令。</a:t>
            </a:r>
            <a:endParaRPr lang="en-US" altLang="zh-CN" dirty="0">
              <a:latin typeface="Comic Sans MS" pitchFamily="66" charset="0"/>
            </a:endParaRPr>
          </a:p>
          <a:p>
            <a:pPr marL="914400" lvl="2" indent="0">
              <a:lnSpc>
                <a:spcPts val="3400"/>
              </a:lnSpc>
              <a:buNone/>
            </a:pPr>
            <a:endParaRPr lang="en-US" altLang="zh-CN" dirty="0" smtClean="0">
              <a:latin typeface="Comic Sans MS" pitchFamily="66" charset="0"/>
            </a:endParaRPr>
          </a:p>
          <a:p>
            <a:pPr lvl="2">
              <a:lnSpc>
                <a:spcPts val="3400"/>
              </a:lnSpc>
              <a:buNone/>
            </a:pPr>
            <a:endParaRPr lang="en-US" altLang="zh-CN" dirty="0" smtClean="0">
              <a:latin typeface="Comic Sans MS" pitchFamily="66" charset="0"/>
            </a:endParaRPr>
          </a:p>
          <a:p>
            <a:pPr lvl="2">
              <a:lnSpc>
                <a:spcPts val="3400"/>
              </a:lnSpc>
            </a:pPr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85786" y="214290"/>
            <a:ext cx="8001000" cy="990600"/>
          </a:xfrm>
        </p:spPr>
        <p:txBody>
          <a:bodyPr/>
          <a:lstStyle/>
          <a:p>
            <a:r>
              <a:rPr lang="zh-CN" altLang="en-US" b="1" dirty="0" smtClean="0"/>
              <a:t>数据冒险：例子</a:t>
            </a:r>
            <a:endParaRPr lang="en-US" altLang="zh-CN" b="1" dirty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304800" y="1295400"/>
          <a:ext cx="85344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68" name="Picture" r:id="rId3" imgW="4467225" imgH="2752725" progId="Word.Picture.8">
                  <p:embed/>
                </p:oleObj>
              </mc:Choice>
              <mc:Fallback>
                <p:oleObj name="Picture" r:id="rId3" imgW="4467225" imgH="2752725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5344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71842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80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冒险</a:t>
            </a:r>
            <a:r>
              <a:rPr lang="zh-CN" altLang="en-US" sz="4000" b="1" dirty="0" smtClean="0">
                <a:solidFill>
                  <a:srgbClr val="C00000"/>
                </a:solidFill>
              </a:rPr>
              <a:t>总是</a:t>
            </a:r>
            <a:r>
              <a:rPr lang="zh-CN" altLang="en-US" sz="4000" b="1" dirty="0" smtClean="0"/>
              <a:t>可以用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停顿</a:t>
            </a:r>
            <a:r>
              <a:rPr lang="zh-CN" altLang="en-US" sz="4000" b="1" dirty="0" smtClean="0"/>
              <a:t>解决</a:t>
            </a:r>
            <a:endParaRPr lang="en-US" altLang="zh-CN" sz="4000" b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839200" cy="4724400"/>
          </a:xfrm>
        </p:spPr>
        <p:txBody>
          <a:bodyPr>
            <a:normAutofit/>
          </a:bodyPr>
          <a:lstStyle/>
          <a:p>
            <a:pPr>
              <a:lnSpc>
                <a:spcPts val="37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解决冒险最简单的方式就是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停顿</a:t>
            </a:r>
            <a:r>
              <a:rPr lang="zh-CN" altLang="en-US" sz="2800" b="1" dirty="0" smtClean="0">
                <a:latin typeface="Comic Sans MS" pitchFamily="66" charset="0"/>
              </a:rPr>
              <a:t>流水线</a:t>
            </a: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ts val="37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停顿意味着为某些指令暂停流水线一个或多个时钟周期。</a:t>
            </a:r>
            <a:r>
              <a:rPr lang="en-US" altLang="zh-CN" sz="2800" b="1" dirty="0" smtClean="0">
                <a:latin typeface="Comic Sans MS" pitchFamily="66" charset="0"/>
              </a:rPr>
              <a:t> </a:t>
            </a: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ts val="37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一条指令被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停顿</a:t>
            </a:r>
            <a:r>
              <a:rPr lang="zh-CN" altLang="en-US" sz="2800" b="1" dirty="0" smtClean="0">
                <a:latin typeface="Comic Sans MS" pitchFamily="66" charset="0"/>
              </a:rPr>
              <a:t>后，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其后的所有指令被停顿</a:t>
            </a:r>
            <a:r>
              <a:rPr lang="zh-CN" altLang="en-US" sz="2800" b="1" dirty="0" smtClean="0">
                <a:latin typeface="Comic Sans MS" pitchFamily="66" charset="0"/>
              </a:rPr>
              <a:t>；该指令之前的指令必须继续执行。</a:t>
            </a: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ts val="37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一个流水线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停顿</a:t>
            </a:r>
            <a:r>
              <a:rPr lang="zh-CN" altLang="en-US" sz="2800" b="1" dirty="0" smtClean="0">
                <a:latin typeface="Comic Sans MS" pitchFamily="66" charset="0"/>
              </a:rPr>
              <a:t>也称为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流水线气泡</a:t>
            </a:r>
            <a:r>
              <a:rPr lang="zh-CN" altLang="en-US" sz="2800" b="1" dirty="0" smtClean="0">
                <a:latin typeface="Comic Sans MS" pitchFamily="66" charset="0"/>
              </a:rPr>
              <a:t>或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气泡。</a:t>
            </a:r>
            <a:r>
              <a:rPr lang="en-US" altLang="zh-CN" sz="2800" b="1" dirty="0" smtClean="0">
                <a:latin typeface="Comic Sans MS" pitchFamily="66" charset="0"/>
              </a:rPr>
              <a:t> </a:t>
            </a: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ts val="3700"/>
              </a:lnSpc>
            </a:pPr>
            <a:r>
              <a:rPr lang="zh-CN" altLang="en-US" sz="2800" b="1" dirty="0" smtClean="0">
                <a:solidFill>
                  <a:srgbClr val="FF3300"/>
                </a:solidFill>
                <a:latin typeface="Comic Sans MS" pitchFamily="66" charset="0"/>
              </a:rPr>
              <a:t>停顿时，没有</a:t>
            </a:r>
            <a:r>
              <a:rPr lang="zh-CN" altLang="en-US" sz="2800" b="1" dirty="0" smtClean="0">
                <a:latin typeface="Comic Sans MS" pitchFamily="66" charset="0"/>
              </a:rPr>
              <a:t>任何新的指令被取到流水线</a:t>
            </a:r>
            <a:r>
              <a:rPr lang="zh-CN" altLang="en-US" sz="2800" b="1" dirty="0" smtClean="0">
                <a:solidFill>
                  <a:srgbClr val="FF3300"/>
                </a:solidFill>
                <a:latin typeface="Comic Sans MS" pitchFamily="66" charset="0"/>
              </a:rPr>
              <a:t>。</a:t>
            </a:r>
            <a:endParaRPr lang="en-US" altLang="zh-CN" sz="2800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971800" y="2971800"/>
            <a:ext cx="5827713" cy="609600"/>
            <a:chOff x="1872" y="1872"/>
            <a:chExt cx="3671" cy="384"/>
          </a:xfrm>
        </p:grpSpPr>
        <p:sp>
          <p:nvSpPr>
            <p:cNvPr id="28675" name="AutoShape 3"/>
            <p:cNvSpPr>
              <a:spLocks noChangeArrowheads="1"/>
            </p:cNvSpPr>
            <p:nvPr/>
          </p:nvSpPr>
          <p:spPr bwMode="auto">
            <a:xfrm>
              <a:off x="1872" y="1872"/>
              <a:ext cx="633" cy="384"/>
            </a:xfrm>
            <a:prstGeom prst="cloudCallout">
              <a:avLst>
                <a:gd name="adj1" fmla="val 21875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76" name="AutoShape 4"/>
            <p:cNvSpPr>
              <a:spLocks noChangeArrowheads="1"/>
            </p:cNvSpPr>
            <p:nvPr/>
          </p:nvSpPr>
          <p:spPr bwMode="auto">
            <a:xfrm>
              <a:off x="2569" y="1872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77" name="AutoShape 5"/>
            <p:cNvSpPr>
              <a:spLocks noChangeArrowheads="1"/>
            </p:cNvSpPr>
            <p:nvPr/>
          </p:nvSpPr>
          <p:spPr bwMode="auto">
            <a:xfrm>
              <a:off x="4848" y="1872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78" name="AutoShape 6"/>
            <p:cNvSpPr>
              <a:spLocks noChangeArrowheads="1"/>
            </p:cNvSpPr>
            <p:nvPr/>
          </p:nvSpPr>
          <p:spPr bwMode="auto">
            <a:xfrm>
              <a:off x="4080" y="1872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79" name="AutoShape 7"/>
            <p:cNvSpPr>
              <a:spLocks noChangeArrowheads="1"/>
            </p:cNvSpPr>
            <p:nvPr/>
          </p:nvSpPr>
          <p:spPr bwMode="auto">
            <a:xfrm>
              <a:off x="3312" y="1872"/>
              <a:ext cx="695" cy="384"/>
            </a:xfrm>
            <a:prstGeom prst="cloudCallout">
              <a:avLst>
                <a:gd name="adj1" fmla="val -22519"/>
                <a:gd name="adj2" fmla="val 161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191000" y="3810000"/>
            <a:ext cx="4608513" cy="609600"/>
            <a:chOff x="2640" y="2400"/>
            <a:chExt cx="2903" cy="384"/>
          </a:xfrm>
        </p:grpSpPr>
        <p:sp>
          <p:nvSpPr>
            <p:cNvPr id="28681" name="AutoShape 9"/>
            <p:cNvSpPr>
              <a:spLocks noChangeArrowheads="1"/>
            </p:cNvSpPr>
            <p:nvPr/>
          </p:nvSpPr>
          <p:spPr bwMode="auto">
            <a:xfrm>
              <a:off x="2640" y="2400"/>
              <a:ext cx="633" cy="384"/>
            </a:xfrm>
            <a:prstGeom prst="cloudCallout">
              <a:avLst>
                <a:gd name="adj1" fmla="val 21875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82" name="AutoShape 10"/>
            <p:cNvSpPr>
              <a:spLocks noChangeArrowheads="1"/>
            </p:cNvSpPr>
            <p:nvPr/>
          </p:nvSpPr>
          <p:spPr bwMode="auto">
            <a:xfrm>
              <a:off x="3337" y="2400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83" name="AutoShape 11"/>
            <p:cNvSpPr>
              <a:spLocks noChangeArrowheads="1"/>
            </p:cNvSpPr>
            <p:nvPr/>
          </p:nvSpPr>
          <p:spPr bwMode="auto">
            <a:xfrm>
              <a:off x="4848" y="2400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84" name="AutoShape 12"/>
            <p:cNvSpPr>
              <a:spLocks noChangeArrowheads="1"/>
            </p:cNvSpPr>
            <p:nvPr/>
          </p:nvSpPr>
          <p:spPr bwMode="auto">
            <a:xfrm>
              <a:off x="4080" y="2400"/>
              <a:ext cx="695" cy="384"/>
            </a:xfrm>
            <a:prstGeom prst="cloudCallout">
              <a:avLst>
                <a:gd name="adj1" fmla="val -22519"/>
                <a:gd name="adj2" fmla="val 161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</p:grpSp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304800" y="1447800"/>
          <a:ext cx="85344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92" name="Picture" r:id="rId3" imgW="4467225" imgH="2752725" progId="Word.Picture.8">
                  <p:embed/>
                </p:oleObj>
              </mc:Choice>
              <mc:Fallback>
                <p:oleObj name="Picture" r:id="rId3" imgW="4467225" imgH="2752725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47800"/>
                        <a:ext cx="85344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71842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Rectangle 1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 smtClean="0"/>
              <a:t>怎样停顿？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zh-CN" altLang="en-US" b="1" dirty="0" smtClean="0"/>
              <a:t>由编译器插入</a:t>
            </a:r>
            <a:r>
              <a:rPr lang="en-US" altLang="zh-CN" b="1" dirty="0" smtClean="0"/>
              <a:t> </a:t>
            </a:r>
            <a:r>
              <a:rPr lang="en-US" altLang="zh-CN" b="1" dirty="0" err="1">
                <a:solidFill>
                  <a:srgbClr val="0000CC"/>
                </a:solidFill>
              </a:rPr>
              <a:t>nop</a:t>
            </a:r>
            <a:r>
              <a:rPr lang="en-US" altLang="zh-CN" b="1" dirty="0"/>
              <a:t> </a:t>
            </a:r>
            <a:r>
              <a:rPr lang="zh-CN" altLang="en-US" b="1" dirty="0" smtClean="0"/>
              <a:t>指令（软件）</a:t>
            </a:r>
            <a:endParaRPr lang="en-US" altLang="zh-CN" b="1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25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57224" y="214290"/>
            <a:ext cx="8001000" cy="9906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/>
              <a:t>有停顿的流水线性能</a:t>
            </a:r>
            <a:endParaRPr lang="en-US" altLang="zh-CN" sz="4000" b="1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214422"/>
            <a:ext cx="8229600" cy="4525963"/>
          </a:xfrm>
        </p:spPr>
        <p:txBody>
          <a:bodyPr/>
          <a:lstStyle/>
          <a:p>
            <a:r>
              <a:rPr lang="zh-CN" altLang="en-US" sz="2800" b="1" dirty="0" smtClean="0">
                <a:latin typeface="Comic Sans MS" pitchFamily="66" charset="0"/>
              </a:rPr>
              <a:t>停顿会降低流水线的性能，使其性能比理想的差</a:t>
            </a:r>
            <a:endParaRPr lang="en-US" altLang="zh-CN" sz="2800" b="1" dirty="0">
              <a:latin typeface="Comic Sans MS" pitchFamily="66" charset="0"/>
            </a:endParaRPr>
          </a:p>
          <a:p>
            <a:r>
              <a:rPr lang="zh-CN" altLang="en-US" sz="2800" b="1" dirty="0" smtClean="0">
                <a:latin typeface="Comic Sans MS" pitchFamily="66" charset="0"/>
              </a:rPr>
              <a:t>回忆加速比公式：</a:t>
            </a:r>
            <a:endParaRPr lang="en-US" altLang="zh-CN" sz="2800" b="1" dirty="0">
              <a:latin typeface="Comic Sans MS" pitchFamily="66" charset="0"/>
            </a:endParaRPr>
          </a:p>
          <a:p>
            <a:endParaRPr lang="en-US" altLang="zh-CN" sz="2800" dirty="0">
              <a:latin typeface="Comic Sans MS" pitchFamily="66" charset="0"/>
            </a:endParaRPr>
          </a:p>
          <a:p>
            <a:endParaRPr lang="en-US" altLang="zh-CN" sz="2800" dirty="0">
              <a:latin typeface="Comic Sans MS" pitchFamily="66" charset="0"/>
            </a:endParaRPr>
          </a:p>
          <a:p>
            <a:endParaRPr lang="en-US" altLang="zh-CN" sz="2800" dirty="0">
              <a:latin typeface="Comic Sans MS" pitchFamily="66" charset="0"/>
            </a:endParaRPr>
          </a:p>
          <a:p>
            <a:endParaRPr lang="en-US" altLang="zh-CN" sz="2800" dirty="0">
              <a:latin typeface="Comic Sans MS" pitchFamily="66" charset="0"/>
            </a:endParaRPr>
          </a:p>
          <a:p>
            <a:endParaRPr lang="en-US" altLang="zh-CN" dirty="0"/>
          </a:p>
          <a:p>
            <a:pPr>
              <a:buFontTx/>
              <a:buNone/>
            </a:pPr>
            <a:endParaRPr lang="en-US" altLang="zh-CN" dirty="0"/>
          </a:p>
        </p:txBody>
      </p:sp>
      <p:pic>
        <p:nvPicPr>
          <p:cNvPr id="10244" name="Picture 4" descr="chap3_2-2n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10" y="2500306"/>
            <a:ext cx="8196290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5" name="Picture 5" descr="chap3_2-3ne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114800"/>
            <a:ext cx="57912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6" name="Rectangle 6"/>
          <p:cNvSpPr>
            <a:spLocks noChangeArrowheads="1"/>
          </p:cNvSpPr>
          <p:nvPr/>
        </p:nvSpPr>
        <p:spPr bwMode="auto">
          <a:xfrm>
            <a:off x="3810000" y="5257800"/>
            <a:ext cx="5029200" cy="10668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非流水线是多周期实现的情况</a:t>
            </a:r>
            <a:endParaRPr lang="en-US" altLang="zh-CN" sz="4000" b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latin typeface="Comic Sans MS" pitchFamily="66" charset="0"/>
              </a:rPr>
              <a:t>流水线处理器的理想</a:t>
            </a:r>
            <a:r>
              <a:rPr lang="en-US" altLang="zh-CN" sz="2800" b="1" dirty="0" smtClean="0">
                <a:latin typeface="Comic Sans MS" pitchFamily="66" charset="0"/>
              </a:rPr>
              <a:t>CPI </a:t>
            </a:r>
            <a:r>
              <a:rPr lang="zh-CN" altLang="en-US" sz="2800" b="1" dirty="0" smtClean="0">
                <a:latin typeface="Comic Sans MS" pitchFamily="66" charset="0"/>
              </a:rPr>
              <a:t>差不多总是</a:t>
            </a:r>
            <a:r>
              <a:rPr lang="en-US" altLang="zh-CN" sz="2800" b="1" dirty="0" smtClean="0">
                <a:solidFill>
                  <a:srgbClr val="FF3300"/>
                </a:solidFill>
                <a:latin typeface="Comic Sans MS" pitchFamily="66" charset="0"/>
              </a:rPr>
              <a:t>1</a:t>
            </a:r>
            <a:r>
              <a:rPr lang="zh-CN" altLang="en-US" sz="2800" b="1" dirty="0" smtClean="0">
                <a:solidFill>
                  <a:srgbClr val="FF3300"/>
                </a:solidFill>
                <a:latin typeface="Comic Sans MS" pitchFamily="66" charset="0"/>
              </a:rPr>
              <a:t>。</a:t>
            </a:r>
            <a:r>
              <a:rPr lang="en-US" altLang="zh-CN" sz="2800" b="1" dirty="0" smtClean="0">
                <a:latin typeface="Comic Sans MS" pitchFamily="66" charset="0"/>
              </a:rPr>
              <a:t> </a:t>
            </a:r>
            <a:r>
              <a:rPr kumimoji="0" lang="en-US" altLang="zh-CN" sz="2800" b="1" dirty="0">
                <a:latin typeface="Comic Sans MS" pitchFamily="66" charset="0"/>
              </a:rPr>
              <a:t>(may </a:t>
            </a:r>
            <a:r>
              <a:rPr kumimoji="0" lang="en-US" altLang="zh-CN" sz="2800" b="1" dirty="0">
                <a:solidFill>
                  <a:schemeClr val="accent2"/>
                </a:solidFill>
                <a:latin typeface="Comic Sans MS" pitchFamily="66" charset="0"/>
              </a:rPr>
              <a:t>less than  or greater that </a:t>
            </a:r>
            <a:r>
              <a:rPr kumimoji="0" lang="en-US" altLang="zh-CN" sz="2800" b="1" dirty="0">
                <a:latin typeface="Comic Sans MS" pitchFamily="66" charset="0"/>
              </a:rPr>
              <a:t>)</a:t>
            </a:r>
            <a:endParaRPr lang="en-US" altLang="zh-CN" sz="2800" b="1" dirty="0">
              <a:latin typeface="Comic Sans MS" pitchFamily="66" charset="0"/>
            </a:endParaRPr>
          </a:p>
          <a:p>
            <a:pPr>
              <a:buFontTx/>
              <a:buNone/>
            </a:pPr>
            <a:r>
              <a:rPr lang="en-US" altLang="zh-CN" sz="2800" b="1" dirty="0">
                <a:latin typeface="Comic Sans MS" pitchFamily="66" charset="0"/>
              </a:rPr>
              <a:t>    </a:t>
            </a:r>
            <a:r>
              <a:rPr lang="zh-CN" altLang="en-US" sz="2800" b="1" dirty="0" smtClean="0">
                <a:latin typeface="Comic Sans MS" pitchFamily="66" charset="0"/>
              </a:rPr>
              <a:t>因此：</a:t>
            </a:r>
            <a:endParaRPr lang="en-US" altLang="zh-CN" sz="2800" b="1" dirty="0" smtClean="0">
              <a:latin typeface="Comic Sans MS" pitchFamily="66" charset="0"/>
            </a:endParaRPr>
          </a:p>
          <a:p>
            <a:pPr>
              <a:buFontTx/>
              <a:buNone/>
            </a:pPr>
            <a:endParaRPr lang="en-US" altLang="zh-CN" sz="2800" b="1" dirty="0">
              <a:latin typeface="Comic Sans MS" pitchFamily="66" charset="0"/>
            </a:endParaRPr>
          </a:p>
          <a:p>
            <a:endParaRPr lang="en-US" altLang="zh-CN" sz="2800" b="1" dirty="0">
              <a:latin typeface="Comic Sans MS" pitchFamily="66" charset="0"/>
            </a:endParaRPr>
          </a:p>
          <a:p>
            <a:endParaRPr lang="en-US" altLang="zh-CN" sz="2800" b="1" dirty="0">
              <a:latin typeface="Comic Sans MS" pitchFamily="66" charset="0"/>
            </a:endParaRPr>
          </a:p>
          <a:p>
            <a:r>
              <a:rPr lang="zh-CN" altLang="en-US" sz="2800" b="1" i="1" dirty="0" smtClean="0">
                <a:latin typeface="Comic Sans MS" pitchFamily="66" charset="0"/>
              </a:rPr>
              <a:t>忽略</a:t>
            </a:r>
            <a:r>
              <a:rPr lang="zh-CN" altLang="en-US" sz="2800" b="1" i="1" dirty="0" smtClean="0">
                <a:solidFill>
                  <a:srgbClr val="C00000"/>
                </a:solidFill>
                <a:latin typeface="Comic Sans MS" pitchFamily="66" charset="0"/>
              </a:rPr>
              <a:t>流水线时钟周期</a:t>
            </a:r>
            <a:r>
              <a:rPr lang="zh-CN" altLang="en-US" sz="2800" b="1" i="1" dirty="0" smtClean="0">
                <a:latin typeface="Comic Sans MS" pitchFamily="66" charset="0"/>
              </a:rPr>
              <a:t>的</a:t>
            </a:r>
            <a:r>
              <a:rPr lang="zh-CN" altLang="en-US" sz="2800" b="1" i="1" dirty="0" smtClean="0">
                <a:solidFill>
                  <a:srgbClr val="C00000"/>
                </a:solidFill>
                <a:latin typeface="Comic Sans MS" pitchFamily="66" charset="0"/>
              </a:rPr>
              <a:t>额外开销</a:t>
            </a:r>
            <a:r>
              <a:rPr lang="zh-CN" altLang="en-US" sz="2800" b="1" i="1" dirty="0" smtClean="0">
                <a:latin typeface="Comic Sans MS" pitchFamily="66" charset="0"/>
              </a:rPr>
              <a:t>。</a:t>
            </a:r>
            <a:endParaRPr lang="en-US" altLang="zh-CN" sz="2800" b="1" i="1" dirty="0">
              <a:latin typeface="Comic Sans MS" pitchFamily="66" charset="0"/>
            </a:endParaRPr>
          </a:p>
          <a:p>
            <a:r>
              <a:rPr lang="zh-CN" altLang="en-US" sz="2800" b="1" i="1" dirty="0" smtClean="0">
                <a:latin typeface="Comic Sans MS" pitchFamily="66" charset="0"/>
              </a:rPr>
              <a:t>流水段是理想平衡的。</a:t>
            </a:r>
            <a:endParaRPr lang="en-US" altLang="zh-CN" sz="2800" b="1" i="1" dirty="0">
              <a:latin typeface="Comic Sans MS" pitchFamily="66" charset="0"/>
            </a:endParaRPr>
          </a:p>
          <a:p>
            <a:pPr>
              <a:buFontTx/>
              <a:buNone/>
            </a:pPr>
            <a:r>
              <a:rPr lang="en-US" altLang="zh-CN" sz="2800" dirty="0">
                <a:latin typeface="Comic Sans MS" pitchFamily="66" charset="0"/>
              </a:rPr>
              <a:t>  </a:t>
            </a:r>
          </a:p>
        </p:txBody>
      </p:sp>
      <p:pic>
        <p:nvPicPr>
          <p:cNvPr id="11268" name="Picture 4" descr="chap3_2-4n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662" y="3214686"/>
            <a:ext cx="7815266" cy="11430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51</a:t>
            </a:fld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214282" y="5572140"/>
            <a:ext cx="85344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 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因此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Clock cycle </a:t>
            </a:r>
            <a:r>
              <a:rPr kumimoji="0" lang="en-US" altLang="zh-CN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unpipelined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 = Clock cycle pipelining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zh-C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1066800"/>
          </a:xfrm>
        </p:spPr>
        <p:txBody>
          <a:bodyPr/>
          <a:lstStyle/>
          <a:p>
            <a:pPr>
              <a:buFontTx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有</a:t>
            </a:r>
            <a:r>
              <a:rPr lang="zh-CN" altLang="en-US" sz="2400" b="1" dirty="0" smtClean="0">
                <a:solidFill>
                  <a:srgbClr val="0070C0"/>
                </a:solidFill>
                <a:latin typeface="Comic Sans MS" pitchFamily="66" charset="0"/>
              </a:rPr>
              <a:t>：</a:t>
            </a:r>
            <a:r>
              <a:rPr lang="en-US" altLang="zh-CN" sz="2400" dirty="0" smtClean="0">
                <a:solidFill>
                  <a:srgbClr val="0070C0"/>
                </a:solidFill>
                <a:latin typeface="Comic Sans MS" pitchFamily="66" charset="0"/>
              </a:rPr>
              <a:t> </a:t>
            </a:r>
            <a:r>
              <a:rPr lang="en-US" altLang="zh-CN" sz="2400" dirty="0">
                <a:solidFill>
                  <a:srgbClr val="0070C0"/>
                </a:solidFill>
                <a:latin typeface="Comic Sans MS" pitchFamily="66" charset="0"/>
              </a:rPr>
              <a:t>Clock cycle </a:t>
            </a:r>
            <a:r>
              <a:rPr lang="en-US" altLang="zh-CN" sz="2400" dirty="0" err="1">
                <a:solidFill>
                  <a:srgbClr val="0070C0"/>
                </a:solidFill>
                <a:latin typeface="Comic Sans MS" pitchFamily="66" charset="0"/>
              </a:rPr>
              <a:t>unpipelined</a:t>
            </a:r>
            <a:r>
              <a:rPr lang="en-US" altLang="zh-CN" sz="2400" dirty="0">
                <a:solidFill>
                  <a:srgbClr val="0070C0"/>
                </a:solidFill>
                <a:latin typeface="Comic Sans MS" pitchFamily="66" charset="0"/>
              </a:rPr>
              <a:t> = Clock cycle pipelining</a:t>
            </a:r>
          </a:p>
          <a:p>
            <a:endParaRPr lang="en-US" altLang="zh-CN" dirty="0">
              <a:latin typeface="Comic Sans MS" pitchFamily="66" charset="0"/>
            </a:endParaRPr>
          </a:p>
          <a:p>
            <a:endParaRPr lang="en-US" altLang="zh-CN" dirty="0">
              <a:latin typeface="Comic Sans MS" pitchFamily="66" charset="0"/>
            </a:endParaRPr>
          </a:p>
          <a:p>
            <a:pPr>
              <a:buFontTx/>
              <a:buNone/>
            </a:pPr>
            <a:endParaRPr lang="en-US" altLang="zh-CN" sz="3600" dirty="0"/>
          </a:p>
        </p:txBody>
      </p:sp>
      <p:pic>
        <p:nvPicPr>
          <p:cNvPr id="69636" name="Picture 4" descr="chap3_2-5ne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2" y="2492375"/>
            <a:ext cx="717235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637" name="Picture 5" descr="chap3_2-6ne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34" y="4652963"/>
            <a:ext cx="7858180" cy="1276368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611188" y="3789362"/>
            <a:ext cx="66754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2800" dirty="0" err="1"/>
              <a:t>CPl</a:t>
            </a:r>
            <a:r>
              <a:rPr lang="en-US" altLang="zh-CN" sz="2800" dirty="0"/>
              <a:t> </a:t>
            </a:r>
            <a:r>
              <a:rPr lang="en-US" altLang="zh-CN" sz="2800" dirty="0" err="1"/>
              <a:t>unpipelined</a:t>
            </a:r>
            <a:r>
              <a:rPr lang="en-US" altLang="zh-CN" sz="2800" dirty="0"/>
              <a:t> = pipeline depth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/>
              <a:t>非流水线是多周期实现的情况</a:t>
            </a:r>
            <a:endParaRPr lang="en-US" altLang="zh-CN" sz="4000" b="1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28572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4000" b="1" dirty="0" smtClean="0"/>
              <a:t>二、结构冒险：流水段竞争</a:t>
            </a:r>
            <a:endParaRPr lang="en-US" altLang="zh-CN" sz="4000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Comic Sans MS" pitchFamily="66" charset="0"/>
              </a:rPr>
              <a:t>Structural hazards</a:t>
            </a:r>
            <a:endParaRPr lang="en-US" altLang="zh-CN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6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发生在同一个时钟周期，</a:t>
            </a:r>
            <a:r>
              <a:rPr lang="en-US" altLang="zh-CN" b="1" dirty="0" smtClean="0">
                <a:solidFill>
                  <a:srgbClr val="000000"/>
                </a:solidFill>
                <a:latin typeface="Comic Sans MS" pitchFamily="66" charset="0"/>
              </a:rPr>
              <a:t>2</a:t>
            </a: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条或多条指令想要使用同一个硬件资源</a:t>
            </a:r>
            <a:endParaRPr lang="en-US" altLang="zh-CN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6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引起流水线机器停顿</a:t>
            </a:r>
            <a:endParaRPr lang="en-US" altLang="zh-CN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6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常见引起结构冒险的情况：</a:t>
            </a:r>
            <a:endParaRPr lang="en-US" altLang="zh-CN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2">
              <a:lnSpc>
                <a:spcPts val="36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多重访问寄存器堆</a:t>
            </a:r>
            <a:endParaRPr lang="en-US" altLang="zh-CN" b="1" dirty="0">
              <a:solidFill>
                <a:srgbClr val="C00000"/>
              </a:solidFill>
              <a:latin typeface="Comic Sans MS" pitchFamily="66" charset="0"/>
            </a:endParaRPr>
          </a:p>
          <a:p>
            <a:pPr lvl="2">
              <a:lnSpc>
                <a:spcPts val="36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多重访问存储器</a:t>
            </a:r>
            <a:endParaRPr lang="en-US" altLang="zh-CN" b="1" dirty="0" smtClean="0">
              <a:solidFill>
                <a:srgbClr val="C00000"/>
              </a:solidFill>
              <a:latin typeface="Comic Sans MS" pitchFamily="66" charset="0"/>
            </a:endParaRPr>
          </a:p>
          <a:p>
            <a:pPr lvl="2">
              <a:lnSpc>
                <a:spcPts val="36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没有或没有充分流水功能部件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寄存器堆的多重访问</a:t>
            </a:r>
            <a:endParaRPr lang="en-US" altLang="zh-CN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5410200"/>
            <a:ext cx="8534400" cy="990600"/>
          </a:xfrm>
        </p:spPr>
        <p:txBody>
          <a:bodyPr>
            <a:normAutofit/>
          </a:bodyPr>
          <a:lstStyle/>
          <a:p>
            <a:r>
              <a:rPr lang="zh-CN" altLang="en-US" sz="2400" b="1" dirty="0" smtClean="0">
                <a:latin typeface="Comic Sans MS" pitchFamily="66" charset="0"/>
              </a:rPr>
              <a:t>简单插入停顿，将降低加速比</a:t>
            </a:r>
            <a:endParaRPr lang="en-US" altLang="zh-CN" sz="2400" b="1" dirty="0">
              <a:latin typeface="Comic Sans MS" pitchFamily="66" charset="0"/>
            </a:endParaRPr>
          </a:p>
          <a:p>
            <a:r>
              <a:rPr lang="zh-CN" altLang="en-US" sz="2400" b="1" dirty="0" smtClean="0">
                <a:latin typeface="Comic Sans MS" pitchFamily="66" charset="0"/>
              </a:rPr>
              <a:t>在一个时钟周期</a:t>
            </a:r>
            <a:r>
              <a:rPr lang="en-US" altLang="zh-CN" sz="2400" b="1" dirty="0" smtClean="0">
                <a:solidFill>
                  <a:srgbClr val="FF0000"/>
                </a:solidFill>
                <a:latin typeface="Comic Sans MS" pitchFamily="66" charset="0"/>
              </a:rPr>
              <a:t>WB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段先写，</a:t>
            </a:r>
            <a:r>
              <a:rPr lang="en-US" altLang="zh-CN" sz="2400" b="1" dirty="0" smtClean="0">
                <a:solidFill>
                  <a:srgbClr val="FF0000"/>
                </a:solidFill>
                <a:latin typeface="Comic Sans MS" pitchFamily="66" charset="0"/>
              </a:rPr>
              <a:t>ID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段后读</a:t>
            </a:r>
            <a:endParaRPr lang="en-US" altLang="zh-CN" b="1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62000" y="1447800"/>
            <a:ext cx="7543800" cy="3886200"/>
            <a:chOff x="672" y="1536"/>
            <a:chExt cx="4512" cy="2448"/>
          </a:xfrm>
        </p:grpSpPr>
        <p:pic>
          <p:nvPicPr>
            <p:cNvPr id="15365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1536"/>
              <a:ext cx="4512" cy="2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366" name="Rectangle 6"/>
            <p:cNvSpPr>
              <a:spLocks noChangeArrowheads="1"/>
            </p:cNvSpPr>
            <p:nvPr/>
          </p:nvSpPr>
          <p:spPr bwMode="auto">
            <a:xfrm>
              <a:off x="4368" y="3840"/>
              <a:ext cx="240" cy="14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 smtClean="0">
                <a:latin typeface="Comic Sans MS" pitchFamily="66" charset="0"/>
              </a:rPr>
              <a:t>在一个时钟周期</a:t>
            </a:r>
            <a:r>
              <a:rPr lang="en-US" altLang="zh-CN" sz="3600" b="1" dirty="0" smtClean="0">
                <a:solidFill>
                  <a:srgbClr val="FF0000"/>
                </a:solidFill>
                <a:latin typeface="Comic Sans MS" pitchFamily="66" charset="0"/>
              </a:rPr>
              <a:t>WB</a:t>
            </a:r>
            <a:r>
              <a:rPr lang="zh-CN" altLang="en-US" sz="3600" b="1" dirty="0" smtClean="0">
                <a:solidFill>
                  <a:srgbClr val="FF0000"/>
                </a:solidFill>
                <a:latin typeface="Comic Sans MS" pitchFamily="66" charset="0"/>
              </a:rPr>
              <a:t>段先写，</a:t>
            </a:r>
            <a:r>
              <a:rPr lang="en-US" altLang="zh-CN" sz="3600" b="1" dirty="0" smtClean="0">
                <a:solidFill>
                  <a:srgbClr val="FF0000"/>
                </a:solidFill>
                <a:latin typeface="Comic Sans MS" pitchFamily="66" charset="0"/>
              </a:rPr>
              <a:t>ID</a:t>
            </a:r>
            <a:r>
              <a:rPr lang="zh-CN" altLang="en-US" sz="3600" b="1" dirty="0" smtClean="0">
                <a:solidFill>
                  <a:srgbClr val="FF0000"/>
                </a:solidFill>
                <a:latin typeface="Comic Sans MS" pitchFamily="66" charset="0"/>
              </a:rPr>
              <a:t>段后读</a:t>
            </a:r>
            <a:endParaRPr lang="en-US" altLang="zh-CN" sz="3600" dirty="0"/>
          </a:p>
        </p:txBody>
      </p:sp>
      <p:pic>
        <p:nvPicPr>
          <p:cNvPr id="1638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981200"/>
            <a:ext cx="8534400" cy="3154363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多重访问单端口存储器</a:t>
            </a:r>
            <a:endParaRPr lang="en-US" altLang="zh-CN" sz="4000" b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4857760"/>
            <a:ext cx="8534400" cy="1676400"/>
          </a:xfrm>
        </p:spPr>
        <p:txBody>
          <a:bodyPr>
            <a:normAutofit lnSpcReduction="10000"/>
          </a:bodyPr>
          <a:lstStyle/>
          <a:p>
            <a:r>
              <a:rPr lang="zh-CN" altLang="en-US" sz="2400" b="1" dirty="0" smtClean="0">
                <a:latin typeface="Comic Sans MS" pitchFamily="66" charset="0"/>
              </a:rPr>
              <a:t>插入停顿</a:t>
            </a:r>
            <a:endParaRPr lang="en-US" altLang="zh-CN" sz="2400" b="1" dirty="0" smtClean="0">
              <a:latin typeface="Comic Sans MS" pitchFamily="66" charset="0"/>
            </a:endParaRPr>
          </a:p>
          <a:p>
            <a:r>
              <a:rPr lang="zh-CN" altLang="en-US" sz="2400" b="1" dirty="0" smtClean="0">
                <a:latin typeface="Comic Sans MS" pitchFamily="66" charset="0"/>
              </a:rPr>
              <a:t>提供另一个存储器端口</a:t>
            </a:r>
            <a:endParaRPr lang="en-US" altLang="zh-CN" sz="2400" b="1" dirty="0">
              <a:latin typeface="Comic Sans MS" pitchFamily="66" charset="0"/>
            </a:endParaRPr>
          </a:p>
          <a:p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分开的指令存储器和数据存储器</a:t>
            </a:r>
            <a:endParaRPr lang="en-US" altLang="zh-CN" sz="2400" b="1" dirty="0">
              <a:solidFill>
                <a:srgbClr val="FF0000"/>
              </a:solidFill>
              <a:latin typeface="Comic Sans MS" pitchFamily="66" charset="0"/>
            </a:endParaRPr>
          </a:p>
          <a:p>
            <a:r>
              <a:rPr lang="zh-CN" altLang="en-US" sz="2400" b="1" dirty="0" smtClean="0">
                <a:latin typeface="Comic Sans MS" pitchFamily="66" charset="0"/>
              </a:rPr>
              <a:t>使用指令缓冲器</a:t>
            </a:r>
            <a:endParaRPr lang="en-US" altLang="zh-CN" sz="2400" b="1" dirty="0">
              <a:latin typeface="Comic Sans MS" pitchFamily="66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5800" y="1371600"/>
            <a:ext cx="7454900" cy="3252788"/>
            <a:chOff x="480" y="1776"/>
            <a:chExt cx="4696" cy="2049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825" y="2231"/>
              <a:ext cx="340" cy="259"/>
              <a:chOff x="2624" y="1200"/>
              <a:chExt cx="340" cy="294"/>
            </a:xfrm>
          </p:grpSpPr>
          <p:sp>
            <p:nvSpPr>
              <p:cNvPr id="17414" name="Freeform 6"/>
              <p:cNvSpPr>
                <a:spLocks/>
              </p:cNvSpPr>
              <p:nvPr/>
            </p:nvSpPr>
            <p:spPr bwMode="auto">
              <a:xfrm>
                <a:off x="2816" y="1205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2624" y="1200"/>
                <a:ext cx="340" cy="289"/>
                <a:chOff x="2624" y="1200"/>
                <a:chExt cx="340" cy="289"/>
              </a:xfrm>
            </p:grpSpPr>
            <p:sp>
              <p:nvSpPr>
                <p:cNvPr id="17416" name="Freeform 8"/>
                <p:cNvSpPr>
                  <a:spLocks/>
                </p:cNvSpPr>
                <p:nvPr/>
              </p:nvSpPr>
              <p:spPr bwMode="auto">
                <a:xfrm>
                  <a:off x="2624" y="1200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17" name="Freeform 9"/>
                <p:cNvSpPr>
                  <a:spLocks/>
                </p:cNvSpPr>
                <p:nvPr/>
              </p:nvSpPr>
              <p:spPr bwMode="auto">
                <a:xfrm>
                  <a:off x="2793" y="1200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" name="Group 10"/>
            <p:cNvGrpSpPr>
              <a:grpSpLocks/>
            </p:cNvGrpSpPr>
            <p:nvPr/>
          </p:nvGrpSpPr>
          <p:grpSpPr bwMode="auto">
            <a:xfrm>
              <a:off x="2825" y="3457"/>
              <a:ext cx="340" cy="259"/>
              <a:chOff x="2624" y="2592"/>
              <a:chExt cx="340" cy="294"/>
            </a:xfrm>
          </p:grpSpPr>
          <p:sp>
            <p:nvSpPr>
              <p:cNvPr id="17419" name="Freeform 11"/>
              <p:cNvSpPr>
                <a:spLocks/>
              </p:cNvSpPr>
              <p:nvPr/>
            </p:nvSpPr>
            <p:spPr bwMode="auto">
              <a:xfrm>
                <a:off x="2816" y="2597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" name="Group 12"/>
              <p:cNvGrpSpPr>
                <a:grpSpLocks/>
              </p:cNvGrpSpPr>
              <p:nvPr/>
            </p:nvGrpSpPr>
            <p:grpSpPr bwMode="auto">
              <a:xfrm>
                <a:off x="2624" y="2592"/>
                <a:ext cx="340" cy="289"/>
                <a:chOff x="2624" y="2592"/>
                <a:chExt cx="340" cy="289"/>
              </a:xfrm>
            </p:grpSpPr>
            <p:sp>
              <p:nvSpPr>
                <p:cNvPr id="17421" name="Freeform 13"/>
                <p:cNvSpPr>
                  <a:spLocks/>
                </p:cNvSpPr>
                <p:nvPr/>
              </p:nvSpPr>
              <p:spPr bwMode="auto">
                <a:xfrm>
                  <a:off x="2624" y="2592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22" name="Freeform 14"/>
                <p:cNvSpPr>
                  <a:spLocks/>
                </p:cNvSpPr>
                <p:nvPr/>
              </p:nvSpPr>
              <p:spPr bwMode="auto">
                <a:xfrm>
                  <a:off x="2793" y="2592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7423" name="Rectangle 15"/>
            <p:cNvSpPr>
              <a:spLocks noChangeArrowheads="1"/>
            </p:cNvSpPr>
            <p:nvPr/>
          </p:nvSpPr>
          <p:spPr bwMode="auto">
            <a:xfrm>
              <a:off x="2806" y="3459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Mem</a:t>
              </a:r>
            </a:p>
          </p:txBody>
        </p:sp>
        <p:sp>
          <p:nvSpPr>
            <p:cNvPr id="17424" name="Rectangle 16"/>
            <p:cNvSpPr>
              <a:spLocks noChangeArrowheads="1"/>
            </p:cNvSpPr>
            <p:nvPr/>
          </p:nvSpPr>
          <p:spPr bwMode="auto">
            <a:xfrm>
              <a:off x="480" y="2251"/>
              <a:ext cx="226" cy="1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I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n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s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t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r.</a:t>
              </a:r>
            </a:p>
            <a:p>
              <a:pPr algn="ctr">
                <a:lnSpc>
                  <a:spcPct val="80000"/>
                </a:lnSpc>
              </a:pPr>
              <a:endParaRPr lang="en-US" altLang="zh-CN" sz="1800" i="1">
                <a:latin typeface="Arial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O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r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d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e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r</a:t>
              </a:r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 flipH="1">
              <a:off x="768" y="2256"/>
              <a:ext cx="0" cy="1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6" name="Line 18"/>
            <p:cNvSpPr>
              <a:spLocks noChangeShapeType="1"/>
            </p:cNvSpPr>
            <p:nvPr/>
          </p:nvSpPr>
          <p:spPr bwMode="auto">
            <a:xfrm>
              <a:off x="1200" y="2016"/>
              <a:ext cx="3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27" name="Rectangle 19"/>
            <p:cNvSpPr>
              <a:spLocks noChangeArrowheads="1"/>
            </p:cNvSpPr>
            <p:nvPr/>
          </p:nvSpPr>
          <p:spPr bwMode="auto">
            <a:xfrm>
              <a:off x="2400" y="1776"/>
              <a:ext cx="1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800" i="1">
                  <a:latin typeface="Arial" charset="0"/>
                </a:rPr>
                <a:t>Time (clock cycles)</a:t>
              </a:r>
            </a:p>
          </p:txBody>
        </p:sp>
        <p:sp>
          <p:nvSpPr>
            <p:cNvPr id="17428" name="Rectangle 20"/>
            <p:cNvSpPr>
              <a:spLocks noChangeArrowheads="1"/>
            </p:cNvSpPr>
            <p:nvPr/>
          </p:nvSpPr>
          <p:spPr bwMode="auto">
            <a:xfrm>
              <a:off x="780" y="2321"/>
              <a:ext cx="65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/>
                <a:t>Ld/St</a:t>
              </a:r>
              <a:endParaRPr lang="en-US" altLang="zh-CN" sz="2800" b="1">
                <a:latin typeface="Arial" charset="0"/>
              </a:endParaRPr>
            </a:p>
          </p:txBody>
        </p:sp>
        <p:sp>
          <p:nvSpPr>
            <p:cNvPr id="17429" name="Rectangle 21"/>
            <p:cNvSpPr>
              <a:spLocks noChangeArrowheads="1"/>
            </p:cNvSpPr>
            <p:nvPr/>
          </p:nvSpPr>
          <p:spPr bwMode="auto">
            <a:xfrm>
              <a:off x="764" y="2687"/>
              <a:ext cx="73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/>
                <a:t>Instr 1</a:t>
              </a:r>
              <a:endParaRPr lang="en-US" altLang="zh-CN" sz="2800" b="1">
                <a:latin typeface="Arial" charset="0"/>
              </a:endParaRPr>
            </a:p>
          </p:txBody>
        </p:sp>
        <p:sp>
          <p:nvSpPr>
            <p:cNvPr id="17430" name="Rectangle 22"/>
            <p:cNvSpPr>
              <a:spLocks noChangeArrowheads="1"/>
            </p:cNvSpPr>
            <p:nvPr/>
          </p:nvSpPr>
          <p:spPr bwMode="auto">
            <a:xfrm>
              <a:off x="756" y="3096"/>
              <a:ext cx="76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/>
                <a:t>Instr 2</a:t>
              </a:r>
              <a:endParaRPr lang="en-US" altLang="zh-CN" sz="2800" b="1">
                <a:latin typeface="Arial" charset="0"/>
              </a:endParaRPr>
            </a:p>
          </p:txBody>
        </p:sp>
        <p:sp>
          <p:nvSpPr>
            <p:cNvPr id="17431" name="Rectangle 23"/>
            <p:cNvSpPr>
              <a:spLocks noChangeArrowheads="1"/>
            </p:cNvSpPr>
            <p:nvPr/>
          </p:nvSpPr>
          <p:spPr bwMode="auto">
            <a:xfrm>
              <a:off x="799" y="3474"/>
              <a:ext cx="76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/>
                <a:t>Instr 3</a:t>
              </a:r>
              <a:endParaRPr lang="en-US" altLang="zh-CN" sz="2800" b="1">
                <a:latin typeface="Arial" charset="0"/>
              </a:endParaRPr>
            </a:p>
          </p:txBody>
        </p:sp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1920" y="2064"/>
              <a:ext cx="3024" cy="1728"/>
              <a:chOff x="1929" y="1985"/>
              <a:chExt cx="3024" cy="2479"/>
            </a:xfrm>
          </p:grpSpPr>
          <p:sp>
            <p:nvSpPr>
              <p:cNvPr id="17433" name="Line 25"/>
              <p:cNvSpPr>
                <a:spLocks noChangeShapeType="1"/>
              </p:cNvSpPr>
              <p:nvPr/>
            </p:nvSpPr>
            <p:spPr bwMode="auto">
              <a:xfrm>
                <a:off x="192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4" name="Line 26"/>
              <p:cNvSpPr>
                <a:spLocks noChangeShapeType="1"/>
              </p:cNvSpPr>
              <p:nvPr/>
            </p:nvSpPr>
            <p:spPr bwMode="auto">
              <a:xfrm>
                <a:off x="236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5" name="Line 27"/>
              <p:cNvSpPr>
                <a:spLocks noChangeShapeType="1"/>
              </p:cNvSpPr>
              <p:nvPr/>
            </p:nvSpPr>
            <p:spPr bwMode="auto">
              <a:xfrm>
                <a:off x="279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6" name="Line 28"/>
              <p:cNvSpPr>
                <a:spLocks noChangeShapeType="1"/>
              </p:cNvSpPr>
              <p:nvPr/>
            </p:nvSpPr>
            <p:spPr bwMode="auto">
              <a:xfrm>
                <a:off x="3225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7" name="Line 29"/>
              <p:cNvSpPr>
                <a:spLocks noChangeShapeType="1"/>
              </p:cNvSpPr>
              <p:nvPr/>
            </p:nvSpPr>
            <p:spPr bwMode="auto">
              <a:xfrm>
                <a:off x="3657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8" name="Line 30"/>
              <p:cNvSpPr>
                <a:spLocks noChangeShapeType="1"/>
              </p:cNvSpPr>
              <p:nvPr/>
            </p:nvSpPr>
            <p:spPr bwMode="auto">
              <a:xfrm>
                <a:off x="408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39" name="Line 31"/>
              <p:cNvSpPr>
                <a:spLocks noChangeShapeType="1"/>
              </p:cNvSpPr>
              <p:nvPr/>
            </p:nvSpPr>
            <p:spPr bwMode="auto">
              <a:xfrm>
                <a:off x="452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40" name="Line 32"/>
              <p:cNvSpPr>
                <a:spLocks noChangeShapeType="1"/>
              </p:cNvSpPr>
              <p:nvPr/>
            </p:nvSpPr>
            <p:spPr bwMode="auto">
              <a:xfrm>
                <a:off x="495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33"/>
            <p:cNvGrpSpPr>
              <a:grpSpLocks/>
            </p:cNvGrpSpPr>
            <p:nvPr/>
          </p:nvGrpSpPr>
          <p:grpSpPr bwMode="auto">
            <a:xfrm>
              <a:off x="2457" y="2189"/>
              <a:ext cx="226" cy="423"/>
              <a:chOff x="2256" y="1152"/>
              <a:chExt cx="226" cy="481"/>
            </a:xfrm>
          </p:grpSpPr>
          <p:sp>
            <p:nvSpPr>
              <p:cNvPr id="17442" name="Freeform 34"/>
              <p:cNvSpPr>
                <a:spLocks/>
              </p:cNvSpPr>
              <p:nvPr/>
            </p:nvSpPr>
            <p:spPr bwMode="auto">
              <a:xfrm>
                <a:off x="2269" y="1152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43" name="Rectangle 35"/>
              <p:cNvSpPr>
                <a:spLocks noChangeArrowheads="1"/>
              </p:cNvSpPr>
              <p:nvPr/>
            </p:nvSpPr>
            <p:spPr bwMode="auto">
              <a:xfrm rot="5400000">
                <a:off x="2147" y="1296"/>
                <a:ext cx="42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ALU</a:t>
                </a:r>
              </a:p>
            </p:txBody>
          </p:sp>
        </p:grpSp>
        <p:grpSp>
          <p:nvGrpSpPr>
            <p:cNvPr id="9" name="Group 36"/>
            <p:cNvGrpSpPr>
              <a:grpSpLocks/>
            </p:cNvGrpSpPr>
            <p:nvPr/>
          </p:nvGrpSpPr>
          <p:grpSpPr bwMode="auto">
            <a:xfrm>
              <a:off x="1525" y="2273"/>
              <a:ext cx="406" cy="255"/>
              <a:chOff x="1324" y="1248"/>
              <a:chExt cx="406" cy="289"/>
            </a:xfrm>
          </p:grpSpPr>
          <p:sp>
            <p:nvSpPr>
              <p:cNvPr id="17445" name="Rectangle 37"/>
              <p:cNvSpPr>
                <a:spLocks noChangeArrowheads="1"/>
              </p:cNvSpPr>
              <p:nvPr/>
            </p:nvSpPr>
            <p:spPr bwMode="auto">
              <a:xfrm>
                <a:off x="1324" y="1250"/>
                <a:ext cx="40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Mem</a:t>
                </a:r>
              </a:p>
            </p:txBody>
          </p:sp>
          <p:grpSp>
            <p:nvGrpSpPr>
              <p:cNvPr id="10" name="Group 38"/>
              <p:cNvGrpSpPr>
                <a:grpSpLocks/>
              </p:cNvGrpSpPr>
              <p:nvPr/>
            </p:nvGrpSpPr>
            <p:grpSpPr bwMode="auto">
              <a:xfrm>
                <a:off x="1343" y="1248"/>
                <a:ext cx="340" cy="289"/>
                <a:chOff x="1343" y="1248"/>
                <a:chExt cx="340" cy="289"/>
              </a:xfrm>
            </p:grpSpPr>
            <p:sp>
              <p:nvSpPr>
                <p:cNvPr id="17447" name="Freeform 39"/>
                <p:cNvSpPr>
                  <a:spLocks/>
                </p:cNvSpPr>
                <p:nvPr/>
              </p:nvSpPr>
              <p:spPr bwMode="auto">
                <a:xfrm>
                  <a:off x="1343" y="1248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48" name="Freeform 40"/>
                <p:cNvSpPr>
                  <a:spLocks/>
                </p:cNvSpPr>
                <p:nvPr/>
              </p:nvSpPr>
              <p:spPr bwMode="auto">
                <a:xfrm>
                  <a:off x="1512" y="1248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7449" name="Rectangle 41"/>
            <p:cNvSpPr>
              <a:spLocks noChangeArrowheads="1"/>
            </p:cNvSpPr>
            <p:nvPr/>
          </p:nvSpPr>
          <p:spPr bwMode="auto">
            <a:xfrm>
              <a:off x="1985" y="2280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11" name="Group 42"/>
            <p:cNvGrpSpPr>
              <a:grpSpLocks/>
            </p:cNvGrpSpPr>
            <p:nvPr/>
          </p:nvGrpSpPr>
          <p:grpSpPr bwMode="auto">
            <a:xfrm>
              <a:off x="2004" y="2273"/>
              <a:ext cx="296" cy="255"/>
              <a:chOff x="1803" y="1248"/>
              <a:chExt cx="296" cy="289"/>
            </a:xfrm>
          </p:grpSpPr>
          <p:sp>
            <p:nvSpPr>
              <p:cNvPr id="17451" name="Freeform 43"/>
              <p:cNvSpPr>
                <a:spLocks/>
              </p:cNvSpPr>
              <p:nvPr/>
            </p:nvSpPr>
            <p:spPr bwMode="auto">
              <a:xfrm>
                <a:off x="1803" y="1248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52" name="Freeform 44"/>
              <p:cNvSpPr>
                <a:spLocks/>
              </p:cNvSpPr>
              <p:nvPr/>
            </p:nvSpPr>
            <p:spPr bwMode="auto">
              <a:xfrm>
                <a:off x="1951" y="1248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53" name="Line 45"/>
            <p:cNvSpPr>
              <a:spLocks noChangeShapeType="1"/>
            </p:cNvSpPr>
            <p:nvPr/>
          </p:nvSpPr>
          <p:spPr bwMode="auto">
            <a:xfrm>
              <a:off x="1889" y="240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4" name="Freeform 46"/>
            <p:cNvSpPr>
              <a:spLocks/>
            </p:cNvSpPr>
            <p:nvPr/>
          </p:nvSpPr>
          <p:spPr bwMode="auto">
            <a:xfrm>
              <a:off x="1951" y="2316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55" name="Line 47"/>
            <p:cNvSpPr>
              <a:spLocks noChangeShapeType="1"/>
            </p:cNvSpPr>
            <p:nvPr/>
          </p:nvSpPr>
          <p:spPr bwMode="auto">
            <a:xfrm>
              <a:off x="2305" y="2316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6" name="Rectangle 48"/>
            <p:cNvSpPr>
              <a:spLocks noChangeArrowheads="1"/>
            </p:cNvSpPr>
            <p:nvPr/>
          </p:nvSpPr>
          <p:spPr bwMode="auto">
            <a:xfrm>
              <a:off x="2802" y="2275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Mem</a:t>
              </a:r>
            </a:p>
          </p:txBody>
        </p:sp>
        <p:sp>
          <p:nvSpPr>
            <p:cNvPr id="17457" name="Rectangle 49"/>
            <p:cNvSpPr>
              <a:spLocks noChangeArrowheads="1"/>
            </p:cNvSpPr>
            <p:nvPr/>
          </p:nvSpPr>
          <p:spPr bwMode="auto">
            <a:xfrm>
              <a:off x="3294" y="2275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12" name="Group 50"/>
            <p:cNvGrpSpPr>
              <a:grpSpLocks/>
            </p:cNvGrpSpPr>
            <p:nvPr/>
          </p:nvGrpSpPr>
          <p:grpSpPr bwMode="auto">
            <a:xfrm>
              <a:off x="3321" y="2273"/>
              <a:ext cx="284" cy="255"/>
              <a:chOff x="3120" y="1248"/>
              <a:chExt cx="284" cy="289"/>
            </a:xfrm>
          </p:grpSpPr>
          <p:sp>
            <p:nvSpPr>
              <p:cNvPr id="17459" name="Freeform 51"/>
              <p:cNvSpPr>
                <a:spLocks/>
              </p:cNvSpPr>
              <p:nvPr/>
            </p:nvSpPr>
            <p:spPr bwMode="auto">
              <a:xfrm>
                <a:off x="3120" y="1248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60" name="Freeform 52"/>
              <p:cNvSpPr>
                <a:spLocks/>
              </p:cNvSpPr>
              <p:nvPr/>
            </p:nvSpPr>
            <p:spPr bwMode="auto">
              <a:xfrm>
                <a:off x="3261" y="1248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461" name="Line 53"/>
            <p:cNvSpPr>
              <a:spLocks noChangeShapeType="1"/>
            </p:cNvSpPr>
            <p:nvPr/>
          </p:nvSpPr>
          <p:spPr bwMode="auto">
            <a:xfrm>
              <a:off x="3174" y="2400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2" name="Line 54"/>
            <p:cNvSpPr>
              <a:spLocks noChangeShapeType="1"/>
            </p:cNvSpPr>
            <p:nvPr/>
          </p:nvSpPr>
          <p:spPr bwMode="auto">
            <a:xfrm>
              <a:off x="2690" y="2400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3" name="Freeform 55"/>
            <p:cNvSpPr>
              <a:spLocks/>
            </p:cNvSpPr>
            <p:nvPr/>
          </p:nvSpPr>
          <p:spPr bwMode="auto">
            <a:xfrm>
              <a:off x="2811" y="2400"/>
              <a:ext cx="431" cy="170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64" name="Line 56"/>
            <p:cNvSpPr>
              <a:spLocks noChangeShapeType="1"/>
            </p:cNvSpPr>
            <p:nvPr/>
          </p:nvSpPr>
          <p:spPr bwMode="auto">
            <a:xfrm>
              <a:off x="2305" y="2485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5" name="Freeform 57"/>
            <p:cNvSpPr>
              <a:spLocks/>
            </p:cNvSpPr>
            <p:nvPr/>
          </p:nvSpPr>
          <p:spPr bwMode="auto">
            <a:xfrm>
              <a:off x="2398" y="2396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58"/>
            <p:cNvGrpSpPr>
              <a:grpSpLocks/>
            </p:cNvGrpSpPr>
            <p:nvPr/>
          </p:nvGrpSpPr>
          <p:grpSpPr bwMode="auto">
            <a:xfrm>
              <a:off x="1952" y="2583"/>
              <a:ext cx="2124" cy="452"/>
              <a:chOff x="1751" y="1600"/>
              <a:chExt cx="2124" cy="513"/>
            </a:xfrm>
          </p:grpSpPr>
          <p:grpSp>
            <p:nvGrpSpPr>
              <p:cNvPr id="14" name="Group 59"/>
              <p:cNvGrpSpPr>
                <a:grpSpLocks/>
              </p:cNvGrpSpPr>
              <p:nvPr/>
            </p:nvGrpSpPr>
            <p:grpSpPr bwMode="auto">
              <a:xfrm>
                <a:off x="2685" y="1600"/>
                <a:ext cx="224" cy="481"/>
                <a:chOff x="2685" y="1600"/>
                <a:chExt cx="224" cy="481"/>
              </a:xfrm>
            </p:grpSpPr>
            <p:sp>
              <p:nvSpPr>
                <p:cNvPr id="17468" name="Freeform 60"/>
                <p:cNvSpPr>
                  <a:spLocks/>
                </p:cNvSpPr>
                <p:nvPr/>
              </p:nvSpPr>
              <p:spPr bwMode="auto">
                <a:xfrm>
                  <a:off x="2696" y="1600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69" name="Rectangle 61"/>
                <p:cNvSpPr>
                  <a:spLocks noChangeArrowheads="1"/>
                </p:cNvSpPr>
                <p:nvPr/>
              </p:nvSpPr>
              <p:spPr bwMode="auto">
                <a:xfrm rot="5400000">
                  <a:off x="2576" y="1745"/>
                  <a:ext cx="4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 b="1">
                      <a:latin typeface="Arial" charset="0"/>
                    </a:rPr>
                    <a:t>ALU</a:t>
                  </a:r>
                </a:p>
              </p:txBody>
            </p:sp>
          </p:grpSp>
          <p:grpSp>
            <p:nvGrpSpPr>
              <p:cNvPr id="15" name="Group 62"/>
              <p:cNvGrpSpPr>
                <a:grpSpLocks/>
              </p:cNvGrpSpPr>
              <p:nvPr/>
            </p:nvGrpSpPr>
            <p:grpSpPr bwMode="auto">
              <a:xfrm>
                <a:off x="1751" y="1696"/>
                <a:ext cx="406" cy="289"/>
                <a:chOff x="1751" y="1696"/>
                <a:chExt cx="406" cy="289"/>
              </a:xfrm>
            </p:grpSpPr>
            <p:sp>
              <p:nvSpPr>
                <p:cNvPr id="17471" name="Rectangle 63"/>
                <p:cNvSpPr>
                  <a:spLocks noChangeArrowheads="1"/>
                </p:cNvSpPr>
                <p:nvPr/>
              </p:nvSpPr>
              <p:spPr bwMode="auto">
                <a:xfrm>
                  <a:off x="1751" y="1698"/>
                  <a:ext cx="406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 b="1">
                      <a:latin typeface="Arial" charset="0"/>
                    </a:rPr>
                    <a:t>Mem</a:t>
                  </a:r>
                </a:p>
              </p:txBody>
            </p:sp>
            <p:grpSp>
              <p:nvGrpSpPr>
                <p:cNvPr id="16" name="Group 64"/>
                <p:cNvGrpSpPr>
                  <a:grpSpLocks/>
                </p:cNvGrpSpPr>
                <p:nvPr/>
              </p:nvGrpSpPr>
              <p:grpSpPr bwMode="auto">
                <a:xfrm>
                  <a:off x="1770" y="1696"/>
                  <a:ext cx="340" cy="289"/>
                  <a:chOff x="1770" y="1696"/>
                  <a:chExt cx="340" cy="289"/>
                </a:xfrm>
              </p:grpSpPr>
              <p:sp>
                <p:nvSpPr>
                  <p:cNvPr id="17473" name="Freeform 65"/>
                  <p:cNvSpPr>
                    <a:spLocks/>
                  </p:cNvSpPr>
                  <p:nvPr/>
                </p:nvSpPr>
                <p:spPr bwMode="auto">
                  <a:xfrm>
                    <a:off x="1770" y="1696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474" name="Freeform 66"/>
                  <p:cNvSpPr>
                    <a:spLocks/>
                  </p:cNvSpPr>
                  <p:nvPr/>
                </p:nvSpPr>
                <p:spPr bwMode="auto">
                  <a:xfrm>
                    <a:off x="1939" y="1696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7475" name="Rectangle 67"/>
              <p:cNvSpPr>
                <a:spLocks noChangeArrowheads="1"/>
              </p:cNvSpPr>
              <p:nvPr/>
            </p:nvSpPr>
            <p:spPr bwMode="auto">
              <a:xfrm>
                <a:off x="2211" y="1703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17" name="Group 68"/>
              <p:cNvGrpSpPr>
                <a:grpSpLocks/>
              </p:cNvGrpSpPr>
              <p:nvPr/>
            </p:nvGrpSpPr>
            <p:grpSpPr bwMode="auto">
              <a:xfrm>
                <a:off x="2230" y="1696"/>
                <a:ext cx="296" cy="289"/>
                <a:chOff x="2230" y="1696"/>
                <a:chExt cx="296" cy="289"/>
              </a:xfrm>
            </p:grpSpPr>
            <p:sp>
              <p:nvSpPr>
                <p:cNvPr id="17477" name="Freeform 69"/>
                <p:cNvSpPr>
                  <a:spLocks/>
                </p:cNvSpPr>
                <p:nvPr/>
              </p:nvSpPr>
              <p:spPr bwMode="auto">
                <a:xfrm>
                  <a:off x="2230" y="1696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78" name="Freeform 70"/>
                <p:cNvSpPr>
                  <a:spLocks/>
                </p:cNvSpPr>
                <p:nvPr/>
              </p:nvSpPr>
              <p:spPr bwMode="auto">
                <a:xfrm>
                  <a:off x="2378" y="1696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79" name="Line 71"/>
              <p:cNvSpPr>
                <a:spLocks noChangeShapeType="1"/>
              </p:cNvSpPr>
              <p:nvPr/>
            </p:nvSpPr>
            <p:spPr bwMode="auto">
              <a:xfrm>
                <a:off x="2115" y="1840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80" name="Freeform 72"/>
              <p:cNvSpPr>
                <a:spLocks/>
              </p:cNvSpPr>
              <p:nvPr/>
            </p:nvSpPr>
            <p:spPr bwMode="auto">
              <a:xfrm>
                <a:off x="2177" y="1744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81" name="Line 73"/>
              <p:cNvSpPr>
                <a:spLocks noChangeShapeType="1"/>
              </p:cNvSpPr>
              <p:nvPr/>
            </p:nvSpPr>
            <p:spPr bwMode="auto">
              <a:xfrm>
                <a:off x="2531" y="174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82" name="Rectangle 74"/>
              <p:cNvSpPr>
                <a:spLocks noChangeArrowheads="1"/>
              </p:cNvSpPr>
              <p:nvPr/>
            </p:nvSpPr>
            <p:spPr bwMode="auto">
              <a:xfrm>
                <a:off x="3028" y="1696"/>
                <a:ext cx="406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Mem</a:t>
                </a:r>
              </a:p>
            </p:txBody>
          </p:sp>
          <p:grpSp>
            <p:nvGrpSpPr>
              <p:cNvPr id="18" name="Group 75"/>
              <p:cNvGrpSpPr>
                <a:grpSpLocks/>
              </p:cNvGrpSpPr>
              <p:nvPr/>
            </p:nvGrpSpPr>
            <p:grpSpPr bwMode="auto">
              <a:xfrm>
                <a:off x="3079" y="1696"/>
                <a:ext cx="325" cy="289"/>
                <a:chOff x="3079" y="1696"/>
                <a:chExt cx="325" cy="289"/>
              </a:xfrm>
            </p:grpSpPr>
            <p:sp>
              <p:nvSpPr>
                <p:cNvPr id="17484" name="Freeform 76"/>
                <p:cNvSpPr>
                  <a:spLocks/>
                </p:cNvSpPr>
                <p:nvPr/>
              </p:nvSpPr>
              <p:spPr bwMode="auto">
                <a:xfrm>
                  <a:off x="3079" y="1696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85" name="Freeform 77"/>
                <p:cNvSpPr>
                  <a:spLocks/>
                </p:cNvSpPr>
                <p:nvPr/>
              </p:nvSpPr>
              <p:spPr bwMode="auto">
                <a:xfrm>
                  <a:off x="3240" y="1696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86" name="Rectangle 78"/>
              <p:cNvSpPr>
                <a:spLocks noChangeArrowheads="1"/>
              </p:cNvSpPr>
              <p:nvPr/>
            </p:nvSpPr>
            <p:spPr bwMode="auto">
              <a:xfrm>
                <a:off x="3520" y="1696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19" name="Group 79"/>
              <p:cNvGrpSpPr>
                <a:grpSpLocks/>
              </p:cNvGrpSpPr>
              <p:nvPr/>
            </p:nvGrpSpPr>
            <p:grpSpPr bwMode="auto">
              <a:xfrm>
                <a:off x="3547" y="1696"/>
                <a:ext cx="284" cy="289"/>
                <a:chOff x="3547" y="1696"/>
                <a:chExt cx="284" cy="289"/>
              </a:xfrm>
            </p:grpSpPr>
            <p:sp>
              <p:nvSpPr>
                <p:cNvPr id="17488" name="Freeform 80"/>
                <p:cNvSpPr>
                  <a:spLocks/>
                </p:cNvSpPr>
                <p:nvPr/>
              </p:nvSpPr>
              <p:spPr bwMode="auto">
                <a:xfrm>
                  <a:off x="3547" y="1696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89" name="Freeform 81"/>
                <p:cNvSpPr>
                  <a:spLocks/>
                </p:cNvSpPr>
                <p:nvPr/>
              </p:nvSpPr>
              <p:spPr bwMode="auto">
                <a:xfrm>
                  <a:off x="3688" y="1696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490" name="Line 82"/>
              <p:cNvSpPr>
                <a:spLocks noChangeShapeType="1"/>
              </p:cNvSpPr>
              <p:nvPr/>
            </p:nvSpPr>
            <p:spPr bwMode="auto">
              <a:xfrm>
                <a:off x="3400" y="1840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91" name="Line 83"/>
              <p:cNvSpPr>
                <a:spLocks noChangeShapeType="1"/>
              </p:cNvSpPr>
              <p:nvPr/>
            </p:nvSpPr>
            <p:spPr bwMode="auto">
              <a:xfrm>
                <a:off x="2916" y="1840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92" name="Freeform 84"/>
              <p:cNvSpPr>
                <a:spLocks/>
              </p:cNvSpPr>
              <p:nvPr/>
            </p:nvSpPr>
            <p:spPr bwMode="auto">
              <a:xfrm>
                <a:off x="3037" y="1840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93" name="Line 85"/>
              <p:cNvSpPr>
                <a:spLocks noChangeShapeType="1"/>
              </p:cNvSpPr>
              <p:nvPr/>
            </p:nvSpPr>
            <p:spPr bwMode="auto">
              <a:xfrm>
                <a:off x="2531" y="1936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94" name="Freeform 86"/>
              <p:cNvSpPr>
                <a:spLocks/>
              </p:cNvSpPr>
              <p:nvPr/>
            </p:nvSpPr>
            <p:spPr bwMode="auto">
              <a:xfrm>
                <a:off x="2624" y="1835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87"/>
            <p:cNvGrpSpPr>
              <a:grpSpLocks/>
            </p:cNvGrpSpPr>
            <p:nvPr/>
          </p:nvGrpSpPr>
          <p:grpSpPr bwMode="auto">
            <a:xfrm>
              <a:off x="2379" y="2978"/>
              <a:ext cx="2124" cy="451"/>
              <a:chOff x="2178" y="2048"/>
              <a:chExt cx="2124" cy="513"/>
            </a:xfrm>
          </p:grpSpPr>
          <p:grpSp>
            <p:nvGrpSpPr>
              <p:cNvPr id="21" name="Group 88"/>
              <p:cNvGrpSpPr>
                <a:grpSpLocks/>
              </p:cNvGrpSpPr>
              <p:nvPr/>
            </p:nvGrpSpPr>
            <p:grpSpPr bwMode="auto">
              <a:xfrm>
                <a:off x="3110" y="2048"/>
                <a:ext cx="226" cy="481"/>
                <a:chOff x="3110" y="2048"/>
                <a:chExt cx="226" cy="481"/>
              </a:xfrm>
            </p:grpSpPr>
            <p:sp>
              <p:nvSpPr>
                <p:cNvPr id="17497" name="Freeform 89"/>
                <p:cNvSpPr>
                  <a:spLocks/>
                </p:cNvSpPr>
                <p:nvPr/>
              </p:nvSpPr>
              <p:spPr bwMode="auto">
                <a:xfrm>
                  <a:off x="3123" y="2048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498" name="Rectangle 90"/>
                <p:cNvSpPr>
                  <a:spLocks noChangeArrowheads="1"/>
                </p:cNvSpPr>
                <p:nvPr/>
              </p:nvSpPr>
              <p:spPr bwMode="auto">
                <a:xfrm rot="5400000">
                  <a:off x="3001" y="2192"/>
                  <a:ext cx="428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 b="1">
                      <a:latin typeface="Arial" charset="0"/>
                    </a:rPr>
                    <a:t>ALU</a:t>
                  </a:r>
                </a:p>
              </p:txBody>
            </p:sp>
          </p:grpSp>
          <p:grpSp>
            <p:nvGrpSpPr>
              <p:cNvPr id="22" name="Group 91"/>
              <p:cNvGrpSpPr>
                <a:grpSpLocks/>
              </p:cNvGrpSpPr>
              <p:nvPr/>
            </p:nvGrpSpPr>
            <p:grpSpPr bwMode="auto">
              <a:xfrm>
                <a:off x="2178" y="2144"/>
                <a:ext cx="406" cy="289"/>
                <a:chOff x="2178" y="2144"/>
                <a:chExt cx="406" cy="289"/>
              </a:xfrm>
            </p:grpSpPr>
            <p:sp>
              <p:nvSpPr>
                <p:cNvPr id="17500" name="Rectangle 92"/>
                <p:cNvSpPr>
                  <a:spLocks noChangeArrowheads="1"/>
                </p:cNvSpPr>
                <p:nvPr/>
              </p:nvSpPr>
              <p:spPr bwMode="auto">
                <a:xfrm>
                  <a:off x="2178" y="2146"/>
                  <a:ext cx="406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 b="1">
                      <a:latin typeface="Arial" charset="0"/>
                    </a:rPr>
                    <a:t>Mem</a:t>
                  </a:r>
                </a:p>
              </p:txBody>
            </p:sp>
            <p:grpSp>
              <p:nvGrpSpPr>
                <p:cNvPr id="23" name="Group 93"/>
                <p:cNvGrpSpPr>
                  <a:grpSpLocks/>
                </p:cNvGrpSpPr>
                <p:nvPr/>
              </p:nvGrpSpPr>
              <p:grpSpPr bwMode="auto">
                <a:xfrm>
                  <a:off x="2197" y="2144"/>
                  <a:ext cx="340" cy="289"/>
                  <a:chOff x="2197" y="2144"/>
                  <a:chExt cx="340" cy="289"/>
                </a:xfrm>
              </p:grpSpPr>
              <p:sp>
                <p:nvSpPr>
                  <p:cNvPr id="17502" name="Freeform 94"/>
                  <p:cNvSpPr>
                    <a:spLocks/>
                  </p:cNvSpPr>
                  <p:nvPr/>
                </p:nvSpPr>
                <p:spPr bwMode="auto">
                  <a:xfrm>
                    <a:off x="2197" y="2144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7503" name="Freeform 95"/>
                  <p:cNvSpPr>
                    <a:spLocks/>
                  </p:cNvSpPr>
                  <p:nvPr/>
                </p:nvSpPr>
                <p:spPr bwMode="auto">
                  <a:xfrm>
                    <a:off x="2366" y="2144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7504" name="Rectangle 96"/>
              <p:cNvSpPr>
                <a:spLocks noChangeArrowheads="1"/>
              </p:cNvSpPr>
              <p:nvPr/>
            </p:nvSpPr>
            <p:spPr bwMode="auto">
              <a:xfrm>
                <a:off x="2638" y="2152"/>
                <a:ext cx="355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24" name="Group 97"/>
              <p:cNvGrpSpPr>
                <a:grpSpLocks/>
              </p:cNvGrpSpPr>
              <p:nvPr/>
            </p:nvGrpSpPr>
            <p:grpSpPr bwMode="auto">
              <a:xfrm>
                <a:off x="2657" y="2144"/>
                <a:ext cx="296" cy="289"/>
                <a:chOff x="2657" y="2144"/>
                <a:chExt cx="296" cy="289"/>
              </a:xfrm>
            </p:grpSpPr>
            <p:sp>
              <p:nvSpPr>
                <p:cNvPr id="17506" name="Freeform 98"/>
                <p:cNvSpPr>
                  <a:spLocks/>
                </p:cNvSpPr>
                <p:nvPr/>
              </p:nvSpPr>
              <p:spPr bwMode="auto">
                <a:xfrm>
                  <a:off x="2657" y="2144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07" name="Freeform 99"/>
                <p:cNvSpPr>
                  <a:spLocks/>
                </p:cNvSpPr>
                <p:nvPr/>
              </p:nvSpPr>
              <p:spPr bwMode="auto">
                <a:xfrm>
                  <a:off x="2805" y="2144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508" name="Line 100"/>
              <p:cNvSpPr>
                <a:spLocks noChangeShapeType="1"/>
              </p:cNvSpPr>
              <p:nvPr/>
            </p:nvSpPr>
            <p:spPr bwMode="auto">
              <a:xfrm>
                <a:off x="2542" y="2288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09" name="Freeform 101"/>
              <p:cNvSpPr>
                <a:spLocks/>
              </p:cNvSpPr>
              <p:nvPr/>
            </p:nvSpPr>
            <p:spPr bwMode="auto">
              <a:xfrm>
                <a:off x="2604" y="2192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10" name="Line 102"/>
              <p:cNvSpPr>
                <a:spLocks noChangeShapeType="1"/>
              </p:cNvSpPr>
              <p:nvPr/>
            </p:nvSpPr>
            <p:spPr bwMode="auto">
              <a:xfrm>
                <a:off x="2958" y="2192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11" name="Rectangle 103"/>
              <p:cNvSpPr>
                <a:spLocks noChangeArrowheads="1"/>
              </p:cNvSpPr>
              <p:nvPr/>
            </p:nvSpPr>
            <p:spPr bwMode="auto">
              <a:xfrm>
                <a:off x="3455" y="2146"/>
                <a:ext cx="406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Mem</a:t>
                </a:r>
              </a:p>
            </p:txBody>
          </p:sp>
          <p:grpSp>
            <p:nvGrpSpPr>
              <p:cNvPr id="25" name="Group 104"/>
              <p:cNvGrpSpPr>
                <a:grpSpLocks/>
              </p:cNvGrpSpPr>
              <p:nvPr/>
            </p:nvGrpSpPr>
            <p:grpSpPr bwMode="auto">
              <a:xfrm>
                <a:off x="3506" y="2144"/>
                <a:ext cx="325" cy="289"/>
                <a:chOff x="3506" y="2144"/>
                <a:chExt cx="325" cy="289"/>
              </a:xfrm>
            </p:grpSpPr>
            <p:sp>
              <p:nvSpPr>
                <p:cNvPr id="17513" name="Freeform 105"/>
                <p:cNvSpPr>
                  <a:spLocks/>
                </p:cNvSpPr>
                <p:nvPr/>
              </p:nvSpPr>
              <p:spPr bwMode="auto">
                <a:xfrm>
                  <a:off x="3506" y="2144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14" name="Freeform 106"/>
                <p:cNvSpPr>
                  <a:spLocks/>
                </p:cNvSpPr>
                <p:nvPr/>
              </p:nvSpPr>
              <p:spPr bwMode="auto">
                <a:xfrm>
                  <a:off x="3667" y="2144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515" name="Rectangle 107"/>
              <p:cNvSpPr>
                <a:spLocks noChangeArrowheads="1"/>
              </p:cNvSpPr>
              <p:nvPr/>
            </p:nvSpPr>
            <p:spPr bwMode="auto">
              <a:xfrm>
                <a:off x="3947" y="2146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26" name="Group 108"/>
              <p:cNvGrpSpPr>
                <a:grpSpLocks/>
              </p:cNvGrpSpPr>
              <p:nvPr/>
            </p:nvGrpSpPr>
            <p:grpSpPr bwMode="auto">
              <a:xfrm>
                <a:off x="3974" y="2144"/>
                <a:ext cx="284" cy="289"/>
                <a:chOff x="3974" y="2144"/>
                <a:chExt cx="284" cy="289"/>
              </a:xfrm>
            </p:grpSpPr>
            <p:sp>
              <p:nvSpPr>
                <p:cNvPr id="17517" name="Freeform 109"/>
                <p:cNvSpPr>
                  <a:spLocks/>
                </p:cNvSpPr>
                <p:nvPr/>
              </p:nvSpPr>
              <p:spPr bwMode="auto">
                <a:xfrm>
                  <a:off x="3974" y="2144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7518" name="Freeform 110"/>
                <p:cNvSpPr>
                  <a:spLocks/>
                </p:cNvSpPr>
                <p:nvPr/>
              </p:nvSpPr>
              <p:spPr bwMode="auto">
                <a:xfrm>
                  <a:off x="4115" y="2144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7519" name="Line 111"/>
              <p:cNvSpPr>
                <a:spLocks noChangeShapeType="1"/>
              </p:cNvSpPr>
              <p:nvPr/>
            </p:nvSpPr>
            <p:spPr bwMode="auto">
              <a:xfrm>
                <a:off x="3827" y="2288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20" name="Line 112"/>
              <p:cNvSpPr>
                <a:spLocks noChangeShapeType="1"/>
              </p:cNvSpPr>
              <p:nvPr/>
            </p:nvSpPr>
            <p:spPr bwMode="auto">
              <a:xfrm>
                <a:off x="3343" y="2288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21" name="Freeform 113"/>
              <p:cNvSpPr>
                <a:spLocks/>
              </p:cNvSpPr>
              <p:nvPr/>
            </p:nvSpPr>
            <p:spPr bwMode="auto">
              <a:xfrm>
                <a:off x="3464" y="2288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2" name="Line 114"/>
              <p:cNvSpPr>
                <a:spLocks noChangeShapeType="1"/>
              </p:cNvSpPr>
              <p:nvPr/>
            </p:nvSpPr>
            <p:spPr bwMode="auto">
              <a:xfrm>
                <a:off x="2958" y="238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23" name="Freeform 115"/>
              <p:cNvSpPr>
                <a:spLocks/>
              </p:cNvSpPr>
              <p:nvPr/>
            </p:nvSpPr>
            <p:spPr bwMode="auto">
              <a:xfrm>
                <a:off x="3051" y="2283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116"/>
            <p:cNvGrpSpPr>
              <a:grpSpLocks/>
            </p:cNvGrpSpPr>
            <p:nvPr/>
          </p:nvGrpSpPr>
          <p:grpSpPr bwMode="auto">
            <a:xfrm>
              <a:off x="3740" y="3372"/>
              <a:ext cx="224" cy="424"/>
              <a:chOff x="3539" y="2496"/>
              <a:chExt cx="224" cy="481"/>
            </a:xfrm>
          </p:grpSpPr>
          <p:sp>
            <p:nvSpPr>
              <p:cNvPr id="17525" name="Freeform 117"/>
              <p:cNvSpPr>
                <a:spLocks/>
              </p:cNvSpPr>
              <p:nvPr/>
            </p:nvSpPr>
            <p:spPr bwMode="auto">
              <a:xfrm>
                <a:off x="3550" y="2496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26" name="Rectangle 118"/>
              <p:cNvSpPr>
                <a:spLocks noChangeArrowheads="1"/>
              </p:cNvSpPr>
              <p:nvPr/>
            </p:nvSpPr>
            <p:spPr bwMode="auto">
              <a:xfrm rot="5400000">
                <a:off x="3430" y="2641"/>
                <a:ext cx="42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ALU</a:t>
                </a:r>
              </a:p>
            </p:txBody>
          </p:sp>
        </p:grpSp>
        <p:sp>
          <p:nvSpPr>
            <p:cNvPr id="17527" name="Rectangle 119"/>
            <p:cNvSpPr>
              <a:spLocks noChangeArrowheads="1"/>
            </p:cNvSpPr>
            <p:nvPr/>
          </p:nvSpPr>
          <p:spPr bwMode="auto">
            <a:xfrm>
              <a:off x="3266" y="3463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28" name="Group 120"/>
            <p:cNvGrpSpPr>
              <a:grpSpLocks/>
            </p:cNvGrpSpPr>
            <p:nvPr/>
          </p:nvGrpSpPr>
          <p:grpSpPr bwMode="auto">
            <a:xfrm>
              <a:off x="3285" y="3457"/>
              <a:ext cx="296" cy="254"/>
              <a:chOff x="3084" y="2592"/>
              <a:chExt cx="296" cy="289"/>
            </a:xfrm>
          </p:grpSpPr>
          <p:sp>
            <p:nvSpPr>
              <p:cNvPr id="17529" name="Freeform 121"/>
              <p:cNvSpPr>
                <a:spLocks/>
              </p:cNvSpPr>
              <p:nvPr/>
            </p:nvSpPr>
            <p:spPr bwMode="auto">
              <a:xfrm>
                <a:off x="3084" y="2592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0" name="Freeform 122"/>
              <p:cNvSpPr>
                <a:spLocks/>
              </p:cNvSpPr>
              <p:nvPr/>
            </p:nvSpPr>
            <p:spPr bwMode="auto">
              <a:xfrm>
                <a:off x="3232" y="2592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31" name="Line 123"/>
            <p:cNvSpPr>
              <a:spLocks noChangeShapeType="1"/>
            </p:cNvSpPr>
            <p:nvPr/>
          </p:nvSpPr>
          <p:spPr bwMode="auto">
            <a:xfrm>
              <a:off x="3170" y="3584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32" name="Freeform 124"/>
            <p:cNvSpPr>
              <a:spLocks/>
            </p:cNvSpPr>
            <p:nvPr/>
          </p:nvSpPr>
          <p:spPr bwMode="auto">
            <a:xfrm>
              <a:off x="3232" y="3499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33" name="Line 125"/>
            <p:cNvSpPr>
              <a:spLocks noChangeShapeType="1"/>
            </p:cNvSpPr>
            <p:nvPr/>
          </p:nvSpPr>
          <p:spPr bwMode="auto">
            <a:xfrm>
              <a:off x="3586" y="3499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34" name="Rectangle 126"/>
            <p:cNvSpPr>
              <a:spLocks noChangeArrowheads="1"/>
            </p:cNvSpPr>
            <p:nvPr/>
          </p:nvSpPr>
          <p:spPr bwMode="auto">
            <a:xfrm>
              <a:off x="4083" y="3459"/>
              <a:ext cx="40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Mem</a:t>
              </a:r>
            </a:p>
          </p:txBody>
        </p:sp>
        <p:grpSp>
          <p:nvGrpSpPr>
            <p:cNvPr id="29" name="Group 127"/>
            <p:cNvGrpSpPr>
              <a:grpSpLocks/>
            </p:cNvGrpSpPr>
            <p:nvPr/>
          </p:nvGrpSpPr>
          <p:grpSpPr bwMode="auto">
            <a:xfrm>
              <a:off x="4134" y="3457"/>
              <a:ext cx="325" cy="254"/>
              <a:chOff x="3933" y="2592"/>
              <a:chExt cx="325" cy="289"/>
            </a:xfrm>
          </p:grpSpPr>
          <p:sp>
            <p:nvSpPr>
              <p:cNvPr id="17536" name="Freeform 128"/>
              <p:cNvSpPr>
                <a:spLocks/>
              </p:cNvSpPr>
              <p:nvPr/>
            </p:nvSpPr>
            <p:spPr bwMode="auto">
              <a:xfrm>
                <a:off x="3933" y="2592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37" name="Freeform 129"/>
              <p:cNvSpPr>
                <a:spLocks/>
              </p:cNvSpPr>
              <p:nvPr/>
            </p:nvSpPr>
            <p:spPr bwMode="auto">
              <a:xfrm>
                <a:off x="4094" y="2592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38" name="Rectangle 130"/>
            <p:cNvSpPr>
              <a:spLocks noChangeArrowheads="1"/>
            </p:cNvSpPr>
            <p:nvPr/>
          </p:nvSpPr>
          <p:spPr bwMode="auto">
            <a:xfrm>
              <a:off x="4575" y="3459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30" name="Group 131"/>
            <p:cNvGrpSpPr>
              <a:grpSpLocks/>
            </p:cNvGrpSpPr>
            <p:nvPr/>
          </p:nvGrpSpPr>
          <p:grpSpPr bwMode="auto">
            <a:xfrm>
              <a:off x="4602" y="3457"/>
              <a:ext cx="284" cy="254"/>
              <a:chOff x="4401" y="2592"/>
              <a:chExt cx="284" cy="289"/>
            </a:xfrm>
          </p:grpSpPr>
          <p:sp>
            <p:nvSpPr>
              <p:cNvPr id="17540" name="Freeform 132"/>
              <p:cNvSpPr>
                <a:spLocks/>
              </p:cNvSpPr>
              <p:nvPr/>
            </p:nvSpPr>
            <p:spPr bwMode="auto">
              <a:xfrm>
                <a:off x="4401" y="2592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541" name="Freeform 133"/>
              <p:cNvSpPr>
                <a:spLocks/>
              </p:cNvSpPr>
              <p:nvPr/>
            </p:nvSpPr>
            <p:spPr bwMode="auto">
              <a:xfrm>
                <a:off x="4542" y="2592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542" name="Line 134"/>
            <p:cNvSpPr>
              <a:spLocks noChangeShapeType="1"/>
            </p:cNvSpPr>
            <p:nvPr/>
          </p:nvSpPr>
          <p:spPr bwMode="auto">
            <a:xfrm>
              <a:off x="4455" y="3584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43" name="Line 135"/>
            <p:cNvSpPr>
              <a:spLocks noChangeShapeType="1"/>
            </p:cNvSpPr>
            <p:nvPr/>
          </p:nvSpPr>
          <p:spPr bwMode="auto">
            <a:xfrm>
              <a:off x="3971" y="3584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44" name="Freeform 136"/>
            <p:cNvSpPr>
              <a:spLocks/>
            </p:cNvSpPr>
            <p:nvPr/>
          </p:nvSpPr>
          <p:spPr bwMode="auto">
            <a:xfrm>
              <a:off x="4092" y="3584"/>
              <a:ext cx="431" cy="169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45" name="Line 137"/>
            <p:cNvSpPr>
              <a:spLocks noChangeShapeType="1"/>
            </p:cNvSpPr>
            <p:nvPr/>
          </p:nvSpPr>
          <p:spPr bwMode="auto">
            <a:xfrm>
              <a:off x="3586" y="3668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46" name="Freeform 138"/>
            <p:cNvSpPr>
              <a:spLocks/>
            </p:cNvSpPr>
            <p:nvPr/>
          </p:nvSpPr>
          <p:spPr bwMode="auto">
            <a:xfrm>
              <a:off x="3679" y="3579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9" name="灯片编号占位符 1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插入停顿</a:t>
            </a:r>
            <a:r>
              <a:rPr lang="en-US" altLang="zh-CN" b="1" dirty="0" smtClean="0"/>
              <a:t> </a:t>
            </a:r>
            <a:r>
              <a:rPr lang="en-US" altLang="zh-CN" b="1" dirty="0"/>
              <a:t>Stall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4454525" y="2286000"/>
            <a:ext cx="503238" cy="411163"/>
            <a:chOff x="2624" y="1200"/>
            <a:chExt cx="340" cy="294"/>
          </a:xfrm>
        </p:grpSpPr>
        <p:sp>
          <p:nvSpPr>
            <p:cNvPr id="18436" name="Freeform 4"/>
            <p:cNvSpPr>
              <a:spLocks/>
            </p:cNvSpPr>
            <p:nvPr/>
          </p:nvSpPr>
          <p:spPr bwMode="auto">
            <a:xfrm>
              <a:off x="2816" y="1205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solidFill>
              <a:schemeClr val="accent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624" y="1200"/>
              <a:ext cx="340" cy="289"/>
              <a:chOff x="2624" y="1200"/>
              <a:chExt cx="340" cy="289"/>
            </a:xfrm>
          </p:grpSpPr>
          <p:sp>
            <p:nvSpPr>
              <p:cNvPr id="18438" name="Freeform 6"/>
              <p:cNvSpPr>
                <a:spLocks/>
              </p:cNvSpPr>
              <p:nvPr/>
            </p:nvSpPr>
            <p:spPr bwMode="auto">
              <a:xfrm>
                <a:off x="2624" y="1200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39" name="Freeform 7"/>
              <p:cNvSpPr>
                <a:spLocks/>
              </p:cNvSpPr>
              <p:nvPr/>
            </p:nvSpPr>
            <p:spPr bwMode="auto">
              <a:xfrm>
                <a:off x="2793" y="1200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440" name="Rectangle 8"/>
          <p:cNvSpPr>
            <a:spLocks noChangeArrowheads="1"/>
          </p:cNvSpPr>
          <p:nvPr/>
        </p:nvSpPr>
        <p:spPr bwMode="auto">
          <a:xfrm>
            <a:off x="685800" y="2278063"/>
            <a:ext cx="358775" cy="3109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altLang="zh-CN" sz="1800" i="1">
                <a:latin typeface="Arial" charset="0"/>
              </a:rPr>
              <a:t>I</a:t>
            </a:r>
          </a:p>
          <a:p>
            <a:pPr algn="ctr"/>
            <a:r>
              <a:rPr lang="en-US" altLang="zh-CN" sz="1800" i="1">
                <a:latin typeface="Arial" charset="0"/>
              </a:rPr>
              <a:t>n</a:t>
            </a:r>
          </a:p>
          <a:p>
            <a:pPr algn="ctr"/>
            <a:r>
              <a:rPr lang="en-US" altLang="zh-CN" sz="1800" i="1">
                <a:latin typeface="Arial" charset="0"/>
              </a:rPr>
              <a:t>s</a:t>
            </a:r>
          </a:p>
          <a:p>
            <a:pPr algn="ctr"/>
            <a:r>
              <a:rPr lang="en-US" altLang="zh-CN" sz="1800" i="1">
                <a:latin typeface="Arial" charset="0"/>
              </a:rPr>
              <a:t>t</a:t>
            </a:r>
          </a:p>
          <a:p>
            <a:pPr algn="ctr"/>
            <a:r>
              <a:rPr lang="en-US" altLang="zh-CN" sz="1800" i="1">
                <a:latin typeface="Arial" charset="0"/>
              </a:rPr>
              <a:t>r.</a:t>
            </a:r>
          </a:p>
          <a:p>
            <a:pPr algn="ctr"/>
            <a:endParaRPr lang="en-US" altLang="zh-CN" sz="1800" i="1">
              <a:latin typeface="Arial" charset="0"/>
            </a:endParaRPr>
          </a:p>
          <a:p>
            <a:pPr algn="ctr"/>
            <a:r>
              <a:rPr lang="en-US" altLang="zh-CN" sz="1800" i="1">
                <a:latin typeface="Arial" charset="0"/>
              </a:rPr>
              <a:t>O</a:t>
            </a:r>
          </a:p>
          <a:p>
            <a:pPr algn="ctr"/>
            <a:r>
              <a:rPr lang="en-US" altLang="zh-CN" sz="1800" i="1">
                <a:latin typeface="Arial" charset="0"/>
              </a:rPr>
              <a:t>r</a:t>
            </a:r>
          </a:p>
          <a:p>
            <a:pPr algn="ctr"/>
            <a:r>
              <a:rPr lang="en-US" altLang="zh-CN" sz="1800" i="1">
                <a:latin typeface="Arial" charset="0"/>
              </a:rPr>
              <a:t>d</a:t>
            </a:r>
          </a:p>
          <a:p>
            <a:pPr algn="ctr"/>
            <a:r>
              <a:rPr lang="en-US" altLang="zh-CN" sz="1800" i="1">
                <a:latin typeface="Arial" charset="0"/>
              </a:rPr>
              <a:t>e</a:t>
            </a:r>
          </a:p>
          <a:p>
            <a:pPr algn="ctr"/>
            <a:r>
              <a:rPr lang="en-US" altLang="zh-CN" sz="1800" i="1">
                <a:latin typeface="Arial" charset="0"/>
              </a:rPr>
              <a:t>r</a:t>
            </a:r>
          </a:p>
        </p:txBody>
      </p:sp>
      <p:sp>
        <p:nvSpPr>
          <p:cNvPr id="18441" name="Line 9"/>
          <p:cNvSpPr>
            <a:spLocks noChangeShapeType="1"/>
          </p:cNvSpPr>
          <p:nvPr/>
        </p:nvSpPr>
        <p:spPr bwMode="auto">
          <a:xfrm flipH="1">
            <a:off x="1143000" y="2286000"/>
            <a:ext cx="0" cy="304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2" name="Line 10"/>
          <p:cNvSpPr>
            <a:spLocks noChangeShapeType="1"/>
          </p:cNvSpPr>
          <p:nvPr/>
        </p:nvSpPr>
        <p:spPr bwMode="auto">
          <a:xfrm>
            <a:off x="1828800" y="1905000"/>
            <a:ext cx="6311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3" name="Rectangle 11"/>
          <p:cNvSpPr>
            <a:spLocks noChangeArrowheads="1"/>
          </p:cNvSpPr>
          <p:nvPr/>
        </p:nvSpPr>
        <p:spPr bwMode="auto">
          <a:xfrm>
            <a:off x="3733800" y="1524000"/>
            <a:ext cx="21240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800" i="1">
                <a:latin typeface="Arial" charset="0"/>
              </a:rPr>
              <a:t>Time (clock cycles)</a:t>
            </a:r>
          </a:p>
        </p:txBody>
      </p:sp>
      <p:sp>
        <p:nvSpPr>
          <p:cNvPr id="18444" name="Rectangle 12"/>
          <p:cNvSpPr>
            <a:spLocks noChangeArrowheads="1"/>
          </p:cNvSpPr>
          <p:nvPr/>
        </p:nvSpPr>
        <p:spPr bwMode="auto">
          <a:xfrm>
            <a:off x="1162050" y="2389188"/>
            <a:ext cx="10382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2400"/>
              <a:t>Ld/St</a:t>
            </a:r>
            <a:endParaRPr lang="en-US" altLang="zh-CN" sz="2800" b="1">
              <a:latin typeface="Arial" charset="0"/>
            </a:endParaRPr>
          </a:p>
        </p:txBody>
      </p:sp>
      <p:sp>
        <p:nvSpPr>
          <p:cNvPr id="18445" name="Rectangle 13"/>
          <p:cNvSpPr>
            <a:spLocks noChangeArrowheads="1"/>
          </p:cNvSpPr>
          <p:nvPr/>
        </p:nvSpPr>
        <p:spPr bwMode="auto">
          <a:xfrm>
            <a:off x="1136650" y="2970213"/>
            <a:ext cx="117157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2400"/>
              <a:t>Instr 1</a:t>
            </a:r>
            <a:endParaRPr lang="en-US" altLang="zh-CN" sz="2800" b="1">
              <a:latin typeface="Arial" charset="0"/>
            </a:endParaRPr>
          </a:p>
        </p:txBody>
      </p:sp>
      <p:sp>
        <p:nvSpPr>
          <p:cNvPr id="18446" name="Rectangle 14"/>
          <p:cNvSpPr>
            <a:spLocks noChangeArrowheads="1"/>
          </p:cNvSpPr>
          <p:nvPr/>
        </p:nvSpPr>
        <p:spPr bwMode="auto">
          <a:xfrm>
            <a:off x="1123950" y="3619500"/>
            <a:ext cx="12207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2400"/>
              <a:t>Instr 2</a:t>
            </a:r>
            <a:endParaRPr lang="en-US" altLang="zh-CN" sz="2800" b="1">
              <a:latin typeface="Arial" charset="0"/>
            </a:endParaRPr>
          </a:p>
        </p:txBody>
      </p:sp>
      <p:sp>
        <p:nvSpPr>
          <p:cNvPr id="18447" name="Rectangle 15"/>
          <p:cNvSpPr>
            <a:spLocks noChangeArrowheads="1"/>
          </p:cNvSpPr>
          <p:nvPr/>
        </p:nvSpPr>
        <p:spPr bwMode="auto">
          <a:xfrm>
            <a:off x="1219200" y="4953000"/>
            <a:ext cx="122078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2400"/>
              <a:t>Instr 3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2971800" y="1981200"/>
            <a:ext cx="4800600" cy="3886200"/>
            <a:chOff x="1929" y="1985"/>
            <a:chExt cx="3024" cy="2479"/>
          </a:xfrm>
        </p:grpSpPr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>
              <a:off x="1929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>
              <a:off x="2361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1" name="Line 19"/>
            <p:cNvSpPr>
              <a:spLocks noChangeShapeType="1"/>
            </p:cNvSpPr>
            <p:nvPr/>
          </p:nvSpPr>
          <p:spPr bwMode="auto">
            <a:xfrm>
              <a:off x="2793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2" name="Line 20"/>
            <p:cNvSpPr>
              <a:spLocks noChangeShapeType="1"/>
            </p:cNvSpPr>
            <p:nvPr/>
          </p:nvSpPr>
          <p:spPr bwMode="auto">
            <a:xfrm>
              <a:off x="3225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3" name="Line 21"/>
            <p:cNvSpPr>
              <a:spLocks noChangeShapeType="1"/>
            </p:cNvSpPr>
            <p:nvPr/>
          </p:nvSpPr>
          <p:spPr bwMode="auto">
            <a:xfrm>
              <a:off x="3657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4" name="Line 22"/>
            <p:cNvSpPr>
              <a:spLocks noChangeShapeType="1"/>
            </p:cNvSpPr>
            <p:nvPr/>
          </p:nvSpPr>
          <p:spPr bwMode="auto">
            <a:xfrm>
              <a:off x="4089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5" name="Line 23"/>
            <p:cNvSpPr>
              <a:spLocks noChangeShapeType="1"/>
            </p:cNvSpPr>
            <p:nvPr/>
          </p:nvSpPr>
          <p:spPr bwMode="auto">
            <a:xfrm>
              <a:off x="4521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6" name="Line 24"/>
            <p:cNvSpPr>
              <a:spLocks noChangeShapeType="1"/>
            </p:cNvSpPr>
            <p:nvPr/>
          </p:nvSpPr>
          <p:spPr bwMode="auto">
            <a:xfrm>
              <a:off x="4953" y="1985"/>
              <a:ext cx="0" cy="2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3824288" y="2179638"/>
            <a:ext cx="358775" cy="671512"/>
            <a:chOff x="2256" y="1152"/>
            <a:chExt cx="226" cy="481"/>
          </a:xfrm>
        </p:grpSpPr>
        <p:sp>
          <p:nvSpPr>
            <p:cNvPr id="18458" name="Freeform 26"/>
            <p:cNvSpPr>
              <a:spLocks/>
            </p:cNvSpPr>
            <p:nvPr/>
          </p:nvSpPr>
          <p:spPr bwMode="auto">
            <a:xfrm>
              <a:off x="2269" y="1152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59" name="Rectangle 27"/>
            <p:cNvSpPr>
              <a:spLocks noChangeArrowheads="1"/>
            </p:cNvSpPr>
            <p:nvPr/>
          </p:nvSpPr>
          <p:spPr bwMode="auto">
            <a:xfrm rot="5400000">
              <a:off x="2147" y="1296"/>
              <a:ext cx="428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ALU</a:t>
              </a:r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2344738" y="2312988"/>
            <a:ext cx="644525" cy="404812"/>
            <a:chOff x="1324" y="1248"/>
            <a:chExt cx="406" cy="289"/>
          </a:xfrm>
        </p:grpSpPr>
        <p:sp>
          <p:nvSpPr>
            <p:cNvPr id="18461" name="Rectangle 29"/>
            <p:cNvSpPr>
              <a:spLocks noChangeArrowheads="1"/>
            </p:cNvSpPr>
            <p:nvPr/>
          </p:nvSpPr>
          <p:spPr bwMode="auto">
            <a:xfrm>
              <a:off x="1324" y="1250"/>
              <a:ext cx="406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Mem</a:t>
              </a:r>
            </a:p>
          </p:txBody>
        </p:sp>
        <p:grpSp>
          <p:nvGrpSpPr>
            <p:cNvPr id="7" name="Group 30"/>
            <p:cNvGrpSpPr>
              <a:grpSpLocks/>
            </p:cNvGrpSpPr>
            <p:nvPr/>
          </p:nvGrpSpPr>
          <p:grpSpPr bwMode="auto">
            <a:xfrm>
              <a:off x="1343" y="1248"/>
              <a:ext cx="340" cy="289"/>
              <a:chOff x="1343" y="1248"/>
              <a:chExt cx="340" cy="289"/>
            </a:xfrm>
          </p:grpSpPr>
          <p:sp>
            <p:nvSpPr>
              <p:cNvPr id="18463" name="Freeform 31"/>
              <p:cNvSpPr>
                <a:spLocks/>
              </p:cNvSpPr>
              <p:nvPr/>
            </p:nvSpPr>
            <p:spPr bwMode="auto">
              <a:xfrm>
                <a:off x="1343" y="1248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64" name="Freeform 32"/>
              <p:cNvSpPr>
                <a:spLocks/>
              </p:cNvSpPr>
              <p:nvPr/>
            </p:nvSpPr>
            <p:spPr bwMode="auto">
              <a:xfrm>
                <a:off x="1512" y="1248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465" name="Rectangle 33"/>
          <p:cNvSpPr>
            <a:spLocks noChangeArrowheads="1"/>
          </p:cNvSpPr>
          <p:nvPr/>
        </p:nvSpPr>
        <p:spPr bwMode="auto">
          <a:xfrm>
            <a:off x="3074988" y="2324100"/>
            <a:ext cx="563562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 b="1">
                <a:latin typeface="Arial" charset="0"/>
              </a:rPr>
              <a:t>Reg</a:t>
            </a:r>
          </a:p>
        </p:txBody>
      </p: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3105150" y="2312988"/>
            <a:ext cx="469900" cy="404812"/>
            <a:chOff x="1803" y="1248"/>
            <a:chExt cx="296" cy="289"/>
          </a:xfrm>
        </p:grpSpPr>
        <p:sp>
          <p:nvSpPr>
            <p:cNvPr id="18467" name="Freeform 35"/>
            <p:cNvSpPr>
              <a:spLocks/>
            </p:cNvSpPr>
            <p:nvPr/>
          </p:nvSpPr>
          <p:spPr bwMode="auto">
            <a:xfrm>
              <a:off x="1803" y="1248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Freeform 36"/>
            <p:cNvSpPr>
              <a:spLocks/>
            </p:cNvSpPr>
            <p:nvPr/>
          </p:nvSpPr>
          <p:spPr bwMode="auto">
            <a:xfrm>
              <a:off x="1951" y="1248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69" name="Line 37"/>
          <p:cNvSpPr>
            <a:spLocks noChangeShapeType="1"/>
          </p:cNvSpPr>
          <p:nvPr/>
        </p:nvSpPr>
        <p:spPr bwMode="auto">
          <a:xfrm>
            <a:off x="2922588" y="2514600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0" name="Freeform 38"/>
          <p:cNvSpPr>
            <a:spLocks/>
          </p:cNvSpPr>
          <p:nvPr/>
        </p:nvSpPr>
        <p:spPr bwMode="auto">
          <a:xfrm>
            <a:off x="3021013" y="2381250"/>
            <a:ext cx="76200" cy="134938"/>
          </a:xfrm>
          <a:custGeom>
            <a:avLst/>
            <a:gdLst>
              <a:gd name="T0" fmla="*/ 0 w 48"/>
              <a:gd name="T1" fmla="*/ 96 h 97"/>
              <a:gd name="T2" fmla="*/ 0 w 48"/>
              <a:gd name="T3" fmla="*/ 0 h 97"/>
              <a:gd name="T4" fmla="*/ 47 w 48"/>
              <a:gd name="T5" fmla="*/ 0 h 97"/>
              <a:gd name="T6" fmla="*/ 47 w 48"/>
              <a:gd name="T7" fmla="*/ 0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  <a:lnTo>
                  <a:pt x="47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71" name="Line 39"/>
          <p:cNvSpPr>
            <a:spLocks noChangeShapeType="1"/>
          </p:cNvSpPr>
          <p:nvPr/>
        </p:nvSpPr>
        <p:spPr bwMode="auto">
          <a:xfrm>
            <a:off x="3582988" y="2381250"/>
            <a:ext cx="2492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2" name="Rectangle 40"/>
          <p:cNvSpPr>
            <a:spLocks noChangeArrowheads="1"/>
          </p:cNvSpPr>
          <p:nvPr/>
        </p:nvSpPr>
        <p:spPr bwMode="auto">
          <a:xfrm>
            <a:off x="4419600" y="2362200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 b="1">
                <a:latin typeface="Arial" charset="0"/>
              </a:rPr>
              <a:t>Mem</a:t>
            </a:r>
          </a:p>
        </p:txBody>
      </p:sp>
      <p:sp>
        <p:nvSpPr>
          <p:cNvPr id="18473" name="Rectangle 41"/>
          <p:cNvSpPr>
            <a:spLocks noChangeArrowheads="1"/>
          </p:cNvSpPr>
          <p:nvPr/>
        </p:nvSpPr>
        <p:spPr bwMode="auto">
          <a:xfrm>
            <a:off x="5153025" y="2316163"/>
            <a:ext cx="5635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 b="1">
                <a:latin typeface="Arial" charset="0"/>
              </a:rPr>
              <a:t>Reg</a:t>
            </a:r>
          </a:p>
        </p:txBody>
      </p:sp>
      <p:grpSp>
        <p:nvGrpSpPr>
          <p:cNvPr id="9" name="Group 42"/>
          <p:cNvGrpSpPr>
            <a:grpSpLocks/>
          </p:cNvGrpSpPr>
          <p:nvPr/>
        </p:nvGrpSpPr>
        <p:grpSpPr bwMode="auto">
          <a:xfrm>
            <a:off x="5195888" y="2312988"/>
            <a:ext cx="450850" cy="404812"/>
            <a:chOff x="3120" y="1248"/>
            <a:chExt cx="284" cy="289"/>
          </a:xfrm>
        </p:grpSpPr>
        <p:sp>
          <p:nvSpPr>
            <p:cNvPr id="18475" name="Freeform 43"/>
            <p:cNvSpPr>
              <a:spLocks/>
            </p:cNvSpPr>
            <p:nvPr/>
          </p:nvSpPr>
          <p:spPr bwMode="auto">
            <a:xfrm>
              <a:off x="3120" y="1248"/>
              <a:ext cx="142" cy="289"/>
            </a:xfrm>
            <a:custGeom>
              <a:avLst/>
              <a:gdLst>
                <a:gd name="T0" fmla="*/ 141 w 142"/>
                <a:gd name="T1" fmla="*/ 0 h 289"/>
                <a:gd name="T2" fmla="*/ 0 w 142"/>
                <a:gd name="T3" fmla="*/ 0 h 289"/>
                <a:gd name="T4" fmla="*/ 0 w 142"/>
                <a:gd name="T5" fmla="*/ 288 h 289"/>
                <a:gd name="T6" fmla="*/ 141 w 142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289">
                  <a:moveTo>
                    <a:pt x="141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1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76" name="Freeform 44"/>
            <p:cNvSpPr>
              <a:spLocks/>
            </p:cNvSpPr>
            <p:nvPr/>
          </p:nvSpPr>
          <p:spPr bwMode="auto">
            <a:xfrm>
              <a:off x="3261" y="1248"/>
              <a:ext cx="143" cy="289"/>
            </a:xfrm>
            <a:custGeom>
              <a:avLst/>
              <a:gdLst>
                <a:gd name="T0" fmla="*/ 0 w 143"/>
                <a:gd name="T1" fmla="*/ 0 h 289"/>
                <a:gd name="T2" fmla="*/ 142 w 143"/>
                <a:gd name="T3" fmla="*/ 0 h 289"/>
                <a:gd name="T4" fmla="*/ 142 w 143"/>
                <a:gd name="T5" fmla="*/ 288 h 289"/>
                <a:gd name="T6" fmla="*/ 0 w 143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3" h="289">
                  <a:moveTo>
                    <a:pt x="0" y="0"/>
                  </a:moveTo>
                  <a:lnTo>
                    <a:pt x="142" y="0"/>
                  </a:lnTo>
                  <a:lnTo>
                    <a:pt x="142" y="288"/>
                  </a:lnTo>
                  <a:lnTo>
                    <a:pt x="0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77" name="Line 45"/>
          <p:cNvSpPr>
            <a:spLocks noChangeShapeType="1"/>
          </p:cNvSpPr>
          <p:nvPr/>
        </p:nvSpPr>
        <p:spPr bwMode="auto">
          <a:xfrm>
            <a:off x="4962525" y="2514600"/>
            <a:ext cx="2206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8" name="Line 46"/>
          <p:cNvSpPr>
            <a:spLocks noChangeShapeType="1"/>
          </p:cNvSpPr>
          <p:nvPr/>
        </p:nvSpPr>
        <p:spPr bwMode="auto">
          <a:xfrm>
            <a:off x="4194175" y="2514600"/>
            <a:ext cx="246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9" name="Freeform 47"/>
          <p:cNvSpPr>
            <a:spLocks/>
          </p:cNvSpPr>
          <p:nvPr/>
        </p:nvSpPr>
        <p:spPr bwMode="auto">
          <a:xfrm>
            <a:off x="4386263" y="2514600"/>
            <a:ext cx="684212" cy="269875"/>
          </a:xfrm>
          <a:custGeom>
            <a:avLst/>
            <a:gdLst>
              <a:gd name="T0" fmla="*/ 0 w 431"/>
              <a:gd name="T1" fmla="*/ 0 h 193"/>
              <a:gd name="T2" fmla="*/ 0 w 431"/>
              <a:gd name="T3" fmla="*/ 192 h 193"/>
              <a:gd name="T4" fmla="*/ 391 w 431"/>
              <a:gd name="T5" fmla="*/ 192 h 193"/>
              <a:gd name="T6" fmla="*/ 391 w 431"/>
              <a:gd name="T7" fmla="*/ 64 h 193"/>
              <a:gd name="T8" fmla="*/ 430 w 431"/>
              <a:gd name="T9" fmla="*/ 0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1" h="193">
                <a:moveTo>
                  <a:pt x="0" y="0"/>
                </a:moveTo>
                <a:lnTo>
                  <a:pt x="0" y="192"/>
                </a:lnTo>
                <a:lnTo>
                  <a:pt x="391" y="192"/>
                </a:lnTo>
                <a:lnTo>
                  <a:pt x="391" y="64"/>
                </a:lnTo>
                <a:lnTo>
                  <a:pt x="430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80" name="Line 48"/>
          <p:cNvSpPr>
            <a:spLocks noChangeShapeType="1"/>
          </p:cNvSpPr>
          <p:nvPr/>
        </p:nvSpPr>
        <p:spPr bwMode="auto">
          <a:xfrm>
            <a:off x="3582988" y="2649538"/>
            <a:ext cx="2492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1" name="Freeform 49"/>
          <p:cNvSpPr>
            <a:spLocks/>
          </p:cNvSpPr>
          <p:nvPr/>
        </p:nvSpPr>
        <p:spPr bwMode="auto">
          <a:xfrm>
            <a:off x="3730625" y="2508250"/>
            <a:ext cx="534988" cy="388938"/>
          </a:xfrm>
          <a:custGeom>
            <a:avLst/>
            <a:gdLst>
              <a:gd name="T0" fmla="*/ 0 w 337"/>
              <a:gd name="T1" fmla="*/ 101 h 278"/>
              <a:gd name="T2" fmla="*/ 0 w 337"/>
              <a:gd name="T3" fmla="*/ 277 h 278"/>
              <a:gd name="T4" fmla="*/ 294 w 337"/>
              <a:gd name="T5" fmla="*/ 277 h 278"/>
              <a:gd name="T6" fmla="*/ 294 w 337"/>
              <a:gd name="T7" fmla="*/ 90 h 278"/>
              <a:gd name="T8" fmla="*/ 336 w 337"/>
              <a:gd name="T9" fmla="*/ 0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50"/>
          <p:cNvGrpSpPr>
            <a:grpSpLocks/>
          </p:cNvGrpSpPr>
          <p:nvPr/>
        </p:nvGrpSpPr>
        <p:grpSpPr bwMode="auto">
          <a:xfrm>
            <a:off x="3022600" y="2805113"/>
            <a:ext cx="3371850" cy="717550"/>
            <a:chOff x="1751" y="1600"/>
            <a:chExt cx="2124" cy="513"/>
          </a:xfrm>
        </p:grpSpPr>
        <p:grpSp>
          <p:nvGrpSpPr>
            <p:cNvPr id="11" name="Group 51"/>
            <p:cNvGrpSpPr>
              <a:grpSpLocks/>
            </p:cNvGrpSpPr>
            <p:nvPr/>
          </p:nvGrpSpPr>
          <p:grpSpPr bwMode="auto">
            <a:xfrm>
              <a:off x="2685" y="1600"/>
              <a:ext cx="224" cy="481"/>
              <a:chOff x="2685" y="1600"/>
              <a:chExt cx="224" cy="481"/>
            </a:xfrm>
          </p:grpSpPr>
          <p:sp>
            <p:nvSpPr>
              <p:cNvPr id="18484" name="Freeform 52"/>
              <p:cNvSpPr>
                <a:spLocks/>
              </p:cNvSpPr>
              <p:nvPr/>
            </p:nvSpPr>
            <p:spPr bwMode="auto">
              <a:xfrm>
                <a:off x="2696" y="1600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85" name="Rectangle 53"/>
              <p:cNvSpPr>
                <a:spLocks noChangeArrowheads="1"/>
              </p:cNvSpPr>
              <p:nvPr/>
            </p:nvSpPr>
            <p:spPr bwMode="auto">
              <a:xfrm rot="5400000">
                <a:off x="2576" y="1745"/>
                <a:ext cx="42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ALU</a:t>
                </a:r>
              </a:p>
            </p:txBody>
          </p:sp>
        </p:grpSp>
        <p:grpSp>
          <p:nvGrpSpPr>
            <p:cNvPr id="12" name="Group 54"/>
            <p:cNvGrpSpPr>
              <a:grpSpLocks/>
            </p:cNvGrpSpPr>
            <p:nvPr/>
          </p:nvGrpSpPr>
          <p:grpSpPr bwMode="auto">
            <a:xfrm>
              <a:off x="1751" y="1696"/>
              <a:ext cx="406" cy="289"/>
              <a:chOff x="1751" y="1696"/>
              <a:chExt cx="406" cy="289"/>
            </a:xfrm>
          </p:grpSpPr>
          <p:sp>
            <p:nvSpPr>
              <p:cNvPr id="18487" name="Rectangle 55"/>
              <p:cNvSpPr>
                <a:spLocks noChangeArrowheads="1"/>
              </p:cNvSpPr>
              <p:nvPr/>
            </p:nvSpPr>
            <p:spPr bwMode="auto">
              <a:xfrm>
                <a:off x="1751" y="1701"/>
                <a:ext cx="40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Mem</a:t>
                </a:r>
              </a:p>
            </p:txBody>
          </p:sp>
          <p:grpSp>
            <p:nvGrpSpPr>
              <p:cNvPr id="13" name="Group 56"/>
              <p:cNvGrpSpPr>
                <a:grpSpLocks/>
              </p:cNvGrpSpPr>
              <p:nvPr/>
            </p:nvGrpSpPr>
            <p:grpSpPr bwMode="auto">
              <a:xfrm>
                <a:off x="1770" y="1696"/>
                <a:ext cx="340" cy="289"/>
                <a:chOff x="1770" y="1696"/>
                <a:chExt cx="340" cy="289"/>
              </a:xfrm>
            </p:grpSpPr>
            <p:sp>
              <p:nvSpPr>
                <p:cNvPr id="18489" name="Freeform 57"/>
                <p:cNvSpPr>
                  <a:spLocks/>
                </p:cNvSpPr>
                <p:nvPr/>
              </p:nvSpPr>
              <p:spPr bwMode="auto">
                <a:xfrm>
                  <a:off x="1770" y="1696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90" name="Freeform 58"/>
                <p:cNvSpPr>
                  <a:spLocks/>
                </p:cNvSpPr>
                <p:nvPr/>
              </p:nvSpPr>
              <p:spPr bwMode="auto">
                <a:xfrm>
                  <a:off x="1939" y="1696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491" name="Rectangle 59"/>
            <p:cNvSpPr>
              <a:spLocks noChangeArrowheads="1"/>
            </p:cNvSpPr>
            <p:nvPr/>
          </p:nvSpPr>
          <p:spPr bwMode="auto">
            <a:xfrm>
              <a:off x="2211" y="1703"/>
              <a:ext cx="355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14" name="Group 60"/>
            <p:cNvGrpSpPr>
              <a:grpSpLocks/>
            </p:cNvGrpSpPr>
            <p:nvPr/>
          </p:nvGrpSpPr>
          <p:grpSpPr bwMode="auto">
            <a:xfrm>
              <a:off x="2230" y="1696"/>
              <a:ext cx="296" cy="289"/>
              <a:chOff x="2230" y="1696"/>
              <a:chExt cx="296" cy="289"/>
            </a:xfrm>
          </p:grpSpPr>
          <p:sp>
            <p:nvSpPr>
              <p:cNvPr id="18493" name="Freeform 61"/>
              <p:cNvSpPr>
                <a:spLocks/>
              </p:cNvSpPr>
              <p:nvPr/>
            </p:nvSpPr>
            <p:spPr bwMode="auto">
              <a:xfrm>
                <a:off x="2230" y="1696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94" name="Freeform 62"/>
              <p:cNvSpPr>
                <a:spLocks/>
              </p:cNvSpPr>
              <p:nvPr/>
            </p:nvSpPr>
            <p:spPr bwMode="auto">
              <a:xfrm>
                <a:off x="2378" y="1696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495" name="Line 63"/>
            <p:cNvSpPr>
              <a:spLocks noChangeShapeType="1"/>
            </p:cNvSpPr>
            <p:nvPr/>
          </p:nvSpPr>
          <p:spPr bwMode="auto">
            <a:xfrm>
              <a:off x="2115" y="1840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6" name="Freeform 64"/>
            <p:cNvSpPr>
              <a:spLocks/>
            </p:cNvSpPr>
            <p:nvPr/>
          </p:nvSpPr>
          <p:spPr bwMode="auto">
            <a:xfrm>
              <a:off x="2177" y="1744"/>
              <a:ext cx="48" cy="97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97" name="Line 65"/>
            <p:cNvSpPr>
              <a:spLocks noChangeShapeType="1"/>
            </p:cNvSpPr>
            <p:nvPr/>
          </p:nvSpPr>
          <p:spPr bwMode="auto">
            <a:xfrm>
              <a:off x="2531" y="1744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8" name="Rectangle 66"/>
            <p:cNvSpPr>
              <a:spLocks noChangeArrowheads="1"/>
            </p:cNvSpPr>
            <p:nvPr/>
          </p:nvSpPr>
          <p:spPr bwMode="auto">
            <a:xfrm>
              <a:off x="3028" y="1696"/>
              <a:ext cx="406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Mem</a:t>
              </a:r>
            </a:p>
          </p:txBody>
        </p:sp>
        <p:grpSp>
          <p:nvGrpSpPr>
            <p:cNvPr id="15" name="Group 67"/>
            <p:cNvGrpSpPr>
              <a:grpSpLocks/>
            </p:cNvGrpSpPr>
            <p:nvPr/>
          </p:nvGrpSpPr>
          <p:grpSpPr bwMode="auto">
            <a:xfrm>
              <a:off x="3079" y="1696"/>
              <a:ext cx="325" cy="289"/>
              <a:chOff x="3079" y="1696"/>
              <a:chExt cx="325" cy="289"/>
            </a:xfrm>
          </p:grpSpPr>
          <p:sp>
            <p:nvSpPr>
              <p:cNvPr id="18500" name="Freeform 68"/>
              <p:cNvSpPr>
                <a:spLocks/>
              </p:cNvSpPr>
              <p:nvPr/>
            </p:nvSpPr>
            <p:spPr bwMode="auto">
              <a:xfrm>
                <a:off x="3079" y="1696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1" name="Freeform 69"/>
              <p:cNvSpPr>
                <a:spLocks/>
              </p:cNvSpPr>
              <p:nvPr/>
            </p:nvSpPr>
            <p:spPr bwMode="auto">
              <a:xfrm>
                <a:off x="3240" y="1696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02" name="Rectangle 70"/>
            <p:cNvSpPr>
              <a:spLocks noChangeArrowheads="1"/>
            </p:cNvSpPr>
            <p:nvPr/>
          </p:nvSpPr>
          <p:spPr bwMode="auto">
            <a:xfrm>
              <a:off x="3520" y="1696"/>
              <a:ext cx="355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16" name="Group 71"/>
            <p:cNvGrpSpPr>
              <a:grpSpLocks/>
            </p:cNvGrpSpPr>
            <p:nvPr/>
          </p:nvGrpSpPr>
          <p:grpSpPr bwMode="auto">
            <a:xfrm>
              <a:off x="3547" y="1696"/>
              <a:ext cx="284" cy="289"/>
              <a:chOff x="3547" y="1696"/>
              <a:chExt cx="284" cy="289"/>
            </a:xfrm>
          </p:grpSpPr>
          <p:sp>
            <p:nvSpPr>
              <p:cNvPr id="18504" name="Freeform 72"/>
              <p:cNvSpPr>
                <a:spLocks/>
              </p:cNvSpPr>
              <p:nvPr/>
            </p:nvSpPr>
            <p:spPr bwMode="auto">
              <a:xfrm>
                <a:off x="3547" y="1696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05" name="Freeform 73"/>
              <p:cNvSpPr>
                <a:spLocks/>
              </p:cNvSpPr>
              <p:nvPr/>
            </p:nvSpPr>
            <p:spPr bwMode="auto">
              <a:xfrm>
                <a:off x="3688" y="1696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06" name="Line 74"/>
            <p:cNvSpPr>
              <a:spLocks noChangeShapeType="1"/>
            </p:cNvSpPr>
            <p:nvPr/>
          </p:nvSpPr>
          <p:spPr bwMode="auto">
            <a:xfrm>
              <a:off x="3400" y="1840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7" name="Line 75"/>
            <p:cNvSpPr>
              <a:spLocks noChangeShapeType="1"/>
            </p:cNvSpPr>
            <p:nvPr/>
          </p:nvSpPr>
          <p:spPr bwMode="auto">
            <a:xfrm>
              <a:off x="2916" y="1840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8" name="Freeform 76"/>
            <p:cNvSpPr>
              <a:spLocks/>
            </p:cNvSpPr>
            <p:nvPr/>
          </p:nvSpPr>
          <p:spPr bwMode="auto">
            <a:xfrm>
              <a:off x="3037" y="1840"/>
              <a:ext cx="431" cy="193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09" name="Line 77"/>
            <p:cNvSpPr>
              <a:spLocks noChangeShapeType="1"/>
            </p:cNvSpPr>
            <p:nvPr/>
          </p:nvSpPr>
          <p:spPr bwMode="auto">
            <a:xfrm>
              <a:off x="2531" y="1936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0" name="Freeform 78"/>
            <p:cNvSpPr>
              <a:spLocks/>
            </p:cNvSpPr>
            <p:nvPr/>
          </p:nvSpPr>
          <p:spPr bwMode="auto">
            <a:xfrm>
              <a:off x="2624" y="1835"/>
              <a:ext cx="337" cy="278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79"/>
          <p:cNvGrpSpPr>
            <a:grpSpLocks/>
          </p:cNvGrpSpPr>
          <p:nvPr/>
        </p:nvGrpSpPr>
        <p:grpSpPr bwMode="auto">
          <a:xfrm>
            <a:off x="3700463" y="3432175"/>
            <a:ext cx="3371850" cy="715963"/>
            <a:chOff x="2178" y="2048"/>
            <a:chExt cx="2124" cy="513"/>
          </a:xfrm>
        </p:grpSpPr>
        <p:grpSp>
          <p:nvGrpSpPr>
            <p:cNvPr id="18" name="Group 80"/>
            <p:cNvGrpSpPr>
              <a:grpSpLocks/>
            </p:cNvGrpSpPr>
            <p:nvPr/>
          </p:nvGrpSpPr>
          <p:grpSpPr bwMode="auto">
            <a:xfrm>
              <a:off x="3110" y="2048"/>
              <a:ext cx="226" cy="481"/>
              <a:chOff x="3110" y="2048"/>
              <a:chExt cx="226" cy="481"/>
            </a:xfrm>
          </p:grpSpPr>
          <p:sp>
            <p:nvSpPr>
              <p:cNvPr id="18513" name="Freeform 81"/>
              <p:cNvSpPr>
                <a:spLocks/>
              </p:cNvSpPr>
              <p:nvPr/>
            </p:nvSpPr>
            <p:spPr bwMode="auto">
              <a:xfrm>
                <a:off x="3123" y="2048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14" name="Rectangle 82"/>
              <p:cNvSpPr>
                <a:spLocks noChangeArrowheads="1"/>
              </p:cNvSpPr>
              <p:nvPr/>
            </p:nvSpPr>
            <p:spPr bwMode="auto">
              <a:xfrm rot="5400000">
                <a:off x="3001" y="2192"/>
                <a:ext cx="42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ALU</a:t>
                </a:r>
              </a:p>
            </p:txBody>
          </p:sp>
        </p:grpSp>
        <p:grpSp>
          <p:nvGrpSpPr>
            <p:cNvPr id="19" name="Group 83"/>
            <p:cNvGrpSpPr>
              <a:grpSpLocks/>
            </p:cNvGrpSpPr>
            <p:nvPr/>
          </p:nvGrpSpPr>
          <p:grpSpPr bwMode="auto">
            <a:xfrm>
              <a:off x="2178" y="2144"/>
              <a:ext cx="406" cy="289"/>
              <a:chOff x="2178" y="2144"/>
              <a:chExt cx="406" cy="289"/>
            </a:xfrm>
          </p:grpSpPr>
          <p:sp>
            <p:nvSpPr>
              <p:cNvPr id="18516" name="Rectangle 84"/>
              <p:cNvSpPr>
                <a:spLocks noChangeArrowheads="1"/>
              </p:cNvSpPr>
              <p:nvPr/>
            </p:nvSpPr>
            <p:spPr bwMode="auto">
              <a:xfrm>
                <a:off x="2178" y="2146"/>
                <a:ext cx="406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Mem</a:t>
                </a:r>
              </a:p>
            </p:txBody>
          </p:sp>
          <p:grpSp>
            <p:nvGrpSpPr>
              <p:cNvPr id="20" name="Group 85"/>
              <p:cNvGrpSpPr>
                <a:grpSpLocks/>
              </p:cNvGrpSpPr>
              <p:nvPr/>
            </p:nvGrpSpPr>
            <p:grpSpPr bwMode="auto">
              <a:xfrm>
                <a:off x="2197" y="2144"/>
                <a:ext cx="340" cy="289"/>
                <a:chOff x="2197" y="2144"/>
                <a:chExt cx="340" cy="289"/>
              </a:xfrm>
            </p:grpSpPr>
            <p:sp>
              <p:nvSpPr>
                <p:cNvPr id="18518" name="Freeform 86"/>
                <p:cNvSpPr>
                  <a:spLocks/>
                </p:cNvSpPr>
                <p:nvPr/>
              </p:nvSpPr>
              <p:spPr bwMode="auto">
                <a:xfrm>
                  <a:off x="2197" y="2144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519" name="Freeform 87"/>
                <p:cNvSpPr>
                  <a:spLocks/>
                </p:cNvSpPr>
                <p:nvPr/>
              </p:nvSpPr>
              <p:spPr bwMode="auto">
                <a:xfrm>
                  <a:off x="2366" y="2144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8520" name="Rectangle 88"/>
            <p:cNvSpPr>
              <a:spLocks noChangeArrowheads="1"/>
            </p:cNvSpPr>
            <p:nvPr/>
          </p:nvSpPr>
          <p:spPr bwMode="auto">
            <a:xfrm>
              <a:off x="2638" y="2152"/>
              <a:ext cx="355" cy="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21" name="Group 89"/>
            <p:cNvGrpSpPr>
              <a:grpSpLocks/>
            </p:cNvGrpSpPr>
            <p:nvPr/>
          </p:nvGrpSpPr>
          <p:grpSpPr bwMode="auto">
            <a:xfrm>
              <a:off x="2657" y="2144"/>
              <a:ext cx="296" cy="289"/>
              <a:chOff x="2657" y="2144"/>
              <a:chExt cx="296" cy="289"/>
            </a:xfrm>
          </p:grpSpPr>
          <p:sp>
            <p:nvSpPr>
              <p:cNvPr id="18522" name="Freeform 90"/>
              <p:cNvSpPr>
                <a:spLocks/>
              </p:cNvSpPr>
              <p:nvPr/>
            </p:nvSpPr>
            <p:spPr bwMode="auto">
              <a:xfrm>
                <a:off x="2657" y="2144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23" name="Freeform 91"/>
              <p:cNvSpPr>
                <a:spLocks/>
              </p:cNvSpPr>
              <p:nvPr/>
            </p:nvSpPr>
            <p:spPr bwMode="auto">
              <a:xfrm>
                <a:off x="2805" y="2144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24" name="Line 92"/>
            <p:cNvSpPr>
              <a:spLocks noChangeShapeType="1"/>
            </p:cNvSpPr>
            <p:nvPr/>
          </p:nvSpPr>
          <p:spPr bwMode="auto">
            <a:xfrm>
              <a:off x="2542" y="2288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5" name="Freeform 93"/>
            <p:cNvSpPr>
              <a:spLocks/>
            </p:cNvSpPr>
            <p:nvPr/>
          </p:nvSpPr>
          <p:spPr bwMode="auto">
            <a:xfrm>
              <a:off x="2604" y="2192"/>
              <a:ext cx="48" cy="97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26" name="Line 94"/>
            <p:cNvSpPr>
              <a:spLocks noChangeShapeType="1"/>
            </p:cNvSpPr>
            <p:nvPr/>
          </p:nvSpPr>
          <p:spPr bwMode="auto">
            <a:xfrm>
              <a:off x="2958" y="2192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7" name="Rectangle 95"/>
            <p:cNvSpPr>
              <a:spLocks noChangeArrowheads="1"/>
            </p:cNvSpPr>
            <p:nvPr/>
          </p:nvSpPr>
          <p:spPr bwMode="auto">
            <a:xfrm>
              <a:off x="3455" y="2146"/>
              <a:ext cx="406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Mem</a:t>
              </a:r>
            </a:p>
          </p:txBody>
        </p:sp>
        <p:grpSp>
          <p:nvGrpSpPr>
            <p:cNvPr id="22" name="Group 96"/>
            <p:cNvGrpSpPr>
              <a:grpSpLocks/>
            </p:cNvGrpSpPr>
            <p:nvPr/>
          </p:nvGrpSpPr>
          <p:grpSpPr bwMode="auto">
            <a:xfrm>
              <a:off x="3506" y="2144"/>
              <a:ext cx="325" cy="289"/>
              <a:chOff x="3506" y="2144"/>
              <a:chExt cx="325" cy="289"/>
            </a:xfrm>
          </p:grpSpPr>
          <p:sp>
            <p:nvSpPr>
              <p:cNvPr id="18529" name="Freeform 97"/>
              <p:cNvSpPr>
                <a:spLocks/>
              </p:cNvSpPr>
              <p:nvPr/>
            </p:nvSpPr>
            <p:spPr bwMode="auto">
              <a:xfrm>
                <a:off x="3506" y="2144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0" name="Freeform 98"/>
              <p:cNvSpPr>
                <a:spLocks/>
              </p:cNvSpPr>
              <p:nvPr/>
            </p:nvSpPr>
            <p:spPr bwMode="auto">
              <a:xfrm>
                <a:off x="3667" y="2144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31" name="Rectangle 99"/>
            <p:cNvSpPr>
              <a:spLocks noChangeArrowheads="1"/>
            </p:cNvSpPr>
            <p:nvPr/>
          </p:nvSpPr>
          <p:spPr bwMode="auto">
            <a:xfrm>
              <a:off x="3947" y="2146"/>
              <a:ext cx="355" cy="2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23" name="Group 100"/>
            <p:cNvGrpSpPr>
              <a:grpSpLocks/>
            </p:cNvGrpSpPr>
            <p:nvPr/>
          </p:nvGrpSpPr>
          <p:grpSpPr bwMode="auto">
            <a:xfrm>
              <a:off x="3974" y="2144"/>
              <a:ext cx="284" cy="289"/>
              <a:chOff x="3974" y="2144"/>
              <a:chExt cx="284" cy="289"/>
            </a:xfrm>
          </p:grpSpPr>
          <p:sp>
            <p:nvSpPr>
              <p:cNvPr id="18533" name="Freeform 101"/>
              <p:cNvSpPr>
                <a:spLocks/>
              </p:cNvSpPr>
              <p:nvPr/>
            </p:nvSpPr>
            <p:spPr bwMode="auto">
              <a:xfrm>
                <a:off x="3974" y="2144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34" name="Freeform 102"/>
              <p:cNvSpPr>
                <a:spLocks/>
              </p:cNvSpPr>
              <p:nvPr/>
            </p:nvSpPr>
            <p:spPr bwMode="auto">
              <a:xfrm>
                <a:off x="4115" y="2144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535" name="Line 103"/>
            <p:cNvSpPr>
              <a:spLocks noChangeShapeType="1"/>
            </p:cNvSpPr>
            <p:nvPr/>
          </p:nvSpPr>
          <p:spPr bwMode="auto">
            <a:xfrm>
              <a:off x="3827" y="2288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6" name="Line 104"/>
            <p:cNvSpPr>
              <a:spLocks noChangeShapeType="1"/>
            </p:cNvSpPr>
            <p:nvPr/>
          </p:nvSpPr>
          <p:spPr bwMode="auto">
            <a:xfrm>
              <a:off x="3343" y="2288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7" name="Freeform 105"/>
            <p:cNvSpPr>
              <a:spLocks/>
            </p:cNvSpPr>
            <p:nvPr/>
          </p:nvSpPr>
          <p:spPr bwMode="auto">
            <a:xfrm>
              <a:off x="3464" y="2288"/>
              <a:ext cx="431" cy="193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38" name="Line 106"/>
            <p:cNvSpPr>
              <a:spLocks noChangeShapeType="1"/>
            </p:cNvSpPr>
            <p:nvPr/>
          </p:nvSpPr>
          <p:spPr bwMode="auto">
            <a:xfrm>
              <a:off x="2958" y="2384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9" name="Freeform 107"/>
            <p:cNvSpPr>
              <a:spLocks/>
            </p:cNvSpPr>
            <p:nvPr/>
          </p:nvSpPr>
          <p:spPr bwMode="auto">
            <a:xfrm>
              <a:off x="3051" y="2283"/>
              <a:ext cx="337" cy="278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Group 109"/>
          <p:cNvGrpSpPr>
            <a:grpSpLocks/>
          </p:cNvGrpSpPr>
          <p:nvPr/>
        </p:nvGrpSpPr>
        <p:grpSpPr bwMode="auto">
          <a:xfrm>
            <a:off x="7922102" y="4805299"/>
            <a:ext cx="357188" cy="762000"/>
            <a:chOff x="3538" y="2496"/>
            <a:chExt cx="225" cy="481"/>
          </a:xfrm>
        </p:grpSpPr>
        <p:sp>
          <p:nvSpPr>
            <p:cNvPr id="18542" name="Freeform 110"/>
            <p:cNvSpPr>
              <a:spLocks/>
            </p:cNvSpPr>
            <p:nvPr/>
          </p:nvSpPr>
          <p:spPr bwMode="auto">
            <a:xfrm>
              <a:off x="3550" y="2496"/>
              <a:ext cx="213" cy="481"/>
            </a:xfrm>
            <a:custGeom>
              <a:avLst/>
              <a:gdLst>
                <a:gd name="T0" fmla="*/ 0 w 213"/>
                <a:gd name="T1" fmla="*/ 320 h 481"/>
                <a:gd name="T2" fmla="*/ 71 w 213"/>
                <a:gd name="T3" fmla="*/ 240 h 481"/>
                <a:gd name="T4" fmla="*/ 0 w 213"/>
                <a:gd name="T5" fmla="*/ 160 h 481"/>
                <a:gd name="T6" fmla="*/ 0 w 213"/>
                <a:gd name="T7" fmla="*/ 0 h 481"/>
                <a:gd name="T8" fmla="*/ 212 w 213"/>
                <a:gd name="T9" fmla="*/ 160 h 481"/>
                <a:gd name="T10" fmla="*/ 212 w 213"/>
                <a:gd name="T11" fmla="*/ 320 h 481"/>
                <a:gd name="T12" fmla="*/ 0 w 213"/>
                <a:gd name="T13" fmla="*/ 480 h 481"/>
                <a:gd name="T14" fmla="*/ 0 w 213"/>
                <a:gd name="T15" fmla="*/ 320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3" h="481">
                  <a:moveTo>
                    <a:pt x="0" y="320"/>
                  </a:moveTo>
                  <a:lnTo>
                    <a:pt x="71" y="240"/>
                  </a:lnTo>
                  <a:lnTo>
                    <a:pt x="0" y="160"/>
                  </a:lnTo>
                  <a:lnTo>
                    <a:pt x="0" y="0"/>
                  </a:lnTo>
                  <a:lnTo>
                    <a:pt x="212" y="160"/>
                  </a:lnTo>
                  <a:lnTo>
                    <a:pt x="212" y="320"/>
                  </a:lnTo>
                  <a:lnTo>
                    <a:pt x="0" y="480"/>
                  </a:lnTo>
                  <a:lnTo>
                    <a:pt x="0" y="32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43" name="Rectangle 111"/>
            <p:cNvSpPr>
              <a:spLocks noChangeArrowheads="1"/>
            </p:cNvSpPr>
            <p:nvPr/>
          </p:nvSpPr>
          <p:spPr bwMode="auto">
            <a:xfrm rot="5400000">
              <a:off x="3454" y="2615"/>
              <a:ext cx="37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ALU</a:t>
              </a:r>
            </a:p>
          </p:txBody>
        </p:sp>
      </p:grpSp>
      <p:grpSp>
        <p:nvGrpSpPr>
          <p:cNvPr id="26" name="Group 112"/>
          <p:cNvGrpSpPr>
            <a:grpSpLocks/>
          </p:cNvGrpSpPr>
          <p:nvPr/>
        </p:nvGrpSpPr>
        <p:grpSpPr bwMode="auto">
          <a:xfrm>
            <a:off x="6515577" y="5033899"/>
            <a:ext cx="539750" cy="411163"/>
            <a:chOff x="2624" y="2592"/>
            <a:chExt cx="340" cy="294"/>
          </a:xfrm>
        </p:grpSpPr>
        <p:sp>
          <p:nvSpPr>
            <p:cNvPr id="18545" name="Freeform 113"/>
            <p:cNvSpPr>
              <a:spLocks/>
            </p:cNvSpPr>
            <p:nvPr/>
          </p:nvSpPr>
          <p:spPr bwMode="auto">
            <a:xfrm>
              <a:off x="2816" y="2597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solidFill>
              <a:schemeClr val="accent1"/>
            </a:solidFill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" name="Group 114"/>
            <p:cNvGrpSpPr>
              <a:grpSpLocks/>
            </p:cNvGrpSpPr>
            <p:nvPr/>
          </p:nvGrpSpPr>
          <p:grpSpPr bwMode="auto">
            <a:xfrm>
              <a:off x="2624" y="2592"/>
              <a:ext cx="340" cy="289"/>
              <a:chOff x="2624" y="2592"/>
              <a:chExt cx="340" cy="289"/>
            </a:xfrm>
          </p:grpSpPr>
          <p:sp>
            <p:nvSpPr>
              <p:cNvPr id="18547" name="Freeform 115"/>
              <p:cNvSpPr>
                <a:spLocks/>
              </p:cNvSpPr>
              <p:nvPr/>
            </p:nvSpPr>
            <p:spPr bwMode="auto">
              <a:xfrm>
                <a:off x="2624" y="2592"/>
                <a:ext cx="170" cy="289"/>
              </a:xfrm>
              <a:custGeom>
                <a:avLst/>
                <a:gdLst>
                  <a:gd name="T0" fmla="*/ 169 w 170"/>
                  <a:gd name="T1" fmla="*/ 0 h 289"/>
                  <a:gd name="T2" fmla="*/ 0 w 170"/>
                  <a:gd name="T3" fmla="*/ 0 h 289"/>
                  <a:gd name="T4" fmla="*/ 0 w 170"/>
                  <a:gd name="T5" fmla="*/ 288 h 289"/>
                  <a:gd name="T6" fmla="*/ 169 w 170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0" h="289">
                    <a:moveTo>
                      <a:pt x="169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9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548" name="Freeform 116"/>
              <p:cNvSpPr>
                <a:spLocks/>
              </p:cNvSpPr>
              <p:nvPr/>
            </p:nvSpPr>
            <p:spPr bwMode="auto">
              <a:xfrm>
                <a:off x="2793" y="2592"/>
                <a:ext cx="171" cy="289"/>
              </a:xfrm>
              <a:custGeom>
                <a:avLst/>
                <a:gdLst>
                  <a:gd name="T0" fmla="*/ 0 w 171"/>
                  <a:gd name="T1" fmla="*/ 0 h 289"/>
                  <a:gd name="T2" fmla="*/ 170 w 171"/>
                  <a:gd name="T3" fmla="*/ 0 h 289"/>
                  <a:gd name="T4" fmla="*/ 170 w 171"/>
                  <a:gd name="T5" fmla="*/ 288 h 289"/>
                  <a:gd name="T6" fmla="*/ 0 w 171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1" h="289">
                    <a:moveTo>
                      <a:pt x="0" y="0"/>
                    </a:moveTo>
                    <a:lnTo>
                      <a:pt x="170" y="0"/>
                    </a:lnTo>
                    <a:lnTo>
                      <a:pt x="170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8549" name="Rectangle 117"/>
          <p:cNvSpPr>
            <a:spLocks noChangeArrowheads="1"/>
          </p:cNvSpPr>
          <p:nvPr/>
        </p:nvSpPr>
        <p:spPr bwMode="auto">
          <a:xfrm>
            <a:off x="6474302" y="5033899"/>
            <a:ext cx="644525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 b="1">
                <a:latin typeface="Arial" charset="0"/>
              </a:rPr>
              <a:t>Mem</a:t>
            </a:r>
          </a:p>
        </p:txBody>
      </p:sp>
      <p:sp>
        <p:nvSpPr>
          <p:cNvPr id="18550" name="Rectangle 118"/>
          <p:cNvSpPr>
            <a:spLocks noChangeArrowheads="1"/>
          </p:cNvSpPr>
          <p:nvPr/>
        </p:nvSpPr>
        <p:spPr bwMode="auto">
          <a:xfrm>
            <a:off x="7204552" y="5045012"/>
            <a:ext cx="563563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600" b="1">
                <a:latin typeface="Arial" charset="0"/>
              </a:rPr>
              <a:t>Reg</a:t>
            </a:r>
          </a:p>
        </p:txBody>
      </p:sp>
      <p:grpSp>
        <p:nvGrpSpPr>
          <p:cNvPr id="28" name="Group 119"/>
          <p:cNvGrpSpPr>
            <a:grpSpLocks/>
          </p:cNvGrpSpPr>
          <p:nvPr/>
        </p:nvGrpSpPr>
        <p:grpSpPr bwMode="auto">
          <a:xfrm>
            <a:off x="7234715" y="5035487"/>
            <a:ext cx="469900" cy="403225"/>
            <a:chOff x="3084" y="2592"/>
            <a:chExt cx="296" cy="289"/>
          </a:xfrm>
        </p:grpSpPr>
        <p:sp>
          <p:nvSpPr>
            <p:cNvPr id="18552" name="Freeform 120"/>
            <p:cNvSpPr>
              <a:spLocks/>
            </p:cNvSpPr>
            <p:nvPr/>
          </p:nvSpPr>
          <p:spPr bwMode="auto">
            <a:xfrm>
              <a:off x="3084" y="2592"/>
              <a:ext cx="149" cy="289"/>
            </a:xfrm>
            <a:custGeom>
              <a:avLst/>
              <a:gdLst>
                <a:gd name="T0" fmla="*/ 148 w 149"/>
                <a:gd name="T1" fmla="*/ 0 h 289"/>
                <a:gd name="T2" fmla="*/ 0 w 149"/>
                <a:gd name="T3" fmla="*/ 0 h 289"/>
                <a:gd name="T4" fmla="*/ 0 w 149"/>
                <a:gd name="T5" fmla="*/ 288 h 289"/>
                <a:gd name="T6" fmla="*/ 148 w 149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9" h="289">
                  <a:moveTo>
                    <a:pt x="148" y="0"/>
                  </a:moveTo>
                  <a:lnTo>
                    <a:pt x="0" y="0"/>
                  </a:lnTo>
                  <a:lnTo>
                    <a:pt x="0" y="288"/>
                  </a:lnTo>
                  <a:lnTo>
                    <a:pt x="148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53" name="Freeform 121"/>
            <p:cNvSpPr>
              <a:spLocks/>
            </p:cNvSpPr>
            <p:nvPr/>
          </p:nvSpPr>
          <p:spPr bwMode="auto">
            <a:xfrm>
              <a:off x="3232" y="2592"/>
              <a:ext cx="148" cy="289"/>
            </a:xfrm>
            <a:custGeom>
              <a:avLst/>
              <a:gdLst>
                <a:gd name="T0" fmla="*/ 0 w 148"/>
                <a:gd name="T1" fmla="*/ 0 h 289"/>
                <a:gd name="T2" fmla="*/ 147 w 148"/>
                <a:gd name="T3" fmla="*/ 0 h 289"/>
                <a:gd name="T4" fmla="*/ 147 w 148"/>
                <a:gd name="T5" fmla="*/ 288 h 289"/>
                <a:gd name="T6" fmla="*/ 0 w 148"/>
                <a:gd name="T7" fmla="*/ 288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8" h="289">
                  <a:moveTo>
                    <a:pt x="0" y="0"/>
                  </a:moveTo>
                  <a:lnTo>
                    <a:pt x="147" y="0"/>
                  </a:lnTo>
                  <a:lnTo>
                    <a:pt x="147" y="288"/>
                  </a:lnTo>
                  <a:lnTo>
                    <a:pt x="0" y="288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554" name="Line 122"/>
          <p:cNvSpPr>
            <a:spLocks noChangeShapeType="1"/>
          </p:cNvSpPr>
          <p:nvPr/>
        </p:nvSpPr>
        <p:spPr bwMode="auto">
          <a:xfrm>
            <a:off x="7052152" y="5237099"/>
            <a:ext cx="152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55" name="Freeform 123"/>
          <p:cNvSpPr>
            <a:spLocks/>
          </p:cNvSpPr>
          <p:nvPr/>
        </p:nvSpPr>
        <p:spPr bwMode="auto">
          <a:xfrm>
            <a:off x="7150577" y="5102162"/>
            <a:ext cx="76200" cy="134938"/>
          </a:xfrm>
          <a:custGeom>
            <a:avLst/>
            <a:gdLst>
              <a:gd name="T0" fmla="*/ 0 w 48"/>
              <a:gd name="T1" fmla="*/ 96 h 97"/>
              <a:gd name="T2" fmla="*/ 0 w 48"/>
              <a:gd name="T3" fmla="*/ 0 h 97"/>
              <a:gd name="T4" fmla="*/ 47 w 48"/>
              <a:gd name="T5" fmla="*/ 0 h 97"/>
              <a:gd name="T6" fmla="*/ 47 w 48"/>
              <a:gd name="T7" fmla="*/ 0 h 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8" h="97">
                <a:moveTo>
                  <a:pt x="0" y="96"/>
                </a:moveTo>
                <a:lnTo>
                  <a:pt x="0" y="0"/>
                </a:lnTo>
                <a:lnTo>
                  <a:pt x="47" y="0"/>
                </a:lnTo>
                <a:lnTo>
                  <a:pt x="47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556" name="Line 124"/>
          <p:cNvSpPr>
            <a:spLocks noChangeShapeType="1"/>
          </p:cNvSpPr>
          <p:nvPr/>
        </p:nvSpPr>
        <p:spPr bwMode="auto">
          <a:xfrm>
            <a:off x="7712552" y="5102162"/>
            <a:ext cx="2492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66" name="Line 134"/>
          <p:cNvSpPr>
            <a:spLocks noChangeShapeType="1"/>
          </p:cNvSpPr>
          <p:nvPr/>
        </p:nvSpPr>
        <p:spPr bwMode="auto">
          <a:xfrm>
            <a:off x="8323740" y="5237099"/>
            <a:ext cx="24606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68" name="Line 136"/>
          <p:cNvSpPr>
            <a:spLocks noChangeShapeType="1"/>
          </p:cNvSpPr>
          <p:nvPr/>
        </p:nvSpPr>
        <p:spPr bwMode="auto">
          <a:xfrm>
            <a:off x="7693502" y="5338699"/>
            <a:ext cx="2492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69" name="Freeform 137"/>
          <p:cNvSpPr>
            <a:spLocks/>
          </p:cNvSpPr>
          <p:nvPr/>
        </p:nvSpPr>
        <p:spPr bwMode="auto">
          <a:xfrm>
            <a:off x="7860190" y="5229162"/>
            <a:ext cx="534988" cy="388938"/>
          </a:xfrm>
          <a:custGeom>
            <a:avLst/>
            <a:gdLst>
              <a:gd name="T0" fmla="*/ 0 w 337"/>
              <a:gd name="T1" fmla="*/ 101 h 278"/>
              <a:gd name="T2" fmla="*/ 0 w 337"/>
              <a:gd name="T3" fmla="*/ 277 h 278"/>
              <a:gd name="T4" fmla="*/ 294 w 337"/>
              <a:gd name="T5" fmla="*/ 277 h 278"/>
              <a:gd name="T6" fmla="*/ 294 w 337"/>
              <a:gd name="T7" fmla="*/ 90 h 278"/>
              <a:gd name="T8" fmla="*/ 336 w 337"/>
              <a:gd name="T9" fmla="*/ 0 h 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7" h="278">
                <a:moveTo>
                  <a:pt x="0" y="101"/>
                </a:moveTo>
                <a:lnTo>
                  <a:pt x="0" y="277"/>
                </a:lnTo>
                <a:lnTo>
                  <a:pt x="294" y="277"/>
                </a:lnTo>
                <a:lnTo>
                  <a:pt x="294" y="90"/>
                </a:lnTo>
                <a:lnTo>
                  <a:pt x="336" y="0"/>
                </a:lnTo>
              </a:path>
            </a:pathLst>
          </a:custGeom>
          <a:noFill/>
          <a:ln w="254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Group 138"/>
          <p:cNvGrpSpPr>
            <a:grpSpLocks/>
          </p:cNvGrpSpPr>
          <p:nvPr/>
        </p:nvGrpSpPr>
        <p:grpSpPr bwMode="auto">
          <a:xfrm>
            <a:off x="4267200" y="4267200"/>
            <a:ext cx="3505200" cy="609600"/>
            <a:chOff x="3216" y="2832"/>
            <a:chExt cx="2736" cy="384"/>
          </a:xfrm>
        </p:grpSpPr>
        <p:sp>
          <p:nvSpPr>
            <p:cNvPr id="18571" name="AutoShape 139"/>
            <p:cNvSpPr>
              <a:spLocks noChangeArrowheads="1"/>
            </p:cNvSpPr>
            <p:nvPr/>
          </p:nvSpPr>
          <p:spPr bwMode="auto">
            <a:xfrm>
              <a:off x="3216" y="2832"/>
              <a:ext cx="480" cy="384"/>
            </a:xfrm>
            <a:prstGeom prst="cloudCallout">
              <a:avLst>
                <a:gd name="adj1" fmla="val 21875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18572" name="AutoShape 140"/>
            <p:cNvSpPr>
              <a:spLocks noChangeArrowheads="1"/>
            </p:cNvSpPr>
            <p:nvPr/>
          </p:nvSpPr>
          <p:spPr bwMode="auto">
            <a:xfrm>
              <a:off x="4272" y="2832"/>
              <a:ext cx="528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18573" name="AutoShape 141"/>
            <p:cNvSpPr>
              <a:spLocks noChangeArrowheads="1"/>
            </p:cNvSpPr>
            <p:nvPr/>
          </p:nvSpPr>
          <p:spPr bwMode="auto">
            <a:xfrm>
              <a:off x="4848" y="2832"/>
              <a:ext cx="528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18574" name="AutoShape 142"/>
            <p:cNvSpPr>
              <a:spLocks noChangeArrowheads="1"/>
            </p:cNvSpPr>
            <p:nvPr/>
          </p:nvSpPr>
          <p:spPr bwMode="auto">
            <a:xfrm>
              <a:off x="5424" y="2832"/>
              <a:ext cx="528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18575" name="AutoShape 143"/>
            <p:cNvSpPr>
              <a:spLocks noChangeArrowheads="1"/>
            </p:cNvSpPr>
            <p:nvPr/>
          </p:nvSpPr>
          <p:spPr bwMode="auto">
            <a:xfrm>
              <a:off x="3744" y="2832"/>
              <a:ext cx="528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</p:grpSp>
      <p:sp>
        <p:nvSpPr>
          <p:cNvPr id="18576" name="Rectangle 144"/>
          <p:cNvSpPr>
            <a:spLocks noChangeArrowheads="1"/>
          </p:cNvSpPr>
          <p:nvPr/>
        </p:nvSpPr>
        <p:spPr bwMode="auto">
          <a:xfrm>
            <a:off x="1219200" y="4343400"/>
            <a:ext cx="858838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2400">
                <a:solidFill>
                  <a:srgbClr val="FF3300"/>
                </a:solidFill>
              </a:rPr>
              <a:t>Stall</a:t>
            </a:r>
            <a:endParaRPr lang="en-US" altLang="zh-CN" sz="2400"/>
          </a:p>
        </p:txBody>
      </p:sp>
      <p:sp>
        <p:nvSpPr>
          <p:cNvPr id="145" name="灯片编号占位符 1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b="1" dirty="0" smtClean="0">
                <a:solidFill>
                  <a:srgbClr val="0070C0"/>
                </a:solidFill>
              </a:rPr>
              <a:t>无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结构冒险机器</a:t>
            </a:r>
            <a:r>
              <a:rPr lang="zh-CN" altLang="en-US" sz="3200" b="1" dirty="0" smtClean="0"/>
              <a:t>的</a:t>
            </a:r>
            <a:r>
              <a:rPr lang="en-US" altLang="zh-CN" i="1" dirty="0" smtClean="0"/>
              <a:t>CPI</a:t>
            </a:r>
            <a:r>
              <a:rPr lang="zh-CN" altLang="en-US" sz="3200" b="1" dirty="0" smtClean="0"/>
              <a:t>更低</a:t>
            </a:r>
            <a:endParaRPr lang="en-US" altLang="zh-CN" sz="3200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i="1" dirty="0" smtClean="0"/>
              <a:t>例子：</a:t>
            </a:r>
            <a:r>
              <a:rPr lang="en-US" altLang="zh-CN" sz="2800" b="1" i="1" dirty="0" smtClean="0"/>
              <a:t>load</a:t>
            </a:r>
            <a:r>
              <a:rPr lang="zh-CN" altLang="en-US" sz="2800" b="1" i="1" dirty="0" smtClean="0"/>
              <a:t>结构冒险的影响</a:t>
            </a:r>
            <a:r>
              <a:rPr lang="en-US" altLang="zh-CN" sz="2800" b="1" i="1" dirty="0" smtClean="0"/>
              <a:t> </a:t>
            </a:r>
            <a:endParaRPr lang="en-US" altLang="zh-CN" sz="2800" b="1" i="1" dirty="0"/>
          </a:p>
          <a:p>
            <a:pPr lvl="1">
              <a:lnSpc>
                <a:spcPct val="90000"/>
              </a:lnSpc>
            </a:pPr>
            <a:r>
              <a:rPr lang="zh-CN" altLang="en-US" sz="2400" b="1" i="1" dirty="0" smtClean="0"/>
              <a:t>数据引用占程序的</a:t>
            </a:r>
            <a:r>
              <a:rPr lang="en-US" altLang="zh-CN" sz="2400" b="1" i="1" dirty="0" smtClean="0"/>
              <a:t>40%</a:t>
            </a:r>
            <a:endParaRPr lang="en-US" altLang="zh-CN" sz="2400" b="1" i="1" dirty="0"/>
          </a:p>
          <a:p>
            <a:pPr lvl="1">
              <a:lnSpc>
                <a:spcPct val="90000"/>
              </a:lnSpc>
            </a:pPr>
            <a:r>
              <a:rPr lang="zh-CN" altLang="en-US" sz="2400" b="1" i="1" dirty="0" smtClean="0"/>
              <a:t>忽略结构冒险的理想</a:t>
            </a:r>
            <a:r>
              <a:rPr lang="en-US" altLang="zh-CN" sz="2400" b="1" i="1" dirty="0" smtClean="0"/>
              <a:t> </a:t>
            </a:r>
            <a:r>
              <a:rPr lang="en-US" altLang="zh-CN" sz="2400" b="1" i="1" dirty="0"/>
              <a:t>CPI </a:t>
            </a:r>
            <a:r>
              <a:rPr lang="zh-CN" altLang="en-US" sz="2400" b="1" i="1" dirty="0" smtClean="0"/>
              <a:t>是</a:t>
            </a:r>
            <a:r>
              <a:rPr lang="en-US" altLang="zh-CN" sz="2400" b="1" i="1" dirty="0" smtClean="0"/>
              <a:t>1</a:t>
            </a:r>
            <a:endParaRPr lang="en-US" altLang="zh-CN" sz="2400" b="1" i="1" dirty="0"/>
          </a:p>
          <a:p>
            <a:pPr lvl="1">
              <a:lnSpc>
                <a:spcPct val="90000"/>
              </a:lnSpc>
            </a:pPr>
            <a:r>
              <a:rPr lang="zh-CN" altLang="en-US" sz="2400" b="1" i="1" dirty="0" smtClean="0">
                <a:solidFill>
                  <a:srgbClr val="0070C0"/>
                </a:solidFill>
              </a:rPr>
              <a:t>有结构冒险的处理器时钟频率</a:t>
            </a:r>
            <a:r>
              <a:rPr lang="zh-CN" altLang="en-US" sz="2400" b="1" i="1" dirty="0" smtClean="0"/>
              <a:t>是无结构冒险处理器时钟频率的</a:t>
            </a:r>
            <a:r>
              <a:rPr lang="en-US" altLang="zh-CN" sz="2400" b="1" i="1" dirty="0" smtClean="0">
                <a:solidFill>
                  <a:srgbClr val="0070C0"/>
                </a:solidFill>
              </a:rPr>
              <a:t>1.05 </a:t>
            </a:r>
            <a:r>
              <a:rPr lang="zh-CN" altLang="en-US" sz="2400" b="1" i="1" dirty="0" smtClean="0">
                <a:solidFill>
                  <a:srgbClr val="0070C0"/>
                </a:solidFill>
              </a:rPr>
              <a:t>倍</a:t>
            </a:r>
            <a:endParaRPr lang="en-US" altLang="zh-CN" sz="2400" b="1" i="1" dirty="0">
              <a:solidFill>
                <a:srgbClr val="0070C0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答案</a:t>
            </a:r>
            <a:endParaRPr lang="en-US" altLang="zh-CN" sz="2800" b="1" dirty="0" smtClean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有结构冒险平均指令执行时间</a:t>
            </a:r>
            <a:r>
              <a:rPr lang="en-US" altLang="zh-CN" sz="2400" dirty="0" smtClean="0">
                <a:latin typeface="Comic Sans MS" pitchFamily="66" charset="0"/>
              </a:rPr>
              <a:t>= </a:t>
            </a:r>
            <a:r>
              <a:rPr lang="en-US" altLang="zh-CN" sz="2400" dirty="0" err="1">
                <a:latin typeface="Comic Sans MS" pitchFamily="66" charset="0"/>
              </a:rPr>
              <a:t>CPI</a:t>
            </a:r>
            <a:r>
              <a:rPr lang="en-US" altLang="zh-CN" sz="2400" dirty="0" err="1">
                <a:latin typeface="Comic Sans MS" pitchFamily="66" charset="0"/>
                <a:sym typeface="Symbol" pitchFamily="18" charset="2"/>
              </a:rPr>
              <a:t>Clock</a:t>
            </a:r>
            <a:r>
              <a:rPr lang="en-US" altLang="zh-CN" sz="2400" dirty="0">
                <a:latin typeface="Comic Sans MS" pitchFamily="66" charset="0"/>
                <a:sym typeface="Symbol" pitchFamily="18" charset="2"/>
              </a:rPr>
              <a:t> cycle time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mic Sans MS" pitchFamily="66" charset="0"/>
                <a:sym typeface="Symbol" pitchFamily="18" charset="2"/>
              </a:rPr>
              <a:t>                                           =(1+0.4 1) </a:t>
            </a:r>
            <a:r>
              <a:rPr lang="en-US" altLang="zh-CN" sz="2400" dirty="0" err="1">
                <a:latin typeface="Comic Sans MS" pitchFamily="66" charset="0"/>
                <a:sym typeface="Symbol" pitchFamily="18" charset="2"/>
              </a:rPr>
              <a:t>CC</a:t>
            </a:r>
            <a:r>
              <a:rPr lang="en-US" altLang="zh-CN" sz="2400" baseline="-18000" dirty="0" err="1">
                <a:latin typeface="Comic Sans MS" pitchFamily="66" charset="0"/>
                <a:sym typeface="Symbol" pitchFamily="18" charset="2"/>
              </a:rPr>
              <a:t>ideal</a:t>
            </a:r>
            <a:r>
              <a:rPr lang="en-US" altLang="zh-CN" sz="2400" dirty="0">
                <a:latin typeface="Comic Sans MS" pitchFamily="66" charset="0"/>
                <a:sym typeface="Symbol" pitchFamily="18" charset="2"/>
              </a:rPr>
              <a:t>/1.05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Comic Sans MS" pitchFamily="66" charset="0"/>
                <a:sym typeface="Symbol" pitchFamily="18" charset="2"/>
              </a:rPr>
              <a:t>                                           = 1.3  </a:t>
            </a:r>
            <a:r>
              <a:rPr lang="en-US" altLang="zh-CN" sz="2400" dirty="0" err="1">
                <a:latin typeface="Comic Sans MS" pitchFamily="66" charset="0"/>
                <a:sym typeface="Symbol" pitchFamily="18" charset="2"/>
              </a:rPr>
              <a:t>Cc</a:t>
            </a:r>
            <a:r>
              <a:rPr lang="en-US" altLang="zh-CN" sz="2400" baseline="-18000" dirty="0" err="1">
                <a:latin typeface="Comic Sans MS" pitchFamily="66" charset="0"/>
                <a:sym typeface="Symbol" pitchFamily="18" charset="2"/>
              </a:rPr>
              <a:t>ideal</a:t>
            </a:r>
            <a:endParaRPr lang="en-US" altLang="zh-CN" sz="2400" baseline="-18000" dirty="0">
              <a:latin typeface="Comic Sans MS" pitchFamily="66" charset="0"/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显然，无结构冒险的处理器更快</a:t>
            </a:r>
            <a:endParaRPr lang="en-US" altLang="zh-CN" sz="2400" b="1" dirty="0">
              <a:solidFill>
                <a:srgbClr val="FF0000"/>
              </a:solidFill>
              <a:latin typeface="Comic Sans MS" pitchFamily="66" charset="0"/>
              <a:sym typeface="Symbol" pitchFamily="18" charset="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666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914400" y="1371600"/>
            <a:ext cx="7454900" cy="3252788"/>
            <a:chOff x="720" y="1248"/>
            <a:chExt cx="4696" cy="2049"/>
          </a:xfrm>
        </p:grpSpPr>
        <p:grpSp>
          <p:nvGrpSpPr>
            <p:cNvPr id="3" name="Group 3"/>
            <p:cNvGrpSpPr>
              <a:grpSpLocks/>
            </p:cNvGrpSpPr>
            <p:nvPr/>
          </p:nvGrpSpPr>
          <p:grpSpPr bwMode="auto">
            <a:xfrm>
              <a:off x="3094" y="1728"/>
              <a:ext cx="317" cy="259"/>
              <a:chOff x="2624" y="1200"/>
              <a:chExt cx="340" cy="294"/>
            </a:xfrm>
          </p:grpSpPr>
          <p:sp>
            <p:nvSpPr>
              <p:cNvPr id="19460" name="Freeform 4"/>
              <p:cNvSpPr>
                <a:spLocks/>
              </p:cNvSpPr>
              <p:nvPr/>
            </p:nvSpPr>
            <p:spPr bwMode="auto">
              <a:xfrm>
                <a:off x="2816" y="1205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chemeClr val="accent1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4" name="Group 5"/>
              <p:cNvGrpSpPr>
                <a:grpSpLocks/>
              </p:cNvGrpSpPr>
              <p:nvPr/>
            </p:nvGrpSpPr>
            <p:grpSpPr bwMode="auto">
              <a:xfrm>
                <a:off x="2624" y="1200"/>
                <a:ext cx="340" cy="289"/>
                <a:chOff x="2624" y="1200"/>
                <a:chExt cx="340" cy="289"/>
              </a:xfrm>
            </p:grpSpPr>
            <p:sp>
              <p:nvSpPr>
                <p:cNvPr id="19462" name="Freeform 6"/>
                <p:cNvSpPr>
                  <a:spLocks/>
                </p:cNvSpPr>
                <p:nvPr/>
              </p:nvSpPr>
              <p:spPr bwMode="auto">
                <a:xfrm>
                  <a:off x="2624" y="1200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63" name="Freeform 7"/>
                <p:cNvSpPr>
                  <a:spLocks/>
                </p:cNvSpPr>
                <p:nvPr/>
              </p:nvSpPr>
              <p:spPr bwMode="auto">
                <a:xfrm>
                  <a:off x="2793" y="1200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solidFill>
                  <a:schemeClr val="accent1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3072" y="2928"/>
              <a:ext cx="340" cy="259"/>
              <a:chOff x="2624" y="2592"/>
              <a:chExt cx="340" cy="294"/>
            </a:xfrm>
          </p:grpSpPr>
          <p:sp>
            <p:nvSpPr>
              <p:cNvPr id="19465" name="Freeform 9"/>
              <p:cNvSpPr>
                <a:spLocks/>
              </p:cNvSpPr>
              <p:nvPr/>
            </p:nvSpPr>
            <p:spPr bwMode="auto">
              <a:xfrm>
                <a:off x="2816" y="2597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solidFill>
                <a:srgbClr val="FF0000"/>
              </a:solidFill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" name="Group 10"/>
              <p:cNvGrpSpPr>
                <a:grpSpLocks/>
              </p:cNvGrpSpPr>
              <p:nvPr/>
            </p:nvGrpSpPr>
            <p:grpSpPr bwMode="auto">
              <a:xfrm>
                <a:off x="2624" y="2592"/>
                <a:ext cx="340" cy="289"/>
                <a:chOff x="2624" y="2592"/>
                <a:chExt cx="340" cy="289"/>
              </a:xfrm>
            </p:grpSpPr>
            <p:sp>
              <p:nvSpPr>
                <p:cNvPr id="19467" name="Freeform 11"/>
                <p:cNvSpPr>
                  <a:spLocks/>
                </p:cNvSpPr>
                <p:nvPr/>
              </p:nvSpPr>
              <p:spPr bwMode="auto">
                <a:xfrm>
                  <a:off x="2624" y="2592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solidFill>
                  <a:srgbClr val="FF0000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68" name="Freeform 12"/>
                <p:cNvSpPr>
                  <a:spLocks/>
                </p:cNvSpPr>
                <p:nvPr/>
              </p:nvSpPr>
              <p:spPr bwMode="auto">
                <a:xfrm>
                  <a:off x="2793" y="2592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solidFill>
                  <a:srgbClr val="FF0000"/>
                </a:solidFill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9469" name="Rectangle 13"/>
            <p:cNvSpPr>
              <a:spLocks noChangeArrowheads="1"/>
            </p:cNvSpPr>
            <p:nvPr/>
          </p:nvSpPr>
          <p:spPr bwMode="auto">
            <a:xfrm>
              <a:off x="3046" y="2931"/>
              <a:ext cx="257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IM</a:t>
              </a:r>
            </a:p>
          </p:txBody>
        </p:sp>
        <p:sp>
          <p:nvSpPr>
            <p:cNvPr id="19470" name="Rectangle 14"/>
            <p:cNvSpPr>
              <a:spLocks noChangeArrowheads="1"/>
            </p:cNvSpPr>
            <p:nvPr/>
          </p:nvSpPr>
          <p:spPr bwMode="auto">
            <a:xfrm>
              <a:off x="720" y="1723"/>
              <a:ext cx="226" cy="1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I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n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s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t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r.</a:t>
              </a:r>
            </a:p>
            <a:p>
              <a:pPr algn="ctr">
                <a:lnSpc>
                  <a:spcPct val="80000"/>
                </a:lnSpc>
              </a:pPr>
              <a:endParaRPr lang="en-US" altLang="zh-CN" sz="1800" i="1">
                <a:latin typeface="Arial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O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r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d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e</a:t>
              </a:r>
            </a:p>
            <a:p>
              <a:pPr algn="ctr">
                <a:lnSpc>
                  <a:spcPct val="80000"/>
                </a:lnSpc>
              </a:pPr>
              <a:r>
                <a:rPr lang="en-US" altLang="zh-CN" sz="1800" i="1">
                  <a:latin typeface="Arial" charset="0"/>
                </a:rPr>
                <a:t>r</a:t>
              </a:r>
            </a:p>
          </p:txBody>
        </p:sp>
        <p:sp>
          <p:nvSpPr>
            <p:cNvPr id="19471" name="Line 15"/>
            <p:cNvSpPr>
              <a:spLocks noChangeShapeType="1"/>
            </p:cNvSpPr>
            <p:nvPr/>
          </p:nvSpPr>
          <p:spPr bwMode="auto">
            <a:xfrm flipH="1">
              <a:off x="1008" y="1728"/>
              <a:ext cx="0" cy="14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2" name="Line 16"/>
            <p:cNvSpPr>
              <a:spLocks noChangeShapeType="1"/>
            </p:cNvSpPr>
            <p:nvPr/>
          </p:nvSpPr>
          <p:spPr bwMode="auto">
            <a:xfrm>
              <a:off x="1440" y="1488"/>
              <a:ext cx="39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3" name="Rectangle 17"/>
            <p:cNvSpPr>
              <a:spLocks noChangeArrowheads="1"/>
            </p:cNvSpPr>
            <p:nvPr/>
          </p:nvSpPr>
          <p:spPr bwMode="auto">
            <a:xfrm>
              <a:off x="2640" y="1248"/>
              <a:ext cx="1338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800" i="1">
                  <a:latin typeface="Arial" charset="0"/>
                </a:rPr>
                <a:t>Time (clock cycles)</a:t>
              </a:r>
            </a:p>
          </p:txBody>
        </p:sp>
        <p:sp>
          <p:nvSpPr>
            <p:cNvPr id="19474" name="Rectangle 18"/>
            <p:cNvSpPr>
              <a:spLocks noChangeArrowheads="1"/>
            </p:cNvSpPr>
            <p:nvPr/>
          </p:nvSpPr>
          <p:spPr bwMode="auto">
            <a:xfrm>
              <a:off x="1020" y="1793"/>
              <a:ext cx="654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/>
                <a:t>Ld/St</a:t>
              </a:r>
              <a:endParaRPr lang="en-US" altLang="zh-CN" sz="2800" b="1">
                <a:latin typeface="Arial" charset="0"/>
              </a:endParaRPr>
            </a:p>
          </p:txBody>
        </p:sp>
        <p:sp>
          <p:nvSpPr>
            <p:cNvPr id="19475" name="Rectangle 19"/>
            <p:cNvSpPr>
              <a:spLocks noChangeArrowheads="1"/>
            </p:cNvSpPr>
            <p:nvPr/>
          </p:nvSpPr>
          <p:spPr bwMode="auto">
            <a:xfrm>
              <a:off x="1004" y="2159"/>
              <a:ext cx="738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/>
                <a:t>Instr 1</a:t>
              </a:r>
              <a:endParaRPr lang="en-US" altLang="zh-CN" sz="2800" b="1">
                <a:latin typeface="Arial" charset="0"/>
              </a:endParaRPr>
            </a:p>
          </p:txBody>
        </p:sp>
        <p:sp>
          <p:nvSpPr>
            <p:cNvPr id="19476" name="Rectangle 20"/>
            <p:cNvSpPr>
              <a:spLocks noChangeArrowheads="1"/>
            </p:cNvSpPr>
            <p:nvPr/>
          </p:nvSpPr>
          <p:spPr bwMode="auto">
            <a:xfrm>
              <a:off x="996" y="2568"/>
              <a:ext cx="76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/>
                <a:t>Instr 2</a:t>
              </a:r>
              <a:endParaRPr lang="en-US" altLang="zh-CN" sz="2800" b="1">
                <a:latin typeface="Arial" charset="0"/>
              </a:endParaRPr>
            </a:p>
          </p:txBody>
        </p:sp>
        <p:sp>
          <p:nvSpPr>
            <p:cNvPr id="19477" name="Rectangle 21"/>
            <p:cNvSpPr>
              <a:spLocks noChangeArrowheads="1"/>
            </p:cNvSpPr>
            <p:nvPr/>
          </p:nvSpPr>
          <p:spPr bwMode="auto">
            <a:xfrm>
              <a:off x="1039" y="2946"/>
              <a:ext cx="769" cy="2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/>
                <a:t>Instr 3</a:t>
              </a:r>
            </a:p>
          </p:txBody>
        </p:sp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2160" y="1536"/>
              <a:ext cx="3024" cy="1728"/>
              <a:chOff x="1929" y="1985"/>
              <a:chExt cx="3024" cy="2479"/>
            </a:xfrm>
          </p:grpSpPr>
          <p:sp>
            <p:nvSpPr>
              <p:cNvPr id="19479" name="Line 23"/>
              <p:cNvSpPr>
                <a:spLocks noChangeShapeType="1"/>
              </p:cNvSpPr>
              <p:nvPr/>
            </p:nvSpPr>
            <p:spPr bwMode="auto">
              <a:xfrm>
                <a:off x="192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0" name="Line 24"/>
              <p:cNvSpPr>
                <a:spLocks noChangeShapeType="1"/>
              </p:cNvSpPr>
              <p:nvPr/>
            </p:nvSpPr>
            <p:spPr bwMode="auto">
              <a:xfrm>
                <a:off x="236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1" name="Line 25"/>
              <p:cNvSpPr>
                <a:spLocks noChangeShapeType="1"/>
              </p:cNvSpPr>
              <p:nvPr/>
            </p:nvSpPr>
            <p:spPr bwMode="auto">
              <a:xfrm>
                <a:off x="279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2" name="Line 26"/>
              <p:cNvSpPr>
                <a:spLocks noChangeShapeType="1"/>
              </p:cNvSpPr>
              <p:nvPr/>
            </p:nvSpPr>
            <p:spPr bwMode="auto">
              <a:xfrm>
                <a:off x="3225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3" name="Line 27"/>
              <p:cNvSpPr>
                <a:spLocks noChangeShapeType="1"/>
              </p:cNvSpPr>
              <p:nvPr/>
            </p:nvSpPr>
            <p:spPr bwMode="auto">
              <a:xfrm>
                <a:off x="3657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4" name="Line 28"/>
              <p:cNvSpPr>
                <a:spLocks noChangeShapeType="1"/>
              </p:cNvSpPr>
              <p:nvPr/>
            </p:nvSpPr>
            <p:spPr bwMode="auto">
              <a:xfrm>
                <a:off x="4089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5" name="Line 29"/>
              <p:cNvSpPr>
                <a:spLocks noChangeShapeType="1"/>
              </p:cNvSpPr>
              <p:nvPr/>
            </p:nvSpPr>
            <p:spPr bwMode="auto">
              <a:xfrm>
                <a:off x="4521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486" name="Line 30"/>
              <p:cNvSpPr>
                <a:spLocks noChangeShapeType="1"/>
              </p:cNvSpPr>
              <p:nvPr/>
            </p:nvSpPr>
            <p:spPr bwMode="auto">
              <a:xfrm>
                <a:off x="4953" y="1985"/>
                <a:ext cx="0" cy="2479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Group 31"/>
            <p:cNvGrpSpPr>
              <a:grpSpLocks/>
            </p:cNvGrpSpPr>
            <p:nvPr/>
          </p:nvGrpSpPr>
          <p:grpSpPr bwMode="auto">
            <a:xfrm>
              <a:off x="2697" y="1661"/>
              <a:ext cx="226" cy="423"/>
              <a:chOff x="2256" y="1152"/>
              <a:chExt cx="226" cy="481"/>
            </a:xfrm>
          </p:grpSpPr>
          <p:sp>
            <p:nvSpPr>
              <p:cNvPr id="19488" name="Freeform 32"/>
              <p:cNvSpPr>
                <a:spLocks/>
              </p:cNvSpPr>
              <p:nvPr/>
            </p:nvSpPr>
            <p:spPr bwMode="auto">
              <a:xfrm>
                <a:off x="2269" y="1152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89" name="Rectangle 33"/>
              <p:cNvSpPr>
                <a:spLocks noChangeArrowheads="1"/>
              </p:cNvSpPr>
              <p:nvPr/>
            </p:nvSpPr>
            <p:spPr bwMode="auto">
              <a:xfrm rot="5400000">
                <a:off x="2147" y="1296"/>
                <a:ext cx="428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ALU</a:t>
                </a:r>
              </a:p>
            </p:txBody>
          </p:sp>
        </p:grpSp>
        <p:grpSp>
          <p:nvGrpSpPr>
            <p:cNvPr id="9" name="Group 34"/>
            <p:cNvGrpSpPr>
              <a:grpSpLocks/>
            </p:cNvGrpSpPr>
            <p:nvPr/>
          </p:nvGrpSpPr>
          <p:grpSpPr bwMode="auto">
            <a:xfrm>
              <a:off x="1765" y="1745"/>
              <a:ext cx="359" cy="255"/>
              <a:chOff x="1324" y="1248"/>
              <a:chExt cx="359" cy="289"/>
            </a:xfrm>
          </p:grpSpPr>
          <p:sp>
            <p:nvSpPr>
              <p:cNvPr id="19491" name="Rectangle 35"/>
              <p:cNvSpPr>
                <a:spLocks noChangeArrowheads="1"/>
              </p:cNvSpPr>
              <p:nvPr/>
            </p:nvSpPr>
            <p:spPr bwMode="auto">
              <a:xfrm>
                <a:off x="1324" y="1250"/>
                <a:ext cx="257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IM</a:t>
                </a:r>
              </a:p>
            </p:txBody>
          </p:sp>
          <p:grpSp>
            <p:nvGrpSpPr>
              <p:cNvPr id="10" name="Group 36"/>
              <p:cNvGrpSpPr>
                <a:grpSpLocks/>
              </p:cNvGrpSpPr>
              <p:nvPr/>
            </p:nvGrpSpPr>
            <p:grpSpPr bwMode="auto">
              <a:xfrm>
                <a:off x="1343" y="1248"/>
                <a:ext cx="340" cy="289"/>
                <a:chOff x="1343" y="1248"/>
                <a:chExt cx="340" cy="289"/>
              </a:xfrm>
            </p:grpSpPr>
            <p:sp>
              <p:nvSpPr>
                <p:cNvPr id="19493" name="Freeform 37"/>
                <p:cNvSpPr>
                  <a:spLocks/>
                </p:cNvSpPr>
                <p:nvPr/>
              </p:nvSpPr>
              <p:spPr bwMode="auto">
                <a:xfrm>
                  <a:off x="1343" y="1248"/>
                  <a:ext cx="170" cy="289"/>
                </a:xfrm>
                <a:custGeom>
                  <a:avLst/>
                  <a:gdLst>
                    <a:gd name="T0" fmla="*/ 169 w 170"/>
                    <a:gd name="T1" fmla="*/ 0 h 289"/>
                    <a:gd name="T2" fmla="*/ 0 w 170"/>
                    <a:gd name="T3" fmla="*/ 0 h 289"/>
                    <a:gd name="T4" fmla="*/ 0 w 170"/>
                    <a:gd name="T5" fmla="*/ 288 h 289"/>
                    <a:gd name="T6" fmla="*/ 169 w 170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0" h="289">
                      <a:moveTo>
                        <a:pt x="169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9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94" name="Freeform 38"/>
                <p:cNvSpPr>
                  <a:spLocks/>
                </p:cNvSpPr>
                <p:nvPr/>
              </p:nvSpPr>
              <p:spPr bwMode="auto">
                <a:xfrm>
                  <a:off x="1512" y="1248"/>
                  <a:ext cx="171" cy="289"/>
                </a:xfrm>
                <a:custGeom>
                  <a:avLst/>
                  <a:gdLst>
                    <a:gd name="T0" fmla="*/ 0 w 171"/>
                    <a:gd name="T1" fmla="*/ 0 h 289"/>
                    <a:gd name="T2" fmla="*/ 170 w 171"/>
                    <a:gd name="T3" fmla="*/ 0 h 289"/>
                    <a:gd name="T4" fmla="*/ 170 w 171"/>
                    <a:gd name="T5" fmla="*/ 288 h 289"/>
                    <a:gd name="T6" fmla="*/ 0 w 171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71" h="289">
                      <a:moveTo>
                        <a:pt x="0" y="0"/>
                      </a:moveTo>
                      <a:lnTo>
                        <a:pt x="170" y="0"/>
                      </a:lnTo>
                      <a:lnTo>
                        <a:pt x="170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9495" name="Rectangle 39"/>
            <p:cNvSpPr>
              <a:spLocks noChangeArrowheads="1"/>
            </p:cNvSpPr>
            <p:nvPr/>
          </p:nvSpPr>
          <p:spPr bwMode="auto">
            <a:xfrm>
              <a:off x="2225" y="1752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11" name="Group 40"/>
            <p:cNvGrpSpPr>
              <a:grpSpLocks/>
            </p:cNvGrpSpPr>
            <p:nvPr/>
          </p:nvGrpSpPr>
          <p:grpSpPr bwMode="auto">
            <a:xfrm>
              <a:off x="2244" y="1745"/>
              <a:ext cx="296" cy="255"/>
              <a:chOff x="1803" y="1248"/>
              <a:chExt cx="296" cy="289"/>
            </a:xfrm>
          </p:grpSpPr>
          <p:sp>
            <p:nvSpPr>
              <p:cNvPr id="19497" name="Freeform 41"/>
              <p:cNvSpPr>
                <a:spLocks/>
              </p:cNvSpPr>
              <p:nvPr/>
            </p:nvSpPr>
            <p:spPr bwMode="auto">
              <a:xfrm>
                <a:off x="1803" y="1248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98" name="Freeform 42"/>
              <p:cNvSpPr>
                <a:spLocks/>
              </p:cNvSpPr>
              <p:nvPr/>
            </p:nvSpPr>
            <p:spPr bwMode="auto">
              <a:xfrm>
                <a:off x="1951" y="1248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99" name="Line 43"/>
            <p:cNvSpPr>
              <a:spLocks noChangeShapeType="1"/>
            </p:cNvSpPr>
            <p:nvPr/>
          </p:nvSpPr>
          <p:spPr bwMode="auto">
            <a:xfrm>
              <a:off x="2129" y="1872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0" name="Freeform 44"/>
            <p:cNvSpPr>
              <a:spLocks/>
            </p:cNvSpPr>
            <p:nvPr/>
          </p:nvSpPr>
          <p:spPr bwMode="auto">
            <a:xfrm>
              <a:off x="2191" y="1788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45"/>
            <p:cNvSpPr>
              <a:spLocks noChangeShapeType="1"/>
            </p:cNvSpPr>
            <p:nvPr/>
          </p:nvSpPr>
          <p:spPr bwMode="auto">
            <a:xfrm>
              <a:off x="2545" y="1788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2" name="Rectangle 46"/>
            <p:cNvSpPr>
              <a:spLocks noChangeArrowheads="1"/>
            </p:cNvSpPr>
            <p:nvPr/>
          </p:nvSpPr>
          <p:spPr bwMode="auto">
            <a:xfrm>
              <a:off x="3120" y="1776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DM</a:t>
              </a:r>
            </a:p>
          </p:txBody>
        </p:sp>
        <p:sp>
          <p:nvSpPr>
            <p:cNvPr id="19503" name="Rectangle 47"/>
            <p:cNvSpPr>
              <a:spLocks noChangeArrowheads="1"/>
            </p:cNvSpPr>
            <p:nvPr/>
          </p:nvSpPr>
          <p:spPr bwMode="auto">
            <a:xfrm>
              <a:off x="3534" y="1747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12" name="Group 48"/>
            <p:cNvGrpSpPr>
              <a:grpSpLocks/>
            </p:cNvGrpSpPr>
            <p:nvPr/>
          </p:nvGrpSpPr>
          <p:grpSpPr bwMode="auto">
            <a:xfrm>
              <a:off x="3561" y="1745"/>
              <a:ext cx="284" cy="255"/>
              <a:chOff x="3120" y="1248"/>
              <a:chExt cx="284" cy="289"/>
            </a:xfrm>
          </p:grpSpPr>
          <p:sp>
            <p:nvSpPr>
              <p:cNvPr id="19505" name="Freeform 49"/>
              <p:cNvSpPr>
                <a:spLocks/>
              </p:cNvSpPr>
              <p:nvPr/>
            </p:nvSpPr>
            <p:spPr bwMode="auto">
              <a:xfrm>
                <a:off x="3120" y="1248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6" name="Freeform 50"/>
              <p:cNvSpPr>
                <a:spLocks/>
              </p:cNvSpPr>
              <p:nvPr/>
            </p:nvSpPr>
            <p:spPr bwMode="auto">
              <a:xfrm>
                <a:off x="3261" y="1248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07" name="Line 51"/>
            <p:cNvSpPr>
              <a:spLocks noChangeShapeType="1"/>
            </p:cNvSpPr>
            <p:nvPr/>
          </p:nvSpPr>
          <p:spPr bwMode="auto">
            <a:xfrm>
              <a:off x="3414" y="1872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8" name="Line 52"/>
            <p:cNvSpPr>
              <a:spLocks noChangeShapeType="1"/>
            </p:cNvSpPr>
            <p:nvPr/>
          </p:nvSpPr>
          <p:spPr bwMode="auto">
            <a:xfrm>
              <a:off x="2930" y="1872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9" name="Freeform 53"/>
            <p:cNvSpPr>
              <a:spLocks/>
            </p:cNvSpPr>
            <p:nvPr/>
          </p:nvSpPr>
          <p:spPr bwMode="auto">
            <a:xfrm>
              <a:off x="3051" y="1872"/>
              <a:ext cx="431" cy="170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0" name="Line 54"/>
            <p:cNvSpPr>
              <a:spLocks noChangeShapeType="1"/>
            </p:cNvSpPr>
            <p:nvPr/>
          </p:nvSpPr>
          <p:spPr bwMode="auto">
            <a:xfrm>
              <a:off x="2545" y="1957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1" name="Freeform 55"/>
            <p:cNvSpPr>
              <a:spLocks/>
            </p:cNvSpPr>
            <p:nvPr/>
          </p:nvSpPr>
          <p:spPr bwMode="auto">
            <a:xfrm>
              <a:off x="2638" y="1868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56"/>
            <p:cNvGrpSpPr>
              <a:grpSpLocks/>
            </p:cNvGrpSpPr>
            <p:nvPr/>
          </p:nvGrpSpPr>
          <p:grpSpPr bwMode="auto">
            <a:xfrm>
              <a:off x="2192" y="2055"/>
              <a:ext cx="2124" cy="452"/>
              <a:chOff x="1751" y="1600"/>
              <a:chExt cx="2124" cy="513"/>
            </a:xfrm>
          </p:grpSpPr>
          <p:grpSp>
            <p:nvGrpSpPr>
              <p:cNvPr id="14" name="Group 57"/>
              <p:cNvGrpSpPr>
                <a:grpSpLocks/>
              </p:cNvGrpSpPr>
              <p:nvPr/>
            </p:nvGrpSpPr>
            <p:grpSpPr bwMode="auto">
              <a:xfrm>
                <a:off x="2685" y="1600"/>
                <a:ext cx="224" cy="481"/>
                <a:chOff x="2685" y="1600"/>
                <a:chExt cx="224" cy="481"/>
              </a:xfrm>
            </p:grpSpPr>
            <p:sp>
              <p:nvSpPr>
                <p:cNvPr id="19514" name="Freeform 58"/>
                <p:cNvSpPr>
                  <a:spLocks/>
                </p:cNvSpPr>
                <p:nvPr/>
              </p:nvSpPr>
              <p:spPr bwMode="auto">
                <a:xfrm>
                  <a:off x="2696" y="1600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15" name="Rectangle 59"/>
                <p:cNvSpPr>
                  <a:spLocks noChangeArrowheads="1"/>
                </p:cNvSpPr>
                <p:nvPr/>
              </p:nvSpPr>
              <p:spPr bwMode="auto">
                <a:xfrm rot="5400000">
                  <a:off x="2576" y="1745"/>
                  <a:ext cx="427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 b="1">
                      <a:latin typeface="Arial" charset="0"/>
                    </a:rPr>
                    <a:t>ALU</a:t>
                  </a:r>
                </a:p>
              </p:txBody>
            </p:sp>
          </p:grpSp>
          <p:grpSp>
            <p:nvGrpSpPr>
              <p:cNvPr id="15" name="Group 60"/>
              <p:cNvGrpSpPr>
                <a:grpSpLocks/>
              </p:cNvGrpSpPr>
              <p:nvPr/>
            </p:nvGrpSpPr>
            <p:grpSpPr bwMode="auto">
              <a:xfrm>
                <a:off x="1751" y="1696"/>
                <a:ext cx="359" cy="289"/>
                <a:chOff x="1751" y="1696"/>
                <a:chExt cx="359" cy="289"/>
              </a:xfrm>
            </p:grpSpPr>
            <p:sp>
              <p:nvSpPr>
                <p:cNvPr id="19517" name="Rectangle 61"/>
                <p:cNvSpPr>
                  <a:spLocks noChangeArrowheads="1"/>
                </p:cNvSpPr>
                <p:nvPr/>
              </p:nvSpPr>
              <p:spPr bwMode="auto">
                <a:xfrm>
                  <a:off x="1751" y="1701"/>
                  <a:ext cx="257" cy="23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 b="1">
                      <a:latin typeface="Arial" charset="0"/>
                    </a:rPr>
                    <a:t>IM</a:t>
                  </a:r>
                </a:p>
              </p:txBody>
            </p:sp>
            <p:grpSp>
              <p:nvGrpSpPr>
                <p:cNvPr id="16" name="Group 62"/>
                <p:cNvGrpSpPr>
                  <a:grpSpLocks/>
                </p:cNvGrpSpPr>
                <p:nvPr/>
              </p:nvGrpSpPr>
              <p:grpSpPr bwMode="auto">
                <a:xfrm>
                  <a:off x="1770" y="1696"/>
                  <a:ext cx="340" cy="289"/>
                  <a:chOff x="1770" y="1696"/>
                  <a:chExt cx="340" cy="289"/>
                </a:xfrm>
              </p:grpSpPr>
              <p:sp>
                <p:nvSpPr>
                  <p:cNvPr id="19519" name="Freeform 63"/>
                  <p:cNvSpPr>
                    <a:spLocks/>
                  </p:cNvSpPr>
                  <p:nvPr/>
                </p:nvSpPr>
                <p:spPr bwMode="auto">
                  <a:xfrm>
                    <a:off x="1770" y="1696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520" name="Freeform 64"/>
                  <p:cNvSpPr>
                    <a:spLocks/>
                  </p:cNvSpPr>
                  <p:nvPr/>
                </p:nvSpPr>
                <p:spPr bwMode="auto">
                  <a:xfrm>
                    <a:off x="1939" y="1696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9521" name="Rectangle 65"/>
              <p:cNvSpPr>
                <a:spLocks noChangeArrowheads="1"/>
              </p:cNvSpPr>
              <p:nvPr/>
            </p:nvSpPr>
            <p:spPr bwMode="auto">
              <a:xfrm>
                <a:off x="2211" y="1703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17" name="Group 66"/>
              <p:cNvGrpSpPr>
                <a:grpSpLocks/>
              </p:cNvGrpSpPr>
              <p:nvPr/>
            </p:nvGrpSpPr>
            <p:grpSpPr bwMode="auto">
              <a:xfrm>
                <a:off x="2230" y="1696"/>
                <a:ext cx="296" cy="289"/>
                <a:chOff x="2230" y="1696"/>
                <a:chExt cx="296" cy="289"/>
              </a:xfrm>
            </p:grpSpPr>
            <p:sp>
              <p:nvSpPr>
                <p:cNvPr id="19523" name="Freeform 67"/>
                <p:cNvSpPr>
                  <a:spLocks/>
                </p:cNvSpPr>
                <p:nvPr/>
              </p:nvSpPr>
              <p:spPr bwMode="auto">
                <a:xfrm>
                  <a:off x="2230" y="1696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24" name="Freeform 68"/>
                <p:cNvSpPr>
                  <a:spLocks/>
                </p:cNvSpPr>
                <p:nvPr/>
              </p:nvSpPr>
              <p:spPr bwMode="auto">
                <a:xfrm>
                  <a:off x="2378" y="1696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525" name="Line 69"/>
              <p:cNvSpPr>
                <a:spLocks noChangeShapeType="1"/>
              </p:cNvSpPr>
              <p:nvPr/>
            </p:nvSpPr>
            <p:spPr bwMode="auto">
              <a:xfrm>
                <a:off x="2115" y="1840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26" name="Freeform 70"/>
              <p:cNvSpPr>
                <a:spLocks/>
              </p:cNvSpPr>
              <p:nvPr/>
            </p:nvSpPr>
            <p:spPr bwMode="auto">
              <a:xfrm>
                <a:off x="2177" y="1744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27" name="Line 71"/>
              <p:cNvSpPr>
                <a:spLocks noChangeShapeType="1"/>
              </p:cNvSpPr>
              <p:nvPr/>
            </p:nvSpPr>
            <p:spPr bwMode="auto">
              <a:xfrm>
                <a:off x="2531" y="174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28" name="Rectangle 72"/>
              <p:cNvSpPr>
                <a:spLocks noChangeArrowheads="1"/>
              </p:cNvSpPr>
              <p:nvPr/>
            </p:nvSpPr>
            <p:spPr bwMode="auto">
              <a:xfrm>
                <a:off x="3028" y="1696"/>
                <a:ext cx="313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DM</a:t>
                </a:r>
              </a:p>
            </p:txBody>
          </p:sp>
          <p:grpSp>
            <p:nvGrpSpPr>
              <p:cNvPr id="18" name="Group 73"/>
              <p:cNvGrpSpPr>
                <a:grpSpLocks/>
              </p:cNvGrpSpPr>
              <p:nvPr/>
            </p:nvGrpSpPr>
            <p:grpSpPr bwMode="auto">
              <a:xfrm>
                <a:off x="3079" y="1696"/>
                <a:ext cx="325" cy="289"/>
                <a:chOff x="3079" y="1696"/>
                <a:chExt cx="325" cy="289"/>
              </a:xfrm>
            </p:grpSpPr>
            <p:sp>
              <p:nvSpPr>
                <p:cNvPr id="19530" name="Freeform 74"/>
                <p:cNvSpPr>
                  <a:spLocks/>
                </p:cNvSpPr>
                <p:nvPr/>
              </p:nvSpPr>
              <p:spPr bwMode="auto">
                <a:xfrm>
                  <a:off x="3079" y="1696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31" name="Freeform 75"/>
                <p:cNvSpPr>
                  <a:spLocks/>
                </p:cNvSpPr>
                <p:nvPr/>
              </p:nvSpPr>
              <p:spPr bwMode="auto">
                <a:xfrm>
                  <a:off x="3240" y="1696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532" name="Rectangle 76"/>
              <p:cNvSpPr>
                <a:spLocks noChangeArrowheads="1"/>
              </p:cNvSpPr>
              <p:nvPr/>
            </p:nvSpPr>
            <p:spPr bwMode="auto">
              <a:xfrm>
                <a:off x="3520" y="1696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19" name="Group 77"/>
              <p:cNvGrpSpPr>
                <a:grpSpLocks/>
              </p:cNvGrpSpPr>
              <p:nvPr/>
            </p:nvGrpSpPr>
            <p:grpSpPr bwMode="auto">
              <a:xfrm>
                <a:off x="3547" y="1696"/>
                <a:ext cx="284" cy="289"/>
                <a:chOff x="3547" y="1696"/>
                <a:chExt cx="284" cy="289"/>
              </a:xfrm>
            </p:grpSpPr>
            <p:sp>
              <p:nvSpPr>
                <p:cNvPr id="19534" name="Freeform 78"/>
                <p:cNvSpPr>
                  <a:spLocks/>
                </p:cNvSpPr>
                <p:nvPr/>
              </p:nvSpPr>
              <p:spPr bwMode="auto">
                <a:xfrm>
                  <a:off x="3547" y="1696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35" name="Freeform 79"/>
                <p:cNvSpPr>
                  <a:spLocks/>
                </p:cNvSpPr>
                <p:nvPr/>
              </p:nvSpPr>
              <p:spPr bwMode="auto">
                <a:xfrm>
                  <a:off x="3688" y="1696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536" name="Line 80"/>
              <p:cNvSpPr>
                <a:spLocks noChangeShapeType="1"/>
              </p:cNvSpPr>
              <p:nvPr/>
            </p:nvSpPr>
            <p:spPr bwMode="auto">
              <a:xfrm>
                <a:off x="3400" y="1840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7" name="Line 81"/>
              <p:cNvSpPr>
                <a:spLocks noChangeShapeType="1"/>
              </p:cNvSpPr>
              <p:nvPr/>
            </p:nvSpPr>
            <p:spPr bwMode="auto">
              <a:xfrm>
                <a:off x="2916" y="1840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8" name="Freeform 82"/>
              <p:cNvSpPr>
                <a:spLocks/>
              </p:cNvSpPr>
              <p:nvPr/>
            </p:nvSpPr>
            <p:spPr bwMode="auto">
              <a:xfrm>
                <a:off x="3037" y="1840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39" name="Line 83"/>
              <p:cNvSpPr>
                <a:spLocks noChangeShapeType="1"/>
              </p:cNvSpPr>
              <p:nvPr/>
            </p:nvSpPr>
            <p:spPr bwMode="auto">
              <a:xfrm>
                <a:off x="2531" y="1936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0" name="Freeform 84"/>
              <p:cNvSpPr>
                <a:spLocks/>
              </p:cNvSpPr>
              <p:nvPr/>
            </p:nvSpPr>
            <p:spPr bwMode="auto">
              <a:xfrm>
                <a:off x="2624" y="1835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" name="Group 85"/>
            <p:cNvGrpSpPr>
              <a:grpSpLocks/>
            </p:cNvGrpSpPr>
            <p:nvPr/>
          </p:nvGrpSpPr>
          <p:grpSpPr bwMode="auto">
            <a:xfrm>
              <a:off x="2619" y="2450"/>
              <a:ext cx="2124" cy="451"/>
              <a:chOff x="2178" y="2048"/>
              <a:chExt cx="2124" cy="513"/>
            </a:xfrm>
          </p:grpSpPr>
          <p:grpSp>
            <p:nvGrpSpPr>
              <p:cNvPr id="21" name="Group 86"/>
              <p:cNvGrpSpPr>
                <a:grpSpLocks/>
              </p:cNvGrpSpPr>
              <p:nvPr/>
            </p:nvGrpSpPr>
            <p:grpSpPr bwMode="auto">
              <a:xfrm>
                <a:off x="3110" y="2048"/>
                <a:ext cx="226" cy="481"/>
                <a:chOff x="3110" y="2048"/>
                <a:chExt cx="226" cy="481"/>
              </a:xfrm>
            </p:grpSpPr>
            <p:sp>
              <p:nvSpPr>
                <p:cNvPr id="19543" name="Freeform 87"/>
                <p:cNvSpPr>
                  <a:spLocks/>
                </p:cNvSpPr>
                <p:nvPr/>
              </p:nvSpPr>
              <p:spPr bwMode="auto">
                <a:xfrm>
                  <a:off x="3123" y="2048"/>
                  <a:ext cx="213" cy="481"/>
                </a:xfrm>
                <a:custGeom>
                  <a:avLst/>
                  <a:gdLst>
                    <a:gd name="T0" fmla="*/ 0 w 213"/>
                    <a:gd name="T1" fmla="*/ 320 h 481"/>
                    <a:gd name="T2" fmla="*/ 71 w 213"/>
                    <a:gd name="T3" fmla="*/ 240 h 481"/>
                    <a:gd name="T4" fmla="*/ 0 w 213"/>
                    <a:gd name="T5" fmla="*/ 160 h 481"/>
                    <a:gd name="T6" fmla="*/ 0 w 213"/>
                    <a:gd name="T7" fmla="*/ 0 h 481"/>
                    <a:gd name="T8" fmla="*/ 212 w 213"/>
                    <a:gd name="T9" fmla="*/ 160 h 481"/>
                    <a:gd name="T10" fmla="*/ 212 w 213"/>
                    <a:gd name="T11" fmla="*/ 320 h 481"/>
                    <a:gd name="T12" fmla="*/ 0 w 213"/>
                    <a:gd name="T13" fmla="*/ 480 h 481"/>
                    <a:gd name="T14" fmla="*/ 0 w 213"/>
                    <a:gd name="T15" fmla="*/ 320 h 4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213" h="481">
                      <a:moveTo>
                        <a:pt x="0" y="320"/>
                      </a:moveTo>
                      <a:lnTo>
                        <a:pt x="71" y="240"/>
                      </a:lnTo>
                      <a:lnTo>
                        <a:pt x="0" y="160"/>
                      </a:lnTo>
                      <a:lnTo>
                        <a:pt x="0" y="0"/>
                      </a:lnTo>
                      <a:lnTo>
                        <a:pt x="212" y="160"/>
                      </a:lnTo>
                      <a:lnTo>
                        <a:pt x="212" y="320"/>
                      </a:lnTo>
                      <a:lnTo>
                        <a:pt x="0" y="480"/>
                      </a:lnTo>
                      <a:lnTo>
                        <a:pt x="0" y="320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44" name="Rectangle 88"/>
                <p:cNvSpPr>
                  <a:spLocks noChangeArrowheads="1"/>
                </p:cNvSpPr>
                <p:nvPr/>
              </p:nvSpPr>
              <p:spPr bwMode="auto">
                <a:xfrm rot="5400000">
                  <a:off x="3001" y="2192"/>
                  <a:ext cx="428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 b="1">
                      <a:latin typeface="Arial" charset="0"/>
                    </a:rPr>
                    <a:t>ALU</a:t>
                  </a:r>
                </a:p>
              </p:txBody>
            </p:sp>
          </p:grpSp>
          <p:grpSp>
            <p:nvGrpSpPr>
              <p:cNvPr id="22" name="Group 89"/>
              <p:cNvGrpSpPr>
                <a:grpSpLocks/>
              </p:cNvGrpSpPr>
              <p:nvPr/>
            </p:nvGrpSpPr>
            <p:grpSpPr bwMode="auto">
              <a:xfrm>
                <a:off x="2178" y="2144"/>
                <a:ext cx="359" cy="289"/>
                <a:chOff x="2178" y="2144"/>
                <a:chExt cx="359" cy="289"/>
              </a:xfrm>
            </p:grpSpPr>
            <p:sp>
              <p:nvSpPr>
                <p:cNvPr id="19546" name="Rectangle 90"/>
                <p:cNvSpPr>
                  <a:spLocks noChangeArrowheads="1"/>
                </p:cNvSpPr>
                <p:nvPr/>
              </p:nvSpPr>
              <p:spPr bwMode="auto">
                <a:xfrm>
                  <a:off x="2178" y="2146"/>
                  <a:ext cx="257" cy="2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/>
                <a:p>
                  <a:r>
                    <a:rPr lang="en-US" altLang="zh-CN" sz="1600" b="1">
                      <a:latin typeface="Arial" charset="0"/>
                    </a:rPr>
                    <a:t>IM</a:t>
                  </a:r>
                </a:p>
              </p:txBody>
            </p:sp>
            <p:grpSp>
              <p:nvGrpSpPr>
                <p:cNvPr id="23" name="Group 91"/>
                <p:cNvGrpSpPr>
                  <a:grpSpLocks/>
                </p:cNvGrpSpPr>
                <p:nvPr/>
              </p:nvGrpSpPr>
              <p:grpSpPr bwMode="auto">
                <a:xfrm>
                  <a:off x="2197" y="2144"/>
                  <a:ext cx="340" cy="289"/>
                  <a:chOff x="2197" y="2144"/>
                  <a:chExt cx="340" cy="289"/>
                </a:xfrm>
              </p:grpSpPr>
              <p:sp>
                <p:nvSpPr>
                  <p:cNvPr id="19548" name="Freeform 92"/>
                  <p:cNvSpPr>
                    <a:spLocks/>
                  </p:cNvSpPr>
                  <p:nvPr/>
                </p:nvSpPr>
                <p:spPr bwMode="auto">
                  <a:xfrm>
                    <a:off x="2197" y="2144"/>
                    <a:ext cx="170" cy="289"/>
                  </a:xfrm>
                  <a:custGeom>
                    <a:avLst/>
                    <a:gdLst>
                      <a:gd name="T0" fmla="*/ 169 w 170"/>
                      <a:gd name="T1" fmla="*/ 0 h 289"/>
                      <a:gd name="T2" fmla="*/ 0 w 170"/>
                      <a:gd name="T3" fmla="*/ 0 h 289"/>
                      <a:gd name="T4" fmla="*/ 0 w 170"/>
                      <a:gd name="T5" fmla="*/ 288 h 289"/>
                      <a:gd name="T6" fmla="*/ 169 w 170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0" h="289">
                        <a:moveTo>
                          <a:pt x="169" y="0"/>
                        </a:moveTo>
                        <a:lnTo>
                          <a:pt x="0" y="0"/>
                        </a:lnTo>
                        <a:lnTo>
                          <a:pt x="0" y="288"/>
                        </a:lnTo>
                        <a:lnTo>
                          <a:pt x="169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549" name="Freeform 93"/>
                  <p:cNvSpPr>
                    <a:spLocks/>
                  </p:cNvSpPr>
                  <p:nvPr/>
                </p:nvSpPr>
                <p:spPr bwMode="auto">
                  <a:xfrm>
                    <a:off x="2366" y="2144"/>
                    <a:ext cx="171" cy="289"/>
                  </a:xfrm>
                  <a:custGeom>
                    <a:avLst/>
                    <a:gdLst>
                      <a:gd name="T0" fmla="*/ 0 w 171"/>
                      <a:gd name="T1" fmla="*/ 0 h 289"/>
                      <a:gd name="T2" fmla="*/ 170 w 171"/>
                      <a:gd name="T3" fmla="*/ 0 h 289"/>
                      <a:gd name="T4" fmla="*/ 170 w 171"/>
                      <a:gd name="T5" fmla="*/ 288 h 289"/>
                      <a:gd name="T6" fmla="*/ 0 w 171"/>
                      <a:gd name="T7" fmla="*/ 288 h 28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171" h="289">
                        <a:moveTo>
                          <a:pt x="0" y="0"/>
                        </a:moveTo>
                        <a:lnTo>
                          <a:pt x="170" y="0"/>
                        </a:lnTo>
                        <a:lnTo>
                          <a:pt x="170" y="288"/>
                        </a:lnTo>
                        <a:lnTo>
                          <a:pt x="0" y="288"/>
                        </a:lnTo>
                      </a:path>
                    </a:pathLst>
                  </a:custGeom>
                  <a:noFill/>
                  <a:ln w="25400" cap="rnd" cmpd="sng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9550" name="Rectangle 94"/>
              <p:cNvSpPr>
                <a:spLocks noChangeArrowheads="1"/>
              </p:cNvSpPr>
              <p:nvPr/>
            </p:nvSpPr>
            <p:spPr bwMode="auto">
              <a:xfrm>
                <a:off x="2638" y="2152"/>
                <a:ext cx="355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24" name="Group 95"/>
              <p:cNvGrpSpPr>
                <a:grpSpLocks/>
              </p:cNvGrpSpPr>
              <p:nvPr/>
            </p:nvGrpSpPr>
            <p:grpSpPr bwMode="auto">
              <a:xfrm>
                <a:off x="2657" y="2144"/>
                <a:ext cx="296" cy="289"/>
                <a:chOff x="2657" y="2144"/>
                <a:chExt cx="296" cy="289"/>
              </a:xfrm>
            </p:grpSpPr>
            <p:sp>
              <p:nvSpPr>
                <p:cNvPr id="19552" name="Freeform 96"/>
                <p:cNvSpPr>
                  <a:spLocks/>
                </p:cNvSpPr>
                <p:nvPr/>
              </p:nvSpPr>
              <p:spPr bwMode="auto">
                <a:xfrm>
                  <a:off x="2657" y="2144"/>
                  <a:ext cx="149" cy="289"/>
                </a:xfrm>
                <a:custGeom>
                  <a:avLst/>
                  <a:gdLst>
                    <a:gd name="T0" fmla="*/ 148 w 149"/>
                    <a:gd name="T1" fmla="*/ 0 h 289"/>
                    <a:gd name="T2" fmla="*/ 0 w 149"/>
                    <a:gd name="T3" fmla="*/ 0 h 289"/>
                    <a:gd name="T4" fmla="*/ 0 w 149"/>
                    <a:gd name="T5" fmla="*/ 288 h 289"/>
                    <a:gd name="T6" fmla="*/ 148 w 149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9" h="289">
                      <a:moveTo>
                        <a:pt x="148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8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53" name="Freeform 97"/>
                <p:cNvSpPr>
                  <a:spLocks/>
                </p:cNvSpPr>
                <p:nvPr/>
              </p:nvSpPr>
              <p:spPr bwMode="auto">
                <a:xfrm>
                  <a:off x="2805" y="2144"/>
                  <a:ext cx="148" cy="289"/>
                </a:xfrm>
                <a:custGeom>
                  <a:avLst/>
                  <a:gdLst>
                    <a:gd name="T0" fmla="*/ 0 w 148"/>
                    <a:gd name="T1" fmla="*/ 0 h 289"/>
                    <a:gd name="T2" fmla="*/ 147 w 148"/>
                    <a:gd name="T3" fmla="*/ 0 h 289"/>
                    <a:gd name="T4" fmla="*/ 147 w 148"/>
                    <a:gd name="T5" fmla="*/ 288 h 289"/>
                    <a:gd name="T6" fmla="*/ 0 w 148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8" h="289">
                      <a:moveTo>
                        <a:pt x="0" y="0"/>
                      </a:moveTo>
                      <a:lnTo>
                        <a:pt x="147" y="0"/>
                      </a:lnTo>
                      <a:lnTo>
                        <a:pt x="147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554" name="Line 98"/>
              <p:cNvSpPr>
                <a:spLocks noChangeShapeType="1"/>
              </p:cNvSpPr>
              <p:nvPr/>
            </p:nvSpPr>
            <p:spPr bwMode="auto">
              <a:xfrm>
                <a:off x="2542" y="2288"/>
                <a:ext cx="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55" name="Freeform 99"/>
              <p:cNvSpPr>
                <a:spLocks/>
              </p:cNvSpPr>
              <p:nvPr/>
            </p:nvSpPr>
            <p:spPr bwMode="auto">
              <a:xfrm>
                <a:off x="2604" y="2192"/>
                <a:ext cx="48" cy="97"/>
              </a:xfrm>
              <a:custGeom>
                <a:avLst/>
                <a:gdLst>
                  <a:gd name="T0" fmla="*/ 0 w 48"/>
                  <a:gd name="T1" fmla="*/ 96 h 97"/>
                  <a:gd name="T2" fmla="*/ 0 w 48"/>
                  <a:gd name="T3" fmla="*/ 0 h 97"/>
                  <a:gd name="T4" fmla="*/ 47 w 48"/>
                  <a:gd name="T5" fmla="*/ 0 h 97"/>
                  <a:gd name="T6" fmla="*/ 47 w 48"/>
                  <a:gd name="T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8" h="97">
                    <a:moveTo>
                      <a:pt x="0" y="96"/>
                    </a:moveTo>
                    <a:lnTo>
                      <a:pt x="0" y="0"/>
                    </a:lnTo>
                    <a:lnTo>
                      <a:pt x="47" y="0"/>
                    </a:lnTo>
                    <a:lnTo>
                      <a:pt x="47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56" name="Line 100"/>
              <p:cNvSpPr>
                <a:spLocks noChangeShapeType="1"/>
              </p:cNvSpPr>
              <p:nvPr/>
            </p:nvSpPr>
            <p:spPr bwMode="auto">
              <a:xfrm>
                <a:off x="2958" y="2192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57" name="Rectangle 101"/>
              <p:cNvSpPr>
                <a:spLocks noChangeArrowheads="1"/>
              </p:cNvSpPr>
              <p:nvPr/>
            </p:nvSpPr>
            <p:spPr bwMode="auto">
              <a:xfrm>
                <a:off x="3455" y="2146"/>
                <a:ext cx="313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DM</a:t>
                </a:r>
              </a:p>
            </p:txBody>
          </p:sp>
          <p:grpSp>
            <p:nvGrpSpPr>
              <p:cNvPr id="25" name="Group 102"/>
              <p:cNvGrpSpPr>
                <a:grpSpLocks/>
              </p:cNvGrpSpPr>
              <p:nvPr/>
            </p:nvGrpSpPr>
            <p:grpSpPr bwMode="auto">
              <a:xfrm>
                <a:off x="3506" y="2144"/>
                <a:ext cx="325" cy="289"/>
                <a:chOff x="3506" y="2144"/>
                <a:chExt cx="325" cy="289"/>
              </a:xfrm>
            </p:grpSpPr>
            <p:sp>
              <p:nvSpPr>
                <p:cNvPr id="19559" name="Freeform 103"/>
                <p:cNvSpPr>
                  <a:spLocks/>
                </p:cNvSpPr>
                <p:nvPr/>
              </p:nvSpPr>
              <p:spPr bwMode="auto">
                <a:xfrm>
                  <a:off x="3506" y="2144"/>
                  <a:ext cx="162" cy="289"/>
                </a:xfrm>
                <a:custGeom>
                  <a:avLst/>
                  <a:gdLst>
                    <a:gd name="T0" fmla="*/ 161 w 162"/>
                    <a:gd name="T1" fmla="*/ 0 h 289"/>
                    <a:gd name="T2" fmla="*/ 0 w 162"/>
                    <a:gd name="T3" fmla="*/ 0 h 289"/>
                    <a:gd name="T4" fmla="*/ 0 w 162"/>
                    <a:gd name="T5" fmla="*/ 288 h 289"/>
                    <a:gd name="T6" fmla="*/ 161 w 16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2" h="289">
                      <a:moveTo>
                        <a:pt x="16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6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60" name="Freeform 104"/>
                <p:cNvSpPr>
                  <a:spLocks/>
                </p:cNvSpPr>
                <p:nvPr/>
              </p:nvSpPr>
              <p:spPr bwMode="auto">
                <a:xfrm>
                  <a:off x="3667" y="2144"/>
                  <a:ext cx="164" cy="289"/>
                </a:xfrm>
                <a:custGeom>
                  <a:avLst/>
                  <a:gdLst>
                    <a:gd name="T0" fmla="*/ 0 w 164"/>
                    <a:gd name="T1" fmla="*/ 0 h 289"/>
                    <a:gd name="T2" fmla="*/ 163 w 164"/>
                    <a:gd name="T3" fmla="*/ 0 h 289"/>
                    <a:gd name="T4" fmla="*/ 163 w 164"/>
                    <a:gd name="T5" fmla="*/ 288 h 289"/>
                    <a:gd name="T6" fmla="*/ 0 w 164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64" h="289">
                      <a:moveTo>
                        <a:pt x="0" y="0"/>
                      </a:moveTo>
                      <a:lnTo>
                        <a:pt x="163" y="0"/>
                      </a:lnTo>
                      <a:lnTo>
                        <a:pt x="163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561" name="Rectangle 105"/>
              <p:cNvSpPr>
                <a:spLocks noChangeArrowheads="1"/>
              </p:cNvSpPr>
              <p:nvPr/>
            </p:nvSpPr>
            <p:spPr bwMode="auto">
              <a:xfrm>
                <a:off x="3947" y="2146"/>
                <a:ext cx="355" cy="23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Reg</a:t>
                </a:r>
              </a:p>
            </p:txBody>
          </p:sp>
          <p:grpSp>
            <p:nvGrpSpPr>
              <p:cNvPr id="26" name="Group 106"/>
              <p:cNvGrpSpPr>
                <a:grpSpLocks/>
              </p:cNvGrpSpPr>
              <p:nvPr/>
            </p:nvGrpSpPr>
            <p:grpSpPr bwMode="auto">
              <a:xfrm>
                <a:off x="3974" y="2144"/>
                <a:ext cx="284" cy="289"/>
                <a:chOff x="3974" y="2144"/>
                <a:chExt cx="284" cy="289"/>
              </a:xfrm>
            </p:grpSpPr>
            <p:sp>
              <p:nvSpPr>
                <p:cNvPr id="19563" name="Freeform 107"/>
                <p:cNvSpPr>
                  <a:spLocks/>
                </p:cNvSpPr>
                <p:nvPr/>
              </p:nvSpPr>
              <p:spPr bwMode="auto">
                <a:xfrm>
                  <a:off x="3974" y="2144"/>
                  <a:ext cx="142" cy="289"/>
                </a:xfrm>
                <a:custGeom>
                  <a:avLst/>
                  <a:gdLst>
                    <a:gd name="T0" fmla="*/ 141 w 142"/>
                    <a:gd name="T1" fmla="*/ 0 h 289"/>
                    <a:gd name="T2" fmla="*/ 0 w 142"/>
                    <a:gd name="T3" fmla="*/ 0 h 289"/>
                    <a:gd name="T4" fmla="*/ 0 w 142"/>
                    <a:gd name="T5" fmla="*/ 288 h 289"/>
                    <a:gd name="T6" fmla="*/ 141 w 142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2" h="289">
                      <a:moveTo>
                        <a:pt x="141" y="0"/>
                      </a:moveTo>
                      <a:lnTo>
                        <a:pt x="0" y="0"/>
                      </a:lnTo>
                      <a:lnTo>
                        <a:pt x="0" y="288"/>
                      </a:lnTo>
                      <a:lnTo>
                        <a:pt x="141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64" name="Freeform 108"/>
                <p:cNvSpPr>
                  <a:spLocks/>
                </p:cNvSpPr>
                <p:nvPr/>
              </p:nvSpPr>
              <p:spPr bwMode="auto">
                <a:xfrm>
                  <a:off x="4115" y="2144"/>
                  <a:ext cx="143" cy="289"/>
                </a:xfrm>
                <a:custGeom>
                  <a:avLst/>
                  <a:gdLst>
                    <a:gd name="T0" fmla="*/ 0 w 143"/>
                    <a:gd name="T1" fmla="*/ 0 h 289"/>
                    <a:gd name="T2" fmla="*/ 142 w 143"/>
                    <a:gd name="T3" fmla="*/ 0 h 289"/>
                    <a:gd name="T4" fmla="*/ 142 w 143"/>
                    <a:gd name="T5" fmla="*/ 288 h 289"/>
                    <a:gd name="T6" fmla="*/ 0 w 143"/>
                    <a:gd name="T7" fmla="*/ 288 h 28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43" h="289">
                      <a:moveTo>
                        <a:pt x="0" y="0"/>
                      </a:moveTo>
                      <a:lnTo>
                        <a:pt x="142" y="0"/>
                      </a:lnTo>
                      <a:lnTo>
                        <a:pt x="142" y="288"/>
                      </a:lnTo>
                      <a:lnTo>
                        <a:pt x="0" y="288"/>
                      </a:lnTo>
                    </a:path>
                  </a:pathLst>
                </a:custGeom>
                <a:noFill/>
                <a:ln w="2540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9565" name="Line 109"/>
              <p:cNvSpPr>
                <a:spLocks noChangeShapeType="1"/>
              </p:cNvSpPr>
              <p:nvPr/>
            </p:nvSpPr>
            <p:spPr bwMode="auto">
              <a:xfrm>
                <a:off x="3827" y="2288"/>
                <a:ext cx="139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66" name="Line 110"/>
              <p:cNvSpPr>
                <a:spLocks noChangeShapeType="1"/>
              </p:cNvSpPr>
              <p:nvPr/>
            </p:nvSpPr>
            <p:spPr bwMode="auto">
              <a:xfrm>
                <a:off x="3343" y="2288"/>
                <a:ext cx="155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67" name="Freeform 111"/>
              <p:cNvSpPr>
                <a:spLocks/>
              </p:cNvSpPr>
              <p:nvPr/>
            </p:nvSpPr>
            <p:spPr bwMode="auto">
              <a:xfrm>
                <a:off x="3464" y="2288"/>
                <a:ext cx="431" cy="193"/>
              </a:xfrm>
              <a:custGeom>
                <a:avLst/>
                <a:gdLst>
                  <a:gd name="T0" fmla="*/ 0 w 431"/>
                  <a:gd name="T1" fmla="*/ 0 h 193"/>
                  <a:gd name="T2" fmla="*/ 0 w 431"/>
                  <a:gd name="T3" fmla="*/ 192 h 193"/>
                  <a:gd name="T4" fmla="*/ 391 w 431"/>
                  <a:gd name="T5" fmla="*/ 192 h 193"/>
                  <a:gd name="T6" fmla="*/ 391 w 431"/>
                  <a:gd name="T7" fmla="*/ 64 h 193"/>
                  <a:gd name="T8" fmla="*/ 430 w 431"/>
                  <a:gd name="T9" fmla="*/ 0 h 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1" h="193">
                    <a:moveTo>
                      <a:pt x="0" y="0"/>
                    </a:moveTo>
                    <a:lnTo>
                      <a:pt x="0" y="192"/>
                    </a:lnTo>
                    <a:lnTo>
                      <a:pt x="391" y="192"/>
                    </a:lnTo>
                    <a:lnTo>
                      <a:pt x="391" y="64"/>
                    </a:lnTo>
                    <a:lnTo>
                      <a:pt x="430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68" name="Line 112"/>
              <p:cNvSpPr>
                <a:spLocks noChangeShapeType="1"/>
              </p:cNvSpPr>
              <p:nvPr/>
            </p:nvSpPr>
            <p:spPr bwMode="auto">
              <a:xfrm>
                <a:off x="2958" y="2384"/>
                <a:ext cx="157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69" name="Freeform 113"/>
              <p:cNvSpPr>
                <a:spLocks/>
              </p:cNvSpPr>
              <p:nvPr/>
            </p:nvSpPr>
            <p:spPr bwMode="auto">
              <a:xfrm>
                <a:off x="3051" y="2283"/>
                <a:ext cx="337" cy="278"/>
              </a:xfrm>
              <a:custGeom>
                <a:avLst/>
                <a:gdLst>
                  <a:gd name="T0" fmla="*/ 0 w 337"/>
                  <a:gd name="T1" fmla="*/ 101 h 278"/>
                  <a:gd name="T2" fmla="*/ 0 w 337"/>
                  <a:gd name="T3" fmla="*/ 277 h 278"/>
                  <a:gd name="T4" fmla="*/ 294 w 337"/>
                  <a:gd name="T5" fmla="*/ 277 h 278"/>
                  <a:gd name="T6" fmla="*/ 294 w 337"/>
                  <a:gd name="T7" fmla="*/ 90 h 278"/>
                  <a:gd name="T8" fmla="*/ 336 w 337"/>
                  <a:gd name="T9" fmla="*/ 0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" h="278">
                    <a:moveTo>
                      <a:pt x="0" y="101"/>
                    </a:moveTo>
                    <a:lnTo>
                      <a:pt x="0" y="277"/>
                    </a:lnTo>
                    <a:lnTo>
                      <a:pt x="294" y="277"/>
                    </a:lnTo>
                    <a:lnTo>
                      <a:pt x="294" y="90"/>
                    </a:lnTo>
                    <a:lnTo>
                      <a:pt x="336" y="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" name="Group 114"/>
            <p:cNvGrpSpPr>
              <a:grpSpLocks/>
            </p:cNvGrpSpPr>
            <p:nvPr/>
          </p:nvGrpSpPr>
          <p:grpSpPr bwMode="auto">
            <a:xfrm>
              <a:off x="3980" y="2844"/>
              <a:ext cx="224" cy="424"/>
              <a:chOff x="3539" y="2496"/>
              <a:chExt cx="224" cy="481"/>
            </a:xfrm>
          </p:grpSpPr>
          <p:sp>
            <p:nvSpPr>
              <p:cNvPr id="19571" name="Freeform 115"/>
              <p:cNvSpPr>
                <a:spLocks/>
              </p:cNvSpPr>
              <p:nvPr/>
            </p:nvSpPr>
            <p:spPr bwMode="auto">
              <a:xfrm>
                <a:off x="3550" y="2496"/>
                <a:ext cx="213" cy="481"/>
              </a:xfrm>
              <a:custGeom>
                <a:avLst/>
                <a:gdLst>
                  <a:gd name="T0" fmla="*/ 0 w 213"/>
                  <a:gd name="T1" fmla="*/ 320 h 481"/>
                  <a:gd name="T2" fmla="*/ 71 w 213"/>
                  <a:gd name="T3" fmla="*/ 240 h 481"/>
                  <a:gd name="T4" fmla="*/ 0 w 213"/>
                  <a:gd name="T5" fmla="*/ 160 h 481"/>
                  <a:gd name="T6" fmla="*/ 0 w 213"/>
                  <a:gd name="T7" fmla="*/ 0 h 481"/>
                  <a:gd name="T8" fmla="*/ 212 w 213"/>
                  <a:gd name="T9" fmla="*/ 160 h 481"/>
                  <a:gd name="T10" fmla="*/ 212 w 213"/>
                  <a:gd name="T11" fmla="*/ 320 h 481"/>
                  <a:gd name="T12" fmla="*/ 0 w 213"/>
                  <a:gd name="T13" fmla="*/ 480 h 481"/>
                  <a:gd name="T14" fmla="*/ 0 w 213"/>
                  <a:gd name="T15" fmla="*/ 320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" h="481">
                    <a:moveTo>
                      <a:pt x="0" y="320"/>
                    </a:moveTo>
                    <a:lnTo>
                      <a:pt x="71" y="240"/>
                    </a:lnTo>
                    <a:lnTo>
                      <a:pt x="0" y="160"/>
                    </a:lnTo>
                    <a:lnTo>
                      <a:pt x="0" y="0"/>
                    </a:lnTo>
                    <a:lnTo>
                      <a:pt x="212" y="160"/>
                    </a:lnTo>
                    <a:lnTo>
                      <a:pt x="212" y="320"/>
                    </a:lnTo>
                    <a:lnTo>
                      <a:pt x="0" y="480"/>
                    </a:lnTo>
                    <a:lnTo>
                      <a:pt x="0" y="320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72" name="Rectangle 116"/>
              <p:cNvSpPr>
                <a:spLocks noChangeArrowheads="1"/>
              </p:cNvSpPr>
              <p:nvPr/>
            </p:nvSpPr>
            <p:spPr bwMode="auto">
              <a:xfrm rot="5400000">
                <a:off x="3430" y="2641"/>
                <a:ext cx="427" cy="2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/>
              <a:p>
                <a:r>
                  <a:rPr lang="en-US" altLang="zh-CN" sz="1600" b="1">
                    <a:latin typeface="Arial" charset="0"/>
                  </a:rPr>
                  <a:t>ALU</a:t>
                </a:r>
              </a:p>
            </p:txBody>
          </p:sp>
        </p:grpSp>
        <p:sp>
          <p:nvSpPr>
            <p:cNvPr id="19573" name="Rectangle 117"/>
            <p:cNvSpPr>
              <a:spLocks noChangeArrowheads="1"/>
            </p:cNvSpPr>
            <p:nvPr/>
          </p:nvSpPr>
          <p:spPr bwMode="auto">
            <a:xfrm>
              <a:off x="3506" y="2935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28" name="Group 118"/>
            <p:cNvGrpSpPr>
              <a:grpSpLocks/>
            </p:cNvGrpSpPr>
            <p:nvPr/>
          </p:nvGrpSpPr>
          <p:grpSpPr bwMode="auto">
            <a:xfrm>
              <a:off x="3525" y="2929"/>
              <a:ext cx="296" cy="254"/>
              <a:chOff x="3084" y="2592"/>
              <a:chExt cx="296" cy="289"/>
            </a:xfrm>
          </p:grpSpPr>
          <p:sp>
            <p:nvSpPr>
              <p:cNvPr id="19575" name="Freeform 119"/>
              <p:cNvSpPr>
                <a:spLocks/>
              </p:cNvSpPr>
              <p:nvPr/>
            </p:nvSpPr>
            <p:spPr bwMode="auto">
              <a:xfrm>
                <a:off x="3084" y="2592"/>
                <a:ext cx="149" cy="289"/>
              </a:xfrm>
              <a:custGeom>
                <a:avLst/>
                <a:gdLst>
                  <a:gd name="T0" fmla="*/ 148 w 149"/>
                  <a:gd name="T1" fmla="*/ 0 h 289"/>
                  <a:gd name="T2" fmla="*/ 0 w 149"/>
                  <a:gd name="T3" fmla="*/ 0 h 289"/>
                  <a:gd name="T4" fmla="*/ 0 w 149"/>
                  <a:gd name="T5" fmla="*/ 288 h 289"/>
                  <a:gd name="T6" fmla="*/ 148 w 149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9" h="289">
                    <a:moveTo>
                      <a:pt x="148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8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76" name="Freeform 120"/>
              <p:cNvSpPr>
                <a:spLocks/>
              </p:cNvSpPr>
              <p:nvPr/>
            </p:nvSpPr>
            <p:spPr bwMode="auto">
              <a:xfrm>
                <a:off x="3232" y="2592"/>
                <a:ext cx="148" cy="289"/>
              </a:xfrm>
              <a:custGeom>
                <a:avLst/>
                <a:gdLst>
                  <a:gd name="T0" fmla="*/ 0 w 148"/>
                  <a:gd name="T1" fmla="*/ 0 h 289"/>
                  <a:gd name="T2" fmla="*/ 147 w 148"/>
                  <a:gd name="T3" fmla="*/ 0 h 289"/>
                  <a:gd name="T4" fmla="*/ 147 w 148"/>
                  <a:gd name="T5" fmla="*/ 288 h 289"/>
                  <a:gd name="T6" fmla="*/ 0 w 148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8" h="289">
                    <a:moveTo>
                      <a:pt x="0" y="0"/>
                    </a:moveTo>
                    <a:lnTo>
                      <a:pt x="147" y="0"/>
                    </a:lnTo>
                    <a:lnTo>
                      <a:pt x="147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77" name="Line 121"/>
            <p:cNvSpPr>
              <a:spLocks noChangeShapeType="1"/>
            </p:cNvSpPr>
            <p:nvPr/>
          </p:nvSpPr>
          <p:spPr bwMode="auto">
            <a:xfrm>
              <a:off x="3410" y="3056"/>
              <a:ext cx="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78" name="Freeform 122"/>
            <p:cNvSpPr>
              <a:spLocks/>
            </p:cNvSpPr>
            <p:nvPr/>
          </p:nvSpPr>
          <p:spPr bwMode="auto">
            <a:xfrm>
              <a:off x="3472" y="2971"/>
              <a:ext cx="48" cy="85"/>
            </a:xfrm>
            <a:custGeom>
              <a:avLst/>
              <a:gdLst>
                <a:gd name="T0" fmla="*/ 0 w 48"/>
                <a:gd name="T1" fmla="*/ 96 h 97"/>
                <a:gd name="T2" fmla="*/ 0 w 48"/>
                <a:gd name="T3" fmla="*/ 0 h 97"/>
                <a:gd name="T4" fmla="*/ 47 w 48"/>
                <a:gd name="T5" fmla="*/ 0 h 97"/>
                <a:gd name="T6" fmla="*/ 47 w 48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8" h="97">
                  <a:moveTo>
                    <a:pt x="0" y="96"/>
                  </a:moveTo>
                  <a:lnTo>
                    <a:pt x="0" y="0"/>
                  </a:lnTo>
                  <a:lnTo>
                    <a:pt x="47" y="0"/>
                  </a:lnTo>
                  <a:lnTo>
                    <a:pt x="47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79" name="Line 123"/>
            <p:cNvSpPr>
              <a:spLocks noChangeShapeType="1"/>
            </p:cNvSpPr>
            <p:nvPr/>
          </p:nvSpPr>
          <p:spPr bwMode="auto">
            <a:xfrm>
              <a:off x="3826" y="2971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80" name="Rectangle 124"/>
            <p:cNvSpPr>
              <a:spLocks noChangeArrowheads="1"/>
            </p:cNvSpPr>
            <p:nvPr/>
          </p:nvSpPr>
          <p:spPr bwMode="auto">
            <a:xfrm>
              <a:off x="4323" y="2931"/>
              <a:ext cx="313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DM</a:t>
              </a:r>
            </a:p>
          </p:txBody>
        </p:sp>
        <p:grpSp>
          <p:nvGrpSpPr>
            <p:cNvPr id="29" name="Group 125"/>
            <p:cNvGrpSpPr>
              <a:grpSpLocks/>
            </p:cNvGrpSpPr>
            <p:nvPr/>
          </p:nvGrpSpPr>
          <p:grpSpPr bwMode="auto">
            <a:xfrm>
              <a:off x="4374" y="2929"/>
              <a:ext cx="325" cy="254"/>
              <a:chOff x="3933" y="2592"/>
              <a:chExt cx="325" cy="289"/>
            </a:xfrm>
          </p:grpSpPr>
          <p:sp>
            <p:nvSpPr>
              <p:cNvPr id="19582" name="Freeform 126"/>
              <p:cNvSpPr>
                <a:spLocks/>
              </p:cNvSpPr>
              <p:nvPr/>
            </p:nvSpPr>
            <p:spPr bwMode="auto">
              <a:xfrm>
                <a:off x="3933" y="2592"/>
                <a:ext cx="162" cy="289"/>
              </a:xfrm>
              <a:custGeom>
                <a:avLst/>
                <a:gdLst>
                  <a:gd name="T0" fmla="*/ 161 w 162"/>
                  <a:gd name="T1" fmla="*/ 0 h 289"/>
                  <a:gd name="T2" fmla="*/ 0 w 162"/>
                  <a:gd name="T3" fmla="*/ 0 h 289"/>
                  <a:gd name="T4" fmla="*/ 0 w 162"/>
                  <a:gd name="T5" fmla="*/ 288 h 289"/>
                  <a:gd name="T6" fmla="*/ 161 w 16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2" h="289">
                    <a:moveTo>
                      <a:pt x="16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6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83" name="Freeform 127"/>
              <p:cNvSpPr>
                <a:spLocks/>
              </p:cNvSpPr>
              <p:nvPr/>
            </p:nvSpPr>
            <p:spPr bwMode="auto">
              <a:xfrm>
                <a:off x="4094" y="2592"/>
                <a:ext cx="164" cy="289"/>
              </a:xfrm>
              <a:custGeom>
                <a:avLst/>
                <a:gdLst>
                  <a:gd name="T0" fmla="*/ 0 w 164"/>
                  <a:gd name="T1" fmla="*/ 0 h 289"/>
                  <a:gd name="T2" fmla="*/ 163 w 164"/>
                  <a:gd name="T3" fmla="*/ 0 h 289"/>
                  <a:gd name="T4" fmla="*/ 163 w 164"/>
                  <a:gd name="T5" fmla="*/ 288 h 289"/>
                  <a:gd name="T6" fmla="*/ 0 w 164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4" h="289">
                    <a:moveTo>
                      <a:pt x="0" y="0"/>
                    </a:moveTo>
                    <a:lnTo>
                      <a:pt x="163" y="0"/>
                    </a:lnTo>
                    <a:lnTo>
                      <a:pt x="163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84" name="Rectangle 128"/>
            <p:cNvSpPr>
              <a:spLocks noChangeArrowheads="1"/>
            </p:cNvSpPr>
            <p:nvPr/>
          </p:nvSpPr>
          <p:spPr bwMode="auto">
            <a:xfrm>
              <a:off x="4815" y="2931"/>
              <a:ext cx="355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600" b="1">
                  <a:latin typeface="Arial" charset="0"/>
                </a:rPr>
                <a:t>Reg</a:t>
              </a:r>
            </a:p>
          </p:txBody>
        </p:sp>
        <p:grpSp>
          <p:nvGrpSpPr>
            <p:cNvPr id="30" name="Group 129"/>
            <p:cNvGrpSpPr>
              <a:grpSpLocks/>
            </p:cNvGrpSpPr>
            <p:nvPr/>
          </p:nvGrpSpPr>
          <p:grpSpPr bwMode="auto">
            <a:xfrm>
              <a:off x="4842" y="2929"/>
              <a:ext cx="284" cy="254"/>
              <a:chOff x="4401" y="2592"/>
              <a:chExt cx="284" cy="289"/>
            </a:xfrm>
          </p:grpSpPr>
          <p:sp>
            <p:nvSpPr>
              <p:cNvPr id="19586" name="Freeform 130"/>
              <p:cNvSpPr>
                <a:spLocks/>
              </p:cNvSpPr>
              <p:nvPr/>
            </p:nvSpPr>
            <p:spPr bwMode="auto">
              <a:xfrm>
                <a:off x="4401" y="2592"/>
                <a:ext cx="142" cy="289"/>
              </a:xfrm>
              <a:custGeom>
                <a:avLst/>
                <a:gdLst>
                  <a:gd name="T0" fmla="*/ 141 w 142"/>
                  <a:gd name="T1" fmla="*/ 0 h 289"/>
                  <a:gd name="T2" fmla="*/ 0 w 142"/>
                  <a:gd name="T3" fmla="*/ 0 h 289"/>
                  <a:gd name="T4" fmla="*/ 0 w 142"/>
                  <a:gd name="T5" fmla="*/ 288 h 289"/>
                  <a:gd name="T6" fmla="*/ 141 w 142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289">
                    <a:moveTo>
                      <a:pt x="141" y="0"/>
                    </a:moveTo>
                    <a:lnTo>
                      <a:pt x="0" y="0"/>
                    </a:lnTo>
                    <a:lnTo>
                      <a:pt x="0" y="288"/>
                    </a:lnTo>
                    <a:lnTo>
                      <a:pt x="141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87" name="Freeform 131"/>
              <p:cNvSpPr>
                <a:spLocks/>
              </p:cNvSpPr>
              <p:nvPr/>
            </p:nvSpPr>
            <p:spPr bwMode="auto">
              <a:xfrm>
                <a:off x="4542" y="2592"/>
                <a:ext cx="143" cy="289"/>
              </a:xfrm>
              <a:custGeom>
                <a:avLst/>
                <a:gdLst>
                  <a:gd name="T0" fmla="*/ 0 w 143"/>
                  <a:gd name="T1" fmla="*/ 0 h 289"/>
                  <a:gd name="T2" fmla="*/ 142 w 143"/>
                  <a:gd name="T3" fmla="*/ 0 h 289"/>
                  <a:gd name="T4" fmla="*/ 142 w 143"/>
                  <a:gd name="T5" fmla="*/ 288 h 289"/>
                  <a:gd name="T6" fmla="*/ 0 w 143"/>
                  <a:gd name="T7" fmla="*/ 288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3" h="289">
                    <a:moveTo>
                      <a:pt x="0" y="0"/>
                    </a:moveTo>
                    <a:lnTo>
                      <a:pt x="142" y="0"/>
                    </a:lnTo>
                    <a:lnTo>
                      <a:pt x="142" y="288"/>
                    </a:lnTo>
                    <a:lnTo>
                      <a:pt x="0" y="288"/>
                    </a:lnTo>
                  </a:path>
                </a:pathLst>
              </a:custGeom>
              <a:noFill/>
              <a:ln w="254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88" name="Line 132"/>
            <p:cNvSpPr>
              <a:spLocks noChangeShapeType="1"/>
            </p:cNvSpPr>
            <p:nvPr/>
          </p:nvSpPr>
          <p:spPr bwMode="auto">
            <a:xfrm>
              <a:off x="4695" y="3056"/>
              <a:ext cx="13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89" name="Line 133"/>
            <p:cNvSpPr>
              <a:spLocks noChangeShapeType="1"/>
            </p:cNvSpPr>
            <p:nvPr/>
          </p:nvSpPr>
          <p:spPr bwMode="auto">
            <a:xfrm>
              <a:off x="4211" y="3056"/>
              <a:ext cx="15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90" name="Freeform 134"/>
            <p:cNvSpPr>
              <a:spLocks/>
            </p:cNvSpPr>
            <p:nvPr/>
          </p:nvSpPr>
          <p:spPr bwMode="auto">
            <a:xfrm>
              <a:off x="4332" y="3056"/>
              <a:ext cx="431" cy="169"/>
            </a:xfrm>
            <a:custGeom>
              <a:avLst/>
              <a:gdLst>
                <a:gd name="T0" fmla="*/ 0 w 431"/>
                <a:gd name="T1" fmla="*/ 0 h 193"/>
                <a:gd name="T2" fmla="*/ 0 w 431"/>
                <a:gd name="T3" fmla="*/ 192 h 193"/>
                <a:gd name="T4" fmla="*/ 391 w 431"/>
                <a:gd name="T5" fmla="*/ 192 h 193"/>
                <a:gd name="T6" fmla="*/ 391 w 431"/>
                <a:gd name="T7" fmla="*/ 64 h 193"/>
                <a:gd name="T8" fmla="*/ 430 w 431"/>
                <a:gd name="T9" fmla="*/ 0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1" h="193">
                  <a:moveTo>
                    <a:pt x="0" y="0"/>
                  </a:moveTo>
                  <a:lnTo>
                    <a:pt x="0" y="192"/>
                  </a:lnTo>
                  <a:lnTo>
                    <a:pt x="391" y="192"/>
                  </a:lnTo>
                  <a:lnTo>
                    <a:pt x="391" y="64"/>
                  </a:lnTo>
                  <a:lnTo>
                    <a:pt x="430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91" name="Line 135"/>
            <p:cNvSpPr>
              <a:spLocks noChangeShapeType="1"/>
            </p:cNvSpPr>
            <p:nvPr/>
          </p:nvSpPr>
          <p:spPr bwMode="auto">
            <a:xfrm>
              <a:off x="3826" y="3140"/>
              <a:ext cx="15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92" name="Freeform 136"/>
            <p:cNvSpPr>
              <a:spLocks/>
            </p:cNvSpPr>
            <p:nvPr/>
          </p:nvSpPr>
          <p:spPr bwMode="auto">
            <a:xfrm>
              <a:off x="3919" y="3051"/>
              <a:ext cx="337" cy="245"/>
            </a:xfrm>
            <a:custGeom>
              <a:avLst/>
              <a:gdLst>
                <a:gd name="T0" fmla="*/ 0 w 337"/>
                <a:gd name="T1" fmla="*/ 101 h 278"/>
                <a:gd name="T2" fmla="*/ 0 w 337"/>
                <a:gd name="T3" fmla="*/ 277 h 278"/>
                <a:gd name="T4" fmla="*/ 294 w 337"/>
                <a:gd name="T5" fmla="*/ 277 h 278"/>
                <a:gd name="T6" fmla="*/ 294 w 337"/>
                <a:gd name="T7" fmla="*/ 90 h 278"/>
                <a:gd name="T8" fmla="*/ 336 w 337"/>
                <a:gd name="T9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7" h="278">
                  <a:moveTo>
                    <a:pt x="0" y="101"/>
                  </a:moveTo>
                  <a:lnTo>
                    <a:pt x="0" y="277"/>
                  </a:lnTo>
                  <a:lnTo>
                    <a:pt x="294" y="277"/>
                  </a:lnTo>
                  <a:lnTo>
                    <a:pt x="294" y="90"/>
                  </a:lnTo>
                  <a:lnTo>
                    <a:pt x="336" y="0"/>
                  </a:lnTo>
                </a:path>
              </a:pathLst>
            </a:custGeom>
            <a:noFill/>
            <a:ln w="254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593" name="Rectangle 13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分开的指令与数据存储器</a:t>
            </a:r>
            <a:endParaRPr lang="en-US" altLang="zh-CN" b="1" dirty="0"/>
          </a:p>
        </p:txBody>
      </p:sp>
      <p:sp>
        <p:nvSpPr>
          <p:cNvPr id="19594" name="Rectangle 138"/>
          <p:cNvSpPr>
            <a:spLocks noGrp="1" noChangeArrowheads="1"/>
          </p:cNvSpPr>
          <p:nvPr>
            <p:ph type="body" idx="1"/>
          </p:nvPr>
        </p:nvSpPr>
        <p:spPr>
          <a:xfrm>
            <a:off x="304800" y="4953000"/>
            <a:ext cx="8610600" cy="14478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u="sng" dirty="0" smtClean="0">
                <a:latin typeface="Comic Sans MS" pitchFamily="66" charset="0"/>
              </a:rPr>
              <a:t>分开的指令和数据存储器</a:t>
            </a:r>
            <a:r>
              <a:rPr lang="en-US" altLang="zh-CN" sz="2400" b="1" dirty="0" smtClean="0">
                <a:latin typeface="Comic Sans MS" pitchFamily="66" charset="0"/>
              </a:rPr>
              <a:t>/ </a:t>
            </a:r>
            <a:r>
              <a:rPr lang="zh-CN" altLang="en-US" sz="2400" b="1" u="sng" dirty="0" smtClean="0">
                <a:latin typeface="Comic Sans MS" pitchFamily="66" charset="0"/>
              </a:rPr>
              <a:t>多个存储器端口</a:t>
            </a:r>
            <a:r>
              <a:rPr lang="en-US" altLang="zh-CN" sz="2400" b="1" dirty="0" smtClean="0">
                <a:latin typeface="Comic Sans MS" pitchFamily="66" charset="0"/>
              </a:rPr>
              <a:t>/ </a:t>
            </a:r>
            <a:r>
              <a:rPr lang="zh-CN" altLang="en-US" sz="2400" b="1" u="sng" dirty="0" smtClean="0">
                <a:latin typeface="Comic Sans MS" pitchFamily="66" charset="0"/>
              </a:rPr>
              <a:t>指令缓冲器</a:t>
            </a:r>
            <a:r>
              <a:rPr lang="en-US" altLang="zh-CN" sz="2400" b="1" u="sng" dirty="0" smtClean="0">
                <a:latin typeface="Comic Sans MS" pitchFamily="66" charset="0"/>
              </a:rPr>
              <a:t>  </a:t>
            </a:r>
            <a:r>
              <a:rPr lang="zh-CN" altLang="en-US" sz="2400" b="1" dirty="0" smtClean="0">
                <a:latin typeface="Comic Sans MS" pitchFamily="66" charset="0"/>
              </a:rPr>
              <a:t>：</a:t>
            </a:r>
            <a:endParaRPr lang="en-US" altLang="zh-CN" b="1" dirty="0"/>
          </a:p>
          <a:p>
            <a:pPr>
              <a:lnSpc>
                <a:spcPct val="150000"/>
              </a:lnSpc>
              <a:buFontTx/>
              <a:buNone/>
            </a:pPr>
            <a:r>
              <a:rPr lang="en-US" altLang="zh-CN" b="1" dirty="0"/>
              <a:t>   </a:t>
            </a:r>
            <a:r>
              <a:rPr lang="zh-CN" altLang="en-US" b="1" dirty="0" smtClean="0"/>
              <a:t>取指令和存取数据使用</a:t>
            </a:r>
            <a:r>
              <a:rPr lang="zh-CN" altLang="en-US" b="1" dirty="0" smtClean="0">
                <a:solidFill>
                  <a:srgbClr val="FF0000"/>
                </a:solidFill>
              </a:rPr>
              <a:t>不同的硬件资源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39" name="灯片编号占位符 1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8001000" cy="990600"/>
          </a:xfrm>
        </p:spPr>
        <p:txBody>
          <a:bodyPr>
            <a:normAutofit fontScale="90000"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没有完全流水化</a:t>
            </a:r>
            <a:r>
              <a:rPr lang="zh-CN" altLang="en-US" b="1" dirty="0" smtClean="0"/>
              <a:t>的功能部件：</a:t>
            </a:r>
            <a:r>
              <a:rPr lang="en-US" altLang="zh-CN" b="1" dirty="0" smtClean="0"/>
              <a:t> 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zh-CN" altLang="en-US" b="1" dirty="0" smtClean="0"/>
              <a:t>可能引起结构冒险</a:t>
            </a:r>
            <a:r>
              <a:rPr lang="en-US" altLang="zh-CN" b="1" dirty="0" smtClean="0"/>
              <a:t> </a:t>
            </a:r>
            <a:endParaRPr lang="en-US" altLang="zh-CN" b="1" dirty="0"/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0" y="1295400"/>
          <a:ext cx="8763000" cy="503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16" name="Document" r:id="rId4" imgW="8125206" imgH="5035296" progId="Word.Document.8">
                  <p:embed/>
                </p:oleObj>
              </mc:Choice>
              <mc:Fallback>
                <p:oleObj name="Document" r:id="rId4" imgW="8125206" imgH="5035296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95400"/>
                        <a:ext cx="8763000" cy="503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71842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为什么允许结构冒险？</a:t>
            </a:r>
            <a:endParaRPr lang="en-US" altLang="zh-CN" sz="4000" b="1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58" y="1571612"/>
            <a:ext cx="8358214" cy="418149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b="1" dirty="0" smtClean="0">
                <a:solidFill>
                  <a:srgbClr val="FF3300"/>
                </a:solidFill>
                <a:latin typeface="Comic Sans MS" pitchFamily="66" charset="0"/>
              </a:rPr>
              <a:t>减少成本</a:t>
            </a:r>
            <a:r>
              <a:rPr lang="en-US" altLang="zh-CN" sz="2800" b="1" dirty="0" smtClean="0">
                <a:latin typeface="Comic Sans MS" pitchFamily="66" charset="0"/>
              </a:rPr>
              <a:t> </a:t>
            </a:r>
            <a:endParaRPr lang="en-US" altLang="zh-CN" sz="2800" b="1" dirty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200" b="1" dirty="0" smtClean="0">
                <a:latin typeface="Comic Sans MS" pitchFamily="66" charset="0"/>
              </a:rPr>
              <a:t>如，</a:t>
            </a:r>
            <a:r>
              <a:rPr lang="zh-CN" altLang="en-US" sz="2200" b="1" dirty="0" smtClean="0">
                <a:solidFill>
                  <a:srgbClr val="0070C0"/>
                </a:solidFill>
                <a:latin typeface="Comic Sans MS" pitchFamily="66" charset="0"/>
              </a:rPr>
              <a:t>增加分开的</a:t>
            </a:r>
            <a:r>
              <a:rPr lang="en-US" altLang="zh-CN" sz="2200" b="1" dirty="0" smtClean="0">
                <a:solidFill>
                  <a:srgbClr val="0070C0"/>
                </a:solidFill>
                <a:latin typeface="Comic Sans MS" pitchFamily="66" charset="0"/>
              </a:rPr>
              <a:t>caches</a:t>
            </a:r>
            <a:r>
              <a:rPr lang="zh-CN" altLang="en-US" sz="2200" b="1" dirty="0" smtClean="0">
                <a:solidFill>
                  <a:srgbClr val="0070C0"/>
                </a:solidFill>
                <a:latin typeface="Comic Sans MS" pitchFamily="66" charset="0"/>
              </a:rPr>
              <a:t>需要两倍的存储器带宽</a:t>
            </a:r>
            <a:endParaRPr lang="en-US" altLang="zh-CN" sz="2200" b="1" dirty="0">
              <a:solidFill>
                <a:srgbClr val="0070C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Comic Sans MS" pitchFamily="66" charset="0"/>
              </a:rPr>
              <a:t>完全流水浮点部件需要很多逻辑门</a:t>
            </a:r>
            <a:endParaRPr lang="en-US" altLang="zh-CN" sz="2200" b="1" dirty="0">
              <a:solidFill>
                <a:srgbClr val="C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200" b="1" dirty="0" smtClean="0">
                <a:latin typeface="Comic Sans MS" pitchFamily="66" charset="0"/>
              </a:rPr>
              <a:t>如果结构冒险不经常发生，则消除冒险的成本就太高</a:t>
            </a:r>
            <a:r>
              <a:rPr lang="en-US" altLang="zh-CN" sz="2000" b="1" dirty="0" smtClean="0">
                <a:latin typeface="Comic Sans MS" pitchFamily="66" charset="0"/>
              </a:rPr>
              <a:t> </a:t>
            </a:r>
            <a:endParaRPr lang="en-US" altLang="zh-CN" sz="2000" b="1" dirty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 smtClean="0">
                <a:solidFill>
                  <a:srgbClr val="FF3300"/>
                </a:solidFill>
                <a:latin typeface="Comic Sans MS" pitchFamily="66" charset="0"/>
              </a:rPr>
              <a:t>减少部件延迟</a:t>
            </a:r>
            <a:r>
              <a:rPr lang="en-US" altLang="zh-CN" sz="2800" b="1" dirty="0" smtClean="0">
                <a:solidFill>
                  <a:srgbClr val="FF3300"/>
                </a:solidFill>
                <a:latin typeface="Comic Sans MS" pitchFamily="66" charset="0"/>
              </a:rPr>
              <a:t> </a:t>
            </a:r>
            <a:endParaRPr lang="en-US" altLang="zh-CN" sz="2800" b="1" dirty="0">
              <a:solidFill>
                <a:srgbClr val="FF33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200" b="1" dirty="0" smtClean="0">
                <a:solidFill>
                  <a:srgbClr val="0070C0"/>
                </a:solidFill>
                <a:latin typeface="Comic Sans MS" pitchFamily="66" charset="0"/>
              </a:rPr>
              <a:t>制造流水的功能部件增加延迟</a:t>
            </a:r>
            <a:endParaRPr lang="en-US" altLang="zh-CN" sz="2200" b="1" dirty="0">
              <a:solidFill>
                <a:srgbClr val="0070C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2200" b="1" dirty="0">
                <a:latin typeface="Comic Sans MS" pitchFamily="66" charset="0"/>
              </a:rPr>
              <a:t>         </a:t>
            </a:r>
            <a:r>
              <a:rPr lang="en-US" altLang="zh-CN" sz="2200" b="1" dirty="0" smtClean="0">
                <a:latin typeface="Comic Sans MS" pitchFamily="66" charset="0"/>
              </a:rPr>
              <a:t>(</a:t>
            </a:r>
            <a:r>
              <a:rPr lang="zh-CN" altLang="en-US" sz="2200" b="1" dirty="0" smtClean="0">
                <a:latin typeface="Comic Sans MS" pitchFamily="66" charset="0"/>
              </a:rPr>
              <a:t>流水线附加开销</a:t>
            </a:r>
            <a:r>
              <a:rPr lang="en-US" altLang="zh-CN" sz="2200" b="1" dirty="0" smtClean="0">
                <a:latin typeface="Comic Sans MS" pitchFamily="66" charset="0"/>
              </a:rPr>
              <a:t>-&gt; </a:t>
            </a:r>
            <a:r>
              <a:rPr lang="zh-CN" altLang="en-US" sz="2200" b="1" dirty="0" smtClean="0">
                <a:latin typeface="Comic Sans MS" pitchFamily="66" charset="0"/>
              </a:rPr>
              <a:t>流水线寄存器</a:t>
            </a:r>
            <a:r>
              <a:rPr lang="en-US" altLang="zh-CN" sz="2200" b="1" dirty="0" smtClean="0">
                <a:latin typeface="Comic Sans MS" pitchFamily="66" charset="0"/>
              </a:rPr>
              <a:t>) </a:t>
            </a:r>
            <a:endParaRPr lang="en-US" altLang="zh-CN" sz="2200" b="1" dirty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Comic Sans MS" pitchFamily="66" charset="0"/>
              </a:rPr>
              <a:t>非流水线部件的每个操作需要更少的时钟周期</a:t>
            </a:r>
            <a:r>
              <a:rPr lang="en-US" altLang="zh-CN" sz="2200" b="1" dirty="0" smtClean="0">
                <a:solidFill>
                  <a:srgbClr val="C00000"/>
                </a:solidFill>
                <a:latin typeface="Comic Sans MS" pitchFamily="66" charset="0"/>
              </a:rPr>
              <a:t> </a:t>
            </a:r>
            <a:endParaRPr lang="en-US" altLang="zh-CN" sz="2200" b="1" dirty="0">
              <a:solidFill>
                <a:srgbClr val="C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200" b="1" dirty="0" smtClean="0">
                <a:latin typeface="Comic Sans MS" pitchFamily="66" charset="0"/>
              </a:rPr>
              <a:t>减少延迟有其他的性能好处</a:t>
            </a:r>
            <a:endParaRPr lang="en-US" altLang="zh-CN" sz="2200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000000"/>
                </a:solidFill>
                <a:latin typeface="Arial" charset="0"/>
              </a:rPr>
              <a:t>结构冒险总结</a:t>
            </a:r>
            <a:endParaRPr lang="en-US" altLang="zh-CN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b="1" dirty="0"/>
              <a:t>Taxonomy of Hazards</a:t>
            </a:r>
            <a:r>
              <a:rPr lang="en-US" altLang="zh-CN" sz="2800" b="1" dirty="0">
                <a:solidFill>
                  <a:schemeClr val="accent2"/>
                </a:solidFill>
                <a:latin typeface="Comic Sans MS" pitchFamily="66" charset="0"/>
              </a:rPr>
              <a:t> </a:t>
            </a:r>
          </a:p>
          <a:p>
            <a:pPr lvl="1">
              <a:lnSpc>
                <a:spcPts val="3000"/>
              </a:lnSpc>
            </a:pPr>
            <a:r>
              <a:rPr lang="zh-CN" altLang="en-US" sz="2400" b="1" dirty="0" smtClean="0">
                <a:solidFill>
                  <a:schemeClr val="accent2"/>
                </a:solidFill>
                <a:latin typeface="Comic Sans MS" pitchFamily="66" charset="0"/>
              </a:rPr>
              <a:t>结构冒险</a:t>
            </a:r>
            <a:r>
              <a:rPr lang="en-US" altLang="zh-CN" sz="2400" b="1" dirty="0" smtClean="0"/>
              <a:t> </a:t>
            </a:r>
            <a:endParaRPr lang="en-US" altLang="zh-CN" sz="2400" b="1" dirty="0"/>
          </a:p>
          <a:p>
            <a:pPr lvl="2">
              <a:lnSpc>
                <a:spcPts val="3000"/>
              </a:lnSpc>
            </a:pPr>
            <a:r>
              <a:rPr lang="zh-CN" altLang="en-US" b="1" dirty="0" smtClean="0">
                <a:latin typeface="Comic Sans MS" pitchFamily="66" charset="0"/>
              </a:rPr>
              <a:t>硬件资源冲突</a:t>
            </a:r>
            <a:endParaRPr lang="en-US" altLang="zh-CN" b="1" dirty="0"/>
          </a:p>
          <a:p>
            <a:pPr lvl="2">
              <a:lnSpc>
                <a:spcPts val="3000"/>
              </a:lnSpc>
            </a:pPr>
            <a:r>
              <a:rPr lang="zh-CN" altLang="en-US" b="1" dirty="0" smtClean="0">
                <a:solidFill>
                  <a:srgbClr val="FD0128"/>
                </a:solidFill>
                <a:latin typeface="Comic Sans MS" pitchFamily="66" charset="0"/>
              </a:rPr>
              <a:t>解决：可以增加硬件资源；</a:t>
            </a:r>
            <a:endParaRPr lang="en-US" altLang="zh-CN" b="1" dirty="0">
              <a:solidFill>
                <a:srgbClr val="FD0128"/>
              </a:solidFill>
              <a:latin typeface="Comic Sans MS" pitchFamily="66" charset="0"/>
            </a:endParaRPr>
          </a:p>
          <a:p>
            <a:pPr lvl="2">
              <a:lnSpc>
                <a:spcPts val="3000"/>
              </a:lnSpc>
              <a:buFont typeface="Symbol" pitchFamily="18" charset="2"/>
              <a:buNone/>
            </a:pPr>
            <a:r>
              <a:rPr lang="en-US" altLang="zh-CN" b="1" dirty="0">
                <a:solidFill>
                  <a:srgbClr val="FD0128"/>
                </a:solidFill>
                <a:latin typeface="Comic Sans MS" pitchFamily="66" charset="0"/>
              </a:rPr>
              <a:t>    </a:t>
            </a:r>
            <a:r>
              <a:rPr lang="zh-CN" altLang="en-US" b="1" dirty="0" smtClean="0">
                <a:solidFill>
                  <a:srgbClr val="FD0128"/>
                </a:solidFill>
                <a:latin typeface="Comic Sans MS" pitchFamily="66" charset="0"/>
              </a:rPr>
              <a:t>或者</a:t>
            </a:r>
            <a:r>
              <a:rPr lang="zh-CN" altLang="en-US" b="1" dirty="0" smtClean="0">
                <a:solidFill>
                  <a:srgbClr val="0033CC"/>
                </a:solidFill>
                <a:latin typeface="Comic Sans MS" pitchFamily="66" charset="0"/>
              </a:rPr>
              <a:t>功能部件完全流水</a:t>
            </a:r>
            <a:r>
              <a:rPr lang="en-US" altLang="zh-CN" b="1" dirty="0" smtClean="0">
                <a:solidFill>
                  <a:srgbClr val="0033CC"/>
                </a:solidFill>
                <a:latin typeface="Comic Sans MS" pitchFamily="66" charset="0"/>
              </a:rPr>
              <a:t> </a:t>
            </a:r>
            <a:r>
              <a:rPr lang="zh-CN" altLang="en-US" b="1" dirty="0" smtClean="0">
                <a:solidFill>
                  <a:srgbClr val="FD0128"/>
                </a:solidFill>
                <a:latin typeface="Comic Sans MS" pitchFamily="66" charset="0"/>
              </a:rPr>
              <a:t>；</a:t>
            </a:r>
            <a:endParaRPr lang="en-US" altLang="zh-CN" b="1" dirty="0">
              <a:solidFill>
                <a:srgbClr val="FD0128"/>
              </a:solidFill>
              <a:latin typeface="Comic Sans MS" pitchFamily="66" charset="0"/>
            </a:endParaRPr>
          </a:p>
          <a:p>
            <a:pPr lvl="2">
              <a:lnSpc>
                <a:spcPts val="3000"/>
              </a:lnSpc>
              <a:buFont typeface="Symbol" pitchFamily="18" charset="2"/>
              <a:buNone/>
            </a:pPr>
            <a:r>
              <a:rPr lang="en-US" altLang="zh-CN" b="1" dirty="0">
                <a:solidFill>
                  <a:srgbClr val="FD0128"/>
                </a:solidFill>
                <a:latin typeface="Comic Sans MS" pitchFamily="66" charset="0"/>
              </a:rPr>
              <a:t>    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否则，只有停顿流水线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</a:pPr>
            <a:r>
              <a:rPr lang="en-US" altLang="zh-CN" sz="2400" b="1" dirty="0">
                <a:solidFill>
                  <a:srgbClr val="9999FF"/>
                </a:solidFill>
                <a:latin typeface="Comic Sans MS" pitchFamily="66" charset="0"/>
              </a:rPr>
              <a:t>Data hazards</a:t>
            </a:r>
            <a:endParaRPr lang="en-US" altLang="zh-CN" dirty="0">
              <a:solidFill>
                <a:srgbClr val="9999FF"/>
              </a:solidFill>
              <a:latin typeface="Comic Sans MS" pitchFamily="66" charset="0"/>
            </a:endParaRP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solidFill>
                  <a:srgbClr val="9999FF"/>
                </a:solidFill>
                <a:latin typeface="Comic Sans MS" pitchFamily="66" charset="0"/>
              </a:rPr>
              <a:t>Instruction depends on result of prior computation which is not ready (computed or stored) yet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dirty="0">
                <a:solidFill>
                  <a:srgbClr val="9999FF"/>
                </a:solidFill>
                <a:latin typeface="Comic Sans MS" pitchFamily="66" charset="0"/>
              </a:rPr>
              <a:t>Control hazards</a:t>
            </a:r>
            <a:r>
              <a:rPr lang="en-US" altLang="zh-CN" dirty="0">
                <a:solidFill>
                  <a:srgbClr val="9999FF"/>
                </a:solidFill>
                <a:latin typeface="Comic Sans MS" pitchFamily="66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solidFill>
                  <a:srgbClr val="9999FF"/>
                </a:solidFill>
                <a:latin typeface="Comic Sans MS" pitchFamily="66" charset="0"/>
              </a:rPr>
              <a:t>branch condition and the branch PC are not available in time to fetch an instruction on the next clock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b="1" dirty="0" smtClean="0"/>
              <a:t>三、 数据冒险</a:t>
            </a:r>
            <a:endParaRPr lang="en-US" altLang="zh-CN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3300"/>
                </a:solidFill>
                <a:latin typeface="Comic Sans MS" pitchFamily="66" charset="0"/>
                <a:ea typeface="楷体_GB2312" pitchFamily="49" charset="-122"/>
              </a:rPr>
              <a:t>数据冒险：</a:t>
            </a:r>
            <a:r>
              <a:rPr lang="zh-CN" altLang="en-US" sz="2600" b="1" dirty="0" smtClean="0">
                <a:latin typeface="Comic Sans MS" pitchFamily="66" charset="0"/>
              </a:rPr>
              <a:t>由于流水线上指令重叠执行，</a:t>
            </a:r>
            <a:r>
              <a:rPr lang="zh-CN" altLang="en-US" sz="2600" b="1" dirty="0" smtClean="0">
                <a:solidFill>
                  <a:srgbClr val="C00000"/>
                </a:solidFill>
                <a:latin typeface="Comic Sans MS" pitchFamily="66" charset="0"/>
              </a:rPr>
              <a:t>改变了</a:t>
            </a:r>
            <a:r>
              <a:rPr lang="zh-CN" altLang="en-US" sz="2600" b="1" dirty="0" smtClean="0">
                <a:latin typeface="Comic Sans MS" pitchFamily="66" charset="0"/>
              </a:rPr>
              <a:t>原来串行执行的</a:t>
            </a:r>
            <a:r>
              <a:rPr lang="zh-CN" altLang="en-US" sz="2600" b="1" dirty="0" smtClean="0">
                <a:solidFill>
                  <a:srgbClr val="C00000"/>
                </a:solidFill>
                <a:latin typeface="Comic Sans MS" pitchFamily="66" charset="0"/>
              </a:rPr>
              <a:t>读</a:t>
            </a:r>
            <a:r>
              <a:rPr lang="en-US" altLang="zh-CN" sz="2600" b="1" dirty="0" smtClean="0">
                <a:solidFill>
                  <a:srgbClr val="C00000"/>
                </a:solidFill>
                <a:latin typeface="Comic Sans MS" pitchFamily="66" charset="0"/>
              </a:rPr>
              <a:t>/</a:t>
            </a:r>
            <a:r>
              <a:rPr lang="zh-CN" altLang="en-US" sz="2600" b="1" dirty="0" smtClean="0">
                <a:solidFill>
                  <a:srgbClr val="C00000"/>
                </a:solidFill>
                <a:latin typeface="Comic Sans MS" pitchFamily="66" charset="0"/>
              </a:rPr>
              <a:t>写操作数</a:t>
            </a:r>
            <a:r>
              <a:rPr lang="zh-CN" altLang="en-US" sz="2600" b="1" i="1" dirty="0" smtClean="0">
                <a:solidFill>
                  <a:srgbClr val="00B050"/>
                </a:solidFill>
                <a:latin typeface="Comic Sans MS" pitchFamily="66" charset="0"/>
              </a:rPr>
              <a:t>顺序</a:t>
            </a:r>
            <a:r>
              <a:rPr lang="zh-CN" altLang="en-US" sz="2600" b="1" dirty="0" smtClean="0">
                <a:latin typeface="Comic Sans MS" pitchFamily="66" charset="0"/>
              </a:rPr>
              <a:t>，使得</a:t>
            </a:r>
            <a:r>
              <a:rPr lang="zh-CN" altLang="en-US" sz="2600" b="1" i="1" dirty="0" smtClean="0">
                <a:solidFill>
                  <a:srgbClr val="C00000"/>
                </a:solidFill>
                <a:latin typeface="Comic Sans MS" pitchFamily="66" charset="0"/>
              </a:rPr>
              <a:t>后面</a:t>
            </a:r>
            <a:r>
              <a:rPr lang="zh-CN" altLang="en-US" sz="2600" b="1" i="1" dirty="0" smtClean="0">
                <a:solidFill>
                  <a:srgbClr val="0070C0"/>
                </a:solidFill>
                <a:latin typeface="Comic Sans MS" pitchFamily="66" charset="0"/>
              </a:rPr>
              <a:t>依赖前面指令结果</a:t>
            </a:r>
            <a:r>
              <a:rPr lang="zh-CN" altLang="en-US" sz="2600" b="1" i="1" dirty="0" smtClean="0">
                <a:solidFill>
                  <a:srgbClr val="C00000"/>
                </a:solidFill>
                <a:latin typeface="Comic Sans MS" pitchFamily="66" charset="0"/>
              </a:rPr>
              <a:t>的指令</a:t>
            </a:r>
            <a:r>
              <a:rPr lang="zh-CN" altLang="en-US" sz="2600" b="1" i="1" dirty="0" smtClean="0">
                <a:solidFill>
                  <a:srgbClr val="0070C0"/>
                </a:solidFill>
                <a:latin typeface="Comic Sans MS" pitchFamily="66" charset="0"/>
              </a:rPr>
              <a:t>得不到准备好的数据</a:t>
            </a:r>
            <a:r>
              <a:rPr lang="zh-CN" altLang="en-US" b="1" i="1" dirty="0" smtClean="0">
                <a:solidFill>
                  <a:srgbClr val="0070C0"/>
                </a:solidFill>
                <a:latin typeface="Comic Sans MS" pitchFamily="66" charset="0"/>
              </a:rPr>
              <a:t>。</a:t>
            </a:r>
            <a:endParaRPr lang="en-US" altLang="zh-CN" i="1" dirty="0">
              <a:solidFill>
                <a:srgbClr val="0070C0"/>
              </a:solidFill>
              <a:latin typeface="Comic Sans MS" pitchFamily="66" charset="0"/>
            </a:endParaRPr>
          </a:p>
          <a:p>
            <a:r>
              <a:rPr lang="zh-CN" altLang="en-US" b="1" dirty="0" smtClean="0">
                <a:latin typeface="Comic Sans MS" pitchFamily="66" charset="0"/>
              </a:rPr>
              <a:t>例子：</a:t>
            </a:r>
            <a:endParaRPr lang="en-US" altLang="zh-CN" dirty="0" smtClean="0">
              <a:latin typeface="Comic Sans MS" pitchFamily="66" charset="0"/>
            </a:endParaRPr>
          </a:p>
          <a:p>
            <a:pPr lvl="1">
              <a:buFontTx/>
              <a:buNone/>
            </a:pPr>
            <a:r>
              <a:rPr lang="en-US" altLang="zh-CN" sz="2400" dirty="0" smtClean="0">
                <a:latin typeface="Comic Sans MS" pitchFamily="66" charset="0"/>
              </a:rPr>
              <a:t>DADD </a:t>
            </a:r>
            <a:r>
              <a:rPr lang="en-US" altLang="zh-CN" sz="2400" dirty="0">
                <a:solidFill>
                  <a:srgbClr val="FF0000"/>
                </a:solidFill>
                <a:latin typeface="Comic Sans MS" pitchFamily="66" charset="0"/>
              </a:rPr>
              <a:t>R1</a:t>
            </a:r>
            <a:r>
              <a:rPr lang="en-US" altLang="zh-CN" sz="2400" dirty="0">
                <a:latin typeface="Comic Sans MS" pitchFamily="66" charset="0"/>
              </a:rPr>
              <a:t>,   R1, R3</a:t>
            </a:r>
          </a:p>
          <a:p>
            <a:pPr lvl="1">
              <a:buFontTx/>
              <a:buNone/>
            </a:pPr>
            <a:r>
              <a:rPr lang="en-US" altLang="zh-CN" sz="2400" dirty="0">
                <a:latin typeface="Comic Sans MS" pitchFamily="66" charset="0"/>
              </a:rPr>
              <a:t>DSUB R4,   </a:t>
            </a:r>
            <a:r>
              <a:rPr lang="en-US" altLang="zh-CN" sz="2400" dirty="0">
                <a:solidFill>
                  <a:srgbClr val="FF0000"/>
                </a:solidFill>
                <a:latin typeface="Comic Sans MS" pitchFamily="66" charset="0"/>
              </a:rPr>
              <a:t>R1</a:t>
            </a:r>
            <a:r>
              <a:rPr lang="en-US" altLang="zh-CN" sz="2400" dirty="0">
                <a:latin typeface="Comic Sans MS" pitchFamily="66" charset="0"/>
              </a:rPr>
              <a:t>, R5</a:t>
            </a:r>
          </a:p>
          <a:p>
            <a:pPr lvl="1">
              <a:buFontTx/>
              <a:buNone/>
            </a:pPr>
            <a:r>
              <a:rPr lang="en-US" altLang="zh-CN" sz="2400" dirty="0">
                <a:latin typeface="Comic Sans MS" pitchFamily="66" charset="0"/>
              </a:rPr>
              <a:t>AND   R6,   </a:t>
            </a:r>
            <a:r>
              <a:rPr lang="en-US" altLang="zh-CN" sz="2400" dirty="0">
                <a:solidFill>
                  <a:srgbClr val="FF0000"/>
                </a:solidFill>
                <a:latin typeface="Comic Sans MS" pitchFamily="66" charset="0"/>
              </a:rPr>
              <a:t>R1</a:t>
            </a:r>
            <a:r>
              <a:rPr lang="en-US" altLang="zh-CN" sz="2400" dirty="0">
                <a:latin typeface="Comic Sans MS" pitchFamily="66" charset="0"/>
              </a:rPr>
              <a:t>, R7</a:t>
            </a:r>
          </a:p>
          <a:p>
            <a:pPr lvl="1">
              <a:buFontTx/>
              <a:buNone/>
            </a:pPr>
            <a:r>
              <a:rPr lang="en-US" altLang="zh-CN" sz="2400" dirty="0">
                <a:latin typeface="Comic Sans MS" pitchFamily="66" charset="0"/>
              </a:rPr>
              <a:t>OR      R8,   </a:t>
            </a:r>
            <a:r>
              <a:rPr lang="en-US" altLang="zh-CN" sz="2400" dirty="0">
                <a:solidFill>
                  <a:srgbClr val="FF0000"/>
                </a:solidFill>
                <a:latin typeface="Comic Sans MS" pitchFamily="66" charset="0"/>
              </a:rPr>
              <a:t>R1</a:t>
            </a:r>
            <a:r>
              <a:rPr lang="en-US" altLang="zh-CN" sz="2400" dirty="0">
                <a:latin typeface="Comic Sans MS" pitchFamily="66" charset="0"/>
              </a:rPr>
              <a:t>, R9</a:t>
            </a:r>
          </a:p>
          <a:p>
            <a:pPr lvl="1">
              <a:buFontTx/>
              <a:buNone/>
            </a:pPr>
            <a:r>
              <a:rPr lang="en-US" altLang="zh-CN" sz="2400" dirty="0">
                <a:latin typeface="Comic Sans MS" pitchFamily="66" charset="0"/>
              </a:rPr>
              <a:t>XOR    R10, </a:t>
            </a:r>
            <a:r>
              <a:rPr lang="en-US" altLang="zh-CN" sz="2400" dirty="0">
                <a:solidFill>
                  <a:srgbClr val="FF0000"/>
                </a:solidFill>
                <a:latin typeface="Comic Sans MS" pitchFamily="66" charset="0"/>
              </a:rPr>
              <a:t>R1</a:t>
            </a:r>
            <a:r>
              <a:rPr lang="en-US" altLang="zh-CN" sz="2400" dirty="0">
                <a:latin typeface="Comic Sans MS" pitchFamily="66" charset="0"/>
              </a:rPr>
              <a:t>, R11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数据冒险</a:t>
            </a:r>
            <a:endParaRPr lang="en-US" altLang="zh-CN" sz="4000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915400" cy="5200672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latin typeface="Comic Sans MS" pitchFamily="66" charset="0"/>
              </a:rPr>
              <a:t>基本结构</a:t>
            </a:r>
            <a:endParaRPr lang="en-US" altLang="zh-CN" sz="2800" b="1" dirty="0">
              <a:solidFill>
                <a:srgbClr val="C00000"/>
              </a:solidFill>
              <a:latin typeface="Comic Sans MS" pitchFamily="66" charset="0"/>
            </a:endParaRPr>
          </a:p>
          <a:p>
            <a:pPr lvl="1">
              <a:lnSpc>
                <a:spcPts val="31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一条指令想要使用还没有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“完成”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的数据值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1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“完成”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表示“</a:t>
            </a:r>
            <a:r>
              <a:rPr lang="zh-CN" altLang="en-US" sz="2400" b="1" dirty="0" smtClean="0">
                <a:solidFill>
                  <a:srgbClr val="0033CC"/>
                </a:solidFill>
                <a:latin typeface="Comic Sans MS" pitchFamily="66" charset="0"/>
              </a:rPr>
              <a:t>数据值已经被计算了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”和“</a:t>
            </a:r>
            <a:r>
              <a:rPr lang="zh-CN" altLang="en-US" sz="2400" b="1" dirty="0" smtClean="0">
                <a:solidFill>
                  <a:srgbClr val="0033CC"/>
                </a:solidFill>
                <a:latin typeface="Comic Sans MS" pitchFamily="66" charset="0"/>
              </a:rPr>
              <a:t>值已经被放好，正常情况可以在流水线硬件中找到它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”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>
              <a:lnSpc>
                <a:spcPts val="31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latin typeface="Comic Sans MS" pitchFamily="66" charset="0"/>
              </a:rPr>
              <a:t>原因</a:t>
            </a:r>
            <a:endParaRPr lang="en-US" altLang="zh-CN" sz="2800" b="1" dirty="0">
              <a:solidFill>
                <a:srgbClr val="C00000"/>
              </a:solidFill>
              <a:latin typeface="Comic Sans MS" pitchFamily="66" charset="0"/>
            </a:endParaRPr>
          </a:p>
          <a:p>
            <a:pPr lvl="1">
              <a:lnSpc>
                <a:spcPts val="31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习惯上总是假定采用纯串行指令执行模型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1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对于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k &gt;= 1 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，指令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N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在指令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N+1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之前完成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1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在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相邻</a:t>
            </a:r>
            <a:r>
              <a:rPr lang="zh-CN" altLang="en-US" sz="2400" b="1" dirty="0" smtClean="0">
                <a:latin typeface="Comic Sans MS" pitchFamily="66" charset="0"/>
              </a:rPr>
              <a:t>指令之间有依赖存在</a:t>
            </a:r>
            <a:endParaRPr lang="en-US" altLang="zh-CN" sz="2400" b="1" dirty="0">
              <a:latin typeface="Comic Sans MS" pitchFamily="66" charset="0"/>
            </a:endParaRPr>
          </a:p>
          <a:p>
            <a:pPr>
              <a:lnSpc>
                <a:spcPts val="3100"/>
              </a:lnSpc>
            </a:pPr>
            <a:r>
              <a:rPr lang="zh-CN" altLang="en-US" sz="2800" b="1" dirty="0" smtClean="0">
                <a:solidFill>
                  <a:srgbClr val="C00000"/>
                </a:solidFill>
                <a:latin typeface="Comic Sans MS" pitchFamily="66" charset="0"/>
              </a:rPr>
              <a:t>结论</a:t>
            </a:r>
            <a:endParaRPr lang="en-US" altLang="zh-CN" sz="2800" b="1" dirty="0">
              <a:solidFill>
                <a:srgbClr val="C00000"/>
              </a:solidFill>
              <a:latin typeface="Comic Sans MS" pitchFamily="66" charset="0"/>
            </a:endParaRPr>
          </a:p>
          <a:p>
            <a:pPr lvl="1">
              <a:lnSpc>
                <a:spcPts val="31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数据冒险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---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指令想要的数据值还没有完成，或者值没有在正确的地方</a:t>
            </a:r>
            <a:endParaRPr lang="en-US" altLang="zh-CN" sz="2400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85786" y="214290"/>
            <a:ext cx="8001000" cy="990600"/>
          </a:xfrm>
        </p:spPr>
        <p:txBody>
          <a:bodyPr/>
          <a:lstStyle/>
          <a:p>
            <a:r>
              <a:rPr lang="zh-CN" altLang="en-US" b="1" dirty="0" smtClean="0"/>
              <a:t>数据冒险：例子</a:t>
            </a:r>
            <a:endParaRPr lang="en-US" altLang="zh-CN" b="1" dirty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304800" y="1295400"/>
          <a:ext cx="85344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0" name="Picture" r:id="rId3" imgW="4467225" imgH="2752725" progId="Word.Picture.8">
                  <p:embed/>
                </p:oleObj>
              </mc:Choice>
              <mc:Fallback>
                <p:oleObj name="Picture" r:id="rId3" imgW="4467225" imgH="2752725" progId="Word.Pictur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295400"/>
                        <a:ext cx="85344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71842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16632"/>
            <a:ext cx="8001000" cy="9906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/>
              <a:t>寄存器堆</a:t>
            </a:r>
            <a:r>
              <a:rPr lang="en-US" altLang="zh-CN" sz="4000" b="1" dirty="0">
                <a:solidFill>
                  <a:srgbClr val="FF0000"/>
                </a:solidFill>
                <a:latin typeface="Comic Sans MS" pitchFamily="66" charset="0"/>
              </a:rPr>
              <a:t>WB</a:t>
            </a:r>
            <a:r>
              <a:rPr lang="zh-CN" altLang="en-US" sz="4000" b="1" dirty="0">
                <a:solidFill>
                  <a:srgbClr val="FF0000"/>
                </a:solidFill>
                <a:latin typeface="Comic Sans MS" pitchFamily="66" charset="0"/>
              </a:rPr>
              <a:t>段先写，</a:t>
            </a:r>
            <a:r>
              <a:rPr lang="en-US" altLang="zh-CN" sz="4000" b="1" dirty="0">
                <a:solidFill>
                  <a:srgbClr val="FF0000"/>
                </a:solidFill>
                <a:latin typeface="Comic Sans MS" pitchFamily="66" charset="0"/>
              </a:rPr>
              <a:t>ID</a:t>
            </a:r>
            <a:r>
              <a:rPr lang="zh-CN" altLang="en-US" sz="4000" b="1" dirty="0">
                <a:solidFill>
                  <a:srgbClr val="FF0000"/>
                </a:solidFill>
                <a:latin typeface="Comic Sans MS" pitchFamily="66" charset="0"/>
              </a:rPr>
              <a:t>段后读</a:t>
            </a:r>
            <a:endParaRPr lang="en-US" altLang="zh-CN" sz="4000" b="1" dirty="0"/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304800" y="1447800"/>
          <a:ext cx="85344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64" name="Picture" r:id="rId3" imgW="4467225" imgH="2752725" progId="Word.Picture.8">
                  <p:embed/>
                </p:oleObj>
              </mc:Choice>
              <mc:Fallback>
                <p:oleObj name="Picture" r:id="rId3" imgW="4467225" imgH="2752725" progId="Word.Pictur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47800"/>
                        <a:ext cx="85344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71842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b="1" dirty="0" smtClean="0">
                <a:solidFill>
                  <a:srgbClr val="000000"/>
                </a:solidFill>
              </a:rPr>
              <a:t>提出的解决方法</a:t>
            </a:r>
            <a:endParaRPr lang="en-US" altLang="zh-CN" sz="3200" b="1" dirty="0">
              <a:solidFill>
                <a:srgbClr val="000000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 smtClean="0">
                <a:solidFill>
                  <a:srgbClr val="000000"/>
                </a:solidFill>
                <a:latin typeface="Comic Sans MS" pitchFamily="66" charset="0"/>
              </a:rPr>
              <a:t>提出的解决方法</a:t>
            </a:r>
            <a:endParaRPr lang="en-US" altLang="zh-CN" sz="2800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不要让</a:t>
            </a:r>
            <a:r>
              <a:rPr lang="zh-CN" altLang="en-US" sz="2400" b="1" dirty="0" smtClean="0">
                <a:latin typeface="Comic Sans MS" pitchFamily="66" charset="0"/>
              </a:rPr>
              <a:t>指令在数据冒险时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重叠执行</a:t>
            </a:r>
            <a:endParaRPr lang="en-US" altLang="zh-CN" sz="2400" dirty="0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zh-CN" altLang="en-US" sz="2800" b="1" dirty="0" smtClean="0">
                <a:solidFill>
                  <a:srgbClr val="000000"/>
                </a:solidFill>
                <a:latin typeface="Comic Sans MS" pitchFamily="66" charset="0"/>
              </a:rPr>
              <a:t>实施技术</a:t>
            </a:r>
            <a:endParaRPr lang="en-US" altLang="zh-CN" sz="2800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不要让有冒险的指令流过流水线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尤其是，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不要在冒险时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写</a:t>
            </a:r>
            <a:r>
              <a:rPr lang="zh-CN" altLang="en-US" sz="2400" b="1" dirty="0" smtClean="0">
                <a:latin typeface="Comic Sans MS" pitchFamily="66" charset="0"/>
              </a:rPr>
              <a:t>有</a:t>
            </a:r>
            <a:r>
              <a:rPr lang="en-US" altLang="zh-CN" sz="2400" b="1" dirty="0" smtClean="0">
                <a:latin typeface="Comic Sans MS" pitchFamily="66" charset="0"/>
              </a:rPr>
              <a:t>C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PU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状态的流水线硬件（如，寄存器堆、存储器）</a:t>
            </a:r>
            <a:endParaRPr lang="en-US" altLang="zh-CN" sz="2400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让指令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等待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直到冒险消除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 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buNone/>
            </a:pPr>
            <a:r>
              <a:rPr lang="zh-CN" altLang="en-US" sz="2400" b="1" dirty="0" smtClean="0">
                <a:latin typeface="Comic Sans MS" pitchFamily="66" charset="0"/>
              </a:rPr>
              <a:t>  操作名称：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流水线停顿</a:t>
            </a:r>
            <a:endParaRPr lang="en-US" altLang="zh-CN" sz="2400" dirty="0">
              <a:solidFill>
                <a:srgbClr val="000000"/>
              </a:solidFill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971800" y="2971800"/>
            <a:ext cx="5827713" cy="609600"/>
            <a:chOff x="1872" y="1872"/>
            <a:chExt cx="3671" cy="384"/>
          </a:xfrm>
        </p:grpSpPr>
        <p:sp>
          <p:nvSpPr>
            <p:cNvPr id="28675" name="AutoShape 3"/>
            <p:cNvSpPr>
              <a:spLocks noChangeArrowheads="1"/>
            </p:cNvSpPr>
            <p:nvPr/>
          </p:nvSpPr>
          <p:spPr bwMode="auto">
            <a:xfrm>
              <a:off x="1872" y="1872"/>
              <a:ext cx="633" cy="384"/>
            </a:xfrm>
            <a:prstGeom prst="cloudCallout">
              <a:avLst>
                <a:gd name="adj1" fmla="val 21875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76" name="AutoShape 4"/>
            <p:cNvSpPr>
              <a:spLocks noChangeArrowheads="1"/>
            </p:cNvSpPr>
            <p:nvPr/>
          </p:nvSpPr>
          <p:spPr bwMode="auto">
            <a:xfrm>
              <a:off x="2569" y="1872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77" name="AutoShape 5"/>
            <p:cNvSpPr>
              <a:spLocks noChangeArrowheads="1"/>
            </p:cNvSpPr>
            <p:nvPr/>
          </p:nvSpPr>
          <p:spPr bwMode="auto">
            <a:xfrm>
              <a:off x="4848" y="1872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78" name="AutoShape 6"/>
            <p:cNvSpPr>
              <a:spLocks noChangeArrowheads="1"/>
            </p:cNvSpPr>
            <p:nvPr/>
          </p:nvSpPr>
          <p:spPr bwMode="auto">
            <a:xfrm>
              <a:off x="4080" y="1872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79" name="AutoShape 7"/>
            <p:cNvSpPr>
              <a:spLocks noChangeArrowheads="1"/>
            </p:cNvSpPr>
            <p:nvPr/>
          </p:nvSpPr>
          <p:spPr bwMode="auto">
            <a:xfrm>
              <a:off x="3312" y="1872"/>
              <a:ext cx="695" cy="384"/>
            </a:xfrm>
            <a:prstGeom prst="cloudCallout">
              <a:avLst>
                <a:gd name="adj1" fmla="val -22519"/>
                <a:gd name="adj2" fmla="val 161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4191000" y="3810000"/>
            <a:ext cx="4608513" cy="609600"/>
            <a:chOff x="2640" y="2400"/>
            <a:chExt cx="2903" cy="384"/>
          </a:xfrm>
        </p:grpSpPr>
        <p:sp>
          <p:nvSpPr>
            <p:cNvPr id="28681" name="AutoShape 9"/>
            <p:cNvSpPr>
              <a:spLocks noChangeArrowheads="1"/>
            </p:cNvSpPr>
            <p:nvPr/>
          </p:nvSpPr>
          <p:spPr bwMode="auto">
            <a:xfrm>
              <a:off x="2640" y="2400"/>
              <a:ext cx="633" cy="384"/>
            </a:xfrm>
            <a:prstGeom prst="cloudCallout">
              <a:avLst>
                <a:gd name="adj1" fmla="val 21875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82" name="AutoShape 10"/>
            <p:cNvSpPr>
              <a:spLocks noChangeArrowheads="1"/>
            </p:cNvSpPr>
            <p:nvPr/>
          </p:nvSpPr>
          <p:spPr bwMode="auto">
            <a:xfrm>
              <a:off x="3337" y="2400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83" name="AutoShape 11"/>
            <p:cNvSpPr>
              <a:spLocks noChangeArrowheads="1"/>
            </p:cNvSpPr>
            <p:nvPr/>
          </p:nvSpPr>
          <p:spPr bwMode="auto">
            <a:xfrm>
              <a:off x="4848" y="2400"/>
              <a:ext cx="695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28684" name="AutoShape 12"/>
            <p:cNvSpPr>
              <a:spLocks noChangeArrowheads="1"/>
            </p:cNvSpPr>
            <p:nvPr/>
          </p:nvSpPr>
          <p:spPr bwMode="auto">
            <a:xfrm>
              <a:off x="4080" y="2400"/>
              <a:ext cx="695" cy="384"/>
            </a:xfrm>
            <a:prstGeom prst="cloudCallout">
              <a:avLst>
                <a:gd name="adj1" fmla="val -22519"/>
                <a:gd name="adj2" fmla="val 161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</p:grpSp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304800" y="1447800"/>
          <a:ext cx="85344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88" name="Picture" r:id="rId3" imgW="4467225" imgH="2752725" progId="Word.Picture.8">
                  <p:embed/>
                </p:oleObj>
              </mc:Choice>
              <mc:Fallback>
                <p:oleObj name="Picture" r:id="rId3" imgW="4467225" imgH="2752725" progId="Word.Pictur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47800"/>
                        <a:ext cx="85344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71842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6" name="Rectangle 1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 smtClean="0"/>
              <a:t>怎样停顿？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zh-CN" altLang="en-US" b="1" dirty="0" smtClean="0"/>
              <a:t>由编译器插入</a:t>
            </a:r>
            <a:r>
              <a:rPr lang="en-US" altLang="zh-CN" b="1" dirty="0" smtClean="0"/>
              <a:t> </a:t>
            </a:r>
            <a:r>
              <a:rPr lang="en-US" altLang="zh-CN" b="1" dirty="0" err="1">
                <a:solidFill>
                  <a:srgbClr val="0000CC"/>
                </a:solidFill>
              </a:rPr>
              <a:t>nop</a:t>
            </a:r>
            <a:r>
              <a:rPr lang="en-US" altLang="zh-CN" b="1" dirty="0"/>
              <a:t> </a:t>
            </a:r>
            <a:r>
              <a:rPr lang="zh-CN" altLang="en-US" b="1" dirty="0" smtClean="0"/>
              <a:t>指令（软件）</a:t>
            </a:r>
            <a:endParaRPr lang="en-US" altLang="zh-CN" b="1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怎样停顿？</a:t>
            </a:r>
            <a:r>
              <a:rPr lang="en-US" altLang="zh-CN" b="1" dirty="0">
                <a:solidFill>
                  <a:srgbClr val="FF0000"/>
                </a:solidFill>
              </a:rPr>
              <a:t/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zh-CN" altLang="en-US" b="1" dirty="0" smtClean="0">
                <a:solidFill>
                  <a:srgbClr val="FF0000"/>
                </a:solidFill>
              </a:rPr>
              <a:t>增加硬件</a:t>
            </a:r>
            <a:r>
              <a:rPr lang="zh-CN" altLang="en-US" b="1" dirty="0" smtClean="0">
                <a:solidFill>
                  <a:srgbClr val="0070C0"/>
                </a:solidFill>
              </a:rPr>
              <a:t>互锁</a:t>
            </a:r>
            <a:r>
              <a:rPr lang="zh-CN" altLang="en-US" dirty="0" smtClean="0">
                <a:solidFill>
                  <a:srgbClr val="0070C0"/>
                </a:solidFill>
              </a:rPr>
              <a:t>（</a:t>
            </a:r>
            <a:r>
              <a:rPr lang="en-US" altLang="zh-CN" dirty="0" smtClean="0">
                <a:solidFill>
                  <a:srgbClr val="0000CC"/>
                </a:solidFill>
              </a:rPr>
              <a:t>Interlock</a:t>
            </a:r>
            <a:r>
              <a:rPr lang="zh-CN" altLang="en-US" dirty="0" smtClean="0">
                <a:solidFill>
                  <a:srgbClr val="0000CC"/>
                </a:solidFill>
              </a:rPr>
              <a:t>）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!</a:t>
            </a:r>
            <a:endParaRPr lang="en-US" altLang="zh-CN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14488"/>
            <a:ext cx="8839200" cy="4338654"/>
          </a:xfrm>
        </p:spPr>
        <p:txBody>
          <a:bodyPr>
            <a:normAutofit/>
          </a:bodyPr>
          <a:lstStyle/>
          <a:p>
            <a:pPr>
              <a:lnSpc>
                <a:spcPts val="3500"/>
              </a:lnSpc>
            </a:pPr>
            <a:r>
              <a:rPr lang="zh-CN" altLang="en-US" sz="2800" b="1" dirty="0" smtClean="0">
                <a:solidFill>
                  <a:srgbClr val="0000CC"/>
                </a:solidFill>
                <a:latin typeface="Comic Sans MS" pitchFamily="66" charset="0"/>
              </a:rPr>
              <a:t>增加额外硬件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检测</a:t>
            </a:r>
            <a:r>
              <a:rPr lang="zh-CN" altLang="en-US" sz="2800" b="1" dirty="0" smtClean="0">
                <a:solidFill>
                  <a:srgbClr val="0000CC"/>
                </a:solidFill>
                <a:latin typeface="Comic Sans MS" pitchFamily="66" charset="0"/>
              </a:rPr>
              <a:t>需要停顿的情况</a:t>
            </a:r>
            <a:endParaRPr lang="en-US" altLang="zh-CN" sz="28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5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观察指令字段位（如，寄存器字段）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5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在流水线特定段检测是否有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“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先读后写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” 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冲突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>
              <a:lnSpc>
                <a:spcPts val="3500"/>
              </a:lnSpc>
            </a:pPr>
            <a:r>
              <a:rPr lang="zh-CN" altLang="en-US" sz="2800" b="1" dirty="0" smtClean="0">
                <a:solidFill>
                  <a:srgbClr val="0000CC"/>
                </a:solidFill>
                <a:latin typeface="Comic Sans MS" pitchFamily="66" charset="0"/>
              </a:rPr>
              <a:t>增加额外硬件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放“气泡”</a:t>
            </a:r>
            <a:r>
              <a:rPr lang="zh-CN" altLang="en-US" sz="2800" b="1" dirty="0" smtClean="0">
                <a:solidFill>
                  <a:srgbClr val="0000CC"/>
                </a:solidFill>
                <a:latin typeface="Comic Sans MS" pitchFamily="66" charset="0"/>
              </a:rPr>
              <a:t>（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暂停）</a:t>
            </a:r>
            <a:r>
              <a:rPr lang="zh-CN" altLang="en-US" sz="2800" b="1" dirty="0" smtClean="0">
                <a:solidFill>
                  <a:srgbClr val="0070C0"/>
                </a:solidFill>
                <a:latin typeface="Comic Sans MS" pitchFamily="66" charset="0"/>
              </a:rPr>
              <a:t>到</a:t>
            </a:r>
            <a:r>
              <a:rPr lang="zh-CN" altLang="en-US" sz="2800" b="1" dirty="0" smtClean="0">
                <a:solidFill>
                  <a:srgbClr val="0000CC"/>
                </a:solidFill>
                <a:latin typeface="Comic Sans MS" pitchFamily="66" charset="0"/>
              </a:rPr>
              <a:t>流水线</a:t>
            </a:r>
            <a:endParaRPr lang="en-US" altLang="zh-CN" sz="28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5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实际操作：让有冒险的指令通过流水线，但是禁止允许任何结果写入机器状态的位</a:t>
            </a:r>
            <a:endParaRPr lang="en-US" altLang="zh-CN" sz="2400" b="1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5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因此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, 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有冒险的指令“执行”，但是不能“存入”</a:t>
            </a:r>
            <a:endParaRPr lang="en-US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互锁：</a:t>
            </a:r>
            <a:r>
              <a:rPr lang="en-US" altLang="zh-CN" b="1" dirty="0" smtClean="0"/>
              <a:t>  </a:t>
            </a:r>
            <a:r>
              <a:rPr lang="zh-CN" altLang="en-US" b="1" dirty="0" smtClean="0"/>
              <a:t>插入</a:t>
            </a:r>
            <a:r>
              <a:rPr lang="en-US" altLang="zh-CN" b="1" dirty="0" smtClean="0"/>
              <a:t> </a:t>
            </a:r>
            <a:r>
              <a:rPr lang="en-US" altLang="zh-CN" b="1" dirty="0"/>
              <a:t>stalls </a:t>
            </a:r>
          </a:p>
        </p:txBody>
      </p:sp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304800" y="1447800"/>
          <a:ext cx="8515350" cy="430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3" name="Picture" r:id="rId3" imgW="4457700" imgH="2390775" progId="Word.Picture.8">
                  <p:embed/>
                </p:oleObj>
              </mc:Choice>
              <mc:Fallback>
                <p:oleObj name="Picture" r:id="rId3" imgW="4457700" imgH="2390775" progId="Word.Pictur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47800"/>
                        <a:ext cx="8515350" cy="430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71842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191000" y="3352800"/>
            <a:ext cx="2087563" cy="609600"/>
            <a:chOff x="1920" y="1824"/>
            <a:chExt cx="1315" cy="384"/>
          </a:xfrm>
        </p:grpSpPr>
        <p:sp>
          <p:nvSpPr>
            <p:cNvPr id="30725" name="AutoShape 5"/>
            <p:cNvSpPr>
              <a:spLocks noChangeArrowheads="1"/>
            </p:cNvSpPr>
            <p:nvPr/>
          </p:nvSpPr>
          <p:spPr bwMode="auto">
            <a:xfrm>
              <a:off x="1920" y="1824"/>
              <a:ext cx="598" cy="384"/>
            </a:xfrm>
            <a:prstGeom prst="cloudCallout">
              <a:avLst>
                <a:gd name="adj1" fmla="val 21875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  <p:sp>
          <p:nvSpPr>
            <p:cNvPr id="30726" name="AutoShape 6"/>
            <p:cNvSpPr>
              <a:spLocks noChangeArrowheads="1"/>
            </p:cNvSpPr>
            <p:nvPr/>
          </p:nvSpPr>
          <p:spPr bwMode="auto">
            <a:xfrm>
              <a:off x="2578" y="1824"/>
              <a:ext cx="657" cy="384"/>
            </a:xfrm>
            <a:prstGeom prst="cloudCallout">
              <a:avLst>
                <a:gd name="adj1" fmla="val 15343"/>
                <a:gd name="adj2" fmla="val 36981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600" b="1"/>
                <a:t>Bubble</a:t>
              </a:r>
            </a:p>
          </p:txBody>
        </p:sp>
      </p:grpSp>
      <p:sp>
        <p:nvSpPr>
          <p:cNvPr id="30727" name="Text Box 7"/>
          <p:cNvSpPr txBox="1">
            <a:spLocks noChangeArrowheads="1"/>
          </p:cNvSpPr>
          <p:nvPr/>
        </p:nvSpPr>
        <p:spPr bwMode="auto">
          <a:xfrm>
            <a:off x="3886200" y="4495800"/>
            <a:ext cx="2619375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339966"/>
                </a:solidFill>
              </a:rPr>
              <a:t>Empty slots in the </a:t>
            </a:r>
          </a:p>
          <a:p>
            <a:pPr eaLnBrk="1" hangingPunct="1"/>
            <a:r>
              <a:rPr lang="en-US" altLang="zh-CN" sz="2000" b="1">
                <a:solidFill>
                  <a:srgbClr val="339966"/>
                </a:solidFill>
              </a:rPr>
              <a:t>pipe called bubbles;</a:t>
            </a:r>
          </a:p>
          <a:p>
            <a:pPr eaLnBrk="1" hangingPunct="1"/>
            <a:r>
              <a:rPr lang="en-US" altLang="zh-CN" sz="2000" b="1">
                <a:solidFill>
                  <a:srgbClr val="339966"/>
                </a:solidFill>
              </a:rPr>
              <a:t>means no real </a:t>
            </a:r>
          </a:p>
          <a:p>
            <a:pPr eaLnBrk="1" hangingPunct="1"/>
            <a:r>
              <a:rPr lang="en-US" altLang="zh-CN" sz="2000" b="1">
                <a:solidFill>
                  <a:srgbClr val="339966"/>
                </a:solidFill>
              </a:rPr>
              <a:t>instruction work </a:t>
            </a:r>
          </a:p>
          <a:p>
            <a:pPr eaLnBrk="1" hangingPunct="1"/>
            <a:r>
              <a:rPr lang="en-US" altLang="zh-CN" sz="2000" b="1">
                <a:solidFill>
                  <a:srgbClr val="339966"/>
                </a:solidFill>
              </a:rPr>
              <a:t>getting saved here</a:t>
            </a:r>
            <a:endParaRPr lang="en-US" altLang="zh-CN" sz="2400" b="1">
              <a:latin typeface="Times New Roman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 smtClean="0"/>
              <a:t>Forwarding</a:t>
            </a:r>
            <a:r>
              <a:rPr lang="en-US" altLang="zh-CN" sz="4000" dirty="0" smtClean="0"/>
              <a:t/>
            </a:r>
            <a:br>
              <a:rPr lang="en-US" altLang="zh-CN" sz="4000" dirty="0" smtClean="0"/>
            </a:br>
            <a:r>
              <a:rPr lang="zh-CN" altLang="en-US" sz="4000" b="1" dirty="0" smtClean="0"/>
              <a:t>（</a:t>
            </a:r>
            <a:r>
              <a:rPr lang="zh-CN" altLang="en-US" sz="3600" b="1" dirty="0" smtClean="0"/>
              <a:t>前推、直通、转发、相关数据通路</a:t>
            </a:r>
            <a:r>
              <a:rPr lang="zh-CN" altLang="en-US" sz="4000" b="1" dirty="0" smtClean="0"/>
              <a:t>）</a:t>
            </a:r>
            <a:endParaRPr lang="en-US" altLang="zh-CN" sz="4000" b="1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000000"/>
                </a:solidFill>
                <a:latin typeface="Comic Sans MS" pitchFamily="66" charset="0"/>
              </a:rPr>
              <a:t>Generic name: </a:t>
            </a:r>
            <a:r>
              <a:rPr lang="en-US" altLang="zh-CN" sz="2800" dirty="0">
                <a:solidFill>
                  <a:srgbClr val="FD0128"/>
                </a:solidFill>
                <a:latin typeface="Comic Sans MS" pitchFamily="66" charset="0"/>
              </a:rPr>
              <a:t>forwarding ( bypass, short-circuiting)</a:t>
            </a:r>
            <a:endParaRPr lang="en-US" altLang="zh-CN" sz="2800" dirty="0">
              <a:solidFill>
                <a:srgbClr val="FD0128"/>
              </a:solidFill>
            </a:endParaRPr>
          </a:p>
          <a:p>
            <a:pPr lvl="1">
              <a:lnSpc>
                <a:spcPts val="34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仔细观察，发现有冒险指令需要的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结果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可能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已经计算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出来，存放在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流水线寄存器中</a:t>
            </a:r>
            <a:endParaRPr lang="en-US" altLang="zh-CN" sz="2400" b="1" dirty="0">
              <a:solidFill>
                <a:srgbClr val="FF0000"/>
              </a:solidFill>
              <a:latin typeface="Comic Sans MS" pitchFamily="66" charset="0"/>
            </a:endParaRPr>
          </a:p>
          <a:p>
            <a:pPr lvl="1">
              <a:lnSpc>
                <a:spcPts val="34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可以在数据通路上增加数据线（</a:t>
            </a:r>
            <a:r>
              <a:rPr lang="en-US" altLang="zh-CN" sz="2400" b="1" dirty="0" smtClean="0">
                <a:solidFill>
                  <a:srgbClr val="C00000"/>
                </a:solidFill>
                <a:latin typeface="Comic Sans MS" pitchFamily="66" charset="0"/>
              </a:rPr>
              <a:t> buses 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）传送这些结果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ts val="3400"/>
              </a:lnSpc>
            </a:pP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这些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 </a:t>
            </a:r>
            <a:r>
              <a:rPr lang="en-US" altLang="zh-CN" sz="2400" b="1" dirty="0" smtClean="0">
                <a:solidFill>
                  <a:srgbClr val="C00000"/>
                </a:solidFill>
                <a:latin typeface="Comic Sans MS" pitchFamily="66" charset="0"/>
              </a:rPr>
              <a:t>buses</a:t>
            </a:r>
            <a:r>
              <a:rPr lang="zh-CN" altLang="en-US" sz="2400" b="1" dirty="0" smtClean="0">
                <a:latin typeface="Comic Sans MS" pitchFamily="66" charset="0"/>
              </a:rPr>
              <a:t>在数据通路中总是</a:t>
            </a:r>
            <a:r>
              <a:rPr lang="en-US" altLang="zh-CN" sz="2400" b="1" dirty="0" smtClean="0">
                <a:latin typeface="Comic Sans MS" pitchFamily="66" charset="0"/>
              </a:rPr>
              <a:t>“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point </a:t>
            </a:r>
            <a:r>
              <a:rPr lang="en-US" altLang="zh-CN" sz="2400" b="1" dirty="0">
                <a:solidFill>
                  <a:srgbClr val="000000"/>
                </a:solidFill>
                <a:latin typeface="Comic Sans MS" pitchFamily="66" charset="0"/>
              </a:rPr>
              <a:t>backwards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”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，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从后面的流水段连接到前面的流水段</a:t>
            </a:r>
            <a:endParaRPr lang="en-US" altLang="zh-CN" sz="2400" b="1" dirty="0">
              <a:solidFill>
                <a:srgbClr val="C00000"/>
              </a:solidFill>
              <a:latin typeface="Comic Sans MS" pitchFamily="66" charset="0"/>
            </a:endParaRPr>
          </a:p>
          <a:p>
            <a:endParaRPr lang="en-US" altLang="zh-CN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直通技术：减少数据冒险</a:t>
            </a:r>
            <a:r>
              <a:rPr lang="zh-CN" altLang="en-US" b="1" dirty="0" smtClean="0">
                <a:solidFill>
                  <a:srgbClr val="FF0000"/>
                </a:solidFill>
              </a:rPr>
              <a:t>停顿</a:t>
            </a:r>
            <a:endParaRPr lang="en-US" altLang="zh-CN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552440"/>
          </a:xfrm>
        </p:spPr>
        <p:txBody>
          <a:bodyPr>
            <a:normAutofit/>
          </a:bodyPr>
          <a:lstStyle/>
          <a:p>
            <a:r>
              <a:rPr lang="zh-CN" altLang="en-US" sz="2800" b="1" dirty="0" smtClean="0">
                <a:solidFill>
                  <a:srgbClr val="0070C0"/>
                </a:solidFill>
                <a:latin typeface="Comic Sans MS" pitchFamily="66" charset="0"/>
              </a:rPr>
              <a:t>数据可能已经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计算好</a:t>
            </a:r>
            <a:r>
              <a:rPr lang="en-US" altLang="zh-CN" sz="2800" b="1" dirty="0" smtClean="0">
                <a:solidFill>
                  <a:srgbClr val="000000"/>
                </a:solidFill>
                <a:latin typeface="Comic Sans MS" pitchFamily="66" charset="0"/>
              </a:rPr>
              <a:t>—</a:t>
            </a:r>
            <a:r>
              <a:rPr lang="zh-CN" altLang="en-US" sz="2800" b="1" dirty="0" smtClean="0">
                <a:solidFill>
                  <a:srgbClr val="0070C0"/>
                </a:solidFill>
                <a:latin typeface="Comic Sans MS" pitchFamily="66" charset="0"/>
              </a:rPr>
              <a:t>只是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不在</a:t>
            </a:r>
            <a:r>
              <a:rPr lang="zh-CN" altLang="en-US" sz="2800" b="1" dirty="0" smtClean="0">
                <a:solidFill>
                  <a:srgbClr val="0070C0"/>
                </a:solidFill>
                <a:latin typeface="Comic Sans MS" pitchFamily="66" charset="0"/>
              </a:rPr>
              <a:t>寄存器堆中</a:t>
            </a:r>
            <a:endParaRPr lang="en-US" altLang="zh-CN" b="1" dirty="0">
              <a:solidFill>
                <a:srgbClr val="0070C0"/>
              </a:solidFill>
            </a:endParaRPr>
          </a:p>
        </p:txBody>
      </p:sp>
      <p:graphicFrame>
        <p:nvGraphicFramePr>
          <p:cNvPr id="38916" name="Object 4"/>
          <p:cNvGraphicFramePr>
            <a:graphicFrameLocks noChangeAspect="1"/>
          </p:cNvGraphicFramePr>
          <p:nvPr/>
        </p:nvGraphicFramePr>
        <p:xfrm>
          <a:off x="304800" y="2438400"/>
          <a:ext cx="8534400" cy="325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93" name="Picture" r:id="rId3" imgW="4467225" imgH="1809750" progId="Word.Picture.8">
                  <p:embed/>
                </p:oleObj>
              </mc:Choice>
              <mc:Fallback>
                <p:oleObj name="Picture" r:id="rId3" imgW="4467225" imgH="1809750" progId="Word.Picture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438400"/>
                        <a:ext cx="8534400" cy="325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EAEAEA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71842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7" name="Line 5"/>
          <p:cNvSpPr>
            <a:spLocks noChangeShapeType="1"/>
          </p:cNvSpPr>
          <p:nvPr/>
        </p:nvSpPr>
        <p:spPr bwMode="auto">
          <a:xfrm flipH="1">
            <a:off x="4953000" y="1905000"/>
            <a:ext cx="228600" cy="13716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8" name="Line 6"/>
          <p:cNvSpPr>
            <a:spLocks noChangeShapeType="1"/>
          </p:cNvSpPr>
          <p:nvPr/>
        </p:nvSpPr>
        <p:spPr bwMode="auto">
          <a:xfrm flipH="1">
            <a:off x="7010400" y="1905000"/>
            <a:ext cx="228600" cy="1295400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19" name="Text Box 7"/>
          <p:cNvSpPr txBox="1">
            <a:spLocks noChangeArrowheads="1"/>
          </p:cNvSpPr>
          <p:nvPr/>
        </p:nvSpPr>
        <p:spPr bwMode="auto">
          <a:xfrm>
            <a:off x="1600200" y="5715000"/>
            <a:ext cx="4816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000" b="1">
                <a:solidFill>
                  <a:srgbClr val="CC0099"/>
                </a:solidFill>
                <a:latin typeface="Times New Roman" pitchFamily="18" charset="0"/>
                <a:sym typeface="Symbol" pitchFamily="18" charset="2"/>
              </a:rPr>
              <a:t>EX/MEM.ALUoutput  ALU input port</a:t>
            </a:r>
            <a:endParaRPr lang="en-US" altLang="zh-CN" sz="2000" b="1">
              <a:latin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en-US" altLang="zh-CN" sz="20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MEM/WB.ALUoutput  ALU input port</a:t>
            </a:r>
            <a:r>
              <a:rPr lang="en-US" altLang="zh-CN" sz="2400" b="1">
                <a:solidFill>
                  <a:srgbClr val="FF3300"/>
                </a:solidFill>
                <a:latin typeface="Times New Roman" pitchFamily="18" charset="0"/>
                <a:sym typeface="Symbol" pitchFamily="18" charset="2"/>
              </a:rPr>
              <a:t>  </a:t>
            </a:r>
          </a:p>
        </p:txBody>
      </p:sp>
      <p:sp>
        <p:nvSpPr>
          <p:cNvPr id="38920" name="Line 8"/>
          <p:cNvSpPr>
            <a:spLocks noChangeShapeType="1"/>
          </p:cNvSpPr>
          <p:nvPr/>
        </p:nvSpPr>
        <p:spPr bwMode="auto">
          <a:xfrm>
            <a:off x="304800" y="5867400"/>
            <a:ext cx="1295400" cy="0"/>
          </a:xfrm>
          <a:prstGeom prst="line">
            <a:avLst/>
          </a:prstGeom>
          <a:noFill/>
          <a:ln w="28575" cap="rnd">
            <a:solidFill>
              <a:srgbClr val="80008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>
            <a:off x="304800" y="6248400"/>
            <a:ext cx="1295400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Forwarding</a:t>
            </a:r>
            <a:r>
              <a:rPr lang="zh-CN" altLang="en-US" b="1" dirty="0" smtClean="0"/>
              <a:t>的硬件变化</a:t>
            </a:r>
            <a:endParaRPr lang="en-US" altLang="zh-CN" b="1" dirty="0"/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273050" y="1447800"/>
            <a:ext cx="8763000" cy="3886200"/>
            <a:chOff x="172" y="912"/>
            <a:chExt cx="5520" cy="2448"/>
          </a:xfrm>
        </p:grpSpPr>
        <p:sp>
          <p:nvSpPr>
            <p:cNvPr id="39940" name="Rectangle 4"/>
            <p:cNvSpPr>
              <a:spLocks noChangeArrowheads="1"/>
            </p:cNvSpPr>
            <p:nvPr/>
          </p:nvSpPr>
          <p:spPr bwMode="auto">
            <a:xfrm>
              <a:off x="186" y="912"/>
              <a:ext cx="4828" cy="2448"/>
            </a:xfrm>
            <a:prstGeom prst="rect">
              <a:avLst/>
            </a:prstGeom>
            <a:noFill/>
            <a:ln w="0">
              <a:solidFill>
                <a:srgbClr val="FFFFF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1" name="Rectangle 5"/>
            <p:cNvSpPr>
              <a:spLocks noChangeArrowheads="1"/>
            </p:cNvSpPr>
            <p:nvPr/>
          </p:nvSpPr>
          <p:spPr bwMode="auto">
            <a:xfrm>
              <a:off x="4506" y="1160"/>
              <a:ext cx="240" cy="1819"/>
            </a:xfrm>
            <a:prstGeom prst="rect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MEM/WR</a:t>
              </a:r>
            </a:p>
          </p:txBody>
        </p:sp>
        <p:sp>
          <p:nvSpPr>
            <p:cNvPr id="39942" name="Rectangle 6"/>
            <p:cNvSpPr>
              <a:spLocks noChangeArrowheads="1"/>
            </p:cNvSpPr>
            <p:nvPr/>
          </p:nvSpPr>
          <p:spPr bwMode="auto">
            <a:xfrm>
              <a:off x="1189" y="1160"/>
              <a:ext cx="240" cy="1819"/>
            </a:xfrm>
            <a:prstGeom prst="rect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ID/EX</a:t>
              </a:r>
            </a:p>
          </p:txBody>
        </p:sp>
        <p:sp>
          <p:nvSpPr>
            <p:cNvPr id="39943" name="Rectangle 7"/>
            <p:cNvSpPr>
              <a:spLocks noChangeArrowheads="1"/>
            </p:cNvSpPr>
            <p:nvPr/>
          </p:nvSpPr>
          <p:spPr bwMode="auto">
            <a:xfrm>
              <a:off x="2917" y="1160"/>
              <a:ext cx="240" cy="1819"/>
            </a:xfrm>
            <a:prstGeom prst="rect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EX/MEM </a:t>
              </a:r>
            </a:p>
          </p:txBody>
        </p:sp>
        <p:sp>
          <p:nvSpPr>
            <p:cNvPr id="39944" name="Rectangle 8"/>
            <p:cNvSpPr>
              <a:spLocks noChangeArrowheads="1"/>
            </p:cNvSpPr>
            <p:nvPr/>
          </p:nvSpPr>
          <p:spPr bwMode="auto">
            <a:xfrm>
              <a:off x="3589" y="1822"/>
              <a:ext cx="576" cy="8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/>
                <a:t>Data</a:t>
              </a:r>
            </a:p>
            <a:p>
              <a:pPr algn="ctr"/>
              <a:r>
                <a:rPr lang="en-US" altLang="zh-CN" sz="1800"/>
                <a:t>Memory</a:t>
              </a:r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2224" y="1561"/>
              <a:ext cx="400" cy="798"/>
              <a:chOff x="1782" y="2232"/>
              <a:chExt cx="468" cy="816"/>
            </a:xfrm>
          </p:grpSpPr>
          <p:sp>
            <p:nvSpPr>
              <p:cNvPr id="39946" name="Freeform 10"/>
              <p:cNvSpPr>
                <a:spLocks/>
              </p:cNvSpPr>
              <p:nvPr/>
            </p:nvSpPr>
            <p:spPr bwMode="auto">
              <a:xfrm>
                <a:off x="1782" y="2232"/>
                <a:ext cx="468" cy="816"/>
              </a:xfrm>
              <a:custGeom>
                <a:avLst/>
                <a:gdLst>
                  <a:gd name="T0" fmla="*/ 0 w 468"/>
                  <a:gd name="T1" fmla="*/ 0 h 816"/>
                  <a:gd name="T2" fmla="*/ 468 w 468"/>
                  <a:gd name="T3" fmla="*/ 252 h 816"/>
                  <a:gd name="T4" fmla="*/ 468 w 468"/>
                  <a:gd name="T5" fmla="*/ 588 h 816"/>
                  <a:gd name="T6" fmla="*/ 0 w 468"/>
                  <a:gd name="T7" fmla="*/ 816 h 816"/>
                  <a:gd name="T8" fmla="*/ 0 w 468"/>
                  <a:gd name="T9" fmla="*/ 576 h 816"/>
                  <a:gd name="T10" fmla="*/ 168 w 468"/>
                  <a:gd name="T11" fmla="*/ 420 h 816"/>
                  <a:gd name="T12" fmla="*/ 0 w 468"/>
                  <a:gd name="T13" fmla="*/ 258 h 816"/>
                  <a:gd name="T14" fmla="*/ 0 w 468"/>
                  <a:gd name="T1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8" h="816">
                    <a:moveTo>
                      <a:pt x="0" y="0"/>
                    </a:moveTo>
                    <a:lnTo>
                      <a:pt x="468" y="252"/>
                    </a:lnTo>
                    <a:lnTo>
                      <a:pt x="468" y="588"/>
                    </a:lnTo>
                    <a:lnTo>
                      <a:pt x="0" y="816"/>
                    </a:lnTo>
                    <a:lnTo>
                      <a:pt x="0" y="576"/>
                    </a:lnTo>
                    <a:lnTo>
                      <a:pt x="168" y="420"/>
                    </a:lnTo>
                    <a:lnTo>
                      <a:pt x="0" y="25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47" name="Text Box 11"/>
              <p:cNvSpPr txBox="1">
                <a:spLocks noChangeArrowheads="1"/>
              </p:cNvSpPr>
              <p:nvPr/>
            </p:nvSpPr>
            <p:spPr bwMode="auto">
              <a:xfrm rot="5400000">
                <a:off x="1879" y="2523"/>
                <a:ext cx="383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1600"/>
                  <a:t>ALU</a:t>
                </a:r>
              </a:p>
            </p:txBody>
          </p:sp>
        </p:grpSp>
        <p:sp>
          <p:nvSpPr>
            <p:cNvPr id="39948" name="AutoShape 12"/>
            <p:cNvSpPr>
              <a:spLocks noChangeArrowheads="1"/>
            </p:cNvSpPr>
            <p:nvPr/>
          </p:nvSpPr>
          <p:spPr bwMode="auto">
            <a:xfrm>
              <a:off x="1808" y="1449"/>
              <a:ext cx="240" cy="414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mux</a:t>
              </a:r>
            </a:p>
          </p:txBody>
        </p:sp>
        <p:sp>
          <p:nvSpPr>
            <p:cNvPr id="39949" name="AutoShape 13"/>
            <p:cNvSpPr>
              <a:spLocks noChangeArrowheads="1"/>
            </p:cNvSpPr>
            <p:nvPr/>
          </p:nvSpPr>
          <p:spPr bwMode="auto">
            <a:xfrm>
              <a:off x="1808" y="2094"/>
              <a:ext cx="240" cy="413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mux</a:t>
              </a:r>
            </a:p>
          </p:txBody>
        </p:sp>
        <p:sp>
          <p:nvSpPr>
            <p:cNvPr id="39950" name="Line 14"/>
            <p:cNvSpPr>
              <a:spLocks noChangeShapeType="1"/>
            </p:cNvSpPr>
            <p:nvPr/>
          </p:nvSpPr>
          <p:spPr bwMode="auto">
            <a:xfrm>
              <a:off x="2048" y="165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1" name="Line 15"/>
            <p:cNvSpPr>
              <a:spLocks noChangeShapeType="1"/>
            </p:cNvSpPr>
            <p:nvPr/>
          </p:nvSpPr>
          <p:spPr bwMode="auto">
            <a:xfrm>
              <a:off x="2048" y="2235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2" name="Rectangle 16"/>
            <p:cNvSpPr>
              <a:spLocks noChangeArrowheads="1"/>
            </p:cNvSpPr>
            <p:nvPr/>
          </p:nvSpPr>
          <p:spPr bwMode="auto">
            <a:xfrm rot="10800000">
              <a:off x="464" y="1532"/>
              <a:ext cx="432" cy="8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r>
                <a:rPr lang="en-US" altLang="zh-CN" sz="1800"/>
                <a:t>Registers</a:t>
              </a:r>
            </a:p>
          </p:txBody>
        </p:sp>
        <p:sp>
          <p:nvSpPr>
            <p:cNvPr id="39953" name="Line 17"/>
            <p:cNvSpPr>
              <a:spLocks noChangeShapeType="1"/>
            </p:cNvSpPr>
            <p:nvPr/>
          </p:nvSpPr>
          <p:spPr bwMode="auto">
            <a:xfrm>
              <a:off x="896" y="178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Line 18"/>
            <p:cNvSpPr>
              <a:spLocks noChangeShapeType="1"/>
            </p:cNvSpPr>
            <p:nvPr/>
          </p:nvSpPr>
          <p:spPr bwMode="auto">
            <a:xfrm>
              <a:off x="896" y="215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5" name="Line 19"/>
            <p:cNvSpPr>
              <a:spLocks noChangeShapeType="1"/>
            </p:cNvSpPr>
            <p:nvPr/>
          </p:nvSpPr>
          <p:spPr bwMode="auto">
            <a:xfrm>
              <a:off x="1424" y="1780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6" name="Line 20"/>
            <p:cNvSpPr>
              <a:spLocks noChangeShapeType="1"/>
            </p:cNvSpPr>
            <p:nvPr/>
          </p:nvSpPr>
          <p:spPr bwMode="auto">
            <a:xfrm>
              <a:off x="1424" y="215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7" name="Text Box 21"/>
            <p:cNvSpPr txBox="1">
              <a:spLocks noChangeArrowheads="1"/>
            </p:cNvSpPr>
            <p:nvPr/>
          </p:nvSpPr>
          <p:spPr bwMode="auto">
            <a:xfrm>
              <a:off x="368" y="1187"/>
              <a:ext cx="5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600"/>
                <a:t>NextPC</a:t>
              </a:r>
            </a:p>
          </p:txBody>
        </p:sp>
        <p:sp>
          <p:nvSpPr>
            <p:cNvPr id="39958" name="Line 22"/>
            <p:cNvSpPr>
              <a:spLocks noChangeShapeType="1"/>
            </p:cNvSpPr>
            <p:nvPr/>
          </p:nvSpPr>
          <p:spPr bwMode="auto">
            <a:xfrm>
              <a:off x="896" y="128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9" name="Text Box 23"/>
            <p:cNvSpPr txBox="1">
              <a:spLocks noChangeArrowheads="1"/>
            </p:cNvSpPr>
            <p:nvPr/>
          </p:nvSpPr>
          <p:spPr bwMode="auto">
            <a:xfrm>
              <a:off x="229" y="2447"/>
              <a:ext cx="76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600"/>
                <a:t>Immediate</a:t>
              </a:r>
            </a:p>
          </p:txBody>
        </p:sp>
        <p:sp>
          <p:nvSpPr>
            <p:cNvPr id="39960" name="Line 24"/>
            <p:cNvSpPr>
              <a:spLocks noChangeShapeType="1"/>
            </p:cNvSpPr>
            <p:nvPr/>
          </p:nvSpPr>
          <p:spPr bwMode="auto">
            <a:xfrm>
              <a:off x="944" y="256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1" name="Freeform 25"/>
            <p:cNvSpPr>
              <a:spLocks/>
            </p:cNvSpPr>
            <p:nvPr/>
          </p:nvSpPr>
          <p:spPr bwMode="auto">
            <a:xfrm>
              <a:off x="1424" y="2232"/>
              <a:ext cx="384" cy="334"/>
            </a:xfrm>
            <a:custGeom>
              <a:avLst/>
              <a:gdLst>
                <a:gd name="T0" fmla="*/ 0 w 384"/>
                <a:gd name="T1" fmla="*/ 388 h 388"/>
                <a:gd name="T2" fmla="*/ 76 w 384"/>
                <a:gd name="T3" fmla="*/ 384 h 388"/>
                <a:gd name="T4" fmla="*/ 76 w 384"/>
                <a:gd name="T5" fmla="*/ 0 h 388"/>
                <a:gd name="T6" fmla="*/ 384 w 384"/>
                <a:gd name="T7" fmla="*/ 4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4" h="388">
                  <a:moveTo>
                    <a:pt x="0" y="388"/>
                  </a:moveTo>
                  <a:lnTo>
                    <a:pt x="76" y="384"/>
                  </a:lnTo>
                  <a:lnTo>
                    <a:pt x="76" y="0"/>
                  </a:lnTo>
                  <a:lnTo>
                    <a:pt x="384" y="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2" name="Freeform 26"/>
            <p:cNvSpPr>
              <a:spLocks/>
            </p:cNvSpPr>
            <p:nvPr/>
          </p:nvSpPr>
          <p:spPr bwMode="auto">
            <a:xfrm>
              <a:off x="1568" y="2152"/>
              <a:ext cx="1344" cy="414"/>
            </a:xfrm>
            <a:custGeom>
              <a:avLst/>
              <a:gdLst>
                <a:gd name="T0" fmla="*/ 0 w 1344"/>
                <a:gd name="T1" fmla="*/ 0 h 624"/>
                <a:gd name="T2" fmla="*/ 0 w 1344"/>
                <a:gd name="T3" fmla="*/ 624 h 624"/>
                <a:gd name="T4" fmla="*/ 1344 w 1344"/>
                <a:gd name="T5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4" h="624">
                  <a:moveTo>
                    <a:pt x="0" y="0"/>
                  </a:moveTo>
                  <a:lnTo>
                    <a:pt x="0" y="624"/>
                  </a:lnTo>
                  <a:lnTo>
                    <a:pt x="1344" y="62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3" name="Line 27"/>
            <p:cNvSpPr>
              <a:spLocks noChangeShapeType="1"/>
            </p:cNvSpPr>
            <p:nvPr/>
          </p:nvSpPr>
          <p:spPr bwMode="auto">
            <a:xfrm>
              <a:off x="3152" y="2566"/>
              <a:ext cx="4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4" name="Line 28"/>
            <p:cNvSpPr>
              <a:spLocks noChangeShapeType="1"/>
            </p:cNvSpPr>
            <p:nvPr/>
          </p:nvSpPr>
          <p:spPr bwMode="auto">
            <a:xfrm>
              <a:off x="2624" y="198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5" name="Line 29"/>
            <p:cNvSpPr>
              <a:spLocks noChangeShapeType="1"/>
            </p:cNvSpPr>
            <p:nvPr/>
          </p:nvSpPr>
          <p:spPr bwMode="auto">
            <a:xfrm>
              <a:off x="3152" y="1987"/>
              <a:ext cx="4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Line 30"/>
            <p:cNvSpPr>
              <a:spLocks noChangeShapeType="1"/>
            </p:cNvSpPr>
            <p:nvPr/>
          </p:nvSpPr>
          <p:spPr bwMode="auto">
            <a:xfrm flipV="1">
              <a:off x="4165" y="2276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7" name="Freeform 31"/>
            <p:cNvSpPr>
              <a:spLocks/>
            </p:cNvSpPr>
            <p:nvPr/>
          </p:nvSpPr>
          <p:spPr bwMode="auto">
            <a:xfrm>
              <a:off x="3349" y="1987"/>
              <a:ext cx="1152" cy="868"/>
            </a:xfrm>
            <a:custGeom>
              <a:avLst/>
              <a:gdLst>
                <a:gd name="T0" fmla="*/ 0 w 1152"/>
                <a:gd name="T1" fmla="*/ 0 h 1008"/>
                <a:gd name="T2" fmla="*/ 0 w 1152"/>
                <a:gd name="T3" fmla="*/ 1008 h 1008"/>
                <a:gd name="T4" fmla="*/ 1152 w 1152"/>
                <a:gd name="T5" fmla="*/ 1008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2" h="1008">
                  <a:moveTo>
                    <a:pt x="0" y="0"/>
                  </a:moveTo>
                  <a:lnTo>
                    <a:pt x="0" y="1008"/>
                  </a:lnTo>
                  <a:lnTo>
                    <a:pt x="1152" y="100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8" name="Oval 32"/>
            <p:cNvSpPr>
              <a:spLocks noChangeArrowheads="1"/>
            </p:cNvSpPr>
            <p:nvPr/>
          </p:nvSpPr>
          <p:spPr bwMode="auto">
            <a:xfrm>
              <a:off x="3326" y="1970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9" name="Oval 33"/>
            <p:cNvSpPr>
              <a:spLocks noChangeArrowheads="1"/>
            </p:cNvSpPr>
            <p:nvPr/>
          </p:nvSpPr>
          <p:spPr bwMode="auto">
            <a:xfrm>
              <a:off x="1542" y="2132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0" name="Line 34"/>
            <p:cNvSpPr>
              <a:spLocks noChangeShapeType="1"/>
            </p:cNvSpPr>
            <p:nvPr/>
          </p:nvSpPr>
          <p:spPr bwMode="auto">
            <a:xfrm flipV="1">
              <a:off x="4758" y="2845"/>
              <a:ext cx="6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1" name="Line 35"/>
            <p:cNvSpPr>
              <a:spLocks noChangeShapeType="1"/>
            </p:cNvSpPr>
            <p:nvPr/>
          </p:nvSpPr>
          <p:spPr bwMode="auto">
            <a:xfrm flipV="1">
              <a:off x="4746" y="2273"/>
              <a:ext cx="656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2" name="Oval 36"/>
            <p:cNvSpPr>
              <a:spLocks noChangeArrowheads="1"/>
            </p:cNvSpPr>
            <p:nvPr/>
          </p:nvSpPr>
          <p:spPr bwMode="auto">
            <a:xfrm>
              <a:off x="3334" y="2831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" name="Group 53"/>
            <p:cNvGrpSpPr>
              <a:grpSpLocks/>
            </p:cNvGrpSpPr>
            <p:nvPr/>
          </p:nvGrpSpPr>
          <p:grpSpPr bwMode="auto">
            <a:xfrm>
              <a:off x="1618" y="953"/>
              <a:ext cx="3512" cy="2316"/>
              <a:chOff x="1618" y="953"/>
              <a:chExt cx="3512" cy="2316"/>
            </a:xfrm>
          </p:grpSpPr>
          <p:sp>
            <p:nvSpPr>
              <p:cNvPr id="39974" name="Freeform 38"/>
              <p:cNvSpPr>
                <a:spLocks/>
              </p:cNvSpPr>
              <p:nvPr/>
            </p:nvSpPr>
            <p:spPr bwMode="auto">
              <a:xfrm>
                <a:off x="1695" y="2442"/>
                <a:ext cx="1659" cy="579"/>
              </a:xfrm>
              <a:custGeom>
                <a:avLst/>
                <a:gdLst>
                  <a:gd name="T0" fmla="*/ 1659 w 1659"/>
                  <a:gd name="T1" fmla="*/ 480 h 672"/>
                  <a:gd name="T2" fmla="*/ 1659 w 1659"/>
                  <a:gd name="T3" fmla="*/ 672 h 672"/>
                  <a:gd name="T4" fmla="*/ 0 w 1659"/>
                  <a:gd name="T5" fmla="*/ 666 h 672"/>
                  <a:gd name="T6" fmla="*/ 0 w 1659"/>
                  <a:gd name="T7" fmla="*/ 0 h 672"/>
                  <a:gd name="T8" fmla="*/ 114 w 1659"/>
                  <a:gd name="T9" fmla="*/ 0 h 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9" h="672">
                    <a:moveTo>
                      <a:pt x="1659" y="480"/>
                    </a:moveTo>
                    <a:lnTo>
                      <a:pt x="1659" y="672"/>
                    </a:lnTo>
                    <a:lnTo>
                      <a:pt x="0" y="666"/>
                    </a:lnTo>
                    <a:lnTo>
                      <a:pt x="0" y="0"/>
                    </a:lnTo>
                    <a:lnTo>
                      <a:pt x="11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5" name="Freeform 39"/>
              <p:cNvSpPr>
                <a:spLocks/>
              </p:cNvSpPr>
              <p:nvPr/>
            </p:nvSpPr>
            <p:spPr bwMode="auto">
              <a:xfrm>
                <a:off x="1626" y="953"/>
                <a:ext cx="3504" cy="1323"/>
              </a:xfrm>
              <a:custGeom>
                <a:avLst/>
                <a:gdLst>
                  <a:gd name="T0" fmla="*/ 3504 w 3504"/>
                  <a:gd name="T1" fmla="*/ 1536 h 1536"/>
                  <a:gd name="T2" fmla="*/ 3504 w 3504"/>
                  <a:gd name="T3" fmla="*/ 0 h 1536"/>
                  <a:gd name="T4" fmla="*/ 0 w 3504"/>
                  <a:gd name="T5" fmla="*/ 0 h 1536"/>
                  <a:gd name="T6" fmla="*/ 3 w 3504"/>
                  <a:gd name="T7" fmla="*/ 798 h 1536"/>
                  <a:gd name="T8" fmla="*/ 186 w 3504"/>
                  <a:gd name="T9" fmla="*/ 795 h 1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04" h="1536">
                    <a:moveTo>
                      <a:pt x="3504" y="1536"/>
                    </a:moveTo>
                    <a:lnTo>
                      <a:pt x="3504" y="0"/>
                    </a:lnTo>
                    <a:lnTo>
                      <a:pt x="0" y="0"/>
                    </a:lnTo>
                    <a:lnTo>
                      <a:pt x="3" y="798"/>
                    </a:lnTo>
                    <a:lnTo>
                      <a:pt x="186" y="795"/>
                    </a:lnTo>
                  </a:path>
                </a:pathLst>
              </a:custGeom>
              <a:noFill/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6" name="Freeform 40"/>
              <p:cNvSpPr>
                <a:spLocks/>
              </p:cNvSpPr>
              <p:nvPr/>
            </p:nvSpPr>
            <p:spPr bwMode="auto">
              <a:xfrm>
                <a:off x="1657" y="2400"/>
                <a:ext cx="3380" cy="824"/>
              </a:xfrm>
              <a:custGeom>
                <a:avLst/>
                <a:gdLst>
                  <a:gd name="T0" fmla="*/ 3088 w 3380"/>
                  <a:gd name="T1" fmla="*/ 540 h 956"/>
                  <a:gd name="T2" fmla="*/ 3380 w 3380"/>
                  <a:gd name="T3" fmla="*/ 540 h 956"/>
                  <a:gd name="T4" fmla="*/ 3380 w 3380"/>
                  <a:gd name="T5" fmla="*/ 956 h 956"/>
                  <a:gd name="T6" fmla="*/ 0 w 3380"/>
                  <a:gd name="T7" fmla="*/ 956 h 956"/>
                  <a:gd name="T8" fmla="*/ 0 w 3380"/>
                  <a:gd name="T9" fmla="*/ 0 h 956"/>
                  <a:gd name="T10" fmla="*/ 152 w 3380"/>
                  <a:gd name="T11" fmla="*/ 0 h 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80" h="956">
                    <a:moveTo>
                      <a:pt x="3088" y="540"/>
                    </a:moveTo>
                    <a:lnTo>
                      <a:pt x="3380" y="540"/>
                    </a:lnTo>
                    <a:lnTo>
                      <a:pt x="3380" y="956"/>
                    </a:lnTo>
                    <a:lnTo>
                      <a:pt x="0" y="956"/>
                    </a:lnTo>
                    <a:lnTo>
                      <a:pt x="0" y="0"/>
                    </a:lnTo>
                    <a:lnTo>
                      <a:pt x="152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7" name="Freeform 41"/>
              <p:cNvSpPr>
                <a:spLocks/>
              </p:cNvSpPr>
              <p:nvPr/>
            </p:nvSpPr>
            <p:spPr bwMode="auto">
              <a:xfrm>
                <a:off x="1618" y="2276"/>
                <a:ext cx="3512" cy="993"/>
              </a:xfrm>
              <a:custGeom>
                <a:avLst/>
                <a:gdLst>
                  <a:gd name="T0" fmla="*/ 3128 w 3512"/>
                  <a:gd name="T1" fmla="*/ 0 h 1152"/>
                  <a:gd name="T2" fmla="*/ 3512 w 3512"/>
                  <a:gd name="T3" fmla="*/ 0 h 1152"/>
                  <a:gd name="T4" fmla="*/ 3512 w 3512"/>
                  <a:gd name="T5" fmla="*/ 1152 h 1152"/>
                  <a:gd name="T6" fmla="*/ 0 w 3512"/>
                  <a:gd name="T7" fmla="*/ 1152 h 1152"/>
                  <a:gd name="T8" fmla="*/ 2 w 3512"/>
                  <a:gd name="T9" fmla="*/ 33 h 1152"/>
                  <a:gd name="T10" fmla="*/ 191 w 3512"/>
                  <a:gd name="T11" fmla="*/ 36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12" h="1152">
                    <a:moveTo>
                      <a:pt x="3128" y="0"/>
                    </a:moveTo>
                    <a:lnTo>
                      <a:pt x="3512" y="0"/>
                    </a:lnTo>
                    <a:lnTo>
                      <a:pt x="3512" y="1152"/>
                    </a:lnTo>
                    <a:lnTo>
                      <a:pt x="0" y="1152"/>
                    </a:lnTo>
                    <a:lnTo>
                      <a:pt x="2" y="33"/>
                    </a:lnTo>
                    <a:lnTo>
                      <a:pt x="191" y="36"/>
                    </a:lnTo>
                  </a:path>
                </a:pathLst>
              </a:custGeom>
              <a:noFill/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8" name="Freeform 42"/>
              <p:cNvSpPr>
                <a:spLocks/>
              </p:cNvSpPr>
              <p:nvPr/>
            </p:nvSpPr>
            <p:spPr bwMode="auto">
              <a:xfrm>
                <a:off x="1701" y="1118"/>
                <a:ext cx="1653" cy="869"/>
              </a:xfrm>
              <a:custGeom>
                <a:avLst/>
                <a:gdLst>
                  <a:gd name="T0" fmla="*/ 1653 w 1653"/>
                  <a:gd name="T1" fmla="*/ 1008 h 1008"/>
                  <a:gd name="T2" fmla="*/ 1653 w 1653"/>
                  <a:gd name="T3" fmla="*/ 0 h 1008"/>
                  <a:gd name="T4" fmla="*/ 0 w 1653"/>
                  <a:gd name="T5" fmla="*/ 0 h 1008"/>
                  <a:gd name="T6" fmla="*/ 0 w 1653"/>
                  <a:gd name="T7" fmla="*/ 432 h 1008"/>
                  <a:gd name="T8" fmla="*/ 117 w 1653"/>
                  <a:gd name="T9" fmla="*/ 432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3" h="1008">
                    <a:moveTo>
                      <a:pt x="1653" y="1008"/>
                    </a:moveTo>
                    <a:lnTo>
                      <a:pt x="1653" y="0"/>
                    </a:lnTo>
                    <a:lnTo>
                      <a:pt x="0" y="0"/>
                    </a:lnTo>
                    <a:lnTo>
                      <a:pt x="0" y="432"/>
                    </a:lnTo>
                    <a:lnTo>
                      <a:pt x="117" y="432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9" name="Freeform 43"/>
              <p:cNvSpPr>
                <a:spLocks/>
              </p:cNvSpPr>
              <p:nvPr/>
            </p:nvSpPr>
            <p:spPr bwMode="auto">
              <a:xfrm>
                <a:off x="1674" y="1036"/>
                <a:ext cx="3360" cy="1819"/>
              </a:xfrm>
              <a:custGeom>
                <a:avLst/>
                <a:gdLst>
                  <a:gd name="T0" fmla="*/ 3360 w 3360"/>
                  <a:gd name="T1" fmla="*/ 2112 h 2112"/>
                  <a:gd name="T2" fmla="*/ 3360 w 3360"/>
                  <a:gd name="T3" fmla="*/ 0 h 2112"/>
                  <a:gd name="T4" fmla="*/ 0 w 3360"/>
                  <a:gd name="T5" fmla="*/ 0 h 2112"/>
                  <a:gd name="T6" fmla="*/ 0 w 3360"/>
                  <a:gd name="T7" fmla="*/ 624 h 2112"/>
                  <a:gd name="T8" fmla="*/ 144 w 3360"/>
                  <a:gd name="T9" fmla="*/ 624 h 2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0" h="2112">
                    <a:moveTo>
                      <a:pt x="3360" y="2112"/>
                    </a:moveTo>
                    <a:lnTo>
                      <a:pt x="3360" y="0"/>
                    </a:lnTo>
                    <a:lnTo>
                      <a:pt x="0" y="0"/>
                    </a:lnTo>
                    <a:lnTo>
                      <a:pt x="0" y="624"/>
                    </a:lnTo>
                    <a:lnTo>
                      <a:pt x="144" y="624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80" name="Oval 44"/>
            <p:cNvSpPr>
              <a:spLocks noChangeArrowheads="1"/>
            </p:cNvSpPr>
            <p:nvPr/>
          </p:nvSpPr>
          <p:spPr bwMode="auto">
            <a:xfrm>
              <a:off x="5006" y="2824"/>
              <a:ext cx="48" cy="4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1" name="Oval 45"/>
            <p:cNvSpPr>
              <a:spLocks noChangeArrowheads="1"/>
            </p:cNvSpPr>
            <p:nvPr/>
          </p:nvSpPr>
          <p:spPr bwMode="auto">
            <a:xfrm>
              <a:off x="5106" y="2256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2" name="AutoShape 46"/>
            <p:cNvSpPr>
              <a:spLocks noChangeArrowheads="1"/>
            </p:cNvSpPr>
            <p:nvPr/>
          </p:nvSpPr>
          <p:spPr bwMode="auto">
            <a:xfrm>
              <a:off x="5365" y="2111"/>
              <a:ext cx="240" cy="86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mux</a:t>
              </a:r>
            </a:p>
          </p:txBody>
        </p:sp>
        <p:sp>
          <p:nvSpPr>
            <p:cNvPr id="39983" name="Freeform 47"/>
            <p:cNvSpPr>
              <a:spLocks/>
            </p:cNvSpPr>
            <p:nvPr/>
          </p:nvSpPr>
          <p:spPr bwMode="auto">
            <a:xfrm>
              <a:off x="172" y="1946"/>
              <a:ext cx="5520" cy="1405"/>
            </a:xfrm>
            <a:custGeom>
              <a:avLst/>
              <a:gdLst>
                <a:gd name="T0" fmla="*/ 5424 w 5520"/>
                <a:gd name="T1" fmla="*/ 720 h 1632"/>
                <a:gd name="T2" fmla="*/ 5520 w 5520"/>
                <a:gd name="T3" fmla="*/ 720 h 1632"/>
                <a:gd name="T4" fmla="*/ 5520 w 5520"/>
                <a:gd name="T5" fmla="*/ 1632 h 1632"/>
                <a:gd name="T6" fmla="*/ 0 w 5520"/>
                <a:gd name="T7" fmla="*/ 1632 h 1632"/>
                <a:gd name="T8" fmla="*/ 0 w 5520"/>
                <a:gd name="T9" fmla="*/ 0 h 1632"/>
                <a:gd name="T10" fmla="*/ 288 w 5520"/>
                <a:gd name="T11" fmla="*/ 0 h 1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20" h="1632">
                  <a:moveTo>
                    <a:pt x="5424" y="720"/>
                  </a:moveTo>
                  <a:lnTo>
                    <a:pt x="5520" y="720"/>
                  </a:lnTo>
                  <a:lnTo>
                    <a:pt x="5520" y="1632"/>
                  </a:lnTo>
                  <a:lnTo>
                    <a:pt x="0" y="1632"/>
                  </a:lnTo>
                  <a:lnTo>
                    <a:pt x="0" y="0"/>
                  </a:lnTo>
                  <a:lnTo>
                    <a:pt x="288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228600" y="5410200"/>
            <a:ext cx="5961063" cy="1187450"/>
            <a:chOff x="144" y="3408"/>
            <a:chExt cx="3755" cy="748"/>
          </a:xfrm>
        </p:grpSpPr>
        <p:sp>
          <p:nvSpPr>
            <p:cNvPr id="39985" name="Line 49"/>
            <p:cNvSpPr>
              <a:spLocks noChangeShapeType="1"/>
            </p:cNvSpPr>
            <p:nvPr/>
          </p:nvSpPr>
          <p:spPr bwMode="auto">
            <a:xfrm>
              <a:off x="144" y="3545"/>
              <a:ext cx="384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6" name="Text Box 50"/>
            <p:cNvSpPr txBox="1">
              <a:spLocks noChangeArrowheads="1"/>
            </p:cNvSpPr>
            <p:nvPr/>
          </p:nvSpPr>
          <p:spPr bwMode="auto">
            <a:xfrm>
              <a:off x="576" y="3408"/>
              <a:ext cx="3323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rgbClr val="FF0000"/>
                  </a:solidFill>
                </a:rPr>
                <a:t>EX/Mem.ALUoutput </a:t>
              </a:r>
              <a:r>
                <a:rPr lang="en-US" altLang="zh-CN" sz="2400" b="1">
                  <a:solidFill>
                    <a:srgbClr val="FF0000"/>
                  </a:solidFill>
                  <a:sym typeface="Symbol" pitchFamily="18" charset="2"/>
                </a:rPr>
                <a:t> ALU</a:t>
              </a:r>
              <a:r>
                <a:rPr kumimoji="0" lang="en-US" altLang="zh-CN" sz="2400">
                  <a:solidFill>
                    <a:srgbClr val="FF0000"/>
                  </a:solidFill>
                  <a:sym typeface="Symbol" pitchFamily="18" charset="2"/>
                </a:rPr>
                <a:t> input</a:t>
              </a:r>
            </a:p>
            <a:p>
              <a:pPr eaLnBrk="1" hangingPunct="1"/>
              <a:r>
                <a:rPr kumimoji="0" lang="en-US" altLang="zh-CN" sz="2400" b="1">
                  <a:solidFill>
                    <a:srgbClr val="0000FF"/>
                  </a:solidFill>
                  <a:sym typeface="Symbol" pitchFamily="18" charset="2"/>
                </a:rPr>
                <a:t>MEM/WB.ALUoutput </a:t>
              </a:r>
              <a:r>
                <a:rPr lang="en-US" altLang="zh-CN" sz="2400" b="1">
                  <a:solidFill>
                    <a:srgbClr val="0000FF"/>
                  </a:solidFill>
                  <a:sym typeface="Symbol" pitchFamily="18" charset="2"/>
                </a:rPr>
                <a:t> ALU</a:t>
              </a:r>
              <a:r>
                <a:rPr kumimoji="0" lang="en-US" altLang="zh-CN" sz="2400" b="1">
                  <a:solidFill>
                    <a:srgbClr val="0000FF"/>
                  </a:solidFill>
                  <a:sym typeface="Symbol" pitchFamily="18" charset="2"/>
                </a:rPr>
                <a:t> input</a:t>
              </a:r>
              <a:endParaRPr kumimoji="0" lang="en-US" altLang="zh-CN" sz="240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endParaRPr>
            </a:p>
            <a:p>
              <a:pPr eaLnBrk="1" hangingPunct="1"/>
              <a:r>
                <a:rPr kumimoji="0" lang="en-US" altLang="zh-CN" sz="2400">
                  <a:solidFill>
                    <a:srgbClr val="CC00FF"/>
                  </a:solidFill>
                  <a:sym typeface="Symbol" pitchFamily="18" charset="2"/>
                </a:rPr>
                <a:t>MEM/WB.LMD </a:t>
              </a:r>
              <a:r>
                <a:rPr lang="en-US" altLang="zh-CN" sz="2400" b="1">
                  <a:solidFill>
                    <a:srgbClr val="CC00FF"/>
                  </a:solidFill>
                  <a:sym typeface="Symbol" pitchFamily="18" charset="2"/>
                </a:rPr>
                <a:t> ALU</a:t>
              </a:r>
              <a:r>
                <a:rPr kumimoji="0" lang="en-US" altLang="zh-CN" sz="2400">
                  <a:solidFill>
                    <a:srgbClr val="CC00FF"/>
                  </a:solidFill>
                  <a:sym typeface="Symbol" pitchFamily="18" charset="2"/>
                </a:rPr>
                <a:t> input</a:t>
              </a:r>
              <a:endParaRPr kumimoji="0" lang="en-US" altLang="zh-CN" sz="2400">
                <a:solidFill>
                  <a:srgbClr val="CC00FF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39987" name="Line 51"/>
            <p:cNvSpPr>
              <a:spLocks noChangeShapeType="1"/>
            </p:cNvSpPr>
            <p:nvPr/>
          </p:nvSpPr>
          <p:spPr bwMode="auto">
            <a:xfrm>
              <a:off x="144" y="3833"/>
              <a:ext cx="384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52"/>
            <p:cNvSpPr>
              <a:spLocks noChangeShapeType="1"/>
            </p:cNvSpPr>
            <p:nvPr/>
          </p:nvSpPr>
          <p:spPr bwMode="auto">
            <a:xfrm>
              <a:off x="144" y="4073"/>
              <a:ext cx="384" cy="0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3" name="灯片编号占位符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Forwarding </a:t>
            </a:r>
            <a:r>
              <a:rPr lang="zh-CN" altLang="en-US" b="1" dirty="0" smtClean="0"/>
              <a:t>的其他输入路径</a:t>
            </a:r>
            <a:endParaRPr lang="en-US" altLang="zh-CN" b="1" dirty="0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381000" y="1600200"/>
            <a:ext cx="8305800" cy="4800600"/>
            <a:chOff x="240" y="1008"/>
            <a:chExt cx="5232" cy="3024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40" y="1056"/>
              <a:ext cx="5232" cy="2976"/>
              <a:chOff x="240" y="960"/>
              <a:chExt cx="5232" cy="2976"/>
            </a:xfrm>
          </p:grpSpPr>
          <p:pic>
            <p:nvPicPr>
              <p:cNvPr id="40966" name="Picture 6" descr="chap3_4-5new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" y="960"/>
                <a:ext cx="5232" cy="27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3110" y="3002"/>
                <a:ext cx="2254" cy="934"/>
                <a:chOff x="3110" y="3002"/>
                <a:chExt cx="2254" cy="934"/>
              </a:xfrm>
            </p:grpSpPr>
            <p:sp>
              <p:nvSpPr>
                <p:cNvPr id="4096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110" y="3002"/>
                  <a:ext cx="521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400" b="1">
                      <a:solidFill>
                        <a:srgbClr val="339966"/>
                      </a:solidFill>
                      <a:latin typeface="Times New Roman" pitchFamily="18" charset="0"/>
                    </a:rPr>
                    <a:t>store</a:t>
                  </a:r>
                  <a:endParaRPr lang="en-US" altLang="zh-CN" sz="2400">
                    <a:latin typeface="Times New Roman" pitchFamily="18" charset="0"/>
                  </a:endParaRPr>
                </a:p>
              </p:txBody>
            </p:sp>
            <p:sp>
              <p:nvSpPr>
                <p:cNvPr id="4096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896" y="3648"/>
                  <a:ext cx="46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en-US" altLang="zh-CN" sz="2400" b="1">
                      <a:solidFill>
                        <a:srgbClr val="339966"/>
                      </a:solidFill>
                      <a:latin typeface="Times New Roman" pitchFamily="18" charset="0"/>
                    </a:rPr>
                    <a:t>load</a:t>
                  </a:r>
                  <a:endParaRPr lang="en-US" altLang="zh-CN" sz="2400"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40971" name="Line 11"/>
            <p:cNvSpPr>
              <a:spLocks noChangeShapeType="1"/>
            </p:cNvSpPr>
            <p:nvPr/>
          </p:nvSpPr>
          <p:spPr bwMode="auto">
            <a:xfrm flipV="1">
              <a:off x="4080" y="1248"/>
              <a:ext cx="0" cy="1344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2" name="Line 12"/>
            <p:cNvSpPr>
              <a:spLocks noChangeShapeType="1"/>
            </p:cNvSpPr>
            <p:nvPr/>
          </p:nvSpPr>
          <p:spPr bwMode="auto">
            <a:xfrm flipH="1">
              <a:off x="3424" y="1248"/>
              <a:ext cx="656" cy="5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 flipH="1">
              <a:off x="3016" y="1253"/>
              <a:ext cx="408" cy="1088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5" name="Line 15"/>
            <p:cNvSpPr>
              <a:spLocks noChangeShapeType="1"/>
            </p:cNvSpPr>
            <p:nvPr/>
          </p:nvSpPr>
          <p:spPr bwMode="auto">
            <a:xfrm flipV="1">
              <a:off x="4944" y="1104"/>
              <a:ext cx="0" cy="1487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6" name="Line 16"/>
            <p:cNvSpPr>
              <a:spLocks noChangeShapeType="1"/>
            </p:cNvSpPr>
            <p:nvPr/>
          </p:nvSpPr>
          <p:spPr bwMode="auto">
            <a:xfrm flipH="1">
              <a:off x="3288" y="1104"/>
              <a:ext cx="1656" cy="13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7" name="Line 17"/>
            <p:cNvSpPr>
              <a:spLocks noChangeShapeType="1"/>
            </p:cNvSpPr>
            <p:nvPr/>
          </p:nvSpPr>
          <p:spPr bwMode="auto">
            <a:xfrm flipH="1">
              <a:off x="2835" y="1117"/>
              <a:ext cx="453" cy="1204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Line 19"/>
            <p:cNvSpPr>
              <a:spLocks noChangeShapeType="1"/>
            </p:cNvSpPr>
            <p:nvPr/>
          </p:nvSpPr>
          <p:spPr bwMode="auto">
            <a:xfrm flipV="1">
              <a:off x="5040" y="1008"/>
              <a:ext cx="0" cy="1728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Line 20"/>
            <p:cNvSpPr>
              <a:spLocks noChangeShapeType="1"/>
            </p:cNvSpPr>
            <p:nvPr/>
          </p:nvSpPr>
          <p:spPr bwMode="auto">
            <a:xfrm flipH="1">
              <a:off x="3198" y="1008"/>
              <a:ext cx="1842" cy="18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Line 21"/>
            <p:cNvSpPr>
              <a:spLocks noChangeShapeType="1"/>
            </p:cNvSpPr>
            <p:nvPr/>
          </p:nvSpPr>
          <p:spPr bwMode="auto">
            <a:xfrm flipH="1">
              <a:off x="2699" y="1026"/>
              <a:ext cx="499" cy="1315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4176" y="2592"/>
              <a:ext cx="768" cy="1056"/>
              <a:chOff x="4176" y="2544"/>
              <a:chExt cx="768" cy="1056"/>
            </a:xfrm>
          </p:grpSpPr>
          <p:sp>
            <p:nvSpPr>
              <p:cNvPr id="40983" name="Line 23"/>
              <p:cNvSpPr>
                <a:spLocks noChangeShapeType="1"/>
              </p:cNvSpPr>
              <p:nvPr/>
            </p:nvSpPr>
            <p:spPr bwMode="auto">
              <a:xfrm>
                <a:off x="4944" y="2544"/>
                <a:ext cx="0" cy="1056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4" name="Line 24"/>
              <p:cNvSpPr>
                <a:spLocks noChangeShapeType="1"/>
              </p:cNvSpPr>
              <p:nvPr/>
            </p:nvSpPr>
            <p:spPr bwMode="auto">
              <a:xfrm flipH="1">
                <a:off x="4176" y="3600"/>
                <a:ext cx="768" cy="0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5" name="Line 25"/>
              <p:cNvSpPr>
                <a:spLocks noChangeShapeType="1"/>
              </p:cNvSpPr>
              <p:nvPr/>
            </p:nvSpPr>
            <p:spPr bwMode="auto">
              <a:xfrm flipV="1">
                <a:off x="4176" y="3216"/>
                <a:ext cx="0" cy="384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6" name="Line 26"/>
              <p:cNvSpPr>
                <a:spLocks noChangeShapeType="1"/>
              </p:cNvSpPr>
              <p:nvPr/>
            </p:nvSpPr>
            <p:spPr bwMode="auto">
              <a:xfrm>
                <a:off x="4176" y="3216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0987" name="Text Box 27"/>
          <p:cNvSpPr txBox="1">
            <a:spLocks noChangeArrowheads="1"/>
          </p:cNvSpPr>
          <p:nvPr/>
        </p:nvSpPr>
        <p:spPr bwMode="auto">
          <a:xfrm>
            <a:off x="0" y="60960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FF00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>
                <a:solidFill>
                  <a:srgbClr val="FF3300"/>
                </a:solidFill>
              </a:rPr>
              <a:t>MEM/WB.LMD </a:t>
            </a:r>
            <a:r>
              <a:rPr lang="en-US" altLang="zh-CN" sz="2400" b="1">
                <a:solidFill>
                  <a:srgbClr val="FF3300"/>
                </a:solidFill>
                <a:sym typeface="Symbol" pitchFamily="18" charset="2"/>
              </a:rPr>
              <a:t> DM input</a:t>
            </a:r>
            <a:endParaRPr kumimoji="0" lang="en-US" altLang="zh-CN" sz="2400">
              <a:solidFill>
                <a:srgbClr val="CC00FF"/>
              </a:solidFill>
              <a:sym typeface="Symbol" pitchFamily="18" charset="2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Forwarding </a:t>
            </a:r>
            <a:r>
              <a:rPr lang="zh-CN" altLang="en-US" b="1" dirty="0" smtClean="0"/>
              <a:t>不能解决的问题</a:t>
            </a:r>
            <a:endParaRPr lang="en-US" altLang="zh-CN" b="1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587680" cy="463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FF00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 smtClean="0"/>
              <a:t>插入</a:t>
            </a:r>
            <a:r>
              <a:rPr lang="en-US" altLang="zh-CN" b="1" dirty="0" smtClean="0"/>
              <a:t>stall</a:t>
            </a:r>
            <a:r>
              <a:rPr lang="en-US" altLang="zh-CN" b="1" dirty="0"/>
              <a:t>: </a:t>
            </a:r>
            <a:br>
              <a:rPr lang="en-US" altLang="zh-CN" b="1" dirty="0"/>
            </a:br>
            <a:r>
              <a:rPr lang="en-US" altLang="zh-CN" b="1" dirty="0">
                <a:solidFill>
                  <a:schemeClr val="accent2"/>
                </a:solidFill>
              </a:rPr>
              <a:t>Load stall</a:t>
            </a:r>
            <a:endParaRPr lang="en-US" altLang="zh-CN" b="1" dirty="0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1395413" y="1524000"/>
            <a:ext cx="2201862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1800" i="1"/>
              <a:t>Time (clock cycles)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04800" y="2133600"/>
            <a:ext cx="363538" cy="310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pPr algn="ctr"/>
            <a:r>
              <a:rPr lang="en-US" altLang="zh-CN" sz="1800" i="1"/>
              <a:t>I</a:t>
            </a:r>
          </a:p>
          <a:p>
            <a:pPr algn="ctr"/>
            <a:r>
              <a:rPr lang="en-US" altLang="zh-CN" sz="1800" i="1"/>
              <a:t>n</a:t>
            </a:r>
          </a:p>
          <a:p>
            <a:pPr algn="ctr"/>
            <a:r>
              <a:rPr lang="en-US" altLang="zh-CN" sz="1800" i="1"/>
              <a:t>s</a:t>
            </a:r>
          </a:p>
          <a:p>
            <a:pPr algn="ctr"/>
            <a:r>
              <a:rPr lang="en-US" altLang="zh-CN" sz="1800" i="1"/>
              <a:t>t</a:t>
            </a:r>
          </a:p>
          <a:p>
            <a:pPr algn="ctr"/>
            <a:r>
              <a:rPr lang="en-US" altLang="zh-CN" sz="1800" i="1"/>
              <a:t>r.</a:t>
            </a:r>
          </a:p>
          <a:p>
            <a:pPr algn="ctr"/>
            <a:endParaRPr lang="en-US" altLang="zh-CN" sz="1800" i="1"/>
          </a:p>
          <a:p>
            <a:pPr algn="ctr"/>
            <a:r>
              <a:rPr lang="en-US" altLang="zh-CN" sz="1800" i="1"/>
              <a:t>O</a:t>
            </a:r>
          </a:p>
          <a:p>
            <a:pPr algn="ctr"/>
            <a:r>
              <a:rPr lang="en-US" altLang="zh-CN" sz="1800" i="1"/>
              <a:t>r</a:t>
            </a:r>
          </a:p>
          <a:p>
            <a:pPr algn="ctr"/>
            <a:r>
              <a:rPr lang="en-US" altLang="zh-CN" sz="1800" i="1"/>
              <a:t>d</a:t>
            </a:r>
          </a:p>
          <a:p>
            <a:pPr algn="ctr"/>
            <a:r>
              <a:rPr lang="en-US" altLang="zh-CN" sz="1800" i="1"/>
              <a:t>e</a:t>
            </a:r>
          </a:p>
          <a:p>
            <a:pPr algn="ctr"/>
            <a:r>
              <a:rPr lang="en-US" altLang="zh-CN" sz="1800" i="1"/>
              <a:t>r</a:t>
            </a:r>
          </a:p>
        </p:txBody>
      </p:sp>
      <p:sp>
        <p:nvSpPr>
          <p:cNvPr id="43013" name="Line 5"/>
          <p:cNvSpPr>
            <a:spLocks noChangeShapeType="1"/>
          </p:cNvSpPr>
          <p:nvPr/>
        </p:nvSpPr>
        <p:spPr bwMode="auto">
          <a:xfrm>
            <a:off x="838200" y="1981200"/>
            <a:ext cx="0" cy="365760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>
            <a:off x="1368425" y="1898650"/>
            <a:ext cx="7061200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914400" y="2362200"/>
            <a:ext cx="1704975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2400" b="1">
                <a:solidFill>
                  <a:srgbClr val="FF3300"/>
                </a:solidFill>
                <a:latin typeface="Arial" charset="0"/>
              </a:rPr>
              <a:t>lw r1, </a:t>
            </a:r>
            <a:r>
              <a:rPr lang="en-US" altLang="zh-CN" sz="2400" b="1">
                <a:latin typeface="Arial" charset="0"/>
              </a:rPr>
              <a:t>0(r2)</a:t>
            </a:r>
            <a:endParaRPr lang="en-US" altLang="zh-CN" sz="2400" b="1">
              <a:solidFill>
                <a:srgbClr val="FF3300"/>
              </a:solidFill>
              <a:latin typeface="Arial" charset="0"/>
            </a:endParaRPr>
          </a:p>
          <a:p>
            <a:pPr latinLnBrk="1"/>
            <a:endParaRPr lang="en-US" altLang="zh-CN" sz="2400" b="1">
              <a:latin typeface="Arial" charset="0"/>
            </a:endParaRPr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990600" y="3352800"/>
            <a:ext cx="1841500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zh-CN" sz="2400" b="1">
                <a:latin typeface="Arial" charset="0"/>
              </a:rPr>
              <a:t>sub r4,</a:t>
            </a:r>
            <a:r>
              <a:rPr lang="en-US" altLang="zh-CN" sz="2400" b="1">
                <a:solidFill>
                  <a:srgbClr val="FF3300"/>
                </a:solidFill>
                <a:latin typeface="Arial" charset="0"/>
              </a:rPr>
              <a:t>r1</a:t>
            </a:r>
            <a:r>
              <a:rPr lang="en-US" altLang="zh-CN" sz="2400" b="1">
                <a:latin typeface="Arial" charset="0"/>
              </a:rPr>
              <a:t>,r6</a:t>
            </a:r>
          </a:p>
          <a:p>
            <a:pPr latinLnBrk="1"/>
            <a:endParaRPr lang="en-US" altLang="zh-CN" sz="2400" b="1">
              <a:latin typeface="Arial" charset="0"/>
            </a:endParaRPr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990600" y="4267200"/>
            <a:ext cx="1974011" cy="459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altLang="zh-CN" sz="2400" b="1">
                <a:latin typeface="Arial" charset="0"/>
              </a:rPr>
              <a:t>and r6,</a:t>
            </a:r>
            <a:r>
              <a:rPr lang="en-US" altLang="zh-CN" sz="2400" b="1">
                <a:solidFill>
                  <a:srgbClr val="339966"/>
                </a:solidFill>
                <a:latin typeface="Arial" charset="0"/>
              </a:rPr>
              <a:t>r1</a:t>
            </a:r>
            <a:r>
              <a:rPr lang="en-US" altLang="zh-CN" sz="2400" b="1">
                <a:latin typeface="Arial" charset="0"/>
              </a:rPr>
              <a:t>,r7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670175" y="2249488"/>
            <a:ext cx="6456363" cy="3392487"/>
            <a:chOff x="1742" y="1417"/>
            <a:chExt cx="3841" cy="2137"/>
          </a:xfrm>
        </p:grpSpPr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1742" y="1417"/>
              <a:ext cx="2300" cy="441"/>
              <a:chOff x="1962" y="1200"/>
              <a:chExt cx="1910" cy="441"/>
            </a:xfrm>
          </p:grpSpPr>
          <p:grpSp>
            <p:nvGrpSpPr>
              <p:cNvPr id="4" name="Group 12"/>
              <p:cNvGrpSpPr>
                <a:grpSpLocks noChangeAspect="1"/>
              </p:cNvGrpSpPr>
              <p:nvPr/>
            </p:nvGrpSpPr>
            <p:grpSpPr bwMode="auto">
              <a:xfrm>
                <a:off x="2429" y="1304"/>
                <a:ext cx="221" cy="233"/>
                <a:chOff x="1374" y="528"/>
                <a:chExt cx="480" cy="432"/>
              </a:xfrm>
            </p:grpSpPr>
            <p:grpSp>
              <p:nvGrpSpPr>
                <p:cNvPr id="5" name="Group 13"/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43022" name="Rectangle 1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23" name="Rectangle 15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sz="1000" b="1"/>
                  </a:p>
                </p:txBody>
              </p:sp>
            </p:grpSp>
            <p:sp>
              <p:nvSpPr>
                <p:cNvPr id="43024" name="Text Box 16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02" y="574"/>
                  <a:ext cx="432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Reg</a:t>
                  </a:r>
                </a:p>
              </p:txBody>
            </p:sp>
          </p:grpSp>
          <p:sp>
            <p:nvSpPr>
              <p:cNvPr id="43025" name="Line 17"/>
              <p:cNvSpPr>
                <a:spLocks noChangeAspect="1" noChangeShapeType="1"/>
              </p:cNvSpPr>
              <p:nvPr/>
            </p:nvSpPr>
            <p:spPr bwMode="auto">
              <a:xfrm>
                <a:off x="2651" y="1351"/>
                <a:ext cx="2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26" name="Line 18"/>
              <p:cNvSpPr>
                <a:spLocks noChangeAspect="1" noChangeShapeType="1"/>
              </p:cNvSpPr>
              <p:nvPr/>
            </p:nvSpPr>
            <p:spPr bwMode="auto">
              <a:xfrm>
                <a:off x="2651" y="1490"/>
                <a:ext cx="2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6" name="Group 19"/>
              <p:cNvGrpSpPr>
                <a:grpSpLocks noChangeAspect="1"/>
              </p:cNvGrpSpPr>
              <p:nvPr/>
            </p:nvGrpSpPr>
            <p:grpSpPr bwMode="auto">
              <a:xfrm>
                <a:off x="2851" y="1235"/>
                <a:ext cx="199" cy="371"/>
                <a:chOff x="2991" y="411"/>
                <a:chExt cx="359" cy="768"/>
              </a:xfrm>
            </p:grpSpPr>
            <p:sp>
              <p:nvSpPr>
                <p:cNvPr id="43028" name="AutoShape 20"/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2798" y="626"/>
                  <a:ext cx="768" cy="337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/>
                  <a:endParaRPr lang="zh-CN" altLang="zh-CN" sz="1000" b="1"/>
                </a:p>
              </p:txBody>
            </p:sp>
            <p:sp>
              <p:nvSpPr>
                <p:cNvPr id="43029" name="AutoShape 21"/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2957" y="705"/>
                  <a:ext cx="248" cy="18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30" name="Freeform 22"/>
                <p:cNvSpPr>
                  <a:spLocks noChangeAspect="1"/>
                </p:cNvSpPr>
                <p:nvPr/>
              </p:nvSpPr>
              <p:spPr bwMode="auto">
                <a:xfrm rot="5400000">
                  <a:off x="2974" y="725"/>
                  <a:ext cx="218" cy="139"/>
                </a:xfrm>
                <a:custGeom>
                  <a:avLst/>
                  <a:gdLst>
                    <a:gd name="T0" fmla="*/ 0 w 384"/>
                    <a:gd name="T1" fmla="*/ 288 h 288"/>
                    <a:gd name="T2" fmla="*/ 192 w 384"/>
                    <a:gd name="T3" fmla="*/ 0 h 288"/>
                    <a:gd name="T4" fmla="*/ 384 w 384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31" name="Text Box 23"/>
                <p:cNvSpPr txBox="1">
                  <a:spLocks noChangeAspect="1" noChangeArrowheads="1"/>
                </p:cNvSpPr>
                <p:nvPr/>
              </p:nvSpPr>
              <p:spPr bwMode="auto">
                <a:xfrm rot="-5400000">
                  <a:off x="2941" y="637"/>
                  <a:ext cx="575" cy="2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ALU</a:t>
                  </a:r>
                </a:p>
              </p:txBody>
            </p:sp>
          </p:grpSp>
          <p:sp>
            <p:nvSpPr>
              <p:cNvPr id="43032" name="Line 24"/>
              <p:cNvSpPr>
                <a:spLocks noChangeAspect="1" noChangeShapeType="1"/>
              </p:cNvSpPr>
              <p:nvPr/>
            </p:nvSpPr>
            <p:spPr bwMode="auto">
              <a:xfrm>
                <a:off x="3052" y="1421"/>
                <a:ext cx="2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3" name="Line 25"/>
              <p:cNvSpPr>
                <a:spLocks noChangeAspect="1" noChangeShapeType="1"/>
              </p:cNvSpPr>
              <p:nvPr/>
            </p:nvSpPr>
            <p:spPr bwMode="auto">
              <a:xfrm>
                <a:off x="3475" y="1421"/>
                <a:ext cx="24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" name="Group 26"/>
              <p:cNvGrpSpPr>
                <a:grpSpLocks noChangeAspect="1"/>
              </p:cNvGrpSpPr>
              <p:nvPr/>
            </p:nvGrpSpPr>
            <p:grpSpPr bwMode="auto">
              <a:xfrm>
                <a:off x="3208" y="1305"/>
                <a:ext cx="276" cy="232"/>
                <a:chOff x="3851" y="576"/>
                <a:chExt cx="596" cy="480"/>
              </a:xfrm>
            </p:grpSpPr>
            <p:sp>
              <p:nvSpPr>
                <p:cNvPr id="43035" name="Rectangle 27"/>
                <p:cNvSpPr>
                  <a:spLocks noChangeAspect="1" noChangeArrowheads="1"/>
                </p:cNvSpPr>
                <p:nvPr/>
              </p:nvSpPr>
              <p:spPr bwMode="auto">
                <a:xfrm>
                  <a:off x="3915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/>
                  <a:endParaRPr lang="zh-CN" altLang="zh-CN" sz="1000" b="1"/>
                </a:p>
              </p:txBody>
            </p:sp>
            <p:sp>
              <p:nvSpPr>
                <p:cNvPr id="43036" name="Text Box 28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851" y="628"/>
                  <a:ext cx="596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DMem</a:t>
                  </a:r>
                </a:p>
              </p:txBody>
            </p:sp>
          </p:grpSp>
          <p:sp>
            <p:nvSpPr>
              <p:cNvPr id="43037" name="Freeform 29"/>
              <p:cNvSpPr>
                <a:spLocks noChangeAspect="1"/>
              </p:cNvSpPr>
              <p:nvPr/>
            </p:nvSpPr>
            <p:spPr bwMode="auto">
              <a:xfrm>
                <a:off x="3208" y="1421"/>
                <a:ext cx="332" cy="185"/>
              </a:xfrm>
              <a:custGeom>
                <a:avLst/>
                <a:gdLst>
                  <a:gd name="T0" fmla="*/ 0 w 816"/>
                  <a:gd name="T1" fmla="*/ 0 h 384"/>
                  <a:gd name="T2" fmla="*/ 0 w 816"/>
                  <a:gd name="T3" fmla="*/ 384 h 384"/>
                  <a:gd name="T4" fmla="*/ 720 w 816"/>
                  <a:gd name="T5" fmla="*/ 384 h 384"/>
                  <a:gd name="T6" fmla="*/ 720 w 816"/>
                  <a:gd name="T7" fmla="*/ 144 h 384"/>
                  <a:gd name="T8" fmla="*/ 816 w 816"/>
                  <a:gd name="T9" fmla="*/ 14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6" h="384">
                    <a:moveTo>
                      <a:pt x="0" y="0"/>
                    </a:moveTo>
                    <a:lnTo>
                      <a:pt x="0" y="384"/>
                    </a:lnTo>
                    <a:lnTo>
                      <a:pt x="720" y="384"/>
                    </a:lnTo>
                    <a:lnTo>
                      <a:pt x="720" y="144"/>
                    </a:lnTo>
                    <a:lnTo>
                      <a:pt x="816" y="144"/>
                    </a:lnTo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8" name="Line 30"/>
              <p:cNvSpPr>
                <a:spLocks noChangeAspect="1" noChangeShapeType="1"/>
              </p:cNvSpPr>
              <p:nvPr/>
            </p:nvSpPr>
            <p:spPr bwMode="auto">
              <a:xfrm>
                <a:off x="2199" y="1491"/>
                <a:ext cx="2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39" name="Line 31"/>
              <p:cNvSpPr>
                <a:spLocks noChangeAspect="1" noChangeShapeType="1"/>
              </p:cNvSpPr>
              <p:nvPr/>
            </p:nvSpPr>
            <p:spPr bwMode="auto">
              <a:xfrm>
                <a:off x="2169" y="1351"/>
                <a:ext cx="259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8" name="Group 32"/>
              <p:cNvGrpSpPr>
                <a:grpSpLocks noChangeAspect="1"/>
              </p:cNvGrpSpPr>
              <p:nvPr/>
            </p:nvGrpSpPr>
            <p:grpSpPr bwMode="auto">
              <a:xfrm>
                <a:off x="1962" y="1305"/>
                <a:ext cx="290" cy="232"/>
                <a:chOff x="1123" y="576"/>
                <a:chExt cx="626" cy="480"/>
              </a:xfrm>
            </p:grpSpPr>
            <p:sp>
              <p:nvSpPr>
                <p:cNvPr id="43041" name="Rectangle 33"/>
                <p:cNvSpPr>
                  <a:spLocks noChangeAspect="1" noChangeArrowheads="1"/>
                </p:cNvSpPr>
                <p:nvPr/>
              </p:nvSpPr>
              <p:spPr bwMode="auto">
                <a:xfrm>
                  <a:off x="1197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/>
                  <a:endParaRPr lang="zh-CN" altLang="zh-CN" sz="1000" b="1"/>
                </a:p>
              </p:txBody>
            </p:sp>
            <p:sp>
              <p:nvSpPr>
                <p:cNvPr id="43042" name="Text Box 34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123" y="628"/>
                  <a:ext cx="626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Ifetch</a:t>
                  </a:r>
                </a:p>
              </p:txBody>
            </p:sp>
          </p:grpSp>
          <p:grpSp>
            <p:nvGrpSpPr>
              <p:cNvPr id="9" name="Group 35"/>
              <p:cNvGrpSpPr>
                <a:grpSpLocks/>
              </p:cNvGrpSpPr>
              <p:nvPr/>
            </p:nvGrpSpPr>
            <p:grpSpPr bwMode="auto">
              <a:xfrm>
                <a:off x="2288" y="1200"/>
                <a:ext cx="1297" cy="441"/>
                <a:chOff x="2112" y="528"/>
                <a:chExt cx="2088" cy="681"/>
              </a:xfrm>
            </p:grpSpPr>
            <p:sp>
              <p:nvSpPr>
                <p:cNvPr id="43044" name="Rectangle 36"/>
                <p:cNvSpPr>
                  <a:spLocks noChangeAspect="1" noChangeArrowheads="1"/>
                </p:cNvSpPr>
                <p:nvPr/>
              </p:nvSpPr>
              <p:spPr bwMode="auto">
                <a:xfrm>
                  <a:off x="2784" y="528"/>
                  <a:ext cx="72" cy="68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45" name="Rectangle 37"/>
                <p:cNvSpPr>
                  <a:spLocks noChangeAspect="1" noChangeArrowheads="1"/>
                </p:cNvSpPr>
                <p:nvPr/>
              </p:nvSpPr>
              <p:spPr bwMode="auto">
                <a:xfrm>
                  <a:off x="4128" y="528"/>
                  <a:ext cx="72" cy="68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46" name="Rectangle 38"/>
                <p:cNvSpPr>
                  <a:spLocks noChangeAspect="1" noChangeArrowheads="1"/>
                </p:cNvSpPr>
                <p:nvPr/>
              </p:nvSpPr>
              <p:spPr bwMode="auto">
                <a:xfrm>
                  <a:off x="2112" y="528"/>
                  <a:ext cx="72" cy="68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47" name="Rectangle 39"/>
                <p:cNvSpPr>
                  <a:spLocks noChangeAspect="1" noChangeArrowheads="1"/>
                </p:cNvSpPr>
                <p:nvPr/>
              </p:nvSpPr>
              <p:spPr bwMode="auto">
                <a:xfrm>
                  <a:off x="3456" y="532"/>
                  <a:ext cx="71" cy="672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40"/>
              <p:cNvGrpSpPr>
                <a:grpSpLocks noChangeAspect="1"/>
              </p:cNvGrpSpPr>
              <p:nvPr/>
            </p:nvGrpSpPr>
            <p:grpSpPr bwMode="auto">
              <a:xfrm flipH="1">
                <a:off x="3649" y="1296"/>
                <a:ext cx="223" cy="233"/>
                <a:chOff x="1374" y="528"/>
                <a:chExt cx="480" cy="432"/>
              </a:xfrm>
            </p:grpSpPr>
            <p:grpSp>
              <p:nvGrpSpPr>
                <p:cNvPr id="11" name="Group 41"/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43050" name="Rectangle 4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51" name="Rectangle 4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sz="1000" b="1"/>
                  </a:p>
                </p:txBody>
              </p:sp>
            </p:grpSp>
            <p:sp>
              <p:nvSpPr>
                <p:cNvPr id="43052" name="Text Box 44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408" y="574"/>
                  <a:ext cx="431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Reg</a:t>
                  </a:r>
                </a:p>
              </p:txBody>
            </p:sp>
          </p:grpSp>
        </p:grpSp>
        <p:grpSp>
          <p:nvGrpSpPr>
            <p:cNvPr id="12" name="Group 45"/>
            <p:cNvGrpSpPr>
              <a:grpSpLocks/>
            </p:cNvGrpSpPr>
            <p:nvPr/>
          </p:nvGrpSpPr>
          <p:grpSpPr bwMode="auto">
            <a:xfrm>
              <a:off x="2258" y="2005"/>
              <a:ext cx="2797" cy="442"/>
              <a:chOff x="2404" y="2157"/>
              <a:chExt cx="2797" cy="442"/>
            </a:xfrm>
          </p:grpSpPr>
          <p:grpSp>
            <p:nvGrpSpPr>
              <p:cNvPr id="13" name="Group 46"/>
              <p:cNvGrpSpPr>
                <a:grpSpLocks noChangeAspect="1"/>
              </p:cNvGrpSpPr>
              <p:nvPr/>
            </p:nvGrpSpPr>
            <p:grpSpPr bwMode="auto">
              <a:xfrm>
                <a:off x="2967" y="2259"/>
                <a:ext cx="266" cy="233"/>
                <a:chOff x="1374" y="528"/>
                <a:chExt cx="480" cy="432"/>
              </a:xfrm>
            </p:grpSpPr>
            <p:grpSp>
              <p:nvGrpSpPr>
                <p:cNvPr id="14" name="Group 47"/>
                <p:cNvGrpSpPr>
                  <a:grpSpLocks noChangeAspect="1"/>
                </p:cNvGrpSpPr>
                <p:nvPr/>
              </p:nvGrpSpPr>
              <p:grpSpPr bwMode="auto">
                <a:xfrm>
                  <a:off x="1374" y="528"/>
                  <a:ext cx="480" cy="432"/>
                  <a:chOff x="1392" y="528"/>
                  <a:chExt cx="480" cy="432"/>
                </a:xfrm>
              </p:grpSpPr>
              <p:sp>
                <p:nvSpPr>
                  <p:cNvPr id="43056" name="Rectangle 48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57" name="Rectangle 49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sz="1000" b="1"/>
                  </a:p>
                </p:txBody>
              </p:sp>
            </p:grpSp>
            <p:sp>
              <p:nvSpPr>
                <p:cNvPr id="43058" name="Text Box 50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399" y="574"/>
                  <a:ext cx="433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Reg</a:t>
                  </a:r>
                </a:p>
              </p:txBody>
            </p:sp>
          </p:grpSp>
          <p:sp>
            <p:nvSpPr>
              <p:cNvPr id="43059" name="Line 51"/>
              <p:cNvSpPr>
                <a:spLocks noChangeAspect="1" noChangeShapeType="1"/>
              </p:cNvSpPr>
              <p:nvPr/>
            </p:nvSpPr>
            <p:spPr bwMode="auto">
              <a:xfrm>
                <a:off x="3234" y="2306"/>
                <a:ext cx="79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0" name="Line 52"/>
              <p:cNvSpPr>
                <a:spLocks noChangeAspect="1" noChangeShapeType="1"/>
              </p:cNvSpPr>
              <p:nvPr/>
            </p:nvSpPr>
            <p:spPr bwMode="auto">
              <a:xfrm>
                <a:off x="3216" y="2448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1" name="Line 53"/>
              <p:cNvSpPr>
                <a:spLocks noChangeAspect="1" noChangeShapeType="1"/>
              </p:cNvSpPr>
              <p:nvPr/>
            </p:nvSpPr>
            <p:spPr bwMode="auto">
              <a:xfrm>
                <a:off x="2690" y="2446"/>
                <a:ext cx="2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2" name="Line 54"/>
              <p:cNvSpPr>
                <a:spLocks noChangeAspect="1" noChangeShapeType="1"/>
              </p:cNvSpPr>
              <p:nvPr/>
            </p:nvSpPr>
            <p:spPr bwMode="auto">
              <a:xfrm>
                <a:off x="2654" y="2306"/>
                <a:ext cx="3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" name="Group 55"/>
              <p:cNvGrpSpPr>
                <a:grpSpLocks noChangeAspect="1"/>
              </p:cNvGrpSpPr>
              <p:nvPr/>
            </p:nvGrpSpPr>
            <p:grpSpPr bwMode="auto">
              <a:xfrm>
                <a:off x="2404" y="2260"/>
                <a:ext cx="350" cy="232"/>
                <a:chOff x="1122" y="576"/>
                <a:chExt cx="627" cy="480"/>
              </a:xfrm>
            </p:grpSpPr>
            <p:sp>
              <p:nvSpPr>
                <p:cNvPr id="43064" name="Rectangle 56"/>
                <p:cNvSpPr>
                  <a:spLocks noChangeAspect="1" noChangeArrowheads="1"/>
                </p:cNvSpPr>
                <p:nvPr/>
              </p:nvSpPr>
              <p:spPr bwMode="auto">
                <a:xfrm>
                  <a:off x="1197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/>
                  <a:endParaRPr lang="zh-CN" altLang="zh-CN" sz="1000" b="1"/>
                </a:p>
              </p:txBody>
            </p:sp>
            <p:sp>
              <p:nvSpPr>
                <p:cNvPr id="43065" name="Text Box 57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122" y="628"/>
                  <a:ext cx="627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Ifetch</a:t>
                  </a:r>
                </a:p>
              </p:txBody>
            </p:sp>
          </p:grpSp>
          <p:sp>
            <p:nvSpPr>
              <p:cNvPr id="43066" name="Rectangle 58"/>
              <p:cNvSpPr>
                <a:spLocks noChangeAspect="1" noChangeArrowheads="1"/>
              </p:cNvSpPr>
              <p:nvPr/>
            </p:nvSpPr>
            <p:spPr bwMode="auto">
              <a:xfrm>
                <a:off x="3300" y="2157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67" name="Rectangle 59"/>
              <p:cNvSpPr>
                <a:spLocks noChangeAspect="1" noChangeArrowheads="1"/>
              </p:cNvSpPr>
              <p:nvPr/>
            </p:nvSpPr>
            <p:spPr bwMode="auto">
              <a:xfrm>
                <a:off x="2797" y="2157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6" name="Group 60"/>
              <p:cNvGrpSpPr>
                <a:grpSpLocks/>
              </p:cNvGrpSpPr>
              <p:nvPr/>
            </p:nvGrpSpPr>
            <p:grpSpPr bwMode="auto">
              <a:xfrm>
                <a:off x="3972" y="2157"/>
                <a:ext cx="1229" cy="441"/>
                <a:chOff x="3475" y="2155"/>
                <a:chExt cx="1229" cy="441"/>
              </a:xfrm>
            </p:grpSpPr>
            <p:sp>
              <p:nvSpPr>
                <p:cNvPr id="43069" name="AutoShape 61"/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3417" y="2263"/>
                  <a:ext cx="371" cy="225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/>
                  <a:endParaRPr lang="zh-CN" altLang="zh-CN" sz="1000" b="1"/>
                </a:p>
              </p:txBody>
            </p:sp>
            <p:sp>
              <p:nvSpPr>
                <p:cNvPr id="43070" name="AutoShape 62"/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3475" y="2316"/>
                  <a:ext cx="119" cy="1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1" name="Freeform 63"/>
                <p:cNvSpPr>
                  <a:spLocks noChangeAspect="1"/>
                </p:cNvSpPr>
                <p:nvPr/>
              </p:nvSpPr>
              <p:spPr bwMode="auto">
                <a:xfrm rot="5400000">
                  <a:off x="3484" y="2329"/>
                  <a:ext cx="105" cy="93"/>
                </a:xfrm>
                <a:custGeom>
                  <a:avLst/>
                  <a:gdLst>
                    <a:gd name="T0" fmla="*/ 0 w 384"/>
                    <a:gd name="T1" fmla="*/ 288 h 288"/>
                    <a:gd name="T2" fmla="*/ 192 w 384"/>
                    <a:gd name="T3" fmla="*/ 0 h 288"/>
                    <a:gd name="T4" fmla="*/ 384 w 384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2" name="Text Box 64"/>
                <p:cNvSpPr txBox="1">
                  <a:spLocks noChangeAspect="1" noChangeArrowheads="1"/>
                </p:cNvSpPr>
                <p:nvPr/>
              </p:nvSpPr>
              <p:spPr bwMode="auto">
                <a:xfrm rot="-5400000">
                  <a:off x="3495" y="2278"/>
                  <a:ext cx="278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ALU</a:t>
                  </a:r>
                </a:p>
              </p:txBody>
            </p:sp>
            <p:sp>
              <p:nvSpPr>
                <p:cNvPr id="43073" name="Line 65"/>
                <p:cNvSpPr>
                  <a:spLocks noChangeAspect="1" noChangeShapeType="1"/>
                </p:cNvSpPr>
                <p:nvPr/>
              </p:nvSpPr>
              <p:spPr bwMode="auto">
                <a:xfrm>
                  <a:off x="3717" y="2376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4" name="Line 66"/>
                <p:cNvSpPr>
                  <a:spLocks noChangeAspect="1" noChangeShapeType="1"/>
                </p:cNvSpPr>
                <p:nvPr/>
              </p:nvSpPr>
              <p:spPr bwMode="auto">
                <a:xfrm>
                  <a:off x="4226" y="2376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5" name="Rectangle 67"/>
                <p:cNvSpPr>
                  <a:spLocks noChangeAspect="1" noChangeArrowheads="1"/>
                </p:cNvSpPr>
                <p:nvPr/>
              </p:nvSpPr>
              <p:spPr bwMode="auto">
                <a:xfrm>
                  <a:off x="3940" y="2260"/>
                  <a:ext cx="268" cy="23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/>
                  <a:endParaRPr lang="zh-CN" altLang="zh-CN" sz="1000" b="1"/>
                </a:p>
              </p:txBody>
            </p:sp>
            <p:sp>
              <p:nvSpPr>
                <p:cNvPr id="43076" name="Text Box 68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905" y="2285"/>
                  <a:ext cx="332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DMem</a:t>
                  </a:r>
                </a:p>
              </p:txBody>
            </p:sp>
            <p:sp>
              <p:nvSpPr>
                <p:cNvPr id="43077" name="Freeform 69"/>
                <p:cNvSpPr>
                  <a:spLocks noChangeAspect="1"/>
                </p:cNvSpPr>
                <p:nvPr/>
              </p:nvSpPr>
              <p:spPr bwMode="auto">
                <a:xfrm>
                  <a:off x="3905" y="2376"/>
                  <a:ext cx="399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384 h 384"/>
                    <a:gd name="T4" fmla="*/ 720 w 816"/>
                    <a:gd name="T5" fmla="*/ 384 h 384"/>
                    <a:gd name="T6" fmla="*/ 720 w 816"/>
                    <a:gd name="T7" fmla="*/ 144 h 384"/>
                    <a:gd name="T8" fmla="*/ 816 w 816"/>
                    <a:gd name="T9" fmla="*/ 144 h 3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8" name="Rectangle 70"/>
                <p:cNvSpPr>
                  <a:spLocks noChangeAspect="1" noChangeArrowheads="1"/>
                </p:cNvSpPr>
                <p:nvPr/>
              </p:nvSpPr>
              <p:spPr bwMode="auto">
                <a:xfrm>
                  <a:off x="4305" y="2155"/>
                  <a:ext cx="54" cy="44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79" name="Rectangle 71"/>
                <p:cNvSpPr>
                  <a:spLocks noChangeAspect="1" noChangeArrowheads="1"/>
                </p:cNvSpPr>
                <p:nvPr/>
              </p:nvSpPr>
              <p:spPr bwMode="auto">
                <a:xfrm>
                  <a:off x="3802" y="2158"/>
                  <a:ext cx="54" cy="435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7" name="Group 72"/>
                <p:cNvGrpSpPr>
                  <a:grpSpLocks noChangeAspect="1"/>
                </p:cNvGrpSpPr>
                <p:nvPr/>
              </p:nvGrpSpPr>
              <p:grpSpPr bwMode="auto">
                <a:xfrm flipH="1">
                  <a:off x="4436" y="2251"/>
                  <a:ext cx="268" cy="233"/>
                  <a:chOff x="1392" y="528"/>
                  <a:chExt cx="480" cy="432"/>
                </a:xfrm>
              </p:grpSpPr>
              <p:sp>
                <p:nvSpPr>
                  <p:cNvPr id="43081" name="Rectangle 73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082" name="Rectangle 74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sz="1000" b="1"/>
                  </a:p>
                </p:txBody>
              </p:sp>
            </p:grpSp>
            <p:sp>
              <p:nvSpPr>
                <p:cNvPr id="43083" name="Text Box 75"/>
                <p:cNvSpPr txBox="1">
                  <a:spLocks noChangeAspect="1" noChangeArrowheads="1"/>
                </p:cNvSpPr>
                <p:nvPr/>
              </p:nvSpPr>
              <p:spPr bwMode="auto">
                <a:xfrm flipH="1">
                  <a:off x="4445" y="2276"/>
                  <a:ext cx="24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Reg</a:t>
                  </a:r>
                </a:p>
              </p:txBody>
            </p:sp>
          </p:grpSp>
          <p:sp>
            <p:nvSpPr>
              <p:cNvPr id="43084" name="Rectangle 76"/>
              <p:cNvSpPr>
                <a:spLocks noChangeAspect="1" noChangeArrowheads="1"/>
              </p:cNvSpPr>
              <p:nvPr/>
            </p:nvSpPr>
            <p:spPr bwMode="auto">
              <a:xfrm>
                <a:off x="3792" y="2158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5" name="AutoShape 77"/>
              <p:cNvSpPr>
                <a:spLocks noChangeArrowheads="1"/>
              </p:cNvSpPr>
              <p:nvPr/>
            </p:nvSpPr>
            <p:spPr bwMode="auto">
              <a:xfrm>
                <a:off x="3380" y="2171"/>
                <a:ext cx="364" cy="422"/>
              </a:xfrm>
              <a:prstGeom prst="cloudCallout">
                <a:avLst>
                  <a:gd name="adj1" fmla="val 39287"/>
                  <a:gd name="adj2" fmla="val 38153"/>
                </a:avLst>
              </a:prstGeom>
              <a:solidFill>
                <a:srgbClr val="0FEFEA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500" b="1"/>
                  <a:t>Bubble</a:t>
                </a:r>
                <a:endParaRPr lang="en-US" altLang="zh-CN" sz="1600" b="1"/>
              </a:p>
            </p:txBody>
          </p:sp>
        </p:grpSp>
        <p:grpSp>
          <p:nvGrpSpPr>
            <p:cNvPr id="18" name="Group 78"/>
            <p:cNvGrpSpPr>
              <a:grpSpLocks/>
            </p:cNvGrpSpPr>
            <p:nvPr/>
          </p:nvGrpSpPr>
          <p:grpSpPr bwMode="auto">
            <a:xfrm>
              <a:off x="2759" y="2567"/>
              <a:ext cx="2796" cy="449"/>
              <a:chOff x="2905" y="2719"/>
              <a:chExt cx="2796" cy="449"/>
            </a:xfrm>
          </p:grpSpPr>
          <p:sp>
            <p:nvSpPr>
              <p:cNvPr id="43087" name="Line 79"/>
              <p:cNvSpPr>
                <a:spLocks noChangeAspect="1" noChangeShapeType="1"/>
              </p:cNvSpPr>
              <p:nvPr/>
            </p:nvSpPr>
            <p:spPr bwMode="auto">
              <a:xfrm>
                <a:off x="3734" y="2875"/>
                <a:ext cx="79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8" name="Line 80"/>
              <p:cNvSpPr>
                <a:spLocks noChangeAspect="1" noChangeShapeType="1"/>
              </p:cNvSpPr>
              <p:nvPr/>
            </p:nvSpPr>
            <p:spPr bwMode="auto">
              <a:xfrm>
                <a:off x="3716" y="3017"/>
                <a:ext cx="76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89" name="Line 81"/>
              <p:cNvSpPr>
                <a:spLocks noChangeAspect="1" noChangeShapeType="1"/>
              </p:cNvSpPr>
              <p:nvPr/>
            </p:nvSpPr>
            <p:spPr bwMode="auto">
              <a:xfrm>
                <a:off x="3190" y="3015"/>
                <a:ext cx="27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0" name="Line 82"/>
              <p:cNvSpPr>
                <a:spLocks noChangeAspect="1" noChangeShapeType="1"/>
              </p:cNvSpPr>
              <p:nvPr/>
            </p:nvSpPr>
            <p:spPr bwMode="auto">
              <a:xfrm>
                <a:off x="3154" y="2875"/>
                <a:ext cx="3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9" name="Group 83"/>
              <p:cNvGrpSpPr>
                <a:grpSpLocks noChangeAspect="1"/>
              </p:cNvGrpSpPr>
              <p:nvPr/>
            </p:nvGrpSpPr>
            <p:grpSpPr bwMode="auto">
              <a:xfrm>
                <a:off x="2905" y="2829"/>
                <a:ext cx="350" cy="232"/>
                <a:chOff x="1123" y="576"/>
                <a:chExt cx="627" cy="480"/>
              </a:xfrm>
            </p:grpSpPr>
            <p:sp>
              <p:nvSpPr>
                <p:cNvPr id="43092" name="Rectangle 84"/>
                <p:cNvSpPr>
                  <a:spLocks noChangeAspect="1" noChangeArrowheads="1"/>
                </p:cNvSpPr>
                <p:nvPr/>
              </p:nvSpPr>
              <p:spPr bwMode="auto">
                <a:xfrm>
                  <a:off x="1197" y="576"/>
                  <a:ext cx="480" cy="480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/>
                  <a:endParaRPr lang="zh-CN" altLang="zh-CN" sz="1000" b="1"/>
                </a:p>
              </p:txBody>
            </p:sp>
            <p:sp>
              <p:nvSpPr>
                <p:cNvPr id="43093" name="Text Box 85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1123" y="628"/>
                  <a:ext cx="627" cy="31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Ifetch</a:t>
                  </a:r>
                </a:p>
              </p:txBody>
            </p:sp>
          </p:grpSp>
          <p:sp>
            <p:nvSpPr>
              <p:cNvPr id="43094" name="Rectangle 86"/>
              <p:cNvSpPr>
                <a:spLocks noChangeAspect="1" noChangeArrowheads="1"/>
              </p:cNvSpPr>
              <p:nvPr/>
            </p:nvSpPr>
            <p:spPr bwMode="auto">
              <a:xfrm>
                <a:off x="3800" y="2726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095" name="Rectangle 87"/>
              <p:cNvSpPr>
                <a:spLocks noChangeAspect="1" noChangeArrowheads="1"/>
              </p:cNvSpPr>
              <p:nvPr/>
            </p:nvSpPr>
            <p:spPr bwMode="auto">
              <a:xfrm>
                <a:off x="3297" y="2726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0" name="Group 88"/>
              <p:cNvGrpSpPr>
                <a:grpSpLocks/>
              </p:cNvGrpSpPr>
              <p:nvPr/>
            </p:nvGrpSpPr>
            <p:grpSpPr bwMode="auto">
              <a:xfrm>
                <a:off x="4472" y="2726"/>
                <a:ext cx="1229" cy="441"/>
                <a:chOff x="3475" y="2155"/>
                <a:chExt cx="1229" cy="441"/>
              </a:xfrm>
            </p:grpSpPr>
            <p:sp>
              <p:nvSpPr>
                <p:cNvPr id="43097" name="AutoShape 89"/>
                <p:cNvSpPr>
                  <a:spLocks noChangeAspect="1" noChangeArrowheads="1"/>
                </p:cNvSpPr>
                <p:nvPr/>
              </p:nvSpPr>
              <p:spPr bwMode="auto">
                <a:xfrm rot="-5400000">
                  <a:off x="3417" y="2263"/>
                  <a:ext cx="371" cy="225"/>
                </a:xfrm>
                <a:custGeom>
                  <a:avLst/>
                  <a:gdLst>
                    <a:gd name="G0" fmla="+- 5400 0 0"/>
                    <a:gd name="G1" fmla="+- 21600 0 5400"/>
                    <a:gd name="G2" fmla="*/ 5400 1 2"/>
                    <a:gd name="G3" fmla="+- 21600 0 G2"/>
                    <a:gd name="G4" fmla="+/ 5400 21600 2"/>
                    <a:gd name="G5" fmla="+/ G1 0 2"/>
                    <a:gd name="G6" fmla="*/ 21600 21600 5400"/>
                    <a:gd name="G7" fmla="*/ G6 1 2"/>
                    <a:gd name="G8" fmla="+- 21600 0 G7"/>
                    <a:gd name="G9" fmla="*/ 21600 1 2"/>
                    <a:gd name="G10" fmla="+- 5400 0 G9"/>
                    <a:gd name="G11" fmla="?: G10 G8 0"/>
                    <a:gd name="G12" fmla="?: G10 G7 21600"/>
                    <a:gd name="T0" fmla="*/ 18900 w 21600"/>
                    <a:gd name="T1" fmla="*/ 10800 h 21600"/>
                    <a:gd name="T2" fmla="*/ 10800 w 21600"/>
                    <a:gd name="T3" fmla="*/ 21600 h 21600"/>
                    <a:gd name="T4" fmla="*/ 2700 w 21600"/>
                    <a:gd name="T5" fmla="*/ 10800 h 21600"/>
                    <a:gd name="T6" fmla="*/ 10800 w 21600"/>
                    <a:gd name="T7" fmla="*/ 0 h 21600"/>
                    <a:gd name="T8" fmla="*/ 4500 w 21600"/>
                    <a:gd name="T9" fmla="*/ 4500 h 21600"/>
                    <a:gd name="T10" fmla="*/ 17100 w 21600"/>
                    <a:gd name="T11" fmla="*/ 171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pPr algn="ctr"/>
                  <a:endParaRPr lang="zh-CN" altLang="zh-CN" sz="1000" b="1"/>
                </a:p>
              </p:txBody>
            </p:sp>
            <p:sp>
              <p:nvSpPr>
                <p:cNvPr id="43098" name="AutoShape 90"/>
                <p:cNvSpPr>
                  <a:spLocks noChangeAspect="1" noChangeArrowheads="1"/>
                </p:cNvSpPr>
                <p:nvPr/>
              </p:nvSpPr>
              <p:spPr bwMode="auto">
                <a:xfrm rot="5400000">
                  <a:off x="3475" y="2316"/>
                  <a:ext cx="119" cy="120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99" name="Freeform 91"/>
                <p:cNvSpPr>
                  <a:spLocks noChangeAspect="1"/>
                </p:cNvSpPr>
                <p:nvPr/>
              </p:nvSpPr>
              <p:spPr bwMode="auto">
                <a:xfrm rot="5400000">
                  <a:off x="3484" y="2329"/>
                  <a:ext cx="105" cy="93"/>
                </a:xfrm>
                <a:custGeom>
                  <a:avLst/>
                  <a:gdLst>
                    <a:gd name="T0" fmla="*/ 0 w 384"/>
                    <a:gd name="T1" fmla="*/ 288 h 288"/>
                    <a:gd name="T2" fmla="*/ 192 w 384"/>
                    <a:gd name="T3" fmla="*/ 0 h 288"/>
                    <a:gd name="T4" fmla="*/ 384 w 384"/>
                    <a:gd name="T5" fmla="*/ 288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84" h="288">
                      <a:moveTo>
                        <a:pt x="0" y="288"/>
                      </a:moveTo>
                      <a:lnTo>
                        <a:pt x="192" y="0"/>
                      </a:lnTo>
                      <a:lnTo>
                        <a:pt x="384" y="288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0" name="Text Box 92"/>
                <p:cNvSpPr txBox="1">
                  <a:spLocks noChangeAspect="1" noChangeArrowheads="1"/>
                </p:cNvSpPr>
                <p:nvPr/>
              </p:nvSpPr>
              <p:spPr bwMode="auto">
                <a:xfrm rot="-5400000">
                  <a:off x="3494" y="2278"/>
                  <a:ext cx="278" cy="1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ALU</a:t>
                  </a:r>
                </a:p>
              </p:txBody>
            </p:sp>
            <p:sp>
              <p:nvSpPr>
                <p:cNvPr id="43101" name="Line 93"/>
                <p:cNvSpPr>
                  <a:spLocks noChangeAspect="1" noChangeShapeType="1"/>
                </p:cNvSpPr>
                <p:nvPr/>
              </p:nvSpPr>
              <p:spPr bwMode="auto">
                <a:xfrm>
                  <a:off x="3717" y="2376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2" name="Line 94"/>
                <p:cNvSpPr>
                  <a:spLocks noChangeAspect="1" noChangeShapeType="1"/>
                </p:cNvSpPr>
                <p:nvPr/>
              </p:nvSpPr>
              <p:spPr bwMode="auto">
                <a:xfrm>
                  <a:off x="4226" y="2376"/>
                  <a:ext cx="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3" name="Rectangle 95"/>
                <p:cNvSpPr>
                  <a:spLocks noChangeAspect="1" noChangeArrowheads="1"/>
                </p:cNvSpPr>
                <p:nvPr/>
              </p:nvSpPr>
              <p:spPr bwMode="auto">
                <a:xfrm>
                  <a:off x="3940" y="2260"/>
                  <a:ext cx="268" cy="232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r"/>
                  <a:endParaRPr lang="zh-CN" altLang="zh-CN" sz="1000" b="1"/>
                </a:p>
              </p:txBody>
            </p:sp>
            <p:sp>
              <p:nvSpPr>
                <p:cNvPr id="43104" name="Text Box 96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904" y="2285"/>
                  <a:ext cx="332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DMem</a:t>
                  </a:r>
                </a:p>
              </p:txBody>
            </p:sp>
            <p:sp>
              <p:nvSpPr>
                <p:cNvPr id="43105" name="Freeform 97"/>
                <p:cNvSpPr>
                  <a:spLocks noChangeAspect="1"/>
                </p:cNvSpPr>
                <p:nvPr/>
              </p:nvSpPr>
              <p:spPr bwMode="auto">
                <a:xfrm>
                  <a:off x="3905" y="2376"/>
                  <a:ext cx="399" cy="185"/>
                </a:xfrm>
                <a:custGeom>
                  <a:avLst/>
                  <a:gdLst>
                    <a:gd name="T0" fmla="*/ 0 w 816"/>
                    <a:gd name="T1" fmla="*/ 0 h 384"/>
                    <a:gd name="T2" fmla="*/ 0 w 816"/>
                    <a:gd name="T3" fmla="*/ 384 h 384"/>
                    <a:gd name="T4" fmla="*/ 720 w 816"/>
                    <a:gd name="T5" fmla="*/ 384 h 384"/>
                    <a:gd name="T6" fmla="*/ 720 w 816"/>
                    <a:gd name="T7" fmla="*/ 144 h 384"/>
                    <a:gd name="T8" fmla="*/ 816 w 816"/>
                    <a:gd name="T9" fmla="*/ 144 h 3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16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720" y="384"/>
                      </a:lnTo>
                      <a:lnTo>
                        <a:pt x="720" y="144"/>
                      </a:lnTo>
                      <a:lnTo>
                        <a:pt x="816" y="144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6" name="Rectangle 98"/>
                <p:cNvSpPr>
                  <a:spLocks noChangeAspect="1" noChangeArrowheads="1"/>
                </p:cNvSpPr>
                <p:nvPr/>
              </p:nvSpPr>
              <p:spPr bwMode="auto">
                <a:xfrm>
                  <a:off x="4305" y="2155"/>
                  <a:ext cx="54" cy="441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07" name="Rectangle 99"/>
                <p:cNvSpPr>
                  <a:spLocks noChangeAspect="1" noChangeArrowheads="1"/>
                </p:cNvSpPr>
                <p:nvPr/>
              </p:nvSpPr>
              <p:spPr bwMode="auto">
                <a:xfrm>
                  <a:off x="3802" y="2158"/>
                  <a:ext cx="54" cy="435"/>
                </a:xfrm>
                <a:prstGeom prst="rect">
                  <a:avLst/>
                </a:prstGeom>
                <a:solidFill>
                  <a:schemeClr val="accent2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1" name="Group 100"/>
                <p:cNvGrpSpPr>
                  <a:grpSpLocks noChangeAspect="1"/>
                </p:cNvGrpSpPr>
                <p:nvPr/>
              </p:nvGrpSpPr>
              <p:grpSpPr bwMode="auto">
                <a:xfrm flipH="1">
                  <a:off x="4436" y="2251"/>
                  <a:ext cx="268" cy="233"/>
                  <a:chOff x="1392" y="528"/>
                  <a:chExt cx="480" cy="432"/>
                </a:xfrm>
              </p:grpSpPr>
              <p:sp>
                <p:nvSpPr>
                  <p:cNvPr id="43109" name="Rectangle 101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632" y="528"/>
                    <a:ext cx="240" cy="427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2857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3110" name="Rectangle 102"/>
                  <p:cNvSpPr>
                    <a:spLocks noChangeAspect="1" noChangeArrowheads="1"/>
                  </p:cNvSpPr>
                  <p:nvPr/>
                </p:nvSpPr>
                <p:spPr bwMode="auto">
                  <a:xfrm>
                    <a:off x="1392" y="528"/>
                    <a:ext cx="480" cy="4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algn="ctr"/>
                    <a:endParaRPr lang="zh-CN" altLang="zh-CN" sz="1000" b="1"/>
                  </a:p>
                </p:txBody>
              </p:sp>
            </p:grpSp>
            <p:sp>
              <p:nvSpPr>
                <p:cNvPr id="43111" name="Text Box 103"/>
                <p:cNvSpPr txBox="1">
                  <a:spLocks noChangeAspect="1" noChangeArrowheads="1"/>
                </p:cNvSpPr>
                <p:nvPr/>
              </p:nvSpPr>
              <p:spPr bwMode="auto">
                <a:xfrm flipH="1">
                  <a:off x="4445" y="2276"/>
                  <a:ext cx="24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Reg</a:t>
                  </a:r>
                </a:p>
              </p:txBody>
            </p:sp>
          </p:grpSp>
          <p:sp>
            <p:nvSpPr>
              <p:cNvPr id="43112" name="Rectangle 104"/>
              <p:cNvSpPr>
                <a:spLocks noChangeAspect="1" noChangeArrowheads="1"/>
              </p:cNvSpPr>
              <p:nvPr/>
            </p:nvSpPr>
            <p:spPr bwMode="auto">
              <a:xfrm>
                <a:off x="4292" y="2727"/>
                <a:ext cx="54" cy="441"/>
              </a:xfrm>
              <a:prstGeom prst="rect">
                <a:avLst/>
              </a:prstGeom>
              <a:solidFill>
                <a:schemeClr val="accent2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13" name="AutoShape 105"/>
              <p:cNvSpPr>
                <a:spLocks noChangeArrowheads="1"/>
              </p:cNvSpPr>
              <p:nvPr/>
            </p:nvSpPr>
            <p:spPr bwMode="auto">
              <a:xfrm>
                <a:off x="3393" y="2719"/>
                <a:ext cx="364" cy="422"/>
              </a:xfrm>
              <a:prstGeom prst="cloudCallout">
                <a:avLst>
                  <a:gd name="adj1" fmla="val 39287"/>
                  <a:gd name="adj2" fmla="val 38153"/>
                </a:avLst>
              </a:prstGeom>
              <a:solidFill>
                <a:srgbClr val="0FEFEA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CN" sz="1500" b="1"/>
                  <a:t>Bubble</a:t>
                </a:r>
                <a:endParaRPr lang="en-US" altLang="zh-CN" sz="1600" b="1"/>
              </a:p>
            </p:txBody>
          </p:sp>
          <p:grpSp>
            <p:nvGrpSpPr>
              <p:cNvPr id="22" name="Group 106"/>
              <p:cNvGrpSpPr>
                <a:grpSpLocks/>
              </p:cNvGrpSpPr>
              <p:nvPr/>
            </p:nvGrpSpPr>
            <p:grpSpPr bwMode="auto">
              <a:xfrm>
                <a:off x="3945" y="2826"/>
                <a:ext cx="270" cy="233"/>
                <a:chOff x="3936" y="3120"/>
                <a:chExt cx="270" cy="233"/>
              </a:xfrm>
            </p:grpSpPr>
            <p:sp>
              <p:nvSpPr>
                <p:cNvPr id="43115" name="Rectangle 107"/>
                <p:cNvSpPr>
                  <a:spLocks noChangeArrowheads="1"/>
                </p:cNvSpPr>
                <p:nvPr/>
              </p:nvSpPr>
              <p:spPr bwMode="auto">
                <a:xfrm>
                  <a:off x="3936" y="3120"/>
                  <a:ext cx="270" cy="228"/>
                </a:xfrm>
                <a:prstGeom prst="rect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16" name="Rectangle 108"/>
                <p:cNvSpPr>
                  <a:spLocks noChangeAspect="1" noChangeArrowheads="1"/>
                </p:cNvSpPr>
                <p:nvPr/>
              </p:nvSpPr>
              <p:spPr bwMode="auto">
                <a:xfrm>
                  <a:off x="4069" y="3120"/>
                  <a:ext cx="133" cy="23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117" name="Rectangle 109"/>
                <p:cNvSpPr>
                  <a:spLocks noChangeAspect="1" noChangeArrowheads="1"/>
                </p:cNvSpPr>
                <p:nvPr/>
              </p:nvSpPr>
              <p:spPr bwMode="auto">
                <a:xfrm>
                  <a:off x="3936" y="3120"/>
                  <a:ext cx="266" cy="233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endParaRPr lang="zh-CN" altLang="zh-CN" sz="1000" b="1"/>
                </a:p>
              </p:txBody>
            </p:sp>
            <p:sp>
              <p:nvSpPr>
                <p:cNvPr id="43118" name="Text Box 110"/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949" y="3145"/>
                  <a:ext cx="240" cy="1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/>
                  <a:r>
                    <a:rPr lang="en-US" altLang="zh-CN" sz="1000" b="1"/>
                    <a:t>Reg</a:t>
                  </a:r>
                </a:p>
              </p:txBody>
            </p:sp>
          </p:grpSp>
        </p:grpSp>
        <p:sp>
          <p:nvSpPr>
            <p:cNvPr id="43119" name="Line 111"/>
            <p:cNvSpPr>
              <a:spLocks noChangeAspect="1" noChangeShapeType="1"/>
            </p:cNvSpPr>
            <p:nvPr/>
          </p:nvSpPr>
          <p:spPr bwMode="auto">
            <a:xfrm>
              <a:off x="4083" y="3261"/>
              <a:ext cx="79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0" name="Line 112"/>
            <p:cNvSpPr>
              <a:spLocks noChangeAspect="1" noChangeShapeType="1"/>
            </p:cNvSpPr>
            <p:nvPr/>
          </p:nvSpPr>
          <p:spPr bwMode="auto">
            <a:xfrm>
              <a:off x="4065" y="3403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1" name="Line 113"/>
            <p:cNvSpPr>
              <a:spLocks noChangeAspect="1" noChangeShapeType="1"/>
            </p:cNvSpPr>
            <p:nvPr/>
          </p:nvSpPr>
          <p:spPr bwMode="auto">
            <a:xfrm>
              <a:off x="3539" y="3401"/>
              <a:ext cx="27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2" name="Line 114"/>
            <p:cNvSpPr>
              <a:spLocks noChangeAspect="1" noChangeShapeType="1"/>
            </p:cNvSpPr>
            <p:nvPr/>
          </p:nvSpPr>
          <p:spPr bwMode="auto">
            <a:xfrm>
              <a:off x="3503" y="3261"/>
              <a:ext cx="3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" name="Group 115"/>
            <p:cNvGrpSpPr>
              <a:grpSpLocks noChangeAspect="1"/>
            </p:cNvGrpSpPr>
            <p:nvPr/>
          </p:nvGrpSpPr>
          <p:grpSpPr bwMode="auto">
            <a:xfrm>
              <a:off x="3760" y="3205"/>
              <a:ext cx="351" cy="232"/>
              <a:chOff x="1122" y="576"/>
              <a:chExt cx="628" cy="480"/>
            </a:xfrm>
          </p:grpSpPr>
          <p:sp>
            <p:nvSpPr>
              <p:cNvPr id="43124" name="Rectangle 116"/>
              <p:cNvSpPr>
                <a:spLocks noChangeAspect="1" noChangeArrowheads="1"/>
              </p:cNvSpPr>
              <p:nvPr/>
            </p:nvSpPr>
            <p:spPr bwMode="auto">
              <a:xfrm>
                <a:off x="1197" y="576"/>
                <a:ext cx="480" cy="48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endParaRPr lang="zh-CN" altLang="zh-CN" sz="1000" b="1"/>
              </a:p>
            </p:txBody>
          </p:sp>
          <p:sp>
            <p:nvSpPr>
              <p:cNvPr id="43125" name="Text Box 117"/>
              <p:cNvSpPr txBox="1">
                <a:spLocks noChangeAspect="1" noChangeArrowheads="1"/>
              </p:cNvSpPr>
              <p:nvPr/>
            </p:nvSpPr>
            <p:spPr bwMode="auto">
              <a:xfrm>
                <a:off x="1122" y="628"/>
                <a:ext cx="628" cy="3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1000" b="1"/>
                  <a:t>Ifetch</a:t>
                </a:r>
              </a:p>
            </p:txBody>
          </p:sp>
        </p:grpSp>
        <p:sp>
          <p:nvSpPr>
            <p:cNvPr id="43126" name="Rectangle 118"/>
            <p:cNvSpPr>
              <a:spLocks noChangeAspect="1" noChangeArrowheads="1"/>
            </p:cNvSpPr>
            <p:nvPr/>
          </p:nvSpPr>
          <p:spPr bwMode="auto">
            <a:xfrm>
              <a:off x="4149" y="3112"/>
              <a:ext cx="54" cy="441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7" name="Rectangle 119"/>
            <p:cNvSpPr>
              <a:spLocks noChangeAspect="1" noChangeArrowheads="1"/>
            </p:cNvSpPr>
            <p:nvPr/>
          </p:nvSpPr>
          <p:spPr bwMode="auto">
            <a:xfrm>
              <a:off x="3646" y="3112"/>
              <a:ext cx="54" cy="441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28" name="AutoShape 120"/>
            <p:cNvSpPr>
              <a:spLocks noChangeAspect="1" noChangeArrowheads="1"/>
            </p:cNvSpPr>
            <p:nvPr/>
          </p:nvSpPr>
          <p:spPr bwMode="auto">
            <a:xfrm rot="-5400000">
              <a:off x="4763" y="3220"/>
              <a:ext cx="371" cy="225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endParaRPr lang="zh-CN" altLang="zh-CN" sz="1000" b="1"/>
            </a:p>
          </p:txBody>
        </p:sp>
        <p:sp>
          <p:nvSpPr>
            <p:cNvPr id="43129" name="AutoShape 121"/>
            <p:cNvSpPr>
              <a:spLocks noChangeAspect="1" noChangeArrowheads="1"/>
            </p:cNvSpPr>
            <p:nvPr/>
          </p:nvSpPr>
          <p:spPr bwMode="auto">
            <a:xfrm rot="5400000">
              <a:off x="4821" y="3273"/>
              <a:ext cx="119" cy="12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0" name="Freeform 122"/>
            <p:cNvSpPr>
              <a:spLocks noChangeAspect="1"/>
            </p:cNvSpPr>
            <p:nvPr/>
          </p:nvSpPr>
          <p:spPr bwMode="auto">
            <a:xfrm rot="5400000">
              <a:off x="4830" y="3286"/>
              <a:ext cx="105" cy="93"/>
            </a:xfrm>
            <a:custGeom>
              <a:avLst/>
              <a:gdLst>
                <a:gd name="T0" fmla="*/ 0 w 384"/>
                <a:gd name="T1" fmla="*/ 288 h 288"/>
                <a:gd name="T2" fmla="*/ 192 w 384"/>
                <a:gd name="T3" fmla="*/ 0 h 288"/>
                <a:gd name="T4" fmla="*/ 384 w 384"/>
                <a:gd name="T5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4" h="288">
                  <a:moveTo>
                    <a:pt x="0" y="288"/>
                  </a:moveTo>
                  <a:lnTo>
                    <a:pt x="192" y="0"/>
                  </a:lnTo>
                  <a:lnTo>
                    <a:pt x="384" y="28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1" name="Text Box 123"/>
            <p:cNvSpPr txBox="1">
              <a:spLocks noChangeAspect="1" noChangeArrowheads="1"/>
            </p:cNvSpPr>
            <p:nvPr/>
          </p:nvSpPr>
          <p:spPr bwMode="auto">
            <a:xfrm rot="-5400000">
              <a:off x="4841" y="3235"/>
              <a:ext cx="278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000" b="1"/>
                <a:t>ALU</a:t>
              </a:r>
            </a:p>
          </p:txBody>
        </p:sp>
        <p:sp>
          <p:nvSpPr>
            <p:cNvPr id="43132" name="Line 124"/>
            <p:cNvSpPr>
              <a:spLocks noChangeAspect="1" noChangeShapeType="1"/>
            </p:cNvSpPr>
            <p:nvPr/>
          </p:nvSpPr>
          <p:spPr bwMode="auto">
            <a:xfrm>
              <a:off x="5063" y="3333"/>
              <a:ext cx="2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3" name="Line 125"/>
            <p:cNvSpPr>
              <a:spLocks noChangeAspect="1" noChangeShapeType="1"/>
            </p:cNvSpPr>
            <p:nvPr/>
          </p:nvSpPr>
          <p:spPr bwMode="auto">
            <a:xfrm>
              <a:off x="5355" y="3345"/>
              <a:ext cx="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4" name="Rectangle 126"/>
            <p:cNvSpPr>
              <a:spLocks noChangeAspect="1" noChangeArrowheads="1"/>
            </p:cNvSpPr>
            <p:nvPr/>
          </p:nvSpPr>
          <p:spPr bwMode="auto">
            <a:xfrm>
              <a:off x="5286" y="3217"/>
              <a:ext cx="268" cy="23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endParaRPr lang="zh-CN" altLang="zh-CN" sz="1000" b="1"/>
            </a:p>
          </p:txBody>
        </p:sp>
        <p:sp>
          <p:nvSpPr>
            <p:cNvPr id="43135" name="Text Box 127"/>
            <p:cNvSpPr txBox="1">
              <a:spLocks noChangeAspect="1" noChangeArrowheads="1"/>
            </p:cNvSpPr>
            <p:nvPr/>
          </p:nvSpPr>
          <p:spPr bwMode="auto">
            <a:xfrm>
              <a:off x="5251" y="3242"/>
              <a:ext cx="332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000" b="1"/>
                <a:t>DMem</a:t>
              </a:r>
            </a:p>
          </p:txBody>
        </p:sp>
        <p:sp>
          <p:nvSpPr>
            <p:cNvPr id="43136" name="Rectangle 128"/>
            <p:cNvSpPr>
              <a:spLocks noChangeAspect="1" noChangeArrowheads="1"/>
            </p:cNvSpPr>
            <p:nvPr/>
          </p:nvSpPr>
          <p:spPr bwMode="auto">
            <a:xfrm>
              <a:off x="5148" y="3115"/>
              <a:ext cx="54" cy="435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7" name="Rectangle 129"/>
            <p:cNvSpPr>
              <a:spLocks noChangeAspect="1" noChangeArrowheads="1"/>
            </p:cNvSpPr>
            <p:nvPr/>
          </p:nvSpPr>
          <p:spPr bwMode="auto">
            <a:xfrm>
              <a:off x="4641" y="3113"/>
              <a:ext cx="54" cy="441"/>
            </a:xfrm>
            <a:prstGeom prst="rect">
              <a:avLst/>
            </a:prstGeom>
            <a:solidFill>
              <a:schemeClr val="accent2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38" name="AutoShape 130"/>
            <p:cNvSpPr>
              <a:spLocks noChangeArrowheads="1"/>
            </p:cNvSpPr>
            <p:nvPr/>
          </p:nvSpPr>
          <p:spPr bwMode="auto">
            <a:xfrm>
              <a:off x="3241" y="3112"/>
              <a:ext cx="364" cy="422"/>
            </a:xfrm>
            <a:prstGeom prst="cloudCallout">
              <a:avLst>
                <a:gd name="adj1" fmla="val 39287"/>
                <a:gd name="adj2" fmla="val 38153"/>
              </a:avLst>
            </a:prstGeom>
            <a:solidFill>
              <a:srgbClr val="0FEFEA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500" b="1"/>
                <a:t>Bubble</a:t>
              </a:r>
              <a:endParaRPr lang="en-US" altLang="zh-CN" sz="1600" b="1"/>
            </a:p>
          </p:txBody>
        </p:sp>
        <p:grpSp>
          <p:nvGrpSpPr>
            <p:cNvPr id="24" name="Group 131"/>
            <p:cNvGrpSpPr>
              <a:grpSpLocks/>
            </p:cNvGrpSpPr>
            <p:nvPr/>
          </p:nvGrpSpPr>
          <p:grpSpPr bwMode="auto">
            <a:xfrm>
              <a:off x="4294" y="3212"/>
              <a:ext cx="270" cy="233"/>
              <a:chOff x="3936" y="3120"/>
              <a:chExt cx="270" cy="233"/>
            </a:xfrm>
          </p:grpSpPr>
          <p:sp>
            <p:nvSpPr>
              <p:cNvPr id="43140" name="Rectangle 132"/>
              <p:cNvSpPr>
                <a:spLocks noChangeArrowheads="1"/>
              </p:cNvSpPr>
              <p:nvPr/>
            </p:nvSpPr>
            <p:spPr bwMode="auto">
              <a:xfrm>
                <a:off x="3936" y="3120"/>
                <a:ext cx="270" cy="22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1" name="Rectangle 133"/>
              <p:cNvSpPr>
                <a:spLocks noChangeAspect="1" noChangeArrowheads="1"/>
              </p:cNvSpPr>
              <p:nvPr/>
            </p:nvSpPr>
            <p:spPr bwMode="auto">
              <a:xfrm>
                <a:off x="4069" y="3120"/>
                <a:ext cx="133" cy="23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142" name="Rectangle 134"/>
              <p:cNvSpPr>
                <a:spLocks noChangeAspect="1" noChangeArrowheads="1"/>
              </p:cNvSpPr>
              <p:nvPr/>
            </p:nvSpPr>
            <p:spPr bwMode="auto">
              <a:xfrm>
                <a:off x="3936" y="3120"/>
                <a:ext cx="266" cy="23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zh-CN" altLang="zh-CN" sz="1000" b="1"/>
              </a:p>
            </p:txBody>
          </p:sp>
          <p:sp>
            <p:nvSpPr>
              <p:cNvPr id="43143" name="Text Box 135"/>
              <p:cNvSpPr txBox="1">
                <a:spLocks noChangeAspect="1" noChangeArrowheads="1"/>
              </p:cNvSpPr>
              <p:nvPr/>
            </p:nvSpPr>
            <p:spPr bwMode="auto">
              <a:xfrm>
                <a:off x="3950" y="3145"/>
                <a:ext cx="240" cy="1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1000" b="1"/>
                  <a:t>Reg</a:t>
                </a:r>
              </a:p>
            </p:txBody>
          </p:sp>
        </p:grpSp>
        <p:sp>
          <p:nvSpPr>
            <p:cNvPr id="43144" name="Line 136"/>
            <p:cNvSpPr>
              <a:spLocks noChangeShapeType="1"/>
            </p:cNvSpPr>
            <p:nvPr/>
          </p:nvSpPr>
          <p:spPr bwMode="auto">
            <a:xfrm>
              <a:off x="3694" y="1624"/>
              <a:ext cx="144" cy="528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145" name="Line 137"/>
            <p:cNvSpPr>
              <a:spLocks noChangeShapeType="1"/>
            </p:cNvSpPr>
            <p:nvPr/>
          </p:nvSpPr>
          <p:spPr bwMode="auto">
            <a:xfrm>
              <a:off x="3886" y="1624"/>
              <a:ext cx="48" cy="1152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3146" name="Rectangle 138"/>
          <p:cNvSpPr>
            <a:spLocks noChangeArrowheads="1"/>
          </p:cNvSpPr>
          <p:nvPr/>
        </p:nvSpPr>
        <p:spPr bwMode="auto">
          <a:xfrm>
            <a:off x="1066800" y="5029200"/>
            <a:ext cx="1897812" cy="4591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488" tIns="44450" rIns="90488" bIns="44450">
            <a:spAutoFit/>
          </a:bodyPr>
          <a:lstStyle/>
          <a:p>
            <a:r>
              <a:rPr lang="en-US" altLang="zh-CN" sz="2400" b="1" dirty="0">
                <a:latin typeface="Arial" charset="0"/>
              </a:rPr>
              <a:t>or   r8,</a:t>
            </a:r>
            <a:r>
              <a:rPr lang="en-US" altLang="zh-CN" sz="2400" b="1" dirty="0">
                <a:solidFill>
                  <a:srgbClr val="339966"/>
                </a:solidFill>
                <a:latin typeface="Arial" charset="0"/>
              </a:rPr>
              <a:t>r1</a:t>
            </a:r>
            <a:r>
              <a:rPr lang="en-US" altLang="zh-CN" sz="2400" b="1" dirty="0">
                <a:latin typeface="Arial" charset="0"/>
              </a:rPr>
              <a:t>,r9</a:t>
            </a:r>
          </a:p>
        </p:txBody>
      </p:sp>
      <p:sp>
        <p:nvSpPr>
          <p:cNvPr id="139" name="灯片编号占位符 1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smtClean="0"/>
              <a:t>Forwarding</a:t>
            </a:r>
            <a:r>
              <a:rPr lang="zh-CN" altLang="en-US" b="1" dirty="0" smtClean="0"/>
              <a:t>的硬件变化</a:t>
            </a:r>
            <a:endParaRPr lang="en-US" altLang="zh-CN" b="1" dirty="0"/>
          </a:p>
        </p:txBody>
      </p:sp>
      <p:grpSp>
        <p:nvGrpSpPr>
          <p:cNvPr id="2" name="Group 54"/>
          <p:cNvGrpSpPr>
            <a:grpSpLocks/>
          </p:cNvGrpSpPr>
          <p:nvPr/>
        </p:nvGrpSpPr>
        <p:grpSpPr bwMode="auto">
          <a:xfrm>
            <a:off x="273050" y="1447800"/>
            <a:ext cx="8763000" cy="3886200"/>
            <a:chOff x="172" y="912"/>
            <a:chExt cx="5520" cy="2448"/>
          </a:xfrm>
        </p:grpSpPr>
        <p:sp>
          <p:nvSpPr>
            <p:cNvPr id="39940" name="Rectangle 4"/>
            <p:cNvSpPr>
              <a:spLocks noChangeArrowheads="1"/>
            </p:cNvSpPr>
            <p:nvPr/>
          </p:nvSpPr>
          <p:spPr bwMode="auto">
            <a:xfrm>
              <a:off x="186" y="912"/>
              <a:ext cx="4828" cy="2448"/>
            </a:xfrm>
            <a:prstGeom prst="rect">
              <a:avLst/>
            </a:prstGeom>
            <a:noFill/>
            <a:ln w="0">
              <a:solidFill>
                <a:srgbClr val="FFFFF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941" name="Rectangle 5"/>
            <p:cNvSpPr>
              <a:spLocks noChangeArrowheads="1"/>
            </p:cNvSpPr>
            <p:nvPr/>
          </p:nvSpPr>
          <p:spPr bwMode="auto">
            <a:xfrm>
              <a:off x="4506" y="1160"/>
              <a:ext cx="240" cy="1819"/>
            </a:xfrm>
            <a:prstGeom prst="rect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MEM/WR</a:t>
              </a:r>
            </a:p>
          </p:txBody>
        </p:sp>
        <p:sp>
          <p:nvSpPr>
            <p:cNvPr id="39942" name="Rectangle 6"/>
            <p:cNvSpPr>
              <a:spLocks noChangeArrowheads="1"/>
            </p:cNvSpPr>
            <p:nvPr/>
          </p:nvSpPr>
          <p:spPr bwMode="auto">
            <a:xfrm>
              <a:off x="1189" y="1160"/>
              <a:ext cx="240" cy="1819"/>
            </a:xfrm>
            <a:prstGeom prst="rect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ID/EX</a:t>
              </a:r>
            </a:p>
          </p:txBody>
        </p:sp>
        <p:sp>
          <p:nvSpPr>
            <p:cNvPr id="39943" name="Rectangle 7"/>
            <p:cNvSpPr>
              <a:spLocks noChangeArrowheads="1"/>
            </p:cNvSpPr>
            <p:nvPr/>
          </p:nvSpPr>
          <p:spPr bwMode="auto">
            <a:xfrm>
              <a:off x="2917" y="1160"/>
              <a:ext cx="240" cy="1819"/>
            </a:xfrm>
            <a:prstGeom prst="rect">
              <a:avLst/>
            </a:prstGeom>
            <a:solidFill>
              <a:srgbClr val="00CC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EX/MEM </a:t>
              </a:r>
            </a:p>
          </p:txBody>
        </p:sp>
        <p:sp>
          <p:nvSpPr>
            <p:cNvPr id="39944" name="Rectangle 8"/>
            <p:cNvSpPr>
              <a:spLocks noChangeArrowheads="1"/>
            </p:cNvSpPr>
            <p:nvPr/>
          </p:nvSpPr>
          <p:spPr bwMode="auto">
            <a:xfrm>
              <a:off x="3589" y="1822"/>
              <a:ext cx="576" cy="86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/>
                <a:t>Data</a:t>
              </a:r>
            </a:p>
            <a:p>
              <a:pPr algn="ctr"/>
              <a:r>
                <a:rPr lang="en-US" altLang="zh-CN" sz="1800"/>
                <a:t>Memory</a:t>
              </a:r>
            </a:p>
          </p:txBody>
        </p:sp>
        <p:grpSp>
          <p:nvGrpSpPr>
            <p:cNvPr id="3" name="Group 9"/>
            <p:cNvGrpSpPr>
              <a:grpSpLocks/>
            </p:cNvGrpSpPr>
            <p:nvPr/>
          </p:nvGrpSpPr>
          <p:grpSpPr bwMode="auto">
            <a:xfrm>
              <a:off x="2224" y="1561"/>
              <a:ext cx="400" cy="798"/>
              <a:chOff x="1782" y="2232"/>
              <a:chExt cx="468" cy="816"/>
            </a:xfrm>
          </p:grpSpPr>
          <p:sp>
            <p:nvSpPr>
              <p:cNvPr id="39946" name="Freeform 10"/>
              <p:cNvSpPr>
                <a:spLocks/>
              </p:cNvSpPr>
              <p:nvPr/>
            </p:nvSpPr>
            <p:spPr bwMode="auto">
              <a:xfrm>
                <a:off x="1782" y="2232"/>
                <a:ext cx="468" cy="816"/>
              </a:xfrm>
              <a:custGeom>
                <a:avLst/>
                <a:gdLst>
                  <a:gd name="T0" fmla="*/ 0 w 468"/>
                  <a:gd name="T1" fmla="*/ 0 h 816"/>
                  <a:gd name="T2" fmla="*/ 468 w 468"/>
                  <a:gd name="T3" fmla="*/ 252 h 816"/>
                  <a:gd name="T4" fmla="*/ 468 w 468"/>
                  <a:gd name="T5" fmla="*/ 588 h 816"/>
                  <a:gd name="T6" fmla="*/ 0 w 468"/>
                  <a:gd name="T7" fmla="*/ 816 h 816"/>
                  <a:gd name="T8" fmla="*/ 0 w 468"/>
                  <a:gd name="T9" fmla="*/ 576 h 816"/>
                  <a:gd name="T10" fmla="*/ 168 w 468"/>
                  <a:gd name="T11" fmla="*/ 420 h 816"/>
                  <a:gd name="T12" fmla="*/ 0 w 468"/>
                  <a:gd name="T13" fmla="*/ 258 h 816"/>
                  <a:gd name="T14" fmla="*/ 0 w 468"/>
                  <a:gd name="T15" fmla="*/ 0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8" h="816">
                    <a:moveTo>
                      <a:pt x="0" y="0"/>
                    </a:moveTo>
                    <a:lnTo>
                      <a:pt x="468" y="252"/>
                    </a:lnTo>
                    <a:lnTo>
                      <a:pt x="468" y="588"/>
                    </a:lnTo>
                    <a:lnTo>
                      <a:pt x="0" y="816"/>
                    </a:lnTo>
                    <a:lnTo>
                      <a:pt x="0" y="576"/>
                    </a:lnTo>
                    <a:lnTo>
                      <a:pt x="168" y="420"/>
                    </a:lnTo>
                    <a:lnTo>
                      <a:pt x="0" y="25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47" name="Text Box 11"/>
              <p:cNvSpPr txBox="1">
                <a:spLocks noChangeArrowheads="1"/>
              </p:cNvSpPr>
              <p:nvPr/>
            </p:nvSpPr>
            <p:spPr bwMode="auto">
              <a:xfrm rot="5400000">
                <a:off x="1879" y="2523"/>
                <a:ext cx="383" cy="2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1600"/>
                  <a:t>ALU</a:t>
                </a:r>
              </a:p>
            </p:txBody>
          </p:sp>
        </p:grpSp>
        <p:sp>
          <p:nvSpPr>
            <p:cNvPr id="39948" name="AutoShape 12"/>
            <p:cNvSpPr>
              <a:spLocks noChangeArrowheads="1"/>
            </p:cNvSpPr>
            <p:nvPr/>
          </p:nvSpPr>
          <p:spPr bwMode="auto">
            <a:xfrm>
              <a:off x="1808" y="1449"/>
              <a:ext cx="240" cy="414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mux</a:t>
              </a:r>
            </a:p>
          </p:txBody>
        </p:sp>
        <p:sp>
          <p:nvSpPr>
            <p:cNvPr id="39949" name="AutoShape 13"/>
            <p:cNvSpPr>
              <a:spLocks noChangeArrowheads="1"/>
            </p:cNvSpPr>
            <p:nvPr/>
          </p:nvSpPr>
          <p:spPr bwMode="auto">
            <a:xfrm>
              <a:off x="1808" y="2094"/>
              <a:ext cx="240" cy="413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mux</a:t>
              </a:r>
            </a:p>
          </p:txBody>
        </p:sp>
        <p:sp>
          <p:nvSpPr>
            <p:cNvPr id="39950" name="Line 14"/>
            <p:cNvSpPr>
              <a:spLocks noChangeShapeType="1"/>
            </p:cNvSpPr>
            <p:nvPr/>
          </p:nvSpPr>
          <p:spPr bwMode="auto">
            <a:xfrm>
              <a:off x="2048" y="1656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1" name="Line 15"/>
            <p:cNvSpPr>
              <a:spLocks noChangeShapeType="1"/>
            </p:cNvSpPr>
            <p:nvPr/>
          </p:nvSpPr>
          <p:spPr bwMode="auto">
            <a:xfrm>
              <a:off x="2048" y="2235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2" name="Rectangle 16"/>
            <p:cNvSpPr>
              <a:spLocks noChangeArrowheads="1"/>
            </p:cNvSpPr>
            <p:nvPr/>
          </p:nvSpPr>
          <p:spPr bwMode="auto">
            <a:xfrm rot="10800000">
              <a:off x="464" y="1532"/>
              <a:ext cx="432" cy="8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/>
            <a:p>
              <a:pPr algn="ctr"/>
              <a:r>
                <a:rPr lang="en-US" altLang="zh-CN" sz="1800"/>
                <a:t>Registers</a:t>
              </a:r>
            </a:p>
          </p:txBody>
        </p:sp>
        <p:sp>
          <p:nvSpPr>
            <p:cNvPr id="39953" name="Line 17"/>
            <p:cNvSpPr>
              <a:spLocks noChangeShapeType="1"/>
            </p:cNvSpPr>
            <p:nvPr/>
          </p:nvSpPr>
          <p:spPr bwMode="auto">
            <a:xfrm>
              <a:off x="896" y="1780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4" name="Line 18"/>
            <p:cNvSpPr>
              <a:spLocks noChangeShapeType="1"/>
            </p:cNvSpPr>
            <p:nvPr/>
          </p:nvSpPr>
          <p:spPr bwMode="auto">
            <a:xfrm>
              <a:off x="896" y="215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5" name="Line 19"/>
            <p:cNvSpPr>
              <a:spLocks noChangeShapeType="1"/>
            </p:cNvSpPr>
            <p:nvPr/>
          </p:nvSpPr>
          <p:spPr bwMode="auto">
            <a:xfrm>
              <a:off x="1424" y="1780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6" name="Line 20"/>
            <p:cNvSpPr>
              <a:spLocks noChangeShapeType="1"/>
            </p:cNvSpPr>
            <p:nvPr/>
          </p:nvSpPr>
          <p:spPr bwMode="auto">
            <a:xfrm>
              <a:off x="1424" y="2152"/>
              <a:ext cx="3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7" name="Text Box 21"/>
            <p:cNvSpPr txBox="1">
              <a:spLocks noChangeArrowheads="1"/>
            </p:cNvSpPr>
            <p:nvPr/>
          </p:nvSpPr>
          <p:spPr bwMode="auto">
            <a:xfrm>
              <a:off x="368" y="1187"/>
              <a:ext cx="56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600"/>
                <a:t>NextPC</a:t>
              </a:r>
            </a:p>
          </p:txBody>
        </p:sp>
        <p:sp>
          <p:nvSpPr>
            <p:cNvPr id="39958" name="Line 22"/>
            <p:cNvSpPr>
              <a:spLocks noChangeShapeType="1"/>
            </p:cNvSpPr>
            <p:nvPr/>
          </p:nvSpPr>
          <p:spPr bwMode="auto">
            <a:xfrm>
              <a:off x="896" y="128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59" name="Text Box 23"/>
            <p:cNvSpPr txBox="1">
              <a:spLocks noChangeArrowheads="1"/>
            </p:cNvSpPr>
            <p:nvPr/>
          </p:nvSpPr>
          <p:spPr bwMode="auto">
            <a:xfrm>
              <a:off x="229" y="2447"/>
              <a:ext cx="761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600"/>
                <a:t>Immediate</a:t>
              </a:r>
            </a:p>
          </p:txBody>
        </p:sp>
        <p:sp>
          <p:nvSpPr>
            <p:cNvPr id="39960" name="Line 24"/>
            <p:cNvSpPr>
              <a:spLocks noChangeShapeType="1"/>
            </p:cNvSpPr>
            <p:nvPr/>
          </p:nvSpPr>
          <p:spPr bwMode="auto">
            <a:xfrm>
              <a:off x="944" y="2566"/>
              <a:ext cx="2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1" name="Freeform 25"/>
            <p:cNvSpPr>
              <a:spLocks/>
            </p:cNvSpPr>
            <p:nvPr/>
          </p:nvSpPr>
          <p:spPr bwMode="auto">
            <a:xfrm>
              <a:off x="1424" y="2232"/>
              <a:ext cx="384" cy="334"/>
            </a:xfrm>
            <a:custGeom>
              <a:avLst/>
              <a:gdLst>
                <a:gd name="T0" fmla="*/ 0 w 384"/>
                <a:gd name="T1" fmla="*/ 388 h 388"/>
                <a:gd name="T2" fmla="*/ 76 w 384"/>
                <a:gd name="T3" fmla="*/ 384 h 388"/>
                <a:gd name="T4" fmla="*/ 76 w 384"/>
                <a:gd name="T5" fmla="*/ 0 h 388"/>
                <a:gd name="T6" fmla="*/ 384 w 384"/>
                <a:gd name="T7" fmla="*/ 4 h 3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4" h="388">
                  <a:moveTo>
                    <a:pt x="0" y="388"/>
                  </a:moveTo>
                  <a:lnTo>
                    <a:pt x="76" y="384"/>
                  </a:lnTo>
                  <a:lnTo>
                    <a:pt x="76" y="0"/>
                  </a:lnTo>
                  <a:lnTo>
                    <a:pt x="384" y="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2" name="Freeform 26"/>
            <p:cNvSpPr>
              <a:spLocks/>
            </p:cNvSpPr>
            <p:nvPr/>
          </p:nvSpPr>
          <p:spPr bwMode="auto">
            <a:xfrm>
              <a:off x="1568" y="2152"/>
              <a:ext cx="1344" cy="414"/>
            </a:xfrm>
            <a:custGeom>
              <a:avLst/>
              <a:gdLst>
                <a:gd name="T0" fmla="*/ 0 w 1344"/>
                <a:gd name="T1" fmla="*/ 0 h 624"/>
                <a:gd name="T2" fmla="*/ 0 w 1344"/>
                <a:gd name="T3" fmla="*/ 624 h 624"/>
                <a:gd name="T4" fmla="*/ 1344 w 1344"/>
                <a:gd name="T5" fmla="*/ 624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44" h="624">
                  <a:moveTo>
                    <a:pt x="0" y="0"/>
                  </a:moveTo>
                  <a:lnTo>
                    <a:pt x="0" y="624"/>
                  </a:lnTo>
                  <a:lnTo>
                    <a:pt x="1344" y="624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3" name="Line 27"/>
            <p:cNvSpPr>
              <a:spLocks noChangeShapeType="1"/>
            </p:cNvSpPr>
            <p:nvPr/>
          </p:nvSpPr>
          <p:spPr bwMode="auto">
            <a:xfrm>
              <a:off x="3152" y="2566"/>
              <a:ext cx="4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4" name="Line 28"/>
            <p:cNvSpPr>
              <a:spLocks noChangeShapeType="1"/>
            </p:cNvSpPr>
            <p:nvPr/>
          </p:nvSpPr>
          <p:spPr bwMode="auto">
            <a:xfrm>
              <a:off x="2624" y="1987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5" name="Line 29"/>
            <p:cNvSpPr>
              <a:spLocks noChangeShapeType="1"/>
            </p:cNvSpPr>
            <p:nvPr/>
          </p:nvSpPr>
          <p:spPr bwMode="auto">
            <a:xfrm>
              <a:off x="3152" y="1987"/>
              <a:ext cx="43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Line 30"/>
            <p:cNvSpPr>
              <a:spLocks noChangeShapeType="1"/>
            </p:cNvSpPr>
            <p:nvPr/>
          </p:nvSpPr>
          <p:spPr bwMode="auto">
            <a:xfrm flipV="1">
              <a:off x="4165" y="2276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7" name="Freeform 31"/>
            <p:cNvSpPr>
              <a:spLocks/>
            </p:cNvSpPr>
            <p:nvPr/>
          </p:nvSpPr>
          <p:spPr bwMode="auto">
            <a:xfrm>
              <a:off x="3349" y="1987"/>
              <a:ext cx="1152" cy="868"/>
            </a:xfrm>
            <a:custGeom>
              <a:avLst/>
              <a:gdLst>
                <a:gd name="T0" fmla="*/ 0 w 1152"/>
                <a:gd name="T1" fmla="*/ 0 h 1008"/>
                <a:gd name="T2" fmla="*/ 0 w 1152"/>
                <a:gd name="T3" fmla="*/ 1008 h 1008"/>
                <a:gd name="T4" fmla="*/ 1152 w 1152"/>
                <a:gd name="T5" fmla="*/ 1008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2" h="1008">
                  <a:moveTo>
                    <a:pt x="0" y="0"/>
                  </a:moveTo>
                  <a:lnTo>
                    <a:pt x="0" y="1008"/>
                  </a:lnTo>
                  <a:lnTo>
                    <a:pt x="1152" y="1008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8" name="Oval 32"/>
            <p:cNvSpPr>
              <a:spLocks noChangeArrowheads="1"/>
            </p:cNvSpPr>
            <p:nvPr/>
          </p:nvSpPr>
          <p:spPr bwMode="auto">
            <a:xfrm>
              <a:off x="3326" y="1970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9" name="Oval 33"/>
            <p:cNvSpPr>
              <a:spLocks noChangeArrowheads="1"/>
            </p:cNvSpPr>
            <p:nvPr/>
          </p:nvSpPr>
          <p:spPr bwMode="auto">
            <a:xfrm>
              <a:off x="1542" y="2132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0" name="Line 34"/>
            <p:cNvSpPr>
              <a:spLocks noChangeShapeType="1"/>
            </p:cNvSpPr>
            <p:nvPr/>
          </p:nvSpPr>
          <p:spPr bwMode="auto">
            <a:xfrm flipV="1">
              <a:off x="4758" y="2845"/>
              <a:ext cx="6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1" name="Line 35"/>
            <p:cNvSpPr>
              <a:spLocks noChangeShapeType="1"/>
            </p:cNvSpPr>
            <p:nvPr/>
          </p:nvSpPr>
          <p:spPr bwMode="auto">
            <a:xfrm flipV="1">
              <a:off x="4746" y="2273"/>
              <a:ext cx="656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72" name="Oval 36"/>
            <p:cNvSpPr>
              <a:spLocks noChangeArrowheads="1"/>
            </p:cNvSpPr>
            <p:nvPr/>
          </p:nvSpPr>
          <p:spPr bwMode="auto">
            <a:xfrm>
              <a:off x="3334" y="2831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" name="Group 53"/>
            <p:cNvGrpSpPr>
              <a:grpSpLocks/>
            </p:cNvGrpSpPr>
            <p:nvPr/>
          </p:nvGrpSpPr>
          <p:grpSpPr bwMode="auto">
            <a:xfrm>
              <a:off x="1618" y="953"/>
              <a:ext cx="3512" cy="2316"/>
              <a:chOff x="1618" y="953"/>
              <a:chExt cx="3512" cy="2316"/>
            </a:xfrm>
          </p:grpSpPr>
          <p:sp>
            <p:nvSpPr>
              <p:cNvPr id="39974" name="Freeform 38"/>
              <p:cNvSpPr>
                <a:spLocks/>
              </p:cNvSpPr>
              <p:nvPr/>
            </p:nvSpPr>
            <p:spPr bwMode="auto">
              <a:xfrm>
                <a:off x="1695" y="2442"/>
                <a:ext cx="1659" cy="579"/>
              </a:xfrm>
              <a:custGeom>
                <a:avLst/>
                <a:gdLst>
                  <a:gd name="T0" fmla="*/ 1659 w 1659"/>
                  <a:gd name="T1" fmla="*/ 480 h 672"/>
                  <a:gd name="T2" fmla="*/ 1659 w 1659"/>
                  <a:gd name="T3" fmla="*/ 672 h 672"/>
                  <a:gd name="T4" fmla="*/ 0 w 1659"/>
                  <a:gd name="T5" fmla="*/ 666 h 672"/>
                  <a:gd name="T6" fmla="*/ 0 w 1659"/>
                  <a:gd name="T7" fmla="*/ 0 h 672"/>
                  <a:gd name="T8" fmla="*/ 114 w 1659"/>
                  <a:gd name="T9" fmla="*/ 0 h 6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9" h="672">
                    <a:moveTo>
                      <a:pt x="1659" y="480"/>
                    </a:moveTo>
                    <a:lnTo>
                      <a:pt x="1659" y="672"/>
                    </a:lnTo>
                    <a:lnTo>
                      <a:pt x="0" y="666"/>
                    </a:lnTo>
                    <a:lnTo>
                      <a:pt x="0" y="0"/>
                    </a:lnTo>
                    <a:lnTo>
                      <a:pt x="114" y="0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5" name="Freeform 39"/>
              <p:cNvSpPr>
                <a:spLocks/>
              </p:cNvSpPr>
              <p:nvPr/>
            </p:nvSpPr>
            <p:spPr bwMode="auto">
              <a:xfrm>
                <a:off x="1626" y="953"/>
                <a:ext cx="3504" cy="1323"/>
              </a:xfrm>
              <a:custGeom>
                <a:avLst/>
                <a:gdLst>
                  <a:gd name="T0" fmla="*/ 3504 w 3504"/>
                  <a:gd name="T1" fmla="*/ 1536 h 1536"/>
                  <a:gd name="T2" fmla="*/ 3504 w 3504"/>
                  <a:gd name="T3" fmla="*/ 0 h 1536"/>
                  <a:gd name="T4" fmla="*/ 0 w 3504"/>
                  <a:gd name="T5" fmla="*/ 0 h 1536"/>
                  <a:gd name="T6" fmla="*/ 3 w 3504"/>
                  <a:gd name="T7" fmla="*/ 798 h 1536"/>
                  <a:gd name="T8" fmla="*/ 186 w 3504"/>
                  <a:gd name="T9" fmla="*/ 795 h 1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04" h="1536">
                    <a:moveTo>
                      <a:pt x="3504" y="1536"/>
                    </a:moveTo>
                    <a:lnTo>
                      <a:pt x="3504" y="0"/>
                    </a:lnTo>
                    <a:lnTo>
                      <a:pt x="0" y="0"/>
                    </a:lnTo>
                    <a:lnTo>
                      <a:pt x="3" y="798"/>
                    </a:lnTo>
                    <a:lnTo>
                      <a:pt x="186" y="795"/>
                    </a:lnTo>
                  </a:path>
                </a:pathLst>
              </a:custGeom>
              <a:noFill/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6" name="Freeform 40"/>
              <p:cNvSpPr>
                <a:spLocks/>
              </p:cNvSpPr>
              <p:nvPr/>
            </p:nvSpPr>
            <p:spPr bwMode="auto">
              <a:xfrm>
                <a:off x="1657" y="2400"/>
                <a:ext cx="3380" cy="824"/>
              </a:xfrm>
              <a:custGeom>
                <a:avLst/>
                <a:gdLst>
                  <a:gd name="T0" fmla="*/ 3088 w 3380"/>
                  <a:gd name="T1" fmla="*/ 540 h 956"/>
                  <a:gd name="T2" fmla="*/ 3380 w 3380"/>
                  <a:gd name="T3" fmla="*/ 540 h 956"/>
                  <a:gd name="T4" fmla="*/ 3380 w 3380"/>
                  <a:gd name="T5" fmla="*/ 956 h 956"/>
                  <a:gd name="T6" fmla="*/ 0 w 3380"/>
                  <a:gd name="T7" fmla="*/ 956 h 956"/>
                  <a:gd name="T8" fmla="*/ 0 w 3380"/>
                  <a:gd name="T9" fmla="*/ 0 h 956"/>
                  <a:gd name="T10" fmla="*/ 152 w 3380"/>
                  <a:gd name="T11" fmla="*/ 0 h 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80" h="956">
                    <a:moveTo>
                      <a:pt x="3088" y="540"/>
                    </a:moveTo>
                    <a:lnTo>
                      <a:pt x="3380" y="540"/>
                    </a:lnTo>
                    <a:lnTo>
                      <a:pt x="3380" y="956"/>
                    </a:lnTo>
                    <a:lnTo>
                      <a:pt x="0" y="956"/>
                    </a:lnTo>
                    <a:lnTo>
                      <a:pt x="0" y="0"/>
                    </a:lnTo>
                    <a:lnTo>
                      <a:pt x="152" y="0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7" name="Freeform 41"/>
              <p:cNvSpPr>
                <a:spLocks/>
              </p:cNvSpPr>
              <p:nvPr/>
            </p:nvSpPr>
            <p:spPr bwMode="auto">
              <a:xfrm>
                <a:off x="1618" y="2276"/>
                <a:ext cx="3512" cy="993"/>
              </a:xfrm>
              <a:custGeom>
                <a:avLst/>
                <a:gdLst>
                  <a:gd name="T0" fmla="*/ 3128 w 3512"/>
                  <a:gd name="T1" fmla="*/ 0 h 1152"/>
                  <a:gd name="T2" fmla="*/ 3512 w 3512"/>
                  <a:gd name="T3" fmla="*/ 0 h 1152"/>
                  <a:gd name="T4" fmla="*/ 3512 w 3512"/>
                  <a:gd name="T5" fmla="*/ 1152 h 1152"/>
                  <a:gd name="T6" fmla="*/ 0 w 3512"/>
                  <a:gd name="T7" fmla="*/ 1152 h 1152"/>
                  <a:gd name="T8" fmla="*/ 2 w 3512"/>
                  <a:gd name="T9" fmla="*/ 33 h 1152"/>
                  <a:gd name="T10" fmla="*/ 191 w 3512"/>
                  <a:gd name="T11" fmla="*/ 36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12" h="1152">
                    <a:moveTo>
                      <a:pt x="3128" y="0"/>
                    </a:moveTo>
                    <a:lnTo>
                      <a:pt x="3512" y="0"/>
                    </a:lnTo>
                    <a:lnTo>
                      <a:pt x="3512" y="1152"/>
                    </a:lnTo>
                    <a:lnTo>
                      <a:pt x="0" y="1152"/>
                    </a:lnTo>
                    <a:lnTo>
                      <a:pt x="2" y="33"/>
                    </a:lnTo>
                    <a:lnTo>
                      <a:pt x="191" y="36"/>
                    </a:lnTo>
                  </a:path>
                </a:pathLst>
              </a:custGeom>
              <a:noFill/>
              <a:ln w="28575" cap="flat" cmpd="sng">
                <a:solidFill>
                  <a:srgbClr val="FF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8" name="Freeform 42"/>
              <p:cNvSpPr>
                <a:spLocks/>
              </p:cNvSpPr>
              <p:nvPr/>
            </p:nvSpPr>
            <p:spPr bwMode="auto">
              <a:xfrm>
                <a:off x="1701" y="1118"/>
                <a:ext cx="1653" cy="869"/>
              </a:xfrm>
              <a:custGeom>
                <a:avLst/>
                <a:gdLst>
                  <a:gd name="T0" fmla="*/ 1653 w 1653"/>
                  <a:gd name="T1" fmla="*/ 1008 h 1008"/>
                  <a:gd name="T2" fmla="*/ 1653 w 1653"/>
                  <a:gd name="T3" fmla="*/ 0 h 1008"/>
                  <a:gd name="T4" fmla="*/ 0 w 1653"/>
                  <a:gd name="T5" fmla="*/ 0 h 1008"/>
                  <a:gd name="T6" fmla="*/ 0 w 1653"/>
                  <a:gd name="T7" fmla="*/ 432 h 1008"/>
                  <a:gd name="T8" fmla="*/ 117 w 1653"/>
                  <a:gd name="T9" fmla="*/ 432 h 10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53" h="1008">
                    <a:moveTo>
                      <a:pt x="1653" y="1008"/>
                    </a:moveTo>
                    <a:lnTo>
                      <a:pt x="1653" y="0"/>
                    </a:lnTo>
                    <a:lnTo>
                      <a:pt x="0" y="0"/>
                    </a:lnTo>
                    <a:lnTo>
                      <a:pt x="0" y="432"/>
                    </a:lnTo>
                    <a:lnTo>
                      <a:pt x="117" y="432"/>
                    </a:ln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979" name="Freeform 43"/>
              <p:cNvSpPr>
                <a:spLocks/>
              </p:cNvSpPr>
              <p:nvPr/>
            </p:nvSpPr>
            <p:spPr bwMode="auto">
              <a:xfrm>
                <a:off x="1674" y="1036"/>
                <a:ext cx="3360" cy="1819"/>
              </a:xfrm>
              <a:custGeom>
                <a:avLst/>
                <a:gdLst>
                  <a:gd name="T0" fmla="*/ 3360 w 3360"/>
                  <a:gd name="T1" fmla="*/ 2112 h 2112"/>
                  <a:gd name="T2" fmla="*/ 3360 w 3360"/>
                  <a:gd name="T3" fmla="*/ 0 h 2112"/>
                  <a:gd name="T4" fmla="*/ 0 w 3360"/>
                  <a:gd name="T5" fmla="*/ 0 h 2112"/>
                  <a:gd name="T6" fmla="*/ 0 w 3360"/>
                  <a:gd name="T7" fmla="*/ 624 h 2112"/>
                  <a:gd name="T8" fmla="*/ 144 w 3360"/>
                  <a:gd name="T9" fmla="*/ 624 h 2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60" h="2112">
                    <a:moveTo>
                      <a:pt x="3360" y="2112"/>
                    </a:moveTo>
                    <a:lnTo>
                      <a:pt x="3360" y="0"/>
                    </a:lnTo>
                    <a:lnTo>
                      <a:pt x="0" y="0"/>
                    </a:lnTo>
                    <a:lnTo>
                      <a:pt x="0" y="624"/>
                    </a:lnTo>
                    <a:lnTo>
                      <a:pt x="144" y="624"/>
                    </a:lnTo>
                  </a:path>
                </a:pathLst>
              </a:custGeom>
              <a:noFill/>
              <a:ln w="2857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9980" name="Oval 44"/>
            <p:cNvSpPr>
              <a:spLocks noChangeArrowheads="1"/>
            </p:cNvSpPr>
            <p:nvPr/>
          </p:nvSpPr>
          <p:spPr bwMode="auto">
            <a:xfrm>
              <a:off x="5006" y="2824"/>
              <a:ext cx="48" cy="4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1" name="Oval 45"/>
            <p:cNvSpPr>
              <a:spLocks noChangeArrowheads="1"/>
            </p:cNvSpPr>
            <p:nvPr/>
          </p:nvSpPr>
          <p:spPr bwMode="auto">
            <a:xfrm>
              <a:off x="5106" y="2256"/>
              <a:ext cx="48" cy="41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2" name="AutoShape 46"/>
            <p:cNvSpPr>
              <a:spLocks noChangeArrowheads="1"/>
            </p:cNvSpPr>
            <p:nvPr/>
          </p:nvSpPr>
          <p:spPr bwMode="auto">
            <a:xfrm>
              <a:off x="5365" y="2111"/>
              <a:ext cx="240" cy="868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pPr algn="ctr"/>
              <a:r>
                <a:rPr lang="en-US" altLang="zh-CN" sz="1800"/>
                <a:t>mux</a:t>
              </a:r>
            </a:p>
          </p:txBody>
        </p:sp>
        <p:sp>
          <p:nvSpPr>
            <p:cNvPr id="39983" name="Freeform 47"/>
            <p:cNvSpPr>
              <a:spLocks/>
            </p:cNvSpPr>
            <p:nvPr/>
          </p:nvSpPr>
          <p:spPr bwMode="auto">
            <a:xfrm>
              <a:off x="172" y="1946"/>
              <a:ext cx="5520" cy="1405"/>
            </a:xfrm>
            <a:custGeom>
              <a:avLst/>
              <a:gdLst>
                <a:gd name="T0" fmla="*/ 5424 w 5520"/>
                <a:gd name="T1" fmla="*/ 720 h 1632"/>
                <a:gd name="T2" fmla="*/ 5520 w 5520"/>
                <a:gd name="T3" fmla="*/ 720 h 1632"/>
                <a:gd name="T4" fmla="*/ 5520 w 5520"/>
                <a:gd name="T5" fmla="*/ 1632 h 1632"/>
                <a:gd name="T6" fmla="*/ 0 w 5520"/>
                <a:gd name="T7" fmla="*/ 1632 h 1632"/>
                <a:gd name="T8" fmla="*/ 0 w 5520"/>
                <a:gd name="T9" fmla="*/ 0 h 1632"/>
                <a:gd name="T10" fmla="*/ 288 w 5520"/>
                <a:gd name="T11" fmla="*/ 0 h 1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20" h="1632">
                  <a:moveTo>
                    <a:pt x="5424" y="720"/>
                  </a:moveTo>
                  <a:lnTo>
                    <a:pt x="5520" y="720"/>
                  </a:lnTo>
                  <a:lnTo>
                    <a:pt x="5520" y="1632"/>
                  </a:lnTo>
                  <a:lnTo>
                    <a:pt x="0" y="1632"/>
                  </a:lnTo>
                  <a:lnTo>
                    <a:pt x="0" y="0"/>
                  </a:lnTo>
                  <a:lnTo>
                    <a:pt x="288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228600" y="5410200"/>
            <a:ext cx="5961063" cy="1187450"/>
            <a:chOff x="144" y="3408"/>
            <a:chExt cx="3755" cy="748"/>
          </a:xfrm>
        </p:grpSpPr>
        <p:sp>
          <p:nvSpPr>
            <p:cNvPr id="39985" name="Line 49"/>
            <p:cNvSpPr>
              <a:spLocks noChangeShapeType="1"/>
            </p:cNvSpPr>
            <p:nvPr/>
          </p:nvSpPr>
          <p:spPr bwMode="auto">
            <a:xfrm>
              <a:off x="144" y="3545"/>
              <a:ext cx="384" cy="0"/>
            </a:xfrm>
            <a:prstGeom prst="line">
              <a:avLst/>
            </a:prstGeom>
            <a:noFill/>
            <a:ln w="34925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6" name="Text Box 50"/>
            <p:cNvSpPr txBox="1">
              <a:spLocks noChangeArrowheads="1"/>
            </p:cNvSpPr>
            <p:nvPr/>
          </p:nvSpPr>
          <p:spPr bwMode="auto">
            <a:xfrm>
              <a:off x="576" y="3408"/>
              <a:ext cx="3323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altLang="zh-CN" sz="2400" b="1">
                  <a:solidFill>
                    <a:srgbClr val="FF0000"/>
                  </a:solidFill>
                </a:rPr>
                <a:t>EX/Mem.ALUoutput </a:t>
              </a:r>
              <a:r>
                <a:rPr lang="en-US" altLang="zh-CN" sz="2400" b="1">
                  <a:solidFill>
                    <a:srgbClr val="FF0000"/>
                  </a:solidFill>
                  <a:sym typeface="Symbol" pitchFamily="18" charset="2"/>
                </a:rPr>
                <a:t> ALU</a:t>
              </a:r>
              <a:r>
                <a:rPr kumimoji="0" lang="en-US" altLang="zh-CN" sz="2400">
                  <a:solidFill>
                    <a:srgbClr val="FF0000"/>
                  </a:solidFill>
                  <a:sym typeface="Symbol" pitchFamily="18" charset="2"/>
                </a:rPr>
                <a:t> input</a:t>
              </a:r>
            </a:p>
            <a:p>
              <a:pPr eaLnBrk="1" hangingPunct="1"/>
              <a:r>
                <a:rPr kumimoji="0" lang="en-US" altLang="zh-CN" sz="2400" b="1">
                  <a:solidFill>
                    <a:srgbClr val="0000FF"/>
                  </a:solidFill>
                  <a:sym typeface="Symbol" pitchFamily="18" charset="2"/>
                </a:rPr>
                <a:t>MEM/WB.ALUoutput </a:t>
              </a:r>
              <a:r>
                <a:rPr lang="en-US" altLang="zh-CN" sz="2400" b="1">
                  <a:solidFill>
                    <a:srgbClr val="0000FF"/>
                  </a:solidFill>
                  <a:sym typeface="Symbol" pitchFamily="18" charset="2"/>
                </a:rPr>
                <a:t> ALU</a:t>
              </a:r>
              <a:r>
                <a:rPr kumimoji="0" lang="en-US" altLang="zh-CN" sz="2400" b="1">
                  <a:solidFill>
                    <a:srgbClr val="0000FF"/>
                  </a:solidFill>
                  <a:sym typeface="Symbol" pitchFamily="18" charset="2"/>
                </a:rPr>
                <a:t> input</a:t>
              </a:r>
              <a:endParaRPr kumimoji="0" lang="en-US" altLang="zh-CN" sz="240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endParaRPr>
            </a:p>
            <a:p>
              <a:pPr eaLnBrk="1" hangingPunct="1"/>
              <a:r>
                <a:rPr kumimoji="0" lang="en-US" altLang="zh-CN" sz="2400">
                  <a:solidFill>
                    <a:srgbClr val="CC00FF"/>
                  </a:solidFill>
                  <a:sym typeface="Symbol" pitchFamily="18" charset="2"/>
                </a:rPr>
                <a:t>MEM/WB.LMD </a:t>
              </a:r>
              <a:r>
                <a:rPr lang="en-US" altLang="zh-CN" sz="2400" b="1">
                  <a:solidFill>
                    <a:srgbClr val="CC00FF"/>
                  </a:solidFill>
                  <a:sym typeface="Symbol" pitchFamily="18" charset="2"/>
                </a:rPr>
                <a:t> ALU</a:t>
              </a:r>
              <a:r>
                <a:rPr kumimoji="0" lang="en-US" altLang="zh-CN" sz="2400">
                  <a:solidFill>
                    <a:srgbClr val="CC00FF"/>
                  </a:solidFill>
                  <a:sym typeface="Symbol" pitchFamily="18" charset="2"/>
                </a:rPr>
                <a:t> input</a:t>
              </a:r>
              <a:endParaRPr kumimoji="0" lang="en-US" altLang="zh-CN" sz="2400">
                <a:solidFill>
                  <a:srgbClr val="CC00FF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39987" name="Line 51"/>
            <p:cNvSpPr>
              <a:spLocks noChangeShapeType="1"/>
            </p:cNvSpPr>
            <p:nvPr/>
          </p:nvSpPr>
          <p:spPr bwMode="auto">
            <a:xfrm>
              <a:off x="144" y="3833"/>
              <a:ext cx="384" cy="0"/>
            </a:xfrm>
            <a:prstGeom prst="line">
              <a:avLst/>
            </a:prstGeom>
            <a:noFill/>
            <a:ln w="34925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88" name="Line 52"/>
            <p:cNvSpPr>
              <a:spLocks noChangeShapeType="1"/>
            </p:cNvSpPr>
            <p:nvPr/>
          </p:nvSpPr>
          <p:spPr bwMode="auto">
            <a:xfrm>
              <a:off x="144" y="4073"/>
              <a:ext cx="384" cy="0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3" name="灯片编号占位符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792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76672"/>
            <a:ext cx="8229600" cy="724942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/>
              <a:t>Forwarding 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 </a:t>
            </a:r>
            <a:r>
              <a:rPr lang="en-US" altLang="zh-CN" b="1" dirty="0"/>
              <a:t>Load </a:t>
            </a:r>
            <a:r>
              <a:rPr lang="zh-CN" altLang="en-US" b="1" dirty="0" smtClean="0"/>
              <a:t>延迟例子</a:t>
            </a:r>
            <a:endParaRPr lang="en-US" altLang="zh-CN" b="1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Comic Sans MS" pitchFamily="66" charset="0"/>
              </a:rPr>
              <a:t>Why forwarding?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mic Sans MS" pitchFamily="66" charset="0"/>
              </a:rPr>
              <a:t>ADD R4,  R5,  R2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mic Sans MS" pitchFamily="66" charset="0"/>
              </a:rPr>
              <a:t>LW   R15, 0(R4)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mic Sans MS" pitchFamily="66" charset="0"/>
              </a:rPr>
              <a:t>SW   R15, 4(R2)</a:t>
            </a:r>
            <a:endParaRPr lang="en-US" altLang="zh-CN" dirty="0">
              <a:solidFill>
                <a:srgbClr val="000000"/>
              </a:solidFill>
              <a:latin typeface="Comic Sans MS" pitchFamily="66" charset="0"/>
            </a:endParaRPr>
          </a:p>
          <a:p>
            <a:endParaRPr lang="en-US" altLang="zh-CN" sz="2800" dirty="0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altLang="zh-CN" sz="2800" dirty="0">
                <a:solidFill>
                  <a:srgbClr val="000000"/>
                </a:solidFill>
                <a:latin typeface="Comic Sans MS" pitchFamily="66" charset="0"/>
              </a:rPr>
              <a:t>Why load delay?</a:t>
            </a:r>
            <a:endParaRPr lang="en-US" altLang="zh-CN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mic Sans MS" pitchFamily="66" charset="0"/>
              </a:rPr>
              <a:t>ADD  R4,  R5,  R2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mic Sans MS" pitchFamily="66" charset="0"/>
              </a:rPr>
              <a:t>LW    R15,  0(R4)</a:t>
            </a:r>
          </a:p>
          <a:p>
            <a:pPr lvl="1">
              <a:lnSpc>
                <a:spcPct val="12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mic Sans MS" pitchFamily="66" charset="0"/>
              </a:rPr>
              <a:t>SW    R15, 4(R2)</a:t>
            </a:r>
            <a:endParaRPr lang="en-US" altLang="zh-CN" dirty="0"/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1928794" y="2143116"/>
            <a:ext cx="533400" cy="457200"/>
          </a:xfrm>
          <a:prstGeom prst="ellipse">
            <a:avLst/>
          </a:prstGeom>
          <a:noFill/>
          <a:ln w="349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2928926" y="2643182"/>
            <a:ext cx="533400" cy="457200"/>
          </a:xfrm>
          <a:prstGeom prst="ellipse">
            <a:avLst/>
          </a:prstGeom>
          <a:noFill/>
          <a:ln w="34925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8" name="Line 6"/>
          <p:cNvSpPr>
            <a:spLocks noChangeShapeType="1"/>
          </p:cNvSpPr>
          <p:nvPr/>
        </p:nvSpPr>
        <p:spPr bwMode="auto">
          <a:xfrm>
            <a:off x="2428860" y="2428868"/>
            <a:ext cx="533400" cy="304800"/>
          </a:xfrm>
          <a:prstGeom prst="line">
            <a:avLst/>
          </a:prstGeom>
          <a:noFill/>
          <a:ln w="3492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2071670" y="5000636"/>
            <a:ext cx="609600" cy="457200"/>
          </a:xfrm>
          <a:prstGeom prst="ellipse">
            <a:avLst/>
          </a:prstGeom>
          <a:noFill/>
          <a:ln w="349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2071670" y="5500702"/>
            <a:ext cx="609600" cy="457200"/>
          </a:xfrm>
          <a:prstGeom prst="ellipse">
            <a:avLst/>
          </a:prstGeom>
          <a:noFill/>
          <a:ln w="349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041" name="Freeform 9"/>
          <p:cNvSpPr>
            <a:spLocks/>
          </p:cNvSpPr>
          <p:nvPr/>
        </p:nvSpPr>
        <p:spPr bwMode="auto">
          <a:xfrm>
            <a:off x="1785918" y="5214950"/>
            <a:ext cx="304800" cy="685800"/>
          </a:xfrm>
          <a:custGeom>
            <a:avLst/>
            <a:gdLst>
              <a:gd name="T0" fmla="*/ 144 w 144"/>
              <a:gd name="T1" fmla="*/ 0 h 384"/>
              <a:gd name="T2" fmla="*/ 0 w 144"/>
              <a:gd name="T3" fmla="*/ 192 h 384"/>
              <a:gd name="T4" fmla="*/ 144 w 144"/>
              <a:gd name="T5" fmla="*/ 384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4" h="384">
                <a:moveTo>
                  <a:pt x="144" y="0"/>
                </a:moveTo>
                <a:cubicBezTo>
                  <a:pt x="72" y="64"/>
                  <a:pt x="0" y="128"/>
                  <a:pt x="0" y="192"/>
                </a:cubicBezTo>
                <a:cubicBezTo>
                  <a:pt x="0" y="256"/>
                  <a:pt x="120" y="352"/>
                  <a:pt x="144" y="384"/>
                </a:cubicBezTo>
              </a:path>
            </a:pathLst>
          </a:custGeom>
          <a:noFill/>
          <a:ln w="349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解决方法：没有</a:t>
            </a:r>
            <a:r>
              <a:rPr lang="en-US" altLang="zh-CN" b="1" dirty="0" smtClean="0"/>
              <a:t>forwarding</a:t>
            </a:r>
            <a:endParaRPr lang="en-US" altLang="zh-CN" b="1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45062" name="Picture 6" descr="datahazar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28800"/>
            <a:ext cx="8201025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79</a:t>
            </a:fld>
            <a:endParaRPr lang="zh-CN" altLang="en-US"/>
          </a:p>
        </p:txBody>
      </p:sp>
      <p:pic>
        <p:nvPicPr>
          <p:cNvPr id="8" name="Picture 6" descr="datahazard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81" t="69437" b="10322"/>
          <a:stretch/>
        </p:blipFill>
        <p:spPr bwMode="auto">
          <a:xfrm>
            <a:off x="6084168" y="4937760"/>
            <a:ext cx="3232785" cy="96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解决方法：</a:t>
            </a:r>
            <a:r>
              <a:rPr lang="en-US" altLang="zh-CN" b="1" dirty="0" smtClean="0"/>
              <a:t>forwarding</a:t>
            </a:r>
            <a:endParaRPr lang="en-US" altLang="zh-CN" b="1" dirty="0"/>
          </a:p>
        </p:txBody>
      </p:sp>
      <p:pic>
        <p:nvPicPr>
          <p:cNvPr id="46084" name="Picture 4" descr="datahazard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524000"/>
            <a:ext cx="8039100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Forwarding </a:t>
            </a:r>
            <a:r>
              <a:rPr lang="zh-CN" altLang="en-US" b="1" dirty="0" smtClean="0"/>
              <a:t>的其他输入路径</a:t>
            </a:r>
            <a:endParaRPr lang="en-US" altLang="zh-CN" b="1" dirty="0"/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381000" y="1600200"/>
            <a:ext cx="8305800" cy="4800600"/>
            <a:chOff x="240" y="1008"/>
            <a:chExt cx="5232" cy="3024"/>
          </a:xfrm>
        </p:grpSpPr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40" y="1056"/>
              <a:ext cx="5232" cy="2976"/>
              <a:chOff x="240" y="960"/>
              <a:chExt cx="5232" cy="2976"/>
            </a:xfrm>
          </p:grpSpPr>
          <p:pic>
            <p:nvPicPr>
              <p:cNvPr id="40966" name="Picture 6" descr="chap3_4-5new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" y="960"/>
                <a:ext cx="5232" cy="278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4" name="Group 7"/>
              <p:cNvGrpSpPr>
                <a:grpSpLocks/>
              </p:cNvGrpSpPr>
              <p:nvPr/>
            </p:nvGrpSpPr>
            <p:grpSpPr bwMode="auto">
              <a:xfrm>
                <a:off x="3110" y="3002"/>
                <a:ext cx="2254" cy="934"/>
                <a:chOff x="3110" y="3002"/>
                <a:chExt cx="2254" cy="934"/>
              </a:xfrm>
            </p:grpSpPr>
            <p:sp>
              <p:nvSpPr>
                <p:cNvPr id="40968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3110" y="3002"/>
                  <a:ext cx="521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eaLnBrk="1" hangingPunct="1"/>
                  <a:r>
                    <a:rPr lang="en-US" altLang="zh-CN" sz="2400" b="1">
                      <a:solidFill>
                        <a:srgbClr val="339966"/>
                      </a:solidFill>
                      <a:latin typeface="Times New Roman" pitchFamily="18" charset="0"/>
                    </a:rPr>
                    <a:t>store</a:t>
                  </a:r>
                  <a:endParaRPr lang="en-US" altLang="zh-CN" sz="2400">
                    <a:latin typeface="Times New Roman" pitchFamily="18" charset="0"/>
                  </a:endParaRPr>
                </a:p>
              </p:txBody>
            </p:sp>
            <p:sp>
              <p:nvSpPr>
                <p:cNvPr id="4096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896" y="3648"/>
                  <a:ext cx="46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eaLnBrk="1" hangingPunct="1"/>
                  <a:r>
                    <a:rPr lang="en-US" altLang="zh-CN" sz="2400" b="1">
                      <a:solidFill>
                        <a:srgbClr val="339966"/>
                      </a:solidFill>
                      <a:latin typeface="Times New Roman" pitchFamily="18" charset="0"/>
                    </a:rPr>
                    <a:t>load</a:t>
                  </a:r>
                  <a:endParaRPr lang="en-US" altLang="zh-CN" sz="2400"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40971" name="Line 11"/>
            <p:cNvSpPr>
              <a:spLocks noChangeShapeType="1"/>
            </p:cNvSpPr>
            <p:nvPr/>
          </p:nvSpPr>
          <p:spPr bwMode="auto">
            <a:xfrm flipV="1">
              <a:off x="4080" y="1248"/>
              <a:ext cx="0" cy="1344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2" name="Line 12"/>
            <p:cNvSpPr>
              <a:spLocks noChangeShapeType="1"/>
            </p:cNvSpPr>
            <p:nvPr/>
          </p:nvSpPr>
          <p:spPr bwMode="auto">
            <a:xfrm flipH="1">
              <a:off x="3424" y="1248"/>
              <a:ext cx="656" cy="5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3" name="Line 13"/>
            <p:cNvSpPr>
              <a:spLocks noChangeShapeType="1"/>
            </p:cNvSpPr>
            <p:nvPr/>
          </p:nvSpPr>
          <p:spPr bwMode="auto">
            <a:xfrm flipH="1">
              <a:off x="3016" y="1253"/>
              <a:ext cx="408" cy="1088"/>
            </a:xfrm>
            <a:prstGeom prst="line">
              <a:avLst/>
            </a:prstGeom>
            <a:noFill/>
            <a:ln w="34925">
              <a:solidFill>
                <a:schemeClr val="accent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5" name="Line 15"/>
            <p:cNvSpPr>
              <a:spLocks noChangeShapeType="1"/>
            </p:cNvSpPr>
            <p:nvPr/>
          </p:nvSpPr>
          <p:spPr bwMode="auto">
            <a:xfrm flipV="1">
              <a:off x="4944" y="1104"/>
              <a:ext cx="0" cy="1487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6" name="Line 16"/>
            <p:cNvSpPr>
              <a:spLocks noChangeShapeType="1"/>
            </p:cNvSpPr>
            <p:nvPr/>
          </p:nvSpPr>
          <p:spPr bwMode="auto">
            <a:xfrm flipH="1">
              <a:off x="3288" y="1104"/>
              <a:ext cx="1656" cy="13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7" name="Line 17"/>
            <p:cNvSpPr>
              <a:spLocks noChangeShapeType="1"/>
            </p:cNvSpPr>
            <p:nvPr/>
          </p:nvSpPr>
          <p:spPr bwMode="auto">
            <a:xfrm flipH="1">
              <a:off x="2835" y="1117"/>
              <a:ext cx="453" cy="1204"/>
            </a:xfrm>
            <a:prstGeom prst="line">
              <a:avLst/>
            </a:prstGeom>
            <a:noFill/>
            <a:ln w="34925">
              <a:solidFill>
                <a:srgbClr val="FF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79" name="Line 19"/>
            <p:cNvSpPr>
              <a:spLocks noChangeShapeType="1"/>
            </p:cNvSpPr>
            <p:nvPr/>
          </p:nvSpPr>
          <p:spPr bwMode="auto">
            <a:xfrm flipV="1">
              <a:off x="5040" y="1008"/>
              <a:ext cx="0" cy="1728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0" name="Line 20"/>
            <p:cNvSpPr>
              <a:spLocks noChangeShapeType="1"/>
            </p:cNvSpPr>
            <p:nvPr/>
          </p:nvSpPr>
          <p:spPr bwMode="auto">
            <a:xfrm flipH="1">
              <a:off x="3198" y="1008"/>
              <a:ext cx="1842" cy="18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81" name="Line 21"/>
            <p:cNvSpPr>
              <a:spLocks noChangeShapeType="1"/>
            </p:cNvSpPr>
            <p:nvPr/>
          </p:nvSpPr>
          <p:spPr bwMode="auto">
            <a:xfrm flipH="1">
              <a:off x="2699" y="1026"/>
              <a:ext cx="499" cy="1315"/>
            </a:xfrm>
            <a:prstGeom prst="line">
              <a:avLst/>
            </a:prstGeom>
            <a:noFill/>
            <a:ln w="3492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4176" y="2592"/>
              <a:ext cx="768" cy="1056"/>
              <a:chOff x="4176" y="2544"/>
              <a:chExt cx="768" cy="1056"/>
            </a:xfrm>
          </p:grpSpPr>
          <p:sp>
            <p:nvSpPr>
              <p:cNvPr id="40983" name="Line 23"/>
              <p:cNvSpPr>
                <a:spLocks noChangeShapeType="1"/>
              </p:cNvSpPr>
              <p:nvPr/>
            </p:nvSpPr>
            <p:spPr bwMode="auto">
              <a:xfrm>
                <a:off x="4944" y="2544"/>
                <a:ext cx="0" cy="1056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4" name="Line 24"/>
              <p:cNvSpPr>
                <a:spLocks noChangeShapeType="1"/>
              </p:cNvSpPr>
              <p:nvPr/>
            </p:nvSpPr>
            <p:spPr bwMode="auto">
              <a:xfrm flipH="1">
                <a:off x="4176" y="3600"/>
                <a:ext cx="768" cy="0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5" name="Line 25"/>
              <p:cNvSpPr>
                <a:spLocks noChangeShapeType="1"/>
              </p:cNvSpPr>
              <p:nvPr/>
            </p:nvSpPr>
            <p:spPr bwMode="auto">
              <a:xfrm flipV="1">
                <a:off x="4176" y="3216"/>
                <a:ext cx="0" cy="384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986" name="Line 26"/>
              <p:cNvSpPr>
                <a:spLocks noChangeShapeType="1"/>
              </p:cNvSpPr>
              <p:nvPr/>
            </p:nvSpPr>
            <p:spPr bwMode="auto">
              <a:xfrm>
                <a:off x="4176" y="3216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40987" name="Text Box 27"/>
          <p:cNvSpPr txBox="1">
            <a:spLocks noChangeArrowheads="1"/>
          </p:cNvSpPr>
          <p:nvPr/>
        </p:nvSpPr>
        <p:spPr bwMode="auto">
          <a:xfrm>
            <a:off x="0" y="6096000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FF00FF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CN" sz="2400" b="1">
                <a:solidFill>
                  <a:srgbClr val="FF3300"/>
                </a:solidFill>
              </a:rPr>
              <a:t>MEM/WB.LMD </a:t>
            </a:r>
            <a:r>
              <a:rPr lang="en-US" altLang="zh-CN" sz="2400" b="1">
                <a:solidFill>
                  <a:srgbClr val="FF3300"/>
                </a:solidFill>
                <a:sym typeface="Symbol" pitchFamily="18" charset="2"/>
              </a:rPr>
              <a:t> DM input</a:t>
            </a:r>
            <a:endParaRPr kumimoji="0" lang="en-US" altLang="zh-CN" sz="2400">
              <a:solidFill>
                <a:srgbClr val="CC00FF"/>
              </a:solidFill>
              <a:sym typeface="Symbol" pitchFamily="18" charset="2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60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load stall</a:t>
            </a:r>
            <a:r>
              <a:rPr lang="zh-CN" altLang="en-US" b="1" i="1" dirty="0" smtClean="0"/>
              <a:t>的性能影响</a:t>
            </a:r>
            <a:r>
              <a:rPr lang="en-US" altLang="zh-CN" b="1" i="1" dirty="0" smtClean="0"/>
              <a:t> </a:t>
            </a:r>
            <a:endParaRPr lang="en-US" altLang="zh-CN" b="1" i="1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i="1" dirty="0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例子</a:t>
            </a:r>
            <a:endParaRPr lang="en-US" altLang="zh-CN" sz="2800" b="1" i="1" dirty="0">
              <a:solidFill>
                <a:srgbClr val="000000"/>
              </a:solidFill>
              <a:latin typeface="Comic Sans MS" pitchFamily="66" charset="0"/>
              <a:ea typeface="华文细黑" pitchFamily="2" charset="-122"/>
            </a:endParaRPr>
          </a:p>
          <a:p>
            <a:pPr lvl="1">
              <a:lnSpc>
                <a:spcPts val="3500"/>
              </a:lnSpc>
            </a:pPr>
            <a:r>
              <a:rPr lang="zh-CN" altLang="en-US" sz="2400" b="1" i="1" dirty="0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假定程序中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Comic Sans MS" pitchFamily="66" charset="0"/>
                <a:ea typeface="华文细黑" pitchFamily="2" charset="-122"/>
              </a:rPr>
              <a:t>30</a:t>
            </a:r>
            <a:r>
              <a:rPr lang="en-US" altLang="zh-CN" sz="2400" b="1" i="1">
                <a:solidFill>
                  <a:srgbClr val="FF0000"/>
                </a:solidFill>
                <a:latin typeface="Comic Sans MS" pitchFamily="66" charset="0"/>
                <a:ea typeface="华文细黑" pitchFamily="2" charset="-122"/>
              </a:rPr>
              <a:t>% </a:t>
            </a:r>
            <a:r>
              <a:rPr lang="zh-CN" altLang="en-US" sz="2400" b="1" i="1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是</a:t>
            </a:r>
            <a:r>
              <a:rPr lang="en-US" altLang="zh-CN" sz="2400" b="1" i="1" smtClean="0">
                <a:solidFill>
                  <a:srgbClr val="FF0000"/>
                </a:solidFill>
                <a:latin typeface="Comic Sans MS" pitchFamily="66" charset="0"/>
                <a:ea typeface="华文细黑" pitchFamily="2" charset="-122"/>
              </a:rPr>
              <a:t>load</a:t>
            </a:r>
            <a:r>
              <a:rPr lang="zh-CN" altLang="en-US" sz="2400" b="1" i="1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指令。</a:t>
            </a:r>
            <a:endParaRPr lang="en-US" altLang="zh-CN" sz="2400" b="1" dirty="0">
              <a:latin typeface="Comic Sans MS" pitchFamily="66" charset="0"/>
              <a:ea typeface="华文细黑" pitchFamily="2" charset="-122"/>
            </a:endParaRPr>
          </a:p>
          <a:p>
            <a:pPr lvl="1">
              <a:lnSpc>
                <a:spcPts val="3500"/>
              </a:lnSpc>
            </a:pPr>
            <a:r>
              <a:rPr lang="zh-CN" altLang="en-US" sz="2400" b="1" i="1" smtClean="0">
                <a:solidFill>
                  <a:srgbClr val="FF0000"/>
                </a:solidFill>
                <a:latin typeface="Comic Sans MS" pitchFamily="66" charset="0"/>
                <a:ea typeface="华文细黑" pitchFamily="2" charset="-122"/>
              </a:rPr>
              <a:t>有一半的时间</a:t>
            </a:r>
            <a:r>
              <a:rPr lang="zh-CN" altLang="en-US" sz="2400" b="1" i="1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，</a:t>
            </a:r>
            <a:r>
              <a:rPr lang="en-US" altLang="zh-CN" sz="2400" b="1" i="1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load</a:t>
            </a:r>
            <a:r>
              <a:rPr lang="zh-CN" altLang="en-US" sz="2400" b="1" i="1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指令其后的指令依赖</a:t>
            </a:r>
            <a:r>
              <a:rPr lang="en-US" altLang="zh-CN" sz="2400" b="1" i="1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load</a:t>
            </a:r>
            <a:r>
              <a:rPr lang="zh-CN" altLang="en-US" sz="2400" b="1" i="1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的结果。</a:t>
            </a:r>
            <a:r>
              <a:rPr lang="en-US" altLang="zh-CN" sz="2400" b="1" smtClean="0">
                <a:latin typeface="Comic Sans MS" pitchFamily="66" charset="0"/>
                <a:ea typeface="华文细黑" pitchFamily="2" charset="-122"/>
              </a:rPr>
              <a:t> </a:t>
            </a:r>
            <a:endParaRPr lang="en-US" altLang="zh-CN" sz="2400" b="1" dirty="0">
              <a:latin typeface="Comic Sans MS" pitchFamily="66" charset="0"/>
              <a:ea typeface="华文细黑" pitchFamily="2" charset="-122"/>
            </a:endParaRPr>
          </a:p>
          <a:p>
            <a:pPr lvl="1">
              <a:lnSpc>
                <a:spcPts val="3500"/>
              </a:lnSpc>
            </a:pPr>
            <a:r>
              <a:rPr lang="zh-CN" altLang="en-US" sz="2400" b="1" i="1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如果冒险引起</a:t>
            </a:r>
            <a:r>
              <a:rPr lang="zh-CN" altLang="en-US" sz="2400" b="1" i="1" smtClean="0">
                <a:solidFill>
                  <a:srgbClr val="FF0000"/>
                </a:solidFill>
                <a:latin typeface="Comic Sans MS" pitchFamily="66" charset="0"/>
                <a:ea typeface="华文细黑" pitchFamily="2" charset="-122"/>
              </a:rPr>
              <a:t>一个时钟周期</a:t>
            </a:r>
            <a:r>
              <a:rPr lang="zh-CN" altLang="en-US" sz="2400" b="1" i="1" smtClean="0">
                <a:solidFill>
                  <a:srgbClr val="000000"/>
                </a:solidFill>
                <a:latin typeface="Comic Sans MS" pitchFamily="66" charset="0"/>
                <a:ea typeface="华文细黑" pitchFamily="2" charset="-122"/>
              </a:rPr>
              <a:t>暂停，相比理想流水线有停顿的流水线性能会降低多少？</a:t>
            </a:r>
            <a:r>
              <a:rPr lang="en-US" altLang="zh-CN" b="1" smtClean="0"/>
              <a:t> </a:t>
            </a:r>
            <a:endParaRPr lang="en-US" altLang="zh-CN" b="1" dirty="0"/>
          </a:p>
          <a:p>
            <a:r>
              <a:rPr lang="en-US" altLang="zh-CN" b="1" dirty="0">
                <a:latin typeface="Comic Sans MS" pitchFamily="66" charset="0"/>
              </a:rPr>
              <a:t>Answer</a:t>
            </a:r>
          </a:p>
          <a:p>
            <a:pPr lvl="1"/>
            <a:r>
              <a:rPr lang="en-US" altLang="zh-CN" dirty="0">
                <a:latin typeface="Comic Sans MS" pitchFamily="66" charset="0"/>
              </a:rPr>
              <a:t>CPI = 1+30%</a:t>
            </a:r>
            <a:r>
              <a:rPr lang="en-US" altLang="zh-CN" b="1" dirty="0">
                <a:latin typeface="Comic Sans MS" pitchFamily="66" charset="0"/>
                <a:sym typeface="Symbol" pitchFamily="18" charset="2"/>
              </a:rPr>
              <a:t></a:t>
            </a:r>
            <a:r>
              <a:rPr lang="en-US" altLang="zh-CN" dirty="0">
                <a:latin typeface="Comic Sans MS" pitchFamily="66" charset="0"/>
                <a:sym typeface="Symbol" pitchFamily="18" charset="2"/>
              </a:rPr>
              <a:t>50% </a:t>
            </a:r>
            <a:r>
              <a:rPr lang="en-US" altLang="zh-CN" b="1" dirty="0">
                <a:latin typeface="Comic Sans MS" pitchFamily="66" charset="0"/>
                <a:sym typeface="Symbol" pitchFamily="18" charset="2"/>
              </a:rPr>
              <a:t></a:t>
            </a:r>
            <a:r>
              <a:rPr lang="en-US" altLang="zh-CN" dirty="0">
                <a:latin typeface="Comic Sans MS" pitchFamily="66" charset="0"/>
                <a:sym typeface="Symbol" pitchFamily="18" charset="2"/>
              </a:rPr>
              <a:t>1=1.15</a:t>
            </a:r>
          </a:p>
          <a:p>
            <a:pPr lvl="1"/>
            <a:r>
              <a:rPr lang="zh-CN" altLang="en-US" b="1" smtClean="0">
                <a:latin typeface="Comic Sans MS" pitchFamily="66" charset="0"/>
                <a:sym typeface="Symbol" pitchFamily="18" charset="2"/>
              </a:rPr>
              <a:t>由于</a:t>
            </a:r>
            <a:r>
              <a:rPr lang="en-US" altLang="zh-CN" b="1" smtClean="0">
                <a:latin typeface="Comic Sans MS" pitchFamily="66" charset="0"/>
                <a:sym typeface="Symbol" pitchFamily="18" charset="2"/>
              </a:rPr>
              <a:t>load</a:t>
            </a:r>
            <a:r>
              <a:rPr lang="zh-CN" altLang="en-US" b="1" smtClean="0">
                <a:latin typeface="Comic Sans MS" pitchFamily="66" charset="0"/>
                <a:sym typeface="Symbol" pitchFamily="18" charset="2"/>
              </a:rPr>
              <a:t>停顿，流水线性能降低</a:t>
            </a:r>
            <a:r>
              <a:rPr lang="en-US" altLang="zh-CN" b="1" smtClean="0">
                <a:latin typeface="Comic Sans MS" pitchFamily="66" charset="0"/>
                <a:sym typeface="Symbol" pitchFamily="18" charset="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15</a:t>
            </a:r>
            <a:r>
              <a:rPr lang="en-US" altLang="zh-CN" b="1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%</a:t>
            </a:r>
            <a:r>
              <a:rPr lang="en-US" altLang="zh-CN" b="1">
                <a:latin typeface="Comic Sans MS" pitchFamily="66" charset="0"/>
                <a:sym typeface="Symbol" pitchFamily="18" charset="2"/>
              </a:rPr>
              <a:t> </a:t>
            </a:r>
            <a:r>
              <a:rPr lang="zh-CN" altLang="en-US" smtClean="0">
                <a:latin typeface="Comic Sans MS" pitchFamily="66" charset="0"/>
                <a:sym typeface="Symbol" pitchFamily="18" charset="2"/>
              </a:rPr>
              <a:t>。</a:t>
            </a:r>
            <a:endParaRPr lang="en-US" altLang="zh-CN" dirty="0">
              <a:latin typeface="Comic Sans MS" pitchFamily="66" charset="0"/>
              <a:sym typeface="Symbol" pitchFamily="18" charset="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 smtClean="0"/>
              <a:t>不同测试程序中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load</a:t>
            </a:r>
            <a:r>
              <a:rPr lang="en-US" altLang="zh-CN" sz="3600" b="1" dirty="0" smtClean="0"/>
              <a:t> </a:t>
            </a:r>
            <a:r>
              <a:rPr lang="zh-CN" altLang="en-US" sz="3600" b="1" dirty="0" smtClean="0">
                <a:solidFill>
                  <a:srgbClr val="FF0000"/>
                </a:solidFill>
              </a:rPr>
              <a:t>产生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stall</a:t>
            </a:r>
            <a:r>
              <a:rPr lang="zh-CN" altLang="en-US" sz="3600" b="1" dirty="0" smtClean="0"/>
              <a:t>的比例</a:t>
            </a:r>
            <a:endParaRPr lang="en-US" altLang="zh-CN" sz="3600" b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83</a:t>
            </a:fld>
            <a:endParaRPr lang="zh-CN" altLang="en-US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584200" y="1422400"/>
          <a:ext cx="8204200" cy="492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编译器重排序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避免</a:t>
            </a:r>
            <a:r>
              <a:rPr lang="en-US" altLang="zh-CN" sz="4000" b="1" dirty="0" smtClean="0"/>
              <a:t>load </a:t>
            </a:r>
            <a:r>
              <a:rPr lang="en-US" altLang="zh-CN" sz="4000" b="1" dirty="0"/>
              <a:t>stall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2776"/>
            <a:ext cx="8229600" cy="4713387"/>
          </a:xfrm>
        </p:spPr>
        <p:txBody>
          <a:bodyPr>
            <a:normAutofit lnSpcReduction="10000"/>
          </a:bodyPr>
          <a:lstStyle/>
          <a:p>
            <a:pPr>
              <a:lnSpc>
                <a:spcPct val="70000"/>
              </a:lnSpc>
              <a:spcBef>
                <a:spcPct val="30000"/>
              </a:spcBef>
            </a:pPr>
            <a:r>
              <a:rPr lang="zh-CN" altLang="en-US" sz="2800" b="1" dirty="0" smtClean="0">
                <a:latin typeface="Comic Sans MS" pitchFamily="66" charset="0"/>
              </a:rPr>
              <a:t>为以下表达式产生更快的代码：</a:t>
            </a: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ct val="70000"/>
              </a:lnSpc>
              <a:spcBef>
                <a:spcPct val="30000"/>
              </a:spcBef>
              <a:buFontTx/>
              <a:buNone/>
            </a:pPr>
            <a:r>
              <a:rPr lang="en-US" altLang="zh-CN" sz="2800" dirty="0">
                <a:latin typeface="Comic Sans MS" pitchFamily="66" charset="0"/>
              </a:rPr>
              <a:t>	</a:t>
            </a:r>
            <a:r>
              <a:rPr lang="en-US" altLang="zh-CN" sz="2400" dirty="0">
                <a:latin typeface="Comic Sans MS" pitchFamily="66" charset="0"/>
              </a:rPr>
              <a:t>a = b + c;</a:t>
            </a:r>
          </a:p>
          <a:p>
            <a:pPr>
              <a:lnSpc>
                <a:spcPct val="70000"/>
              </a:lnSpc>
              <a:spcBef>
                <a:spcPct val="30000"/>
              </a:spcBef>
              <a:buFontTx/>
              <a:buNone/>
            </a:pPr>
            <a:r>
              <a:rPr lang="en-US" altLang="zh-CN" sz="2400" dirty="0">
                <a:latin typeface="Comic Sans MS" pitchFamily="66" charset="0"/>
              </a:rPr>
              <a:t>	d = e – f;</a:t>
            </a:r>
            <a:r>
              <a:rPr lang="en-US" altLang="zh-CN" sz="2800" dirty="0">
                <a:latin typeface="Comic Sans MS" pitchFamily="66" charset="0"/>
              </a:rPr>
              <a:t>  </a:t>
            </a:r>
          </a:p>
          <a:p>
            <a:pPr>
              <a:lnSpc>
                <a:spcPct val="70000"/>
              </a:lnSpc>
              <a:spcBef>
                <a:spcPct val="30000"/>
              </a:spcBef>
              <a:buFontTx/>
              <a:buNone/>
            </a:pPr>
            <a:r>
              <a:rPr lang="en-US" altLang="zh-CN" sz="2800" dirty="0">
                <a:latin typeface="Comic Sans MS" pitchFamily="66" charset="0"/>
              </a:rPr>
              <a:t>   </a:t>
            </a:r>
            <a:r>
              <a:rPr lang="zh-CN" altLang="en-US" sz="2800" b="1" dirty="0" smtClean="0">
                <a:latin typeface="Comic Sans MS" pitchFamily="66" charset="0"/>
              </a:rPr>
              <a:t>假设</a:t>
            </a:r>
            <a:r>
              <a:rPr lang="en-US" altLang="zh-CN" sz="2800" b="1" dirty="0" smtClean="0">
                <a:latin typeface="Comic Sans MS" pitchFamily="66" charset="0"/>
              </a:rPr>
              <a:t> </a:t>
            </a:r>
            <a:r>
              <a:rPr lang="en-US" altLang="zh-CN" sz="2800" b="1" dirty="0">
                <a:latin typeface="Comic Sans MS" pitchFamily="66" charset="0"/>
              </a:rPr>
              <a:t>a, b, c, d ,e, </a:t>
            </a:r>
            <a:r>
              <a:rPr lang="en-US" altLang="zh-CN" sz="2800" b="1" dirty="0" smtClean="0">
                <a:latin typeface="Comic Sans MS" pitchFamily="66" charset="0"/>
              </a:rPr>
              <a:t>f </a:t>
            </a:r>
            <a:r>
              <a:rPr lang="zh-CN" altLang="en-US" sz="2800" b="1" dirty="0" smtClean="0">
                <a:latin typeface="Comic Sans MS" pitchFamily="66" charset="0"/>
              </a:rPr>
              <a:t>存放在主存中。</a:t>
            </a:r>
            <a:r>
              <a:rPr lang="en-US" altLang="zh-CN" sz="2800" b="1" dirty="0" smtClean="0">
                <a:latin typeface="Comic Sans MS" pitchFamily="66" charset="0"/>
              </a:rPr>
              <a:t> </a:t>
            </a:r>
            <a:endParaRPr lang="en-US" altLang="zh-CN" sz="2000" b="1" dirty="0">
              <a:latin typeface="Comic Sans MS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</a:pPr>
            <a:r>
              <a:rPr lang="zh-CN" altLang="en-US" sz="2400" b="1" dirty="0" smtClean="0">
                <a:latin typeface="Comic Sans MS" pitchFamily="66" charset="0"/>
              </a:rPr>
              <a:t>慢的</a:t>
            </a:r>
            <a:r>
              <a:rPr lang="en-US" altLang="zh-CN" sz="2400" b="1" dirty="0" smtClean="0">
                <a:latin typeface="Comic Sans MS" pitchFamily="66" charset="0"/>
              </a:rPr>
              <a:t> </a:t>
            </a:r>
            <a:r>
              <a:rPr lang="en-US" altLang="zh-CN" sz="2400" b="1" dirty="0">
                <a:latin typeface="Comic Sans MS" pitchFamily="66" charset="0"/>
              </a:rPr>
              <a:t>code:</a:t>
            </a:r>
            <a:endParaRPr lang="en-US" altLang="zh-CN" sz="2000" b="1" dirty="0">
              <a:latin typeface="Comic Sans MS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2000" b="1" dirty="0">
                <a:latin typeface="Comic Sans MS" pitchFamily="66" charset="0"/>
              </a:rPr>
              <a:t>		LW 	</a:t>
            </a:r>
            <a:r>
              <a:rPr lang="en-US" altLang="zh-CN" sz="2000" b="1" dirty="0" err="1">
                <a:latin typeface="Comic Sans MS" pitchFamily="66" charset="0"/>
              </a:rPr>
              <a:t>Rb,b</a:t>
            </a:r>
            <a:endParaRPr lang="en-US" altLang="zh-CN" sz="2000" b="1" dirty="0">
              <a:latin typeface="Comic Sans MS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2000" b="1" dirty="0">
                <a:latin typeface="Comic Sans MS" pitchFamily="66" charset="0"/>
              </a:rPr>
              <a:t>		LW 	</a:t>
            </a:r>
            <a:r>
              <a:rPr lang="en-US" altLang="zh-CN" sz="2000" b="1" dirty="0" err="1">
                <a:solidFill>
                  <a:srgbClr val="FF3300"/>
                </a:solidFill>
                <a:latin typeface="Comic Sans MS" pitchFamily="66" charset="0"/>
              </a:rPr>
              <a:t>Rc</a:t>
            </a:r>
            <a:r>
              <a:rPr lang="en-US" altLang="zh-CN" sz="2000" b="1" dirty="0" err="1">
                <a:latin typeface="Comic Sans MS" pitchFamily="66" charset="0"/>
              </a:rPr>
              <a:t>,c</a:t>
            </a:r>
            <a:endParaRPr lang="en-US" altLang="zh-CN" sz="2000" b="1" dirty="0">
              <a:latin typeface="Comic Sans MS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2000" b="1" dirty="0">
                <a:latin typeface="Comic Sans MS" pitchFamily="66" charset="0"/>
              </a:rPr>
              <a:t>		ADD 	</a:t>
            </a:r>
            <a:r>
              <a:rPr lang="en-US" altLang="zh-CN" sz="2000" b="1" dirty="0" err="1">
                <a:latin typeface="Comic Sans MS" pitchFamily="66" charset="0"/>
              </a:rPr>
              <a:t>Ra,Rb,</a:t>
            </a:r>
            <a:r>
              <a:rPr lang="en-US" altLang="zh-CN" sz="2000" b="1" dirty="0" err="1">
                <a:solidFill>
                  <a:srgbClr val="FF3300"/>
                </a:solidFill>
                <a:latin typeface="Comic Sans MS" pitchFamily="66" charset="0"/>
              </a:rPr>
              <a:t>Rc</a:t>
            </a:r>
            <a:endParaRPr lang="en-US" altLang="zh-CN" sz="2000" b="1" dirty="0">
              <a:latin typeface="Comic Sans MS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2000" b="1" dirty="0">
                <a:latin typeface="Comic Sans MS" pitchFamily="66" charset="0"/>
              </a:rPr>
              <a:t>		SW  	</a:t>
            </a:r>
            <a:r>
              <a:rPr lang="en-US" altLang="zh-CN" sz="2000" b="1" dirty="0" err="1">
                <a:latin typeface="Comic Sans MS" pitchFamily="66" charset="0"/>
              </a:rPr>
              <a:t>a,Ra</a:t>
            </a:r>
            <a:r>
              <a:rPr lang="en-US" altLang="zh-CN" sz="2000" b="1" dirty="0">
                <a:latin typeface="Comic Sans MS" pitchFamily="66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2000" b="1" dirty="0">
                <a:latin typeface="Comic Sans MS" pitchFamily="66" charset="0"/>
              </a:rPr>
              <a:t>		LW 	</a:t>
            </a:r>
            <a:r>
              <a:rPr lang="en-US" altLang="zh-CN" sz="2000" b="1" dirty="0" err="1">
                <a:latin typeface="Comic Sans MS" pitchFamily="66" charset="0"/>
              </a:rPr>
              <a:t>Re,e</a:t>
            </a:r>
            <a:r>
              <a:rPr lang="en-US" altLang="zh-CN" sz="2000" b="1" dirty="0">
                <a:latin typeface="Comic Sans MS" pitchFamily="66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2000" b="1" dirty="0">
                <a:latin typeface="Comic Sans MS" pitchFamily="66" charset="0"/>
              </a:rPr>
              <a:t>		LW 	</a:t>
            </a:r>
            <a:r>
              <a:rPr lang="en-US" altLang="zh-CN" sz="2000" b="1" dirty="0" err="1">
                <a:solidFill>
                  <a:srgbClr val="FF3300"/>
                </a:solidFill>
                <a:latin typeface="Comic Sans MS" pitchFamily="66" charset="0"/>
              </a:rPr>
              <a:t>Rf</a:t>
            </a:r>
            <a:r>
              <a:rPr lang="en-US" altLang="zh-CN" sz="2000" b="1" dirty="0" err="1">
                <a:latin typeface="Comic Sans MS" pitchFamily="66" charset="0"/>
              </a:rPr>
              <a:t>,f</a:t>
            </a:r>
            <a:endParaRPr lang="en-US" altLang="zh-CN" sz="2000" b="1" dirty="0">
              <a:latin typeface="Comic Sans MS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2000" b="1" dirty="0">
                <a:latin typeface="Comic Sans MS" pitchFamily="66" charset="0"/>
              </a:rPr>
              <a:t>		SUB 	</a:t>
            </a:r>
            <a:r>
              <a:rPr lang="en-US" altLang="zh-CN" sz="2000" b="1" dirty="0" err="1">
                <a:latin typeface="Comic Sans MS" pitchFamily="66" charset="0"/>
              </a:rPr>
              <a:t>Rd,Re,</a:t>
            </a:r>
            <a:r>
              <a:rPr lang="en-US" altLang="zh-CN" sz="2000" b="1" dirty="0" err="1">
                <a:solidFill>
                  <a:srgbClr val="FF3300"/>
                </a:solidFill>
                <a:latin typeface="Comic Sans MS" pitchFamily="66" charset="0"/>
              </a:rPr>
              <a:t>Rf</a:t>
            </a:r>
            <a:endParaRPr lang="en-US" altLang="zh-CN" sz="2000" b="1" dirty="0">
              <a:latin typeface="Comic Sans MS" pitchFamily="66" charset="0"/>
            </a:endParaRPr>
          </a:p>
          <a:p>
            <a:pPr>
              <a:lnSpc>
                <a:spcPct val="80000"/>
              </a:lnSpc>
              <a:spcBef>
                <a:spcPct val="30000"/>
              </a:spcBef>
              <a:buFontTx/>
              <a:buNone/>
            </a:pPr>
            <a:r>
              <a:rPr lang="en-US" altLang="zh-CN" sz="2000" b="1" dirty="0">
                <a:latin typeface="Comic Sans MS" pitchFamily="66" charset="0"/>
              </a:rPr>
              <a:t>		SW	</a:t>
            </a:r>
            <a:r>
              <a:rPr lang="en-US" altLang="zh-CN" sz="2000" b="1" dirty="0" err="1">
                <a:latin typeface="Comic Sans MS" pitchFamily="66" charset="0"/>
              </a:rPr>
              <a:t>d,Rd</a:t>
            </a:r>
            <a:endParaRPr lang="en-US" altLang="zh-CN" dirty="0"/>
          </a:p>
        </p:txBody>
      </p:sp>
      <p:sp>
        <p:nvSpPr>
          <p:cNvPr id="47108" name="Rectangle 4"/>
          <p:cNvSpPr>
            <a:spLocks noChangeArrowheads="1"/>
          </p:cNvSpPr>
          <p:nvPr/>
        </p:nvSpPr>
        <p:spPr bwMode="auto">
          <a:xfrm>
            <a:off x="4356100" y="3141663"/>
            <a:ext cx="4038600" cy="302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r>
              <a:rPr lang="zh-CN" altLang="en-US" sz="2400" b="1" dirty="0" smtClean="0">
                <a:solidFill>
                  <a:srgbClr val="FF3300"/>
                </a:solidFill>
              </a:rPr>
              <a:t>快的</a:t>
            </a:r>
            <a:r>
              <a:rPr lang="en-US" altLang="zh-CN" sz="2400" b="1" dirty="0" smtClean="0">
                <a:solidFill>
                  <a:srgbClr val="FF3300"/>
                </a:solidFill>
              </a:rPr>
              <a:t> </a:t>
            </a:r>
            <a:r>
              <a:rPr lang="en-US" altLang="zh-CN" sz="2400" b="1" dirty="0">
                <a:solidFill>
                  <a:srgbClr val="FF3300"/>
                </a:solidFill>
              </a:rPr>
              <a:t>code:</a:t>
            </a:r>
            <a:endParaRPr lang="en-US" altLang="zh-CN" sz="2000" b="1" dirty="0">
              <a:solidFill>
                <a:srgbClr val="FF3300"/>
              </a:solidFill>
            </a:endParaRPr>
          </a:p>
          <a:p>
            <a:r>
              <a:rPr lang="en-US" altLang="zh-CN" sz="2000" b="1" dirty="0"/>
              <a:t>	LW 	</a:t>
            </a:r>
            <a:r>
              <a:rPr lang="en-US" altLang="zh-CN" sz="2000" b="1" dirty="0" err="1"/>
              <a:t>Rb,b</a:t>
            </a:r>
            <a:endParaRPr lang="en-US" altLang="zh-CN" sz="2000" b="1" dirty="0"/>
          </a:p>
          <a:p>
            <a:r>
              <a:rPr lang="en-US" altLang="zh-CN" sz="2000" b="1" dirty="0"/>
              <a:t>	LW 	</a:t>
            </a:r>
            <a:r>
              <a:rPr lang="en-US" altLang="zh-CN" sz="2000" b="1" dirty="0" err="1"/>
              <a:t>Rc,c</a:t>
            </a:r>
            <a:endParaRPr lang="en-US" altLang="zh-CN" sz="2000" b="1" dirty="0"/>
          </a:p>
          <a:p>
            <a:r>
              <a:rPr lang="en-US" altLang="zh-CN" sz="2000" b="1" dirty="0">
                <a:solidFill>
                  <a:schemeClr val="hlink"/>
                </a:solidFill>
              </a:rPr>
              <a:t>	</a:t>
            </a:r>
            <a:r>
              <a:rPr lang="en-US" altLang="zh-CN" sz="2000" b="1" dirty="0">
                <a:solidFill>
                  <a:srgbClr val="FF3300"/>
                </a:solidFill>
              </a:rPr>
              <a:t>LW 	</a:t>
            </a:r>
            <a:r>
              <a:rPr lang="en-US" altLang="zh-CN" sz="2000" b="1" dirty="0" err="1">
                <a:solidFill>
                  <a:srgbClr val="FF3300"/>
                </a:solidFill>
              </a:rPr>
              <a:t>Re,e</a:t>
            </a:r>
            <a:r>
              <a:rPr lang="en-US" altLang="zh-CN" sz="2000" b="1" dirty="0">
                <a:solidFill>
                  <a:srgbClr val="FF3300"/>
                </a:solidFill>
              </a:rPr>
              <a:t> </a:t>
            </a:r>
          </a:p>
          <a:p>
            <a:r>
              <a:rPr lang="en-US" altLang="zh-CN" sz="2000" b="1" dirty="0"/>
              <a:t>	ADD 	</a:t>
            </a:r>
            <a:r>
              <a:rPr lang="en-US" altLang="zh-CN" sz="2000" b="1" dirty="0" err="1"/>
              <a:t>Ra,Rb,Rc</a:t>
            </a:r>
            <a:endParaRPr lang="en-US" altLang="zh-CN" sz="2000" b="1" dirty="0"/>
          </a:p>
          <a:p>
            <a:r>
              <a:rPr lang="en-US" altLang="zh-CN" sz="2000" b="1" dirty="0"/>
              <a:t>	LW 	</a:t>
            </a:r>
            <a:r>
              <a:rPr lang="en-US" altLang="zh-CN" sz="2000" b="1" dirty="0" err="1"/>
              <a:t>Rf,f</a:t>
            </a:r>
            <a:endParaRPr lang="en-US" altLang="zh-CN" sz="2000" b="1" dirty="0"/>
          </a:p>
          <a:p>
            <a:r>
              <a:rPr lang="en-US" altLang="zh-CN" sz="2000" b="1" dirty="0">
                <a:solidFill>
                  <a:schemeClr val="hlink"/>
                </a:solidFill>
              </a:rPr>
              <a:t>	</a:t>
            </a:r>
            <a:r>
              <a:rPr lang="en-US" altLang="zh-CN" sz="2000" b="1" dirty="0">
                <a:solidFill>
                  <a:srgbClr val="FF3300"/>
                </a:solidFill>
              </a:rPr>
              <a:t>SW  	</a:t>
            </a:r>
            <a:r>
              <a:rPr lang="en-US" altLang="zh-CN" sz="2000" b="1" dirty="0" err="1">
                <a:solidFill>
                  <a:srgbClr val="FF3300"/>
                </a:solidFill>
              </a:rPr>
              <a:t>a,Ra</a:t>
            </a:r>
            <a:r>
              <a:rPr lang="en-US" altLang="zh-CN" sz="2000" b="1" dirty="0">
                <a:solidFill>
                  <a:schemeClr val="hlink"/>
                </a:solidFill>
              </a:rPr>
              <a:t> </a:t>
            </a:r>
          </a:p>
          <a:p>
            <a:r>
              <a:rPr lang="en-US" altLang="zh-CN" sz="2000" b="1" dirty="0"/>
              <a:t>	SUB 	</a:t>
            </a:r>
            <a:r>
              <a:rPr lang="en-US" altLang="zh-CN" sz="2000" b="1" dirty="0" err="1"/>
              <a:t>Rd,Re,Rf</a:t>
            </a:r>
            <a:endParaRPr lang="en-US" altLang="zh-CN" sz="2000" b="1" dirty="0"/>
          </a:p>
          <a:p>
            <a:r>
              <a:rPr lang="en-US" altLang="zh-CN" sz="2000" b="1" dirty="0"/>
              <a:t>	SW	</a:t>
            </a:r>
            <a:r>
              <a:rPr lang="en-US" altLang="zh-CN" sz="2000" b="1" dirty="0" err="1"/>
              <a:t>d,Rd</a:t>
            </a:r>
            <a:endParaRPr lang="en-US" altLang="zh-CN" sz="2000" b="1" dirty="0"/>
          </a:p>
        </p:txBody>
      </p:sp>
      <p:sp>
        <p:nvSpPr>
          <p:cNvPr id="47110" name="Line 6"/>
          <p:cNvSpPr>
            <a:spLocks noChangeShapeType="1"/>
          </p:cNvSpPr>
          <p:nvPr/>
        </p:nvSpPr>
        <p:spPr bwMode="auto">
          <a:xfrm flipV="1">
            <a:off x="2928926" y="4292600"/>
            <a:ext cx="2363799" cy="361156"/>
          </a:xfrm>
          <a:prstGeom prst="line">
            <a:avLst/>
          </a:prstGeom>
          <a:noFill/>
          <a:ln w="3492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1" name="Line 7"/>
          <p:cNvSpPr>
            <a:spLocks noChangeShapeType="1"/>
          </p:cNvSpPr>
          <p:nvPr/>
        </p:nvSpPr>
        <p:spPr bwMode="auto">
          <a:xfrm>
            <a:off x="2928926" y="4343400"/>
            <a:ext cx="2290774" cy="814388"/>
          </a:xfrm>
          <a:prstGeom prst="line">
            <a:avLst/>
          </a:prstGeom>
          <a:noFill/>
          <a:ln w="34925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2" name="Freeform 8"/>
          <p:cNvSpPr>
            <a:spLocks/>
          </p:cNvSpPr>
          <p:nvPr/>
        </p:nvSpPr>
        <p:spPr bwMode="auto">
          <a:xfrm>
            <a:off x="944880" y="3727450"/>
            <a:ext cx="533400" cy="190500"/>
          </a:xfrm>
          <a:custGeom>
            <a:avLst/>
            <a:gdLst>
              <a:gd name="T0" fmla="*/ 200 w 248"/>
              <a:gd name="T1" fmla="*/ 0 h 240"/>
              <a:gd name="T2" fmla="*/ 8 w 248"/>
              <a:gd name="T3" fmla="*/ 144 h 240"/>
              <a:gd name="T4" fmla="*/ 248 w 248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8" h="240">
                <a:moveTo>
                  <a:pt x="200" y="0"/>
                </a:moveTo>
                <a:cubicBezTo>
                  <a:pt x="100" y="52"/>
                  <a:pt x="0" y="104"/>
                  <a:pt x="8" y="144"/>
                </a:cubicBezTo>
                <a:cubicBezTo>
                  <a:pt x="16" y="184"/>
                  <a:pt x="216" y="224"/>
                  <a:pt x="248" y="240"/>
                </a:cubicBezTo>
              </a:path>
            </a:pathLst>
          </a:custGeom>
          <a:noFill/>
          <a:ln w="349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113" name="Freeform 9"/>
          <p:cNvSpPr>
            <a:spLocks/>
          </p:cNvSpPr>
          <p:nvPr/>
        </p:nvSpPr>
        <p:spPr bwMode="auto">
          <a:xfrm>
            <a:off x="769620" y="4967288"/>
            <a:ext cx="533400" cy="190500"/>
          </a:xfrm>
          <a:custGeom>
            <a:avLst/>
            <a:gdLst>
              <a:gd name="T0" fmla="*/ 240 w 240"/>
              <a:gd name="T1" fmla="*/ 0 h 240"/>
              <a:gd name="T2" fmla="*/ 0 w 240"/>
              <a:gd name="T3" fmla="*/ 144 h 240"/>
              <a:gd name="T4" fmla="*/ 240 w 240"/>
              <a:gd name="T5" fmla="*/ 24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0" h="240">
                <a:moveTo>
                  <a:pt x="240" y="0"/>
                </a:moveTo>
                <a:cubicBezTo>
                  <a:pt x="120" y="52"/>
                  <a:pt x="0" y="104"/>
                  <a:pt x="0" y="144"/>
                </a:cubicBezTo>
                <a:cubicBezTo>
                  <a:pt x="0" y="184"/>
                  <a:pt x="200" y="224"/>
                  <a:pt x="240" y="240"/>
                </a:cubicBezTo>
              </a:path>
            </a:pathLst>
          </a:custGeom>
          <a:noFill/>
          <a:ln w="349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数据冒险总结</a:t>
            </a:r>
            <a:endParaRPr lang="en-US" altLang="zh-CN" b="1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Taxonomy of Hazards</a:t>
            </a:r>
            <a:r>
              <a:rPr lang="en-US" altLang="zh-CN" sz="2800" b="1" dirty="0">
                <a:solidFill>
                  <a:schemeClr val="accent2"/>
                </a:solidFill>
                <a:latin typeface="Comic Sans MS" pitchFamily="66" charset="0"/>
              </a:rPr>
              <a:t> </a:t>
            </a:r>
          </a:p>
          <a:p>
            <a:pPr lvl="1"/>
            <a:r>
              <a:rPr lang="en-US" altLang="zh-CN" sz="2400" b="1" dirty="0">
                <a:solidFill>
                  <a:srgbClr val="9999FF"/>
                </a:solidFill>
                <a:latin typeface="Comic Sans MS" pitchFamily="66" charset="0"/>
              </a:rPr>
              <a:t>Structural hazards </a:t>
            </a:r>
          </a:p>
          <a:p>
            <a:pPr lvl="2">
              <a:lnSpc>
                <a:spcPct val="90000"/>
              </a:lnSpc>
            </a:pPr>
            <a:r>
              <a:rPr lang="en-US" altLang="zh-CN" b="1" dirty="0">
                <a:solidFill>
                  <a:srgbClr val="9999FF"/>
                </a:solidFill>
                <a:latin typeface="Comic Sans MS" pitchFamily="66" charset="0"/>
              </a:rPr>
              <a:t>These are conflicts over hardware resources.</a:t>
            </a:r>
            <a:r>
              <a:rPr lang="en-US" altLang="zh-CN" dirty="0"/>
              <a:t> 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数据冒险</a:t>
            </a:r>
            <a:endParaRPr lang="en-US" altLang="zh-CN" b="1" dirty="0">
              <a:latin typeface="Comic Sans MS" pitchFamily="66" charset="0"/>
            </a:endParaRPr>
          </a:p>
          <a:p>
            <a:pPr lvl="2">
              <a:lnSpc>
                <a:spcPct val="90000"/>
              </a:lnSpc>
            </a:pPr>
            <a:r>
              <a:rPr lang="zh-CN" altLang="en-US" sz="2000" b="1" dirty="0">
                <a:latin typeface="Comic Sans MS" pitchFamily="66" charset="0"/>
              </a:rPr>
              <a:t>几条指令重叠执行时，一条指令依赖前面指令的结果却没有准备好（还没有计算或存储</a:t>
            </a:r>
            <a:r>
              <a:rPr lang="zh-CN" altLang="en-US" sz="2000" b="1" dirty="0" smtClean="0">
                <a:latin typeface="Comic Sans MS" pitchFamily="66" charset="0"/>
              </a:rPr>
              <a:t>）</a:t>
            </a:r>
            <a:endParaRPr lang="en-US" altLang="zh-CN" sz="2000" b="1" dirty="0">
              <a:solidFill>
                <a:srgbClr val="9999FF"/>
              </a:solidFill>
              <a:latin typeface="Comic Sans MS" pitchFamily="66" charset="0"/>
            </a:endParaRPr>
          </a:p>
          <a:p>
            <a:pPr lvl="2"/>
            <a:r>
              <a:rPr lang="zh-CN" altLang="en-US" b="1" dirty="0" smtClean="0">
                <a:solidFill>
                  <a:srgbClr val="FD0128"/>
                </a:solidFill>
                <a:latin typeface="Comic Sans MS" pitchFamily="66" charset="0"/>
              </a:rPr>
              <a:t>解决方法：寄存器堆</a:t>
            </a:r>
            <a:r>
              <a:rPr lang="en-US" altLang="zh-CN" b="1" dirty="0" smtClean="0">
                <a:solidFill>
                  <a:srgbClr val="FD0128"/>
                </a:solidFill>
                <a:latin typeface="Comic Sans MS" pitchFamily="66" charset="0"/>
              </a:rPr>
              <a:t>WB</a:t>
            </a:r>
            <a:r>
              <a:rPr lang="zh-CN" altLang="en-US" b="1" dirty="0" smtClean="0">
                <a:solidFill>
                  <a:srgbClr val="FD0128"/>
                </a:solidFill>
                <a:latin typeface="Comic Sans MS" pitchFamily="66" charset="0"/>
              </a:rPr>
              <a:t>先写</a:t>
            </a:r>
            <a:r>
              <a:rPr lang="en-US" altLang="zh-CN" b="1" dirty="0" smtClean="0">
                <a:solidFill>
                  <a:srgbClr val="FD0128"/>
                </a:solidFill>
                <a:latin typeface="Comic Sans MS" pitchFamily="66" charset="0"/>
              </a:rPr>
              <a:t>ID</a:t>
            </a:r>
            <a:r>
              <a:rPr lang="zh-CN" altLang="en-US" b="1" dirty="0" smtClean="0">
                <a:solidFill>
                  <a:srgbClr val="FD0128"/>
                </a:solidFill>
                <a:latin typeface="Comic Sans MS" pitchFamily="66" charset="0"/>
              </a:rPr>
              <a:t>后读，</a:t>
            </a:r>
            <a:r>
              <a:rPr lang="en-US" altLang="zh-CN" b="1" dirty="0" smtClean="0">
                <a:solidFill>
                  <a:srgbClr val="FD0128"/>
                </a:solidFill>
                <a:latin typeface="Comic Sans MS" pitchFamily="66" charset="0"/>
              </a:rPr>
              <a:t>Forwarding </a:t>
            </a:r>
            <a:r>
              <a:rPr lang="zh-CN" altLang="en-US" b="1" dirty="0" smtClean="0">
                <a:solidFill>
                  <a:srgbClr val="FD0128"/>
                </a:solidFill>
                <a:latin typeface="Comic Sans MS" pitchFamily="66" charset="0"/>
              </a:rPr>
              <a:t>通路，软件调度，否则就必须停顿</a:t>
            </a:r>
            <a:r>
              <a:rPr lang="en-US" altLang="zh-CN" b="1" dirty="0" smtClean="0">
                <a:solidFill>
                  <a:srgbClr val="FD0128"/>
                </a:solidFill>
                <a:latin typeface="Comic Sans MS" pitchFamily="66" charset="0"/>
              </a:rPr>
              <a:t> </a:t>
            </a:r>
            <a:endParaRPr lang="en-US" altLang="zh-CN" sz="2000" b="1" dirty="0">
              <a:solidFill>
                <a:srgbClr val="9999FF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en-US" altLang="zh-CN" sz="2400" b="1" dirty="0">
                <a:solidFill>
                  <a:srgbClr val="9999FF"/>
                </a:solidFill>
                <a:latin typeface="Comic Sans MS" pitchFamily="66" charset="0"/>
              </a:rPr>
              <a:t>Control hazards</a:t>
            </a:r>
            <a:r>
              <a:rPr lang="en-US" altLang="zh-CN" dirty="0">
                <a:solidFill>
                  <a:srgbClr val="9999FF"/>
                </a:solidFill>
                <a:latin typeface="Comic Sans MS" pitchFamily="66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solidFill>
                  <a:srgbClr val="9999FF"/>
                </a:solidFill>
                <a:latin typeface="Comic Sans MS" pitchFamily="66" charset="0"/>
              </a:rPr>
              <a:t>branch condition and the branch PC are not available in time to fetch an instruction on the next clock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86</a:t>
            </a:fld>
            <a:endParaRPr lang="zh-CN" altLang="en-US"/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642910" y="571480"/>
            <a:ext cx="8501090" cy="171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+mj-ea"/>
                <a:cs typeface="+mj-cs"/>
              </a:rPr>
              <a:t>A.2 </a:t>
            </a:r>
            <a:r>
              <a:rPr kumimoji="0" lang="zh-CN" altLang="en-US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+mj-ea"/>
                <a:cs typeface="+mj-cs"/>
              </a:rPr>
              <a:t>流水线的主要障碍</a:t>
            </a:r>
            <a:r>
              <a:rPr kumimoji="0" lang="en-US" altLang="zh-CN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+mj-ea"/>
                <a:cs typeface="+mj-cs"/>
              </a:rPr>
              <a:t>—</a:t>
            </a:r>
            <a:r>
              <a:rPr kumimoji="0" lang="zh-CN" altLang="en-US" sz="4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+mj-ea"/>
                <a:cs typeface="+mj-cs"/>
              </a:rPr>
              <a:t>流水线冒险</a:t>
            </a:r>
            <a:r>
              <a:rPr kumimoji="0" lang="zh-CN" altLang="en-US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+mj-ea"/>
                <a:cs typeface="+mj-cs"/>
              </a:rPr>
              <a:t/>
            </a:r>
            <a:br>
              <a:rPr kumimoji="0" lang="zh-CN" altLang="en-US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itchFamily="2" charset="-122"/>
                <a:ea typeface="+mj-ea"/>
                <a:cs typeface="+mj-cs"/>
              </a:rPr>
            </a:b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071538" y="1857364"/>
            <a:ext cx="7358114" cy="4286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一、冒险分类与有停顿流水线性能</a:t>
            </a:r>
            <a:endParaRPr lang="en-US" altLang="zh-CN" sz="3200" b="1" dirty="0" smtClean="0">
              <a:solidFill>
                <a:schemeClr val="tx1">
                  <a:lumMod val="50000"/>
                  <a:lumOff val="50000"/>
                </a:schemeClr>
              </a:solidFill>
              <a:latin typeface="Comic Sans MS" pitchFamily="66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mic Sans MS" pitchFamily="66" charset="0"/>
              </a:rPr>
              <a:t>二、结构冒险</a:t>
            </a:r>
            <a:endParaRPr lang="en-US" altLang="zh-CN" sz="3200" b="1" dirty="0" smtClean="0">
              <a:solidFill>
                <a:schemeClr val="tx1">
                  <a:lumMod val="50000"/>
                  <a:lumOff val="50000"/>
                </a:schemeClr>
              </a:solidFill>
              <a:latin typeface="Comic Sans MS" pitchFamily="66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三、数据冒险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zh-CN" altLang="en-US" sz="3200" b="1" dirty="0" smtClean="0">
                <a:latin typeface="Comic Sans MS" pitchFamily="66" charset="0"/>
              </a:rPr>
              <a:t>四、控制冒险</a:t>
            </a:r>
            <a:endParaRPr kumimoji="0" lang="en-US" altLang="zh-CN" sz="32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b="1" dirty="0" smtClean="0">
                <a:latin typeface="Comic Sans MS" pitchFamily="66" charset="0"/>
              </a:rPr>
              <a:t>四、控制冒险</a:t>
            </a:r>
            <a:endParaRPr lang="en-US" altLang="zh-CN" b="1" dirty="0" smtClean="0">
              <a:latin typeface="Comic Sans MS" pitchFamily="66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754188"/>
            <a:ext cx="4876800" cy="4494212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FF3300"/>
                </a:solidFill>
                <a:latin typeface="Comic Sans MS" pitchFamily="66" charset="0"/>
              </a:rPr>
              <a:t>控制冒险</a:t>
            </a:r>
            <a:endParaRPr lang="en-US" altLang="zh-CN" b="1" dirty="0" smtClean="0">
              <a:solidFill>
                <a:srgbClr val="FF3300"/>
              </a:solidFill>
              <a:latin typeface="Comic Sans MS" pitchFamily="66" charset="0"/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FF3300"/>
              </a:solidFill>
              <a:latin typeface="Comic Sans MS" pitchFamily="66" charset="0"/>
            </a:endParaRPr>
          </a:p>
          <a:p>
            <a:r>
              <a:rPr lang="zh-CN" altLang="en-US" b="1" dirty="0" smtClean="0">
                <a:solidFill>
                  <a:srgbClr val="FF3300"/>
                </a:solidFill>
                <a:latin typeface="Comic Sans MS" pitchFamily="66" charset="0"/>
              </a:rPr>
              <a:t>怎样解决控制冒险</a:t>
            </a:r>
            <a:endParaRPr lang="en-US" altLang="zh-CN" b="1" dirty="0">
              <a:solidFill>
                <a:srgbClr val="FF3300"/>
              </a:solidFill>
              <a:latin typeface="Comic Sans MS" pitchFamily="66" charset="0"/>
            </a:endParaRPr>
          </a:p>
        </p:txBody>
      </p:sp>
      <p:pic>
        <p:nvPicPr>
          <p:cNvPr id="3076" name="Picture 4" descr="E:\English_arch\busine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362200"/>
            <a:ext cx="358140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32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流水线冒险</a:t>
            </a:r>
            <a:endParaRPr lang="en-US" altLang="zh-CN" b="1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sz="2400" b="1" dirty="0"/>
              <a:t>Taxonomy of Hazards</a:t>
            </a:r>
            <a:r>
              <a:rPr lang="en-US" altLang="zh-CN" sz="2000" b="1" dirty="0">
                <a:solidFill>
                  <a:schemeClr val="accent2"/>
                </a:solidFill>
                <a:latin typeface="Comic Sans MS" pitchFamily="66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sz="2000" b="1" dirty="0">
                <a:solidFill>
                  <a:srgbClr val="9999FF"/>
                </a:solidFill>
                <a:latin typeface="Comic Sans MS" pitchFamily="66" charset="0"/>
              </a:rPr>
              <a:t>Structural hazards</a:t>
            </a:r>
            <a:r>
              <a:rPr lang="en-US" altLang="zh-CN" sz="1800" b="1" dirty="0">
                <a:solidFill>
                  <a:srgbClr val="9999FF"/>
                </a:solidFill>
                <a:latin typeface="Comic Sans MS" pitchFamily="66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zh-CN" sz="1800" b="1" dirty="0">
                <a:solidFill>
                  <a:srgbClr val="9999FF"/>
                </a:solidFill>
                <a:latin typeface="Comic Sans MS" pitchFamily="66" charset="0"/>
              </a:rPr>
              <a:t>These are conflicts over hardware resources.</a:t>
            </a:r>
            <a:r>
              <a:rPr lang="en-US" altLang="zh-CN" sz="1800" dirty="0"/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zh-CN" sz="2000" dirty="0">
                <a:solidFill>
                  <a:srgbClr val="FD0128"/>
                </a:solidFill>
                <a:latin typeface="Comic Sans MS" pitchFamily="66" charset="0"/>
              </a:rPr>
              <a:t>OK, maybe add extra hardware resources; </a:t>
            </a:r>
          </a:p>
          <a:p>
            <a:pPr lvl="2">
              <a:lnSpc>
                <a:spcPct val="90000"/>
              </a:lnSpc>
              <a:buFont typeface="Symbol" pitchFamily="18" charset="2"/>
              <a:buNone/>
            </a:pPr>
            <a:r>
              <a:rPr lang="en-US" altLang="zh-CN" sz="2000" dirty="0">
                <a:solidFill>
                  <a:srgbClr val="FD0128"/>
                </a:solidFill>
                <a:latin typeface="Comic Sans MS" pitchFamily="66" charset="0"/>
              </a:rPr>
              <a:t>    or  full pipelined the functional units(split </a:t>
            </a:r>
            <a:r>
              <a:rPr lang="en-US" altLang="zh-CN" sz="2000" dirty="0" err="1">
                <a:solidFill>
                  <a:srgbClr val="FD0128"/>
                </a:solidFill>
                <a:latin typeface="Comic Sans MS" pitchFamily="66" charset="0"/>
              </a:rPr>
              <a:t>duble</a:t>
            </a:r>
            <a:r>
              <a:rPr lang="en-US" altLang="zh-CN" sz="2000" dirty="0">
                <a:solidFill>
                  <a:srgbClr val="FD0128"/>
                </a:solidFill>
                <a:latin typeface="Comic Sans MS" pitchFamily="66" charset="0"/>
              </a:rPr>
              <a:t> bump); </a:t>
            </a:r>
          </a:p>
          <a:p>
            <a:pPr lvl="2">
              <a:lnSpc>
                <a:spcPct val="90000"/>
              </a:lnSpc>
              <a:buFont typeface="Symbol" pitchFamily="18" charset="2"/>
              <a:buNone/>
            </a:pPr>
            <a:r>
              <a:rPr lang="en-US" altLang="zh-CN" sz="2000" dirty="0">
                <a:solidFill>
                  <a:srgbClr val="FD0128"/>
                </a:solidFill>
                <a:latin typeface="Comic Sans MS" pitchFamily="66" charset="0"/>
              </a:rPr>
              <a:t>    otherwise still have to stall</a:t>
            </a:r>
            <a:endParaRPr lang="en-US" altLang="zh-CN" sz="1800" dirty="0"/>
          </a:p>
          <a:p>
            <a:pPr lvl="1">
              <a:lnSpc>
                <a:spcPct val="90000"/>
              </a:lnSpc>
            </a:pPr>
            <a:r>
              <a:rPr lang="en-US" altLang="zh-CN" sz="2000" b="1" dirty="0">
                <a:solidFill>
                  <a:srgbClr val="9999FF"/>
                </a:solidFill>
                <a:latin typeface="Comic Sans MS" pitchFamily="66" charset="0"/>
              </a:rPr>
              <a:t>Data hazards</a:t>
            </a:r>
          </a:p>
          <a:p>
            <a:pPr lvl="2">
              <a:lnSpc>
                <a:spcPct val="90000"/>
              </a:lnSpc>
            </a:pPr>
            <a:r>
              <a:rPr lang="en-US" altLang="zh-CN" sz="1800" b="1" dirty="0">
                <a:solidFill>
                  <a:srgbClr val="9999FF"/>
                </a:solidFill>
                <a:latin typeface="Comic Sans MS" pitchFamily="66" charset="0"/>
              </a:rPr>
              <a:t>Instruction depends on result of prior computation which is not ready (computed or stored) yet</a:t>
            </a:r>
          </a:p>
          <a:p>
            <a:pPr lvl="2">
              <a:lnSpc>
                <a:spcPct val="90000"/>
              </a:lnSpc>
            </a:pPr>
            <a:r>
              <a:rPr lang="en-US" altLang="zh-CN" sz="1800" b="1" dirty="0">
                <a:solidFill>
                  <a:srgbClr val="FF0000"/>
                </a:solidFill>
                <a:latin typeface="Comic Sans MS" pitchFamily="66" charset="0"/>
              </a:rPr>
              <a:t>OK, we did these, Double Bump, Forwarding path, </a:t>
            </a:r>
          </a:p>
          <a:p>
            <a:pPr lvl="2">
              <a:lnSpc>
                <a:spcPct val="90000"/>
              </a:lnSpc>
              <a:buFont typeface="Symbol" pitchFamily="18" charset="2"/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omic Sans MS" pitchFamily="66" charset="0"/>
              </a:rPr>
              <a:t>    software scheduling, otherwise have to stall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控制冒险 </a:t>
            </a:r>
            <a:r>
              <a:rPr lang="en-US" altLang="zh-CN" sz="2400" b="1" dirty="0" smtClean="0">
                <a:latin typeface="Comic Sans MS" pitchFamily="66" charset="0"/>
              </a:rPr>
              <a:t>Control </a:t>
            </a:r>
            <a:r>
              <a:rPr lang="en-US" altLang="zh-CN" sz="2400" b="1" dirty="0">
                <a:latin typeface="Comic Sans MS" pitchFamily="66" charset="0"/>
              </a:rPr>
              <a:t>hazards</a:t>
            </a:r>
            <a:r>
              <a:rPr lang="en-US" altLang="zh-CN" dirty="0">
                <a:solidFill>
                  <a:srgbClr val="0000FF"/>
                </a:solidFill>
                <a:latin typeface="Comic Sans MS" pitchFamily="66" charset="0"/>
              </a:rPr>
              <a:t> </a:t>
            </a:r>
          </a:p>
          <a:p>
            <a:pPr marL="457200" lvl="1" indent="0">
              <a:lnSpc>
                <a:spcPts val="3400"/>
              </a:lnSpc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Comic Sans MS" pitchFamily="66" charset="0"/>
              </a:rPr>
              <a:t>（</a:t>
            </a:r>
            <a:r>
              <a:rPr lang="zh-CN" altLang="en-US" sz="2400" b="1" dirty="0">
                <a:solidFill>
                  <a:srgbClr val="0070C0"/>
                </a:solidFill>
                <a:latin typeface="Comic Sans MS" pitchFamily="66" charset="0"/>
              </a:rPr>
              <a:t>流水线上执行转移指令时）</a:t>
            </a:r>
            <a:endParaRPr lang="en-US" altLang="zh-CN" sz="2400" b="1" dirty="0">
              <a:solidFill>
                <a:srgbClr val="0070C0"/>
              </a:solidFill>
              <a:latin typeface="Comic Sans MS" pitchFamily="66" charset="0"/>
            </a:endParaRPr>
          </a:p>
          <a:p>
            <a:pPr lvl="2">
              <a:lnSpc>
                <a:spcPts val="3400"/>
              </a:lnSpc>
            </a:pPr>
            <a:r>
              <a:rPr lang="zh-CN" altLang="en-US" b="1" dirty="0" smtClean="0">
                <a:latin typeface="Comic Sans MS" pitchFamily="66" charset="0"/>
              </a:rPr>
              <a:t>进入下一个时钟周期时，转移</a:t>
            </a:r>
            <a:r>
              <a:rPr lang="zh-CN" altLang="en-US" b="1" dirty="0">
                <a:latin typeface="Comic Sans MS" pitchFamily="66" charset="0"/>
              </a:rPr>
              <a:t>条件和</a:t>
            </a:r>
            <a:r>
              <a:rPr lang="zh-CN" altLang="en-US" b="1" dirty="0" smtClean="0">
                <a:latin typeface="Comic Sans MS" pitchFamily="66" charset="0"/>
              </a:rPr>
              <a:t>转移目标</a:t>
            </a:r>
            <a:r>
              <a:rPr lang="en-US" altLang="zh-CN" b="1" dirty="0" smtClean="0">
                <a:latin typeface="Comic Sans MS" pitchFamily="66" charset="0"/>
              </a:rPr>
              <a:t>PC</a:t>
            </a:r>
            <a:r>
              <a:rPr lang="zh-CN" altLang="en-US" b="1" dirty="0" smtClean="0">
                <a:latin typeface="Comic Sans MS" pitchFamily="66" charset="0"/>
              </a:rPr>
              <a:t>不能按时提供给</a:t>
            </a:r>
            <a:r>
              <a:rPr lang="en-US" altLang="zh-CN" b="1" dirty="0" smtClean="0">
                <a:latin typeface="Comic Sans MS" pitchFamily="66" charset="0"/>
              </a:rPr>
              <a:t>IF</a:t>
            </a:r>
            <a:r>
              <a:rPr lang="zh-CN" altLang="en-US" b="1" dirty="0">
                <a:latin typeface="Comic Sans MS" pitchFamily="66" charset="0"/>
              </a:rPr>
              <a:t>段取</a:t>
            </a:r>
            <a:r>
              <a:rPr lang="zh-CN" altLang="en-US" b="1" dirty="0" smtClean="0">
                <a:latin typeface="Comic Sans MS" pitchFamily="66" charset="0"/>
              </a:rPr>
              <a:t>指令。</a:t>
            </a:r>
            <a:endParaRPr lang="en-US" altLang="zh-CN" dirty="0">
              <a:latin typeface="Comic Sans MS" pitchFamily="66" charset="0"/>
            </a:endParaRPr>
          </a:p>
          <a:p>
            <a:pPr marL="914400" lvl="2" indent="0">
              <a:lnSpc>
                <a:spcPct val="90000"/>
              </a:lnSpc>
              <a:buNone/>
            </a:pPr>
            <a:endParaRPr lang="en-US" altLang="zh-CN" sz="2000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202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控制冒险</a:t>
            </a:r>
            <a:endParaRPr lang="en-US" altLang="zh-CN" b="1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84784"/>
            <a:ext cx="88392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b="1" dirty="0" smtClean="0">
                <a:latin typeface="Comic Sans MS" pitchFamily="66" charset="0"/>
              </a:rPr>
              <a:t>原因</a:t>
            </a:r>
            <a:endParaRPr lang="en-US" altLang="zh-CN" b="1" dirty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>
                <a:latin typeface="Comic Sans MS" pitchFamily="66" charset="0"/>
              </a:rPr>
              <a:t>进入下一个时钟周期时，转移条件和</a:t>
            </a:r>
            <a:r>
              <a:rPr lang="zh-CN" altLang="en-US" b="1" dirty="0" smtClean="0">
                <a:latin typeface="Comic Sans MS" pitchFamily="66" charset="0"/>
              </a:rPr>
              <a:t>转移目标</a:t>
            </a:r>
            <a:r>
              <a:rPr lang="en-US" altLang="zh-CN" b="1" dirty="0" smtClean="0">
                <a:latin typeface="Comic Sans MS" pitchFamily="66" charset="0"/>
              </a:rPr>
              <a:t>PC</a:t>
            </a:r>
            <a:r>
              <a:rPr lang="zh-CN" altLang="en-US" b="1" dirty="0">
                <a:latin typeface="Comic Sans MS" pitchFamily="66" charset="0"/>
              </a:rPr>
              <a:t>不能按时提供给</a:t>
            </a:r>
            <a:r>
              <a:rPr lang="en-US" altLang="zh-CN" b="1" dirty="0">
                <a:latin typeface="Comic Sans MS" pitchFamily="66" charset="0"/>
              </a:rPr>
              <a:t>IF</a:t>
            </a:r>
            <a:r>
              <a:rPr lang="zh-CN" altLang="en-US" b="1" dirty="0">
                <a:latin typeface="Comic Sans MS" pitchFamily="66" charset="0"/>
              </a:rPr>
              <a:t>段取</a:t>
            </a:r>
            <a:r>
              <a:rPr lang="zh-CN" altLang="en-US" b="1" dirty="0" smtClean="0">
                <a:latin typeface="Comic Sans MS" pitchFamily="66" charset="0"/>
              </a:rPr>
              <a:t>指令。</a:t>
            </a:r>
            <a:endParaRPr lang="en-US" altLang="zh-CN" b="1" dirty="0" smtClean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 smtClean="0">
                <a:latin typeface="Comic Sans MS" pitchFamily="66" charset="0"/>
              </a:rPr>
              <a:t>计算目标</a:t>
            </a:r>
            <a:r>
              <a:rPr lang="en-US" altLang="zh-CN" b="1" dirty="0" smtClean="0">
                <a:latin typeface="Comic Sans MS" pitchFamily="66" charset="0"/>
              </a:rPr>
              <a:t>PC</a:t>
            </a:r>
            <a:r>
              <a:rPr lang="zh-CN" altLang="en-US" b="1" dirty="0" smtClean="0">
                <a:latin typeface="Comic Sans MS" pitchFamily="66" charset="0"/>
              </a:rPr>
              <a:t>要花时间</a:t>
            </a:r>
            <a:endParaRPr lang="en-US" altLang="zh-CN" b="1" dirty="0" smtClean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 smtClean="0">
                <a:latin typeface="Comic Sans MS" pitchFamily="66" charset="0"/>
              </a:rPr>
              <a:t>对于条件转移，转移分析要花时间计算</a:t>
            </a:r>
            <a:endParaRPr lang="en-US" altLang="zh-CN" b="1" dirty="0" smtClean="0"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r>
              <a:rPr lang="zh-CN" altLang="en-US" b="1" dirty="0" smtClean="0">
                <a:solidFill>
                  <a:srgbClr val="0000FF"/>
                </a:solidFill>
                <a:latin typeface="Comic Sans MS" pitchFamily="66" charset="0"/>
              </a:rPr>
              <a:t>控制冒险</a:t>
            </a:r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（</a:t>
            </a:r>
            <a:r>
              <a:rPr lang="en-US" altLang="zh-CN" sz="2400" b="1" dirty="0" smtClean="0">
                <a:solidFill>
                  <a:srgbClr val="0000FF"/>
                </a:solidFill>
                <a:latin typeface="Comic Sans MS" pitchFamily="66" charset="0"/>
              </a:rPr>
              <a:t>SPEC2000int</a:t>
            </a:r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条件转移平均</a:t>
            </a:r>
            <a:r>
              <a:rPr lang="en-US" altLang="zh-CN" sz="2400" b="1" dirty="0" smtClean="0">
                <a:solidFill>
                  <a:srgbClr val="0000FF"/>
                </a:solidFill>
                <a:latin typeface="Comic Sans MS" pitchFamily="66" charset="0"/>
              </a:rPr>
              <a:t>12%</a:t>
            </a:r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）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引起</a:t>
            </a:r>
            <a:r>
              <a:rPr lang="en-US" altLang="zh-CN" b="1" dirty="0" smtClean="0">
                <a:solidFill>
                  <a:srgbClr val="C00000"/>
                </a:solidFill>
                <a:latin typeface="Comic Sans MS" pitchFamily="66" charset="0"/>
              </a:rPr>
              <a:t>MIPS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流水线的性能损失</a:t>
            </a:r>
            <a:r>
              <a:rPr lang="en-US" altLang="zh-CN" b="1" dirty="0" smtClean="0">
                <a:solidFill>
                  <a:srgbClr val="0000FF"/>
                </a:solidFill>
                <a:latin typeface="Comic Sans MS" pitchFamily="66" charset="0"/>
              </a:rPr>
              <a:t> </a:t>
            </a:r>
            <a:r>
              <a:rPr lang="zh-CN" altLang="en-US" b="1" dirty="0" smtClean="0">
                <a:solidFill>
                  <a:srgbClr val="0000FF"/>
                </a:solidFill>
                <a:latin typeface="Comic Sans MS" pitchFamily="66" charset="0"/>
              </a:rPr>
              <a:t>比数据冒险大得多。</a:t>
            </a:r>
            <a:endParaRPr lang="en-US" altLang="zh-CN" b="1" dirty="0">
              <a:solidFill>
                <a:srgbClr val="0000FF"/>
              </a:solidFill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7113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例子：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Branches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90</a:t>
            </a:fld>
            <a:endParaRPr lang="zh-CN" altLang="en-US"/>
          </a:p>
        </p:txBody>
      </p:sp>
      <p:grpSp>
        <p:nvGrpSpPr>
          <p:cNvPr id="2" name="组合 10"/>
          <p:cNvGrpSpPr/>
          <p:nvPr/>
        </p:nvGrpSpPr>
        <p:grpSpPr>
          <a:xfrm>
            <a:off x="0" y="1447800"/>
            <a:ext cx="9144000" cy="4724400"/>
            <a:chOff x="0" y="1447800"/>
            <a:chExt cx="9144000" cy="4724400"/>
          </a:xfrm>
        </p:grpSpPr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447800"/>
              <a:ext cx="9144000" cy="4724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31" name="Text Box 7"/>
            <p:cNvSpPr txBox="1">
              <a:spLocks noChangeArrowheads="1"/>
            </p:cNvSpPr>
            <p:nvPr/>
          </p:nvSpPr>
          <p:spPr bwMode="auto">
            <a:xfrm>
              <a:off x="3200400" y="2362200"/>
              <a:ext cx="914400" cy="266700"/>
            </a:xfrm>
            <a:prstGeom prst="rect">
              <a:avLst/>
            </a:prstGeom>
            <a:solidFill>
              <a:srgbClr val="E8E2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en-US" altLang="zh-CN" sz="2000"/>
                <a:t>24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501058" y="4286256"/>
              <a:ext cx="64294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smtClean="0"/>
                <a:t>R0</a:t>
              </a:r>
              <a:endParaRPr lang="zh-CN" altLang="en-US" sz="2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01024" y="3143248"/>
              <a:ext cx="64294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smtClean="0"/>
                <a:t>R0</a:t>
              </a:r>
              <a:endParaRPr lang="zh-CN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39965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回忆：基本流水线通路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304800" y="1447800"/>
          <a:ext cx="83820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999" name="Picture" r:id="rId3" imgW="4762500" imgH="3305556" progId="Word.Picture.8">
                  <p:embed/>
                </p:oleObj>
              </mc:Choice>
              <mc:Fallback>
                <p:oleObj name="Picture" r:id="rId3" imgW="4762500" imgH="3305556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47800"/>
                        <a:ext cx="8382000" cy="4876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96969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01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控制冒险</a:t>
            </a:r>
            <a:endParaRPr lang="en-US" altLang="zh-CN" b="1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79511" y="1628800"/>
            <a:ext cx="8712969" cy="5040560"/>
            <a:chOff x="0" y="864"/>
            <a:chExt cx="5806" cy="3484"/>
          </a:xfrm>
        </p:grpSpPr>
        <p:pic>
          <p:nvPicPr>
            <p:cNvPr id="922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4"/>
              <a:ext cx="5806" cy="3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221" name="Text Box 5"/>
            <p:cNvSpPr txBox="1">
              <a:spLocks noChangeArrowheads="1"/>
            </p:cNvSpPr>
            <p:nvPr/>
          </p:nvSpPr>
          <p:spPr bwMode="auto">
            <a:xfrm>
              <a:off x="624" y="1797"/>
              <a:ext cx="336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600" b="1" dirty="0">
                  <a:latin typeface="Comic Sans MS" pitchFamily="66" charset="0"/>
                </a:rPr>
                <a:t>24</a:t>
              </a: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21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处理控制冒险</a:t>
            </a:r>
            <a:endParaRPr lang="en-US" altLang="zh-CN" b="1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596" y="1285860"/>
            <a:ext cx="8229600" cy="5043510"/>
          </a:xfrm>
          <a:ln>
            <a:noFill/>
          </a:ln>
        </p:spPr>
        <p:txBody>
          <a:bodyPr>
            <a:normAutofit lnSpcReduction="10000"/>
          </a:bodyPr>
          <a:lstStyle/>
          <a:p>
            <a:r>
              <a:rPr lang="en-US" altLang="zh-CN" sz="2800" b="1" dirty="0" smtClean="0">
                <a:latin typeface="Comic Sans MS" pitchFamily="66" charset="0"/>
              </a:rPr>
              <a:t>4</a:t>
            </a:r>
            <a:r>
              <a:rPr lang="zh-CN" altLang="en-US" sz="2800" b="1" dirty="0" smtClean="0">
                <a:latin typeface="Comic Sans MS" pitchFamily="66" charset="0"/>
              </a:rPr>
              <a:t>种简单解决方法（硬件）</a:t>
            </a:r>
            <a:endParaRPr lang="en-US" altLang="zh-CN" sz="2800" dirty="0"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冻结或冲刷流水线</a:t>
            </a:r>
            <a:endParaRPr lang="en-US" altLang="zh-CN" sz="2400" b="1" dirty="0" smtClean="0">
              <a:solidFill>
                <a:srgbClr val="0000FF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预测转移不发生</a:t>
            </a:r>
            <a:r>
              <a:rPr lang="en-US" altLang="zh-CN" sz="2400" b="1" dirty="0" smtClean="0">
                <a:solidFill>
                  <a:srgbClr val="0000FF"/>
                </a:solidFill>
                <a:latin typeface="Comic Sans MS" pitchFamily="66" charset="0"/>
              </a:rPr>
              <a:t>Predict-not-taken </a:t>
            </a:r>
            <a:r>
              <a:rPr lang="en-US" altLang="zh-CN" sz="2400" b="1" dirty="0">
                <a:solidFill>
                  <a:srgbClr val="0000FF"/>
                </a:solidFill>
                <a:latin typeface="Comic Sans MS" pitchFamily="66" charset="0"/>
              </a:rPr>
              <a:t>(Predict-untaken)</a:t>
            </a:r>
          </a:p>
          <a:p>
            <a:pPr lvl="2"/>
            <a:r>
              <a:rPr lang="zh-CN" altLang="en-US" sz="2000" b="1" dirty="0" smtClean="0">
                <a:latin typeface="Comic Sans MS" pitchFamily="66" charset="0"/>
              </a:rPr>
              <a:t>处理每条转移指令都当作</a:t>
            </a: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未</a:t>
            </a:r>
            <a:r>
              <a:rPr lang="zh-CN" altLang="en-US" sz="2000" b="1" dirty="0" smtClean="0">
                <a:latin typeface="Comic Sans MS" pitchFamily="66" charset="0"/>
              </a:rPr>
              <a:t>发生转移</a:t>
            </a:r>
            <a:endParaRPr lang="en-US" altLang="zh-CN" sz="2000" b="1" dirty="0"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预测转移发生</a:t>
            </a:r>
            <a:r>
              <a:rPr lang="en-US" altLang="zh-CN" sz="2400" b="1" dirty="0" smtClean="0">
                <a:solidFill>
                  <a:srgbClr val="0000FF"/>
                </a:solidFill>
                <a:latin typeface="Comic Sans MS" pitchFamily="66" charset="0"/>
              </a:rPr>
              <a:t>Predict-taken</a:t>
            </a:r>
            <a:endParaRPr lang="en-US" altLang="zh-CN" sz="2400" b="1" dirty="0">
              <a:solidFill>
                <a:srgbClr val="0000FF"/>
              </a:solidFill>
              <a:latin typeface="Comic Sans MS" pitchFamily="66" charset="0"/>
            </a:endParaRPr>
          </a:p>
          <a:p>
            <a:pPr lvl="2"/>
            <a:r>
              <a:rPr lang="zh-CN" altLang="en-US" sz="2000" b="1" dirty="0">
                <a:latin typeface="Comic Sans MS" pitchFamily="66" charset="0"/>
              </a:rPr>
              <a:t>处理每条转移指令都</a:t>
            </a:r>
            <a:r>
              <a:rPr lang="zh-CN" altLang="en-US" sz="2000" b="1" dirty="0" smtClean="0">
                <a:latin typeface="Comic Sans MS" pitchFamily="66" charset="0"/>
              </a:rPr>
              <a:t>当作转移</a:t>
            </a:r>
            <a:r>
              <a:rPr lang="zh-CN" altLang="en-US" sz="2000" b="1" dirty="0">
                <a:latin typeface="Comic Sans MS" pitchFamily="66" charset="0"/>
              </a:rPr>
              <a:t>发生</a:t>
            </a:r>
            <a:endParaRPr lang="en-US" altLang="zh-CN" sz="2000" b="1" dirty="0" smtClean="0"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转移延迟</a:t>
            </a:r>
            <a:endParaRPr lang="en-US" altLang="zh-CN" sz="2400" b="1" dirty="0" smtClean="0">
              <a:solidFill>
                <a:srgbClr val="0000FF"/>
              </a:solidFill>
              <a:latin typeface="Comic Sans MS" pitchFamily="66" charset="0"/>
            </a:endParaRPr>
          </a:p>
          <a:p>
            <a:r>
              <a:rPr lang="zh-CN" altLang="en-US" sz="2800" b="1" dirty="0" smtClean="0">
                <a:latin typeface="Comic Sans MS" pitchFamily="66" charset="0"/>
              </a:rPr>
              <a:t>注意：</a:t>
            </a:r>
            <a:endParaRPr lang="en-US" altLang="zh-CN" sz="2800" b="1" dirty="0" smtClean="0">
              <a:latin typeface="Comic Sans MS" pitchFamily="66" charset="0"/>
            </a:endParaRPr>
          </a:p>
          <a:p>
            <a:pPr lvl="1">
              <a:lnSpc>
                <a:spcPts val="33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以上任何一种方法都会使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硬件固定</a:t>
            </a:r>
            <a:endParaRPr lang="en-US" altLang="zh-CN" sz="2400" b="1" dirty="0" smtClean="0">
              <a:solidFill>
                <a:srgbClr val="FF0000"/>
              </a:solidFill>
              <a:latin typeface="Comic Sans MS" pitchFamily="66" charset="0"/>
            </a:endParaRPr>
          </a:p>
          <a:p>
            <a:pPr lvl="1">
              <a:lnSpc>
                <a:spcPts val="33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编译时</a:t>
            </a:r>
            <a:r>
              <a:rPr lang="zh-CN" altLang="en-US" sz="2400" b="1" dirty="0" smtClean="0">
                <a:latin typeface="Comic Sans MS" pitchFamily="66" charset="0"/>
              </a:rPr>
              <a:t>会根据</a:t>
            </a:r>
            <a:r>
              <a:rPr lang="zh-CN" altLang="en-US" sz="2400" b="1" i="1" dirty="0" smtClean="0">
                <a:solidFill>
                  <a:srgbClr val="C00000"/>
                </a:solidFill>
                <a:latin typeface="Comic Sans MS" pitchFamily="66" charset="0"/>
              </a:rPr>
              <a:t>硬件机制</a:t>
            </a:r>
            <a:r>
              <a:rPr lang="zh-CN" altLang="en-US" sz="2400" b="1" dirty="0" smtClean="0">
                <a:latin typeface="Comic Sans MS" pitchFamily="66" charset="0"/>
              </a:rPr>
              <a:t>和</a:t>
            </a:r>
            <a:r>
              <a:rPr lang="zh-CN" altLang="en-US" sz="2400" b="1" i="1" dirty="0" smtClean="0">
                <a:solidFill>
                  <a:srgbClr val="C00000"/>
                </a:solidFill>
                <a:latin typeface="Comic Sans MS" pitchFamily="66" charset="0"/>
              </a:rPr>
              <a:t>转移行为</a:t>
            </a:r>
            <a:r>
              <a:rPr lang="zh-CN" altLang="en-US" sz="2400" b="1" dirty="0" smtClean="0">
                <a:latin typeface="Comic Sans MS" pitchFamily="66" charset="0"/>
              </a:rPr>
              <a:t>对代码顺序进行调度，以获取最佳性能</a:t>
            </a:r>
            <a:endParaRPr lang="en-US" altLang="zh-CN" sz="2400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827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回忆：插入</a:t>
            </a:r>
            <a:r>
              <a:rPr lang="en-US" altLang="zh-CN" b="1" dirty="0" smtClean="0">
                <a:solidFill>
                  <a:srgbClr val="FF0000"/>
                </a:solidFill>
              </a:rPr>
              <a:t> stalls</a:t>
            </a:r>
            <a:r>
              <a:rPr lang="zh-CN" altLang="en-US" b="1" dirty="0" smtClean="0">
                <a:solidFill>
                  <a:srgbClr val="FF0000"/>
                </a:solidFill>
              </a:rPr>
              <a:t>解决冒险</a:t>
            </a:r>
            <a:r>
              <a:rPr lang="en-US" altLang="zh-CN" b="1" dirty="0" smtClean="0">
                <a:solidFill>
                  <a:srgbClr val="FF0000"/>
                </a:solidFill>
              </a:rPr>
              <a:t> 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79512" y="1628800"/>
            <a:ext cx="8640960" cy="5046638"/>
            <a:chOff x="0" y="840"/>
            <a:chExt cx="5760" cy="3480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0" y="840"/>
              <a:ext cx="5760" cy="3480"/>
              <a:chOff x="0" y="840"/>
              <a:chExt cx="5760" cy="3480"/>
            </a:xfrm>
          </p:grpSpPr>
          <p:pic>
            <p:nvPicPr>
              <p:cNvPr id="10244" name="Picture 4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840"/>
                <a:ext cx="5760" cy="3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245" name="Text Box 5"/>
              <p:cNvSpPr txBox="1">
                <a:spLocks noChangeArrowheads="1"/>
              </p:cNvSpPr>
              <p:nvPr/>
            </p:nvSpPr>
            <p:spPr bwMode="auto">
              <a:xfrm>
                <a:off x="22" y="3840"/>
                <a:ext cx="1238" cy="3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1800"/>
                  <a:t>48 or 72</a:t>
                </a:r>
                <a:r>
                  <a:rPr lang="en-US" altLang="zh-CN"/>
                  <a:t>       </a:t>
                </a:r>
              </a:p>
            </p:txBody>
          </p:sp>
        </p:grpSp>
        <p:sp>
          <p:nvSpPr>
            <p:cNvPr id="10247" name="Text Box 7"/>
            <p:cNvSpPr txBox="1">
              <a:spLocks noChangeArrowheads="1"/>
            </p:cNvSpPr>
            <p:nvPr/>
          </p:nvSpPr>
          <p:spPr bwMode="auto">
            <a:xfrm>
              <a:off x="672" y="1776"/>
              <a:ext cx="336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FF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indent="-342900"/>
              <a:r>
                <a:rPr lang="en-US" altLang="zh-CN" sz="1600" b="1"/>
                <a:t>24</a:t>
              </a:r>
            </a:p>
          </p:txBody>
        </p: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35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流水线状态</a:t>
            </a:r>
            <a:endParaRPr lang="en-US" altLang="zh-CN" b="1" dirty="0"/>
          </a:p>
        </p:txBody>
      </p:sp>
      <p:graphicFrame>
        <p:nvGraphicFramePr>
          <p:cNvPr id="38975" name="Group 2111"/>
          <p:cNvGraphicFramePr>
            <a:graphicFrameLocks noGrp="1"/>
          </p:cNvGraphicFramePr>
          <p:nvPr/>
        </p:nvGraphicFramePr>
        <p:xfrm>
          <a:off x="304800" y="1752600"/>
          <a:ext cx="8534400" cy="1828800"/>
        </p:xfrm>
        <a:graphic>
          <a:graphicData uri="http://schemas.openxmlformats.org/drawingml/2006/table">
            <a:tbl>
              <a:tblPr/>
              <a:tblGrid>
                <a:gridCol w="2933700"/>
                <a:gridCol w="647700"/>
                <a:gridCol w="685800"/>
                <a:gridCol w="685800"/>
                <a:gridCol w="990600"/>
                <a:gridCol w="914400"/>
                <a:gridCol w="838200"/>
                <a:gridCol w="83820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Branch instruction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Branch Successor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stall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stall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Branch successor+1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Branch successor+2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Branch successor+3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49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0000FF"/>
                </a:solidFill>
                <a:latin typeface="Comic Sans MS" pitchFamily="66" charset="0"/>
              </a:rPr>
              <a:t>冻结或</a:t>
            </a:r>
            <a:r>
              <a:rPr lang="en-US" altLang="zh-CN" b="1" dirty="0" smtClean="0">
                <a:solidFill>
                  <a:srgbClr val="0000FF"/>
                </a:solidFill>
                <a:latin typeface="Comic Sans MS" pitchFamily="66" charset="0"/>
              </a:rPr>
              <a:t> </a:t>
            </a:r>
            <a:r>
              <a:rPr lang="zh-CN" altLang="en-US" b="1" dirty="0" smtClean="0">
                <a:latin typeface="Comic Sans MS" pitchFamily="66" charset="0"/>
              </a:rPr>
              <a:t>冲刷流水线</a:t>
            </a:r>
            <a:endParaRPr lang="en-US" altLang="zh-CN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latin typeface="Comic Sans MS" pitchFamily="66" charset="0"/>
              </a:rPr>
              <a:t>最</a:t>
            </a:r>
            <a:r>
              <a:rPr lang="zh-CN" altLang="en-US" b="1" dirty="0" smtClean="0">
                <a:latin typeface="Comic Sans MS" pitchFamily="66" charset="0"/>
              </a:rPr>
              <a:t>简单的硬件</a:t>
            </a:r>
            <a:r>
              <a:rPr lang="zh-CN" altLang="en-US" b="1" dirty="0">
                <a:latin typeface="Comic Sans MS" pitchFamily="66" charset="0"/>
              </a:rPr>
              <a:t>实现</a:t>
            </a:r>
            <a:r>
              <a:rPr lang="en-US" altLang="zh-CN" b="1" dirty="0" smtClean="0">
                <a:latin typeface="Comic Sans MS" pitchFamily="66" charset="0"/>
              </a:rPr>
              <a:t>:</a:t>
            </a:r>
            <a:endParaRPr lang="en-US" altLang="zh-CN" b="1" dirty="0">
              <a:latin typeface="Comic Sans MS" pitchFamily="66" charset="0"/>
            </a:endParaRPr>
          </a:p>
          <a:p>
            <a:pPr lvl="1"/>
            <a:r>
              <a:rPr lang="zh-CN" altLang="en-US" b="1" dirty="0" smtClean="0">
                <a:latin typeface="Comic Sans MS" pitchFamily="66" charset="0"/>
              </a:rPr>
              <a:t>在转移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目标</a:t>
            </a:r>
            <a:r>
              <a:rPr lang="zh-CN" altLang="en-US" b="1" dirty="0" smtClean="0">
                <a:latin typeface="Comic Sans MS" pitchFamily="66" charset="0"/>
              </a:rPr>
              <a:t>地址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确定前</a:t>
            </a:r>
            <a:r>
              <a:rPr lang="zh-CN" altLang="en-US" b="1" dirty="0" smtClean="0">
                <a:latin typeface="Comic Sans MS" pitchFamily="66" charset="0"/>
              </a:rPr>
              <a:t>，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保持</a:t>
            </a:r>
            <a:r>
              <a:rPr lang="zh-CN" altLang="en-US" b="1" dirty="0" smtClean="0">
                <a:latin typeface="Comic Sans MS" pitchFamily="66" charset="0"/>
              </a:rPr>
              <a:t>或者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删除</a:t>
            </a:r>
            <a:r>
              <a:rPr lang="zh-CN" altLang="en-US" b="1" dirty="0" smtClean="0">
                <a:latin typeface="Comic Sans MS" pitchFamily="66" charset="0"/>
              </a:rPr>
              <a:t>转移指令后进入流水线的指令。</a:t>
            </a:r>
            <a:endParaRPr lang="en-US" altLang="zh-CN" b="1" dirty="0">
              <a:latin typeface="Comic Sans MS" pitchFamily="66" charset="0"/>
            </a:endParaRPr>
          </a:p>
          <a:p>
            <a:pPr lvl="1"/>
            <a:r>
              <a:rPr lang="zh-CN" altLang="en-US" b="1" dirty="0" smtClean="0">
                <a:latin typeface="Comic Sans MS" pitchFamily="66" charset="0"/>
              </a:rPr>
              <a:t>性能损失是固定的，不能通过软件来减少。</a:t>
            </a:r>
            <a:endParaRPr lang="en-US" altLang="zh-CN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/>
              <a:t>转移</a:t>
            </a:r>
            <a:r>
              <a:rPr lang="en-US" altLang="zh-CN" sz="4000" b="1" dirty="0" smtClean="0"/>
              <a:t>Stalls </a:t>
            </a:r>
            <a:r>
              <a:rPr lang="zh-CN" altLang="en-US" sz="4000" b="1" dirty="0" smtClean="0"/>
              <a:t>会造成大的性能损失</a:t>
            </a:r>
            <a:endParaRPr lang="en-US" altLang="zh-CN" sz="4000" b="1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i="1" dirty="0">
                <a:solidFill>
                  <a:srgbClr val="000000"/>
                </a:solidFill>
                <a:latin typeface="Comic Sans MS" pitchFamily="66" charset="0"/>
              </a:rPr>
              <a:t>Problem:</a:t>
            </a:r>
          </a:p>
          <a:p>
            <a:pPr lvl="1"/>
            <a:r>
              <a:rPr lang="zh-CN" altLang="en-US" b="1" i="1" dirty="0" smtClean="0">
                <a:solidFill>
                  <a:srgbClr val="000000"/>
                </a:solidFill>
                <a:latin typeface="Comic Sans MS" pitchFamily="66" charset="0"/>
              </a:rPr>
              <a:t>程序中有</a:t>
            </a:r>
            <a:r>
              <a:rPr lang="en-US" altLang="zh-CN" b="1" i="1" dirty="0" smtClean="0">
                <a:solidFill>
                  <a:srgbClr val="000000"/>
                </a:solidFill>
                <a:latin typeface="Comic Sans MS" pitchFamily="66" charset="0"/>
              </a:rPr>
              <a:t>30%</a:t>
            </a:r>
            <a:r>
              <a:rPr lang="zh-CN" altLang="en-US" b="1" i="1" dirty="0" smtClean="0">
                <a:solidFill>
                  <a:srgbClr val="000000"/>
                </a:solidFill>
                <a:latin typeface="Comic Sans MS" pitchFamily="66" charset="0"/>
              </a:rPr>
              <a:t>的转移频率，理想</a:t>
            </a:r>
            <a:r>
              <a:rPr lang="en-US" altLang="zh-CN" b="1" i="1" dirty="0" smtClean="0">
                <a:solidFill>
                  <a:srgbClr val="000000"/>
                </a:solidFill>
                <a:latin typeface="Comic Sans MS" pitchFamily="66" charset="0"/>
              </a:rPr>
              <a:t>CPI</a:t>
            </a:r>
            <a:r>
              <a:rPr lang="zh-CN" altLang="en-US" b="1" i="1" dirty="0" smtClean="0">
                <a:solidFill>
                  <a:srgbClr val="000000"/>
                </a:solidFill>
                <a:latin typeface="Comic Sans MS" pitchFamily="66" charset="0"/>
              </a:rPr>
              <a:t>为</a:t>
            </a:r>
            <a:r>
              <a:rPr lang="en-US" altLang="zh-CN" b="1" i="1" dirty="0" smtClean="0">
                <a:solidFill>
                  <a:srgbClr val="000000"/>
                </a:solidFill>
                <a:latin typeface="Comic Sans MS" pitchFamily="66" charset="0"/>
              </a:rPr>
              <a:t>1</a:t>
            </a:r>
            <a:r>
              <a:rPr lang="zh-CN" altLang="en-US" b="1" i="1" dirty="0" smtClean="0">
                <a:solidFill>
                  <a:srgbClr val="000000"/>
                </a:solidFill>
                <a:latin typeface="Comic Sans MS" pitchFamily="66" charset="0"/>
              </a:rPr>
              <a:t>，插入</a:t>
            </a:r>
            <a:r>
              <a:rPr lang="en-US" altLang="zh-CN" b="1" i="1" dirty="0" smtClean="0">
                <a:solidFill>
                  <a:srgbClr val="000000"/>
                </a:solidFill>
                <a:latin typeface="Comic Sans MS" pitchFamily="66" charset="0"/>
              </a:rPr>
              <a:t>stalls</a:t>
            </a:r>
            <a:r>
              <a:rPr lang="zh-CN" altLang="en-US" b="1" i="1" dirty="0" smtClean="0">
                <a:solidFill>
                  <a:srgbClr val="000000"/>
                </a:solidFill>
                <a:latin typeface="Comic Sans MS" pitchFamily="66" charset="0"/>
              </a:rPr>
              <a:t>后的性能是多少？</a:t>
            </a:r>
            <a:endParaRPr lang="en-US" altLang="zh-CN" b="1" i="1" dirty="0">
              <a:solidFill>
                <a:srgbClr val="000000"/>
              </a:solidFill>
              <a:latin typeface="Comic Sans MS" pitchFamily="66" charset="0"/>
            </a:endParaRPr>
          </a:p>
          <a:p>
            <a:endParaRPr lang="en-US" altLang="zh-CN" dirty="0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mic Sans MS" pitchFamily="66" charset="0"/>
              </a:rPr>
              <a:t>Answer: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mic Sans MS" pitchFamily="66" charset="0"/>
              </a:rPr>
              <a:t>CPI = 1+30%</a:t>
            </a:r>
            <a:r>
              <a:rPr lang="en-US" altLang="zh-CN" dirty="0">
                <a:solidFill>
                  <a:srgbClr val="000000"/>
                </a:solidFill>
                <a:latin typeface="Comic Sans MS" pitchFamily="66" charset="0"/>
                <a:sym typeface="Symbol" pitchFamily="18" charset="2"/>
              </a:rPr>
              <a:t></a:t>
            </a:r>
            <a:r>
              <a:rPr lang="zh-CN" altLang="en-US" dirty="0">
                <a:solidFill>
                  <a:srgbClr val="000000"/>
                </a:solidFill>
                <a:latin typeface="Comic Sans MS" pitchFamily="66" charset="0"/>
                <a:sym typeface="Symbol" pitchFamily="18" charset="2"/>
              </a:rPr>
              <a:t>３＝</a:t>
            </a:r>
            <a:r>
              <a:rPr lang="en-US" altLang="zh-CN" dirty="0">
                <a:solidFill>
                  <a:srgbClr val="000000"/>
                </a:solidFill>
                <a:latin typeface="Comic Sans MS" pitchFamily="66" charset="0"/>
              </a:rPr>
              <a:t>1.9</a:t>
            </a:r>
          </a:p>
          <a:p>
            <a:pPr lvl="1"/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这种方法得到的性能大约只有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理想性能</a:t>
            </a: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的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一半</a:t>
            </a: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。</a:t>
            </a:r>
            <a:endParaRPr lang="en-US" altLang="zh-CN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110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199" y="274638"/>
            <a:ext cx="8410575" cy="1143000"/>
          </a:xfrm>
        </p:spPr>
        <p:txBody>
          <a:bodyPr>
            <a:no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总是停顿</a:t>
            </a:r>
            <a:r>
              <a:rPr lang="en-US" altLang="zh-CN" sz="3600" b="1" dirty="0" smtClean="0">
                <a:solidFill>
                  <a:srgbClr val="FF0000"/>
                </a:solidFill>
              </a:rPr>
              <a:t>——</a:t>
            </a:r>
            <a:r>
              <a:rPr lang="zh-CN" altLang="en-US" sz="3600" b="1" dirty="0" smtClean="0">
                <a:solidFill>
                  <a:srgbClr val="FF0000"/>
                </a:solidFill>
              </a:rPr>
              <a:t>降低了转移</a:t>
            </a:r>
            <a:r>
              <a:rPr lang="zh-CN" altLang="en-US" sz="3600" b="1" dirty="0" smtClean="0">
                <a:solidFill>
                  <a:srgbClr val="0070C0"/>
                </a:solidFill>
              </a:rPr>
              <a:t>不发生</a:t>
            </a:r>
            <a:r>
              <a:rPr lang="zh-CN" altLang="en-US" sz="3600" b="1" dirty="0" smtClean="0">
                <a:solidFill>
                  <a:srgbClr val="FF0000"/>
                </a:solidFill>
              </a:rPr>
              <a:t>的性能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2590800" y="3352800"/>
            <a:ext cx="685800" cy="609600"/>
          </a:xfrm>
          <a:prstGeom prst="ellipse">
            <a:avLst/>
          </a:prstGeom>
          <a:noFill/>
          <a:ln w="28575">
            <a:solidFill>
              <a:srgbClr val="00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4800" y="1447800"/>
            <a:ext cx="8562975" cy="4953000"/>
            <a:chOff x="192" y="912"/>
            <a:chExt cx="5394" cy="3120"/>
          </a:xfrm>
        </p:grpSpPr>
        <p:pic>
          <p:nvPicPr>
            <p:cNvPr id="33796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912"/>
              <a:ext cx="5394" cy="3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3798" name="Text Box 6"/>
            <p:cNvSpPr txBox="1">
              <a:spLocks noChangeArrowheads="1"/>
            </p:cNvSpPr>
            <p:nvPr/>
          </p:nvSpPr>
          <p:spPr bwMode="auto">
            <a:xfrm>
              <a:off x="791" y="1750"/>
              <a:ext cx="336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FF0000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/>
            <a:lstStyle/>
            <a:p>
              <a:pPr marL="342900" indent="-342900"/>
              <a:r>
                <a:rPr lang="en-US" altLang="zh-CN" sz="1600" b="1"/>
                <a:t>24</a:t>
              </a: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196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假设转移</a:t>
            </a:r>
            <a:r>
              <a:rPr lang="zh-CN" altLang="en-US" b="1" dirty="0" smtClean="0">
                <a:solidFill>
                  <a:srgbClr val="0070C0"/>
                </a:solidFill>
              </a:rPr>
              <a:t>不</a:t>
            </a:r>
            <a:r>
              <a:rPr lang="zh-CN" altLang="en-US" b="1" dirty="0" smtClean="0">
                <a:solidFill>
                  <a:srgbClr val="FF0000"/>
                </a:solidFill>
              </a:rPr>
              <a:t>发生会怎样？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0" y="1371600"/>
            <a:ext cx="9144000" cy="5486400"/>
            <a:chOff x="0" y="864"/>
            <a:chExt cx="5760" cy="3456"/>
          </a:xfrm>
        </p:grpSpPr>
        <p:pic>
          <p:nvPicPr>
            <p:cNvPr id="12292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864"/>
              <a:ext cx="5760" cy="34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2295" name="Text Box 7"/>
            <p:cNvSpPr txBox="1">
              <a:spLocks noChangeArrowheads="1"/>
            </p:cNvSpPr>
            <p:nvPr/>
          </p:nvSpPr>
          <p:spPr bwMode="auto">
            <a:xfrm>
              <a:off x="672" y="1824"/>
              <a:ext cx="290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36000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600" b="1">
                  <a:latin typeface="Comic Sans MS" pitchFamily="66" charset="0"/>
                </a:rPr>
                <a:t>24</a:t>
              </a:r>
            </a:p>
          </p:txBody>
        </p:sp>
      </p:grp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70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538" y="0"/>
            <a:ext cx="7729566" cy="11430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</a:rPr>
              <a:t>预测转移</a:t>
            </a:r>
            <a:r>
              <a:rPr lang="zh-CN" altLang="en-US" sz="4000" b="1" dirty="0" smtClean="0">
                <a:solidFill>
                  <a:srgbClr val="0033CC"/>
                </a:solidFill>
              </a:rPr>
              <a:t>未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选中</a:t>
            </a:r>
            <a:r>
              <a:rPr lang="zh-CN" altLang="en-US" sz="3200" dirty="0" smtClean="0">
                <a:solidFill>
                  <a:srgbClr val="FF0000"/>
                </a:solidFill>
              </a:rPr>
              <a:t>（</a:t>
            </a:r>
            <a:r>
              <a:rPr lang="en-US" altLang="zh-CN" sz="3200" dirty="0" smtClean="0">
                <a:solidFill>
                  <a:srgbClr val="FF0000"/>
                </a:solidFill>
              </a:rPr>
              <a:t>Predict </a:t>
            </a:r>
            <a:r>
              <a:rPr lang="en-US" altLang="zh-CN" sz="3200" dirty="0">
                <a:solidFill>
                  <a:srgbClr val="FF0000"/>
                </a:solidFill>
              </a:rPr>
              <a:t>–</a:t>
            </a:r>
            <a:r>
              <a:rPr lang="en-US" altLang="zh-CN" sz="3200" dirty="0" smtClean="0">
                <a:solidFill>
                  <a:srgbClr val="FF0000"/>
                </a:solidFill>
              </a:rPr>
              <a:t>not-taken</a:t>
            </a:r>
            <a:r>
              <a:rPr lang="zh-CN" altLang="en-US" sz="3200" dirty="0" smtClean="0">
                <a:solidFill>
                  <a:srgbClr val="FF0000"/>
                </a:solidFill>
              </a:rPr>
              <a:t>）</a:t>
            </a:r>
            <a:endParaRPr lang="en-US" altLang="zh-CN" sz="3200" dirty="0">
              <a:solidFill>
                <a:srgbClr val="FF0000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0034" y="1285860"/>
            <a:ext cx="8229600" cy="5043510"/>
          </a:xfrm>
        </p:spPr>
        <p:txBody>
          <a:bodyPr>
            <a:normAutofit/>
          </a:bodyPr>
          <a:lstStyle/>
          <a:p>
            <a:pPr>
              <a:lnSpc>
                <a:spcPts val="3100"/>
              </a:lnSpc>
            </a:pPr>
            <a:r>
              <a:rPr lang="zh-CN" altLang="en-US" b="1" dirty="0" smtClean="0">
                <a:latin typeface="Comic Sans MS" pitchFamily="66" charset="0"/>
              </a:rPr>
              <a:t>硬件实现：</a:t>
            </a:r>
            <a:endParaRPr lang="en-US" altLang="zh-CN" b="1" dirty="0" smtClean="0">
              <a:latin typeface="Comic Sans MS" pitchFamily="66" charset="0"/>
            </a:endParaRPr>
          </a:p>
          <a:p>
            <a:pPr lvl="1">
              <a:lnSpc>
                <a:spcPts val="3100"/>
              </a:lnSpc>
            </a:pPr>
            <a:r>
              <a:rPr lang="zh-CN" altLang="en-US" b="1" dirty="0" smtClean="0">
                <a:solidFill>
                  <a:srgbClr val="0000FF"/>
                </a:solidFill>
                <a:latin typeface="Comic Sans MS" pitchFamily="66" charset="0"/>
              </a:rPr>
              <a:t>对每条转移指令都当作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转移未选中</a:t>
            </a:r>
            <a:r>
              <a:rPr lang="zh-CN" altLang="en-US" b="1" dirty="0" smtClean="0">
                <a:solidFill>
                  <a:srgbClr val="0000FF"/>
                </a:solidFill>
                <a:latin typeface="Comic Sans MS" pitchFamily="66" charset="0"/>
              </a:rPr>
              <a:t>处理</a:t>
            </a:r>
            <a:r>
              <a:rPr lang="en-US" altLang="zh-CN" b="1" dirty="0" smtClean="0">
                <a:solidFill>
                  <a:srgbClr val="0000FF"/>
                </a:solidFill>
                <a:latin typeface="Comic Sans MS" pitchFamily="66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Comic Sans MS" pitchFamily="66" charset="0"/>
              </a:rPr>
              <a:t>(or as the formal instruction)</a:t>
            </a:r>
            <a:endParaRPr lang="en-US" altLang="zh-CN" dirty="0">
              <a:latin typeface="Comic Sans MS" pitchFamily="66" charset="0"/>
            </a:endParaRPr>
          </a:p>
          <a:p>
            <a:pPr lvl="2">
              <a:lnSpc>
                <a:spcPts val="3100"/>
              </a:lnSpc>
            </a:pPr>
            <a:r>
              <a:rPr lang="zh-CN" altLang="en-US" b="1" dirty="0" smtClean="0">
                <a:latin typeface="Comic Sans MS" pitchFamily="66" charset="0"/>
              </a:rPr>
              <a:t>当转移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未选中</a:t>
            </a:r>
            <a:r>
              <a:rPr lang="zh-CN" altLang="en-US" b="1" dirty="0" smtClean="0">
                <a:latin typeface="Comic Sans MS" pitchFamily="66" charset="0"/>
              </a:rPr>
              <a:t>时，取到的指令正好是要继续执行的，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没有任何停顿。</a:t>
            </a:r>
            <a:endParaRPr lang="en-US" altLang="zh-CN" dirty="0">
              <a:latin typeface="Comic Sans MS" pitchFamily="66" charset="0"/>
            </a:endParaRPr>
          </a:p>
          <a:p>
            <a:pPr lvl="2">
              <a:lnSpc>
                <a:spcPts val="3100"/>
              </a:lnSpc>
            </a:pPr>
            <a:r>
              <a:rPr lang="zh-CN" altLang="en-US" b="1" dirty="0" smtClean="0">
                <a:latin typeface="Comic Sans MS" pitchFamily="66" charset="0"/>
              </a:rPr>
              <a:t>如果转移选中，则重新取转移目标指令，此时 引起</a:t>
            </a:r>
            <a:r>
              <a:rPr lang="en-US" altLang="zh-CN" b="1" dirty="0" smtClean="0">
                <a:solidFill>
                  <a:srgbClr val="FF0000"/>
                </a:solidFill>
                <a:latin typeface="Comic Sans MS" pitchFamily="66" charset="0"/>
              </a:rPr>
              <a:t>3</a:t>
            </a:r>
            <a:r>
              <a:rPr lang="zh-CN" altLang="en-US" b="1" dirty="0" smtClean="0">
                <a:latin typeface="Comic Sans MS" pitchFamily="66" charset="0"/>
              </a:rPr>
              <a:t>个</a:t>
            </a:r>
            <a:r>
              <a:rPr lang="en-US" altLang="zh-CN" b="1" dirty="0" smtClean="0">
                <a:latin typeface="Comic Sans MS" pitchFamily="66" charset="0"/>
              </a:rPr>
              <a:t>stall</a:t>
            </a:r>
            <a:r>
              <a:rPr lang="zh-CN" altLang="en-US" b="1" dirty="0" smtClean="0">
                <a:latin typeface="Comic Sans MS" pitchFamily="66" charset="0"/>
              </a:rPr>
              <a:t>。</a:t>
            </a:r>
            <a:r>
              <a:rPr lang="en-US" altLang="zh-CN" dirty="0" smtClean="0">
                <a:latin typeface="Comic Sans MS" pitchFamily="66" charset="0"/>
              </a:rPr>
              <a:t>(</a:t>
            </a:r>
            <a:r>
              <a:rPr lang="en-US" altLang="zh-CN" dirty="0" smtClean="0">
                <a:solidFill>
                  <a:srgbClr val="0000FF"/>
                </a:solidFill>
                <a:latin typeface="Comic Sans MS" pitchFamily="66" charset="0"/>
              </a:rPr>
              <a:t>should </a:t>
            </a:r>
            <a:r>
              <a:rPr lang="en-US" altLang="zh-CN" dirty="0">
                <a:solidFill>
                  <a:srgbClr val="0000FF"/>
                </a:solidFill>
                <a:latin typeface="Comic Sans MS" pitchFamily="66" charset="0"/>
              </a:rPr>
              <a:t>turn the fetched instruction into a no-op</a:t>
            </a:r>
            <a:r>
              <a:rPr lang="en-US" altLang="zh-CN" dirty="0">
                <a:latin typeface="Comic Sans MS" pitchFamily="66" charset="0"/>
              </a:rPr>
              <a:t>)</a:t>
            </a:r>
          </a:p>
          <a:p>
            <a:pPr>
              <a:lnSpc>
                <a:spcPts val="3100"/>
              </a:lnSpc>
            </a:pPr>
            <a:r>
              <a:rPr lang="zh-CN" altLang="en-US" b="1" dirty="0" smtClean="0">
                <a:latin typeface="Comic Sans MS" pitchFamily="66" charset="0"/>
              </a:rPr>
              <a:t>编译器：</a:t>
            </a:r>
            <a:endParaRPr lang="en-US" altLang="zh-CN" b="1" dirty="0">
              <a:latin typeface="Comic Sans MS" pitchFamily="66" charset="0"/>
            </a:endParaRPr>
          </a:p>
          <a:p>
            <a:pPr lvl="1">
              <a:lnSpc>
                <a:spcPts val="3100"/>
              </a:lnSpc>
            </a:pPr>
            <a:r>
              <a:rPr lang="zh-CN" altLang="en-US" b="1" dirty="0" smtClean="0">
                <a:latin typeface="Comic Sans MS" pitchFamily="66" charset="0"/>
              </a:rPr>
              <a:t>编译时，将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使用频率最高的代码</a:t>
            </a:r>
            <a:r>
              <a:rPr lang="zh-CN" altLang="en-US" b="1" dirty="0" smtClean="0">
                <a:latin typeface="Comic Sans MS" pitchFamily="66" charset="0"/>
              </a:rPr>
              <a:t>放在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转移未选中路径上</a:t>
            </a:r>
            <a:r>
              <a:rPr lang="zh-CN" altLang="en-US" b="1" dirty="0" smtClean="0">
                <a:latin typeface="Comic Sans MS" pitchFamily="66" charset="0"/>
              </a:rPr>
              <a:t>，改进性能。</a:t>
            </a:r>
            <a:endParaRPr lang="en-US" altLang="zh-CN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03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</a:rPr>
              <a:t>如果转移是发生的会怎样？</a:t>
            </a:r>
            <a:endParaRPr lang="en-US" altLang="zh-CN" sz="4000" b="1" dirty="0">
              <a:solidFill>
                <a:srgbClr val="FF0000"/>
              </a:solidFill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304800" y="1447800"/>
            <a:ext cx="8439150" cy="4772025"/>
            <a:chOff x="192" y="912"/>
            <a:chExt cx="5316" cy="3006"/>
          </a:xfrm>
        </p:grpSpPr>
        <p:pic>
          <p:nvPicPr>
            <p:cNvPr id="31748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912"/>
              <a:ext cx="5316" cy="30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1749" name="Text Box 5"/>
            <p:cNvSpPr txBox="1">
              <a:spLocks noChangeArrowheads="1"/>
            </p:cNvSpPr>
            <p:nvPr/>
          </p:nvSpPr>
          <p:spPr bwMode="auto">
            <a:xfrm>
              <a:off x="2016" y="1752"/>
              <a:ext cx="426" cy="168"/>
            </a:xfrm>
            <a:prstGeom prst="rect">
              <a:avLst/>
            </a:prstGeom>
            <a:solidFill>
              <a:srgbClr val="E8E2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/>
            <a:lstStyle>
              <a:lvl1pPr marL="342900" indent="-3429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/>
              <a:r>
                <a:rPr lang="en-US" altLang="zh-CN" sz="1600" b="1">
                  <a:latin typeface="Comic Sans MS" pitchFamily="66" charset="0"/>
                </a:rPr>
                <a:t>24</a:t>
              </a:r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52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304800"/>
            <a:ext cx="7696200" cy="9906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</a:rPr>
              <a:t>如果转移是发生的会怎样？</a:t>
            </a:r>
            <a:endParaRPr lang="en-US" altLang="zh-CN" sz="4000" b="1" dirty="0"/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562975" cy="493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0727" name="Text Box 7"/>
          <p:cNvSpPr txBox="1">
            <a:spLocks noGrp="1" noChangeArrowheads="1"/>
          </p:cNvSpPr>
          <p:nvPr>
            <p:ph type="body" idx="1"/>
          </p:nvPr>
        </p:nvSpPr>
        <p:spPr>
          <a:xfrm>
            <a:off x="1219200" y="2701925"/>
            <a:ext cx="533400" cy="381000"/>
          </a:xfrm>
          <a:solidFill>
            <a:schemeClr val="bg1"/>
          </a:solidFill>
          <a:ln/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0" hangingPunct="0">
              <a:spcBef>
                <a:spcPct val="0"/>
              </a:spcBef>
              <a:buFontTx/>
              <a:buNone/>
            </a:pPr>
            <a:r>
              <a:rPr lang="en-US" altLang="zh-CN" sz="1600" b="1">
                <a:latin typeface="Comic Sans MS" pitchFamily="66" charset="0"/>
              </a:rPr>
              <a:t>24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72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/>
              <a:t>另一种方法：假定转移选中</a:t>
            </a:r>
            <a:endParaRPr lang="en-US" altLang="zh-CN" sz="4000" b="1" i="1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142984"/>
            <a:ext cx="8534400" cy="609600"/>
          </a:xfrm>
        </p:spPr>
        <p:txBody>
          <a:bodyPr>
            <a:noAutofit/>
          </a:bodyPr>
          <a:lstStyle/>
          <a:p>
            <a:pPr>
              <a:lnSpc>
                <a:spcPts val="3200"/>
              </a:lnSpc>
            </a:pP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多数转移（</a:t>
            </a:r>
            <a:r>
              <a:rPr lang="en-US" altLang="zh-CN" sz="2400" b="1" dirty="0" smtClean="0">
                <a:solidFill>
                  <a:srgbClr val="FF0000"/>
                </a:solidFill>
                <a:latin typeface="Comic Sans MS" pitchFamily="66" charset="0"/>
              </a:rPr>
              <a:t>60%) 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是选中</a:t>
            </a:r>
            <a:r>
              <a:rPr lang="zh-CN" altLang="en-US" sz="2400" b="1" dirty="0" smtClean="0">
                <a:latin typeface="Comic Sans MS" pitchFamily="66" charset="0"/>
              </a:rPr>
              <a:t>的，似乎本该用转移选中更快。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假定转移总是选中</a:t>
            </a:r>
            <a:r>
              <a:rPr lang="zh-CN" altLang="en-US" sz="2400" b="1" dirty="0" smtClean="0">
                <a:latin typeface="Comic Sans MS" pitchFamily="66" charset="0"/>
              </a:rPr>
              <a:t>会怎样呢？</a:t>
            </a:r>
            <a:endParaRPr lang="en-US" altLang="zh-CN" sz="2400" b="1" dirty="0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2171700" y="1704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103</a:t>
            </a:fld>
            <a:endParaRPr lang="zh-CN" altLang="en-US"/>
          </a:p>
        </p:txBody>
      </p:sp>
      <p:graphicFrame>
        <p:nvGraphicFramePr>
          <p:cNvPr id="2052" name="Object 4"/>
          <p:cNvGraphicFramePr>
            <a:graphicFrameLocks noChangeAspect="1"/>
          </p:cNvGraphicFramePr>
          <p:nvPr/>
        </p:nvGraphicFramePr>
        <p:xfrm>
          <a:off x="428596" y="2071678"/>
          <a:ext cx="8382000" cy="4572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023" name="Picture" r:id="rId3" imgW="4762500" imgH="3305556" progId="Word.Picture.8">
                  <p:embed/>
                </p:oleObj>
              </mc:Choice>
              <mc:Fallback>
                <p:oleObj name="Picture" r:id="rId3" imgW="4762500" imgH="3305556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96" y="2071678"/>
                        <a:ext cx="8382000" cy="457200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CC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969696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637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预测转移选中</a:t>
            </a:r>
            <a:r>
              <a:rPr lang="zh-CN" altLang="en-US" dirty="0" smtClean="0">
                <a:solidFill>
                  <a:srgbClr val="FF0000"/>
                </a:solidFill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Predict </a:t>
            </a:r>
            <a:r>
              <a:rPr lang="en-US" altLang="zh-CN" dirty="0">
                <a:solidFill>
                  <a:srgbClr val="FF0000"/>
                </a:solidFill>
              </a:rPr>
              <a:t>–</a:t>
            </a:r>
            <a:r>
              <a:rPr lang="en-US" altLang="zh-CN" dirty="0" smtClean="0">
                <a:solidFill>
                  <a:srgbClr val="FF0000"/>
                </a:solidFill>
              </a:rPr>
              <a:t>taken</a:t>
            </a:r>
            <a:r>
              <a:rPr lang="zh-CN" altLang="en-US" dirty="0" smtClean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硬件实现</a:t>
            </a:r>
            <a:endParaRPr lang="en-US" altLang="zh-CN" sz="2800" b="1" dirty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将所有转移指令都当作转移选中处理</a:t>
            </a:r>
            <a:r>
              <a:rPr lang="en-US" altLang="zh-CN" sz="2400" b="1" dirty="0" smtClean="0">
                <a:latin typeface="Comic Sans MS" pitchFamily="66" charset="0"/>
              </a:rPr>
              <a:t> </a:t>
            </a:r>
            <a:r>
              <a:rPr lang="en-US" altLang="zh-CN" sz="2400" dirty="0">
                <a:latin typeface="Comic Sans MS" pitchFamily="66" charset="0"/>
              </a:rPr>
              <a:t>(evidence: more than 60% braches are taken)</a:t>
            </a: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只要转移目标地址计算出来，就开始取目标指令。</a:t>
            </a:r>
            <a:endParaRPr lang="en-US" altLang="zh-CN" sz="2400" b="1" dirty="0"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只有在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目标地址计算</a:t>
            </a:r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比转移条件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更早</a:t>
            </a:r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产生才有用。</a:t>
            </a:r>
            <a:endParaRPr lang="en-US" altLang="zh-CN" sz="2400" b="1" dirty="0">
              <a:solidFill>
                <a:srgbClr val="0000FF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b="1" dirty="0" smtClean="0">
                <a:solidFill>
                  <a:srgbClr val="0033CC"/>
                </a:solidFill>
                <a:latin typeface="Comic Sans MS" pitchFamily="66" charset="0"/>
              </a:rPr>
              <a:t>对于经典</a:t>
            </a:r>
            <a:r>
              <a:rPr lang="en-US" altLang="zh-CN" sz="2400" b="1" dirty="0" smtClean="0">
                <a:solidFill>
                  <a:srgbClr val="0033CC"/>
                </a:solidFill>
                <a:latin typeface="Comic Sans MS" pitchFamily="66" charset="0"/>
              </a:rPr>
              <a:t>5</a:t>
            </a:r>
            <a:r>
              <a:rPr lang="zh-CN" altLang="en-US" sz="2400" b="1" dirty="0" smtClean="0">
                <a:solidFill>
                  <a:srgbClr val="0033CC"/>
                </a:solidFill>
                <a:latin typeface="Comic Sans MS" pitchFamily="66" charset="0"/>
              </a:rPr>
              <a:t>段流水线（如前页图），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是先得到转移条件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后得到转移目标地址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，</a:t>
            </a:r>
            <a:r>
              <a:rPr lang="zh-CN" altLang="en-US" sz="2400" b="1" dirty="0" smtClean="0">
                <a:solidFill>
                  <a:srgbClr val="0033CC"/>
                </a:solidFill>
                <a:latin typeface="Comic Sans MS" pitchFamily="66" charset="0"/>
              </a:rPr>
              <a:t>因此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转移选中方法没有任何益处。</a:t>
            </a:r>
            <a:endParaRPr lang="en-US" altLang="zh-CN" sz="2400" b="1" dirty="0">
              <a:solidFill>
                <a:srgbClr val="FF0000"/>
              </a:solidFill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编译器</a:t>
            </a:r>
            <a:endParaRPr lang="en-US" altLang="zh-CN" sz="2800" b="1" dirty="0">
              <a:latin typeface="Comic Sans MS" pitchFamily="66" charset="0"/>
            </a:endParaRPr>
          </a:p>
          <a:p>
            <a:pPr lvl="1">
              <a:lnSpc>
                <a:spcPts val="3100"/>
              </a:lnSpc>
            </a:pPr>
            <a:r>
              <a:rPr lang="zh-CN" altLang="en-US" sz="2400" b="1" dirty="0" smtClean="0">
                <a:latin typeface="Comic Sans MS" pitchFamily="66" charset="0"/>
              </a:rPr>
              <a:t>编译时，将使用频率最高的代码放在转移选中路径上，改进性能。</a:t>
            </a:r>
            <a:endParaRPr lang="en-US" altLang="zh-CN" sz="2400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1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285728"/>
            <a:ext cx="7158062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4000" b="1" dirty="0" smtClean="0"/>
              <a:t>转移选中：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转移地址提前计算</a:t>
            </a:r>
            <a:endParaRPr lang="en-US" altLang="zh-CN" sz="4000" b="1" i="1" dirty="0">
              <a:solidFill>
                <a:srgbClr val="FF0000"/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609600"/>
          </a:xfrm>
        </p:spPr>
        <p:txBody>
          <a:bodyPr>
            <a:noAutofit/>
          </a:bodyPr>
          <a:lstStyle/>
          <a:p>
            <a:pPr>
              <a:lnSpc>
                <a:spcPts val="3200"/>
              </a:lnSpc>
            </a:pPr>
            <a:r>
              <a:rPr lang="zh-CN" altLang="en-US" sz="2400" b="1" dirty="0" smtClean="0"/>
              <a:t>转移时，目标地址提前到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ID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段</a:t>
            </a:r>
            <a:r>
              <a:rPr lang="zh-CN" altLang="en-US" sz="2400" b="1" dirty="0" smtClean="0"/>
              <a:t>计算，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转移条件判断不变</a:t>
            </a:r>
            <a:r>
              <a:rPr lang="zh-CN" altLang="en-US" sz="2400" b="1" dirty="0" smtClean="0"/>
              <a:t>。</a:t>
            </a:r>
            <a:endParaRPr lang="en-US" altLang="zh-CN" sz="2400" b="1" dirty="0"/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2171700" y="1704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285720" y="2428868"/>
          <a:ext cx="8534400" cy="426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046" name="Picture" r:id="rId3" imgW="4800600" imgH="3448050" progId="Word.Picture.8">
                  <p:embed/>
                </p:oleObj>
              </mc:Choice>
              <mc:Fallback>
                <p:oleObj name="Picture" r:id="rId3" imgW="4800600" imgH="344805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20" y="2428868"/>
                        <a:ext cx="8534400" cy="426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44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预测转移选中的流水线状态</a:t>
            </a:r>
            <a:endParaRPr lang="en-US" altLang="zh-CN" b="1" dirty="0"/>
          </a:p>
        </p:txBody>
      </p:sp>
      <p:graphicFrame>
        <p:nvGraphicFramePr>
          <p:cNvPr id="29851" name="Group 155"/>
          <p:cNvGraphicFramePr>
            <a:graphicFrameLocks noGrp="1"/>
          </p:cNvGraphicFramePr>
          <p:nvPr/>
        </p:nvGraphicFramePr>
        <p:xfrm>
          <a:off x="304800" y="1752600"/>
          <a:ext cx="8534400" cy="1828800"/>
        </p:xfrm>
        <a:graphic>
          <a:graphicData uri="http://schemas.openxmlformats.org/drawingml/2006/table">
            <a:tbl>
              <a:tblPr/>
              <a:tblGrid>
                <a:gridCol w="2933700"/>
                <a:gridCol w="647700"/>
                <a:gridCol w="685800"/>
                <a:gridCol w="685800"/>
                <a:gridCol w="990600"/>
                <a:gridCol w="914400"/>
                <a:gridCol w="838200"/>
                <a:gridCol w="83820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44 BEQ R1, 24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48 AND R12, R2, R5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72 LW R4, 50(R7)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747" name="Text Box 51"/>
          <p:cNvSpPr txBox="1">
            <a:spLocks noChangeArrowheads="1"/>
          </p:cNvSpPr>
          <p:nvPr/>
        </p:nvSpPr>
        <p:spPr bwMode="auto">
          <a:xfrm>
            <a:off x="304800" y="3581400"/>
            <a:ext cx="571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800"/>
              <a:t>Branch is </a:t>
            </a:r>
            <a:r>
              <a:rPr lang="en-US" altLang="zh-CN" sz="2800" b="1" i="1">
                <a:solidFill>
                  <a:srgbClr val="0000FF"/>
                </a:solidFill>
              </a:rPr>
              <a:t>not</a:t>
            </a:r>
            <a:r>
              <a:rPr lang="en-US" altLang="zh-CN" sz="2800"/>
              <a:t> </a:t>
            </a:r>
            <a:r>
              <a:rPr lang="en-US" altLang="zh-CN" sz="2800">
                <a:solidFill>
                  <a:srgbClr val="0000FF"/>
                </a:solidFill>
              </a:rPr>
              <a:t>taken</a:t>
            </a:r>
            <a:r>
              <a:rPr lang="en-US" altLang="zh-CN" sz="2800"/>
              <a:t>:  </a:t>
            </a:r>
            <a:r>
              <a:rPr lang="en-US" altLang="zh-CN" sz="2800">
                <a:solidFill>
                  <a:srgbClr val="FF0000"/>
                </a:solidFill>
              </a:rPr>
              <a:t>3 stall</a:t>
            </a:r>
          </a:p>
        </p:txBody>
      </p:sp>
      <p:graphicFrame>
        <p:nvGraphicFramePr>
          <p:cNvPr id="29857" name="Group 161"/>
          <p:cNvGraphicFramePr>
            <a:graphicFrameLocks noGrp="1"/>
          </p:cNvGraphicFramePr>
          <p:nvPr/>
        </p:nvGraphicFramePr>
        <p:xfrm>
          <a:off x="304800" y="4191000"/>
          <a:ext cx="8534400" cy="2056448"/>
        </p:xfrm>
        <a:graphic>
          <a:graphicData uri="http://schemas.openxmlformats.org/drawingml/2006/table">
            <a:tbl>
              <a:tblPr/>
              <a:tblGrid>
                <a:gridCol w="2933700"/>
                <a:gridCol w="647700"/>
                <a:gridCol w="685800"/>
                <a:gridCol w="685800"/>
                <a:gridCol w="990600"/>
                <a:gridCol w="914400"/>
                <a:gridCol w="838200"/>
                <a:gridCol w="83820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44 BEQ R1, 24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48 AND R12, R2, R5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72 LW R4, 50(R7)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48 AND R12, R2, R5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9804" name="Text Box 108"/>
          <p:cNvSpPr txBox="1"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381000"/>
          </a:xfrm>
          <a:noFill/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 fontScale="92500" lnSpcReduction="10000"/>
          </a:bodyPr>
          <a:lstStyle/>
          <a:p>
            <a:pPr eaLnBrk="0" hangingPunct="0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>
                <a:latin typeface="Comic Sans MS" pitchFamily="66" charset="0"/>
              </a:rPr>
              <a:t>Branch is </a:t>
            </a:r>
            <a:r>
              <a:rPr lang="en-US" altLang="zh-CN" sz="2400" dirty="0">
                <a:solidFill>
                  <a:srgbClr val="0000FF"/>
                </a:solidFill>
                <a:latin typeface="Comic Sans MS" pitchFamily="66" charset="0"/>
              </a:rPr>
              <a:t>taken</a:t>
            </a:r>
            <a:r>
              <a:rPr lang="en-US" altLang="zh-CN" sz="2400" dirty="0">
                <a:latin typeface="Comic Sans MS" pitchFamily="66" charset="0"/>
              </a:rPr>
              <a:t>:  </a:t>
            </a:r>
            <a:r>
              <a:rPr lang="en-US" altLang="zh-CN" sz="2400" dirty="0">
                <a:solidFill>
                  <a:srgbClr val="FF0000"/>
                </a:solidFill>
                <a:latin typeface="Comic Sans MS" pitchFamily="66" charset="0"/>
              </a:rPr>
              <a:t>1 stall</a:t>
            </a:r>
          </a:p>
        </p:txBody>
      </p:sp>
      <p:sp>
        <p:nvSpPr>
          <p:cNvPr id="29808" name="Line 112"/>
          <p:cNvSpPr>
            <a:spLocks noChangeShapeType="1"/>
          </p:cNvSpPr>
          <p:nvPr/>
        </p:nvSpPr>
        <p:spPr bwMode="auto">
          <a:xfrm>
            <a:off x="4267200" y="1905000"/>
            <a:ext cx="381000" cy="6858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809" name="Line 113"/>
          <p:cNvSpPr>
            <a:spLocks noChangeShapeType="1"/>
          </p:cNvSpPr>
          <p:nvPr/>
        </p:nvSpPr>
        <p:spPr bwMode="auto">
          <a:xfrm>
            <a:off x="5943600" y="1905000"/>
            <a:ext cx="381000" cy="13716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810" name="Line 114"/>
          <p:cNvSpPr>
            <a:spLocks noChangeShapeType="1"/>
          </p:cNvSpPr>
          <p:nvPr/>
        </p:nvSpPr>
        <p:spPr bwMode="auto">
          <a:xfrm>
            <a:off x="6019800" y="4343400"/>
            <a:ext cx="304800" cy="1600200"/>
          </a:xfrm>
          <a:prstGeom prst="line">
            <a:avLst/>
          </a:prstGeom>
          <a:noFill/>
          <a:ln w="28575">
            <a:solidFill>
              <a:srgbClr val="FF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811" name="Oval 115"/>
          <p:cNvSpPr>
            <a:spLocks noChangeArrowheads="1"/>
          </p:cNvSpPr>
          <p:nvPr/>
        </p:nvSpPr>
        <p:spPr bwMode="auto">
          <a:xfrm rot="1733939">
            <a:off x="3776663" y="4922838"/>
            <a:ext cx="2182812" cy="5334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858" name="Oval 162"/>
          <p:cNvSpPr>
            <a:spLocks noChangeArrowheads="1"/>
          </p:cNvSpPr>
          <p:nvPr/>
        </p:nvSpPr>
        <p:spPr bwMode="auto">
          <a:xfrm>
            <a:off x="3886200" y="2133600"/>
            <a:ext cx="457200" cy="3048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25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</a:rPr>
              <a:t>转移</a:t>
            </a:r>
            <a:r>
              <a:rPr lang="zh-CN" altLang="en-US" sz="4000" b="1" dirty="0" smtClean="0"/>
              <a:t>未选中</a:t>
            </a:r>
            <a:r>
              <a:rPr lang="en-US" altLang="zh-CN" sz="4000" b="1" dirty="0" smtClean="0">
                <a:solidFill>
                  <a:srgbClr val="FF0000"/>
                </a:solidFill>
              </a:rPr>
              <a:t>/</a:t>
            </a:r>
            <a:r>
              <a:rPr lang="zh-CN" altLang="en-US" sz="4000" b="1" dirty="0" smtClean="0"/>
              <a:t>选中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的问题</a:t>
            </a:r>
            <a:endParaRPr lang="en-US" altLang="zh-CN" sz="4000" b="1" dirty="0">
              <a:solidFill>
                <a:srgbClr val="FF0000"/>
              </a:solidFill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 smtClean="0">
                <a:solidFill>
                  <a:srgbClr val="000000"/>
                </a:solidFill>
                <a:latin typeface="Comic Sans MS" pitchFamily="66" charset="0"/>
              </a:rPr>
              <a:t>流水线按照假定的转移方向执行</a:t>
            </a:r>
            <a:endParaRPr lang="en-US" altLang="zh-CN" sz="28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通常，选择方向是正确的，可以节省时钟周期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偶尔，选择是错误的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zh-CN" altLang="en-US" sz="2800" b="1" dirty="0" smtClean="0">
                <a:solidFill>
                  <a:srgbClr val="000000"/>
                </a:solidFill>
                <a:latin typeface="Comic Sans MS" pitchFamily="66" charset="0"/>
              </a:rPr>
              <a:t>结论</a:t>
            </a:r>
            <a:endParaRPr lang="en-US" altLang="zh-CN" sz="2800" b="1" dirty="0" smtClean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开始执行选择错误的指令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要修复，则必须确认这些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错误指令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没有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真正执行</a:t>
            </a:r>
            <a:endParaRPr lang="en-US" altLang="zh-CN" sz="24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尤其是，必须保证</a:t>
            </a:r>
            <a:r>
              <a:rPr lang="zh-CN" altLang="en-US" sz="2400" b="1" dirty="0" smtClean="0">
                <a:solidFill>
                  <a:srgbClr val="C00000"/>
                </a:solidFill>
                <a:latin typeface="Comic Sans MS" pitchFamily="66" charset="0"/>
              </a:rPr>
              <a:t>错误指令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没有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改变机器状态</a:t>
            </a:r>
            <a:endParaRPr lang="en-US" altLang="zh-CN" sz="2400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409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将转移计算提前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20749" name="Rectangle 269"/>
          <p:cNvSpPr>
            <a:spLocks noChangeArrowheads="1"/>
          </p:cNvSpPr>
          <p:nvPr/>
        </p:nvSpPr>
        <p:spPr bwMode="auto">
          <a:xfrm>
            <a:off x="2171700" y="17668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20748" name="Object 268"/>
          <p:cNvGraphicFramePr>
            <a:graphicFrameLocks noChangeAspect="1"/>
          </p:cNvGraphicFramePr>
          <p:nvPr/>
        </p:nvGraphicFramePr>
        <p:xfrm>
          <a:off x="381000" y="1524000"/>
          <a:ext cx="8382000" cy="472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071" name="Picture" r:id="rId3" imgW="4800600" imgH="3324606" progId="Word.Picture.8">
                  <p:embed/>
                </p:oleObj>
              </mc:Choice>
              <mc:Fallback>
                <p:oleObj name="Picture" r:id="rId3" imgW="4800600" imgH="3324606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24000"/>
                        <a:ext cx="8382000" cy="472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105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将转移计算提前更早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81000" y="1524000"/>
            <a:ext cx="8305800" cy="4724400"/>
            <a:chOff x="240" y="960"/>
            <a:chExt cx="5232" cy="2976"/>
          </a:xfrm>
        </p:grpSpPr>
        <p:pic>
          <p:nvPicPr>
            <p:cNvPr id="16394" name="Picture 10" descr="E:\English_arch\611\chap3_4.files\chap3_4-5new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960"/>
              <a:ext cx="5232" cy="2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" name="Group 11"/>
            <p:cNvGrpSpPr>
              <a:grpSpLocks/>
            </p:cNvGrpSpPr>
            <p:nvPr/>
          </p:nvGrpSpPr>
          <p:grpSpPr bwMode="auto">
            <a:xfrm>
              <a:off x="3110" y="3002"/>
              <a:ext cx="2254" cy="934"/>
              <a:chOff x="3110" y="3002"/>
              <a:chExt cx="2254" cy="934"/>
            </a:xfrm>
          </p:grpSpPr>
          <p:sp>
            <p:nvSpPr>
              <p:cNvPr id="16396" name="Text Box 12"/>
              <p:cNvSpPr txBox="1">
                <a:spLocks noChangeArrowheads="1"/>
              </p:cNvSpPr>
              <p:nvPr/>
            </p:nvSpPr>
            <p:spPr bwMode="auto">
              <a:xfrm>
                <a:off x="3110" y="3002"/>
                <a:ext cx="52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l" eaLnBrk="1" hangingPunct="1"/>
                <a:r>
                  <a:rPr lang="en-US" altLang="zh-CN" sz="2400" b="1">
                    <a:solidFill>
                      <a:srgbClr val="339966"/>
                    </a:solidFill>
                    <a:latin typeface="Times New Roman" pitchFamily="18" charset="0"/>
                  </a:rPr>
                  <a:t>store</a:t>
                </a:r>
                <a:endParaRPr lang="en-US" altLang="zh-CN" sz="2400">
                  <a:latin typeface="Times New Roman" pitchFamily="18" charset="0"/>
                </a:endParaRPr>
              </a:p>
            </p:txBody>
          </p:sp>
          <p:sp>
            <p:nvSpPr>
              <p:cNvPr id="16397" name="Text Box 13"/>
              <p:cNvSpPr txBox="1">
                <a:spLocks noChangeArrowheads="1"/>
              </p:cNvSpPr>
              <p:nvPr/>
            </p:nvSpPr>
            <p:spPr bwMode="auto">
              <a:xfrm>
                <a:off x="4896" y="3648"/>
                <a:ext cx="4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l" eaLnBrk="1" hangingPunct="1"/>
                <a:r>
                  <a:rPr lang="en-US" altLang="zh-CN" sz="2400" b="1">
                    <a:solidFill>
                      <a:srgbClr val="339966"/>
                    </a:solidFill>
                    <a:latin typeface="Times New Roman" pitchFamily="18" charset="0"/>
                  </a:rPr>
                  <a:t>load</a:t>
                </a:r>
                <a:endParaRPr lang="en-US" altLang="zh-CN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72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 smtClean="0">
                <a:solidFill>
                  <a:srgbClr val="FF0000"/>
                </a:solidFill>
              </a:rPr>
              <a:t>提早后结果：</a:t>
            </a:r>
            <a:r>
              <a:rPr lang="en-US" altLang="zh-CN" sz="3600" b="1" dirty="0">
                <a:solidFill>
                  <a:srgbClr val="FF0000"/>
                </a:solidFill>
              </a:rPr>
              <a:t>MIPS</a:t>
            </a:r>
            <a:r>
              <a:rPr lang="zh-CN" altLang="en-US" sz="3600" b="1" dirty="0" smtClean="0">
                <a:solidFill>
                  <a:srgbClr val="FF0000"/>
                </a:solidFill>
              </a:rPr>
              <a:t>改善后的数据通路</a:t>
            </a:r>
            <a:endParaRPr lang="en-US" altLang="zh-CN" sz="3600" b="1" dirty="0">
              <a:solidFill>
                <a:srgbClr val="FF0000"/>
              </a:solidFill>
            </a:endParaRP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228600" y="1501775"/>
            <a:ext cx="86868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ts val="3200"/>
              </a:lnSpc>
              <a:buFontTx/>
              <a:buChar char="•"/>
            </a:pPr>
            <a:r>
              <a:rPr lang="zh-CN" altLang="en-US" sz="2400" b="1" dirty="0" smtClean="0">
                <a:solidFill>
                  <a:srgbClr val="000000"/>
                </a:solidFill>
              </a:rPr>
              <a:t>在</a:t>
            </a:r>
            <a:r>
              <a:rPr lang="en-US" altLang="zh-CN" sz="2400" b="1" dirty="0" smtClean="0">
                <a:solidFill>
                  <a:srgbClr val="000000"/>
                </a:solidFill>
              </a:rPr>
              <a:t>BEQ</a:t>
            </a:r>
            <a:r>
              <a:rPr lang="zh-CN" altLang="en-US" sz="2400" b="1" dirty="0" smtClean="0">
                <a:solidFill>
                  <a:srgbClr val="000000"/>
                </a:solidFill>
              </a:rPr>
              <a:t>指令后，只需要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400" b="1" dirty="0" smtClean="0">
                <a:solidFill>
                  <a:srgbClr val="000000"/>
                </a:solidFill>
              </a:rPr>
              <a:t>个额外周期就可以知道正确地址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pPr algn="l">
              <a:lnSpc>
                <a:spcPts val="3200"/>
              </a:lnSpc>
              <a:buFontTx/>
              <a:buChar char="•"/>
            </a:pPr>
            <a:r>
              <a:rPr lang="zh-CN" altLang="en-US" sz="2400" b="1" dirty="0" smtClean="0">
                <a:solidFill>
                  <a:srgbClr val="000000"/>
                </a:solidFill>
              </a:rPr>
              <a:t>在</a:t>
            </a:r>
            <a:r>
              <a:rPr lang="en-US" altLang="zh-CN" sz="2400" b="1" dirty="0" smtClean="0">
                <a:solidFill>
                  <a:srgbClr val="000000"/>
                </a:solidFill>
              </a:rPr>
              <a:t> MIPS</a:t>
            </a:r>
            <a:r>
              <a:rPr lang="zh-CN" altLang="en-US" sz="2400" b="1" dirty="0" smtClean="0">
                <a:solidFill>
                  <a:srgbClr val="000000"/>
                </a:solidFill>
              </a:rPr>
              <a:t>，条件转移指令其后的这个周期称为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转移延迟槽</a:t>
            </a:r>
            <a:r>
              <a:rPr lang="en-US" altLang="zh-CN" sz="2400" dirty="0" smtClean="0">
                <a:solidFill>
                  <a:srgbClr val="FF0000"/>
                </a:solidFill>
              </a:rPr>
              <a:t> </a:t>
            </a:r>
            <a:r>
              <a:rPr lang="en-US" altLang="zh-CN" sz="2400" dirty="0" smtClean="0">
                <a:solidFill>
                  <a:srgbClr val="FD0128"/>
                </a:solidFill>
              </a:rPr>
              <a:t>the </a:t>
            </a:r>
            <a:r>
              <a:rPr lang="en-US" altLang="zh-CN" sz="2400" dirty="0">
                <a:solidFill>
                  <a:srgbClr val="FD0128"/>
                </a:solidFill>
              </a:rPr>
              <a:t>branch delay slot</a:t>
            </a:r>
            <a:endParaRPr lang="en-US" altLang="zh-CN" sz="2400" dirty="0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304800" y="3124200"/>
            <a:ext cx="8562975" cy="3028950"/>
            <a:chOff x="192" y="1968"/>
            <a:chExt cx="5394" cy="1908"/>
          </a:xfrm>
        </p:grpSpPr>
        <p:pic>
          <p:nvPicPr>
            <p:cNvPr id="18438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1968"/>
              <a:ext cx="5394" cy="19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439" name="Text Box 7"/>
            <p:cNvSpPr txBox="1">
              <a:spLocks noChangeArrowheads="1"/>
            </p:cNvSpPr>
            <p:nvPr/>
          </p:nvSpPr>
          <p:spPr bwMode="auto">
            <a:xfrm>
              <a:off x="201" y="3312"/>
              <a:ext cx="1238" cy="3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800"/>
                <a:t>48 or 72</a:t>
              </a:r>
              <a:r>
                <a:rPr lang="en-US" altLang="zh-CN"/>
                <a:t>       </a:t>
              </a:r>
            </a:p>
          </p:txBody>
        </p:sp>
      </p:grpSp>
      <p:sp>
        <p:nvSpPr>
          <p:cNvPr id="18442" name="Text Box 10"/>
          <p:cNvSpPr txBox="1">
            <a:spLocks noChangeArrowheads="1"/>
          </p:cNvSpPr>
          <p:nvPr/>
        </p:nvSpPr>
        <p:spPr bwMode="auto">
          <a:xfrm>
            <a:off x="1219200" y="3886200"/>
            <a:ext cx="533400" cy="2667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0" rIns="18000" bIns="0"/>
          <a:lstStyle>
            <a:lvl1pPr marL="342900" indent="-3429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1600" b="1">
                <a:latin typeface="Comic Sans MS" pitchFamily="66" charset="0"/>
              </a:rPr>
              <a:t>24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85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214290"/>
            <a:ext cx="8858280" cy="1143000"/>
          </a:xfrm>
        </p:spPr>
        <p:txBody>
          <a:bodyPr>
            <a:noAutofit/>
          </a:bodyPr>
          <a:lstStyle/>
          <a:p>
            <a:r>
              <a:rPr lang="zh-CN" altLang="en-US" sz="3600" b="1" dirty="0" smtClean="0"/>
              <a:t>冲刷</a:t>
            </a:r>
            <a:r>
              <a:rPr lang="en-US" altLang="zh-CN" sz="3600" b="1" dirty="0" smtClean="0"/>
              <a:t> </a:t>
            </a:r>
            <a:r>
              <a:rPr lang="en-US" altLang="zh-CN" sz="3600" b="1" dirty="0"/>
              <a:t>: </a:t>
            </a:r>
            <a:r>
              <a:rPr lang="zh-CN" altLang="en-US" sz="3200" b="1" dirty="0" smtClean="0"/>
              <a:t>只需插入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one stall</a:t>
            </a:r>
            <a:r>
              <a:rPr lang="zh-CN" altLang="en-US" sz="3200" b="1" dirty="0" smtClean="0"/>
              <a:t>解决控制冒险</a:t>
            </a:r>
            <a:r>
              <a:rPr lang="en-US" altLang="zh-CN" sz="3200" b="1" dirty="0" smtClean="0"/>
              <a:t/>
            </a:r>
            <a:br>
              <a:rPr lang="en-US" altLang="zh-CN" sz="3200" b="1" dirty="0" smtClean="0"/>
            </a:br>
            <a:r>
              <a:rPr lang="zh-CN" altLang="en-US" sz="2400" b="1" dirty="0" smtClean="0">
                <a:solidFill>
                  <a:srgbClr val="C00000"/>
                </a:solidFill>
              </a:rPr>
              <a:t>（硬件固定）</a:t>
            </a:r>
            <a:endParaRPr lang="en-US" altLang="zh-CN" sz="2400" b="1" dirty="0">
              <a:solidFill>
                <a:srgbClr val="C00000"/>
              </a:solidFill>
            </a:endParaRPr>
          </a:p>
        </p:txBody>
      </p:sp>
      <p:grpSp>
        <p:nvGrpSpPr>
          <p:cNvPr id="2" name="Group 99"/>
          <p:cNvGrpSpPr>
            <a:grpSpLocks/>
          </p:cNvGrpSpPr>
          <p:nvPr/>
        </p:nvGrpSpPr>
        <p:grpSpPr bwMode="auto">
          <a:xfrm>
            <a:off x="301625" y="1524000"/>
            <a:ext cx="8566150" cy="3067050"/>
            <a:chOff x="190" y="960"/>
            <a:chExt cx="5396" cy="1932"/>
          </a:xfrm>
        </p:grpSpPr>
        <p:pic>
          <p:nvPicPr>
            <p:cNvPr id="21517" name="Picture 1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960"/>
              <a:ext cx="5394" cy="1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1518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" y="1776"/>
              <a:ext cx="532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519" name="Text Box 15"/>
            <p:cNvSpPr txBox="1">
              <a:spLocks noChangeArrowheads="1"/>
            </p:cNvSpPr>
            <p:nvPr/>
          </p:nvSpPr>
          <p:spPr bwMode="auto">
            <a:xfrm>
              <a:off x="213" y="2304"/>
              <a:ext cx="1238" cy="3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800"/>
                <a:t>48 or 72</a:t>
              </a:r>
              <a:r>
                <a:rPr lang="en-US" altLang="zh-CN"/>
                <a:t>       </a:t>
              </a:r>
            </a:p>
          </p:txBody>
        </p:sp>
        <p:sp>
          <p:nvSpPr>
            <p:cNvPr id="21520" name="Line 16"/>
            <p:cNvSpPr>
              <a:spLocks noChangeShapeType="1"/>
            </p:cNvSpPr>
            <p:nvPr/>
          </p:nvSpPr>
          <p:spPr bwMode="auto">
            <a:xfrm>
              <a:off x="2064" y="1584"/>
              <a:ext cx="96" cy="8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1602" name="Group 98"/>
          <p:cNvGraphicFramePr>
            <a:graphicFrameLocks noGrp="1"/>
          </p:cNvGraphicFramePr>
          <p:nvPr/>
        </p:nvGraphicFramePr>
        <p:xfrm>
          <a:off x="304800" y="4724400"/>
          <a:ext cx="8534400" cy="1584960"/>
        </p:xfrm>
        <a:graphic>
          <a:graphicData uri="http://schemas.openxmlformats.org/drawingml/2006/table">
            <a:tbl>
              <a:tblPr/>
              <a:tblGrid>
                <a:gridCol w="2933700"/>
                <a:gridCol w="647700"/>
                <a:gridCol w="685800"/>
                <a:gridCol w="685800"/>
                <a:gridCol w="990600"/>
                <a:gridCol w="914400"/>
                <a:gridCol w="787400"/>
                <a:gridCol w="88900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40 ADD R30,R30,R30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44 BEQ R1, 24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48 AND R12, R2, R5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48 or 72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86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为什么“浪费”取到的指令？</a:t>
            </a:r>
            <a:endParaRPr lang="en-US" altLang="zh-CN" b="1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282" y="5072074"/>
            <a:ext cx="8534400" cy="1209692"/>
          </a:xfrm>
        </p:spPr>
        <p:txBody>
          <a:bodyPr>
            <a:normAutofit/>
          </a:bodyPr>
          <a:lstStyle/>
          <a:p>
            <a:pPr>
              <a:lnSpc>
                <a:spcPts val="3900"/>
              </a:lnSpc>
            </a:pPr>
            <a:r>
              <a:rPr lang="zh-CN" altLang="en-US" b="1" dirty="0" smtClean="0">
                <a:latin typeface="Comic Sans MS" pitchFamily="66" charset="0"/>
              </a:rPr>
              <a:t>已经取到</a:t>
            </a:r>
            <a:r>
              <a:rPr lang="en-US" altLang="zh-CN" b="1" dirty="0" smtClean="0">
                <a:solidFill>
                  <a:srgbClr val="C00000"/>
                </a:solidFill>
                <a:latin typeface="Comic Sans MS" pitchFamily="66" charset="0"/>
              </a:rPr>
              <a:t>48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号地址指令</a:t>
            </a:r>
            <a:r>
              <a:rPr lang="zh-CN" altLang="en-US" b="1" dirty="0" smtClean="0">
                <a:latin typeface="Comic Sans MS" pitchFamily="66" charset="0"/>
              </a:rPr>
              <a:t>，如果转移最终没有发生，有必要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第</a:t>
            </a:r>
            <a:r>
              <a:rPr lang="en-US" altLang="zh-CN" b="1" dirty="0" smtClean="0">
                <a:solidFill>
                  <a:srgbClr val="C00000"/>
                </a:solidFill>
                <a:latin typeface="Comic Sans MS" pitchFamily="66" charset="0"/>
              </a:rPr>
              <a:t>2</a:t>
            </a:r>
            <a:r>
              <a:rPr lang="zh-CN" altLang="en-US" b="1" dirty="0" smtClean="0">
                <a:solidFill>
                  <a:srgbClr val="C00000"/>
                </a:solidFill>
                <a:latin typeface="Comic Sans MS" pitchFamily="66" charset="0"/>
              </a:rPr>
              <a:t>次取</a:t>
            </a:r>
            <a:r>
              <a:rPr lang="zh-CN" altLang="en-US" b="1" dirty="0" smtClean="0">
                <a:latin typeface="Comic Sans MS" pitchFamily="66" charset="0"/>
              </a:rPr>
              <a:t>该指令吗？</a:t>
            </a:r>
            <a:endParaRPr lang="en-US" altLang="zh-CN" b="1" dirty="0">
              <a:latin typeface="Comic Sans MS" pitchFamily="66" charset="0"/>
            </a:endParaRPr>
          </a:p>
        </p:txBody>
      </p:sp>
      <p:grpSp>
        <p:nvGrpSpPr>
          <p:cNvPr id="2" name="Group 104"/>
          <p:cNvGrpSpPr>
            <a:grpSpLocks/>
          </p:cNvGrpSpPr>
          <p:nvPr/>
        </p:nvGrpSpPr>
        <p:grpSpPr bwMode="auto">
          <a:xfrm>
            <a:off x="304800" y="1447800"/>
            <a:ext cx="8562975" cy="3067050"/>
            <a:chOff x="192" y="960"/>
            <a:chExt cx="5394" cy="1932"/>
          </a:xfrm>
        </p:grpSpPr>
        <p:pic>
          <p:nvPicPr>
            <p:cNvPr id="24681" name="Picture 10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960"/>
              <a:ext cx="5394" cy="19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4682" name="Picture 10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" y="1776"/>
              <a:ext cx="5328" cy="4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683" name="Text Box 107"/>
            <p:cNvSpPr txBox="1">
              <a:spLocks noChangeArrowheads="1"/>
            </p:cNvSpPr>
            <p:nvPr/>
          </p:nvSpPr>
          <p:spPr bwMode="auto">
            <a:xfrm>
              <a:off x="197" y="2304"/>
              <a:ext cx="1238" cy="3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zh-CN" sz="1800"/>
                <a:t>48 or 72</a:t>
              </a:r>
              <a:r>
                <a:rPr lang="en-US" altLang="zh-CN"/>
                <a:t>       </a:t>
              </a:r>
            </a:p>
          </p:txBody>
        </p:sp>
        <p:sp>
          <p:nvSpPr>
            <p:cNvPr id="24684" name="Line 108"/>
            <p:cNvSpPr>
              <a:spLocks noChangeShapeType="1"/>
            </p:cNvSpPr>
            <p:nvPr/>
          </p:nvSpPr>
          <p:spPr bwMode="auto">
            <a:xfrm>
              <a:off x="2064" y="1584"/>
              <a:ext cx="96" cy="8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685" name="Oval 109"/>
          <p:cNvSpPr>
            <a:spLocks noChangeArrowheads="1"/>
          </p:cNvSpPr>
          <p:nvPr/>
        </p:nvSpPr>
        <p:spPr bwMode="auto">
          <a:xfrm>
            <a:off x="2590800" y="2819400"/>
            <a:ext cx="609600" cy="6096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88" name="Line 112"/>
          <p:cNvSpPr>
            <a:spLocks noChangeShapeType="1"/>
          </p:cNvSpPr>
          <p:nvPr/>
        </p:nvSpPr>
        <p:spPr bwMode="auto">
          <a:xfrm flipH="1">
            <a:off x="2590800" y="3352800"/>
            <a:ext cx="228600" cy="129540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41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 smtClean="0"/>
              <a:t>预测转移未选中</a:t>
            </a:r>
            <a:r>
              <a:rPr lang="en-US" altLang="zh-CN" sz="2400" dirty="0" smtClean="0"/>
              <a:t>predict-not-taken</a:t>
            </a:r>
            <a:r>
              <a:rPr lang="zh-CN" altLang="en-US" sz="2800" b="1" dirty="0" smtClean="0">
                <a:solidFill>
                  <a:srgbClr val="C00000"/>
                </a:solidFill>
              </a:rPr>
              <a:t>（硬件固定）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6678" name="Group 54"/>
          <p:cNvGraphicFramePr>
            <a:graphicFrameLocks noGrp="1"/>
          </p:cNvGraphicFramePr>
          <p:nvPr/>
        </p:nvGraphicFramePr>
        <p:xfrm>
          <a:off x="304800" y="1905000"/>
          <a:ext cx="8534400" cy="1584960"/>
        </p:xfrm>
        <a:graphic>
          <a:graphicData uri="http://schemas.openxmlformats.org/drawingml/2006/table">
            <a:tbl>
              <a:tblPr/>
              <a:tblGrid>
                <a:gridCol w="2933700"/>
                <a:gridCol w="647700"/>
                <a:gridCol w="685800"/>
                <a:gridCol w="685800"/>
                <a:gridCol w="990600"/>
                <a:gridCol w="914400"/>
                <a:gridCol w="838200"/>
                <a:gridCol w="83820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40 ADD R30,R30,R30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44 BEQ R1, 24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48 AND R12, R2, R5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52 OR R13, R6, 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79" name="Text Box 55"/>
          <p:cNvSpPr txBox="1">
            <a:spLocks noChangeArrowheads="1"/>
          </p:cNvSpPr>
          <p:nvPr/>
        </p:nvSpPr>
        <p:spPr bwMode="auto">
          <a:xfrm>
            <a:off x="212725" y="1292225"/>
            <a:ext cx="36756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 smtClean="0"/>
              <a:t>转移未选中：</a:t>
            </a:r>
            <a:r>
              <a:rPr lang="en-US" altLang="zh-CN" sz="2800" b="1" dirty="0" smtClean="0"/>
              <a:t>   </a:t>
            </a:r>
            <a:r>
              <a:rPr lang="en-US" altLang="zh-CN" sz="2800" dirty="0">
                <a:solidFill>
                  <a:srgbClr val="FF0000"/>
                </a:solidFill>
              </a:rPr>
              <a:t>No</a:t>
            </a:r>
            <a:r>
              <a:rPr lang="en-US" altLang="zh-CN" sz="2800" dirty="0"/>
              <a:t> stall</a:t>
            </a:r>
          </a:p>
        </p:txBody>
      </p:sp>
      <p:sp>
        <p:nvSpPr>
          <p:cNvPr id="26680" name="Text Box 56"/>
          <p:cNvSpPr txBox="1">
            <a:spLocks noChangeArrowheads="1"/>
          </p:cNvSpPr>
          <p:nvPr/>
        </p:nvSpPr>
        <p:spPr bwMode="auto">
          <a:xfrm>
            <a:off x="304800" y="3581400"/>
            <a:ext cx="4495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 dirty="0" smtClean="0"/>
              <a:t>转移</a:t>
            </a:r>
            <a:r>
              <a:rPr lang="zh-CN" altLang="en-US" sz="2800" b="1" dirty="0" smtClean="0">
                <a:solidFill>
                  <a:srgbClr val="0070C0"/>
                </a:solidFill>
              </a:rPr>
              <a:t>发生</a:t>
            </a:r>
            <a:r>
              <a:rPr lang="zh-CN" altLang="en-US" sz="2800" dirty="0" smtClean="0"/>
              <a:t>：</a:t>
            </a:r>
            <a:r>
              <a:rPr lang="en-US" altLang="zh-CN" sz="2800" dirty="0" smtClean="0"/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1 stall</a:t>
            </a:r>
          </a:p>
        </p:txBody>
      </p:sp>
      <p:graphicFrame>
        <p:nvGraphicFramePr>
          <p:cNvPr id="26770" name="Group 146"/>
          <p:cNvGraphicFramePr>
            <a:graphicFrameLocks noGrp="1"/>
          </p:cNvGraphicFramePr>
          <p:nvPr/>
        </p:nvGraphicFramePr>
        <p:xfrm>
          <a:off x="304800" y="4191000"/>
          <a:ext cx="8686800" cy="2013585"/>
        </p:xfrm>
        <a:graphic>
          <a:graphicData uri="http://schemas.openxmlformats.org/drawingml/2006/table">
            <a:tbl>
              <a:tblPr/>
              <a:tblGrid>
                <a:gridCol w="2933700"/>
                <a:gridCol w="647700"/>
                <a:gridCol w="685800"/>
                <a:gridCol w="685800"/>
                <a:gridCol w="990600"/>
                <a:gridCol w="914400"/>
                <a:gridCol w="838200"/>
                <a:gridCol w="99060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40 ADD R30,R30,R30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44 BEQ R1, 24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WB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48 AND R12, R2, R5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72 LW R4, 50(R7)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MEM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771" name="Oval 147"/>
          <p:cNvSpPr>
            <a:spLocks noChangeArrowheads="1"/>
          </p:cNvSpPr>
          <p:nvPr/>
        </p:nvSpPr>
        <p:spPr bwMode="auto">
          <a:xfrm>
            <a:off x="4495800" y="5029200"/>
            <a:ext cx="609600" cy="304800"/>
          </a:xfrm>
          <a:prstGeom prst="ellips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496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b="1" dirty="0" smtClean="0"/>
              <a:t>转移延迟</a:t>
            </a:r>
            <a:r>
              <a:rPr lang="zh-CN" altLang="en-US" sz="4000" dirty="0" smtClean="0"/>
              <a:t>（</a:t>
            </a:r>
            <a:r>
              <a:rPr lang="en-US" altLang="zh-CN" sz="4000" dirty="0" smtClean="0"/>
              <a:t>Delayed branch</a:t>
            </a:r>
            <a:r>
              <a:rPr lang="zh-CN" altLang="en-US" sz="4000" dirty="0" smtClean="0"/>
              <a:t>）</a:t>
            </a:r>
            <a:endParaRPr lang="en-US" altLang="zh-CN" sz="4000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839200" cy="4800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好的方面</a:t>
            </a:r>
            <a:endParaRPr lang="en-US" altLang="zh-CN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只需要</a:t>
            </a:r>
            <a:r>
              <a:rPr lang="en-US" altLang="zh-CN" b="1" dirty="0" smtClean="0">
                <a:solidFill>
                  <a:srgbClr val="000000"/>
                </a:solidFill>
                <a:latin typeface="Comic Sans MS" pitchFamily="66" charset="0"/>
              </a:rPr>
              <a:t>1</a:t>
            </a: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个周期计算出正确的转移地址和条件</a:t>
            </a:r>
            <a:endParaRPr lang="en-US" altLang="zh-CN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因此，不需要</a:t>
            </a:r>
            <a:r>
              <a:rPr lang="en-US" altLang="zh-CN" b="1" dirty="0" smtClean="0">
                <a:solidFill>
                  <a:srgbClr val="000000"/>
                </a:solidFill>
                <a:latin typeface="Comic Sans MS" pitchFamily="66" charset="0"/>
              </a:rPr>
              <a:t>2</a:t>
            </a: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或</a:t>
            </a:r>
            <a:r>
              <a:rPr lang="en-US" altLang="zh-CN" b="1" dirty="0" smtClean="0">
                <a:solidFill>
                  <a:srgbClr val="000000"/>
                </a:solidFill>
                <a:latin typeface="Comic Sans MS" pitchFamily="66" charset="0"/>
              </a:rPr>
              <a:t>3</a:t>
            </a: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个周期的</a:t>
            </a:r>
            <a:r>
              <a:rPr lang="en-US" altLang="zh-CN" b="1" dirty="0" smtClean="0">
                <a:solidFill>
                  <a:srgbClr val="000000"/>
                </a:solidFill>
                <a:latin typeface="Comic Sans MS" pitchFamily="66" charset="0"/>
              </a:rPr>
              <a:t>NOP</a:t>
            </a: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或</a:t>
            </a:r>
            <a:r>
              <a:rPr lang="en-US" altLang="zh-CN" b="1" dirty="0" smtClean="0">
                <a:solidFill>
                  <a:srgbClr val="000000"/>
                </a:solidFill>
                <a:latin typeface="Comic Sans MS" pitchFamily="66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Comic Sans MS" pitchFamily="66" charset="0"/>
              </a:rPr>
              <a:t>NOP or stall</a:t>
            </a:r>
          </a:p>
          <a:p>
            <a:pPr>
              <a:lnSpc>
                <a:spcPct val="9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不如意的方面</a:t>
            </a:r>
            <a:endParaRPr lang="en-US" altLang="zh-CN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总是有</a:t>
            </a:r>
            <a:r>
              <a:rPr lang="en-US" altLang="zh-CN" b="1" dirty="0" smtClean="0">
                <a:solidFill>
                  <a:srgbClr val="000000"/>
                </a:solidFill>
                <a:latin typeface="Comic Sans MS" pitchFamily="66" charset="0"/>
              </a:rPr>
              <a:t>1 cycle</a:t>
            </a: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，总是要等待（如果没有采用措施）</a:t>
            </a:r>
            <a:endParaRPr lang="en-US" altLang="zh-CN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在</a:t>
            </a:r>
            <a:r>
              <a:rPr lang="en-US" altLang="zh-CN" b="1" dirty="0" smtClean="0">
                <a:solidFill>
                  <a:srgbClr val="000000"/>
                </a:solidFill>
                <a:latin typeface="Comic Sans MS" pitchFamily="66" charset="0"/>
              </a:rPr>
              <a:t>MIPS</a:t>
            </a: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中，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无论转移是否发生，这个周期的指令总是要执行</a:t>
            </a:r>
            <a:r>
              <a:rPr lang="en-US" altLang="zh-CN" b="1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altLang="zh-CN" b="1" dirty="0">
                <a:solidFill>
                  <a:srgbClr val="FD0128"/>
                </a:solidFill>
                <a:latin typeface="Comic Sans MS" pitchFamily="66" charset="0"/>
              </a:rPr>
              <a:t>(hardware scheme)</a:t>
            </a:r>
            <a:endParaRPr lang="en-US" altLang="zh-CN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14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转移延迟槽</a:t>
            </a:r>
            <a:endParaRPr lang="en-US" altLang="zh-CN" b="1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2400" dirty="0" smtClean="0">
                <a:solidFill>
                  <a:srgbClr val="FD0128"/>
                </a:solidFill>
                <a:latin typeface="Comic Sans MS" pitchFamily="66" charset="0"/>
              </a:rPr>
              <a:t>branch </a:t>
            </a:r>
            <a:r>
              <a:rPr lang="en-US" altLang="zh-CN" sz="2400" dirty="0">
                <a:solidFill>
                  <a:srgbClr val="FD0128"/>
                </a:solidFill>
                <a:latin typeface="Comic Sans MS" pitchFamily="66" charset="0"/>
              </a:rPr>
              <a:t>delay slot</a:t>
            </a:r>
          </a:p>
          <a:p>
            <a:pPr lvl="1">
              <a:lnSpc>
                <a:spcPct val="90000"/>
              </a:lnSpc>
            </a:pPr>
            <a:endParaRPr lang="en-US" altLang="zh-CN" sz="2000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endParaRPr lang="en-US" altLang="zh-CN" sz="2000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endParaRPr lang="en-US" altLang="zh-CN" sz="2000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endParaRPr lang="en-US" altLang="zh-CN" sz="2000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endParaRPr lang="en-US" altLang="zh-CN" sz="2000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endParaRPr lang="en-US" altLang="zh-CN" sz="2000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mic Sans MS" pitchFamily="66" charset="0"/>
              </a:rPr>
              <a:t>转移指令后的指令周期被用于转移地址计算，</a:t>
            </a:r>
            <a:r>
              <a:rPr lang="en-US" altLang="zh-CN" sz="2000" b="1" dirty="0" smtClean="0">
                <a:solidFill>
                  <a:srgbClr val="000000"/>
                </a:solidFill>
                <a:latin typeface="Comic Sans MS" pitchFamily="66" charset="0"/>
              </a:rPr>
              <a:t>MIPS</a:t>
            </a:r>
            <a:r>
              <a:rPr lang="zh-CN" altLang="en-US" sz="2000" b="1" dirty="0" smtClean="0">
                <a:solidFill>
                  <a:srgbClr val="000000"/>
                </a:solidFill>
                <a:latin typeface="Comic Sans MS" pitchFamily="66" charset="0"/>
              </a:rPr>
              <a:t>中</a:t>
            </a:r>
            <a:r>
              <a:rPr lang="en-US" altLang="zh-CN" sz="2000" b="1" dirty="0" smtClean="0">
                <a:solidFill>
                  <a:srgbClr val="000000"/>
                </a:solidFill>
                <a:latin typeface="Comic Sans MS" pitchFamily="66" charset="0"/>
              </a:rPr>
              <a:t>1</a:t>
            </a:r>
            <a:r>
              <a:rPr lang="zh-CN" altLang="en-US" sz="2000" b="1" dirty="0" smtClean="0">
                <a:solidFill>
                  <a:srgbClr val="000000"/>
                </a:solidFill>
                <a:latin typeface="Comic Sans MS" pitchFamily="66" charset="0"/>
              </a:rPr>
              <a:t>个周期的延迟是必须的。</a:t>
            </a:r>
            <a:endParaRPr lang="en-US" altLang="zh-CN" sz="2000" b="1" dirty="0">
              <a:solidFill>
                <a:srgbClr val="000000"/>
              </a:solidFill>
              <a:latin typeface="Comic Sans MS" pitchFamily="66" charset="0"/>
            </a:endParaRPr>
          </a:p>
          <a:p>
            <a:pPr lvl="1">
              <a:lnSpc>
                <a:spcPct val="9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mic Sans MS" pitchFamily="66" charset="0"/>
              </a:rPr>
              <a:t>因此，可以将延迟槽作为</a:t>
            </a: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自由的指令周期</a:t>
            </a:r>
            <a:r>
              <a:rPr lang="zh-CN" altLang="en-US" sz="2000" b="1" dirty="0" smtClean="0">
                <a:solidFill>
                  <a:srgbClr val="000000"/>
                </a:solidFill>
                <a:latin typeface="Comic Sans MS" pitchFamily="66" charset="0"/>
              </a:rPr>
              <a:t>加以利用。</a:t>
            </a:r>
            <a:endParaRPr lang="en-US" altLang="zh-CN" sz="2000" b="1" dirty="0">
              <a:solidFill>
                <a:srgbClr val="000000"/>
              </a:solidFill>
              <a:latin typeface="Comic Sans MS" pitchFamily="66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mic Sans MS" pitchFamily="66" charset="0"/>
              </a:rPr>
              <a:t>Consequence</a:t>
            </a:r>
          </a:p>
          <a:p>
            <a:pPr lvl="1">
              <a:lnSpc>
                <a:spcPct val="90000"/>
              </a:lnSpc>
            </a:pPr>
            <a:r>
              <a:rPr lang="zh-CN" altLang="en-US" sz="2000" b="1" dirty="0" smtClean="0">
                <a:solidFill>
                  <a:srgbClr val="000000"/>
                </a:solidFill>
                <a:latin typeface="Comic Sans MS" pitchFamily="66" charset="0"/>
              </a:rPr>
              <a:t>编译器可以将合适的代码</a:t>
            </a: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调整</a:t>
            </a:r>
            <a:r>
              <a:rPr lang="zh-CN" altLang="en-US" sz="2000" b="1" dirty="0" smtClean="0">
                <a:latin typeface="Comic Sans MS" pitchFamily="66" charset="0"/>
              </a:rPr>
              <a:t>到这个</a:t>
            </a:r>
            <a:r>
              <a:rPr lang="en-US" altLang="zh-CN" sz="2000" b="1" dirty="0" smtClean="0">
                <a:latin typeface="Comic Sans MS" pitchFamily="66" charset="0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Comic Sans MS" pitchFamily="66" charset="0"/>
              </a:rPr>
              <a:t>“slot</a:t>
            </a:r>
            <a:r>
              <a:rPr lang="en-US" altLang="zh-CN" sz="2000" b="1" dirty="0" smtClean="0">
                <a:solidFill>
                  <a:srgbClr val="000000"/>
                </a:solidFill>
                <a:latin typeface="Comic Sans MS" pitchFamily="66" charset="0"/>
              </a:rPr>
              <a:t>”</a:t>
            </a:r>
            <a:r>
              <a:rPr lang="zh-CN" altLang="en-US" sz="2000" b="1" dirty="0" smtClean="0">
                <a:solidFill>
                  <a:srgbClr val="000000"/>
                </a:solidFill>
                <a:latin typeface="Comic Sans MS" pitchFamily="66" charset="0"/>
              </a:rPr>
              <a:t>中</a:t>
            </a:r>
            <a:r>
              <a:rPr lang="en-US" altLang="zh-CN" sz="2000" b="1" dirty="0" smtClean="0">
                <a:solidFill>
                  <a:srgbClr val="000000"/>
                </a:solidFill>
                <a:latin typeface="Comic Sans MS" pitchFamily="66" charset="0"/>
              </a:rPr>
              <a:t>, </a:t>
            </a:r>
            <a:r>
              <a:rPr lang="zh-CN" altLang="en-US" sz="2000" b="1" dirty="0" smtClean="0">
                <a:solidFill>
                  <a:srgbClr val="000000"/>
                </a:solidFill>
                <a:latin typeface="Comic Sans MS" pitchFamily="66" charset="0"/>
              </a:rPr>
              <a:t>如果只放入</a:t>
            </a:r>
            <a:r>
              <a:rPr lang="en-US" altLang="zh-CN" sz="2000" b="1" dirty="0" smtClean="0">
                <a:solidFill>
                  <a:srgbClr val="0000FF"/>
                </a:solidFill>
                <a:latin typeface="Comic Sans MS" pitchFamily="66" charset="0"/>
              </a:rPr>
              <a:t>NOP</a:t>
            </a:r>
            <a:r>
              <a:rPr lang="en-US" altLang="zh-CN" sz="2000" b="1" dirty="0" smtClean="0">
                <a:solidFill>
                  <a:srgbClr val="000000"/>
                </a:solidFill>
                <a:latin typeface="Comic Sans MS" pitchFamily="66" charset="0"/>
              </a:rPr>
              <a:t> </a:t>
            </a:r>
            <a:r>
              <a:rPr lang="zh-CN" altLang="en-US" sz="2000" b="1" dirty="0" smtClean="0">
                <a:solidFill>
                  <a:srgbClr val="000000"/>
                </a:solidFill>
                <a:latin typeface="Comic Sans MS" pitchFamily="66" charset="0"/>
              </a:rPr>
              <a:t>就浪费了。</a:t>
            </a:r>
            <a:r>
              <a:rPr lang="en-US" altLang="zh-CN" sz="2000" dirty="0" smtClean="0">
                <a:solidFill>
                  <a:srgbClr val="000000"/>
                </a:solidFill>
                <a:latin typeface="Comic Sans MS" pitchFamily="66" charset="0"/>
              </a:rPr>
              <a:t>(</a:t>
            </a:r>
            <a:r>
              <a:rPr lang="en-US" altLang="zh-CN" sz="2000" dirty="0">
                <a:solidFill>
                  <a:srgbClr val="0000FF"/>
                </a:solidFill>
                <a:latin typeface="Comic Sans MS" pitchFamily="66" charset="0"/>
              </a:rPr>
              <a:t>compiler scheme</a:t>
            </a:r>
            <a:r>
              <a:rPr lang="en-US" altLang="zh-CN" sz="2000" dirty="0" smtClean="0">
                <a:solidFill>
                  <a:srgbClr val="000000"/>
                </a:solidFill>
                <a:latin typeface="Comic Sans MS" pitchFamily="66" charset="0"/>
              </a:rPr>
              <a:t>)</a:t>
            </a:r>
            <a:r>
              <a:rPr lang="zh-CN" altLang="en-US" sz="2000" dirty="0" smtClean="0">
                <a:solidFill>
                  <a:srgbClr val="000000"/>
                </a:solidFill>
                <a:latin typeface="Comic Sans MS" pitchFamily="66" charset="0"/>
              </a:rPr>
              <a:t>。</a:t>
            </a:r>
            <a:endParaRPr lang="en-US" altLang="zh-CN" sz="2000" dirty="0">
              <a:solidFill>
                <a:srgbClr val="000000"/>
              </a:solidFill>
              <a:latin typeface="Comic Sans MS" pitchFamily="66" charset="0"/>
            </a:endParaRPr>
          </a:p>
        </p:txBody>
      </p:sp>
      <p:pic>
        <p:nvPicPr>
          <p:cNvPr id="36868" name="Picture 4" descr="E:\JXH\教学\专业课复习\系统结构课\611\chap3_4.files\chap3_4-6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905000"/>
            <a:ext cx="7418388" cy="1817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157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怎样调度代码？</a:t>
            </a:r>
            <a:r>
              <a:rPr lang="zh-CN" altLang="en-US" b="1" dirty="0" smtClean="0">
                <a:solidFill>
                  <a:srgbClr val="FF0000"/>
                </a:solidFill>
              </a:rPr>
              <a:t>三种策略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graphicFrame>
        <p:nvGraphicFramePr>
          <p:cNvPr id="3790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429502"/>
              </p:ext>
            </p:extLst>
          </p:nvPr>
        </p:nvGraphicFramePr>
        <p:xfrm>
          <a:off x="-1588" y="1520825"/>
          <a:ext cx="9147176" cy="512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097" name="Picture" r:id="rId3" imgW="4229280" imgH="2571840" progId="Word.Picture.8">
                  <p:embed/>
                </p:oleObj>
              </mc:Choice>
              <mc:Fallback>
                <p:oleObj name="Picture" r:id="rId3" imgW="4229280" imgH="25718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588" y="1520825"/>
                        <a:ext cx="9147176" cy="5126038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 w="9525">
                        <a:solidFill>
                          <a:srgbClr val="660066"/>
                        </a:solidFill>
                        <a:miter lim="800000"/>
                        <a:headEnd/>
                        <a:tailEnd/>
                      </a:ln>
                      <a:effectLst>
                        <a:outerShdw dist="71842" dir="2700000" algn="ctr" rotWithShape="0">
                          <a:srgbClr val="660066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61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例子：重写代码</a:t>
            </a:r>
            <a:r>
              <a:rPr lang="en-US" altLang="zh-CN" b="1" dirty="0" smtClean="0"/>
              <a:t> </a:t>
            </a:r>
            <a:r>
              <a:rPr lang="en-US" altLang="zh-CN" b="1" dirty="0"/>
              <a:t>(a)</a:t>
            </a:r>
          </a:p>
        </p:txBody>
      </p:sp>
      <p:pic>
        <p:nvPicPr>
          <p:cNvPr id="39941" name="Picture 5" descr="H:\jxh\Image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0"/>
            <a:ext cx="83439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61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例子：重写代码</a:t>
            </a:r>
            <a:r>
              <a:rPr lang="en-US" altLang="zh-CN" dirty="0" smtClean="0"/>
              <a:t>(</a:t>
            </a:r>
            <a:r>
              <a:rPr lang="en-US" altLang="zh-CN" dirty="0"/>
              <a:t>b-1)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762000" y="1752600"/>
            <a:ext cx="358140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</a:pPr>
            <a:endParaRPr lang="en-US" altLang="zh-CN" sz="2800">
              <a:latin typeface="Arial Narrow" pitchFamily="34" charset="0"/>
            </a:endParaRP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Loop:  </a:t>
            </a:r>
            <a:r>
              <a:rPr lang="en-US" altLang="zh-CN" sz="2800" i="1">
                <a:solidFill>
                  <a:srgbClr val="0066FF"/>
                </a:solidFill>
                <a:latin typeface="Arial Narrow" pitchFamily="34" charset="0"/>
              </a:rPr>
              <a:t>LW    R2,  0(R1)</a:t>
            </a:r>
            <a:endParaRPr lang="en-US" altLang="zh-CN" sz="2800">
              <a:latin typeface="Arial Narrow" pitchFamily="34" charset="0"/>
            </a:endParaRP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ADD  R3,  R2, R4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SW    R3,  0(R1)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……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SUB   R1, R1, #4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BNEZ R1, Loop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4724400" y="1752600"/>
            <a:ext cx="373380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" pitchFamily="34" charset="0"/>
              </a:rPr>
              <a:t>          </a:t>
            </a:r>
            <a:r>
              <a:rPr lang="en-US" altLang="zh-CN" sz="2800" u="sng">
                <a:solidFill>
                  <a:srgbClr val="FF0066"/>
                </a:solidFill>
                <a:latin typeface="Arial Narrow" pitchFamily="34" charset="0"/>
              </a:rPr>
              <a:t>LW      R2, 0(R1)</a:t>
            </a:r>
            <a:endParaRPr lang="en-US" altLang="zh-CN" sz="2800">
              <a:solidFill>
                <a:srgbClr val="FF0066"/>
              </a:solidFill>
              <a:latin typeface="Arial Narrow" pitchFamily="34" charset="0"/>
            </a:endParaRP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Loop:   ADD    R3, R2, R4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 SW      R3, 0(R1)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 ……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" pitchFamily="34" charset="0"/>
              </a:rPr>
              <a:t>          </a:t>
            </a:r>
            <a:r>
              <a:rPr lang="en-US" altLang="zh-CN" sz="2800">
                <a:latin typeface="Arial Narrow" pitchFamily="34" charset="0"/>
              </a:rPr>
              <a:t>SUB  R1,R1, #4</a:t>
            </a:r>
            <a:endParaRPr lang="en-US" altLang="zh-CN" sz="2800">
              <a:latin typeface="Arial" pitchFamily="34" charset="0"/>
            </a:endParaRP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" pitchFamily="34" charset="0"/>
              </a:rPr>
              <a:t>          </a:t>
            </a:r>
            <a:r>
              <a:rPr lang="en-US" altLang="zh-CN" sz="2800">
                <a:latin typeface="Arial Narrow" pitchFamily="34" charset="0"/>
              </a:rPr>
              <a:t>BNEZ R1, Loop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 </a:t>
            </a:r>
            <a:r>
              <a:rPr lang="en-US" altLang="zh-CN" sz="2800" b="1">
                <a:solidFill>
                  <a:srgbClr val="0066FF"/>
                </a:solidFill>
                <a:latin typeface="Arial Narrow" pitchFamily="34" charset="0"/>
              </a:rPr>
              <a:t>LW      R2, 0(R1)</a:t>
            </a:r>
            <a:endParaRPr lang="en-US" altLang="zh-CN" sz="2800">
              <a:latin typeface="Arial Narrow" pitchFamily="34" charset="0"/>
            </a:endParaRPr>
          </a:p>
        </p:txBody>
      </p:sp>
      <p:sp>
        <p:nvSpPr>
          <p:cNvPr id="40966" name="AutoShape 6"/>
          <p:cNvSpPr>
            <a:spLocks noChangeArrowheads="1"/>
          </p:cNvSpPr>
          <p:nvPr/>
        </p:nvSpPr>
        <p:spPr bwMode="auto">
          <a:xfrm>
            <a:off x="4267200" y="3276600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7" name="AutoShape 7"/>
          <p:cNvSpPr>
            <a:spLocks noChangeArrowheads="1"/>
          </p:cNvSpPr>
          <p:nvPr/>
        </p:nvSpPr>
        <p:spPr bwMode="auto">
          <a:xfrm rot="5770463" flipV="1">
            <a:off x="240507" y="3193256"/>
            <a:ext cx="3036888" cy="1698625"/>
          </a:xfrm>
          <a:custGeom>
            <a:avLst/>
            <a:gdLst>
              <a:gd name="G0" fmla="+- -84879 0 0"/>
              <a:gd name="G1" fmla="+- -10783320 0 0"/>
              <a:gd name="G2" fmla="+- -84879 0 -10783320"/>
              <a:gd name="G3" fmla="+- 10800 0 0"/>
              <a:gd name="G4" fmla="+- 0 0 -84879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131 0 0"/>
              <a:gd name="G9" fmla="+- 0 0 -10783320"/>
              <a:gd name="G10" fmla="+- 10131 0 2700"/>
              <a:gd name="G11" fmla="cos G10 -84879"/>
              <a:gd name="G12" fmla="sin G10 -84879"/>
              <a:gd name="G13" fmla="cos 13500 -84879"/>
              <a:gd name="G14" fmla="sin 13500 -84879"/>
              <a:gd name="G15" fmla="+- G11 10800 0"/>
              <a:gd name="G16" fmla="+- G12 10800 0"/>
              <a:gd name="G17" fmla="+- G13 10800 0"/>
              <a:gd name="G18" fmla="+- G14 10800 0"/>
              <a:gd name="G19" fmla="*/ 10131 1 2"/>
              <a:gd name="G20" fmla="+- G19 5400 0"/>
              <a:gd name="G21" fmla="cos G20 -84879"/>
              <a:gd name="G22" fmla="sin G20 -84879"/>
              <a:gd name="G23" fmla="+- G21 10800 0"/>
              <a:gd name="G24" fmla="+- G12 G23 G22"/>
              <a:gd name="G25" fmla="+- G22 G23 G11"/>
              <a:gd name="G26" fmla="cos 10800 -84879"/>
              <a:gd name="G27" fmla="sin 10800 -84879"/>
              <a:gd name="G28" fmla="cos 10131 -84879"/>
              <a:gd name="G29" fmla="sin 10131 -84879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783320"/>
              <a:gd name="G36" fmla="sin G34 -10783320"/>
              <a:gd name="G37" fmla="+/ -10783320 -84879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131 G39"/>
              <a:gd name="G43" fmla="sin 10131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2131 w 21600"/>
              <a:gd name="T5" fmla="*/ 82 h 21600"/>
              <a:gd name="T6" fmla="*/ 712 w 21600"/>
              <a:gd name="T7" fmla="*/ 8010 h 21600"/>
              <a:gd name="T8" fmla="*/ 12049 w 21600"/>
              <a:gd name="T9" fmla="*/ 746 h 21600"/>
              <a:gd name="T10" fmla="*/ 24296 w 21600"/>
              <a:gd name="T11" fmla="*/ 10494 h 21600"/>
              <a:gd name="T12" fmla="*/ 21332 w 21600"/>
              <a:gd name="T13" fmla="*/ 13597 h 21600"/>
              <a:gd name="T14" fmla="*/ 18229 w 21600"/>
              <a:gd name="T15" fmla="*/ 1063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0928" y="10571"/>
                </a:moveTo>
                <a:cubicBezTo>
                  <a:pt x="20803" y="5066"/>
                  <a:pt x="16305" y="669"/>
                  <a:pt x="10800" y="669"/>
                </a:cubicBezTo>
                <a:cubicBezTo>
                  <a:pt x="6244" y="668"/>
                  <a:pt x="2249" y="3709"/>
                  <a:pt x="1035" y="8099"/>
                </a:cubicBezTo>
                <a:lnTo>
                  <a:pt x="390" y="7921"/>
                </a:lnTo>
                <a:cubicBezTo>
                  <a:pt x="1685" y="3240"/>
                  <a:pt x="5944" y="-1"/>
                  <a:pt x="10800" y="0"/>
                </a:cubicBezTo>
                <a:cubicBezTo>
                  <a:pt x="16669" y="0"/>
                  <a:pt x="21464" y="4687"/>
                  <a:pt x="21597" y="10555"/>
                </a:cubicBezTo>
                <a:lnTo>
                  <a:pt x="24296" y="10494"/>
                </a:lnTo>
                <a:lnTo>
                  <a:pt x="21332" y="13597"/>
                </a:lnTo>
                <a:lnTo>
                  <a:pt x="18229" y="10632"/>
                </a:lnTo>
                <a:lnTo>
                  <a:pt x="20928" y="10571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8" name="Rectangle 8"/>
          <p:cNvSpPr>
            <a:spLocks noChangeArrowheads="1"/>
          </p:cNvSpPr>
          <p:nvPr/>
        </p:nvSpPr>
        <p:spPr bwMode="auto">
          <a:xfrm>
            <a:off x="1676400" y="2286000"/>
            <a:ext cx="2286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021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5" grpId="0" animBg="1"/>
      <p:bldP spid="40966" grpId="0" animBg="1"/>
      <p:bldP spid="40967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例子：重写代码</a:t>
            </a:r>
            <a:r>
              <a:rPr lang="en-US" altLang="zh-CN" dirty="0" smtClean="0"/>
              <a:t>(</a:t>
            </a:r>
            <a:r>
              <a:rPr lang="en-US" altLang="zh-CN" dirty="0"/>
              <a:t>b-2)</a:t>
            </a: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685800" y="1828800"/>
            <a:ext cx="3505200" cy="3838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Loop:  LW    R2,  0(R1)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ADD  R3,  R2, R4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</a:t>
            </a:r>
            <a:r>
              <a:rPr lang="en-US" altLang="zh-CN" sz="2800">
                <a:solidFill>
                  <a:srgbClr val="0066FF"/>
                </a:solidFill>
                <a:latin typeface="Arial Narrow" pitchFamily="34" charset="0"/>
              </a:rPr>
              <a:t>SW    R3,  0(R1)</a:t>
            </a:r>
            <a:endParaRPr lang="en-US" altLang="zh-CN" sz="2800">
              <a:latin typeface="Arial Narrow" pitchFamily="34" charset="0"/>
            </a:endParaRP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DIV   …..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……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SUB   R1, R1, #4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BNEZ R1, Loop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4524375" y="1828800"/>
            <a:ext cx="4010025" cy="3838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Loop:  LW    R2,  0(R1)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ADD  R3,  R2, R4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DIV   …...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…...          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SUB   R1, R1, #4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BNEZ R1, Loop</a:t>
            </a:r>
          </a:p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800">
                <a:latin typeface="Arial Narrow" pitchFamily="34" charset="0"/>
              </a:rPr>
              <a:t>           </a:t>
            </a:r>
            <a:r>
              <a:rPr lang="en-US" altLang="zh-CN" sz="2800" b="1">
                <a:solidFill>
                  <a:srgbClr val="0066FF"/>
                </a:solidFill>
                <a:latin typeface="Arial Narrow" pitchFamily="34" charset="0"/>
              </a:rPr>
              <a:t>SW    R3,  </a:t>
            </a:r>
            <a:r>
              <a:rPr lang="en-US" altLang="zh-CN" sz="2800" b="1">
                <a:solidFill>
                  <a:srgbClr val="FF0066"/>
                </a:solidFill>
                <a:latin typeface="Arial Narrow" pitchFamily="34" charset="0"/>
              </a:rPr>
              <a:t>+4</a:t>
            </a:r>
            <a:r>
              <a:rPr lang="en-US" altLang="zh-CN" sz="2800" b="1">
                <a:solidFill>
                  <a:srgbClr val="0066FF"/>
                </a:solidFill>
                <a:latin typeface="Arial Narrow" pitchFamily="34" charset="0"/>
              </a:rPr>
              <a:t>(R1)</a:t>
            </a:r>
            <a:endParaRPr lang="en-US" altLang="zh-CN" sz="2800">
              <a:latin typeface="Arial Narrow" pitchFamily="34" charset="0"/>
            </a:endParaRPr>
          </a:p>
        </p:txBody>
      </p:sp>
      <p:sp>
        <p:nvSpPr>
          <p:cNvPr id="41990" name="AutoShape 6"/>
          <p:cNvSpPr>
            <a:spLocks noChangeArrowheads="1"/>
          </p:cNvSpPr>
          <p:nvPr/>
        </p:nvSpPr>
        <p:spPr bwMode="auto">
          <a:xfrm>
            <a:off x="4114800" y="3457575"/>
            <a:ext cx="609600" cy="457200"/>
          </a:xfrm>
          <a:prstGeom prst="rightArrow">
            <a:avLst>
              <a:gd name="adj1" fmla="val 50000"/>
              <a:gd name="adj2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1600200" y="2924175"/>
            <a:ext cx="2286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2" name="AutoShape 8"/>
          <p:cNvSpPr>
            <a:spLocks noChangeArrowheads="1"/>
          </p:cNvSpPr>
          <p:nvPr/>
        </p:nvSpPr>
        <p:spPr bwMode="auto">
          <a:xfrm rot="5770463" flipV="1">
            <a:off x="429419" y="3485356"/>
            <a:ext cx="2516188" cy="1698625"/>
          </a:xfrm>
          <a:custGeom>
            <a:avLst/>
            <a:gdLst>
              <a:gd name="G0" fmla="+- -84879 0 0"/>
              <a:gd name="G1" fmla="+- -10783320 0 0"/>
              <a:gd name="G2" fmla="+- -84879 0 -10783320"/>
              <a:gd name="G3" fmla="+- 10800 0 0"/>
              <a:gd name="G4" fmla="+- 0 0 -84879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131 0 0"/>
              <a:gd name="G9" fmla="+- 0 0 -10783320"/>
              <a:gd name="G10" fmla="+- 10131 0 2700"/>
              <a:gd name="G11" fmla="cos G10 -84879"/>
              <a:gd name="G12" fmla="sin G10 -84879"/>
              <a:gd name="G13" fmla="cos 13500 -84879"/>
              <a:gd name="G14" fmla="sin 13500 -84879"/>
              <a:gd name="G15" fmla="+- G11 10800 0"/>
              <a:gd name="G16" fmla="+- G12 10800 0"/>
              <a:gd name="G17" fmla="+- G13 10800 0"/>
              <a:gd name="G18" fmla="+- G14 10800 0"/>
              <a:gd name="G19" fmla="*/ 10131 1 2"/>
              <a:gd name="G20" fmla="+- G19 5400 0"/>
              <a:gd name="G21" fmla="cos G20 -84879"/>
              <a:gd name="G22" fmla="sin G20 -84879"/>
              <a:gd name="G23" fmla="+- G21 10800 0"/>
              <a:gd name="G24" fmla="+- G12 G23 G22"/>
              <a:gd name="G25" fmla="+- G22 G23 G11"/>
              <a:gd name="G26" fmla="cos 10800 -84879"/>
              <a:gd name="G27" fmla="sin 10800 -84879"/>
              <a:gd name="G28" fmla="cos 10131 -84879"/>
              <a:gd name="G29" fmla="sin 10131 -84879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0783320"/>
              <a:gd name="G36" fmla="sin G34 -10783320"/>
              <a:gd name="G37" fmla="+/ -10783320 -84879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131 G39"/>
              <a:gd name="G43" fmla="sin 10131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2131 w 21600"/>
              <a:gd name="T5" fmla="*/ 82 h 21600"/>
              <a:gd name="T6" fmla="*/ 712 w 21600"/>
              <a:gd name="T7" fmla="*/ 8010 h 21600"/>
              <a:gd name="T8" fmla="*/ 12049 w 21600"/>
              <a:gd name="T9" fmla="*/ 746 h 21600"/>
              <a:gd name="T10" fmla="*/ 24296 w 21600"/>
              <a:gd name="T11" fmla="*/ 10494 h 21600"/>
              <a:gd name="T12" fmla="*/ 21332 w 21600"/>
              <a:gd name="T13" fmla="*/ 13597 h 21600"/>
              <a:gd name="T14" fmla="*/ 18229 w 21600"/>
              <a:gd name="T15" fmla="*/ 1063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20928" y="10571"/>
                </a:moveTo>
                <a:cubicBezTo>
                  <a:pt x="20803" y="5066"/>
                  <a:pt x="16305" y="669"/>
                  <a:pt x="10800" y="669"/>
                </a:cubicBezTo>
                <a:cubicBezTo>
                  <a:pt x="6244" y="668"/>
                  <a:pt x="2249" y="3709"/>
                  <a:pt x="1035" y="8099"/>
                </a:cubicBezTo>
                <a:lnTo>
                  <a:pt x="390" y="7921"/>
                </a:lnTo>
                <a:cubicBezTo>
                  <a:pt x="1685" y="3240"/>
                  <a:pt x="5944" y="-1"/>
                  <a:pt x="10800" y="0"/>
                </a:cubicBezTo>
                <a:cubicBezTo>
                  <a:pt x="16669" y="0"/>
                  <a:pt x="21464" y="4687"/>
                  <a:pt x="21597" y="10555"/>
                </a:cubicBezTo>
                <a:lnTo>
                  <a:pt x="24296" y="10494"/>
                </a:lnTo>
                <a:lnTo>
                  <a:pt x="21332" y="13597"/>
                </a:lnTo>
                <a:lnTo>
                  <a:pt x="18229" y="10632"/>
                </a:lnTo>
                <a:lnTo>
                  <a:pt x="20928" y="10571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281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 animBg="1"/>
      <p:bldP spid="41990" grpId="0" animBg="1"/>
      <p:bldP spid="41992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>
                <a:solidFill>
                  <a:srgbClr val="FF0000"/>
                </a:solidFill>
              </a:rPr>
              <a:t>调度策略</a:t>
            </a:r>
            <a:r>
              <a:rPr lang="zh-CN" altLang="en-US" b="1" dirty="0" smtClean="0"/>
              <a:t>对比</a:t>
            </a:r>
            <a:r>
              <a:rPr lang="zh-CN" altLang="en-US" b="1" dirty="0" smtClean="0">
                <a:solidFill>
                  <a:srgbClr val="FF0000"/>
                </a:solidFill>
              </a:rPr>
              <a:t>性能改善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graphicFrame>
        <p:nvGraphicFramePr>
          <p:cNvPr id="43012" name="Object 4"/>
          <p:cNvGraphicFramePr>
            <a:graphicFrameLocks noGrp="1" noChangeAspect="1"/>
          </p:cNvGraphicFramePr>
          <p:nvPr>
            <p:ph type="body" idx="1"/>
            <p:extLst>
              <p:ext uri="{D42A27DB-BD31-4B8C-83A1-F6EECF244321}">
                <p14:modId xmlns:p14="http://schemas.microsoft.com/office/powerpoint/2010/main" val="2373029888"/>
              </p:ext>
            </p:extLst>
          </p:nvPr>
        </p:nvGraphicFramePr>
        <p:xfrm>
          <a:off x="179512" y="1268760"/>
          <a:ext cx="8784976" cy="5589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07" name="Document" r:id="rId4" imgW="7893329" imgH="4743688" progId="Word.Document.8">
                  <p:embed/>
                </p:oleObj>
              </mc:Choice>
              <mc:Fallback>
                <p:oleObj name="Document" r:id="rId4" imgW="7893329" imgH="474368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2" y="1268760"/>
                        <a:ext cx="8784976" cy="5589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441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转移延迟的限制</a:t>
            </a:r>
            <a:endParaRPr lang="en-US" altLang="zh-CN" b="1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 smtClean="0">
                <a:solidFill>
                  <a:srgbClr val="000000"/>
                </a:solidFill>
                <a:latin typeface="Comic Sans MS" pitchFamily="66" charset="0"/>
              </a:rPr>
              <a:t>对于调度到延迟槽的指令有限制。</a:t>
            </a:r>
            <a:endParaRPr lang="en-US" altLang="zh-CN" sz="2800" b="1" dirty="0">
              <a:latin typeface="Comic Sans MS" pitchFamily="66" charset="0"/>
            </a:endParaRPr>
          </a:p>
          <a:p>
            <a:r>
              <a:rPr lang="zh-CN" altLang="en-US" sz="2800" b="1" dirty="0" smtClean="0">
                <a:solidFill>
                  <a:srgbClr val="000000"/>
                </a:solidFill>
                <a:latin typeface="Comic Sans MS" pitchFamily="66" charset="0"/>
              </a:rPr>
              <a:t>编译器能准确预测转移是否发生，以决定实际做多少有用的工作。</a:t>
            </a:r>
            <a:endParaRPr lang="en-US" altLang="zh-CN" sz="2800" b="1" dirty="0">
              <a:latin typeface="Comic Sans MS" pitchFamily="66" charset="0"/>
            </a:endParaRPr>
          </a:p>
          <a:p>
            <a:r>
              <a:rPr lang="zh-CN" altLang="en-US" sz="2800" b="1" dirty="0" smtClean="0">
                <a:latin typeface="Comic Sans MS" pitchFamily="66" charset="0"/>
              </a:rPr>
              <a:t>对于调度策略</a:t>
            </a:r>
            <a:r>
              <a:rPr lang="en-US" altLang="zh-CN" sz="2800" b="1" dirty="0" smtClean="0">
                <a:latin typeface="Comic Sans MS" pitchFamily="66" charset="0"/>
              </a:rPr>
              <a:t> </a:t>
            </a:r>
            <a:r>
              <a:rPr lang="en-US" altLang="zh-CN" sz="2800" b="1" dirty="0">
                <a:latin typeface="Comic Sans MS" pitchFamily="66" charset="0"/>
              </a:rPr>
              <a:t>b </a:t>
            </a:r>
            <a:r>
              <a:rPr lang="zh-CN" altLang="en-US" sz="2800" b="1" dirty="0" smtClean="0">
                <a:latin typeface="Comic Sans MS" pitchFamily="66" charset="0"/>
              </a:rPr>
              <a:t>和</a:t>
            </a:r>
            <a:r>
              <a:rPr lang="en-US" altLang="zh-CN" sz="2800" b="1" dirty="0" smtClean="0">
                <a:latin typeface="Comic Sans MS" pitchFamily="66" charset="0"/>
              </a:rPr>
              <a:t> c</a:t>
            </a:r>
            <a:r>
              <a:rPr lang="zh-CN" altLang="en-US" sz="2800" b="1" dirty="0" smtClean="0">
                <a:latin typeface="Comic Sans MS" pitchFamily="66" charset="0"/>
              </a:rPr>
              <a:t>：</a:t>
            </a:r>
            <a:endParaRPr lang="en-US" altLang="zh-CN" sz="2800" b="1" dirty="0">
              <a:latin typeface="Comic Sans MS" pitchFamily="66" charset="0"/>
            </a:endParaRPr>
          </a:p>
          <a:p>
            <a:pPr lvl="1"/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如果预测是错误的，必须保证执行</a:t>
            </a:r>
            <a:r>
              <a:rPr lang="en-US" altLang="zh-CN" sz="2400" b="1" dirty="0" smtClean="0">
                <a:solidFill>
                  <a:srgbClr val="0000FF"/>
                </a:solidFill>
                <a:latin typeface="Comic Sans MS" pitchFamily="66" charset="0"/>
              </a:rPr>
              <a:t> SUB/OR </a:t>
            </a:r>
            <a:r>
              <a:rPr lang="zh-CN" altLang="en-US" sz="2400" b="1" dirty="0" smtClean="0">
                <a:solidFill>
                  <a:srgbClr val="0000FF"/>
                </a:solidFill>
                <a:latin typeface="Comic Sans MS" pitchFamily="66" charset="0"/>
              </a:rPr>
              <a:t>指令是正确的。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或者，硬件必须提供一种方法能够</a:t>
            </a:r>
            <a:r>
              <a:rPr lang="zh-CN" altLang="en-US" sz="2400" b="1" dirty="0" smtClean="0">
                <a:solidFill>
                  <a:srgbClr val="FF0000"/>
                </a:solidFill>
                <a:latin typeface="Comic Sans MS" pitchFamily="66" charset="0"/>
              </a:rPr>
              <a:t>撤销</a:t>
            </a:r>
            <a:r>
              <a:rPr lang="en-US" altLang="zh-CN" sz="2400" b="1" dirty="0" smtClean="0">
                <a:solidFill>
                  <a:srgbClr val="000000"/>
                </a:solidFill>
                <a:latin typeface="Comic Sans MS" pitchFamily="66" charset="0"/>
              </a:rPr>
              <a:t>SUB/OR</a:t>
            </a:r>
            <a:r>
              <a:rPr lang="zh-CN" altLang="en-US" sz="2400" b="1" dirty="0" smtClean="0">
                <a:solidFill>
                  <a:srgbClr val="000000"/>
                </a:solidFill>
                <a:latin typeface="Comic Sans MS" pitchFamily="66" charset="0"/>
              </a:rPr>
              <a:t>指令。</a:t>
            </a:r>
            <a:endParaRPr lang="en-US" altLang="zh-CN" sz="2800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08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撤销功能</a:t>
            </a:r>
            <a:endParaRPr lang="en-US" altLang="zh-CN" b="1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考虑转移预测的方向。</a:t>
            </a:r>
            <a:endParaRPr lang="en-US" altLang="zh-CN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如果转移预测是错误的，</a:t>
            </a:r>
            <a:r>
              <a:rPr lang="en-US" altLang="zh-CN" b="1" dirty="0" smtClean="0">
                <a:solidFill>
                  <a:srgbClr val="000000"/>
                </a:solidFill>
                <a:latin typeface="Comic Sans MS" pitchFamily="66" charset="0"/>
              </a:rPr>
              <a:t>CPU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能够将转移延迟槽中的指令转换为</a:t>
            </a:r>
            <a:r>
              <a:rPr lang="zh-CN" altLang="en-US" b="1" i="1" dirty="0" smtClean="0">
                <a:solidFill>
                  <a:srgbClr val="0033CC"/>
                </a:solidFill>
                <a:latin typeface="Comic Sans MS" pitchFamily="66" charset="0"/>
              </a:rPr>
              <a:t>一条空操作指令</a:t>
            </a:r>
            <a:r>
              <a:rPr lang="zh-CN" altLang="en-US" b="1" dirty="0" smtClean="0">
                <a:solidFill>
                  <a:srgbClr val="0070C0"/>
                </a:solidFill>
                <a:latin typeface="Comic Sans MS" pitchFamily="66" charset="0"/>
              </a:rPr>
              <a:t>。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（硬件支持）</a:t>
            </a:r>
            <a:endParaRPr lang="en-US" altLang="zh-CN" b="1" dirty="0">
              <a:solidFill>
                <a:srgbClr val="FF0000"/>
              </a:solidFill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000000"/>
                </a:solidFill>
                <a:latin typeface="Comic Sans MS" pitchFamily="66" charset="0"/>
              </a:rPr>
              <a:t>能够减少编译器选择有用指令进入转移延迟槽的复杂性。</a:t>
            </a:r>
            <a:endParaRPr lang="en-US" altLang="zh-CN" b="1" dirty="0">
              <a:solidFill>
                <a:srgbClr val="000000"/>
              </a:solidFill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7837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b="1" dirty="0" smtClean="0"/>
              <a:t>带有撤销功能的转移预测</a:t>
            </a:r>
            <a:r>
              <a:rPr lang="en-US" altLang="zh-CN" b="1" dirty="0"/>
              <a:t/>
            </a:r>
            <a:br>
              <a:rPr lang="en-US" altLang="zh-CN" b="1" dirty="0"/>
            </a:br>
            <a:r>
              <a:rPr lang="zh-CN" altLang="en-US" b="1" dirty="0">
                <a:solidFill>
                  <a:srgbClr val="C00000"/>
                </a:solidFill>
              </a:rPr>
              <a:t>（</a:t>
            </a:r>
            <a:r>
              <a:rPr lang="zh-CN" altLang="en-US" b="1" dirty="0" smtClean="0">
                <a:solidFill>
                  <a:srgbClr val="C00000"/>
                </a:solidFill>
              </a:rPr>
              <a:t>图</a:t>
            </a:r>
            <a:r>
              <a:rPr lang="en-US" altLang="zh-CN" b="1" dirty="0" smtClean="0">
                <a:solidFill>
                  <a:srgbClr val="C00000"/>
                </a:solidFill>
              </a:rPr>
              <a:t>A.14 </a:t>
            </a:r>
            <a:r>
              <a:rPr lang="zh-CN" altLang="en-US" b="1" dirty="0" smtClean="0">
                <a:solidFill>
                  <a:srgbClr val="C00000"/>
                </a:solidFill>
              </a:rPr>
              <a:t>（</a:t>
            </a:r>
            <a:r>
              <a:rPr lang="en-US" altLang="zh-CN" b="1" dirty="0" smtClean="0">
                <a:solidFill>
                  <a:srgbClr val="C00000"/>
                </a:solidFill>
              </a:rPr>
              <a:t>b</a:t>
            </a:r>
            <a:r>
              <a:rPr lang="zh-CN" altLang="en-US" b="1" dirty="0" smtClean="0">
                <a:solidFill>
                  <a:srgbClr val="C00000"/>
                </a:solidFill>
              </a:rPr>
              <a:t>）调度策略）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  <p:graphicFrame>
        <p:nvGraphicFramePr>
          <p:cNvPr id="49155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927976"/>
              </p:ext>
            </p:extLst>
          </p:nvPr>
        </p:nvGraphicFramePr>
        <p:xfrm>
          <a:off x="325438" y="1570038"/>
          <a:ext cx="8432800" cy="451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145" name="Document" r:id="rId4" imgW="7562480" imgH="4044591" progId="Word.Document.8">
                  <p:embed/>
                </p:oleObj>
              </mc:Choice>
              <mc:Fallback>
                <p:oleObj name="Document" r:id="rId4" imgW="7562480" imgH="4044591" progId="Word.Documen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8" y="1570038"/>
                        <a:ext cx="8432800" cy="4510087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>
                        <a:outerShdw dist="107763" dir="2700000" algn="ctr" rotWithShape="0">
                          <a:schemeClr val="tx1"/>
                        </a:outerShdw>
                      </a:effectLst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10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05FF035-31F1-46AD-AEA7-3B9BD4D7759F}" type="slidenum">
              <a:rPr lang="zh-CN" altLang="en-US"/>
              <a:pPr>
                <a:defRPr/>
              </a:pPr>
              <a:t>124</a:t>
            </a:fld>
            <a:endParaRPr lang="zh-CN" altLang="en-US"/>
          </a:p>
        </p:txBody>
      </p:sp>
      <p:pic>
        <p:nvPicPr>
          <p:cNvPr id="235524" name="Picture 4" descr="2X2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25" b="46129"/>
          <a:stretch/>
        </p:blipFill>
        <p:spPr bwMode="auto">
          <a:xfrm>
            <a:off x="323528" y="1124744"/>
            <a:ext cx="8496944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475656" y="260648"/>
            <a:ext cx="6841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rgbClr val="FF0000"/>
                </a:solidFill>
              </a:rPr>
              <a:t>例：</a:t>
            </a:r>
            <a:r>
              <a:rPr lang="en-US" altLang="zh-CN" sz="4000" b="1" dirty="0" smtClean="0">
                <a:solidFill>
                  <a:srgbClr val="FF0000"/>
                </a:solidFill>
              </a:rPr>
              <a:t>SPARC</a:t>
            </a:r>
            <a:r>
              <a:rPr lang="zh-CN" altLang="en-US" sz="4000" b="1" dirty="0" smtClean="0">
                <a:solidFill>
                  <a:srgbClr val="FF0000"/>
                </a:solidFill>
              </a:rPr>
              <a:t>处理器的撤销功能</a:t>
            </a:r>
            <a:endParaRPr lang="zh-CN" altLang="en-US" sz="4000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1560" y="3861048"/>
            <a:ext cx="7992888" cy="2326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10000"/>
              </a:lnSpc>
              <a:buFont typeface="Arial" charset="0"/>
              <a:buChar char="•"/>
            </a:pPr>
            <a:r>
              <a:rPr lang="en-US" altLang="zh-CN" sz="2800" b="1" dirty="0" smtClean="0">
                <a:solidFill>
                  <a:srgbClr val="FF0000"/>
                </a:solidFill>
              </a:rPr>
              <a:t>a</a:t>
            </a:r>
            <a:r>
              <a:rPr lang="zh-CN" altLang="zh-CN" sz="2800" b="1" dirty="0"/>
              <a:t>位用于延迟转移</a:t>
            </a:r>
            <a:r>
              <a:rPr lang="zh-CN" altLang="zh-CN" sz="2800" b="1" dirty="0" smtClean="0"/>
              <a:t>控制</a:t>
            </a:r>
            <a:r>
              <a:rPr lang="zh-CN" altLang="en-US" sz="2800" b="1" dirty="0" smtClean="0"/>
              <a:t>：</a:t>
            </a:r>
            <a:endParaRPr lang="en-US" altLang="zh-CN" sz="2800" b="1" dirty="0" smtClean="0"/>
          </a:p>
          <a:p>
            <a:pPr>
              <a:lnSpc>
                <a:spcPct val="110000"/>
              </a:lnSpc>
            </a:pPr>
            <a:r>
              <a:rPr lang="en-US" altLang="zh-CN" sz="2800" b="1" dirty="0"/>
              <a:t> </a:t>
            </a:r>
            <a:r>
              <a:rPr lang="en-US" altLang="zh-CN" sz="2800" b="1" dirty="0" smtClean="0"/>
              <a:t>        </a:t>
            </a:r>
            <a:r>
              <a:rPr lang="en-US" altLang="zh-CN" sz="2800" b="1" dirty="0" smtClean="0">
                <a:solidFill>
                  <a:srgbClr val="FF0000"/>
                </a:solidFill>
              </a:rPr>
              <a:t>a=0</a:t>
            </a:r>
            <a:r>
              <a:rPr lang="zh-CN" altLang="zh-CN" sz="2800" b="1" dirty="0"/>
              <a:t>时，</a:t>
            </a:r>
            <a:r>
              <a:rPr lang="zh-CN" altLang="zh-CN" sz="2400" b="1" dirty="0"/>
              <a:t>跟在转移指令下面的指令总是被执行</a:t>
            </a:r>
            <a:r>
              <a:rPr lang="zh-CN" altLang="zh-CN" sz="2400" b="1" dirty="0" smtClean="0"/>
              <a:t>；</a:t>
            </a:r>
            <a:endParaRPr lang="en-US" altLang="zh-CN" sz="2400" b="1" dirty="0" smtClean="0"/>
          </a:p>
          <a:p>
            <a:pPr>
              <a:lnSpc>
                <a:spcPct val="11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 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          </a:t>
            </a:r>
            <a:r>
              <a:rPr lang="en-US" altLang="zh-CN" sz="2800" b="1" dirty="0">
                <a:solidFill>
                  <a:srgbClr val="FF0000"/>
                </a:solidFill>
              </a:rPr>
              <a:t>a=1</a:t>
            </a:r>
            <a:r>
              <a:rPr lang="zh-CN" altLang="zh-CN" sz="2800" b="1" dirty="0"/>
              <a:t>时，</a:t>
            </a:r>
            <a:r>
              <a:rPr lang="zh-CN" altLang="zh-CN" sz="2400" b="1" dirty="0"/>
              <a:t>只在条件转移指令</a:t>
            </a:r>
            <a:r>
              <a:rPr lang="zh-CN" altLang="zh-CN" sz="2400" b="1" dirty="0" smtClean="0"/>
              <a:t>转移</a:t>
            </a:r>
            <a:r>
              <a:rPr lang="zh-CN" altLang="en-US" sz="2400" b="1" dirty="0" smtClean="0"/>
              <a:t>发生</a:t>
            </a:r>
            <a:r>
              <a:rPr lang="zh-CN" altLang="zh-CN" sz="2400" b="1" dirty="0" smtClean="0"/>
              <a:t>时</a:t>
            </a:r>
            <a:r>
              <a:rPr lang="zh-CN" altLang="zh-CN" sz="2400" b="1" dirty="0"/>
              <a:t>，跟在转移指令下面的指令才被</a:t>
            </a:r>
            <a:r>
              <a:rPr lang="zh-CN" altLang="zh-CN" sz="2400" b="1" dirty="0" smtClean="0"/>
              <a:t>执行</a:t>
            </a:r>
            <a:r>
              <a:rPr lang="zh-CN" altLang="en-US" sz="2400" b="1" dirty="0" smtClean="0"/>
              <a:t>；否则，撤销条件转移指令其后指令的执行</a:t>
            </a:r>
            <a:r>
              <a:rPr lang="zh-CN" altLang="zh-CN" sz="2400" b="1" dirty="0" smtClean="0"/>
              <a:t>。</a:t>
            </a:r>
            <a:endParaRPr lang="zh-CN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841892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52400"/>
            <a:ext cx="7696200" cy="1066800"/>
          </a:xfrm>
        </p:spPr>
        <p:txBody>
          <a:bodyPr/>
          <a:lstStyle/>
          <a:p>
            <a:r>
              <a:rPr lang="en-US" altLang="zh-CN"/>
              <a:t>Efficiency of delayed branch </a:t>
            </a:r>
          </a:p>
        </p:txBody>
      </p:sp>
      <p:graphicFrame>
        <p:nvGraphicFramePr>
          <p:cNvPr id="50179" name="Object 3"/>
          <p:cNvGraphicFramePr>
            <a:graphicFrameLocks noGrp="1" noChangeAspect="1"/>
          </p:cNvGraphicFramePr>
          <p:nvPr>
            <p:ph idx="1"/>
          </p:nvPr>
        </p:nvGraphicFramePr>
        <p:xfrm>
          <a:off x="304800" y="1447800"/>
          <a:ext cx="85344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231" name="Document" r:id="rId4" imgW="7935120" imgH="5228640" progId="Word.Document.8">
                  <p:embed/>
                </p:oleObj>
              </mc:Choice>
              <mc:Fallback>
                <p:oleObj name="Document" r:id="rId4" imgW="7935120" imgH="52286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447800"/>
                        <a:ext cx="8534400" cy="5029200"/>
                      </a:xfrm>
                      <a:prstGeom prst="rect">
                        <a:avLst/>
                      </a:prstGeom>
                      <a:solidFill>
                        <a:srgbClr val="EAEAEA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726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关于转移延迟</a:t>
            </a:r>
            <a:endParaRPr lang="en-US" altLang="zh-CN" b="1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Comic Sans MS" pitchFamily="66" charset="0"/>
              </a:rPr>
              <a:t>转移延迟在多数</a:t>
            </a:r>
            <a:r>
              <a:rPr lang="en-US" altLang="zh-CN" b="1" dirty="0" smtClean="0">
                <a:latin typeface="Comic Sans MS" pitchFamily="66" charset="0"/>
              </a:rPr>
              <a:t>RISC</a:t>
            </a:r>
            <a:r>
              <a:rPr lang="zh-CN" altLang="en-US" b="1" dirty="0" smtClean="0">
                <a:latin typeface="Comic Sans MS" pitchFamily="66" charset="0"/>
              </a:rPr>
              <a:t>处理器中采用。</a:t>
            </a:r>
            <a:endParaRPr lang="en-US" altLang="zh-CN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Comic Sans MS" pitchFamily="66" charset="0"/>
              </a:rPr>
              <a:t>通常，转移延迟长度大于</a:t>
            </a:r>
            <a:r>
              <a:rPr lang="en-US" altLang="zh-CN" b="1" dirty="0" smtClean="0">
                <a:latin typeface="Comic Sans MS" pitchFamily="66" charset="0"/>
              </a:rPr>
              <a:t>1</a:t>
            </a:r>
            <a:r>
              <a:rPr lang="zh-CN" altLang="en-US" b="1" dirty="0" smtClean="0">
                <a:latin typeface="Comic Sans MS" pitchFamily="66" charset="0"/>
              </a:rPr>
              <a:t>。然而，由于编译器的复杂性，总是使用</a:t>
            </a:r>
            <a:r>
              <a:rPr lang="en-US" altLang="zh-CN" b="1" dirty="0" smtClean="0">
                <a:latin typeface="Comic Sans MS" pitchFamily="66" charset="0"/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  <a:latin typeface="Comic Sans MS" pitchFamily="66" charset="0"/>
              </a:rPr>
              <a:t>1</a:t>
            </a:r>
            <a:r>
              <a:rPr lang="zh-CN" altLang="en-US" b="1" dirty="0" smtClean="0">
                <a:latin typeface="Comic Sans MS" pitchFamily="66" charset="0"/>
              </a:rPr>
              <a:t>个延迟槽</a:t>
            </a:r>
            <a:r>
              <a:rPr lang="en-US" altLang="zh-CN" b="1" dirty="0" smtClean="0">
                <a:latin typeface="Comic Sans MS" pitchFamily="66" charset="0"/>
              </a:rPr>
              <a:t> </a:t>
            </a:r>
            <a:r>
              <a:rPr lang="zh-CN" altLang="en-US" b="1" dirty="0" smtClean="0">
                <a:latin typeface="Comic Sans MS" pitchFamily="66" charset="0"/>
              </a:rPr>
              <a:t>。</a:t>
            </a:r>
            <a:endParaRPr lang="en-US" altLang="zh-CN" b="1" dirty="0"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232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4</a:t>
            </a:r>
            <a:r>
              <a:rPr lang="zh-CN" altLang="en-US" b="1" dirty="0" smtClean="0"/>
              <a:t>种方案的性能比较</a:t>
            </a:r>
            <a:endParaRPr lang="en-US" altLang="zh-CN" b="1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Comic Sans MS" pitchFamily="66" charset="0"/>
              </a:rPr>
              <a:t>MIPS </a:t>
            </a:r>
            <a:r>
              <a:rPr lang="en-US" altLang="zh-CN" dirty="0" smtClean="0">
                <a:latin typeface="Comic Sans MS" pitchFamily="66" charset="0"/>
              </a:rPr>
              <a:t>R4000</a:t>
            </a:r>
            <a:r>
              <a:rPr lang="zh-CN" altLang="en-US" dirty="0" smtClean="0">
                <a:latin typeface="Comic Sans MS" pitchFamily="66" charset="0"/>
              </a:rPr>
              <a:t>，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更深</a:t>
            </a:r>
            <a:r>
              <a:rPr lang="zh-CN" altLang="en-US" b="1" dirty="0" smtClean="0">
                <a:latin typeface="Comic Sans MS" pitchFamily="66" charset="0"/>
              </a:rPr>
              <a:t>的流水线</a:t>
            </a:r>
            <a:endParaRPr lang="en-US" altLang="zh-CN" dirty="0">
              <a:latin typeface="Comic Sans MS" pitchFamily="66" charset="0"/>
            </a:endParaRPr>
          </a:p>
          <a:p>
            <a:pPr lvl="1"/>
            <a:r>
              <a:rPr lang="zh-CN" altLang="en-US" b="1" dirty="0" smtClean="0">
                <a:latin typeface="Comic Sans MS" pitchFamily="66" charset="0"/>
              </a:rPr>
              <a:t>在转移目标地址知道前，至少花费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三个流水段。</a:t>
            </a:r>
            <a:endParaRPr lang="en-US" altLang="zh-CN" b="1" dirty="0">
              <a:latin typeface="Comic Sans MS" pitchFamily="66" charset="0"/>
            </a:endParaRPr>
          </a:p>
          <a:p>
            <a:pPr lvl="1"/>
            <a:r>
              <a:rPr lang="zh-CN" altLang="en-US" b="1" dirty="0" smtClean="0">
                <a:latin typeface="Comic Sans MS" pitchFamily="66" charset="0"/>
              </a:rPr>
              <a:t>在转移条件估算前，</a:t>
            </a:r>
            <a:r>
              <a:rPr lang="zh-CN" altLang="en-US" b="1" dirty="0" smtClean="0">
                <a:solidFill>
                  <a:srgbClr val="FF0000"/>
                </a:solidFill>
                <a:latin typeface="Comic Sans MS" pitchFamily="66" charset="0"/>
              </a:rPr>
              <a:t>需要四个时钟周期。</a:t>
            </a:r>
            <a:endParaRPr lang="en-US" altLang="zh-CN" b="1" dirty="0">
              <a:latin typeface="Comic Sans MS" pitchFamily="66" charset="0"/>
            </a:endParaRPr>
          </a:p>
          <a:p>
            <a:pPr lvl="1"/>
            <a:r>
              <a:rPr lang="zh-CN" altLang="en-US" b="1" dirty="0" smtClean="0">
                <a:latin typeface="Comic Sans MS" pitchFamily="66" charset="0"/>
              </a:rPr>
              <a:t>假定转移频率如下：</a:t>
            </a:r>
            <a:endParaRPr lang="en-US" altLang="zh-CN" b="1" dirty="0">
              <a:latin typeface="Comic Sans MS" pitchFamily="66" charset="0"/>
            </a:endParaRPr>
          </a:p>
          <a:p>
            <a:pPr lvl="2"/>
            <a:r>
              <a:rPr lang="en-US" altLang="zh-CN" dirty="0">
                <a:latin typeface="Comic Sans MS" pitchFamily="66" charset="0"/>
              </a:rPr>
              <a:t>Unconditional branch               4%</a:t>
            </a:r>
          </a:p>
          <a:p>
            <a:pPr lvl="2"/>
            <a:r>
              <a:rPr lang="en-US" altLang="zh-CN" dirty="0">
                <a:latin typeface="Comic Sans MS" pitchFamily="66" charset="0"/>
              </a:rPr>
              <a:t>Conditional branch, untaken    6%</a:t>
            </a:r>
          </a:p>
          <a:p>
            <a:pPr lvl="2"/>
            <a:r>
              <a:rPr lang="en-US" altLang="zh-CN" dirty="0">
                <a:latin typeface="Comic Sans MS" pitchFamily="66" charset="0"/>
              </a:rPr>
              <a:t>Conditional branch, taken      10%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77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/>
              <a:t>4</a:t>
            </a:r>
            <a:r>
              <a:rPr lang="zh-CN" altLang="en-US" b="1" dirty="0" smtClean="0"/>
              <a:t>种</a:t>
            </a:r>
            <a:r>
              <a:rPr lang="zh-CN" altLang="en-US" b="1" dirty="0"/>
              <a:t>情况</a:t>
            </a:r>
            <a:r>
              <a:rPr lang="zh-CN" altLang="en-US" b="1" dirty="0" smtClean="0"/>
              <a:t>的流水线状态</a:t>
            </a:r>
            <a:endParaRPr lang="en-US" altLang="zh-CN" b="1" dirty="0"/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381000" y="1447800"/>
            <a:ext cx="8763000" cy="541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Char char="n"/>
            </a:pPr>
            <a:r>
              <a:rPr lang="en-US" altLang="zh-CN" sz="2400" b="1" dirty="0" err="1">
                <a:latin typeface="Helvetica" pitchFamily="34" charset="0"/>
              </a:rPr>
              <a:t>uncond</a:t>
            </a:r>
            <a:r>
              <a:rPr lang="en-US" altLang="zh-CN" sz="2400" b="1" dirty="0">
                <a:latin typeface="Helvetica" pitchFamily="34" charset="0"/>
              </a:rPr>
              <a:t>.</a:t>
            </a:r>
            <a:r>
              <a:rPr lang="en-US" altLang="zh-CN" sz="2400" dirty="0">
                <a:latin typeface="Helvetica" pitchFamily="34" charset="0"/>
              </a:rPr>
              <a:t>    </a:t>
            </a:r>
            <a:r>
              <a:rPr lang="en-US" altLang="zh-CN" sz="2800" dirty="0">
                <a:latin typeface="Helvetica" pitchFamily="34" charset="0"/>
              </a:rPr>
              <a:t> </a:t>
            </a:r>
            <a:r>
              <a:rPr lang="en-US" altLang="zh-CN" sz="2400" dirty="0">
                <a:latin typeface="Helvetica" pitchFamily="34" charset="0"/>
              </a:rPr>
              <a:t>L1  L2  L3  </a:t>
            </a:r>
            <a:r>
              <a:rPr lang="en-US" altLang="zh-CN" sz="2400" dirty="0">
                <a:solidFill>
                  <a:srgbClr val="0066FF"/>
                </a:solidFill>
                <a:latin typeface="Helvetica" pitchFamily="34" charset="0"/>
              </a:rPr>
              <a:t>L</a:t>
            </a:r>
            <a:r>
              <a:rPr lang="en-US" altLang="zh-CN" sz="2400" dirty="0">
                <a:latin typeface="Helvetica" pitchFamily="34" charset="0"/>
              </a:rPr>
              <a:t>4  L5  L6                                 2 stall</a:t>
            </a:r>
            <a:endParaRPr lang="en-US" altLang="zh-CN" sz="2800" dirty="0">
              <a:latin typeface="Helvetica" pitchFamily="34" charset="0"/>
            </a:endParaRP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800" dirty="0">
                <a:latin typeface="Helvetica" pitchFamily="34" charset="0"/>
              </a:rPr>
              <a:t>                        </a:t>
            </a:r>
            <a:r>
              <a:rPr lang="en-US" altLang="zh-CN" sz="2400" dirty="0">
                <a:solidFill>
                  <a:srgbClr val="FF0066"/>
                </a:solidFill>
                <a:latin typeface="Helvetica" pitchFamily="34" charset="0"/>
              </a:rPr>
              <a:t>L1   s</a:t>
            </a:r>
            <a:r>
              <a:rPr lang="en-US" altLang="zh-CN" sz="2800" dirty="0">
                <a:latin typeface="Helvetica" pitchFamily="34" charset="0"/>
              </a:rPr>
              <a:t>   </a:t>
            </a:r>
            <a:r>
              <a:rPr lang="en-US" altLang="zh-CN" sz="2400" dirty="0">
                <a:solidFill>
                  <a:srgbClr val="0066FF"/>
                </a:solidFill>
                <a:latin typeface="Helvetica" pitchFamily="34" charset="0"/>
              </a:rPr>
              <a:t>L1</a:t>
            </a:r>
            <a:r>
              <a:rPr lang="en-US" altLang="zh-CN" sz="2400" dirty="0">
                <a:latin typeface="Helvetica" pitchFamily="34" charset="0"/>
              </a:rPr>
              <a:t>(branch target)</a:t>
            </a:r>
            <a:endParaRPr lang="en-US" altLang="zh-CN" sz="2000" dirty="0">
              <a:latin typeface="Helvetica" pitchFamily="34" charset="0"/>
            </a:endParaRP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Char char="n"/>
            </a:pPr>
            <a:r>
              <a:rPr lang="en-US" altLang="zh-CN" sz="2400" b="1" dirty="0">
                <a:latin typeface="Helvetica" pitchFamily="34" charset="0"/>
              </a:rPr>
              <a:t>Stall pipeline:</a:t>
            </a:r>
            <a:r>
              <a:rPr lang="en-US" altLang="zh-CN" sz="2400" dirty="0">
                <a:latin typeface="Helvetica" pitchFamily="34" charset="0"/>
              </a:rPr>
              <a:t>    </a:t>
            </a:r>
            <a:r>
              <a:rPr lang="en-US" altLang="zh-CN" sz="2400" dirty="0">
                <a:latin typeface="Arial Narrow" pitchFamily="34" charset="0"/>
              </a:rPr>
              <a:t>L1  L2   L3  L4  </a:t>
            </a:r>
            <a:r>
              <a:rPr lang="en-US" altLang="zh-CN" sz="2400" b="1" dirty="0">
                <a:solidFill>
                  <a:srgbClr val="0000FF"/>
                </a:solidFill>
                <a:latin typeface="Arial Narrow" pitchFamily="34" charset="0"/>
              </a:rPr>
              <a:t>L</a:t>
            </a:r>
            <a:r>
              <a:rPr lang="en-US" altLang="zh-CN" sz="2400" dirty="0">
                <a:latin typeface="Arial Narrow" pitchFamily="34" charset="0"/>
              </a:rPr>
              <a:t>5  L6                                    </a:t>
            </a:r>
            <a:r>
              <a:rPr lang="en-US" altLang="zh-CN" sz="2400" b="1" dirty="0">
                <a:latin typeface="Arial Narrow" pitchFamily="34" charset="0"/>
              </a:rPr>
              <a:t>3 stall</a:t>
            </a:r>
            <a:endParaRPr lang="en-US" altLang="zh-CN" sz="2400" b="1" dirty="0">
              <a:latin typeface="Helvetica" pitchFamily="34" charset="0"/>
            </a:endParaRP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Helvetica" pitchFamily="34" charset="0"/>
              </a:rPr>
              <a:t>                                   </a:t>
            </a:r>
            <a:r>
              <a:rPr lang="en-US" altLang="zh-CN" sz="2400" dirty="0">
                <a:solidFill>
                  <a:srgbClr val="FF0066"/>
                </a:solidFill>
                <a:latin typeface="Helvetica" pitchFamily="34" charset="0"/>
              </a:rPr>
              <a:t>L1  s   </a:t>
            </a:r>
            <a:r>
              <a:rPr lang="en-US" altLang="zh-CN" sz="2400" dirty="0" err="1">
                <a:solidFill>
                  <a:srgbClr val="FF0066"/>
                </a:solidFill>
                <a:latin typeface="Helvetica" pitchFamily="34" charset="0"/>
              </a:rPr>
              <a:t>s</a:t>
            </a:r>
            <a:r>
              <a:rPr lang="en-US" altLang="zh-CN" sz="2400" dirty="0">
                <a:latin typeface="Helvetica" pitchFamily="34" charset="0"/>
              </a:rPr>
              <a:t>   </a:t>
            </a:r>
            <a:r>
              <a:rPr lang="en-US" altLang="zh-CN" sz="2400" dirty="0">
                <a:solidFill>
                  <a:srgbClr val="0066FF"/>
                </a:solidFill>
                <a:latin typeface="Helvetica" pitchFamily="34" charset="0"/>
              </a:rPr>
              <a:t>L1</a:t>
            </a:r>
            <a:r>
              <a:rPr lang="en-US" altLang="zh-CN" sz="2400" dirty="0">
                <a:latin typeface="Helvetica" pitchFamily="34" charset="0"/>
              </a:rPr>
              <a:t>(branch target/i+1)</a:t>
            </a: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Char char="n"/>
            </a:pPr>
            <a:r>
              <a:rPr lang="en-US" altLang="zh-CN" sz="2400" b="1" dirty="0">
                <a:latin typeface="Helvetica" pitchFamily="34" charset="0"/>
              </a:rPr>
              <a:t>Predict taken:</a:t>
            </a: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b="1" dirty="0">
                <a:latin typeface="Helvetica" pitchFamily="34" charset="0"/>
              </a:rPr>
              <a:t>            </a:t>
            </a:r>
            <a:r>
              <a:rPr lang="en-US" altLang="zh-CN" sz="2400" dirty="0">
                <a:latin typeface="Arial Narrow" pitchFamily="34" charset="0"/>
              </a:rPr>
              <a:t>L1   L2   L3   </a:t>
            </a:r>
            <a:r>
              <a:rPr lang="en-US" altLang="zh-CN" sz="2400" b="1" dirty="0">
                <a:latin typeface="Arial Narrow" pitchFamily="34" charset="0"/>
              </a:rPr>
              <a:t>L</a:t>
            </a:r>
            <a:r>
              <a:rPr lang="en-US" altLang="zh-CN" sz="2400" dirty="0">
                <a:latin typeface="Arial Narrow" pitchFamily="34" charset="0"/>
              </a:rPr>
              <a:t>4   </a:t>
            </a:r>
            <a:r>
              <a:rPr lang="en-US" altLang="zh-CN" sz="2400" b="1" dirty="0">
                <a:solidFill>
                  <a:srgbClr val="0066FF"/>
                </a:solidFill>
                <a:latin typeface="Arial Narrow" pitchFamily="34" charset="0"/>
              </a:rPr>
              <a:t>L</a:t>
            </a:r>
            <a:r>
              <a:rPr lang="en-US" altLang="zh-CN" sz="2400" dirty="0">
                <a:latin typeface="Arial Narrow" pitchFamily="34" charset="0"/>
              </a:rPr>
              <a:t>5   L6</a:t>
            </a:r>
            <a:endParaRPr lang="en-US" altLang="zh-CN" sz="2400" dirty="0">
              <a:latin typeface="Helvetica" pitchFamily="34" charset="0"/>
            </a:endParaRP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Helvetica" pitchFamily="34" charset="0"/>
              </a:rPr>
              <a:t>taken:        </a:t>
            </a:r>
            <a:r>
              <a:rPr lang="en-US" altLang="zh-CN" sz="2400" dirty="0">
                <a:solidFill>
                  <a:srgbClr val="FF0066"/>
                </a:solidFill>
                <a:latin typeface="Helvetica" pitchFamily="34" charset="0"/>
              </a:rPr>
              <a:t>L1   s</a:t>
            </a:r>
            <a:r>
              <a:rPr lang="en-US" altLang="zh-CN" sz="2400" dirty="0">
                <a:latin typeface="Helvetica" pitchFamily="34" charset="0"/>
              </a:rPr>
              <a:t>   L1 L2  L3                    2  stall</a:t>
            </a: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Helvetica" pitchFamily="34" charset="0"/>
              </a:rPr>
              <a:t>untaken:    </a:t>
            </a:r>
            <a:r>
              <a:rPr lang="en-US" altLang="zh-CN" sz="2400" dirty="0">
                <a:solidFill>
                  <a:srgbClr val="FF0066"/>
                </a:solidFill>
                <a:latin typeface="Helvetica" pitchFamily="34" charset="0"/>
              </a:rPr>
              <a:t>L1   s</a:t>
            </a:r>
            <a:r>
              <a:rPr lang="en-US" altLang="zh-CN" sz="2400" dirty="0">
                <a:latin typeface="Helvetica" pitchFamily="34" charset="0"/>
              </a:rPr>
              <a:t>  </a:t>
            </a:r>
            <a:r>
              <a:rPr lang="en-US" altLang="zh-CN" sz="2400" dirty="0">
                <a:solidFill>
                  <a:srgbClr val="FF0066"/>
                </a:solidFill>
                <a:latin typeface="Helvetica" pitchFamily="34" charset="0"/>
              </a:rPr>
              <a:t> L1</a:t>
            </a:r>
            <a:r>
              <a:rPr lang="en-US" altLang="zh-CN" sz="2400" dirty="0">
                <a:latin typeface="Helvetica" pitchFamily="34" charset="0"/>
              </a:rPr>
              <a:t> idle                        3  stall</a:t>
            </a: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Helvetica" pitchFamily="34" charset="0"/>
              </a:rPr>
              <a:t>                                   L1(i+1)</a:t>
            </a: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Char char="n"/>
            </a:pPr>
            <a:r>
              <a:rPr lang="en-US" altLang="zh-CN" sz="2400" b="1" dirty="0">
                <a:latin typeface="Helvetica" pitchFamily="34" charset="0"/>
              </a:rPr>
              <a:t>Predict untaken</a:t>
            </a:r>
            <a:r>
              <a:rPr lang="en-US" altLang="zh-CN" dirty="0">
                <a:latin typeface="Helvetica" pitchFamily="34" charset="0"/>
              </a:rPr>
              <a:t>:</a:t>
            </a: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dirty="0">
                <a:latin typeface="Helvetica" pitchFamily="34" charset="0"/>
              </a:rPr>
              <a:t>       </a:t>
            </a:r>
            <a:r>
              <a:rPr lang="en-US" altLang="zh-CN" dirty="0" smtClean="0">
                <a:latin typeface="Helvetica" pitchFamily="34" charset="0"/>
              </a:rPr>
              <a:t>         </a:t>
            </a:r>
            <a:r>
              <a:rPr lang="en-US" altLang="zh-CN" sz="2400" dirty="0">
                <a:latin typeface="Arial Narrow" pitchFamily="34" charset="0"/>
              </a:rPr>
              <a:t>L1   L2   L3   </a:t>
            </a:r>
            <a:r>
              <a:rPr lang="en-US" altLang="zh-CN" sz="2400" b="1" dirty="0">
                <a:latin typeface="Arial Narrow" pitchFamily="34" charset="0"/>
              </a:rPr>
              <a:t>L</a:t>
            </a:r>
            <a:r>
              <a:rPr lang="en-US" altLang="zh-CN" sz="2400" dirty="0">
                <a:latin typeface="Arial Narrow" pitchFamily="34" charset="0"/>
              </a:rPr>
              <a:t>4   </a:t>
            </a:r>
            <a:r>
              <a:rPr lang="en-US" altLang="zh-CN" sz="2400" b="1" dirty="0">
                <a:solidFill>
                  <a:srgbClr val="0066FF"/>
                </a:solidFill>
                <a:latin typeface="Arial Narrow" pitchFamily="34" charset="0"/>
              </a:rPr>
              <a:t>L</a:t>
            </a:r>
            <a:r>
              <a:rPr lang="en-US" altLang="zh-CN" sz="2400" dirty="0">
                <a:latin typeface="Arial Narrow" pitchFamily="34" charset="0"/>
              </a:rPr>
              <a:t>5   L6</a:t>
            </a:r>
            <a:endParaRPr lang="en-US" altLang="zh-CN" sz="2400" dirty="0">
              <a:latin typeface="Helvetica" pitchFamily="34" charset="0"/>
            </a:endParaRP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Helvetica" pitchFamily="34" charset="0"/>
              </a:rPr>
              <a:t>untaken:    L1  L2</a:t>
            </a:r>
            <a:r>
              <a:rPr lang="en-US" altLang="zh-CN" sz="2400" dirty="0">
                <a:solidFill>
                  <a:srgbClr val="FF0066"/>
                </a:solidFill>
                <a:latin typeface="Helvetica" pitchFamily="34" charset="0"/>
              </a:rPr>
              <a:t> </a:t>
            </a:r>
            <a:r>
              <a:rPr lang="en-US" altLang="zh-CN" sz="2400" dirty="0">
                <a:latin typeface="Helvetica" pitchFamily="34" charset="0"/>
              </a:rPr>
              <a:t> L3 L4  L5                     0 stall</a:t>
            </a: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Helvetica" pitchFamily="34" charset="0"/>
              </a:rPr>
              <a:t>taken:        </a:t>
            </a:r>
            <a:r>
              <a:rPr lang="en-US" altLang="zh-CN" sz="2400" dirty="0">
                <a:solidFill>
                  <a:srgbClr val="FF0066"/>
                </a:solidFill>
                <a:latin typeface="Helvetica" pitchFamily="34" charset="0"/>
              </a:rPr>
              <a:t>L1  L2  L3 </a:t>
            </a:r>
            <a:r>
              <a:rPr lang="en-US" altLang="zh-CN" sz="2400" dirty="0">
                <a:latin typeface="Helvetica" pitchFamily="34" charset="0"/>
              </a:rPr>
              <a:t>idle                          3 stall</a:t>
            </a: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Helvetica" pitchFamily="34" charset="0"/>
              </a:rPr>
              <a:t>                        </a:t>
            </a:r>
            <a:r>
              <a:rPr lang="en-US" altLang="zh-CN" sz="2400" dirty="0">
                <a:solidFill>
                  <a:srgbClr val="FF0066"/>
                </a:solidFill>
                <a:latin typeface="Helvetica" pitchFamily="34" charset="0"/>
              </a:rPr>
              <a:t>L1  L2</a:t>
            </a:r>
            <a:r>
              <a:rPr lang="en-US" altLang="zh-CN" sz="2400" dirty="0">
                <a:latin typeface="Helvetica" pitchFamily="34" charset="0"/>
              </a:rPr>
              <a:t> idle</a:t>
            </a:r>
          </a:p>
          <a:p>
            <a:pPr algn="l">
              <a:lnSpc>
                <a:spcPct val="85000"/>
              </a:lnSpc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Helvetica" pitchFamily="34" charset="0"/>
              </a:rPr>
              <a:t>                              </a:t>
            </a:r>
            <a:r>
              <a:rPr lang="en-US" altLang="zh-CN" sz="2400" dirty="0">
                <a:solidFill>
                  <a:srgbClr val="FF0066"/>
                </a:solidFill>
                <a:latin typeface="Helvetica" pitchFamily="34" charset="0"/>
              </a:rPr>
              <a:t>L1</a:t>
            </a:r>
            <a:r>
              <a:rPr lang="en-US" altLang="zh-CN" sz="2400" dirty="0">
                <a:latin typeface="Helvetica" pitchFamily="34" charset="0"/>
              </a:rPr>
              <a:t> idle</a:t>
            </a:r>
          </a:p>
          <a:p>
            <a:pPr algn="l">
              <a:lnSpc>
                <a:spcPct val="90000"/>
              </a:lnSpc>
              <a:spcBef>
                <a:spcPct val="5000"/>
              </a:spcBef>
              <a:buClr>
                <a:schemeClr val="folHlink"/>
              </a:buClr>
              <a:buSzPct val="90000"/>
              <a:buFont typeface="Monotype Sorts" pitchFamily="2" charset="2"/>
              <a:buNone/>
            </a:pPr>
            <a:r>
              <a:rPr lang="en-US" altLang="zh-CN" sz="2400" dirty="0">
                <a:latin typeface="Helvetica" pitchFamily="34" charset="0"/>
              </a:rPr>
              <a:t>                                   L1(branch target)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74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比较结果</a:t>
            </a:r>
            <a:r>
              <a:rPr lang="en-US" altLang="zh-CN" b="1" dirty="0" smtClean="0"/>
              <a:t> </a:t>
            </a:r>
            <a:endParaRPr lang="en-US" altLang="zh-CN" b="1" dirty="0"/>
          </a:p>
        </p:txBody>
      </p:sp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228600" y="1524000"/>
          <a:ext cx="87630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6" name="Document" r:id="rId4" imgW="7658100" imgH="3476625" progId="Word.Document.8">
                  <p:embed/>
                </p:oleObj>
              </mc:Choice>
              <mc:Fallback>
                <p:oleObj name="Document" r:id="rId4" imgW="7658100" imgH="347662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524000"/>
                        <a:ext cx="8763000" cy="4419600"/>
                      </a:xfrm>
                      <a:prstGeom prst="rect">
                        <a:avLst/>
                      </a:prstGeom>
                      <a:solidFill>
                        <a:srgbClr val="F3F3F3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076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hazards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4953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CN" sz="2800" b="1" dirty="0"/>
              <a:t>Taxonomy of Hazards</a:t>
            </a:r>
            <a:r>
              <a:rPr lang="en-US" altLang="zh-CN" sz="2400" b="1" dirty="0">
                <a:solidFill>
                  <a:schemeClr val="accent2"/>
                </a:solidFill>
                <a:latin typeface="Comic Sans MS" pitchFamily="66" charset="0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dirty="0">
                <a:solidFill>
                  <a:srgbClr val="9999FF"/>
                </a:solidFill>
                <a:latin typeface="Comic Sans MS" pitchFamily="66" charset="0"/>
              </a:rPr>
              <a:t>Structural hazards</a:t>
            </a:r>
            <a:r>
              <a:rPr lang="en-US" altLang="zh-CN" sz="2000" b="1" dirty="0">
                <a:solidFill>
                  <a:srgbClr val="9999FF"/>
                </a:solidFill>
                <a:latin typeface="Comic Sans MS" pitchFamily="66" charset="0"/>
              </a:rPr>
              <a:t> </a:t>
            </a:r>
          </a:p>
          <a:p>
            <a:pPr lvl="2">
              <a:lnSpc>
                <a:spcPct val="90000"/>
              </a:lnSpc>
            </a:pPr>
            <a:r>
              <a:rPr lang="en-US" altLang="zh-CN" sz="2000" b="1" dirty="0">
                <a:solidFill>
                  <a:srgbClr val="9999FF"/>
                </a:solidFill>
                <a:latin typeface="Comic Sans MS" pitchFamily="66" charset="0"/>
              </a:rPr>
              <a:t>These are conflicts over hardware resources.</a:t>
            </a:r>
            <a:r>
              <a:rPr lang="en-US" altLang="zh-CN" sz="2000" dirty="0"/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zh-CN" sz="2400" b="1" dirty="0">
                <a:solidFill>
                  <a:srgbClr val="9999FF"/>
                </a:solidFill>
                <a:latin typeface="Comic Sans MS" pitchFamily="66" charset="0"/>
              </a:rPr>
              <a:t>Data hazards</a:t>
            </a:r>
          </a:p>
          <a:p>
            <a:pPr lvl="2">
              <a:lnSpc>
                <a:spcPct val="90000"/>
              </a:lnSpc>
            </a:pPr>
            <a:r>
              <a:rPr lang="en-US" altLang="zh-CN" sz="2000" b="1" dirty="0">
                <a:solidFill>
                  <a:srgbClr val="9999FF"/>
                </a:solidFill>
                <a:latin typeface="Comic Sans MS" pitchFamily="66" charset="0"/>
              </a:rPr>
              <a:t>Instruction depends on result of prior computation which is not ready (computed or stored) yet</a:t>
            </a:r>
          </a:p>
          <a:p>
            <a:pPr lvl="1">
              <a:lnSpc>
                <a:spcPct val="90000"/>
              </a:lnSpc>
            </a:pPr>
            <a:r>
              <a:rPr lang="zh-CN" altLang="en-US" b="1" dirty="0" smtClean="0">
                <a:latin typeface="Comic Sans MS" pitchFamily="66" charset="0"/>
              </a:rPr>
              <a:t>控制冒险 </a:t>
            </a:r>
            <a:r>
              <a:rPr lang="en-US" altLang="zh-CN" b="1" dirty="0" smtClean="0">
                <a:latin typeface="Comic Sans MS" pitchFamily="66" charset="0"/>
              </a:rPr>
              <a:t>Control </a:t>
            </a:r>
            <a:r>
              <a:rPr lang="en-US" altLang="zh-CN" b="1" dirty="0">
                <a:latin typeface="Comic Sans MS" pitchFamily="66" charset="0"/>
              </a:rPr>
              <a:t>hazards</a:t>
            </a:r>
            <a:r>
              <a:rPr lang="en-US" altLang="zh-CN" sz="3200" dirty="0">
                <a:solidFill>
                  <a:srgbClr val="0000FF"/>
                </a:solidFill>
                <a:latin typeface="Comic Sans MS" pitchFamily="66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zh-CN" altLang="en-US" b="1" dirty="0" smtClean="0">
                <a:latin typeface="Comic Sans MS" pitchFamily="66" charset="0"/>
              </a:rPr>
              <a:t>进入下一个时钟周期取指令时，转移条件和转移</a:t>
            </a:r>
            <a:r>
              <a:rPr lang="en-US" altLang="zh-CN" b="1" dirty="0" smtClean="0">
                <a:latin typeface="Comic Sans MS" pitchFamily="66" charset="0"/>
              </a:rPr>
              <a:t>PC</a:t>
            </a:r>
            <a:r>
              <a:rPr lang="zh-CN" altLang="en-US" b="1" dirty="0" smtClean="0">
                <a:latin typeface="Comic Sans MS" pitchFamily="66" charset="0"/>
              </a:rPr>
              <a:t>是不可用的。</a:t>
            </a:r>
            <a:endParaRPr lang="en-US" altLang="zh-CN" dirty="0" smtClean="0">
              <a:latin typeface="Comic Sans MS" pitchFamily="66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解决</a:t>
            </a: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方法：</a:t>
            </a:r>
            <a:r>
              <a:rPr lang="zh-CN" altLang="en-US" sz="2000" b="1" dirty="0" smtClean="0">
                <a:solidFill>
                  <a:srgbClr val="C00000"/>
                </a:solidFill>
                <a:latin typeface="Comic Sans MS" pitchFamily="66" charset="0"/>
              </a:rPr>
              <a:t>（提早</a:t>
            </a:r>
            <a:r>
              <a:rPr lang="zh-CN" altLang="en-US" sz="2000" b="1" dirty="0" smtClean="0">
                <a:solidFill>
                  <a:srgbClr val="C00000"/>
                </a:solidFill>
                <a:latin typeface="Comic Sans MS" pitchFamily="66" charset="0"/>
              </a:rPr>
              <a:t>计算目标地址和</a:t>
            </a:r>
            <a:r>
              <a:rPr lang="zh-CN" altLang="en-US" sz="2000" b="1" dirty="0" smtClean="0">
                <a:solidFill>
                  <a:srgbClr val="C00000"/>
                </a:solidFill>
                <a:latin typeface="Comic Sans MS" pitchFamily="66" charset="0"/>
              </a:rPr>
              <a:t>条件）</a:t>
            </a: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；</a:t>
            </a: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冻结或冲刷流水线；</a:t>
            </a:r>
            <a:endParaRPr lang="en-US" altLang="zh-CN" sz="2000" b="1" dirty="0" smtClean="0">
              <a:solidFill>
                <a:srgbClr val="FF0000"/>
              </a:solidFill>
              <a:latin typeface="Comic Sans MS" pitchFamily="66" charset="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  <a:latin typeface="Comic Sans MS" pitchFamily="66" charset="0"/>
              </a:rPr>
              <a:t>              </a:t>
            </a: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预测转移未选中；预测转移选中；</a:t>
            </a:r>
            <a:endParaRPr lang="en-US" altLang="zh-CN" sz="2000" b="1" dirty="0" smtClean="0">
              <a:solidFill>
                <a:srgbClr val="FF0000"/>
              </a:solidFill>
              <a:latin typeface="Comic Sans MS" pitchFamily="66" charset="0"/>
            </a:endParaRPr>
          </a:p>
          <a:p>
            <a:pPr marL="914400" lvl="2" indent="0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altLang="zh-CN" sz="2000" b="1" dirty="0" smtClean="0">
                <a:solidFill>
                  <a:srgbClr val="FF0000"/>
                </a:solidFill>
                <a:latin typeface="Comic Sans MS" pitchFamily="66" charset="0"/>
              </a:rPr>
              <a:t>              </a:t>
            </a: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转移延迟（带</a:t>
            </a:r>
            <a:r>
              <a:rPr lang="en-US" altLang="zh-CN" sz="2000" b="1" dirty="0" smtClean="0">
                <a:solidFill>
                  <a:srgbClr val="FF0000"/>
                </a:solidFill>
                <a:latin typeface="Comic Sans MS" pitchFamily="66" charset="0"/>
              </a:rPr>
              <a:t>/</a:t>
            </a:r>
            <a:r>
              <a:rPr lang="zh-CN" altLang="en-US" sz="2000" b="1" dirty="0" smtClean="0">
                <a:solidFill>
                  <a:srgbClr val="FF0000"/>
                </a:solidFill>
                <a:latin typeface="Comic Sans MS" pitchFamily="66" charset="0"/>
              </a:rPr>
              <a:t>不带撤销）</a:t>
            </a:r>
            <a:endParaRPr lang="en-US" altLang="zh-CN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702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控制冒险总结</a:t>
            </a:r>
            <a:endParaRPr lang="en-US" altLang="zh-CN" b="1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控制冒险</a:t>
            </a:r>
            <a:r>
              <a:rPr lang="zh-CN" altLang="en-US" sz="2800" b="1" dirty="0" smtClean="0">
                <a:latin typeface="Comic Sans MS" pitchFamily="66" charset="0"/>
              </a:rPr>
              <a:t>比数据冒险会引起更大的性能损失。</a:t>
            </a: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通常，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流水线越深，</a:t>
            </a:r>
            <a:r>
              <a:rPr lang="zh-CN" altLang="en-US" sz="2800" b="1" dirty="0" smtClean="0">
                <a:latin typeface="Comic Sans MS" pitchFamily="66" charset="0"/>
              </a:rPr>
              <a:t>在时钟周期上转移损失越大。</a:t>
            </a:r>
            <a:r>
              <a:rPr lang="en-US" altLang="zh-CN" sz="2800" b="1" dirty="0" smtClean="0">
                <a:solidFill>
                  <a:srgbClr val="0000FF"/>
                </a:solidFill>
                <a:latin typeface="Comic Sans MS" pitchFamily="66" charset="0"/>
              </a:rPr>
              <a:t> </a:t>
            </a:r>
            <a:endParaRPr lang="en-US" altLang="zh-CN" sz="2800" b="1" dirty="0">
              <a:solidFill>
                <a:srgbClr val="0000FF"/>
              </a:solidFill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 smtClean="0">
                <a:latin typeface="Comic Sans MS" pitchFamily="66" charset="0"/>
              </a:rPr>
              <a:t>CPI</a:t>
            </a:r>
            <a:r>
              <a:rPr lang="zh-CN" altLang="en-US" sz="2800" b="1" dirty="0" smtClean="0">
                <a:latin typeface="Comic Sans MS" pitchFamily="66" charset="0"/>
              </a:rPr>
              <a:t>更高的处理器，会付出更高的转移代价。</a:t>
            </a:r>
            <a:endParaRPr lang="en-US" altLang="zh-CN" sz="2800" b="1" dirty="0"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 smtClean="0">
                <a:latin typeface="Comic Sans MS" pitchFamily="66" charset="0"/>
              </a:rPr>
              <a:t>预测机制的有效性取决于</a:t>
            </a:r>
            <a:r>
              <a:rPr lang="zh-CN" altLang="en-US" sz="2800" b="1" dirty="0" smtClean="0">
                <a:solidFill>
                  <a:srgbClr val="FF0000"/>
                </a:solidFill>
                <a:latin typeface="Comic Sans MS" pitchFamily="66" charset="0"/>
              </a:rPr>
              <a:t>转移预测的准确性</a:t>
            </a:r>
            <a:r>
              <a:rPr lang="zh-CN" altLang="en-US" sz="2800" b="1" dirty="0" smtClean="0">
                <a:latin typeface="Comic Sans MS" pitchFamily="66" charset="0"/>
              </a:rPr>
              <a:t>。</a:t>
            </a:r>
            <a:endParaRPr lang="en-US" altLang="zh-CN" sz="2800" dirty="0">
              <a:solidFill>
                <a:srgbClr val="0000FF"/>
              </a:solidFill>
              <a:latin typeface="Comic Sans MS" pitchFamily="66" charset="0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solidFill>
                <a:srgbClr val="0000FF"/>
              </a:solidFill>
              <a:latin typeface="Comic Sans MS" pitchFamily="66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317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8EC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8ECCC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2027</TotalTime>
  <Words>5998</Words>
  <Application>Microsoft Office PowerPoint</Application>
  <PresentationFormat>全屏显示(4:3)</PresentationFormat>
  <Paragraphs>1414</Paragraphs>
  <Slides>131</Slides>
  <Notes>3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131</vt:i4>
      </vt:variant>
    </vt:vector>
  </HeadingPairs>
  <TitlesOfParts>
    <vt:vector size="135" baseType="lpstr">
      <vt:lpstr>Office 主题</vt:lpstr>
      <vt:lpstr>Image</vt:lpstr>
      <vt:lpstr>Picture</vt:lpstr>
      <vt:lpstr>Document</vt:lpstr>
      <vt:lpstr>PowerPoint 演示文稿</vt:lpstr>
      <vt:lpstr>PowerPoint 演示文稿</vt:lpstr>
      <vt:lpstr>PowerPoint 演示文稿</vt:lpstr>
      <vt:lpstr>一、什么是流水线？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流水线特点</vt:lpstr>
      <vt:lpstr>为什么采用流水线：结论</vt:lpstr>
      <vt:lpstr>为什么不开发 50段流水线?</vt:lpstr>
      <vt:lpstr>流水线段数实例</vt:lpstr>
      <vt:lpstr>二、RISC指令系统特点</vt:lpstr>
      <vt:lpstr>三、非流水线方式下RISC指令系统的实现</vt:lpstr>
      <vt:lpstr>多周期实现 Multi-cycle implementation</vt:lpstr>
      <vt:lpstr>PowerPoint 演示文稿</vt:lpstr>
      <vt:lpstr>PowerPoint 演示文稿</vt:lpstr>
      <vt:lpstr>多周期实现 Multi-cycle implementation</vt:lpstr>
      <vt:lpstr>多周期实现</vt:lpstr>
      <vt:lpstr>多周期实现</vt:lpstr>
      <vt:lpstr>Single-cycle implementation（参考）</vt:lpstr>
      <vt:lpstr>多周期实现</vt:lpstr>
      <vt:lpstr>多周期实现的特点</vt:lpstr>
      <vt:lpstr>怎样改进多周期实现的性能？</vt:lpstr>
      <vt:lpstr>优化的多周期实现</vt:lpstr>
      <vt:lpstr>改进硬件冗余</vt:lpstr>
      <vt:lpstr>四、经典5段流水线RISC处理器</vt:lpstr>
      <vt:lpstr>5-段流水线 MIPS 数据通路</vt:lpstr>
      <vt:lpstr>流水线怎样减少执行时间？</vt:lpstr>
      <vt:lpstr>单周期实现比较流水线</vt:lpstr>
      <vt:lpstr>多周期实现比较流水线</vt:lpstr>
      <vt:lpstr>流水线真如此简单吗？</vt:lpstr>
      <vt:lpstr>引入流水线后出现的问题</vt:lpstr>
      <vt:lpstr>分离的数据存储器和指令存储器</vt:lpstr>
      <vt:lpstr>寄存器冲突！</vt:lpstr>
      <vt:lpstr>重新设计寄存器堆资源</vt:lpstr>
      <vt:lpstr>当更新PC时产生冲突</vt:lpstr>
      <vt:lpstr>流水线模型</vt:lpstr>
      <vt:lpstr>流水线寄存器必须引入吗？</vt:lpstr>
      <vt:lpstr>流水线模型</vt:lpstr>
      <vt:lpstr>五、流水线的基本性能</vt:lpstr>
      <vt:lpstr>       影响流水线性能的因素</vt:lpstr>
      <vt:lpstr>A.2 流水线的主要障碍—流水线冒险（相关） </vt:lpstr>
      <vt:lpstr>一、冒险分类与有停顿流水线性能</vt:lpstr>
      <vt:lpstr>冒险分类</vt:lpstr>
      <vt:lpstr>数据冒险：例子</vt:lpstr>
      <vt:lpstr>冒险总是可以用停顿解决</vt:lpstr>
      <vt:lpstr>怎样停顿？ 由编译器插入 nop 指令（软件）</vt:lpstr>
      <vt:lpstr>有停顿的流水线性能</vt:lpstr>
      <vt:lpstr>非流水线是多周期实现的情况</vt:lpstr>
      <vt:lpstr>非流水线是多周期实现的情况</vt:lpstr>
      <vt:lpstr>二、结构冒险：流水段竞争</vt:lpstr>
      <vt:lpstr>寄存器堆的多重访问</vt:lpstr>
      <vt:lpstr>在一个时钟周期WB段先写，ID段后读</vt:lpstr>
      <vt:lpstr>多重访问单端口存储器</vt:lpstr>
      <vt:lpstr>插入停顿 Stall</vt:lpstr>
      <vt:lpstr>无结构冒险机器的CPI更低</vt:lpstr>
      <vt:lpstr>分开的指令与数据存储器</vt:lpstr>
      <vt:lpstr>没有完全流水化的功能部件：  可能引起结构冒险 </vt:lpstr>
      <vt:lpstr>为什么允许结构冒险？</vt:lpstr>
      <vt:lpstr>结构冒险总结</vt:lpstr>
      <vt:lpstr>三、 数据冒险</vt:lpstr>
      <vt:lpstr>数据冒险</vt:lpstr>
      <vt:lpstr>数据冒险：例子</vt:lpstr>
      <vt:lpstr>寄存器堆WB段先写，ID段后读</vt:lpstr>
      <vt:lpstr>提出的解决方法</vt:lpstr>
      <vt:lpstr>怎样停顿？ 由编译器插入 nop 指令（软件）</vt:lpstr>
      <vt:lpstr>怎样停顿？ 增加硬件互锁（Interlock） !</vt:lpstr>
      <vt:lpstr>互锁：  插入 stalls </vt:lpstr>
      <vt:lpstr>Forwarding （前推、直通、转发、相关数据通路）</vt:lpstr>
      <vt:lpstr>直通技术：减少数据冒险停顿</vt:lpstr>
      <vt:lpstr>Forwarding的硬件变化</vt:lpstr>
      <vt:lpstr>Forwarding 的其他输入路径</vt:lpstr>
      <vt:lpstr>Forwarding 不能解决的问题</vt:lpstr>
      <vt:lpstr>插入stall:  Load stall</vt:lpstr>
      <vt:lpstr>Forwarding的硬件变化</vt:lpstr>
      <vt:lpstr>Forwarding 和 Load 延迟例子</vt:lpstr>
      <vt:lpstr>解决方法：没有forwarding</vt:lpstr>
      <vt:lpstr>解决方法：forwarding</vt:lpstr>
      <vt:lpstr>Forwarding 的其他输入路径</vt:lpstr>
      <vt:lpstr>load stall的性能影响 </vt:lpstr>
      <vt:lpstr>不同测试程序中load 产生stall的比例</vt:lpstr>
      <vt:lpstr>编译器重排序避免load stall</vt:lpstr>
      <vt:lpstr>数据冒险总结</vt:lpstr>
      <vt:lpstr>PowerPoint 演示文稿</vt:lpstr>
      <vt:lpstr>四、控制冒险</vt:lpstr>
      <vt:lpstr>流水线冒险</vt:lpstr>
      <vt:lpstr>控制冒险</vt:lpstr>
      <vt:lpstr>例子： Branches</vt:lpstr>
      <vt:lpstr>回忆：基本流水线通路</vt:lpstr>
      <vt:lpstr>控制冒险</vt:lpstr>
      <vt:lpstr>处理控制冒险</vt:lpstr>
      <vt:lpstr>回忆：插入 stalls解决冒险 </vt:lpstr>
      <vt:lpstr>流水线状态</vt:lpstr>
      <vt:lpstr>冻结或 冲刷流水线</vt:lpstr>
      <vt:lpstr>转移Stalls 会造成大的性能损失</vt:lpstr>
      <vt:lpstr>总是停顿——降低了转移不发生的性能</vt:lpstr>
      <vt:lpstr>假设转移不发生会怎样？</vt:lpstr>
      <vt:lpstr>预测转移未选中（Predict –not-taken）</vt:lpstr>
      <vt:lpstr>如果转移是发生的会怎样？</vt:lpstr>
      <vt:lpstr>如果转移是发生的会怎样？</vt:lpstr>
      <vt:lpstr>另一种方法：假定转移选中</vt:lpstr>
      <vt:lpstr>预测转移选中（Predict –taken）</vt:lpstr>
      <vt:lpstr>转移选中：转移地址提前计算</vt:lpstr>
      <vt:lpstr>预测转移选中的流水线状态</vt:lpstr>
      <vt:lpstr>转移未选中/选中的问题</vt:lpstr>
      <vt:lpstr>将转移计算提前</vt:lpstr>
      <vt:lpstr>将转移计算提前更早</vt:lpstr>
      <vt:lpstr>提早后结果：MIPS改善后的数据通路</vt:lpstr>
      <vt:lpstr>冲刷 : 只需插入one stall解决控制冒险 （硬件固定）</vt:lpstr>
      <vt:lpstr>为什么“浪费”取到的指令？</vt:lpstr>
      <vt:lpstr>预测转移未选中predict-not-taken（硬件固定）</vt:lpstr>
      <vt:lpstr>转移延迟（Delayed branch）</vt:lpstr>
      <vt:lpstr>转移延迟槽</vt:lpstr>
      <vt:lpstr>怎样调度代码？三种策略</vt:lpstr>
      <vt:lpstr>例子：重写代码 (a)</vt:lpstr>
      <vt:lpstr>例子：重写代码(b-1)</vt:lpstr>
      <vt:lpstr>例子：重写代码(b-2)</vt:lpstr>
      <vt:lpstr>调度策略对比性能改善</vt:lpstr>
      <vt:lpstr>转移延迟的限制</vt:lpstr>
      <vt:lpstr>撤销功能</vt:lpstr>
      <vt:lpstr>带有撤销功能的转移预测 （图A.14 （b）调度策略）</vt:lpstr>
      <vt:lpstr>PowerPoint 演示文稿</vt:lpstr>
      <vt:lpstr>Efficiency of delayed branch </vt:lpstr>
      <vt:lpstr>关于转移延迟</vt:lpstr>
      <vt:lpstr>4种方案的性能比较</vt:lpstr>
      <vt:lpstr>4种情况的流水线状态</vt:lpstr>
      <vt:lpstr>比较结果 </vt:lpstr>
      <vt:lpstr>Pipeline hazards</vt:lpstr>
      <vt:lpstr>控制冒险总结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A. Pipelining: Basic Concepts</dc:title>
  <dc:creator>lenovo</dc:creator>
  <cp:lastModifiedBy>XJ</cp:lastModifiedBy>
  <cp:revision>227</cp:revision>
  <dcterms:created xsi:type="dcterms:W3CDTF">2015-01-20T04:39:37Z</dcterms:created>
  <dcterms:modified xsi:type="dcterms:W3CDTF">2016-03-30T13:56:14Z</dcterms:modified>
</cp:coreProperties>
</file>